
<file path=[Content_Types].xml><?xml version="1.0" encoding="utf-8"?>
<Types xmlns="http://schemas.openxmlformats.org/package/2006/content-types">
  <Default Extension="bin" ContentType="application/vnd.ms-office.activeX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ctiveX/activeX1.xml" ContentType="application/vnd.ms-office.activeX+xml"/>
  <Override PartName="/ppt/activeX/activeX2.xml" ContentType="application/vnd.ms-office.activeX+xml"/>
  <Override PartName="/ppt/activeX/activeX3.xml" ContentType="application/vnd.ms-office.activeX+xml"/>
  <Override PartName="/ppt/activeX/activeX4.xml" ContentType="application/vnd.ms-office.activeX+xml"/>
  <Override PartName="/ppt/activeX/activeX5.xml" ContentType="application/vnd.ms-office.activeX+xml"/>
  <Override PartName="/ppt/activeX/activeX6.xml" ContentType="application/vnd.ms-office.activeX+xml"/>
  <Override PartName="/ppt/activeX/activeX7.xml" ContentType="application/vnd.ms-office.activeX+xml"/>
  <Override PartName="/ppt/activeX/activeX8.xml" ContentType="application/vnd.ms-office.activeX+xml"/>
  <Override PartName="/ppt/activeX/activeX9.xml" ContentType="application/vnd.ms-office.activeX+xml"/>
  <Override PartName="/ppt/activeX/activeX10.xml" ContentType="application/vnd.ms-office.activeX+xml"/>
  <Override PartName="/ppt/activeX/activeX11.xml" ContentType="application/vnd.ms-office.activeX+xml"/>
  <Override PartName="/ppt/activeX/activeX12.xml" ContentType="application/vnd.ms-office.activeX+xml"/>
  <Override PartName="/ppt/activeX/activeX13.xml" ContentType="application/vnd.ms-office.activeX+xml"/>
  <Override PartName="/ppt/activeX/activeX14.xml" ContentType="application/vnd.ms-office.activeX+xml"/>
  <Override PartName="/ppt/activeX/activeX15.xml" ContentType="application/vnd.ms-office.activeX+xml"/>
  <Override PartName="/ppt/activeX/activeX16.xml" ContentType="application/vnd.ms-office.activeX+xml"/>
  <Override PartName="/ppt/activeX/activeX17.xml" ContentType="application/vnd.ms-office.activeX+xml"/>
  <Override PartName="/ppt/activeX/activeX18.xml" ContentType="application/vnd.ms-office.activeX+xml"/>
  <Override PartName="/ppt/activeX/activeX19.xml" ContentType="application/vnd.ms-office.activeX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_rels/activeX11.xml.rels><?xml version="1.0" encoding="UTF-8" standalone="yes"?>
<Relationships xmlns="http://schemas.openxmlformats.org/package/2006/relationships"><Relationship Id="rId1" Type="http://schemas.microsoft.com/office/2006/relationships/activeXControlBinary" Target="activeX11.bin"/></Relationships>
</file>

<file path=ppt/activeX/_rels/activeX12.xml.rels><?xml version="1.0" encoding="UTF-8" standalone="yes"?>
<Relationships xmlns="http://schemas.openxmlformats.org/package/2006/relationships"><Relationship Id="rId1" Type="http://schemas.microsoft.com/office/2006/relationships/activeXControlBinary" Target="activeX12.bin"/></Relationships>
</file>

<file path=ppt/activeX/_rels/activeX13.xml.rels><?xml version="1.0" encoding="UTF-8" standalone="yes"?>
<Relationships xmlns="http://schemas.openxmlformats.org/package/2006/relationships"><Relationship Id="rId1" Type="http://schemas.microsoft.com/office/2006/relationships/activeXControlBinary" Target="activeX13.bin"/></Relationships>
</file>

<file path=ppt/activeX/_rels/activeX14.xml.rels><?xml version="1.0" encoding="UTF-8" standalone="yes"?>
<Relationships xmlns="http://schemas.openxmlformats.org/package/2006/relationships"><Relationship Id="rId1" Type="http://schemas.microsoft.com/office/2006/relationships/activeXControlBinary" Target="activeX14.bin"/></Relationships>
</file>

<file path=ppt/activeX/_rels/activeX15.xml.rels><?xml version="1.0" encoding="UTF-8" standalone="yes"?>
<Relationships xmlns="http://schemas.openxmlformats.org/package/2006/relationships"><Relationship Id="rId1" Type="http://schemas.microsoft.com/office/2006/relationships/activeXControlBinary" Target="activeX15.bin"/></Relationships>
</file>

<file path=ppt/activeX/_rels/activeX16.xml.rels><?xml version="1.0" encoding="UTF-8" standalone="yes"?>
<Relationships xmlns="http://schemas.openxmlformats.org/package/2006/relationships"><Relationship Id="rId1" Type="http://schemas.microsoft.com/office/2006/relationships/activeXControlBinary" Target="activeX16.bin"/></Relationships>
</file>

<file path=ppt/activeX/_rels/activeX17.xml.rels><?xml version="1.0" encoding="UTF-8" standalone="yes"?>
<Relationships xmlns="http://schemas.openxmlformats.org/package/2006/relationships"><Relationship Id="rId1" Type="http://schemas.microsoft.com/office/2006/relationships/activeXControlBinary" Target="activeX17.bin"/></Relationships>
</file>

<file path=ppt/activeX/_rels/activeX18.xml.rels><?xml version="1.0" encoding="UTF-8" standalone="yes"?>
<Relationships xmlns="http://schemas.openxmlformats.org/package/2006/relationships"><Relationship Id="rId1" Type="http://schemas.microsoft.com/office/2006/relationships/activeXControlBinary" Target="activeX18.bin"/></Relationships>
</file>

<file path=ppt/activeX/_rels/activeX19.xml.rels><?xml version="1.0" encoding="UTF-8" standalone="yes"?>
<Relationships xmlns="http://schemas.openxmlformats.org/package/2006/relationships"><Relationship Id="rId1" Type="http://schemas.microsoft.com/office/2006/relationships/activeXControlBinary" Target="activeX19.bin"/></Relationships>
</file>

<file path=ppt/activeX/activeX1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2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3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4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5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6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7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8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9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0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1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2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3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4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5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6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7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8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activeX/activeX19.xml><?xml version="1.0" encoding="utf-8"?>
<ax:ocx xmlns:ax="http://schemas.microsoft.com/office/2006/activeX" xmlns:r="http://schemas.openxmlformats.org/officeDocument/2006/relationships" ax:classid="{5512D118-5CC6-11CF-8D67-00AA00BDCE1D}" ax:persistence="persistStream" r:id="rId1"/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314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223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76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58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732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79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7698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26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00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9463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998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0AC337A-BB02-4CF6-86D7-D077D0F2ABC4}" type="datetimeFigureOut">
              <a:rPr lang="en-GB" smtClean="0"/>
              <a:t>10/09/2024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CA15A74-3640-40B4-B512-608895387F03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94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ebapps.towson.edu/ows/conjunctions.htm#COORDINATING CONJUNCT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hyperlink" Target="https://webapps.towson.edu/ows/sentelmt.htm#Phras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webapps.towson.edu/ows/sentelmt.htm#Claus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ebapps.towson.edu/ows/comma.htm#In a Series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pps.towson.edu/ows/verbs.aspx#Verbs of being" TargetMode="External"/><Relationship Id="rId2" Type="http://schemas.openxmlformats.org/officeDocument/2006/relationships/hyperlink" Target="https://webapps.towson.edu/ows/verbs.aspx#Linking verb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webapps.towson.edu/ows/conjunctions.aspx#CORRELATIVE CONJUNCTION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pps.towson.edu/ows/sentences.aspx#COMPOUND SENTENCE" TargetMode="External"/><Relationship Id="rId2" Type="http://schemas.openxmlformats.org/officeDocument/2006/relationships/hyperlink" Target="https://webapps.towson.edu/ows/sentelmt.aspx#independent claus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webapps.towson.edu/ows/proref.aspx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ebapps.towson.edu/ows/sentelmt.aspx#Clauses" TargetMode="External"/><Relationship Id="rId2" Type="http://schemas.openxmlformats.org/officeDocument/2006/relationships/hyperlink" Target="https://webapps.towson.edu/ows/sentelmt.aspx#Phr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hyperlink" Target="https://webapps.towson.edu/ows/sentences.aspx#SIMPLE SENTENC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control" Target="../activeX/activeX12.xml"/><Relationship Id="rId18" Type="http://schemas.openxmlformats.org/officeDocument/2006/relationships/control" Target="../activeX/activeX17.xml"/><Relationship Id="rId3" Type="http://schemas.openxmlformats.org/officeDocument/2006/relationships/control" Target="../activeX/activeX2.xml"/><Relationship Id="rId21" Type="http://schemas.openxmlformats.org/officeDocument/2006/relationships/slideLayout" Target="../slideLayouts/slideLayout2.xml"/><Relationship Id="rId7" Type="http://schemas.openxmlformats.org/officeDocument/2006/relationships/control" Target="../activeX/activeX6.xml"/><Relationship Id="rId12" Type="http://schemas.openxmlformats.org/officeDocument/2006/relationships/control" Target="../activeX/activeX11.xml"/><Relationship Id="rId17" Type="http://schemas.openxmlformats.org/officeDocument/2006/relationships/control" Target="../activeX/activeX16.xml"/><Relationship Id="rId2" Type="http://schemas.openxmlformats.org/officeDocument/2006/relationships/control" Target="../activeX/activeX1.xml"/><Relationship Id="rId16" Type="http://schemas.openxmlformats.org/officeDocument/2006/relationships/control" Target="../activeX/activeX15.xml"/><Relationship Id="rId20" Type="http://schemas.openxmlformats.org/officeDocument/2006/relationships/control" Target="../activeX/activeX19.xml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5" Type="http://schemas.openxmlformats.org/officeDocument/2006/relationships/control" Target="../activeX/activeX4.xml"/><Relationship Id="rId15" Type="http://schemas.openxmlformats.org/officeDocument/2006/relationships/control" Target="../activeX/activeX14.xml"/><Relationship Id="rId10" Type="http://schemas.openxmlformats.org/officeDocument/2006/relationships/control" Target="../activeX/activeX9.xml"/><Relationship Id="rId19" Type="http://schemas.openxmlformats.org/officeDocument/2006/relationships/control" Target="../activeX/activeX18.xml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control" Target="../activeX/activeX13.xml"/><Relationship Id="rId22" Type="http://schemas.openxmlformats.org/officeDocument/2006/relationships/image" Target="../media/image3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4400" dirty="0"/>
              <a:t>Parallelism in Sentences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Talha Memon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728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Parallelism in Sentences using Conjunctions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356834" y="358032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Here are some examples of parallel elements</a:t>
            </a:r>
            <a:endParaRPr kumimoji="0" 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sz="85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https://webapps.towson.edu/ows/modulePARALLEL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3984" y="2974892"/>
            <a:ext cx="7502383" cy="267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36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Parallelism 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25217" y="2438737"/>
            <a:ext cx="5433392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These elements, on the other hand, are not parallel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kumimoji="0" lang="en-US" sz="6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s://webapps.towson.edu/ows/modulePARALLEL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356" y="3157330"/>
            <a:ext cx="7606747" cy="1759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85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/>
              <a:t>Five Ways to develop </a:t>
            </a:r>
            <a:r>
              <a:rPr lang="en-GB" sz="3200" i="1" dirty="0"/>
              <a:t>parallelism </a:t>
            </a:r>
            <a:r>
              <a:rPr lang="en-GB" sz="3200" dirty="0"/>
              <a:t>in writing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54954" y="2651475"/>
            <a:ext cx="921919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With elements joined by 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coordinating conjunctions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especially </a:t>
            </a:r>
            <a:r>
              <a:rPr kumimoji="0" lang="en-US" sz="2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and, but,</a:t>
            </a:r>
            <a:r>
              <a:rPr kumimoji="0" 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and </a:t>
            </a:r>
            <a:r>
              <a:rPr kumimoji="0" lang="en-US" sz="2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     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n-US" sz="13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https://webapps.towson.edu/ows/modulePARALLEL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695" y="3420916"/>
            <a:ext cx="4781550" cy="2657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54110" y="4156178"/>
            <a:ext cx="1115065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Examples of parallel </a:t>
            </a:r>
            <a:r>
              <a:rPr kumimoji="0" lang="en-US" sz="12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phrases</a:t>
            </a:r>
            <a:endParaRPr kumimoji="0" 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n-US" sz="143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6" name="Picture 4" descr="https://webapps.towson.edu/ows/modulePARALLEL4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110" y="3420916"/>
            <a:ext cx="4678049" cy="2670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0728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Parallelism…cont’d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68564" y="2543989"/>
            <a:ext cx="879589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Examples of parallel </a:t>
            </a:r>
            <a:r>
              <a:rPr kumimoji="0" lang="en-US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  <a:hlinkClick r:id="rId2"/>
              </a:rPr>
              <a:t>clauses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n-US" sz="145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https://webapps.towson.edu/ows/modulePARALLEL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4464" y="3171937"/>
            <a:ext cx="5781675" cy="3107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9133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Faulty parallelism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27279" y="2283753"/>
            <a:ext cx="5484194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 examples below show how to repair faulty parallelism.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  Example #1    </a:t>
            </a: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kumimoji="0" lang="en-US" sz="7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https://webapps.towson.edu/ows/modulePARALLEL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194" y="2986177"/>
            <a:ext cx="5895975" cy="113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54954" y="4240350"/>
            <a:ext cx="3549568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Example #2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n-US" sz="7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4" name="Picture 4" descr="https://webapps.towson.edu/ows/modulePARALLEL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4194" y="4717404"/>
            <a:ext cx="6067537" cy="141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369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1: Correct Faulty parallelism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9907998" cy="3810179"/>
          </a:xfrm>
        </p:spPr>
        <p:txBody>
          <a:bodyPr>
            <a:normAutofit fontScale="92500"/>
          </a:bodyPr>
          <a:lstStyle/>
          <a:p>
            <a:r>
              <a:rPr lang="en-GB" dirty="0"/>
              <a:t> What I said or my actions upset everyone in the room. </a:t>
            </a:r>
          </a:p>
          <a:p>
            <a:r>
              <a:rPr lang="en-GB" dirty="0"/>
              <a:t>She suggested that I write a memoir and to send it to a good publisher. </a:t>
            </a:r>
          </a:p>
          <a:p>
            <a:r>
              <a:rPr lang="en-GB" dirty="0"/>
              <a:t>People are paying more now for health insurance but to get less coverage. </a:t>
            </a:r>
          </a:p>
          <a:p>
            <a:r>
              <a:rPr lang="en-GB" dirty="0"/>
              <a:t>Doing strenuous exercise and poor nutrition habits can lead to illness. </a:t>
            </a:r>
          </a:p>
          <a:p>
            <a:r>
              <a:rPr lang="en-GB" dirty="0"/>
              <a:t>Many young people like to skateboard and watching the techniques of other skateboarders. </a:t>
            </a:r>
          </a:p>
          <a:p>
            <a:r>
              <a:rPr lang="en-GB" dirty="0"/>
              <a:t>Joe wants to buy a vest that has buttons or closing with a zipper. </a:t>
            </a:r>
          </a:p>
          <a:p>
            <a:r>
              <a:rPr lang="en-GB" dirty="0"/>
              <a:t>Her ideas are usually sound and of importance. </a:t>
            </a:r>
          </a:p>
          <a:p>
            <a:r>
              <a:rPr lang="en-GB" dirty="0"/>
              <a:t>Good sense and being thoughtful are two valuable assets. 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3989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 2. Use parallel structure with elements in lists or in a </a:t>
            </a:r>
            <a:r>
              <a:rPr lang="en-GB" sz="2400" dirty="0">
                <a:hlinkClick r:id="rId2"/>
              </a:rPr>
              <a:t>series</a:t>
            </a:r>
            <a:r>
              <a:rPr lang="en-GB" sz="2400" dirty="0"/>
              <a:t>.</a:t>
            </a:r>
          </a:p>
        </p:txBody>
      </p:sp>
      <p:pic>
        <p:nvPicPr>
          <p:cNvPr id="1026" name="Picture 2" descr="https://webapps.towson.edu/ows/ModulePARALLEL8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604" y="2509234"/>
            <a:ext cx="8523889" cy="3968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4536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050" y="5597183"/>
            <a:ext cx="8761413" cy="706964"/>
          </a:xfrm>
        </p:spPr>
        <p:txBody>
          <a:bodyPr>
            <a:normAutofit/>
          </a:bodyPr>
          <a:lstStyle/>
          <a:p>
            <a:r>
              <a:rPr lang="en-GB" dirty="0"/>
              <a:t>Faulty parallelism </a:t>
            </a:r>
          </a:p>
        </p:txBody>
      </p:sp>
      <p:pic>
        <p:nvPicPr>
          <p:cNvPr id="2050" name="Picture 2" descr="https://webapps.towson.edu/ows/ModulePARALLEL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22" y="2431381"/>
            <a:ext cx="9554817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ebapps.towson.edu/ows/ModulePARALLEL1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1722" y="4256112"/>
            <a:ext cx="9554817" cy="1847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487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At the store my duties are to keep the shelves stocked, to work the registers, and assisting customers.</a:t>
            </a:r>
          </a:p>
          <a:p>
            <a:r>
              <a:rPr lang="en-GB" dirty="0"/>
              <a:t>My brother enjoys three activities: checkers, welding, and he collects baseball cards. </a:t>
            </a:r>
          </a:p>
          <a:p>
            <a:r>
              <a:rPr lang="en-GB" dirty="0"/>
              <a:t>We want a candidate who has a sense of commitment, a good record in public office, and who has experience in foreign affairs. </a:t>
            </a:r>
          </a:p>
          <a:p>
            <a:r>
              <a:rPr lang="en-GB" dirty="0"/>
              <a:t>Reading mystery novels, exercising in the park, and crossword puzzles occupy a good deal of my retirement time. </a:t>
            </a:r>
            <a:br>
              <a:rPr lang="en-GB" dirty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6196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3. Use parallel structure with elements being compared.</a:t>
            </a:r>
          </a:p>
        </p:txBody>
      </p:sp>
      <p:pic>
        <p:nvPicPr>
          <p:cNvPr id="1026" name="Picture 2" descr="https://webapps.towson.edu/ows/paral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2902" y="2916192"/>
            <a:ext cx="5782614" cy="2428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04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4. Use parallel structure with elements joined by a </a:t>
            </a:r>
            <a:r>
              <a:rPr lang="en-GB" sz="2400" dirty="0">
                <a:hlinkClick r:id="rId2"/>
              </a:rPr>
              <a:t>linking verb</a:t>
            </a:r>
            <a:r>
              <a:rPr lang="en-GB" sz="2400" dirty="0"/>
              <a:t> or a </a:t>
            </a:r>
            <a:r>
              <a:rPr lang="en-GB" sz="2400" dirty="0">
                <a:hlinkClick r:id="rId3"/>
              </a:rPr>
              <a:t>verb of being</a:t>
            </a:r>
            <a:r>
              <a:rPr lang="en-GB" sz="2400" dirty="0"/>
              <a:t>.</a:t>
            </a:r>
          </a:p>
        </p:txBody>
      </p:sp>
      <p:pic>
        <p:nvPicPr>
          <p:cNvPr id="2050" name="Picture 2" descr="https://webapps.towson.edu/ows/paral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823" y="2967707"/>
            <a:ext cx="5021732" cy="257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6722772" y="2516946"/>
            <a:ext cx="4224270" cy="15527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Seeing is believing. </a:t>
            </a:r>
          </a:p>
        </p:txBody>
      </p:sp>
      <p:sp>
        <p:nvSpPr>
          <p:cNvPr id="6" name="Oval 5"/>
          <p:cNvSpPr/>
          <p:nvPr/>
        </p:nvSpPr>
        <p:spPr>
          <a:xfrm>
            <a:off x="6630474" y="4459509"/>
            <a:ext cx="4224270" cy="15527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dirty="0"/>
              <a:t>To wait is to suffer. </a:t>
            </a:r>
          </a:p>
        </p:txBody>
      </p:sp>
    </p:spTree>
    <p:extLst>
      <p:ext uri="{BB962C8B-B14F-4D97-AF65-F5344CB8AC3E}">
        <p14:creationId xmlns:p14="http://schemas.microsoft.com/office/powerpoint/2010/main" val="3578965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5. Use parallel structure with elements joined by a </a:t>
            </a:r>
            <a:r>
              <a:rPr lang="en-GB" sz="2400" dirty="0">
                <a:hlinkClick r:id="rId2"/>
              </a:rPr>
              <a:t>correlative conjunction</a:t>
            </a:r>
            <a:r>
              <a:rPr lang="en-GB" sz="2400" dirty="0"/>
              <a:t>.</a:t>
            </a:r>
          </a:p>
        </p:txBody>
      </p:sp>
      <p:pic>
        <p:nvPicPr>
          <p:cNvPr id="3074" name="Picture 2" descr="https://webapps.towson.edu/ows/paral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4108" y="2626217"/>
            <a:ext cx="6272010" cy="3465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1856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Parallelism using correlatives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Nouns  (She played </a:t>
            </a:r>
            <a:r>
              <a:rPr lang="en-GB" dirty="0">
                <a:solidFill>
                  <a:srgbClr val="FF0000"/>
                </a:solidFill>
              </a:rPr>
              <a:t>both</a:t>
            </a:r>
            <a:r>
              <a:rPr lang="en-GB" dirty="0"/>
              <a:t> </a:t>
            </a:r>
            <a:r>
              <a:rPr lang="en-GB" b="1" dirty="0"/>
              <a:t>football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and</a:t>
            </a:r>
            <a:r>
              <a:rPr lang="en-GB" dirty="0"/>
              <a:t> </a:t>
            </a:r>
            <a:r>
              <a:rPr lang="en-GB" b="1" dirty="0"/>
              <a:t>cricket</a:t>
            </a:r>
            <a:r>
              <a:rPr lang="en-GB" dirty="0"/>
              <a:t> in evening.)</a:t>
            </a:r>
          </a:p>
          <a:p>
            <a:r>
              <a:rPr lang="en-GB" dirty="0"/>
              <a:t>Pronouns (They want to know </a:t>
            </a:r>
            <a:r>
              <a:rPr lang="en-GB" dirty="0">
                <a:solidFill>
                  <a:srgbClr val="FF0000"/>
                </a:solidFill>
              </a:rPr>
              <a:t>whether</a:t>
            </a:r>
            <a:r>
              <a:rPr lang="en-GB" dirty="0"/>
              <a:t> </a:t>
            </a:r>
            <a:r>
              <a:rPr lang="en-GB" b="1" dirty="0"/>
              <a:t>you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or</a:t>
            </a:r>
            <a:r>
              <a:rPr lang="en-GB" dirty="0"/>
              <a:t> </a:t>
            </a:r>
            <a:r>
              <a:rPr lang="en-GB" b="1" dirty="0"/>
              <a:t>I</a:t>
            </a:r>
            <a:r>
              <a:rPr lang="en-GB" dirty="0"/>
              <a:t> would go to attend the conference)</a:t>
            </a:r>
          </a:p>
          <a:p>
            <a:r>
              <a:rPr lang="en-GB" dirty="0"/>
              <a:t>Adjectives (The teacher was </a:t>
            </a:r>
            <a:r>
              <a:rPr lang="en-GB" dirty="0">
                <a:solidFill>
                  <a:srgbClr val="FF0000"/>
                </a:solidFill>
              </a:rPr>
              <a:t>neither</a:t>
            </a:r>
            <a:r>
              <a:rPr lang="en-GB" dirty="0"/>
              <a:t> </a:t>
            </a:r>
            <a:r>
              <a:rPr lang="en-GB" b="1" dirty="0"/>
              <a:t>flexible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nor</a:t>
            </a:r>
            <a:r>
              <a:rPr lang="en-GB" dirty="0"/>
              <a:t> </a:t>
            </a:r>
            <a:r>
              <a:rPr lang="en-GB" b="1" dirty="0"/>
              <a:t>kind</a:t>
            </a:r>
            <a:r>
              <a:rPr lang="en-GB" dirty="0"/>
              <a:t>.)</a:t>
            </a:r>
          </a:p>
          <a:p>
            <a:r>
              <a:rPr lang="en-GB" dirty="0"/>
              <a:t>Verbs (She did </a:t>
            </a:r>
            <a:r>
              <a:rPr lang="en-GB" dirty="0">
                <a:solidFill>
                  <a:srgbClr val="FF0000"/>
                </a:solidFill>
              </a:rPr>
              <a:t>not only </a:t>
            </a:r>
            <a:r>
              <a:rPr lang="en-GB" b="1" dirty="0"/>
              <a:t>play</a:t>
            </a:r>
            <a:r>
              <a:rPr lang="en-GB" dirty="0"/>
              <a:t> the game </a:t>
            </a:r>
            <a:r>
              <a:rPr lang="en-GB" dirty="0">
                <a:solidFill>
                  <a:srgbClr val="FF0000"/>
                </a:solidFill>
              </a:rPr>
              <a:t>but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also</a:t>
            </a:r>
            <a:r>
              <a:rPr lang="en-GB" dirty="0"/>
              <a:t> </a:t>
            </a:r>
            <a:r>
              <a:rPr lang="en-GB" b="1" dirty="0"/>
              <a:t>won</a:t>
            </a:r>
            <a:r>
              <a:rPr lang="en-GB" dirty="0"/>
              <a:t> it.)</a:t>
            </a:r>
          </a:p>
          <a:p>
            <a:r>
              <a:rPr lang="en-GB" dirty="0"/>
              <a:t>Adverbs (They work </a:t>
            </a:r>
            <a:r>
              <a:rPr lang="en-GB" dirty="0">
                <a:solidFill>
                  <a:srgbClr val="FF0000"/>
                </a:solidFill>
              </a:rPr>
              <a:t>both</a:t>
            </a:r>
            <a:r>
              <a:rPr lang="en-GB" dirty="0"/>
              <a:t> </a:t>
            </a:r>
            <a:r>
              <a:rPr lang="en-GB" b="1" dirty="0"/>
              <a:t>hard</a:t>
            </a:r>
            <a:r>
              <a:rPr lang="en-GB" dirty="0"/>
              <a:t> </a:t>
            </a:r>
            <a:r>
              <a:rPr lang="en-GB" dirty="0">
                <a:solidFill>
                  <a:srgbClr val="FF0000"/>
                </a:solidFill>
              </a:rPr>
              <a:t>and</a:t>
            </a:r>
            <a:r>
              <a:rPr lang="en-GB" dirty="0"/>
              <a:t> </a:t>
            </a:r>
            <a:r>
              <a:rPr lang="en-GB" b="1" dirty="0"/>
              <a:t>diligently</a:t>
            </a:r>
            <a:r>
              <a:rPr lang="en-GB" dirty="0"/>
              <a:t>.) </a:t>
            </a:r>
          </a:p>
          <a:p>
            <a:r>
              <a:rPr lang="en-GB" dirty="0"/>
              <a:t>Prepositional phrases (I will meet you </a:t>
            </a:r>
            <a:r>
              <a:rPr lang="en-GB" dirty="0">
                <a:solidFill>
                  <a:srgbClr val="FF0000"/>
                </a:solidFill>
              </a:rPr>
              <a:t>either</a:t>
            </a:r>
            <a:r>
              <a:rPr lang="en-GB" dirty="0"/>
              <a:t> </a:t>
            </a:r>
            <a:r>
              <a:rPr lang="en-GB" b="1" dirty="0"/>
              <a:t>at centre </a:t>
            </a:r>
            <a:r>
              <a:rPr lang="en-GB" dirty="0">
                <a:solidFill>
                  <a:srgbClr val="FF0000"/>
                </a:solidFill>
              </a:rPr>
              <a:t>or</a:t>
            </a:r>
            <a:r>
              <a:rPr lang="en-GB" dirty="0"/>
              <a:t> </a:t>
            </a:r>
            <a:r>
              <a:rPr lang="en-GB" b="1" dirty="0"/>
              <a:t>in university</a:t>
            </a:r>
            <a:r>
              <a:rPr lang="en-GB" dirty="0"/>
              <a:t>.) </a:t>
            </a:r>
          </a:p>
          <a:p>
            <a:r>
              <a:rPr lang="en-GB" dirty="0"/>
              <a:t>Sentences/Clauses (</a:t>
            </a:r>
            <a:r>
              <a:rPr lang="en-GB" dirty="0">
                <a:solidFill>
                  <a:srgbClr val="FF0000"/>
                </a:solidFill>
              </a:rPr>
              <a:t>Not only </a:t>
            </a:r>
            <a:r>
              <a:rPr lang="en-GB" b="1" dirty="0"/>
              <a:t>did they fight </a:t>
            </a:r>
            <a:r>
              <a:rPr lang="en-GB" dirty="0">
                <a:solidFill>
                  <a:srgbClr val="FF0000"/>
                </a:solidFill>
              </a:rPr>
              <a:t>but also </a:t>
            </a:r>
            <a:r>
              <a:rPr lang="en-GB" b="1" dirty="0"/>
              <a:t>defeated the enemies</a:t>
            </a:r>
            <a:r>
              <a:rPr lang="en-GB" dirty="0"/>
              <a:t>.) </a:t>
            </a:r>
          </a:p>
        </p:txBody>
      </p:sp>
    </p:spTree>
    <p:extLst>
      <p:ext uri="{BB962C8B-B14F-4D97-AF65-F5344CB8AC3E}">
        <p14:creationId xmlns:p14="http://schemas.microsoft.com/office/powerpoint/2010/main" val="3932507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Fix parallelism errors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It is easier to tell the truth than lying to people you love. </a:t>
            </a:r>
          </a:p>
          <a:p>
            <a:r>
              <a:rPr lang="en-GB" dirty="0"/>
              <a:t>For her birthday, Marsha received a cake, some clothes, and she got a new CD player.</a:t>
            </a:r>
          </a:p>
          <a:p>
            <a:r>
              <a:rPr lang="en-GB" dirty="0"/>
              <a:t>Jim wanted to scare us by telling us a ghost story and he showed us a horror movie.</a:t>
            </a:r>
          </a:p>
          <a:p>
            <a:r>
              <a:rPr lang="en-GB" dirty="0"/>
              <a:t>The witness described the suspect as tall, light-skinned, and with a beard.</a:t>
            </a:r>
          </a:p>
          <a:p>
            <a:r>
              <a:rPr lang="en-GB" dirty="0"/>
              <a:t>Spending the day with you is better than if we were apart.</a:t>
            </a:r>
          </a:p>
          <a:p>
            <a:r>
              <a:rPr lang="en-GB" dirty="0"/>
              <a:t>I want neither your sympathy nor do I want your pity.</a:t>
            </a:r>
          </a:p>
          <a:p>
            <a:r>
              <a:rPr lang="en-GB" dirty="0"/>
              <a:t>This plan is creative but a risk.</a:t>
            </a:r>
          </a:p>
        </p:txBody>
      </p:sp>
    </p:spTree>
    <p:extLst>
      <p:ext uri="{BB962C8B-B14F-4D97-AF65-F5344CB8AC3E}">
        <p14:creationId xmlns:p14="http://schemas.microsoft.com/office/powerpoint/2010/main" val="3113943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Fix parallelism errors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apologize is showing courtesy towards another's feelings.</a:t>
            </a:r>
          </a:p>
          <a:p>
            <a:r>
              <a:rPr lang="en-GB" dirty="0"/>
              <a:t>The restaurant has a large menu, delicious spaghetti, and the prices are low. </a:t>
            </a:r>
          </a:p>
          <a:p>
            <a:r>
              <a:rPr lang="en-GB" dirty="0"/>
              <a:t>Hiking stresses your body but is enriching for your health.</a:t>
            </a:r>
          </a:p>
          <a:p>
            <a:r>
              <a:rPr lang="en-GB" dirty="0"/>
              <a:t> My sister not only gives the dog treats but she also brushes him twice a day</a:t>
            </a:r>
            <a:r>
              <a:rPr lang="en-GB" dirty="0" smtClean="0"/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714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Avoiding Fragments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670" y="2603500"/>
            <a:ext cx="3528813" cy="3416300"/>
          </a:xfrm>
        </p:spPr>
        <p:txBody>
          <a:bodyPr>
            <a:normAutofit/>
          </a:bodyPr>
          <a:lstStyle/>
          <a:p>
            <a:r>
              <a:rPr lang="en-GB" b="1" dirty="0"/>
              <a:t>Dependent clauses</a:t>
            </a:r>
            <a:r>
              <a:rPr lang="en-GB" dirty="0"/>
              <a:t> or </a:t>
            </a:r>
            <a:r>
              <a:rPr lang="en-GB" b="1" dirty="0"/>
              <a:t>phrases</a:t>
            </a:r>
            <a:r>
              <a:rPr lang="en-GB" dirty="0"/>
              <a:t> are called </a:t>
            </a:r>
            <a:r>
              <a:rPr lang="en-GB" b="1" i="1" dirty="0"/>
              <a:t>fragments</a:t>
            </a:r>
            <a:r>
              <a:rPr lang="en-GB" dirty="0"/>
              <a:t> because they are missing one or more parts needed to make a sentence.  </a:t>
            </a:r>
          </a:p>
          <a:p>
            <a:r>
              <a:rPr lang="en-GB" dirty="0"/>
              <a:t>Therefore, they are only </a:t>
            </a:r>
            <a:r>
              <a:rPr lang="en-GB" i="1" dirty="0"/>
              <a:t>pieces</a:t>
            </a:r>
            <a:r>
              <a:rPr lang="en-GB" dirty="0"/>
              <a:t> or </a:t>
            </a:r>
            <a:r>
              <a:rPr lang="en-GB" i="1" dirty="0"/>
              <a:t>fragments</a:t>
            </a:r>
            <a:r>
              <a:rPr lang="en-GB" dirty="0"/>
              <a:t> of complete sentences. 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098" name="Picture 2" descr="https://webapps.towson.edu/ows/fragme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664" y="2382592"/>
            <a:ext cx="7903335" cy="4475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56732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Some Examples of Sentence Fragments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GB" i="1" dirty="0"/>
              <a:t>Because his car was in the shop. </a:t>
            </a:r>
            <a:endParaRPr lang="en-GB" dirty="0"/>
          </a:p>
          <a:p>
            <a:pPr fontAlgn="base"/>
            <a:r>
              <a:rPr lang="en-GB" i="1" dirty="0"/>
              <a:t>After the rain stops. </a:t>
            </a:r>
            <a:endParaRPr lang="en-GB" dirty="0"/>
          </a:p>
          <a:p>
            <a:pPr fontAlgn="base"/>
            <a:r>
              <a:rPr lang="en-GB" i="1" dirty="0"/>
              <a:t>When you finally take the test.</a:t>
            </a:r>
            <a:endParaRPr lang="en-GB" dirty="0"/>
          </a:p>
          <a:p>
            <a:pPr fontAlgn="base"/>
            <a:r>
              <a:rPr lang="en-GB" i="1" dirty="0"/>
              <a:t>Since you asked me my name. </a:t>
            </a:r>
            <a:endParaRPr lang="en-GB" dirty="0"/>
          </a:p>
          <a:p>
            <a:pPr fontAlgn="base"/>
            <a:r>
              <a:rPr lang="en-GB" i="1" dirty="0"/>
              <a:t>If you want to go with me.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038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Avoiding Comma Splices &amp; Fused Sentences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6108731" cy="341630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Sometimes </a:t>
            </a:r>
            <a:r>
              <a:rPr lang="en-GB" i="1" dirty="0"/>
              <a:t>two</a:t>
            </a:r>
            <a:r>
              <a:rPr lang="en-GB" dirty="0"/>
              <a:t> </a:t>
            </a:r>
            <a:r>
              <a:rPr lang="en-GB" dirty="0">
                <a:hlinkClick r:id="rId2"/>
              </a:rPr>
              <a:t>independent</a:t>
            </a:r>
            <a:r>
              <a:rPr lang="en-GB" dirty="0"/>
              <a:t> clauses (simple sentences) can be joined to form another kind of sentence: the </a:t>
            </a:r>
            <a:r>
              <a:rPr lang="en-GB" b="1" dirty="0">
                <a:hlinkClick r:id="rId3"/>
              </a:rPr>
              <a:t>compound</a:t>
            </a:r>
            <a:r>
              <a:rPr lang="en-GB" b="1" dirty="0"/>
              <a:t> sentence</a:t>
            </a:r>
            <a:r>
              <a:rPr lang="en-GB" dirty="0"/>
              <a:t>.</a:t>
            </a:r>
          </a:p>
          <a:p>
            <a:r>
              <a:rPr lang="en-GB" dirty="0"/>
              <a:t>Two major </a:t>
            </a:r>
            <a:r>
              <a:rPr lang="en-GB" b="1" i="1" dirty="0"/>
              <a:t>errors</a:t>
            </a:r>
            <a:r>
              <a:rPr lang="en-GB" dirty="0"/>
              <a:t> can occur when constructing compound sentences.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Error.1  Comma Splice </a:t>
            </a:r>
          </a:p>
          <a:p>
            <a:pPr marL="0" indent="0">
              <a:buNone/>
            </a:pPr>
            <a:r>
              <a:rPr lang="en-GB" dirty="0"/>
              <a:t>Writers make this error when they try to separate the two independent clauses in a compound sentence with a </a:t>
            </a:r>
            <a:r>
              <a:rPr lang="en-GB" b="1" u="sng" dirty="0"/>
              <a:t>comma alone</a:t>
            </a:r>
            <a:r>
              <a:rPr lang="en-GB" dirty="0"/>
              <a:t>.</a:t>
            </a:r>
          </a:p>
        </p:txBody>
      </p:sp>
      <p:pic>
        <p:nvPicPr>
          <p:cNvPr id="5122" name="Picture 2" descr="https://webapps.towson.edu/ows/commasplice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1684" y="5616263"/>
            <a:ext cx="4789910" cy="1073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2617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Repairing a comma splice: Three ways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3558714" cy="3416300"/>
          </a:xfrm>
        </p:spPr>
        <p:txBody>
          <a:bodyPr/>
          <a:lstStyle/>
          <a:p>
            <a:r>
              <a:rPr lang="en-GB" dirty="0"/>
              <a:t>Using an appropriate coordinating Conjunction</a:t>
            </a:r>
          </a:p>
          <a:p>
            <a:pPr marL="0" indent="0">
              <a:buNone/>
            </a:pPr>
            <a:r>
              <a:rPr lang="en-GB" dirty="0"/>
              <a:t> </a:t>
            </a:r>
          </a:p>
          <a:p>
            <a:r>
              <a:rPr lang="en-GB" dirty="0"/>
              <a:t>Using a semi colon 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Changing the punctuation and adding an appropriate conjunctive adverb. </a:t>
            </a:r>
          </a:p>
        </p:txBody>
      </p:sp>
      <p:pic>
        <p:nvPicPr>
          <p:cNvPr id="6146" name="Picture 2" descr="https://webapps.towson.edu/ows/commasplic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3" y="2603499"/>
            <a:ext cx="5717191" cy="92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ebapps.towson.edu/ows/commasplice3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4" y="3526367"/>
            <a:ext cx="5717190" cy="968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webapps.towson.edu/ows/commasplice4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183" y="4608064"/>
            <a:ext cx="5717191" cy="1032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4608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Error.2  Fused Sentence or Run-on sentence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737" y="2539106"/>
            <a:ext cx="2927649" cy="3416300"/>
          </a:xfrm>
        </p:spPr>
        <p:txBody>
          <a:bodyPr/>
          <a:lstStyle/>
          <a:p>
            <a:r>
              <a:rPr lang="en-GB" dirty="0"/>
              <a:t>Writers make this error by joining two independent clauses into a compound sentence </a:t>
            </a:r>
            <a:r>
              <a:rPr lang="en-GB" u="sng" dirty="0"/>
              <a:t>without</a:t>
            </a:r>
            <a:r>
              <a:rPr lang="en-GB" dirty="0"/>
              <a:t> </a:t>
            </a:r>
            <a:r>
              <a:rPr lang="en-GB" u="sng" dirty="0"/>
              <a:t>using</a:t>
            </a:r>
            <a:r>
              <a:rPr lang="en-GB" dirty="0"/>
              <a:t> </a:t>
            </a:r>
            <a:r>
              <a:rPr lang="en-GB" u="sng" dirty="0"/>
              <a:t>any</a:t>
            </a:r>
            <a:r>
              <a:rPr lang="en-GB" dirty="0"/>
              <a:t> </a:t>
            </a:r>
            <a:r>
              <a:rPr lang="en-GB" u="sng" dirty="0"/>
              <a:t>punctuation</a:t>
            </a:r>
            <a:r>
              <a:rPr lang="en-GB" dirty="0"/>
              <a:t> between them.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7170" name="Picture 2" descr="https://webapps.towson.edu/ows/fusedsen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814" y="2603500"/>
            <a:ext cx="6954591" cy="6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387401" y="4017978"/>
            <a:ext cx="636645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333333"/>
                </a:solidFill>
                <a:latin typeface="Verdana" panose="020B0604030504040204" pitchFamily="34" charset="0"/>
              </a:rPr>
              <a:t>It was close to fall the trees were losing their leaves.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759855" y="5035640"/>
            <a:ext cx="9981126" cy="6439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Same Rules of the Comma Splices can be used to repair the fused/run-on sentences.</a:t>
            </a:r>
          </a:p>
        </p:txBody>
      </p:sp>
    </p:spTree>
    <p:extLst>
      <p:ext uri="{BB962C8B-B14F-4D97-AF65-F5344CB8AC3E}">
        <p14:creationId xmlns:p14="http://schemas.microsoft.com/office/powerpoint/2010/main" val="202847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/>
              <a:t>Practice: </a:t>
            </a:r>
            <a:br>
              <a:rPr lang="en-GB" sz="2400" dirty="0"/>
            </a:br>
            <a:r>
              <a:rPr lang="en-GB" sz="2400" dirty="0"/>
              <a:t/>
            </a:r>
            <a:br>
              <a:rPr lang="en-GB" sz="2400" dirty="0"/>
            </a:br>
            <a:r>
              <a:rPr lang="en-GB" sz="2400" dirty="0"/>
              <a:t>Fixing errors in Comma splices/run-ons/fragments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9869361" cy="34163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There was food left over, however, everyone had plenty to eat. </a:t>
            </a:r>
          </a:p>
          <a:p>
            <a:r>
              <a:rPr lang="en-US" dirty="0"/>
              <a:t>Some educated people believe in witchcraft, I am not one of them.</a:t>
            </a:r>
          </a:p>
          <a:p>
            <a:r>
              <a:rPr lang="en-US" dirty="0"/>
              <a:t>The zoo is a wonderful experience for everyone, you should go.</a:t>
            </a:r>
          </a:p>
          <a:p>
            <a:r>
              <a:rPr lang="en-US" dirty="0"/>
              <a:t>Mother got a letter from Aunt Esther, she is coming next week.</a:t>
            </a:r>
          </a:p>
          <a:p>
            <a:r>
              <a:rPr lang="en-US" dirty="0"/>
              <a:t>Eric is a brave boy, he doesn’t complain about his illness.</a:t>
            </a:r>
          </a:p>
          <a:p>
            <a:r>
              <a:rPr lang="en-US" dirty="0"/>
              <a:t>Hepatitis is serious, you should see your doctor. </a:t>
            </a:r>
          </a:p>
          <a:p>
            <a:r>
              <a:rPr lang="en-US" dirty="0"/>
              <a:t>The war lasted ten years many young men were killed.</a:t>
            </a:r>
          </a:p>
          <a:p>
            <a:r>
              <a:rPr lang="en-US" dirty="0"/>
              <a:t>My driver’s license was revoked I can’t drive to the game.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51393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/>
            </a:r>
            <a:br>
              <a:rPr lang="en-GB" b="1" dirty="0"/>
            </a:br>
            <a:r>
              <a:rPr lang="en-GB" b="1" dirty="0"/>
              <a:t>Pronoun-Antecedent Agreement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4202657" cy="3416300"/>
          </a:xfrm>
        </p:spPr>
        <p:txBody>
          <a:bodyPr/>
          <a:lstStyle/>
          <a:p>
            <a:r>
              <a:rPr lang="en-GB" dirty="0"/>
              <a:t>An</a:t>
            </a:r>
            <a:r>
              <a:rPr lang="en-GB" dirty="0">
                <a:hlinkClick r:id="rId2"/>
              </a:rPr>
              <a:t> </a:t>
            </a:r>
            <a:r>
              <a:rPr lang="en-GB" b="1" dirty="0">
                <a:hlinkClick r:id="rId2"/>
              </a:rPr>
              <a:t>antecedent</a:t>
            </a:r>
            <a:r>
              <a:rPr lang="en-GB" dirty="0">
                <a:hlinkClick r:id="rId2"/>
              </a:rPr>
              <a:t> </a:t>
            </a:r>
            <a:r>
              <a:rPr lang="en-GB" dirty="0"/>
              <a:t>is a word for which a pronoun stands.  (</a:t>
            </a:r>
            <a:r>
              <a:rPr lang="en-GB" i="1" dirty="0"/>
              <a:t>ante</a:t>
            </a:r>
            <a:r>
              <a:rPr lang="en-GB" dirty="0"/>
              <a:t> = "before")</a:t>
            </a:r>
          </a:p>
          <a:p>
            <a:r>
              <a:rPr lang="en-GB" dirty="0"/>
              <a:t>The pronoun must agree with its antecedent in number.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Rule:</a:t>
            </a:r>
            <a:r>
              <a:rPr lang="en-GB" dirty="0"/>
              <a:t> A singular pronoun must replace a singular noun; a plural pronoun must replace a plural noun.</a:t>
            </a:r>
          </a:p>
          <a:p>
            <a:endParaRPr lang="en-GB" dirty="0"/>
          </a:p>
        </p:txBody>
      </p:sp>
      <p:pic>
        <p:nvPicPr>
          <p:cNvPr id="8194" name="Picture 2" descr="https://webapps.towson.edu/ows/pro_antlincol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5660" y="4428498"/>
            <a:ext cx="5990932" cy="137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532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/>
              <a:t>Rules for Pronoun-antecedent Agreement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4305688" cy="3416300"/>
          </a:xfrm>
        </p:spPr>
        <p:txBody>
          <a:bodyPr/>
          <a:lstStyle/>
          <a:p>
            <a:r>
              <a:rPr lang="en-GB" b="1" dirty="0"/>
              <a:t>A </a:t>
            </a:r>
            <a:r>
              <a:rPr lang="en-GB" b="1" dirty="0">
                <a:hlinkClick r:id="rId2"/>
              </a:rPr>
              <a:t>phrase</a:t>
            </a:r>
            <a:r>
              <a:rPr lang="en-GB" b="1" dirty="0"/>
              <a:t> or </a:t>
            </a:r>
            <a:r>
              <a:rPr lang="en-GB" b="1" dirty="0">
                <a:hlinkClick r:id="rId3"/>
              </a:rPr>
              <a:t>clause</a:t>
            </a:r>
            <a:r>
              <a:rPr lang="en-GB" b="1" dirty="0"/>
              <a:t> between the subject and verb</a:t>
            </a:r>
            <a:r>
              <a:rPr lang="en-GB" dirty="0"/>
              <a:t> does not change the number of the antecedent.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Example:</a:t>
            </a:r>
          </a:p>
          <a:p>
            <a:endParaRPr lang="en-GB" dirty="0"/>
          </a:p>
          <a:p>
            <a:r>
              <a:rPr lang="en-GB" dirty="0"/>
              <a:t>The city of Karachi has its own glamour. 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9218" name="Picture 2" descr="https://webapps.towson.edu/ows/pro_antlimabean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8037" y="2603500"/>
            <a:ext cx="5498251" cy="976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843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Indefinite pronouns as antecedents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859" y="2487590"/>
            <a:ext cx="4923873" cy="341630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Singular Indefinite Pronoun antecedents take singular pronoun referents.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Singular</a:t>
            </a:r>
            <a:r>
              <a:rPr lang="en-GB" dirty="0"/>
              <a:t> : Each, neither, either, one, no one, somebody, nobody, anybody, something, nothing, anything, everyone, everybody, everything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Plural indefinite pronoun antecedents require plural referents.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Plural:</a:t>
            </a:r>
            <a:r>
              <a:rPr lang="en-GB" dirty="0"/>
              <a:t> Several, Both, Few, many </a:t>
            </a:r>
          </a:p>
        </p:txBody>
      </p:sp>
      <p:pic>
        <p:nvPicPr>
          <p:cNvPr id="10245" name="Picture 5" descr="https://webapps.towson.edu/ows/pro_anteach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823" y="3389112"/>
            <a:ext cx="6306490" cy="695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7" name="Picture 7" descr="https://webapps.towson.edu/ows/pro_antboth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823" y="5049966"/>
            <a:ext cx="6452315" cy="85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0365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Pronoun-antecedent Rules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3880685" cy="3416300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>
                <a:hlinkClick r:id="rId2"/>
              </a:rPr>
              <a:t>Rule.3: </a:t>
            </a:r>
          </a:p>
          <a:p>
            <a:pPr marL="0" indent="0">
              <a:buNone/>
            </a:pPr>
            <a:r>
              <a:rPr lang="en-GB" b="1" dirty="0">
                <a:hlinkClick r:id="rId2"/>
              </a:rPr>
              <a:t>Compound subjects</a:t>
            </a:r>
            <a:r>
              <a:rPr lang="en-GB" b="1" dirty="0"/>
              <a:t> joined by </a:t>
            </a:r>
            <a:r>
              <a:rPr lang="en-GB" b="1" i="1" dirty="0"/>
              <a:t>and</a:t>
            </a:r>
            <a:r>
              <a:rPr lang="en-GB" b="1" dirty="0"/>
              <a:t> </a:t>
            </a:r>
            <a:r>
              <a:rPr lang="en-GB" dirty="0"/>
              <a:t>always take a </a:t>
            </a:r>
            <a:r>
              <a:rPr lang="en-GB" b="1" dirty="0"/>
              <a:t>plural</a:t>
            </a:r>
            <a:r>
              <a:rPr lang="en-GB" dirty="0"/>
              <a:t> referent.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Rule.4:</a:t>
            </a:r>
          </a:p>
          <a:p>
            <a:pPr marL="0" indent="0">
              <a:buNone/>
            </a:pPr>
            <a:r>
              <a:rPr lang="en-GB" dirty="0"/>
              <a:t>With </a:t>
            </a:r>
            <a:r>
              <a:rPr lang="en-GB" b="1" dirty="0"/>
              <a:t>compound subjects joined by</a:t>
            </a:r>
            <a:r>
              <a:rPr lang="en-GB" dirty="0"/>
              <a:t> </a:t>
            </a:r>
            <a:r>
              <a:rPr lang="en-GB" b="1" i="1" dirty="0"/>
              <a:t>or/nor</a:t>
            </a:r>
            <a:r>
              <a:rPr lang="en-GB" i="1" dirty="0"/>
              <a:t>, </a:t>
            </a:r>
            <a:r>
              <a:rPr lang="en-GB" dirty="0"/>
              <a:t>the referent pronoun agrees with the antecedent closer to the pronoun.</a:t>
            </a:r>
          </a:p>
        </p:txBody>
      </p:sp>
      <p:pic>
        <p:nvPicPr>
          <p:cNvPr id="11266" name="Picture 2" descr="https://webapps.towson.edu/ows/pro_antan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9400" y="2603500"/>
            <a:ext cx="5485371" cy="78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https://webapps.towson.edu/ows/pro_antnor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0186" y="3921656"/>
            <a:ext cx="610458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https://webapps.towson.edu/ows/pro_antnor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4245" y="5071168"/>
            <a:ext cx="6000526" cy="742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8834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Pronoun-antecedent Agreement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4254173" cy="34163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Rule.5</a:t>
            </a:r>
          </a:p>
          <a:p>
            <a:pPr marL="0" indent="0">
              <a:buNone/>
            </a:pPr>
            <a:r>
              <a:rPr lang="en-GB" b="1" dirty="0"/>
              <a:t>Collective Nouns </a:t>
            </a:r>
            <a:r>
              <a:rPr lang="en-GB" dirty="0"/>
              <a:t> (group, jury, crowd, team, etc.) may be singular or plural, depending on meaning.    </a:t>
            </a:r>
          </a:p>
          <a:p>
            <a:endParaRPr lang="en-GB" dirty="0"/>
          </a:p>
          <a:p>
            <a:r>
              <a:rPr lang="en-GB" dirty="0"/>
              <a:t>Rule.6</a:t>
            </a:r>
          </a:p>
          <a:p>
            <a:pPr marL="0" indent="0">
              <a:buNone/>
            </a:pPr>
            <a:r>
              <a:rPr lang="en-GB" b="1" dirty="0"/>
              <a:t>Titles of single entities. </a:t>
            </a:r>
            <a:r>
              <a:rPr lang="en-GB" dirty="0"/>
              <a:t>(books, organizations, countries, etc.) take a singular referent.</a:t>
            </a:r>
          </a:p>
          <a:p>
            <a:endParaRPr lang="en-GB" dirty="0"/>
          </a:p>
        </p:txBody>
      </p:sp>
      <p:pic>
        <p:nvPicPr>
          <p:cNvPr id="12290" name="Picture 2" descr="https://webapps.towson.edu/ows/pro_antjury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242" y="3358814"/>
            <a:ext cx="4929620" cy="819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https://webapps.towson.edu/ows/pro_antjur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242" y="2406314"/>
            <a:ext cx="492962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 descr="https://webapps.towson.edu/ows/pro_antus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242" y="4560082"/>
            <a:ext cx="4929620" cy="86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https://webapps.towson.edu/ows/pro_antbook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9242" y="5576887"/>
            <a:ext cx="492962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3790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Pronoun-antecedent Agreement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5" y="2603500"/>
            <a:ext cx="3777654" cy="3416300"/>
          </a:xfrm>
        </p:spPr>
        <p:txBody>
          <a:bodyPr>
            <a:normAutofit fontScale="92500" lnSpcReduction="20000"/>
          </a:bodyPr>
          <a:lstStyle/>
          <a:p>
            <a:r>
              <a:rPr lang="en-GB" b="1" dirty="0"/>
              <a:t>Plural form subjects with a singular meaning</a:t>
            </a:r>
            <a:r>
              <a:rPr lang="en-GB" dirty="0"/>
              <a:t> take a singular referent.  </a:t>
            </a:r>
            <a:r>
              <a:rPr lang="en-GB" i="1" dirty="0"/>
              <a:t>(news, measles, mumps, physics, </a:t>
            </a:r>
            <a:r>
              <a:rPr lang="en-GB" i="1" dirty="0" err="1"/>
              <a:t>etc</a:t>
            </a:r>
            <a:r>
              <a:rPr lang="en-GB" i="1" dirty="0"/>
              <a:t>)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b="1" i="1" dirty="0"/>
              <a:t>The number of</a:t>
            </a:r>
            <a:r>
              <a:rPr lang="en-GB" dirty="0"/>
              <a:t>   </a:t>
            </a:r>
            <a:r>
              <a:rPr lang="en-GB" dirty="0" err="1"/>
              <a:t>vs</a:t>
            </a:r>
            <a:r>
              <a:rPr lang="en-GB" dirty="0"/>
              <a:t>  </a:t>
            </a:r>
            <a:r>
              <a:rPr lang="en-GB" b="1" i="1" dirty="0"/>
              <a:t>A number of</a:t>
            </a:r>
            <a:r>
              <a:rPr lang="en-GB" dirty="0"/>
              <a:t>  before a subject: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i="1" dirty="0"/>
              <a:t>The number of</a:t>
            </a:r>
            <a:r>
              <a:rPr lang="en-GB" dirty="0"/>
              <a:t> is singular.  </a:t>
            </a:r>
          </a:p>
          <a:p>
            <a:r>
              <a:rPr lang="en-GB" b="1" i="1" dirty="0"/>
              <a:t>A number of</a:t>
            </a:r>
            <a:r>
              <a:rPr lang="en-GB" dirty="0"/>
              <a:t> is plural.</a:t>
            </a:r>
            <a:br>
              <a:rPr lang="en-GB" dirty="0"/>
            </a:br>
            <a:endParaRPr lang="en-GB" dirty="0"/>
          </a:p>
        </p:txBody>
      </p:sp>
      <p:pic>
        <p:nvPicPr>
          <p:cNvPr id="13314" name="Picture 2" descr="https://webapps.towson.edu/ows/pro_antevery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7727" y="2687212"/>
            <a:ext cx="6270983" cy="8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webapps.towson.edu/ows/pro_antnumberof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609" y="4522469"/>
            <a:ext cx="6156101" cy="79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s://webapps.towson.edu/ows/pro_antnumberof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609" y="5428418"/>
            <a:ext cx="6156101" cy="752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6762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39158" y="2449000"/>
            <a:ext cx="8169031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Low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1. During early rehearsals, an actor may forget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 or her,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lines.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2. The Washington team was opportunistic;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took advantage of every break.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3. A person needs to see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 or her,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dentist twice a year.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4.The committee members put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its,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signatures on the document.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5. If any one of the sisters needs a ride,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she,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can call me.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6. When someone has been drinking,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 or she,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may drive poorly.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7. If the board of directors controls the company,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they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may vote for a raise.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8. Neither the pilot nor the attendants gave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his or her,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opinion about the mishap.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9. Each of these companies had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its,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)books audited.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10. Some of the china has lost (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its,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their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) luster. </a:t>
            </a:r>
            <a:r>
              <a: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controls>
      <mc:AlternateContent xmlns:mc="http://schemas.openxmlformats.org/markup-compatibility/2006">
        <mc:Choice xmlns:v="urn:schemas-microsoft-com:vml" Requires="v">
          <p:control spid="1045" name="HTMLOption1" r:id="rId2" imgW="257040" imgH="304920"/>
        </mc:Choice>
        <mc:Fallback>
          <p:control name="HTMLOption1" r:id="rId2" imgW="257040" imgH="304920">
            <p:pic>
              <p:nvPicPr>
                <p:cNvPr id="5" name="HTMLOption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46" name="HTMLOption2" r:id="rId3" imgW="257040" imgH="304920"/>
        </mc:Choice>
        <mc:Fallback>
          <p:control name="HTMLOption2" r:id="rId3" imgW="257040" imgH="304920">
            <p:pic>
              <p:nvPicPr>
                <p:cNvPr id="6" name="HTMLOption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47" name="HTMLOption3" r:id="rId4" imgW="257040" imgH="304920"/>
        </mc:Choice>
        <mc:Fallback>
          <p:control name="HTMLOption3" r:id="rId4" imgW="257040" imgH="304920">
            <p:pic>
              <p:nvPicPr>
                <p:cNvPr id="7" name="HTMLOption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48" name="HTMLOption4" r:id="rId5" imgW="257040" imgH="304920"/>
        </mc:Choice>
        <mc:Fallback>
          <p:control name="HTMLOption4" r:id="rId5" imgW="257040" imgH="304920">
            <p:pic>
              <p:nvPicPr>
                <p:cNvPr id="8" name="HTMLOption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49" name="HTMLOption5" r:id="rId6" imgW="257040" imgH="304920"/>
        </mc:Choice>
        <mc:Fallback>
          <p:control name="HTMLOption5" r:id="rId6" imgW="257040" imgH="304920">
            <p:pic>
              <p:nvPicPr>
                <p:cNvPr id="9" name="HTMLOption5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0" name="HTMLOption6" r:id="rId7" imgW="257040" imgH="304920"/>
        </mc:Choice>
        <mc:Fallback>
          <p:control name="HTMLOption6" r:id="rId7" imgW="257040" imgH="304920">
            <p:pic>
              <p:nvPicPr>
                <p:cNvPr id="10" name="HTMLOption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1" name="HTMLOption7" r:id="rId8" imgW="257040" imgH="304920"/>
        </mc:Choice>
        <mc:Fallback>
          <p:control name="HTMLOption7" r:id="rId8" imgW="257040" imgH="304920">
            <p:pic>
              <p:nvPicPr>
                <p:cNvPr id="11" name="HTMLOption7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2" name="HTMLOption8" r:id="rId9" imgW="257040" imgH="304920"/>
        </mc:Choice>
        <mc:Fallback>
          <p:control name="HTMLOption8" r:id="rId9" imgW="257040" imgH="304920">
            <p:pic>
              <p:nvPicPr>
                <p:cNvPr id="12" name="HTMLOption8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3" name="HTMLOption9" r:id="rId10" imgW="257040" imgH="304920"/>
        </mc:Choice>
        <mc:Fallback>
          <p:control name="HTMLOption9" r:id="rId10" imgW="257040" imgH="304920">
            <p:pic>
              <p:nvPicPr>
                <p:cNvPr id="13" name="HTMLOption9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4" name="HTMLOption10" r:id="rId11" imgW="257040" imgH="304920"/>
        </mc:Choice>
        <mc:Fallback>
          <p:control name="HTMLOption10" r:id="rId11" imgW="257040" imgH="304920">
            <p:pic>
              <p:nvPicPr>
                <p:cNvPr id="14" name="HTMLOption10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5" name="HTMLOption11" r:id="rId12" imgW="257040" imgH="304920"/>
        </mc:Choice>
        <mc:Fallback>
          <p:control name="HTMLOption11" r:id="rId12" imgW="257040" imgH="304920">
            <p:pic>
              <p:nvPicPr>
                <p:cNvPr id="15" name="HTMLOption11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6" name="HTMLOption12" r:id="rId13" imgW="257040" imgH="304920"/>
        </mc:Choice>
        <mc:Fallback>
          <p:control name="HTMLOption12" r:id="rId13" imgW="257040" imgH="304920">
            <p:pic>
              <p:nvPicPr>
                <p:cNvPr id="16" name="HTMLOption12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7" name="HTMLOption13" r:id="rId14" imgW="257040" imgH="304920"/>
        </mc:Choice>
        <mc:Fallback>
          <p:control name="HTMLOption13" r:id="rId14" imgW="257040" imgH="304920">
            <p:pic>
              <p:nvPicPr>
                <p:cNvPr id="17" name="HTMLOption13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8" name="HTMLOption14" r:id="rId15" imgW="257040" imgH="304920"/>
        </mc:Choice>
        <mc:Fallback>
          <p:control name="HTMLOption14" r:id="rId15" imgW="257040" imgH="304920">
            <p:pic>
              <p:nvPicPr>
                <p:cNvPr id="18" name="HTMLOption14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59" name="HTMLOption15" r:id="rId16" imgW="257040" imgH="304920"/>
        </mc:Choice>
        <mc:Fallback>
          <p:control name="HTMLOption15" r:id="rId16" imgW="257040" imgH="304920">
            <p:pic>
              <p:nvPicPr>
                <p:cNvPr id="19" name="HTMLOption15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60" name="HTMLOption16" r:id="rId17" imgW="257040" imgH="304920"/>
        </mc:Choice>
        <mc:Fallback>
          <p:control name="HTMLOption16" r:id="rId17" imgW="257040" imgH="304920">
            <p:pic>
              <p:nvPicPr>
                <p:cNvPr id="20" name="HTMLOption16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61" name="HTMLOption17" r:id="rId18" imgW="257040" imgH="304920"/>
        </mc:Choice>
        <mc:Fallback>
          <p:control name="HTMLOption17" r:id="rId18" imgW="257040" imgH="304920">
            <p:pic>
              <p:nvPicPr>
                <p:cNvPr id="21" name="HTMLOption17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62" name="HTMLOption18" r:id="rId19" imgW="257040" imgH="304920"/>
        </mc:Choice>
        <mc:Fallback>
          <p:control name="HTMLOption18" r:id="rId19" imgW="257040" imgH="304920">
            <p:pic>
              <p:nvPicPr>
                <p:cNvPr id="22" name="HTMLOption18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  <mc:AlternateContent xmlns:mc="http://schemas.openxmlformats.org/markup-compatibility/2006">
        <mc:Choice xmlns:v="urn:schemas-microsoft-com:vml" Requires="v">
          <p:control spid="1063" name="HTMLOption19" r:id="rId20" imgW="257040" imgH="304920"/>
        </mc:Choice>
        <mc:Fallback>
          <p:control name="HTMLOption19" r:id="rId20" imgW="257040" imgH="304920">
            <p:pic>
              <p:nvPicPr>
                <p:cNvPr id="23" name="HTMLOption19"/>
                <p:cNvPicPr preferRelativeResize="0">
                  <a:picLocks noChangeArrowheads="1" noChangeShapeType="1"/>
                </p:cNvPicPr>
                <p:nvPr/>
              </p:nvPicPr>
              <p:blipFill>
                <a:blip r:embed="rId22"/>
                <a:srcRect/>
                <a:stretch>
                  <a:fillRect/>
                </a:stretch>
              </p:blipFill>
              <p:spPr bwMode="auto">
                <a:xfrm>
                  <a:off x="152400" y="152400"/>
                  <a:ext cx="1371600" cy="304800"/>
                </a:xfrm>
                <a:prstGeom prst="rect">
                  <a:avLst/>
                </a:prstGeom>
                <a:noFill/>
                <a:ln w="9525"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</p:control>
        </mc:Fallback>
      </mc:AlternateContent>
    </p:controls>
    <p:extLst>
      <p:ext uri="{BB962C8B-B14F-4D97-AF65-F5344CB8AC3E}">
        <p14:creationId xmlns:p14="http://schemas.microsoft.com/office/powerpoint/2010/main" val="615811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249</TotalTime>
  <Words>617</Words>
  <Application>Microsoft Office PowerPoint</Application>
  <PresentationFormat>Widescreen</PresentationFormat>
  <Paragraphs>140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Times New Roman</vt:lpstr>
      <vt:lpstr>Tw Cen MT</vt:lpstr>
      <vt:lpstr>Tw Cen MT Condensed</vt:lpstr>
      <vt:lpstr>Verdana</vt:lpstr>
      <vt:lpstr>Wingdings 3</vt:lpstr>
      <vt:lpstr>Integral</vt:lpstr>
      <vt:lpstr>Parallelism in Sentences </vt:lpstr>
      <vt:lpstr>Parallelism in Sentences using Conjunctions </vt:lpstr>
      <vt:lpstr>Parallelism </vt:lpstr>
      <vt:lpstr>Five Ways to develop parallelism in writing </vt:lpstr>
      <vt:lpstr>Parallelism…cont’d</vt:lpstr>
      <vt:lpstr>Faulty parallelism</vt:lpstr>
      <vt:lpstr>Exercise 1: Correct Faulty parallelism </vt:lpstr>
      <vt:lpstr> 2. Use parallel structure with elements in lists or in a series.</vt:lpstr>
      <vt:lpstr>Faulty parallelism </vt:lpstr>
      <vt:lpstr>Exercise </vt:lpstr>
      <vt:lpstr>3. Use parallel structure with elements being compared.</vt:lpstr>
      <vt:lpstr>4. Use parallel structure with elements joined by a linking verb or a verb of being.</vt:lpstr>
      <vt:lpstr>5. Use parallel structure with elements joined by a correlative conjunction.</vt:lpstr>
      <vt:lpstr>Parallelism using correlatives </vt:lpstr>
      <vt:lpstr>Exercise: Fix parallelism errors </vt:lpstr>
      <vt:lpstr>Exercise: Fix parallelism errors </vt:lpstr>
      <vt:lpstr>Avoiding Fragments </vt:lpstr>
      <vt:lpstr>Some Examples of Sentence Fragments </vt:lpstr>
      <vt:lpstr>Avoiding Comma Splices &amp; Fused Sentences </vt:lpstr>
      <vt:lpstr>Repairing a comma splice: Three ways </vt:lpstr>
      <vt:lpstr>Error.2  Fused Sentence or Run-on sentence </vt:lpstr>
      <vt:lpstr>Practice:   Fixing errors in Comma splices/run-ons/fragments </vt:lpstr>
      <vt:lpstr> Pronoun-Antecedent Agreement </vt:lpstr>
      <vt:lpstr>Rules for Pronoun-antecedent Agreement </vt:lpstr>
      <vt:lpstr>Indefinite pronouns as antecedents </vt:lpstr>
      <vt:lpstr>Pronoun-antecedent Rules </vt:lpstr>
      <vt:lpstr>Pronoun-antecedent Agreement </vt:lpstr>
      <vt:lpstr>Pronoun-antecedent Agreement </vt:lpstr>
      <vt:lpstr>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Writing Skills: Some Concerns</dc:title>
  <dc:creator>waqar syed</dc:creator>
  <cp:lastModifiedBy>Talha</cp:lastModifiedBy>
  <cp:revision>26</cp:revision>
  <dcterms:created xsi:type="dcterms:W3CDTF">2016-11-03T19:21:15Z</dcterms:created>
  <dcterms:modified xsi:type="dcterms:W3CDTF">2024-09-10T06:36:44Z</dcterms:modified>
</cp:coreProperties>
</file>