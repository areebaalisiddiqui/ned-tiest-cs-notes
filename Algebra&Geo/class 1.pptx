
<file path=[Content_Types].xml><?xml version="1.0" encoding="utf-8"?>
<Types xmlns="http://schemas.openxmlformats.org/package/2006/content-types">
  <Default Extension="png" ContentType="image/png"/>
  <Default Extension="jfif" ContentType="image/jpeg"/>
  <Default Extension="bin" ContentType="application/vnd.openxmlformats-officedocument.oleObject"/>
  <Default Extension="jpeg" ContentType="image/jpeg"/>
  <Default Extension="wmf" ContentType="image/x-wmf"/>
  <Default Extension="emf" ContentType="image/x-emf"/>
  <Default Extension="rels" ContentType="application/vnd.openxmlformats-package.relationships+xml"/>
  <Default Extension="xml" ContentType="application/xml"/>
  <Default Extension="vml" ContentType="application/vnd.openxmlformats-officedocument.vmlDrawing"/>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69" r:id="rId1"/>
  </p:sldMasterIdLst>
  <p:notesMasterIdLst>
    <p:notesMasterId r:id="rId71"/>
  </p:notesMasterIdLst>
  <p:sldIdLst>
    <p:sldId id="293" r:id="rId2"/>
    <p:sldId id="297" r:id="rId3"/>
    <p:sldId id="257" r:id="rId4"/>
    <p:sldId id="290"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98" r:id="rId21"/>
    <p:sldId id="299" r:id="rId22"/>
    <p:sldId id="301" r:id="rId23"/>
    <p:sldId id="300" r:id="rId24"/>
    <p:sldId id="273" r:id="rId25"/>
    <p:sldId id="332" r:id="rId26"/>
    <p:sldId id="333" r:id="rId27"/>
    <p:sldId id="334" r:id="rId28"/>
    <p:sldId id="335" r:id="rId29"/>
    <p:sldId id="302" r:id="rId30"/>
    <p:sldId id="303" r:id="rId31"/>
    <p:sldId id="304" r:id="rId32"/>
    <p:sldId id="346" r:id="rId33"/>
    <p:sldId id="305" r:id="rId34"/>
    <p:sldId id="306" r:id="rId35"/>
    <p:sldId id="307" r:id="rId36"/>
    <p:sldId id="308" r:id="rId37"/>
    <p:sldId id="309" r:id="rId38"/>
    <p:sldId id="310" r:id="rId39"/>
    <p:sldId id="311" r:id="rId40"/>
    <p:sldId id="312" r:id="rId41"/>
    <p:sldId id="313" r:id="rId42"/>
    <p:sldId id="314" r:id="rId43"/>
    <p:sldId id="315" r:id="rId44"/>
    <p:sldId id="316" r:id="rId45"/>
    <p:sldId id="317" r:id="rId46"/>
    <p:sldId id="318" r:id="rId47"/>
    <p:sldId id="319" r:id="rId48"/>
    <p:sldId id="320" r:id="rId49"/>
    <p:sldId id="321" r:id="rId50"/>
    <p:sldId id="322" r:id="rId51"/>
    <p:sldId id="323" r:id="rId52"/>
    <p:sldId id="324" r:id="rId53"/>
    <p:sldId id="325" r:id="rId54"/>
    <p:sldId id="326" r:id="rId55"/>
    <p:sldId id="327" r:id="rId56"/>
    <p:sldId id="328" r:id="rId57"/>
    <p:sldId id="329" r:id="rId58"/>
    <p:sldId id="330" r:id="rId59"/>
    <p:sldId id="331" r:id="rId60"/>
    <p:sldId id="336" r:id="rId61"/>
    <p:sldId id="337" r:id="rId62"/>
    <p:sldId id="338" r:id="rId63"/>
    <p:sldId id="339" r:id="rId64"/>
    <p:sldId id="340" r:id="rId65"/>
    <p:sldId id="341" r:id="rId66"/>
    <p:sldId id="342" r:id="rId67"/>
    <p:sldId id="343" r:id="rId68"/>
    <p:sldId id="344" r:id="rId69"/>
    <p:sldId id="345"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8F8F8"/>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434" autoAdjust="0"/>
  </p:normalViewPr>
  <p:slideViewPr>
    <p:cSldViewPr snapToGrid="0">
      <p:cViewPr varScale="1">
        <p:scale>
          <a:sx n="86" d="100"/>
          <a:sy n="86" d="100"/>
        </p:scale>
        <p:origin x="-696" y="-78"/>
      </p:cViewPr>
      <p:guideLst>
        <p:guide orient="horz" pos="2160"/>
        <p:guide pos="384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slide" Target="slides/slide62.xml"/><Relationship Id="rId68" Type="http://schemas.openxmlformats.org/officeDocument/2006/relationships/slide" Target="slides/slide67.xml"/><Relationship Id="rId7" Type="http://schemas.openxmlformats.org/officeDocument/2006/relationships/slide" Target="slides/slide6.xml"/><Relationship Id="rId71"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slide" Target="slides/slide60.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s>
</file>

<file path=ppt/_rels/viewProps.xml.rels><?xml version="1.0" encoding="UTF-8" standalone="yes"?>
<Relationships xmlns="http://schemas.openxmlformats.org/package/2006/relationships"><Relationship Id="rId3" Type="http://schemas.openxmlformats.org/officeDocument/2006/relationships/slide" Target="slides/slide66.xml"/><Relationship Id="rId2" Type="http://schemas.openxmlformats.org/officeDocument/2006/relationships/slide" Target="slides/slide63.xml"/><Relationship Id="rId1" Type="http://schemas.openxmlformats.org/officeDocument/2006/relationships/slide" Target="slides/slide62.xml"/><Relationship Id="rId4" Type="http://schemas.openxmlformats.org/officeDocument/2006/relationships/slide" Target="slides/slide67.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image" Target="../media/image26.wmf"/><Relationship Id="rId1" Type="http://schemas.openxmlformats.org/officeDocument/2006/relationships/image" Target="../media/image25.wmf"/><Relationship Id="rId4" Type="http://schemas.openxmlformats.org/officeDocument/2006/relationships/image" Target="../media/image28.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25.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5.vml.rels><?xml version="1.0" encoding="UTF-8" standalone="yes"?>
<Relationships xmlns="http://schemas.openxmlformats.org/package/2006/relationships"><Relationship Id="rId2" Type="http://schemas.openxmlformats.org/officeDocument/2006/relationships/image" Target="../media/image47.emf"/><Relationship Id="rId1" Type="http://schemas.openxmlformats.org/officeDocument/2006/relationships/image" Target="../media/image46.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48.w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49.wmf"/></Relationships>
</file>

<file path=ppt/drawings/_rels/vmlDrawing8.vml.rels><?xml version="1.0" encoding="UTF-8" standalone="yes"?>
<Relationships xmlns="http://schemas.openxmlformats.org/package/2006/relationships"><Relationship Id="rId3" Type="http://schemas.openxmlformats.org/officeDocument/2006/relationships/image" Target="../media/image52.wmf"/><Relationship Id="rId2" Type="http://schemas.openxmlformats.org/officeDocument/2006/relationships/image" Target="../media/image51.wmf"/><Relationship Id="rId1" Type="http://schemas.openxmlformats.org/officeDocument/2006/relationships/image" Target="../media/image50.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53.w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38.w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54.w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55.w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56.wmf"/></Relationships>
</file>

<file path=ppt/drawings/_rels/vmlDrawing14.vml.rels><?xml version="1.0" encoding="UTF-8" standalone="yes"?>
<Relationships xmlns="http://schemas.openxmlformats.org/package/2006/relationships"><Relationship Id="rId2" Type="http://schemas.openxmlformats.org/officeDocument/2006/relationships/image" Target="../media/image58.wmf"/><Relationship Id="rId1" Type="http://schemas.openxmlformats.org/officeDocument/2006/relationships/image" Target="../media/image57.wmf"/></Relationships>
</file>

<file path=ppt/drawings/_rels/vmlDrawing15.vml.rels><?xml version="1.0" encoding="UTF-8" standalone="yes"?>
<Relationships xmlns="http://schemas.openxmlformats.org/package/2006/relationships"><Relationship Id="rId2" Type="http://schemas.openxmlformats.org/officeDocument/2006/relationships/image" Target="../media/image60.wmf"/><Relationship Id="rId1" Type="http://schemas.openxmlformats.org/officeDocument/2006/relationships/image" Target="../media/image59.wmf"/></Relationships>
</file>

<file path=ppt/drawings/_rels/vmlDrawing16.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65.wmf"/><Relationship Id="rId2" Type="http://schemas.openxmlformats.org/officeDocument/2006/relationships/image" Target="../media/image64.wmf"/><Relationship Id="rId1" Type="http://schemas.openxmlformats.org/officeDocument/2006/relationships/image" Target="../media/image63.wmf"/><Relationship Id="rId5" Type="http://schemas.openxmlformats.org/officeDocument/2006/relationships/image" Target="../media/image67.wmf"/><Relationship Id="rId4" Type="http://schemas.openxmlformats.org/officeDocument/2006/relationships/image" Target="../media/image66.wmf"/></Relationships>
</file>

<file path=ppt/drawings/_rels/vmlDrawing18.vml.rels><?xml version="1.0" encoding="UTF-8" standalone="yes"?>
<Relationships xmlns="http://schemas.openxmlformats.org/package/2006/relationships"><Relationship Id="rId2" Type="http://schemas.openxmlformats.org/officeDocument/2006/relationships/image" Target="../media/image69.wmf"/><Relationship Id="rId1" Type="http://schemas.openxmlformats.org/officeDocument/2006/relationships/image" Target="../media/image6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70.wmf"/><Relationship Id="rId1" Type="http://schemas.openxmlformats.org/officeDocument/2006/relationships/image" Target="../media/image46.w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71.w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7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75.wmf"/><Relationship Id="rId2" Type="http://schemas.openxmlformats.org/officeDocument/2006/relationships/image" Target="../media/image74.wmf"/><Relationship Id="rId1" Type="http://schemas.openxmlformats.org/officeDocument/2006/relationships/image" Target="../media/image73.w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76.w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77.wmf"/></Relationships>
</file>

<file path=ppt/drawings/_rels/vmlDrawing25.vml.rels><?xml version="1.0" encoding="UTF-8" standalone="yes"?>
<Relationships xmlns="http://schemas.openxmlformats.org/package/2006/relationships"><Relationship Id="rId3" Type="http://schemas.openxmlformats.org/officeDocument/2006/relationships/image" Target="../media/image80.wmf"/><Relationship Id="rId2" Type="http://schemas.openxmlformats.org/officeDocument/2006/relationships/image" Target="../media/image79.wmf"/><Relationship Id="rId1" Type="http://schemas.openxmlformats.org/officeDocument/2006/relationships/image" Target="../media/image78.emf"/><Relationship Id="rId4" Type="http://schemas.openxmlformats.org/officeDocument/2006/relationships/image" Target="../media/image81.wmf"/></Relationships>
</file>

<file path=ppt/drawings/_rels/vmlDrawing26.vml.rels><?xml version="1.0" encoding="UTF-8" standalone="yes"?>
<Relationships xmlns="http://schemas.openxmlformats.org/package/2006/relationships"><Relationship Id="rId3" Type="http://schemas.openxmlformats.org/officeDocument/2006/relationships/image" Target="../media/image84.wmf"/><Relationship Id="rId2" Type="http://schemas.openxmlformats.org/officeDocument/2006/relationships/image" Target="../media/image83.wmf"/><Relationship Id="rId1" Type="http://schemas.openxmlformats.org/officeDocument/2006/relationships/image" Target="../media/image82.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87.wmf"/><Relationship Id="rId2" Type="http://schemas.openxmlformats.org/officeDocument/2006/relationships/image" Target="../media/image86.wmf"/><Relationship Id="rId1" Type="http://schemas.openxmlformats.org/officeDocument/2006/relationships/image" Target="../media/image85.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90.wmf"/><Relationship Id="rId2" Type="http://schemas.openxmlformats.org/officeDocument/2006/relationships/image" Target="../media/image89.wmf"/><Relationship Id="rId1" Type="http://schemas.openxmlformats.org/officeDocument/2006/relationships/image" Target="../media/image88.emf"/></Relationships>
</file>

<file path=ppt/drawings/_rels/vmlDrawing29.vml.rels><?xml version="1.0" encoding="UTF-8" standalone="yes"?>
<Relationships xmlns="http://schemas.openxmlformats.org/package/2006/relationships"><Relationship Id="rId2" Type="http://schemas.openxmlformats.org/officeDocument/2006/relationships/image" Target="../media/image92.wmf"/><Relationship Id="rId1" Type="http://schemas.openxmlformats.org/officeDocument/2006/relationships/image" Target="../media/image91.wmf"/></Relationships>
</file>

<file path=ppt/drawings/_rels/vmlDrawing30.vml.rels><?xml version="1.0" encoding="UTF-8" standalone="yes"?>
<Relationships xmlns="http://schemas.openxmlformats.org/package/2006/relationships"><Relationship Id="rId2" Type="http://schemas.openxmlformats.org/officeDocument/2006/relationships/image" Target="../media/image94.wmf"/><Relationship Id="rId1" Type="http://schemas.openxmlformats.org/officeDocument/2006/relationships/image" Target="../media/image93.wmf"/></Relationships>
</file>

<file path=ppt/drawings/_rels/vmlDrawing31.vml.rels><?xml version="1.0" encoding="UTF-8" standalone="yes"?>
<Relationships xmlns="http://schemas.openxmlformats.org/package/2006/relationships"><Relationship Id="rId2" Type="http://schemas.openxmlformats.org/officeDocument/2006/relationships/image" Target="../media/image96.wmf"/><Relationship Id="rId1" Type="http://schemas.openxmlformats.org/officeDocument/2006/relationships/image" Target="../media/image95.wmf"/></Relationships>
</file>

<file path=ppt/drawings/_rels/vmlDrawing32.vml.rels><?xml version="1.0" encoding="UTF-8" standalone="yes"?>
<Relationships xmlns="http://schemas.openxmlformats.org/package/2006/relationships"><Relationship Id="rId2" Type="http://schemas.openxmlformats.org/officeDocument/2006/relationships/image" Target="../media/image98.wmf"/><Relationship Id="rId1" Type="http://schemas.openxmlformats.org/officeDocument/2006/relationships/image" Target="../media/image97.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A3E73FB-C95A-4303-962A-3A30C64E6B7D}" type="datetimeFigureOut">
              <a:rPr lang="en-US" smtClean="0"/>
              <a:t>5/11/2023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9528F75-F3AA-406C-809F-BDD75E4046BF}" type="slidenum">
              <a:rPr lang="en-US" smtClean="0"/>
              <a:t>‹#›</a:t>
            </a:fld>
            <a:endParaRPr lang="en-US"/>
          </a:p>
        </p:txBody>
      </p:sp>
    </p:spTree>
    <p:extLst>
      <p:ext uri="{BB962C8B-B14F-4D97-AF65-F5344CB8AC3E}">
        <p14:creationId xmlns:p14="http://schemas.microsoft.com/office/powerpoint/2010/main" val="278080725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69D20B2-C406-4314-8730-35C0ABC4D555}" type="slidenum">
              <a:rPr lang="en-US" smtClean="0"/>
              <a:t>1</a:t>
            </a:fld>
            <a:endParaRPr lang="en-US" dirty="0"/>
          </a:p>
        </p:txBody>
      </p:sp>
    </p:spTree>
    <p:extLst>
      <p:ext uri="{BB962C8B-B14F-4D97-AF65-F5344CB8AC3E}">
        <p14:creationId xmlns:p14="http://schemas.microsoft.com/office/powerpoint/2010/main" val="27756552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47BD4DF0-42F2-49F1-AB5F-19F7A3A904FF}" type="slidenum">
              <a:rPr lang="en-US" altLang="en-US"/>
              <a:pPr>
                <a:spcBef>
                  <a:spcPct val="0"/>
                </a:spcBef>
              </a:pPr>
              <a:t>29</a:t>
            </a:fld>
            <a:endParaRPr lang="en-US" altLang="en-US"/>
          </a:p>
        </p:txBody>
      </p:sp>
      <p:sp>
        <p:nvSpPr>
          <p:cNvPr id="5123" name="Rectangle 2"/>
          <p:cNvSpPr>
            <a:spLocks noGrp="1" noRot="1" noChangeAspect="1" noChangeArrowheads="1" noTextEdit="1"/>
          </p:cNvSpPr>
          <p:nvPr>
            <p:ph type="sldImg"/>
          </p:nvPr>
        </p:nvSpPr>
        <p:spPr>
          <a:ln/>
        </p:spPr>
      </p:sp>
      <p:sp>
        <p:nvSpPr>
          <p:cNvPr id="438275" name="Rectangle 3"/>
          <p:cNvSpPr>
            <a:spLocks noGrp="1" noChangeArrowheads="1"/>
          </p:cNvSpPr>
          <p:nvPr>
            <p:ph type="body" idx="1"/>
          </p:nvPr>
        </p:nvSpPr>
        <p:spPr>
          <a:xfrm>
            <a:off x="914400" y="4343400"/>
            <a:ext cx="5029200" cy="4114800"/>
          </a:xfrm>
        </p:spPr>
        <p:txBody>
          <a:bodyPr/>
          <a:lstStyle/>
          <a:p>
            <a:pPr eaLnBrk="1" hangingPunct="1">
              <a:defRPr/>
            </a:pPr>
            <a:endParaRPr lang="en-US" smtClean="0">
              <a:ea typeface="ＭＳ Ｐゴシック" charset="0"/>
              <a:cs typeface="+mn-cs"/>
            </a:endParaRPr>
          </a:p>
        </p:txBody>
      </p:sp>
    </p:spTree>
    <p:extLst>
      <p:ext uri="{BB962C8B-B14F-4D97-AF65-F5344CB8AC3E}">
        <p14:creationId xmlns:p14="http://schemas.microsoft.com/office/powerpoint/2010/main" val="170656031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7"/>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ea typeface="MS PGothic" panose="020B0600070205080204" pitchFamily="34" charset="-128"/>
              </a:defRPr>
            </a:lvl1pPr>
            <a:lvl2pPr marL="742950" indent="-285750">
              <a:spcBef>
                <a:spcPct val="30000"/>
              </a:spcBef>
              <a:defRPr sz="1200">
                <a:solidFill>
                  <a:schemeClr val="tx1"/>
                </a:solidFill>
                <a:latin typeface="Arial" panose="020B0604020202020204" pitchFamily="34" charset="0"/>
                <a:ea typeface="MS PGothic" panose="020B0600070205080204" pitchFamily="34" charset="-128"/>
              </a:defRPr>
            </a:lvl2pPr>
            <a:lvl3pPr marL="1143000" indent="-228600">
              <a:spcBef>
                <a:spcPct val="30000"/>
              </a:spcBef>
              <a:defRPr sz="1200">
                <a:solidFill>
                  <a:schemeClr val="tx1"/>
                </a:solidFill>
                <a:latin typeface="Arial" panose="020B0604020202020204" pitchFamily="34" charset="0"/>
                <a:ea typeface="MS PGothic" panose="020B0600070205080204" pitchFamily="34" charset="-128"/>
              </a:defRPr>
            </a:lvl3pPr>
            <a:lvl4pPr marL="1600200" indent="-228600">
              <a:spcBef>
                <a:spcPct val="30000"/>
              </a:spcBef>
              <a:defRPr sz="1200">
                <a:solidFill>
                  <a:schemeClr val="tx1"/>
                </a:solidFill>
                <a:latin typeface="Arial" panose="020B0604020202020204" pitchFamily="34" charset="0"/>
                <a:ea typeface="MS PGothic" panose="020B0600070205080204" pitchFamily="34" charset="-128"/>
              </a:defRPr>
            </a:lvl4pPr>
            <a:lvl5pPr marL="2057400" indent="-228600">
              <a:spcBef>
                <a:spcPct val="30000"/>
              </a:spcBef>
              <a:defRPr sz="1200">
                <a:solidFill>
                  <a:schemeClr val="tx1"/>
                </a:solidFill>
                <a:latin typeface="Arial" panose="020B0604020202020204" pitchFamily="34" charset="0"/>
                <a:ea typeface="MS PGothic" panose="020B0600070205080204" pitchFamily="34" charset="-128"/>
              </a:defRPr>
            </a:lvl5pPr>
            <a:lvl6pPr marL="25146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6pPr>
            <a:lvl7pPr marL="29718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7pPr>
            <a:lvl8pPr marL="34290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8pPr>
            <a:lvl9pPr marL="3886200" indent="-228600" eaLnBrk="0" fontAlgn="base" hangingPunct="0">
              <a:spcBef>
                <a:spcPct val="30000"/>
              </a:spcBef>
              <a:spcAft>
                <a:spcPct val="0"/>
              </a:spcAft>
              <a:defRPr sz="1200">
                <a:solidFill>
                  <a:schemeClr val="tx1"/>
                </a:solidFill>
                <a:latin typeface="Arial" panose="020B0604020202020204" pitchFamily="34" charset="0"/>
                <a:ea typeface="MS PGothic" panose="020B0600070205080204" pitchFamily="34" charset="-128"/>
              </a:defRPr>
            </a:lvl9pPr>
          </a:lstStyle>
          <a:p>
            <a:pPr>
              <a:spcBef>
                <a:spcPct val="0"/>
              </a:spcBef>
            </a:pPr>
            <a:fld id="{BA9A3A5D-C0AF-4D23-AEE7-5AA44E45B4E1}" type="slidenum">
              <a:rPr lang="en-US" altLang="en-US"/>
              <a:pPr>
                <a:spcBef>
                  <a:spcPct val="0"/>
                </a:spcBef>
              </a:pPr>
              <a:t>30</a:t>
            </a:fld>
            <a:endParaRPr lang="en-US" altLang="en-US"/>
          </a:p>
        </p:txBody>
      </p:sp>
      <p:sp>
        <p:nvSpPr>
          <p:cNvPr id="7171" name="Rectangle 2"/>
          <p:cNvSpPr>
            <a:spLocks noGrp="1" noRot="1" noChangeAspect="1" noChangeArrowheads="1" noTextEdit="1"/>
          </p:cNvSpPr>
          <p:nvPr>
            <p:ph type="sldImg"/>
          </p:nvPr>
        </p:nvSpPr>
        <p:spPr>
          <a:ln/>
        </p:spPr>
      </p:sp>
      <p:sp>
        <p:nvSpPr>
          <p:cNvPr id="317443" name="Rectangle 3"/>
          <p:cNvSpPr>
            <a:spLocks noGrp="1" noChangeArrowheads="1"/>
          </p:cNvSpPr>
          <p:nvPr>
            <p:ph type="body" idx="1"/>
          </p:nvPr>
        </p:nvSpPr>
        <p:spPr/>
        <p:txBody>
          <a:bodyPr/>
          <a:lstStyle/>
          <a:p>
            <a:pPr eaLnBrk="1" hangingPunct="1">
              <a:defRPr/>
            </a:pPr>
            <a:endParaRPr lang="en-US" smtClean="0">
              <a:ea typeface="ＭＳ Ｐゴシック" charset="0"/>
              <a:cs typeface="+mn-cs"/>
            </a:endParaRPr>
          </a:p>
        </p:txBody>
      </p:sp>
    </p:spTree>
    <p:extLst>
      <p:ext uri="{BB962C8B-B14F-4D97-AF65-F5344CB8AC3E}">
        <p14:creationId xmlns:p14="http://schemas.microsoft.com/office/powerpoint/2010/main" val="94972860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6846DB4-8739-4457-823D-D15A696E5056}" type="datetimeFigureOut">
              <a:rPr lang="en-US" smtClean="0"/>
              <a:t>5/11/2023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3917874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846DB4-8739-4457-823D-D15A696E5056}" type="datetimeFigureOut">
              <a:rPr lang="en-US" smtClean="0"/>
              <a:t>5/11/2023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410677728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US" smtClean="0"/>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6846DB4-8739-4457-823D-D15A696E5056}" type="datetimeFigureOut">
              <a:rPr lang="en-US" smtClean="0"/>
              <a:t>5/11/2023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3052246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227183568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6846DB4-8739-4457-823D-D15A696E5056}" type="datetimeFigureOut">
              <a:rPr lang="en-US" smtClean="0"/>
              <a:t>5/11/2023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412913971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6846DB4-8739-4457-823D-D15A696E5056}" type="datetimeFigureOut">
              <a:rPr lang="en-US" smtClean="0"/>
              <a:t>5/11/2023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4238112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36846DB4-8739-4457-823D-D15A696E5056}" type="datetimeFigureOut">
              <a:rPr lang="en-US" smtClean="0"/>
              <a:t>5/11/2023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25469559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US" smtClean="0"/>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7965239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79045058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28134823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4097851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29096629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6846DB4-8739-4457-823D-D15A696E5056}" type="datetimeFigureOut">
              <a:rPr lang="en-US" smtClean="0"/>
              <a:t>5/11/2023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74967498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36846DB4-8739-4457-823D-D15A696E5056}" type="datetimeFigureOut">
              <a:rPr lang="en-US" smtClean="0"/>
              <a:t>5/11/2023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6410122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chemeClr val="bg2">
                <a:lumMod val="60000"/>
                <a:lumOff val="40000"/>
              </a:schemeClr>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36846DB4-8739-4457-823D-D15A696E5056}" type="datetimeFigureOut">
              <a:rPr lang="en-US" smtClean="0"/>
              <a:t>5/11/2023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7154960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US" smtClean="0"/>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846DB4-8739-4457-823D-D15A696E5056}" type="datetimeFigureOut">
              <a:rPr lang="en-US" smtClean="0"/>
              <a:t>5/11/2023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7276809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US" smtClean="0"/>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6846DB4-8739-4457-823D-D15A696E5056}" type="datetimeFigureOut">
              <a:rPr lang="en-US" smtClean="0"/>
              <a:t>5/11/2023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E6DBD027-244F-410C-A069-50D98202D34D}" type="slidenum">
              <a:rPr lang="en-US" smtClean="0"/>
              <a:t>‹#›</a:t>
            </a:fld>
            <a:endParaRPr lang="en-US"/>
          </a:p>
        </p:txBody>
      </p:sp>
    </p:spTree>
    <p:extLst>
      <p:ext uri="{BB962C8B-B14F-4D97-AF65-F5344CB8AC3E}">
        <p14:creationId xmlns:p14="http://schemas.microsoft.com/office/powerpoint/2010/main" val="18689927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fourObj">
  <p:cSld name="عنوان وأربعة من المحتوى">
    <p:spTree>
      <p:nvGrpSpPr>
        <p:cNvPr id="1" name=""/>
        <p:cNvGrpSpPr/>
        <p:nvPr/>
      </p:nvGrpSpPr>
      <p:grpSpPr>
        <a:xfrm>
          <a:off x="0" y="0"/>
          <a:ext cx="0" cy="0"/>
          <a:chOff x="0" y="0"/>
          <a:chExt cx="0" cy="0"/>
        </a:xfrm>
      </p:grpSpPr>
      <p:sp>
        <p:nvSpPr>
          <p:cNvPr id="2" name="عنوان 1"/>
          <p:cNvSpPr>
            <a:spLocks noGrp="1"/>
          </p:cNvSpPr>
          <p:nvPr>
            <p:ph type="title" sz="quarter"/>
          </p:nvPr>
        </p:nvSpPr>
        <p:spPr>
          <a:xfrm>
            <a:off x="1534585" y="214314"/>
            <a:ext cx="10390716" cy="1462087"/>
          </a:xfrm>
        </p:spPr>
        <p:txBody>
          <a:bodyPr/>
          <a:lstStyle/>
          <a:p>
            <a:r>
              <a:rPr lang="ar-SA" smtClean="0"/>
              <a:t>انقر لتحرير نمط العنوان الرئيسي</a:t>
            </a:r>
            <a:endParaRPr lang="ar-SA"/>
          </a:p>
        </p:txBody>
      </p:sp>
      <p:sp>
        <p:nvSpPr>
          <p:cNvPr id="3" name="عنصر نائب للمحتوى 2"/>
          <p:cNvSpPr>
            <a:spLocks noGrp="1"/>
          </p:cNvSpPr>
          <p:nvPr>
            <p:ph sz="quarter" idx="1"/>
          </p:nvPr>
        </p:nvSpPr>
        <p:spPr>
          <a:xfrm>
            <a:off x="1576917" y="2017713"/>
            <a:ext cx="5080000" cy="1981200"/>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4" name="عنصر نائب للمحتوى 3"/>
          <p:cNvSpPr>
            <a:spLocks noGrp="1"/>
          </p:cNvSpPr>
          <p:nvPr>
            <p:ph sz="quarter" idx="2"/>
          </p:nvPr>
        </p:nvSpPr>
        <p:spPr>
          <a:xfrm>
            <a:off x="6860117" y="2017713"/>
            <a:ext cx="5080000" cy="1981200"/>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5" name="عنصر نائب للمحتوى 4"/>
          <p:cNvSpPr>
            <a:spLocks noGrp="1"/>
          </p:cNvSpPr>
          <p:nvPr>
            <p:ph sz="quarter" idx="3"/>
          </p:nvPr>
        </p:nvSpPr>
        <p:spPr>
          <a:xfrm>
            <a:off x="1576917" y="4151313"/>
            <a:ext cx="5080000" cy="1981200"/>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6" name="عنصر نائب للمحتوى 5"/>
          <p:cNvSpPr>
            <a:spLocks noGrp="1"/>
          </p:cNvSpPr>
          <p:nvPr>
            <p:ph sz="quarter" idx="4"/>
          </p:nvPr>
        </p:nvSpPr>
        <p:spPr>
          <a:xfrm>
            <a:off x="6860117" y="4151313"/>
            <a:ext cx="5080000" cy="1981200"/>
          </a:xfrm>
        </p:spPr>
        <p:txBody>
          <a:bodyPr/>
          <a:lstStyle/>
          <a:p>
            <a:pPr lvl="0"/>
            <a:r>
              <a:rPr lang="ar-SA" smtClean="0"/>
              <a:t>انقر لتحرير أنماط النص الرئيسي</a:t>
            </a:r>
          </a:p>
          <a:p>
            <a:pPr lvl="1"/>
            <a:r>
              <a:rPr lang="ar-SA" smtClean="0"/>
              <a:t>المستوى الثاني</a:t>
            </a:r>
          </a:p>
          <a:p>
            <a:pPr lvl="2"/>
            <a:r>
              <a:rPr lang="ar-SA" smtClean="0"/>
              <a:t>المستوى الثالث</a:t>
            </a:r>
          </a:p>
          <a:p>
            <a:pPr lvl="3"/>
            <a:r>
              <a:rPr lang="ar-SA" smtClean="0"/>
              <a:t>المستوى الرابع</a:t>
            </a:r>
          </a:p>
          <a:p>
            <a:pPr lvl="4"/>
            <a:r>
              <a:rPr lang="ar-SA" smtClean="0"/>
              <a:t>المستوى الخامس</a:t>
            </a:r>
            <a:endParaRPr lang="ar-SA"/>
          </a:p>
        </p:txBody>
      </p:sp>
      <p:sp>
        <p:nvSpPr>
          <p:cNvPr id="7" name="عنصر نائب للتاريخ 6"/>
          <p:cNvSpPr>
            <a:spLocks noGrp="1"/>
          </p:cNvSpPr>
          <p:nvPr>
            <p:ph type="dt" sz="half" idx="10"/>
          </p:nvPr>
        </p:nvSpPr>
        <p:spPr>
          <a:xfrm>
            <a:off x="1549400" y="6243638"/>
            <a:ext cx="2540000" cy="457200"/>
          </a:xfrm>
        </p:spPr>
        <p:txBody>
          <a:bodyPr/>
          <a:lstStyle>
            <a:lvl1pPr>
              <a:defRPr/>
            </a:lvl1pPr>
          </a:lstStyle>
          <a:p>
            <a:endParaRPr lang="en-US" altLang="zh-TW"/>
          </a:p>
        </p:txBody>
      </p:sp>
      <p:sp>
        <p:nvSpPr>
          <p:cNvPr id="8" name="عنصر نائب للتذييل 7"/>
          <p:cNvSpPr>
            <a:spLocks noGrp="1"/>
          </p:cNvSpPr>
          <p:nvPr>
            <p:ph type="ftr" sz="quarter" idx="11"/>
          </p:nvPr>
        </p:nvSpPr>
        <p:spPr>
          <a:xfrm>
            <a:off x="4876800" y="6243638"/>
            <a:ext cx="3860800" cy="457200"/>
          </a:xfrm>
        </p:spPr>
        <p:txBody>
          <a:bodyPr/>
          <a:lstStyle>
            <a:lvl1pPr>
              <a:defRPr/>
            </a:lvl1pPr>
          </a:lstStyle>
          <a:p>
            <a:endParaRPr lang="en-US" altLang="zh-TW"/>
          </a:p>
        </p:txBody>
      </p:sp>
      <p:sp>
        <p:nvSpPr>
          <p:cNvPr id="9" name="عنصر نائب لرقم الشريحة 8"/>
          <p:cNvSpPr>
            <a:spLocks noGrp="1"/>
          </p:cNvSpPr>
          <p:nvPr>
            <p:ph type="sldNum" sz="quarter" idx="12"/>
          </p:nvPr>
        </p:nvSpPr>
        <p:spPr>
          <a:xfrm>
            <a:off x="9389533" y="6243638"/>
            <a:ext cx="2540000" cy="457200"/>
          </a:xfrm>
        </p:spPr>
        <p:txBody>
          <a:bodyPr/>
          <a:lstStyle>
            <a:lvl1pPr>
              <a:defRPr/>
            </a:lvl1pPr>
          </a:lstStyle>
          <a:p>
            <a:fld id="{1000719C-64CE-49BE-B6D3-9202F32CB9DF}" type="slidenum">
              <a:rPr lang="zh-TW" altLang="en-US"/>
              <a:pPr/>
              <a:t>‹#›</a:t>
            </a:fld>
            <a:endParaRPr lang="en-US" altLang="zh-TW"/>
          </a:p>
        </p:txBody>
      </p:sp>
    </p:spTree>
    <p:extLst>
      <p:ext uri="{BB962C8B-B14F-4D97-AF65-F5344CB8AC3E}">
        <p14:creationId xmlns:p14="http://schemas.microsoft.com/office/powerpoint/2010/main" val="180074219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xAndTwoObj">
  <p:cSld name="Title, Text, and 2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066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0"/>
            <a:ext cx="53848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Content Placeholder 4"/>
          <p:cNvSpPr>
            <a:spLocks noGrp="1"/>
          </p:cNvSpPr>
          <p:nvPr>
            <p:ph sz="quarter" idx="3"/>
          </p:nvPr>
        </p:nvSpPr>
        <p:spPr>
          <a:xfrm>
            <a:off x="6197600" y="3962400"/>
            <a:ext cx="5384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sldNum" sz="quarter" idx="10"/>
          </p:nvPr>
        </p:nvSpPr>
        <p:spPr>
          <a:ln/>
        </p:spPr>
        <p:txBody>
          <a:bodyPr/>
          <a:lstStyle>
            <a:lvl1pPr>
              <a:defRPr/>
            </a:lvl1pPr>
          </a:lstStyle>
          <a:p>
            <a:pPr>
              <a:defRPr/>
            </a:pPr>
            <a:r>
              <a:rPr lang="en-US" altLang="en-US"/>
              <a:t>Slide 1.2- </a:t>
            </a:r>
            <a:fld id="{435F4481-4E8E-46D3-BDEA-3CEC1374E1E2}" type="slidenum">
              <a:rPr lang="en-US" altLang="en-US"/>
              <a:pPr>
                <a:defRPr/>
              </a:pPr>
              <a:t>‹#›</a:t>
            </a:fld>
            <a:endParaRPr lang="en-CA" altLang="en-US"/>
          </a:p>
        </p:txBody>
      </p:sp>
      <p:sp>
        <p:nvSpPr>
          <p:cNvPr id="7" name="Footer Placeholder 9"/>
          <p:cNvSpPr>
            <a:spLocks noGrp="1"/>
          </p:cNvSpPr>
          <p:nvPr>
            <p:ph type="ftr" sz="quarter" idx="11"/>
          </p:nvPr>
        </p:nvSpPr>
        <p:spPr/>
        <p:txBody>
          <a:bodyPr/>
          <a:lstStyle>
            <a:lvl1pPr>
              <a:defRPr/>
            </a:lvl1pPr>
          </a:lstStyle>
          <a:p>
            <a:pPr>
              <a:defRPr/>
            </a:pPr>
            <a:r>
              <a:rPr lang="en-US" altLang="en-US"/>
              <a:t> © 2012 Pearson Education, Inc.</a:t>
            </a:r>
          </a:p>
        </p:txBody>
      </p:sp>
    </p:spTree>
    <p:extLst>
      <p:ext uri="{BB962C8B-B14F-4D97-AF65-F5344CB8AC3E}">
        <p14:creationId xmlns:p14="http://schemas.microsoft.com/office/powerpoint/2010/main" val="524253677"/>
      </p:ext>
    </p:extLst>
  </p:cSld>
  <p:clrMapOvr>
    <a:masterClrMapping/>
  </p:clrMapOvr>
  <p:transition spd="med"/>
</p:sldLayout>
</file>

<file path=ppt/slideLayouts/slideLayout20.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066800"/>
          </a:xfrm>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600200"/>
            <a:ext cx="10972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0" y="3962400"/>
            <a:ext cx="10972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sldNum" sz="quarter" idx="10"/>
          </p:nvPr>
        </p:nvSpPr>
        <p:spPr>
          <a:ln/>
        </p:spPr>
        <p:txBody>
          <a:bodyPr/>
          <a:lstStyle>
            <a:lvl1pPr>
              <a:defRPr/>
            </a:lvl1pPr>
          </a:lstStyle>
          <a:p>
            <a:pPr>
              <a:defRPr/>
            </a:pPr>
            <a:r>
              <a:rPr lang="en-US" altLang="en-US"/>
              <a:t>Slide 1.2- </a:t>
            </a:r>
            <a:fld id="{19FC0EC1-26A7-4A43-AA81-40FBBFEBE034}" type="slidenum">
              <a:rPr lang="en-US" altLang="en-US"/>
              <a:pPr>
                <a:defRPr/>
              </a:pPr>
              <a:t>‹#›</a:t>
            </a:fld>
            <a:endParaRPr lang="en-CA" altLang="en-US"/>
          </a:p>
        </p:txBody>
      </p:sp>
      <p:sp>
        <p:nvSpPr>
          <p:cNvPr id="6" name="Footer Placeholder 9"/>
          <p:cNvSpPr>
            <a:spLocks noGrp="1"/>
          </p:cNvSpPr>
          <p:nvPr>
            <p:ph type="ftr" sz="quarter" idx="11"/>
          </p:nvPr>
        </p:nvSpPr>
        <p:spPr/>
        <p:txBody>
          <a:bodyPr/>
          <a:lstStyle>
            <a:lvl1pPr>
              <a:defRPr/>
            </a:lvl1pPr>
          </a:lstStyle>
          <a:p>
            <a:pPr>
              <a:defRPr/>
            </a:pPr>
            <a:r>
              <a:rPr lang="en-US" altLang="en-US"/>
              <a:t> © 2012 Pearson Education, Inc.</a:t>
            </a:r>
          </a:p>
        </p:txBody>
      </p:sp>
    </p:spTree>
    <p:extLst>
      <p:ext uri="{BB962C8B-B14F-4D97-AF65-F5344CB8AC3E}">
        <p14:creationId xmlns:p14="http://schemas.microsoft.com/office/powerpoint/2010/main" val="1806914781"/>
      </p:ext>
    </p:extLst>
  </p:cSld>
  <p:clrMapOvr>
    <a:masterClrMapping/>
  </p:clrMapOvr>
  <p:transition spd="med"/>
</p:sldLayout>
</file>

<file path=ppt/slideLayouts/slideLayout21.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066800"/>
          </a:xfrm>
        </p:spPr>
        <p:txBody>
          <a:bodyPr/>
          <a:lstStyle/>
          <a:p>
            <a:r>
              <a:rPr lang="en-US" smtClean="0"/>
              <a:t>Click to edit Master title style</a:t>
            </a:r>
            <a:endParaRPr lang="en-US"/>
          </a:p>
        </p:txBody>
      </p:sp>
      <p:sp>
        <p:nvSpPr>
          <p:cNvPr id="3" name="Text Placeholder 2"/>
          <p:cNvSpPr>
            <a:spLocks noGrp="1"/>
          </p:cNvSpPr>
          <p:nvPr>
            <p:ph type="body" sz="half" idx="1"/>
          </p:nvPr>
        </p:nvSpPr>
        <p:spPr>
          <a:xfrm>
            <a:off x="609600" y="1600200"/>
            <a:ext cx="53848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6197600" y="1600200"/>
            <a:ext cx="5384800" cy="45720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Rectangle 2"/>
          <p:cNvSpPr>
            <a:spLocks noGrp="1" noChangeArrowheads="1"/>
          </p:cNvSpPr>
          <p:nvPr>
            <p:ph type="sldNum" sz="quarter" idx="10"/>
          </p:nvPr>
        </p:nvSpPr>
        <p:spPr>
          <a:ln/>
        </p:spPr>
        <p:txBody>
          <a:bodyPr/>
          <a:lstStyle>
            <a:lvl1pPr>
              <a:defRPr/>
            </a:lvl1pPr>
          </a:lstStyle>
          <a:p>
            <a:pPr>
              <a:defRPr/>
            </a:pPr>
            <a:r>
              <a:rPr lang="en-US" altLang="en-US"/>
              <a:t>Slide 1.2- </a:t>
            </a:r>
            <a:fld id="{212B6AED-7EF8-4AA5-824D-1550D9955BF8}" type="slidenum">
              <a:rPr lang="en-US" altLang="en-US"/>
              <a:pPr>
                <a:defRPr/>
              </a:pPr>
              <a:t>‹#›</a:t>
            </a:fld>
            <a:endParaRPr lang="en-CA" altLang="en-US"/>
          </a:p>
        </p:txBody>
      </p:sp>
      <p:sp>
        <p:nvSpPr>
          <p:cNvPr id="6" name="Footer Placeholder 9"/>
          <p:cNvSpPr>
            <a:spLocks noGrp="1"/>
          </p:cNvSpPr>
          <p:nvPr>
            <p:ph type="ftr" sz="quarter" idx="11"/>
          </p:nvPr>
        </p:nvSpPr>
        <p:spPr/>
        <p:txBody>
          <a:bodyPr/>
          <a:lstStyle>
            <a:lvl1pPr>
              <a:defRPr/>
            </a:lvl1pPr>
          </a:lstStyle>
          <a:p>
            <a:pPr>
              <a:defRPr/>
            </a:pPr>
            <a:r>
              <a:rPr lang="en-US" altLang="en-US"/>
              <a:t> © 2012 Pearson Education, Inc.</a:t>
            </a:r>
          </a:p>
        </p:txBody>
      </p:sp>
    </p:spTree>
    <p:extLst>
      <p:ext uri="{BB962C8B-B14F-4D97-AF65-F5344CB8AC3E}">
        <p14:creationId xmlns:p14="http://schemas.microsoft.com/office/powerpoint/2010/main" val="4095594834"/>
      </p:ext>
    </p:extLst>
  </p:cSld>
  <p:clrMapOvr>
    <a:masterClrMapping/>
  </p:clrMapOvr>
  <p:transition spd="med"/>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cSld name="Title and 2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609600" y="0"/>
            <a:ext cx="10972800" cy="1066800"/>
          </a:xfrm>
        </p:spPr>
        <p:txBody>
          <a:bodyPr/>
          <a:lstStyle/>
          <a:p>
            <a:r>
              <a:rPr lang="en-US" smtClean="0"/>
              <a:t>Click to edit Master title style</a:t>
            </a:r>
            <a:endParaRPr lang="en-US"/>
          </a:p>
        </p:txBody>
      </p:sp>
      <p:sp>
        <p:nvSpPr>
          <p:cNvPr id="3" name="Content Placeholder 2"/>
          <p:cNvSpPr>
            <a:spLocks noGrp="1"/>
          </p:cNvSpPr>
          <p:nvPr>
            <p:ph sz="quarter" idx="1"/>
          </p:nvPr>
        </p:nvSpPr>
        <p:spPr>
          <a:xfrm>
            <a:off x="609600" y="1600200"/>
            <a:ext cx="5384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quarter" idx="2"/>
          </p:nvPr>
        </p:nvSpPr>
        <p:spPr>
          <a:xfrm>
            <a:off x="6197600" y="1600200"/>
            <a:ext cx="5384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half" idx="3"/>
          </p:nvPr>
        </p:nvSpPr>
        <p:spPr>
          <a:xfrm>
            <a:off x="609600" y="3962400"/>
            <a:ext cx="10972800" cy="2209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Rectangle 2"/>
          <p:cNvSpPr>
            <a:spLocks noGrp="1" noChangeArrowheads="1"/>
          </p:cNvSpPr>
          <p:nvPr>
            <p:ph type="sldNum" sz="quarter" idx="10"/>
          </p:nvPr>
        </p:nvSpPr>
        <p:spPr>
          <a:ln/>
        </p:spPr>
        <p:txBody>
          <a:bodyPr/>
          <a:lstStyle>
            <a:lvl1pPr>
              <a:defRPr/>
            </a:lvl1pPr>
          </a:lstStyle>
          <a:p>
            <a:pPr>
              <a:defRPr/>
            </a:pPr>
            <a:r>
              <a:rPr lang="en-US" altLang="en-US"/>
              <a:t>Slide 1.2- </a:t>
            </a:r>
            <a:fld id="{E6398EB3-D121-4396-A407-F9E34FC34037}" type="slidenum">
              <a:rPr lang="en-US" altLang="en-US"/>
              <a:pPr>
                <a:defRPr/>
              </a:pPr>
              <a:t>‹#›</a:t>
            </a:fld>
            <a:endParaRPr lang="en-CA" altLang="en-US"/>
          </a:p>
        </p:txBody>
      </p:sp>
      <p:sp>
        <p:nvSpPr>
          <p:cNvPr id="7" name="Footer Placeholder 9"/>
          <p:cNvSpPr>
            <a:spLocks noGrp="1"/>
          </p:cNvSpPr>
          <p:nvPr>
            <p:ph type="ftr" sz="quarter" idx="11"/>
          </p:nvPr>
        </p:nvSpPr>
        <p:spPr/>
        <p:txBody>
          <a:bodyPr/>
          <a:lstStyle>
            <a:lvl1pPr>
              <a:defRPr/>
            </a:lvl1pPr>
          </a:lstStyle>
          <a:p>
            <a:pPr>
              <a:defRPr/>
            </a:pPr>
            <a:r>
              <a:rPr lang="en-US" altLang="en-US"/>
              <a:t> © 2012 Pearson Education, Inc.</a:t>
            </a:r>
          </a:p>
        </p:txBody>
      </p:sp>
    </p:spTree>
    <p:extLst>
      <p:ext uri="{BB962C8B-B14F-4D97-AF65-F5344CB8AC3E}">
        <p14:creationId xmlns:p14="http://schemas.microsoft.com/office/powerpoint/2010/main" val="1531331123"/>
      </p:ext>
    </p:extLst>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image" Target="../media/image1.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theme" Target="../theme/theme1.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24">
            <a:alphaModFix amt="80000"/>
            <a:extLst>
              <a:ext uri="{28A0092B-C50C-407E-A947-70E740481C1C}">
                <a14:useLocalDpi xmlns:a14="http://schemas.microsoft.com/office/drawing/2010/main" val="0"/>
              </a:ext>
            </a:extLst>
          </a:blip>
          <a:srcRect/>
          <a:stretch>
            <a:fillRect/>
          </a:stretch>
        </p:blipFill>
        <p:spPr bwMode="auto">
          <a:xfrm>
            <a:off x="0" y="0"/>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36846DB4-8739-4457-823D-D15A696E5056}" type="datetimeFigureOut">
              <a:rPr lang="en-US" smtClean="0"/>
              <a:t>5/11/2023</a:t>
            </a:fld>
            <a:endParaRPr lang="en-US"/>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US"/>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E6DBD027-244F-410C-A069-50D98202D34D}" type="slidenum">
              <a:rPr lang="en-US" smtClean="0"/>
              <a:t>‹#›</a:t>
            </a:fld>
            <a:endParaRPr lang="en-US"/>
          </a:p>
        </p:txBody>
      </p:sp>
    </p:spTree>
    <p:extLst>
      <p:ext uri="{BB962C8B-B14F-4D97-AF65-F5344CB8AC3E}">
        <p14:creationId xmlns:p14="http://schemas.microsoft.com/office/powerpoint/2010/main" val="2108975913"/>
      </p:ext>
    </p:extLst>
  </p:cSld>
  <p:clrMap bg1="lt1" tx1="dk1" bg2="lt2" tx2="dk2" accent1="accent1" accent2="accent2" accent3="accent3" accent4="accent4" accent5="accent5" accent6="accent6" hlink="hlink" folHlink="folHlink"/>
  <p:sldLayoutIdLst>
    <p:sldLayoutId id="2147483770" r:id="rId1"/>
    <p:sldLayoutId id="2147483771" r:id="rId2"/>
    <p:sldLayoutId id="2147483772" r:id="rId3"/>
    <p:sldLayoutId id="2147483773" r:id="rId4"/>
    <p:sldLayoutId id="2147483774" r:id="rId5"/>
    <p:sldLayoutId id="2147483775" r:id="rId6"/>
    <p:sldLayoutId id="2147483776" r:id="rId7"/>
    <p:sldLayoutId id="2147483777" r:id="rId8"/>
    <p:sldLayoutId id="2147483778" r:id="rId9"/>
    <p:sldLayoutId id="2147483779" r:id="rId10"/>
    <p:sldLayoutId id="2147483780" r:id="rId11"/>
    <p:sldLayoutId id="2147483781" r:id="rId12"/>
    <p:sldLayoutId id="2147483782" r:id="rId13"/>
    <p:sldLayoutId id="2147483783" r:id="rId14"/>
    <p:sldLayoutId id="2147483784" r:id="rId15"/>
    <p:sldLayoutId id="2147483785" r:id="rId16"/>
    <p:sldLayoutId id="2147483786" r:id="rId17"/>
    <p:sldLayoutId id="2147483787" r:id="rId18"/>
    <p:sldLayoutId id="2147483788" r:id="rId19"/>
    <p:sldLayoutId id="2147483789" r:id="rId20"/>
    <p:sldLayoutId id="2147483790" r:id="rId21"/>
    <p:sldLayoutId id="2147483791" r:id="rId22"/>
  </p:sldLayoutIdLst>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jfif"/></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bin"/><Relationship Id="rId7" Type="http://schemas.openxmlformats.org/officeDocument/2006/relationships/oleObject" Target="../embeddings/oleObject3.bin"/><Relationship Id="rId2" Type="http://schemas.openxmlformats.org/officeDocument/2006/relationships/slideLayout" Target="../slideLayouts/slideLayout18.xml"/><Relationship Id="rId1" Type="http://schemas.openxmlformats.org/officeDocument/2006/relationships/vmlDrawing" Target="../drawings/vmlDrawing1.vml"/><Relationship Id="rId6" Type="http://schemas.openxmlformats.org/officeDocument/2006/relationships/image" Target="../media/image26.wmf"/><Relationship Id="rId11" Type="http://schemas.openxmlformats.org/officeDocument/2006/relationships/image" Target="../media/image28.wmf"/><Relationship Id="rId5" Type="http://schemas.openxmlformats.org/officeDocument/2006/relationships/oleObject" Target="../embeddings/oleObject2.bin"/><Relationship Id="rId10" Type="http://schemas.openxmlformats.org/officeDocument/2006/relationships/oleObject" Target="../embeddings/oleObject5.bin"/><Relationship Id="rId4" Type="http://schemas.openxmlformats.org/officeDocument/2006/relationships/image" Target="../media/image25.wmf"/><Relationship Id="rId9" Type="http://schemas.openxmlformats.org/officeDocument/2006/relationships/oleObject" Target="../embeddings/oleObject4.bin"/></Relationships>
</file>

<file path=ppt/slides/_rels/slide21.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4.xml"/><Relationship Id="rId1" Type="http://schemas.openxmlformats.org/officeDocument/2006/relationships/vmlDrawing" Target="../drawings/vmlDrawing2.vml"/><Relationship Id="rId5" Type="http://schemas.openxmlformats.org/officeDocument/2006/relationships/image" Target="../media/image29.png"/><Relationship Id="rId4" Type="http://schemas.openxmlformats.org/officeDocument/2006/relationships/image" Target="../media/image25.wmf"/></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4.xml"/><Relationship Id="rId1" Type="http://schemas.openxmlformats.org/officeDocument/2006/relationships/vmlDrawing" Target="../drawings/vmlDrawing3.vml"/><Relationship Id="rId5" Type="http://schemas.openxmlformats.org/officeDocument/2006/relationships/image" Target="../media/image30.png"/><Relationship Id="rId4" Type="http://schemas.openxmlformats.org/officeDocument/2006/relationships/image" Target="../media/image25.wmf"/></Relationships>
</file>

<file path=ppt/slides/_rels/slide2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4.vml"/><Relationship Id="rId4" Type="http://schemas.openxmlformats.org/officeDocument/2006/relationships/image" Target="../media/image38.wmf"/></Relationships>
</file>

<file path=ppt/slides/_rels/slide32.xml.rels><?xml version="1.0" encoding="UTF-8" standalone="yes"?>
<Relationships xmlns="http://schemas.openxmlformats.org/package/2006/relationships"><Relationship Id="rId8" Type="http://schemas.openxmlformats.org/officeDocument/2006/relationships/image" Target="../media/image45.GIF"/><Relationship Id="rId3" Type="http://schemas.openxmlformats.org/officeDocument/2006/relationships/image" Target="../media/image40.GIF"/><Relationship Id="rId7" Type="http://schemas.openxmlformats.org/officeDocument/2006/relationships/image" Target="../media/image44.GIF"/><Relationship Id="rId2" Type="http://schemas.openxmlformats.org/officeDocument/2006/relationships/image" Target="../media/image39.GIF"/><Relationship Id="rId1" Type="http://schemas.openxmlformats.org/officeDocument/2006/relationships/slideLayout" Target="../slideLayouts/slideLayout7.xml"/><Relationship Id="rId6" Type="http://schemas.openxmlformats.org/officeDocument/2006/relationships/image" Target="../media/image43.GIF"/><Relationship Id="rId5" Type="http://schemas.openxmlformats.org/officeDocument/2006/relationships/image" Target="../media/image42.GIF"/><Relationship Id="rId4" Type="http://schemas.openxmlformats.org/officeDocument/2006/relationships/image" Target="../media/image41.GIF"/></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media/image47.emf"/><Relationship Id="rId5" Type="http://schemas.openxmlformats.org/officeDocument/2006/relationships/oleObject" Target="../embeddings/oleObject10.bin"/><Relationship Id="rId4" Type="http://schemas.openxmlformats.org/officeDocument/2006/relationships/image" Target="../media/image46.wmf"/></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Layout" Target="../slideLayouts/slideLayout2.xml"/><Relationship Id="rId1" Type="http://schemas.openxmlformats.org/officeDocument/2006/relationships/vmlDrawing" Target="../drawings/vmlDrawing6.vml"/><Relationship Id="rId4" Type="http://schemas.openxmlformats.org/officeDocument/2006/relationships/image" Target="../media/image48.wmf"/></Relationships>
</file>

<file path=ppt/slides/_rels/slide38.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7.vml"/><Relationship Id="rId4" Type="http://schemas.openxmlformats.org/officeDocument/2006/relationships/image" Target="../media/image49.wmf"/></Relationships>
</file>

<file path=ppt/slides/_rels/slide39.xml.rels><?xml version="1.0" encoding="UTF-8" standalone="yes"?>
<Relationships xmlns="http://schemas.openxmlformats.org/package/2006/relationships"><Relationship Id="rId8" Type="http://schemas.openxmlformats.org/officeDocument/2006/relationships/image" Target="../media/image52.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19.xml"/><Relationship Id="rId1" Type="http://schemas.openxmlformats.org/officeDocument/2006/relationships/vmlDrawing" Target="../drawings/vmlDrawing8.vml"/><Relationship Id="rId6" Type="http://schemas.openxmlformats.org/officeDocument/2006/relationships/image" Target="../media/image51.wmf"/><Relationship Id="rId5" Type="http://schemas.openxmlformats.org/officeDocument/2006/relationships/oleObject" Target="../embeddings/oleObject14.bin"/><Relationship Id="rId4" Type="http://schemas.openxmlformats.org/officeDocument/2006/relationships/image" Target="../media/image50.wmf"/></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53.wmf"/></Relationships>
</file>

<file path=ppt/slides/_rels/slide41.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Layout" Target="../slideLayouts/slideLayout20.xml"/><Relationship Id="rId1" Type="http://schemas.openxmlformats.org/officeDocument/2006/relationships/vmlDrawing" Target="../drawings/vmlDrawing10.vml"/><Relationship Id="rId4" Type="http://schemas.openxmlformats.org/officeDocument/2006/relationships/image" Target="../media/image38.wmf"/></Relationships>
</file>

<file path=ppt/slides/_rels/slide42.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Layout" Target="../slideLayouts/slideLayout2.xml"/><Relationship Id="rId1" Type="http://schemas.openxmlformats.org/officeDocument/2006/relationships/vmlDrawing" Target="../drawings/vmlDrawing11.vml"/><Relationship Id="rId4" Type="http://schemas.openxmlformats.org/officeDocument/2006/relationships/image" Target="../media/image54.wmf"/></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19.bin"/><Relationship Id="rId2" Type="http://schemas.openxmlformats.org/officeDocument/2006/relationships/slideLayout" Target="../slideLayouts/slideLayout21.xml"/><Relationship Id="rId1" Type="http://schemas.openxmlformats.org/officeDocument/2006/relationships/vmlDrawing" Target="../drawings/vmlDrawing12.vml"/><Relationship Id="rId4" Type="http://schemas.openxmlformats.org/officeDocument/2006/relationships/image" Target="../media/image55.wmf"/></Relationships>
</file>

<file path=ppt/slides/_rels/slide44.xml.rels><?xml version="1.0" encoding="UTF-8" standalone="yes"?>
<Relationships xmlns="http://schemas.openxmlformats.org/package/2006/relationships"><Relationship Id="rId3"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3.vml"/><Relationship Id="rId4" Type="http://schemas.openxmlformats.org/officeDocument/2006/relationships/image" Target="../media/image56.wmf"/></Relationships>
</file>

<file path=ppt/slides/_rels/slide45.xml.rels><?xml version="1.0" encoding="UTF-8" standalone="yes"?>
<Relationships xmlns="http://schemas.openxmlformats.org/package/2006/relationships"><Relationship Id="rId3" Type="http://schemas.openxmlformats.org/officeDocument/2006/relationships/oleObject" Target="../embeddings/oleObject2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image" Target="../media/image58.wmf"/><Relationship Id="rId5" Type="http://schemas.openxmlformats.org/officeDocument/2006/relationships/oleObject" Target="../embeddings/oleObject22.bin"/><Relationship Id="rId4" Type="http://schemas.openxmlformats.org/officeDocument/2006/relationships/image" Target="../media/image57.wmf"/></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23.bin"/><Relationship Id="rId2" Type="http://schemas.openxmlformats.org/officeDocument/2006/relationships/slideLayout" Target="../slideLayouts/slideLayout21.xml"/><Relationship Id="rId1" Type="http://schemas.openxmlformats.org/officeDocument/2006/relationships/vmlDrawing" Target="../drawings/vmlDrawing15.vml"/><Relationship Id="rId6" Type="http://schemas.openxmlformats.org/officeDocument/2006/relationships/image" Target="../media/image60.wmf"/><Relationship Id="rId5" Type="http://schemas.openxmlformats.org/officeDocument/2006/relationships/oleObject" Target="../embeddings/oleObject24.bin"/><Relationship Id="rId4" Type="http://schemas.openxmlformats.org/officeDocument/2006/relationships/image" Target="../media/image59.wmf"/></Relationships>
</file>

<file path=ppt/slides/_rels/slide47.xml.rels><?xml version="1.0" encoding="UTF-8" standalone="yes"?>
<Relationships xmlns="http://schemas.openxmlformats.org/package/2006/relationships"><Relationship Id="rId3" Type="http://schemas.openxmlformats.org/officeDocument/2006/relationships/oleObject" Target="../embeddings/oleObject25.bin"/><Relationship Id="rId2" Type="http://schemas.openxmlformats.org/officeDocument/2006/relationships/slideLayout" Target="../slideLayouts/slideLayout21.xml"/><Relationship Id="rId1" Type="http://schemas.openxmlformats.org/officeDocument/2006/relationships/vmlDrawing" Target="../drawings/vmlDrawing16.vml"/><Relationship Id="rId6" Type="http://schemas.openxmlformats.org/officeDocument/2006/relationships/image" Target="../media/image62.wmf"/><Relationship Id="rId5" Type="http://schemas.openxmlformats.org/officeDocument/2006/relationships/oleObject" Target="../embeddings/oleObject26.bin"/><Relationship Id="rId4" Type="http://schemas.openxmlformats.org/officeDocument/2006/relationships/image" Target="../media/image61.wmf"/></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8" Type="http://schemas.openxmlformats.org/officeDocument/2006/relationships/image" Target="../media/image65.wmf"/><Relationship Id="rId3" Type="http://schemas.openxmlformats.org/officeDocument/2006/relationships/oleObject" Target="../embeddings/oleObject27.bin"/><Relationship Id="rId7" Type="http://schemas.openxmlformats.org/officeDocument/2006/relationships/oleObject" Target="../embeddings/oleObject29.bin"/><Relationship Id="rId12" Type="http://schemas.openxmlformats.org/officeDocument/2006/relationships/image" Target="../media/image67.wmf"/><Relationship Id="rId2" Type="http://schemas.openxmlformats.org/officeDocument/2006/relationships/slideLayout" Target="../slideLayouts/slideLayout22.xml"/><Relationship Id="rId1" Type="http://schemas.openxmlformats.org/officeDocument/2006/relationships/vmlDrawing" Target="../drawings/vmlDrawing17.vml"/><Relationship Id="rId6" Type="http://schemas.openxmlformats.org/officeDocument/2006/relationships/image" Target="../media/image64.wmf"/><Relationship Id="rId11" Type="http://schemas.openxmlformats.org/officeDocument/2006/relationships/oleObject" Target="../embeddings/oleObject31.bin"/><Relationship Id="rId5" Type="http://schemas.openxmlformats.org/officeDocument/2006/relationships/oleObject" Target="../embeddings/oleObject28.bin"/><Relationship Id="rId10" Type="http://schemas.openxmlformats.org/officeDocument/2006/relationships/image" Target="../media/image66.wmf"/><Relationship Id="rId4" Type="http://schemas.openxmlformats.org/officeDocument/2006/relationships/image" Target="../media/image63.wmf"/><Relationship Id="rId9" Type="http://schemas.openxmlformats.org/officeDocument/2006/relationships/oleObject" Target="../embeddings/oleObject30.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32.bin"/><Relationship Id="rId2" Type="http://schemas.openxmlformats.org/officeDocument/2006/relationships/slideLayout" Target="../slideLayouts/slideLayout19.xml"/><Relationship Id="rId1" Type="http://schemas.openxmlformats.org/officeDocument/2006/relationships/vmlDrawing" Target="../drawings/vmlDrawing18.vml"/><Relationship Id="rId6" Type="http://schemas.openxmlformats.org/officeDocument/2006/relationships/image" Target="../media/image69.wmf"/><Relationship Id="rId5" Type="http://schemas.openxmlformats.org/officeDocument/2006/relationships/oleObject" Target="../embeddings/oleObject33.bin"/><Relationship Id="rId4" Type="http://schemas.openxmlformats.org/officeDocument/2006/relationships/image" Target="../media/image68.wmf"/></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34.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70.wmf"/><Relationship Id="rId5" Type="http://schemas.openxmlformats.org/officeDocument/2006/relationships/oleObject" Target="../embeddings/oleObject35.bin"/><Relationship Id="rId4" Type="http://schemas.openxmlformats.org/officeDocument/2006/relationships/image" Target="../media/image46.wmf"/></Relationships>
</file>

<file path=ppt/slides/_rels/slide52.xml.rels><?xml version="1.0" encoding="UTF-8" standalone="yes"?>
<Relationships xmlns="http://schemas.openxmlformats.org/package/2006/relationships"><Relationship Id="rId3"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20.vml"/><Relationship Id="rId4" Type="http://schemas.openxmlformats.org/officeDocument/2006/relationships/image" Target="../media/image71.wmf"/></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21.vml"/><Relationship Id="rId4" Type="http://schemas.openxmlformats.org/officeDocument/2006/relationships/image" Target="../media/image72.wmf"/></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8" Type="http://schemas.openxmlformats.org/officeDocument/2006/relationships/image" Target="../media/image75.wmf"/><Relationship Id="rId3" Type="http://schemas.openxmlformats.org/officeDocument/2006/relationships/oleObject" Target="../embeddings/oleObject38.bin"/><Relationship Id="rId7" Type="http://schemas.openxmlformats.org/officeDocument/2006/relationships/oleObject" Target="../embeddings/oleObject40.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74.wmf"/><Relationship Id="rId5" Type="http://schemas.openxmlformats.org/officeDocument/2006/relationships/oleObject" Target="../embeddings/oleObject39.bin"/><Relationship Id="rId4" Type="http://schemas.openxmlformats.org/officeDocument/2006/relationships/image" Target="../media/image73.wmf"/></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23.vml"/><Relationship Id="rId4" Type="http://schemas.openxmlformats.org/officeDocument/2006/relationships/image" Target="../media/image76.wmf"/></Relationships>
</file>

<file path=ppt/slides/_rels/slide58.xml.rels><?xml version="1.0" encoding="UTF-8" standalone="yes"?>
<Relationships xmlns="http://schemas.openxmlformats.org/package/2006/relationships"><Relationship Id="rId3" Type="http://schemas.openxmlformats.org/officeDocument/2006/relationships/oleObject" Target="../embeddings/oleObject42.bin"/><Relationship Id="rId2" Type="http://schemas.openxmlformats.org/officeDocument/2006/relationships/slideLayout" Target="../slideLayouts/slideLayout2.xml"/><Relationship Id="rId1" Type="http://schemas.openxmlformats.org/officeDocument/2006/relationships/vmlDrawing" Target="../drawings/vmlDrawing24.vml"/><Relationship Id="rId4" Type="http://schemas.openxmlformats.org/officeDocument/2006/relationships/image" Target="../media/image77.wmf"/></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8" Type="http://schemas.openxmlformats.org/officeDocument/2006/relationships/image" Target="../media/image80.wmf"/><Relationship Id="rId3" Type="http://schemas.openxmlformats.org/officeDocument/2006/relationships/oleObject" Target="../embeddings/oleObject43.bin"/><Relationship Id="rId7" Type="http://schemas.openxmlformats.org/officeDocument/2006/relationships/oleObject" Target="../embeddings/oleObject45.bin"/><Relationship Id="rId2" Type="http://schemas.openxmlformats.org/officeDocument/2006/relationships/slideLayout" Target="../slideLayouts/slideLayout6.xml"/><Relationship Id="rId1" Type="http://schemas.openxmlformats.org/officeDocument/2006/relationships/vmlDrawing" Target="../drawings/vmlDrawing25.vml"/><Relationship Id="rId6" Type="http://schemas.openxmlformats.org/officeDocument/2006/relationships/image" Target="../media/image79.wmf"/><Relationship Id="rId5" Type="http://schemas.openxmlformats.org/officeDocument/2006/relationships/oleObject" Target="../embeddings/oleObject44.bin"/><Relationship Id="rId10" Type="http://schemas.openxmlformats.org/officeDocument/2006/relationships/image" Target="../media/image81.wmf"/><Relationship Id="rId4" Type="http://schemas.openxmlformats.org/officeDocument/2006/relationships/image" Target="../media/image78.emf"/><Relationship Id="rId9" Type="http://schemas.openxmlformats.org/officeDocument/2006/relationships/oleObject" Target="../embeddings/oleObject46.bin"/></Relationships>
</file>

<file path=ppt/slides/_rels/slide62.xml.rels><?xml version="1.0" encoding="UTF-8" standalone="yes"?>
<Relationships xmlns="http://schemas.openxmlformats.org/package/2006/relationships"><Relationship Id="rId8" Type="http://schemas.openxmlformats.org/officeDocument/2006/relationships/image" Target="../media/image84.wmf"/><Relationship Id="rId3" Type="http://schemas.openxmlformats.org/officeDocument/2006/relationships/oleObject" Target="../embeddings/oleObject47.bin"/><Relationship Id="rId7" Type="http://schemas.openxmlformats.org/officeDocument/2006/relationships/oleObject" Target="../embeddings/oleObject49.bin"/><Relationship Id="rId2" Type="http://schemas.openxmlformats.org/officeDocument/2006/relationships/slideLayout" Target="../slideLayouts/slideLayout2.xml"/><Relationship Id="rId1" Type="http://schemas.openxmlformats.org/officeDocument/2006/relationships/vmlDrawing" Target="../drawings/vmlDrawing26.vml"/><Relationship Id="rId6" Type="http://schemas.openxmlformats.org/officeDocument/2006/relationships/image" Target="../media/image83.wmf"/><Relationship Id="rId5" Type="http://schemas.openxmlformats.org/officeDocument/2006/relationships/oleObject" Target="../embeddings/oleObject48.bin"/><Relationship Id="rId4" Type="http://schemas.openxmlformats.org/officeDocument/2006/relationships/image" Target="../media/image82.wmf"/></Relationships>
</file>

<file path=ppt/slides/_rels/slide63.xml.rels><?xml version="1.0" encoding="UTF-8" standalone="yes"?>
<Relationships xmlns="http://schemas.openxmlformats.org/package/2006/relationships"><Relationship Id="rId8" Type="http://schemas.openxmlformats.org/officeDocument/2006/relationships/image" Target="../media/image87.wmf"/><Relationship Id="rId3" Type="http://schemas.openxmlformats.org/officeDocument/2006/relationships/oleObject" Target="../embeddings/oleObject50.bin"/><Relationship Id="rId7" Type="http://schemas.openxmlformats.org/officeDocument/2006/relationships/oleObject" Target="../embeddings/oleObject52.bin"/><Relationship Id="rId2" Type="http://schemas.openxmlformats.org/officeDocument/2006/relationships/slideLayout" Target="../slideLayouts/slideLayout2.xml"/><Relationship Id="rId1" Type="http://schemas.openxmlformats.org/officeDocument/2006/relationships/vmlDrawing" Target="../drawings/vmlDrawing27.vml"/><Relationship Id="rId6" Type="http://schemas.openxmlformats.org/officeDocument/2006/relationships/image" Target="../media/image86.wmf"/><Relationship Id="rId5" Type="http://schemas.openxmlformats.org/officeDocument/2006/relationships/oleObject" Target="../embeddings/oleObject51.bin"/><Relationship Id="rId4" Type="http://schemas.openxmlformats.org/officeDocument/2006/relationships/image" Target="../media/image85.wmf"/></Relationships>
</file>

<file path=ppt/slides/_rels/slide64.xml.rels><?xml version="1.0" encoding="UTF-8" standalone="yes"?>
<Relationships xmlns="http://schemas.openxmlformats.org/package/2006/relationships"><Relationship Id="rId8" Type="http://schemas.openxmlformats.org/officeDocument/2006/relationships/image" Target="../media/image90.wmf"/><Relationship Id="rId3" Type="http://schemas.openxmlformats.org/officeDocument/2006/relationships/oleObject" Target="../embeddings/oleObject53.bin"/><Relationship Id="rId7" Type="http://schemas.openxmlformats.org/officeDocument/2006/relationships/oleObject" Target="../embeddings/oleObject55.bin"/><Relationship Id="rId2" Type="http://schemas.openxmlformats.org/officeDocument/2006/relationships/slideLayout" Target="../slideLayouts/slideLayout6.xml"/><Relationship Id="rId1" Type="http://schemas.openxmlformats.org/officeDocument/2006/relationships/vmlDrawing" Target="../drawings/vmlDrawing28.vml"/><Relationship Id="rId6" Type="http://schemas.openxmlformats.org/officeDocument/2006/relationships/image" Target="../media/image89.wmf"/><Relationship Id="rId5" Type="http://schemas.openxmlformats.org/officeDocument/2006/relationships/oleObject" Target="../embeddings/oleObject54.bin"/><Relationship Id="rId4" Type="http://schemas.openxmlformats.org/officeDocument/2006/relationships/image" Target="../media/image88.emf"/></Relationships>
</file>

<file path=ppt/slides/_rels/slide65.xml.rels><?xml version="1.0" encoding="UTF-8" standalone="yes"?>
<Relationships xmlns="http://schemas.openxmlformats.org/package/2006/relationships"><Relationship Id="rId3" Type="http://schemas.openxmlformats.org/officeDocument/2006/relationships/oleObject" Target="../embeddings/oleObject56.bin"/><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image" Target="../media/image92.wmf"/><Relationship Id="rId5" Type="http://schemas.openxmlformats.org/officeDocument/2006/relationships/oleObject" Target="../embeddings/oleObject57.bin"/><Relationship Id="rId4" Type="http://schemas.openxmlformats.org/officeDocument/2006/relationships/image" Target="../media/image91.wmf"/></Relationships>
</file>

<file path=ppt/slides/_rels/slide66.xml.rels><?xml version="1.0" encoding="UTF-8" standalone="yes"?>
<Relationships xmlns="http://schemas.openxmlformats.org/package/2006/relationships"><Relationship Id="rId3" Type="http://schemas.openxmlformats.org/officeDocument/2006/relationships/oleObject" Target="../embeddings/oleObject58.bin"/><Relationship Id="rId2" Type="http://schemas.openxmlformats.org/officeDocument/2006/relationships/slideLayout" Target="../slideLayouts/slideLayout2.xml"/><Relationship Id="rId1" Type="http://schemas.openxmlformats.org/officeDocument/2006/relationships/vmlDrawing" Target="../drawings/vmlDrawing30.vml"/><Relationship Id="rId6" Type="http://schemas.openxmlformats.org/officeDocument/2006/relationships/image" Target="../media/image94.wmf"/><Relationship Id="rId5" Type="http://schemas.openxmlformats.org/officeDocument/2006/relationships/oleObject" Target="../embeddings/oleObject59.bin"/><Relationship Id="rId4" Type="http://schemas.openxmlformats.org/officeDocument/2006/relationships/image" Target="../media/image93.wmf"/></Relationships>
</file>

<file path=ppt/slides/_rels/slide67.xml.rels><?xml version="1.0" encoding="UTF-8" standalone="yes"?>
<Relationships xmlns="http://schemas.openxmlformats.org/package/2006/relationships"><Relationship Id="rId3" Type="http://schemas.openxmlformats.org/officeDocument/2006/relationships/oleObject" Target="../embeddings/oleObject60.bin"/><Relationship Id="rId2" Type="http://schemas.openxmlformats.org/officeDocument/2006/relationships/slideLayout" Target="../slideLayouts/slideLayout2.xml"/><Relationship Id="rId1" Type="http://schemas.openxmlformats.org/officeDocument/2006/relationships/vmlDrawing" Target="../drawings/vmlDrawing31.vml"/><Relationship Id="rId6" Type="http://schemas.openxmlformats.org/officeDocument/2006/relationships/image" Target="../media/image96.wmf"/><Relationship Id="rId5" Type="http://schemas.openxmlformats.org/officeDocument/2006/relationships/oleObject" Target="../embeddings/oleObject61.bin"/><Relationship Id="rId4" Type="http://schemas.openxmlformats.org/officeDocument/2006/relationships/image" Target="../media/image95.wmf"/></Relationships>
</file>

<file path=ppt/slides/_rels/slide68.xml.rels><?xml version="1.0" encoding="UTF-8" standalone="yes"?>
<Relationships xmlns="http://schemas.openxmlformats.org/package/2006/relationships"><Relationship Id="rId3" Type="http://schemas.openxmlformats.org/officeDocument/2006/relationships/oleObject" Target="../embeddings/oleObject62.bin"/><Relationship Id="rId2" Type="http://schemas.openxmlformats.org/officeDocument/2006/relationships/slideLayout" Target="../slideLayouts/slideLayout7.xml"/><Relationship Id="rId1" Type="http://schemas.openxmlformats.org/officeDocument/2006/relationships/vmlDrawing" Target="../drawings/vmlDrawing32.vml"/><Relationship Id="rId6" Type="http://schemas.openxmlformats.org/officeDocument/2006/relationships/image" Target="../media/image98.wmf"/><Relationship Id="rId5" Type="http://schemas.openxmlformats.org/officeDocument/2006/relationships/oleObject" Target="../embeddings/oleObject63.bin"/><Relationship Id="rId4" Type="http://schemas.openxmlformats.org/officeDocument/2006/relationships/image" Target="../media/image97.wmf"/></Relationships>
</file>

<file path=ppt/slides/_rels/slide69.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image" Target="../media/image99.png"/><Relationship Id="rId1" Type="http://schemas.openxmlformats.org/officeDocument/2006/relationships/slideLayout" Target="../slideLayouts/slideLayout2.xml"/><Relationship Id="rId6" Type="http://schemas.openxmlformats.org/officeDocument/2006/relationships/image" Target="../media/image103.png"/><Relationship Id="rId5" Type="http://schemas.openxmlformats.org/officeDocument/2006/relationships/image" Target="../media/image102.png"/><Relationship Id="rId4" Type="http://schemas.openxmlformats.org/officeDocument/2006/relationships/image" Target="../media/image10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061" y="263885"/>
            <a:ext cx="2318198" cy="2308539"/>
          </a:xfrm>
          <a:prstGeom prst="rect">
            <a:avLst/>
          </a:prstGeom>
        </p:spPr>
      </p:pic>
      <p:sp>
        <p:nvSpPr>
          <p:cNvPr id="6" name="Rectangle 5"/>
          <p:cNvSpPr/>
          <p:nvPr/>
        </p:nvSpPr>
        <p:spPr>
          <a:xfrm>
            <a:off x="2657340" y="548686"/>
            <a:ext cx="6946006" cy="1738938"/>
          </a:xfrm>
          <a:prstGeom prst="rect">
            <a:avLst/>
          </a:prstGeom>
        </p:spPr>
        <p:txBody>
          <a:bodyPr wrap="square">
            <a:spAutoFit/>
          </a:bodyPr>
          <a:lstStyle/>
          <a:p>
            <a:pPr algn="ctr">
              <a:lnSpc>
                <a:spcPct val="107000"/>
              </a:lnSpc>
            </a:pPr>
            <a:r>
              <a:rPr lang="en-US" sz="4000" b="1" dirty="0">
                <a:solidFill>
                  <a:srgbClr val="FF0000"/>
                </a:solidFill>
                <a:effectLst/>
                <a:latin typeface="Monotype Corsiva" panose="03010101010201010101" pitchFamily="66" charset="0"/>
                <a:ea typeface="Calibri" panose="020F0502020204030204" pitchFamily="34" charset="0"/>
                <a:cs typeface="Times New Roman" panose="02020603050405020304" pitchFamily="18" charset="0"/>
              </a:rPr>
              <a:t>Thar Institute OF Engineering Science and Technology</a:t>
            </a:r>
            <a:endPar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a:p>
            <a:pPr algn="ctr">
              <a:lnSpc>
                <a:spcPct val="107000"/>
              </a:lnSpc>
            </a:pPr>
            <a:r>
              <a:rPr lang="en-US" sz="2000" dirty="0">
                <a:solidFill>
                  <a:srgbClr val="FF0000"/>
                </a:solidFill>
                <a:effectLst/>
                <a:latin typeface="Times New Roman" panose="02020603050405020304" pitchFamily="18" charset="0"/>
                <a:ea typeface="Calibri" panose="020F0502020204030204" pitchFamily="34" charset="0"/>
                <a:cs typeface="Times New Roman" panose="02020603050405020304" pitchFamily="18" charset="0"/>
              </a:rPr>
              <a:t>NED University of Engineering and Technology</a:t>
            </a:r>
            <a:endParaRPr lang="en-US" sz="2000" dirty="0">
              <a:solidFill>
                <a:srgbClr val="FF0000"/>
              </a:solidFill>
              <a:effectLst/>
              <a:latin typeface="Calibri" panose="020F0502020204030204" pitchFamily="34" charset="0"/>
              <a:ea typeface="Calibri" panose="020F0502020204030204" pitchFamily="34" charset="0"/>
              <a:cs typeface="Times New Roman" panose="02020603050405020304" pitchFamily="18" charset="0"/>
            </a:endParaRPr>
          </a:p>
        </p:txBody>
      </p:sp>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603346" y="359087"/>
            <a:ext cx="2318198" cy="2328547"/>
          </a:xfrm>
          <a:prstGeom prst="rect">
            <a:avLst/>
          </a:prstGeom>
        </p:spPr>
      </p:pic>
      <p:sp>
        <p:nvSpPr>
          <p:cNvPr id="8" name="Rectangle 7"/>
          <p:cNvSpPr/>
          <p:nvPr/>
        </p:nvSpPr>
        <p:spPr>
          <a:xfrm>
            <a:off x="390658" y="3411890"/>
            <a:ext cx="11410683" cy="646331"/>
          </a:xfrm>
          <a:prstGeom prst="rect">
            <a:avLst/>
          </a:prstGeom>
        </p:spPr>
        <p:txBody>
          <a:bodyPr wrap="square">
            <a:spAutoFit/>
          </a:bodyPr>
          <a:lstStyle/>
          <a:p>
            <a:pPr algn="ctr"/>
            <a:r>
              <a:rPr lang="en-US" sz="3600" b="1" i="1" u="sng" dirty="0" smtClean="0">
                <a:latin typeface="Times New Roman" panose="02020603050405020304" pitchFamily="18" charset="0"/>
                <a:ea typeface="Times New Roman" panose="02020603050405020304" pitchFamily="18" charset="0"/>
              </a:rPr>
              <a:t>MT-272 </a:t>
            </a:r>
            <a:r>
              <a:rPr lang="en-US" sz="3600" b="1" i="1" u="sng" dirty="0">
                <a:latin typeface="Times New Roman" panose="02020603050405020304" pitchFamily="18" charset="0"/>
                <a:ea typeface="Times New Roman" panose="02020603050405020304" pitchFamily="18" charset="0"/>
              </a:rPr>
              <a:t>Linear Algebra &amp; </a:t>
            </a:r>
            <a:r>
              <a:rPr lang="en-US" sz="3600" b="1" i="1" u="sng" dirty="0" smtClean="0">
                <a:latin typeface="Times New Roman" panose="02020603050405020304" pitchFamily="18" charset="0"/>
                <a:ea typeface="Times New Roman" panose="02020603050405020304" pitchFamily="18" charset="0"/>
              </a:rPr>
              <a:t>Geometry</a:t>
            </a:r>
            <a:endParaRPr lang="en-US" sz="3600" b="1" i="1" u="sng" dirty="0">
              <a:latin typeface="Times New Roman" panose="02020603050405020304" pitchFamily="18" charset="0"/>
              <a:ea typeface="Times New Roman" panose="02020603050405020304" pitchFamily="18" charset="0"/>
            </a:endParaRPr>
          </a:p>
        </p:txBody>
      </p:sp>
      <p:sp>
        <p:nvSpPr>
          <p:cNvPr id="9" name="Rectangle 8"/>
          <p:cNvSpPr/>
          <p:nvPr/>
        </p:nvSpPr>
        <p:spPr>
          <a:xfrm>
            <a:off x="2949259" y="4636164"/>
            <a:ext cx="6096000" cy="1673150"/>
          </a:xfrm>
          <a:prstGeom prst="rect">
            <a:avLst/>
          </a:prstGeom>
        </p:spPr>
        <p:txBody>
          <a:bodyPr>
            <a:spAutoFit/>
          </a:bodyPr>
          <a:lstStyle/>
          <a:p>
            <a:pPr algn="ctr">
              <a:lnSpc>
                <a:spcPct val="107000"/>
              </a:lnSpc>
            </a:pPr>
            <a:r>
              <a:rPr lang="en-US" sz="3200" b="1" i="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Mr. Pirbhu Lal</a:t>
            </a:r>
          </a:p>
          <a:p>
            <a:pPr algn="ctr">
              <a:lnSpc>
                <a:spcPct val="107000"/>
              </a:lnSpc>
            </a:pPr>
            <a:r>
              <a:rPr lang="en-US" sz="3200" b="1" i="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Lecturer (Visiting Faculty)</a:t>
            </a:r>
          </a:p>
          <a:p>
            <a:pPr algn="ctr">
              <a:lnSpc>
                <a:spcPct val="107000"/>
              </a:lnSpc>
            </a:pPr>
            <a:r>
              <a:rPr lang="en-US" sz="3200" b="1" i="1" dirty="0">
                <a:solidFill>
                  <a:schemeClr val="accent1">
                    <a:lumMod val="75000"/>
                  </a:schemeClr>
                </a:solidFill>
                <a:effectLst>
                  <a:outerShdw blurRad="38100" dist="38100" dir="2700000" algn="tl">
                    <a:srgbClr val="000000">
                      <a:alpha val="43137"/>
                    </a:srgbClr>
                  </a:outerShdw>
                </a:effectLst>
                <a:latin typeface="Times New Roman" panose="02020603050405020304" pitchFamily="18" charset="0"/>
                <a:ea typeface="Calibri" panose="020F0502020204030204" pitchFamily="34" charset="0"/>
                <a:cs typeface="Times New Roman" panose="02020603050405020304" pitchFamily="18" charset="0"/>
              </a:rPr>
              <a:t>MS- Applied Mathematics </a:t>
            </a:r>
          </a:p>
        </p:txBody>
      </p:sp>
      <p:cxnSp>
        <p:nvCxnSpPr>
          <p:cNvPr id="12" name="Straight Connector 11"/>
          <p:cNvCxnSpPr/>
          <p:nvPr/>
        </p:nvCxnSpPr>
        <p:spPr>
          <a:xfrm>
            <a:off x="463639" y="2923504"/>
            <a:ext cx="11500834" cy="12879"/>
          </a:xfrm>
          <a:prstGeom prst="line">
            <a:avLst/>
          </a:prstGeom>
        </p:spPr>
        <p:style>
          <a:lnRef idx="3">
            <a:schemeClr val="accent6"/>
          </a:lnRef>
          <a:fillRef idx="0">
            <a:schemeClr val="accent6"/>
          </a:fillRef>
          <a:effectRef idx="2">
            <a:schemeClr val="accent6"/>
          </a:effectRef>
          <a:fontRef idx="minor">
            <a:schemeClr val="tx1"/>
          </a:fontRef>
        </p:style>
      </p:cxnSp>
      <p:sp>
        <p:nvSpPr>
          <p:cNvPr id="3" name="Slide Number Placeholder 2"/>
          <p:cNvSpPr>
            <a:spLocks noGrp="1"/>
          </p:cNvSpPr>
          <p:nvPr>
            <p:ph type="sldNum" sz="quarter" idx="12"/>
          </p:nvPr>
        </p:nvSpPr>
        <p:spPr/>
        <p:txBody>
          <a:bodyPr/>
          <a:lstStyle/>
          <a:p>
            <a:fld id="{6151CBE5-7649-4C8C-BE42-41DBEBCD7D76}" type="slidenum">
              <a:rPr lang="en-US" smtClean="0"/>
              <a:t>1</a:t>
            </a:fld>
            <a:endParaRPr lang="en-US"/>
          </a:p>
        </p:txBody>
      </p:sp>
    </p:spTree>
    <p:extLst>
      <p:ext uri="{BB962C8B-B14F-4D97-AF65-F5344CB8AC3E}">
        <p14:creationId xmlns:p14="http://schemas.microsoft.com/office/powerpoint/2010/main" val="4259766526"/>
      </p:ext>
    </p:extLst>
  </p:cSld>
  <p:clrMapOvr>
    <a:masterClrMapping/>
  </p:clrMapOvr>
  <mc:AlternateContent xmlns:mc="http://schemas.openxmlformats.org/markup-compatibility/2006" xmlns:p14="http://schemas.microsoft.com/office/powerpoint/2010/main">
    <mc:Choice Requires="p14">
      <p:transition spd="slow" p14:dur="4000">
        <p14:vortex dir="r"/>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5"/>
          <p:cNvSpPr/>
          <p:nvPr/>
        </p:nvSpPr>
        <p:spPr>
          <a:xfrm>
            <a:off x="409434" y="1479125"/>
            <a:ext cx="11341289" cy="2308324"/>
          </a:xfrm>
          <a:prstGeom prst="rect">
            <a:avLst/>
          </a:prstGeom>
        </p:spPr>
        <p:txBody>
          <a:bodyPr wrap="square">
            <a:spAutoFit/>
          </a:bodyPr>
          <a:lstStyle/>
          <a:p>
            <a:pPr algn="just"/>
            <a:r>
              <a:rPr lang="en-US" sz="2400" dirty="0" smtClean="0">
                <a:latin typeface="Times New Roman" panose="02020603050405020304" pitchFamily="18" charset="0"/>
                <a:cs typeface="Times New Roman" panose="02020603050405020304" pitchFamily="18" charset="0"/>
              </a:rPr>
              <a:t>Matrix</a:t>
            </a:r>
            <a:r>
              <a:rPr lang="en-US" sz="2400" dirty="0">
                <a:latin typeface="Times New Roman" panose="02020603050405020304" pitchFamily="18" charset="0"/>
                <a:cs typeface="Times New Roman" panose="02020603050405020304" pitchFamily="18" charset="0"/>
              </a:rPr>
              <a:t>, a </a:t>
            </a:r>
            <a:r>
              <a:rPr lang="en-US" sz="2400" dirty="0" smtClean="0">
                <a:latin typeface="Times New Roman" panose="02020603050405020304" pitchFamily="18" charset="0"/>
                <a:cs typeface="Times New Roman" panose="02020603050405020304" pitchFamily="18" charset="0"/>
              </a:rPr>
              <a:t>set</a:t>
            </a:r>
            <a:r>
              <a:rPr lang="en-US" sz="2400" dirty="0">
                <a:latin typeface="Times New Roman" panose="02020603050405020304" pitchFamily="18" charset="0"/>
                <a:cs typeface="Times New Roman" panose="02020603050405020304" pitchFamily="18" charset="0"/>
              </a:rPr>
              <a:t> of numbers arranged in rows and columns so as to form a rectangular </a:t>
            </a:r>
            <a:r>
              <a:rPr lang="en-US" sz="2400" dirty="0" smtClean="0">
                <a:latin typeface="Times New Roman" panose="02020603050405020304" pitchFamily="18" charset="0"/>
                <a:cs typeface="Times New Roman" panose="02020603050405020304" pitchFamily="18" charset="0"/>
              </a:rPr>
              <a:t>array. </a:t>
            </a:r>
            <a:r>
              <a:rPr lang="en-US" sz="2400" dirty="0">
                <a:latin typeface="Times New Roman" panose="02020603050405020304" pitchFamily="18" charset="0"/>
                <a:cs typeface="Times New Roman" panose="02020603050405020304" pitchFamily="18" charset="0"/>
              </a:rPr>
              <a:t>The numbers are called the elements, or entries, of the </a:t>
            </a:r>
            <a:r>
              <a:rPr lang="en-US" sz="2400" dirty="0" smtClean="0">
                <a:latin typeface="Times New Roman" panose="02020603050405020304" pitchFamily="18" charset="0"/>
                <a:cs typeface="Times New Roman" panose="02020603050405020304" pitchFamily="18" charset="0"/>
              </a:rPr>
              <a:t>matrix. </a:t>
            </a:r>
          </a:p>
          <a:p>
            <a:pPr algn="just"/>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Matrices have </a:t>
            </a:r>
            <a:r>
              <a:rPr lang="en-US" sz="2400" dirty="0">
                <a:latin typeface="Times New Roman" panose="02020603050405020304" pitchFamily="18" charset="0"/>
                <a:cs typeface="Times New Roman" panose="02020603050405020304" pitchFamily="18" charset="0"/>
              </a:rPr>
              <a:t>wide </a:t>
            </a:r>
            <a:r>
              <a:rPr lang="en-US" sz="2400" dirty="0" smtClean="0">
                <a:latin typeface="Times New Roman" panose="02020603050405020304" pitchFamily="18" charset="0"/>
                <a:cs typeface="Times New Roman" panose="02020603050405020304" pitchFamily="18" charset="0"/>
              </a:rPr>
              <a:t>applications in</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engineering,</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physics,</a:t>
            </a:r>
            <a:r>
              <a:rPr lang="en-US" sz="2400" dirty="0">
                <a:latin typeface="Times New Roman" panose="02020603050405020304" pitchFamily="18" charset="0"/>
                <a:cs typeface="Times New Roman" panose="02020603050405020304" pitchFamily="18" charset="0"/>
              </a:rPr>
              <a:t> </a:t>
            </a:r>
            <a:r>
              <a:rPr lang="en-US" sz="2400" dirty="0" smtClean="0">
                <a:latin typeface="Times New Roman" panose="02020603050405020304" pitchFamily="18" charset="0"/>
                <a:cs typeface="Times New Roman" panose="02020603050405020304" pitchFamily="18" charset="0"/>
              </a:rPr>
              <a:t>economics, </a:t>
            </a:r>
            <a:r>
              <a:rPr lang="en-US" sz="2400" dirty="0">
                <a:latin typeface="Times New Roman" panose="02020603050405020304" pitchFamily="18" charset="0"/>
                <a:cs typeface="Times New Roman" panose="02020603050405020304" pitchFamily="18" charset="0"/>
              </a:rPr>
              <a:t>and </a:t>
            </a:r>
            <a:r>
              <a:rPr lang="en-US" sz="2400" dirty="0" smtClean="0">
                <a:latin typeface="Times New Roman" panose="02020603050405020304" pitchFamily="18" charset="0"/>
                <a:cs typeface="Times New Roman" panose="02020603050405020304" pitchFamily="18" charset="0"/>
              </a:rPr>
              <a:t>statistics</a:t>
            </a:r>
            <a:r>
              <a:rPr lang="en-US" sz="2400" dirty="0">
                <a:latin typeface="Times New Roman" panose="02020603050405020304" pitchFamily="18" charset="0"/>
                <a:cs typeface="Times New Roman" panose="02020603050405020304" pitchFamily="18" charset="0"/>
              </a:rPr>
              <a:t> as well as in various branches of </a:t>
            </a:r>
            <a:r>
              <a:rPr lang="en-US" sz="2400" dirty="0" smtClean="0">
                <a:latin typeface="Times New Roman" panose="02020603050405020304" pitchFamily="18" charset="0"/>
                <a:cs typeface="Times New Roman" panose="02020603050405020304" pitchFamily="18" charset="0"/>
              </a:rPr>
              <a:t>mathematics. </a:t>
            </a:r>
            <a:r>
              <a:rPr lang="en-US" sz="2400" dirty="0">
                <a:latin typeface="Times New Roman" panose="02020603050405020304" pitchFamily="18" charset="0"/>
                <a:cs typeface="Times New Roman" panose="02020603050405020304" pitchFamily="18" charset="0"/>
              </a:rPr>
              <a:t>Matrices also have important applications in </a:t>
            </a:r>
            <a:r>
              <a:rPr lang="en-US" sz="2400" dirty="0" smtClean="0">
                <a:latin typeface="Times New Roman" panose="02020603050405020304" pitchFamily="18" charset="0"/>
                <a:cs typeface="Times New Roman" panose="02020603050405020304" pitchFamily="18" charset="0"/>
              </a:rPr>
              <a:t>computer graphics, </a:t>
            </a:r>
            <a:r>
              <a:rPr lang="en-US" sz="2400" dirty="0">
                <a:latin typeface="Times New Roman" panose="02020603050405020304" pitchFamily="18" charset="0"/>
                <a:cs typeface="Times New Roman" panose="02020603050405020304" pitchFamily="18" charset="0"/>
              </a:rPr>
              <a:t>where they have been used to represent rotations and other transformations of </a:t>
            </a:r>
            <a:r>
              <a:rPr lang="en-US" sz="2400" dirty="0" smtClean="0">
                <a:latin typeface="Times New Roman" panose="02020603050405020304" pitchFamily="18" charset="0"/>
                <a:cs typeface="Times New Roman" panose="02020603050405020304" pitchFamily="18" charset="0"/>
              </a:rPr>
              <a:t>images.</a:t>
            </a:r>
            <a:endParaRPr lang="en-US" sz="2400" dirty="0">
              <a:latin typeface="Times New Roman" panose="02020603050405020304" pitchFamily="18" charset="0"/>
              <a:cs typeface="Times New Roman" panose="02020603050405020304" pitchFamily="18" charset="0"/>
            </a:endParaRPr>
          </a:p>
        </p:txBody>
      </p:sp>
      <p:sp>
        <p:nvSpPr>
          <p:cNvPr id="7" name="Rectangle 6"/>
          <p:cNvSpPr/>
          <p:nvPr/>
        </p:nvSpPr>
        <p:spPr>
          <a:xfrm>
            <a:off x="3493827" y="395785"/>
            <a:ext cx="4490113" cy="769441"/>
          </a:xfrm>
          <a:prstGeom prst="rect">
            <a:avLst/>
          </a:prstGeom>
        </p:spPr>
        <p:txBody>
          <a:bodyPr wrap="square">
            <a:spAutoFit/>
          </a:bodyPr>
          <a:lstStyle/>
          <a:p>
            <a:pPr algn="ctr"/>
            <a:r>
              <a:rPr lang="en-US" sz="4400" b="1" i="1" u="sng" dirty="0" smtClean="0">
                <a:latin typeface="Times New Roman" panose="02020603050405020304" pitchFamily="18" charset="0"/>
                <a:cs typeface="Times New Roman" panose="02020603050405020304" pitchFamily="18" charset="0"/>
              </a:rPr>
              <a:t>Matrix</a:t>
            </a:r>
            <a:endParaRPr lang="en-US" sz="4400" b="1" i="1" u="sng" dirty="0">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8452421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5837" y="296214"/>
            <a:ext cx="11863908" cy="6336405"/>
          </a:xfrm>
          <a:prstGeom prst="rect">
            <a:avLst/>
          </a:prstGeom>
        </p:spPr>
      </p:pic>
    </p:spTree>
    <p:extLst>
      <p:ext uri="{BB962C8B-B14F-4D97-AF65-F5344CB8AC3E}">
        <p14:creationId xmlns:p14="http://schemas.microsoft.com/office/powerpoint/2010/main" val="36715925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91319" y="2659914"/>
            <a:ext cx="4559699" cy="584775"/>
          </a:xfrm>
          <a:prstGeom prst="rect">
            <a:avLst/>
          </a:prstGeom>
        </p:spPr>
        <p:txBody>
          <a:bodyPr wrap="square">
            <a:spAutoFit/>
          </a:bodyPr>
          <a:lstStyle/>
          <a:p>
            <a:r>
              <a:rPr lang="en-US" sz="3200" b="1" i="1" u="sng" dirty="0">
                <a:latin typeface="Times New Roman" panose="02020603050405020304" pitchFamily="18" charset="0"/>
                <a:ea typeface="Times New Roman" panose="02020603050405020304" pitchFamily="18" charset="0"/>
              </a:rPr>
              <a:t>Various Types of </a:t>
            </a:r>
            <a:r>
              <a:rPr lang="en-US" sz="3200" b="1" i="1" u="sng" dirty="0" smtClean="0">
                <a:latin typeface="Times New Roman" panose="02020603050405020304" pitchFamily="18" charset="0"/>
                <a:ea typeface="Times New Roman" panose="02020603050405020304" pitchFamily="18" charset="0"/>
              </a:rPr>
              <a:t>Matrix</a:t>
            </a:r>
            <a:r>
              <a:rPr lang="en-US" sz="3200" b="1" i="1" dirty="0" smtClean="0">
                <a:latin typeface="Times New Roman" panose="02020603050405020304" pitchFamily="18" charset="0"/>
                <a:ea typeface="Times New Roman" panose="02020603050405020304" pitchFamily="18" charset="0"/>
              </a:rPr>
              <a:t>:</a:t>
            </a:r>
            <a:endParaRPr lang="en-US" sz="3200" i="1" dirty="0"/>
          </a:p>
        </p:txBody>
      </p:sp>
      <mc:AlternateContent xmlns:mc="http://schemas.openxmlformats.org/markup-compatibility/2006" xmlns:a14="http://schemas.microsoft.com/office/drawing/2010/main">
        <mc:Choice Requires="a14">
          <p:sp>
            <p:nvSpPr>
              <p:cNvPr id="9" name="Rectangle 8"/>
              <p:cNvSpPr/>
              <p:nvPr/>
            </p:nvSpPr>
            <p:spPr>
              <a:xfrm>
                <a:off x="6073253" y="245661"/>
                <a:ext cx="4219465" cy="6475427"/>
              </a:xfrm>
              <a:prstGeom prst="rect">
                <a:avLst/>
              </a:prstGeom>
            </p:spPr>
            <p:txBody>
              <a:bodyPr wrap="square">
                <a:spAutoFit/>
              </a:bodyPr>
              <a:lstStyle/>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Row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Column Matrix</a:t>
                </a:r>
              </a:p>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Null Matrix or Zero Matrix</a:t>
                </a:r>
              </a:p>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Square </a:t>
                </a:r>
                <a:r>
                  <a:rPr lang="en-US" dirty="0">
                    <a:solidFill>
                      <a:schemeClr val="tx1">
                        <a:lumMod val="65000"/>
                        <a:lumOff val="35000"/>
                      </a:schemeClr>
                    </a:solidFill>
                    <a:latin typeface="Times New Roman" panose="02020603050405020304" pitchFamily="18" charset="0"/>
                    <a:cs typeface="Times New Roman" panose="02020603050405020304" pitchFamily="18" charset="0"/>
                  </a:rPr>
                  <a:t>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Diagonal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Scalar Matrix</a:t>
                </a:r>
              </a:p>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Unit of Identity Matrix</a:t>
                </a:r>
              </a:p>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Symmetric </a:t>
                </a:r>
                <a:r>
                  <a:rPr lang="en-US" dirty="0">
                    <a:solidFill>
                      <a:schemeClr val="tx1">
                        <a:lumMod val="65000"/>
                        <a:lumOff val="35000"/>
                      </a:schemeClr>
                    </a:solidFill>
                    <a:latin typeface="Times New Roman" panose="02020603050405020304" pitchFamily="18" charset="0"/>
                    <a:cs typeface="Times New Roman" panose="02020603050405020304" pitchFamily="18" charset="0"/>
                  </a:rPr>
                  <a:t>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 Skew Symmetric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Triangular Matrix</a:t>
                </a:r>
              </a:p>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Transpose of Matrix</a:t>
                </a:r>
              </a:p>
              <a:p>
                <a:pPr marL="342900" indent="-342900">
                  <a:buFont typeface="+mj-lt"/>
                  <a:buAutoNum type="arabicPeriod"/>
                </a:pPr>
                <a:r>
                  <a:rPr lang="en-US" dirty="0" smtClean="0">
                    <a:solidFill>
                      <a:schemeClr val="tx1">
                        <a:lumMod val="65000"/>
                        <a:lumOff val="35000"/>
                      </a:schemeClr>
                    </a:solidFill>
                    <a:latin typeface="Times New Roman" panose="02020603050405020304" pitchFamily="18" charset="0"/>
                    <a:cs typeface="Times New Roman" panose="02020603050405020304" pitchFamily="18" charset="0"/>
                  </a:rPr>
                  <a:t>Orthogonal </a:t>
                </a:r>
                <a:r>
                  <a:rPr lang="en-US" dirty="0">
                    <a:solidFill>
                      <a:schemeClr val="tx1">
                        <a:lumMod val="65000"/>
                        <a:lumOff val="35000"/>
                      </a:schemeClr>
                    </a:solidFill>
                    <a:latin typeface="Times New Roman" panose="02020603050405020304" pitchFamily="18" charset="0"/>
                    <a:cs typeface="Times New Roman" panose="02020603050405020304" pitchFamily="18" charset="0"/>
                  </a:rPr>
                  <a:t>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Conjugate of a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Matrix </a:t>
                </a:r>
                <a14:m>
                  <m:oMath xmlns:m="http://schemas.openxmlformats.org/officeDocument/2006/math">
                    <m:sSup>
                      <m:sSupPr>
                        <m:ctrlPr>
                          <a:rPr lang="en-US" i="1" smtClean="0">
                            <a:solidFill>
                              <a:schemeClr val="tx1">
                                <a:lumMod val="65000"/>
                                <a:lumOff val="35000"/>
                              </a:schemeClr>
                            </a:solidFill>
                            <a:latin typeface="Cambria Math"/>
                          </a:rPr>
                        </m:ctrlPr>
                      </m:sSupPr>
                      <m:e>
                        <m:r>
                          <a:rPr lang="en-US" b="0" i="1" smtClean="0">
                            <a:solidFill>
                              <a:schemeClr val="tx1">
                                <a:lumMod val="65000"/>
                                <a:lumOff val="35000"/>
                              </a:schemeClr>
                            </a:solidFill>
                            <a:latin typeface="Cambria Math" panose="02040503050406030204" pitchFamily="18" charset="0"/>
                          </a:rPr>
                          <m:t>𝐴</m:t>
                        </m:r>
                      </m:e>
                      <m:sup>
                        <m:r>
                          <a:rPr lang="en-US" i="1" smtClean="0">
                            <a:solidFill>
                              <a:schemeClr val="tx1">
                                <a:lumMod val="65000"/>
                                <a:lumOff val="35000"/>
                              </a:schemeClr>
                            </a:solidFill>
                            <a:latin typeface="Cambria Math" panose="02040503050406030204" pitchFamily="18" charset="0"/>
                            <a:ea typeface="Cambria Math" panose="02040503050406030204" pitchFamily="18" charset="0"/>
                          </a:rPr>
                          <m:t>𝜃</m:t>
                        </m:r>
                      </m:sup>
                    </m:sSup>
                  </m:oMath>
                </a14:m>
                <a:endParaRPr lang="en-US" dirty="0">
                  <a:solidFill>
                    <a:schemeClr val="tx1">
                      <a:lumMod val="65000"/>
                      <a:lumOff val="35000"/>
                    </a:schemeClr>
                  </a:solidFill>
                  <a:latin typeface="Times New Roman" panose="02020603050405020304" pitchFamily="18" charset="0"/>
                  <a:cs typeface="Times New Roman" panose="02020603050405020304" pitchFamily="18" charset="0"/>
                </a:endParaRP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Unitary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Hermitian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Skew Hermitian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Idempotent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Periodic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Nilpotent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Involuntary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Equal Matrix</a:t>
                </a:r>
              </a:p>
              <a:p>
                <a:pPr marL="342900" indent="-342900">
                  <a:buFont typeface="+mj-lt"/>
                  <a:buAutoNum type="arabicPeriod"/>
                </a:pPr>
                <a:r>
                  <a:rPr lang="en-US" dirty="0">
                    <a:solidFill>
                      <a:schemeClr val="tx1">
                        <a:lumMod val="65000"/>
                        <a:lumOff val="35000"/>
                      </a:schemeClr>
                    </a:solidFill>
                    <a:latin typeface="Times New Roman" panose="02020603050405020304" pitchFamily="18" charset="0"/>
                    <a:cs typeface="Times New Roman" panose="02020603050405020304" pitchFamily="18" charset="0"/>
                  </a:rPr>
                  <a:t>Singular Matrix</a:t>
                </a:r>
              </a:p>
            </p:txBody>
          </p:sp>
        </mc:Choice>
        <mc:Fallback xmlns="">
          <p:sp>
            <p:nvSpPr>
              <p:cNvPr id="9" name="Rectangle 8"/>
              <p:cNvSpPr>
                <a:spLocks noRot="1" noChangeAspect="1" noMove="1" noResize="1" noEditPoints="1" noAdjustHandles="1" noChangeArrowheads="1" noChangeShapeType="1" noTextEdit="1"/>
              </p:cNvSpPr>
              <p:nvPr/>
            </p:nvSpPr>
            <p:spPr>
              <a:xfrm>
                <a:off x="6073253" y="245661"/>
                <a:ext cx="4219465" cy="6475427"/>
              </a:xfrm>
              <a:prstGeom prst="rect">
                <a:avLst/>
              </a:prstGeom>
              <a:blipFill rotWithShape="0">
                <a:blip r:embed="rId2"/>
                <a:stretch>
                  <a:fillRect l="-867" t="-470" b="-470"/>
                </a:stretch>
              </a:blipFill>
            </p:spPr>
            <p:txBody>
              <a:bodyPr/>
              <a:lstStyle/>
              <a:p>
                <a:r>
                  <a:rPr lang="en-US">
                    <a:noFill/>
                  </a:rPr>
                  <a:t> </a:t>
                </a:r>
              </a:p>
            </p:txBody>
          </p:sp>
        </mc:Fallback>
      </mc:AlternateContent>
    </p:spTree>
    <p:extLst>
      <p:ext uri="{BB962C8B-B14F-4D97-AF65-F5344CB8AC3E}">
        <p14:creationId xmlns:p14="http://schemas.microsoft.com/office/powerpoint/2010/main" val="387337603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4699" y="242765"/>
            <a:ext cx="11758181" cy="6402734"/>
          </a:xfrm>
          <a:prstGeom prst="rect">
            <a:avLst/>
          </a:prstGeom>
        </p:spPr>
      </p:pic>
    </p:spTree>
    <p:extLst>
      <p:ext uri="{BB962C8B-B14F-4D97-AF65-F5344CB8AC3E}">
        <p14:creationId xmlns:p14="http://schemas.microsoft.com/office/powerpoint/2010/main" val="40054483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7571" y="206060"/>
            <a:ext cx="11718775" cy="6297771"/>
          </a:xfrm>
          <a:prstGeom prst="rect">
            <a:avLst/>
          </a:prstGeom>
        </p:spPr>
      </p:pic>
    </p:spTree>
    <p:extLst>
      <p:ext uri="{BB962C8B-B14F-4D97-AF65-F5344CB8AC3E}">
        <p14:creationId xmlns:p14="http://schemas.microsoft.com/office/powerpoint/2010/main" val="2077238362"/>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3906" y="229526"/>
            <a:ext cx="11553293" cy="6493265"/>
          </a:xfrm>
          <a:prstGeom prst="rect">
            <a:avLst/>
          </a:prstGeom>
        </p:spPr>
      </p:pic>
    </p:spTree>
    <p:extLst>
      <p:ext uri="{BB962C8B-B14F-4D97-AF65-F5344CB8AC3E}">
        <p14:creationId xmlns:p14="http://schemas.microsoft.com/office/powerpoint/2010/main" val="410877877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1239" y="489398"/>
            <a:ext cx="11733430" cy="5911402"/>
          </a:xfrm>
          <a:prstGeom prst="rect">
            <a:avLst/>
          </a:prstGeom>
        </p:spPr>
      </p:pic>
    </p:spTree>
    <p:extLst>
      <p:ext uri="{BB962C8B-B14F-4D97-AF65-F5344CB8AC3E}">
        <p14:creationId xmlns:p14="http://schemas.microsoft.com/office/powerpoint/2010/main" val="318039872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18940" y="230389"/>
            <a:ext cx="11642501" cy="6435849"/>
          </a:xfrm>
          <a:prstGeom prst="rect">
            <a:avLst/>
          </a:prstGeom>
        </p:spPr>
      </p:pic>
    </p:spTree>
    <p:extLst>
      <p:ext uri="{BB962C8B-B14F-4D97-AF65-F5344CB8AC3E}">
        <p14:creationId xmlns:p14="http://schemas.microsoft.com/office/powerpoint/2010/main" val="19612829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4851" y="213087"/>
            <a:ext cx="11539469" cy="6331080"/>
          </a:xfrm>
          <a:prstGeom prst="rect">
            <a:avLst/>
          </a:prstGeom>
        </p:spPr>
      </p:pic>
    </p:spTree>
    <p:extLst>
      <p:ext uri="{BB962C8B-B14F-4D97-AF65-F5344CB8AC3E}">
        <p14:creationId xmlns:p14="http://schemas.microsoft.com/office/powerpoint/2010/main" val="43357582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1820" y="128915"/>
            <a:ext cx="11740027" cy="6606735"/>
          </a:xfrm>
          <a:prstGeom prst="rect">
            <a:avLst/>
          </a:prstGeom>
        </p:spPr>
      </p:pic>
    </p:spTree>
    <p:extLst>
      <p:ext uri="{BB962C8B-B14F-4D97-AF65-F5344CB8AC3E}">
        <p14:creationId xmlns:p14="http://schemas.microsoft.com/office/powerpoint/2010/main" val="14164374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022" y="181807"/>
            <a:ext cx="12014704" cy="6579602"/>
          </a:xfrm>
          <a:prstGeom prst="rect">
            <a:avLst/>
          </a:prstGeom>
        </p:spPr>
      </p:pic>
    </p:spTree>
    <p:extLst>
      <p:ext uri="{BB962C8B-B14F-4D97-AF65-F5344CB8AC3E}">
        <p14:creationId xmlns:p14="http://schemas.microsoft.com/office/powerpoint/2010/main" val="32237671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1058" y="372758"/>
            <a:ext cx="10549483" cy="6246405"/>
          </a:xfrm>
          <a:prstGeom prst="rect">
            <a:avLst/>
          </a:prstGeom>
        </p:spPr>
      </p:pic>
    </p:spTree>
    <p:extLst>
      <p:ext uri="{BB962C8B-B14F-4D97-AF65-F5344CB8AC3E}">
        <p14:creationId xmlns:p14="http://schemas.microsoft.com/office/powerpoint/2010/main" val="243129093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47699" y="1419271"/>
            <a:ext cx="10700186" cy="4490210"/>
          </a:xfrm>
          <a:prstGeom prst="rect">
            <a:avLst/>
          </a:prstGeom>
        </p:spPr>
      </p:pic>
    </p:spTree>
    <p:extLst>
      <p:ext uri="{BB962C8B-B14F-4D97-AF65-F5344CB8AC3E}">
        <p14:creationId xmlns:p14="http://schemas.microsoft.com/office/powerpoint/2010/main" val="77406687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7340" y="300841"/>
            <a:ext cx="11079042" cy="6146486"/>
          </a:xfrm>
          <a:prstGeom prst="rect">
            <a:avLst/>
          </a:prstGeom>
        </p:spPr>
      </p:pic>
    </p:spTree>
    <p:extLst>
      <p:ext uri="{BB962C8B-B14F-4D97-AF65-F5344CB8AC3E}">
        <p14:creationId xmlns:p14="http://schemas.microsoft.com/office/powerpoint/2010/main" val="14334580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93179" y="238377"/>
            <a:ext cx="10607418" cy="6416620"/>
          </a:xfrm>
          <a:prstGeom prst="rect">
            <a:avLst/>
          </a:prstGeom>
        </p:spPr>
      </p:pic>
    </p:spTree>
    <p:extLst>
      <p:ext uri="{BB962C8B-B14F-4D97-AF65-F5344CB8AC3E}">
        <p14:creationId xmlns:p14="http://schemas.microsoft.com/office/powerpoint/2010/main" val="3148502974"/>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66356" y="669385"/>
            <a:ext cx="10911662" cy="214562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6356" y="2829209"/>
            <a:ext cx="10911662" cy="3612533"/>
          </a:xfrm>
          <a:prstGeom prst="rect">
            <a:avLst/>
          </a:prstGeom>
        </p:spPr>
      </p:pic>
    </p:spTree>
    <p:extLst>
      <p:ext uri="{BB962C8B-B14F-4D97-AF65-F5344CB8AC3E}">
        <p14:creationId xmlns:p14="http://schemas.microsoft.com/office/powerpoint/2010/main" val="1208636458"/>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6844" y="185439"/>
            <a:ext cx="10523877" cy="3854298"/>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26844" y="4039737"/>
            <a:ext cx="10523877" cy="2252607"/>
          </a:xfrm>
          <a:prstGeom prst="rect">
            <a:avLst/>
          </a:prstGeom>
        </p:spPr>
      </p:pic>
    </p:spTree>
    <p:extLst>
      <p:ext uri="{BB962C8B-B14F-4D97-AF65-F5344CB8AC3E}">
        <p14:creationId xmlns:p14="http://schemas.microsoft.com/office/powerpoint/2010/main" val="1124755901"/>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1237" y="215302"/>
            <a:ext cx="11111372" cy="6240633"/>
          </a:xfrm>
          <a:prstGeom prst="rect">
            <a:avLst/>
          </a:prstGeom>
        </p:spPr>
      </p:pic>
    </p:spTree>
    <p:extLst>
      <p:ext uri="{BB962C8B-B14F-4D97-AF65-F5344CB8AC3E}">
        <p14:creationId xmlns:p14="http://schemas.microsoft.com/office/powerpoint/2010/main" val="1940556781"/>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Rectangle 2"/>
          <p:cNvSpPr>
            <a:spLocks noGrp="1" noChangeArrowheads="1"/>
          </p:cNvSpPr>
          <p:nvPr>
            <p:ph type="title" sz="quarter"/>
          </p:nvPr>
        </p:nvSpPr>
        <p:spPr>
          <a:xfrm>
            <a:off x="2424113" y="214314"/>
            <a:ext cx="9272018" cy="1462087"/>
          </a:xfrm>
        </p:spPr>
        <p:txBody>
          <a:bodyPr/>
          <a:lstStyle/>
          <a:p>
            <a:r>
              <a:rPr lang="en-US" altLang="zh-TW" dirty="0" smtClean="0"/>
              <a:t>Using </a:t>
            </a:r>
            <a:r>
              <a:rPr lang="en-US" altLang="zh-TW" dirty="0"/>
              <a:t>Row Operations to Find      </a:t>
            </a:r>
            <a:r>
              <a:rPr lang="en-US" altLang="zh-TW" dirty="0" smtClean="0"/>
              <a:t>    (</a:t>
            </a:r>
            <a:r>
              <a:rPr lang="en-US" altLang="zh-TW" dirty="0"/>
              <a:t>1/3)    </a:t>
            </a:r>
          </a:p>
        </p:txBody>
      </p:sp>
      <p:graphicFrame>
        <p:nvGraphicFramePr>
          <p:cNvPr id="142336" name="Object 1024"/>
          <p:cNvGraphicFramePr>
            <a:graphicFrameLocks noGrp="1" noChangeAspect="1"/>
          </p:cNvGraphicFramePr>
          <p:nvPr>
            <p:ph sz="quarter" idx="1"/>
            <p:extLst>
              <p:ext uri="{D42A27DB-BD31-4B8C-83A1-F6EECF244321}">
                <p14:modId xmlns:p14="http://schemas.microsoft.com/office/powerpoint/2010/main" val="1002711494"/>
              </p:ext>
            </p:extLst>
          </p:nvPr>
        </p:nvGraphicFramePr>
        <p:xfrm>
          <a:off x="9390063" y="690563"/>
          <a:ext cx="647700" cy="511175"/>
        </p:xfrm>
        <a:graphic>
          <a:graphicData uri="http://schemas.openxmlformats.org/presentationml/2006/ole">
            <mc:AlternateContent xmlns:mc="http://schemas.openxmlformats.org/markup-compatibility/2006">
              <mc:Choice xmlns:v="urn:schemas-microsoft-com:vml" Requires="v">
                <p:oleObj spid="_x0000_s1191" name="方程式" r:id="rId3" imgW="241200" imgH="190440" progId="Equation.3">
                  <p:embed/>
                </p:oleObj>
              </mc:Choice>
              <mc:Fallback>
                <p:oleObj name="方程式" r:id="rId3" imgW="24120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90063" y="690563"/>
                        <a:ext cx="647700" cy="511175"/>
                      </a:xfrm>
                      <a:prstGeom prst="rect">
                        <a:avLst/>
                      </a:prstGeom>
                      <a:noFill/>
                      <a:extLst/>
                    </p:spPr>
                  </p:pic>
                </p:oleObj>
              </mc:Fallback>
            </mc:AlternateContent>
          </a:graphicData>
        </a:graphic>
      </p:graphicFrame>
      <p:sp>
        <p:nvSpPr>
          <p:cNvPr id="2" name="Slide Number Placeholder 1"/>
          <p:cNvSpPr>
            <a:spLocks noGrp="1"/>
          </p:cNvSpPr>
          <p:nvPr>
            <p:ph type="sldNum" sz="quarter" idx="12"/>
          </p:nvPr>
        </p:nvSpPr>
        <p:spPr/>
        <p:txBody>
          <a:bodyPr/>
          <a:lstStyle/>
          <a:p>
            <a:fld id="{1000719C-64CE-49BE-B6D3-9202F32CB9DF}" type="slidenum">
              <a:rPr lang="zh-TW" altLang="en-US" smtClean="0"/>
              <a:pPr/>
              <a:t>20</a:t>
            </a:fld>
            <a:endParaRPr lang="en-US" altLang="zh-TW"/>
          </a:p>
        </p:txBody>
      </p:sp>
      <p:sp>
        <p:nvSpPr>
          <p:cNvPr id="105478" name="Text Box 6"/>
          <p:cNvSpPr txBox="1">
            <a:spLocks noChangeArrowheads="1"/>
          </p:cNvSpPr>
          <p:nvPr/>
        </p:nvSpPr>
        <p:spPr bwMode="auto">
          <a:xfrm>
            <a:off x="492709" y="1411546"/>
            <a:ext cx="11203422" cy="4893647"/>
          </a:xfrm>
          <a:prstGeom prst="rect">
            <a:avLst/>
          </a:prstGeom>
          <a:noFill/>
          <a:ln w="9525">
            <a:noFill/>
            <a:miter lim="800000"/>
            <a:headEnd/>
            <a:tailEnd/>
          </a:ln>
          <a:effectLst/>
        </p:spPr>
        <p:txBody>
          <a:bodyPr wrap="square">
            <a:spAutoFit/>
          </a:bodyPr>
          <a:lstStyle/>
          <a:p>
            <a:pPr algn="just">
              <a:buClr>
                <a:schemeClr val="folHlink"/>
              </a:buClr>
              <a:buFont typeface="Wingdings" pitchFamily="2" charset="2"/>
              <a:buChar char="n"/>
            </a:pPr>
            <a:r>
              <a:rPr lang="zh-TW" altLang="en-US" sz="2400" dirty="0">
                <a:latin typeface="Times New Roman" panose="02020603050405020304" pitchFamily="18" charset="0"/>
                <a:cs typeface="Times New Roman" panose="02020603050405020304" pitchFamily="18" charset="0"/>
              </a:rPr>
              <a:t>   </a:t>
            </a:r>
            <a:r>
              <a:rPr lang="en-US" altLang="zh-TW" sz="2400" dirty="0">
                <a:latin typeface="Times New Roman" panose="02020603050405020304" pitchFamily="18" charset="0"/>
                <a:cs typeface="Times New Roman" panose="02020603050405020304" pitchFamily="18" charset="0"/>
              </a:rPr>
              <a:t>Find the inverse of</a:t>
            </a:r>
          </a:p>
          <a:p>
            <a:pPr algn="just">
              <a:buClr>
                <a:schemeClr val="folHlink"/>
              </a:buClr>
              <a:buFont typeface="Wingdings" pitchFamily="2" charset="2"/>
              <a:buChar char="n"/>
            </a:pPr>
            <a:endParaRPr lang="en-US" altLang="zh-TW" sz="2400" dirty="0">
              <a:latin typeface="Times New Roman" panose="02020603050405020304" pitchFamily="18" charset="0"/>
              <a:cs typeface="Times New Roman" panose="02020603050405020304" pitchFamily="18" charset="0"/>
            </a:endParaRPr>
          </a:p>
          <a:p>
            <a:pPr algn="just">
              <a:buClr>
                <a:schemeClr val="folHlink"/>
              </a:buClr>
              <a:buFont typeface="Wingdings" pitchFamily="2" charset="2"/>
              <a:buChar char="n"/>
            </a:pPr>
            <a:endParaRPr lang="en-US" altLang="zh-TW" sz="2400" dirty="0">
              <a:latin typeface="Times New Roman" panose="02020603050405020304" pitchFamily="18" charset="0"/>
              <a:cs typeface="Times New Roman" panose="02020603050405020304" pitchFamily="18" charset="0"/>
            </a:endParaRPr>
          </a:p>
          <a:p>
            <a:pPr algn="just">
              <a:buClr>
                <a:schemeClr val="folHlink"/>
              </a:buClr>
              <a:buFont typeface="Wingdings" pitchFamily="2" charset="2"/>
              <a:buChar char="n"/>
            </a:pPr>
            <a:endParaRPr lang="en-US" altLang="zh-TW" sz="2400" dirty="0">
              <a:latin typeface="Times New Roman" panose="02020603050405020304" pitchFamily="18" charset="0"/>
              <a:cs typeface="Times New Roman" panose="02020603050405020304" pitchFamily="18" charset="0"/>
            </a:endParaRPr>
          </a:p>
          <a:p>
            <a:pPr algn="just">
              <a:buClr>
                <a:schemeClr val="folHlink"/>
              </a:buClr>
              <a:buFont typeface="Wingdings" pitchFamily="2" charset="2"/>
              <a:buChar char="n"/>
            </a:pPr>
            <a:r>
              <a:rPr lang="en-US" altLang="zh-TW" sz="2400" dirty="0">
                <a:latin typeface="Times New Roman" panose="02020603050405020304" pitchFamily="18" charset="0"/>
                <a:cs typeface="Times New Roman" panose="02020603050405020304" pitchFamily="18" charset="0"/>
              </a:rPr>
              <a:t>   Solution:</a:t>
            </a:r>
          </a:p>
          <a:p>
            <a:pPr lvl="1" algn="just">
              <a:buClr>
                <a:schemeClr val="hlink"/>
              </a:buClr>
              <a:buFont typeface="Wingdings" pitchFamily="2" charset="2"/>
              <a:buChar char="l"/>
            </a:pPr>
            <a:r>
              <a:rPr lang="en-US" altLang="zh-TW" sz="2400" dirty="0">
                <a:latin typeface="Times New Roman" panose="02020603050405020304" pitchFamily="18" charset="0"/>
                <a:cs typeface="Times New Roman" panose="02020603050405020304" pitchFamily="18" charset="0"/>
              </a:rPr>
              <a:t>  To accomplish this we shall adjoin the </a:t>
            </a:r>
            <a:r>
              <a:rPr lang="en-US" altLang="zh-TW" sz="2400" dirty="0" smtClean="0">
                <a:latin typeface="Times New Roman" panose="02020603050405020304" pitchFamily="18" charset="0"/>
                <a:cs typeface="Times New Roman" panose="02020603050405020304" pitchFamily="18" charset="0"/>
              </a:rPr>
              <a:t>identity matrix </a:t>
            </a:r>
            <a:r>
              <a:rPr lang="en-US" altLang="zh-TW" sz="2400" dirty="0">
                <a:latin typeface="Times New Roman" panose="02020603050405020304" pitchFamily="18" charset="0"/>
                <a:cs typeface="Times New Roman" panose="02020603050405020304" pitchFamily="18" charset="0"/>
              </a:rPr>
              <a:t>to the right side of </a:t>
            </a:r>
            <a:r>
              <a:rPr lang="en-US" altLang="zh-TW" sz="2400" dirty="0" smtClean="0">
                <a:latin typeface="Times New Roman" panose="02020603050405020304" pitchFamily="18" charset="0"/>
                <a:cs typeface="Times New Roman" panose="02020603050405020304" pitchFamily="18" charset="0"/>
              </a:rPr>
              <a:t>A, thereby 	producing a matrix </a:t>
            </a:r>
            <a:r>
              <a:rPr lang="en-US" altLang="zh-TW" sz="2400" dirty="0">
                <a:latin typeface="Times New Roman" panose="02020603050405020304" pitchFamily="18" charset="0"/>
                <a:cs typeface="Times New Roman" panose="02020603050405020304" pitchFamily="18" charset="0"/>
              </a:rPr>
              <a:t>of the form</a:t>
            </a:r>
          </a:p>
          <a:p>
            <a:pPr lvl="1" algn="just">
              <a:buClr>
                <a:schemeClr val="hlink"/>
              </a:buClr>
            </a:pPr>
            <a:endParaRPr lang="en-US" altLang="zh-TW" sz="2400" dirty="0" smtClean="0">
              <a:latin typeface="Times New Roman" panose="02020603050405020304" pitchFamily="18" charset="0"/>
              <a:cs typeface="Times New Roman" panose="02020603050405020304" pitchFamily="18" charset="0"/>
            </a:endParaRPr>
          </a:p>
          <a:p>
            <a:pPr lvl="1" algn="just">
              <a:buClr>
                <a:schemeClr val="hlink"/>
              </a:buClr>
            </a:pPr>
            <a:endParaRPr lang="en-US" altLang="zh-TW" sz="2400" dirty="0">
              <a:latin typeface="Times New Roman" panose="02020603050405020304" pitchFamily="18" charset="0"/>
              <a:cs typeface="Times New Roman" panose="02020603050405020304" pitchFamily="18" charset="0"/>
            </a:endParaRPr>
          </a:p>
          <a:p>
            <a:pPr lvl="1" algn="just">
              <a:buClr>
                <a:schemeClr val="hlink"/>
              </a:buClr>
              <a:buFont typeface="Wingdings" pitchFamily="2" charset="2"/>
              <a:buChar char="l"/>
            </a:pPr>
            <a:r>
              <a:rPr lang="en-US" altLang="zh-TW" sz="2400" dirty="0">
                <a:latin typeface="Times New Roman" panose="02020603050405020304" pitchFamily="18" charset="0"/>
                <a:cs typeface="Times New Roman" panose="02020603050405020304" pitchFamily="18" charset="0"/>
              </a:rPr>
              <a:t>  we shall apply row operations to this matrix </a:t>
            </a:r>
            <a:r>
              <a:rPr lang="en-US" altLang="zh-TW" sz="2400" dirty="0" smtClean="0">
                <a:latin typeface="Times New Roman" panose="02020603050405020304" pitchFamily="18" charset="0"/>
                <a:cs typeface="Times New Roman" panose="02020603050405020304" pitchFamily="18" charset="0"/>
              </a:rPr>
              <a:t>until the left side is reduced to I ;these 	operations will convert </a:t>
            </a:r>
            <a:r>
              <a:rPr lang="en-US" altLang="zh-TW" sz="2400" dirty="0">
                <a:latin typeface="Times New Roman" panose="02020603050405020304" pitchFamily="18" charset="0"/>
                <a:cs typeface="Times New Roman" panose="02020603050405020304" pitchFamily="18" charset="0"/>
              </a:rPr>
              <a:t>the right side </a:t>
            </a:r>
            <a:r>
              <a:rPr lang="en-US" altLang="zh-TW" sz="2400" dirty="0" smtClean="0">
                <a:latin typeface="Times New Roman" panose="02020603050405020304" pitchFamily="18" charset="0"/>
                <a:cs typeface="Times New Roman" panose="02020603050405020304" pitchFamily="18" charset="0"/>
              </a:rPr>
              <a:t>to,        so </a:t>
            </a:r>
            <a:r>
              <a:rPr lang="en-US" altLang="zh-TW" sz="2400" dirty="0">
                <a:latin typeface="Times New Roman" panose="02020603050405020304" pitchFamily="18" charset="0"/>
                <a:cs typeface="Times New Roman" panose="02020603050405020304" pitchFamily="18" charset="0"/>
              </a:rPr>
              <a:t>that the final </a:t>
            </a:r>
            <a:r>
              <a:rPr lang="en-US" altLang="zh-TW" sz="2400" dirty="0" smtClean="0">
                <a:latin typeface="Times New Roman" panose="02020603050405020304" pitchFamily="18" charset="0"/>
                <a:cs typeface="Times New Roman" panose="02020603050405020304" pitchFamily="18" charset="0"/>
              </a:rPr>
              <a:t>matrix will </a:t>
            </a:r>
            <a:r>
              <a:rPr lang="en-US" altLang="zh-TW" sz="2400" dirty="0">
                <a:latin typeface="Times New Roman" panose="02020603050405020304" pitchFamily="18" charset="0"/>
                <a:cs typeface="Times New Roman" panose="02020603050405020304" pitchFamily="18" charset="0"/>
              </a:rPr>
              <a:t>have the </a:t>
            </a:r>
            <a:r>
              <a:rPr lang="en-US" altLang="zh-TW" sz="2400" dirty="0" smtClean="0">
                <a:latin typeface="Times New Roman" panose="02020603050405020304" pitchFamily="18" charset="0"/>
                <a:cs typeface="Times New Roman" panose="02020603050405020304" pitchFamily="18" charset="0"/>
              </a:rPr>
              <a:t>	form </a:t>
            </a:r>
          </a:p>
          <a:p>
            <a:pPr lvl="1" algn="just">
              <a:buClr>
                <a:schemeClr val="hlink"/>
              </a:buClr>
              <a:buFont typeface="Wingdings" pitchFamily="2" charset="2"/>
              <a:buChar char="l"/>
            </a:pPr>
            <a:endParaRPr lang="en-US" altLang="zh-TW" sz="2400" dirty="0">
              <a:latin typeface="Times New Roman" panose="02020603050405020304" pitchFamily="18" charset="0"/>
              <a:cs typeface="Times New Roman" panose="02020603050405020304" pitchFamily="18" charset="0"/>
            </a:endParaRPr>
          </a:p>
        </p:txBody>
      </p:sp>
      <p:graphicFrame>
        <p:nvGraphicFramePr>
          <p:cNvPr id="14" name="Object 1025"/>
          <p:cNvGraphicFramePr>
            <a:graphicFrameLocks noGrp="1" noChangeAspect="1"/>
          </p:cNvGraphicFramePr>
          <p:nvPr>
            <p:ph sz="quarter" idx="2"/>
            <p:extLst>
              <p:ext uri="{D42A27DB-BD31-4B8C-83A1-F6EECF244321}">
                <p14:modId xmlns:p14="http://schemas.microsoft.com/office/powerpoint/2010/main" val="688075002"/>
              </p:ext>
            </p:extLst>
          </p:nvPr>
        </p:nvGraphicFramePr>
        <p:xfrm>
          <a:off x="5281685" y="1434419"/>
          <a:ext cx="2471666" cy="1871016"/>
        </p:xfrm>
        <a:graphic>
          <a:graphicData uri="http://schemas.openxmlformats.org/presentationml/2006/ole">
            <mc:AlternateContent xmlns:mc="http://schemas.openxmlformats.org/markup-compatibility/2006">
              <mc:Choice xmlns:v="urn:schemas-microsoft-com:vml" Requires="v">
                <p:oleObj spid="_x0000_s1192" name="方程式" r:id="rId5" imgW="939600" imgH="711000" progId="Equation.3">
                  <p:embed/>
                </p:oleObj>
              </mc:Choice>
              <mc:Fallback>
                <p:oleObj name="方程式" r:id="rId5" imgW="939600" imgH="7110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81685" y="1434419"/>
                        <a:ext cx="2471666" cy="1871016"/>
                      </a:xfrm>
                      <a:prstGeom prst="rect">
                        <a:avLst/>
                      </a:prstGeom>
                      <a:noFill/>
                      <a:extLst/>
                    </p:spPr>
                  </p:pic>
                </p:oleObj>
              </mc:Fallback>
            </mc:AlternateContent>
          </a:graphicData>
        </a:graphic>
      </p:graphicFrame>
      <p:graphicFrame>
        <p:nvGraphicFramePr>
          <p:cNvPr id="15" name="Object 1027"/>
          <p:cNvGraphicFramePr>
            <a:graphicFrameLocks noGrp="1" noChangeAspect="1"/>
          </p:cNvGraphicFramePr>
          <p:nvPr>
            <p:ph sz="quarter" idx="4"/>
            <p:extLst>
              <p:ext uri="{D42A27DB-BD31-4B8C-83A1-F6EECF244321}">
                <p14:modId xmlns:p14="http://schemas.microsoft.com/office/powerpoint/2010/main" val="2193502023"/>
              </p:ext>
            </p:extLst>
          </p:nvPr>
        </p:nvGraphicFramePr>
        <p:xfrm>
          <a:off x="6357419" y="3788578"/>
          <a:ext cx="1107906" cy="671524"/>
        </p:xfrm>
        <a:graphic>
          <a:graphicData uri="http://schemas.openxmlformats.org/presentationml/2006/ole">
            <mc:AlternateContent xmlns:mc="http://schemas.openxmlformats.org/markup-compatibility/2006">
              <mc:Choice xmlns:v="urn:schemas-microsoft-com:vml" Requires="v">
                <p:oleObj spid="_x0000_s1193" name="方程式" r:id="rId7" imgW="419040" imgH="253800" progId="Equation.3">
                  <p:embed/>
                </p:oleObj>
              </mc:Choice>
              <mc:Fallback>
                <p:oleObj name="方程式" r:id="rId7" imgW="419040" imgH="2538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57419" y="3788578"/>
                        <a:ext cx="1107906" cy="671524"/>
                      </a:xfrm>
                      <a:prstGeom prst="rect">
                        <a:avLst/>
                      </a:prstGeom>
                      <a:noFill/>
                      <a:extLst/>
                    </p:spPr>
                  </p:pic>
                </p:oleObj>
              </mc:Fallback>
            </mc:AlternateContent>
          </a:graphicData>
        </a:graphic>
      </p:graphicFrame>
      <p:graphicFrame>
        <p:nvGraphicFramePr>
          <p:cNvPr id="16" name="Object 1028"/>
          <p:cNvGraphicFramePr>
            <a:graphicFrameLocks noChangeAspect="1"/>
          </p:cNvGraphicFramePr>
          <p:nvPr>
            <p:extLst>
              <p:ext uri="{D42A27DB-BD31-4B8C-83A1-F6EECF244321}">
                <p14:modId xmlns:p14="http://schemas.microsoft.com/office/powerpoint/2010/main" val="1027636068"/>
              </p:ext>
            </p:extLst>
          </p:nvPr>
        </p:nvGraphicFramePr>
        <p:xfrm>
          <a:off x="6447434" y="4992950"/>
          <a:ext cx="604167" cy="477559"/>
        </p:xfrm>
        <a:graphic>
          <a:graphicData uri="http://schemas.openxmlformats.org/presentationml/2006/ole">
            <mc:AlternateContent xmlns:mc="http://schemas.openxmlformats.org/markup-compatibility/2006">
              <mc:Choice xmlns:v="urn:schemas-microsoft-com:vml" Requires="v">
                <p:oleObj spid="_x0000_s1194" name="方程式" r:id="rId9" imgW="241200" imgH="190440" progId="Equation.3">
                  <p:embed/>
                </p:oleObj>
              </mc:Choice>
              <mc:Fallback>
                <p:oleObj name="方程式" r:id="rId9" imgW="24120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47434" y="4992950"/>
                        <a:ext cx="604167" cy="477559"/>
                      </a:xfrm>
                      <a:prstGeom prst="rect">
                        <a:avLst/>
                      </a:prstGeom>
                      <a:noFill/>
                      <a:extLst/>
                    </p:spPr>
                  </p:pic>
                </p:oleObj>
              </mc:Fallback>
            </mc:AlternateContent>
          </a:graphicData>
        </a:graphic>
      </p:graphicFrame>
      <p:graphicFrame>
        <p:nvGraphicFramePr>
          <p:cNvPr id="17" name="Object 1026"/>
          <p:cNvGraphicFramePr>
            <a:graphicFrameLocks noGrp="1" noChangeAspect="1"/>
          </p:cNvGraphicFramePr>
          <p:nvPr>
            <p:ph sz="quarter" idx="3"/>
            <p:extLst>
              <p:ext uri="{D42A27DB-BD31-4B8C-83A1-F6EECF244321}">
                <p14:modId xmlns:p14="http://schemas.microsoft.com/office/powerpoint/2010/main" val="264803148"/>
              </p:ext>
            </p:extLst>
          </p:nvPr>
        </p:nvGraphicFramePr>
        <p:xfrm>
          <a:off x="5747268" y="5820150"/>
          <a:ext cx="1400332" cy="683089"/>
        </p:xfrm>
        <a:graphic>
          <a:graphicData uri="http://schemas.openxmlformats.org/presentationml/2006/ole">
            <mc:AlternateContent xmlns:mc="http://schemas.openxmlformats.org/markup-compatibility/2006">
              <mc:Choice xmlns:v="urn:schemas-microsoft-com:vml" Requires="v">
                <p:oleObj spid="_x0000_s1195" name="方程式" r:id="rId10" imgW="520560" imgH="253800" progId="Equation.3">
                  <p:embed/>
                </p:oleObj>
              </mc:Choice>
              <mc:Fallback>
                <p:oleObj name="方程式" r:id="rId10" imgW="520560" imgH="253800" progId="Equation.3">
                  <p:embed/>
                  <p:pic>
                    <p:nvPicPr>
                      <p:cNvPr id="0" name=""/>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747268" y="5820150"/>
                        <a:ext cx="1400332" cy="683089"/>
                      </a:xfrm>
                      <a:prstGeom prst="rect">
                        <a:avLst/>
                      </a:prstGeom>
                      <a:noFill/>
                      <a:extLst/>
                    </p:spPr>
                  </p:pic>
                </p:oleObj>
              </mc:Fallback>
            </mc:AlternateContent>
          </a:graphicData>
        </a:graphic>
      </p:graphicFrame>
    </p:spTree>
    <p:extLst>
      <p:ext uri="{BB962C8B-B14F-4D97-AF65-F5344CB8AC3E}">
        <p14:creationId xmlns:p14="http://schemas.microsoft.com/office/powerpoint/2010/main" val="235872372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8" name="Rectangle 2"/>
          <p:cNvSpPr>
            <a:spLocks noGrp="1" noChangeArrowheads="1"/>
          </p:cNvSpPr>
          <p:nvPr>
            <p:ph type="title"/>
          </p:nvPr>
        </p:nvSpPr>
        <p:spPr>
          <a:xfrm>
            <a:off x="2351089" y="214314"/>
            <a:ext cx="8116887" cy="1462087"/>
          </a:xfrm>
        </p:spPr>
        <p:txBody>
          <a:bodyPr>
            <a:normAutofit fontScale="90000"/>
          </a:bodyPr>
          <a:lstStyle/>
          <a:p>
            <a:r>
              <a:rPr lang="en-US" altLang="zh-TW" dirty="0"/>
              <a:t/>
            </a:r>
            <a:br>
              <a:rPr lang="en-US" altLang="zh-TW" dirty="0"/>
            </a:br>
            <a:r>
              <a:rPr lang="en-US" altLang="zh-TW" dirty="0"/>
              <a:t>Using Row Operations to Find      </a:t>
            </a:r>
            <a:r>
              <a:rPr lang="en-US" altLang="zh-TW" dirty="0" smtClean="0"/>
              <a:t>(</a:t>
            </a:r>
            <a:r>
              <a:rPr lang="en-US" altLang="zh-TW" dirty="0"/>
              <a:t>2/3)    </a:t>
            </a:r>
          </a:p>
        </p:txBody>
      </p:sp>
      <p:graphicFrame>
        <p:nvGraphicFramePr>
          <p:cNvPr id="143360" name="Object 1024"/>
          <p:cNvGraphicFramePr>
            <a:graphicFrameLocks noGrp="1" noChangeAspect="1"/>
          </p:cNvGraphicFramePr>
          <p:nvPr>
            <p:ph sz="quarter" idx="13"/>
            <p:extLst>
              <p:ext uri="{D42A27DB-BD31-4B8C-83A1-F6EECF244321}">
                <p14:modId xmlns:p14="http://schemas.microsoft.com/office/powerpoint/2010/main" val="2756082031"/>
              </p:ext>
            </p:extLst>
          </p:nvPr>
        </p:nvGraphicFramePr>
        <p:xfrm>
          <a:off x="8680450" y="946150"/>
          <a:ext cx="649288" cy="512763"/>
        </p:xfrm>
        <a:graphic>
          <a:graphicData uri="http://schemas.openxmlformats.org/presentationml/2006/ole">
            <mc:AlternateContent xmlns:mc="http://schemas.openxmlformats.org/markup-compatibility/2006">
              <mc:Choice xmlns:v="urn:schemas-microsoft-com:vml" Requires="v">
                <p:oleObj spid="_x0000_s2083" name="方程式" r:id="rId3" imgW="241200" imgH="190440" progId="Equation.3">
                  <p:embed/>
                </p:oleObj>
              </mc:Choice>
              <mc:Fallback>
                <p:oleObj name="方程式" r:id="rId3" imgW="24120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80450" y="946150"/>
                        <a:ext cx="649288" cy="512763"/>
                      </a:xfrm>
                      <a:prstGeom prst="rect">
                        <a:avLst/>
                      </a:prstGeom>
                      <a:noFill/>
                      <a:extLst/>
                    </p:spPr>
                  </p:pic>
                </p:oleObj>
              </mc:Fallback>
            </mc:AlternateContent>
          </a:graphicData>
        </a:graphic>
      </p:graphicFrame>
      <p:pic>
        <p:nvPicPr>
          <p:cNvPr id="106500" name="Picture 4"/>
          <p:cNvPicPr>
            <a:picLocks noGrp="1" noChangeAspect="1" noChangeArrowheads="1"/>
          </p:cNvPicPr>
          <p:nvPr>
            <p:ph sz="quarter" idx="14"/>
          </p:nvPr>
        </p:nvPicPr>
        <p:blipFill>
          <a:blip r:embed="rId5"/>
          <a:srcRect/>
          <a:stretch>
            <a:fillRect/>
          </a:stretch>
        </p:blipFill>
        <p:spPr>
          <a:xfrm>
            <a:off x="615170" y="1458913"/>
            <a:ext cx="10663056" cy="5318334"/>
          </a:xfrm>
          <a:noFill/>
          <a:ln/>
        </p:spPr>
      </p:pic>
      <p:sp>
        <p:nvSpPr>
          <p:cNvPr id="2" name="Slide Number Placeholder 1"/>
          <p:cNvSpPr>
            <a:spLocks noGrp="1"/>
          </p:cNvSpPr>
          <p:nvPr>
            <p:ph type="sldNum" sz="quarter" idx="12"/>
          </p:nvPr>
        </p:nvSpPr>
        <p:spPr/>
        <p:txBody>
          <a:bodyPr/>
          <a:lstStyle/>
          <a:p>
            <a:fld id="{8FAE5F5B-D033-4948-A552-0387E2E5927C}" type="slidenum">
              <a:rPr lang="zh-TW" altLang="en-US" smtClean="0"/>
              <a:pPr/>
              <a:t>21</a:t>
            </a:fld>
            <a:endParaRPr lang="en-US" altLang="zh-TW"/>
          </a:p>
        </p:txBody>
      </p:sp>
    </p:spTree>
    <p:extLst>
      <p:ext uri="{BB962C8B-B14F-4D97-AF65-F5344CB8AC3E}">
        <p14:creationId xmlns:p14="http://schemas.microsoft.com/office/powerpoint/2010/main" val="33332089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a:xfrm>
            <a:off x="2351089" y="214314"/>
            <a:ext cx="8116887" cy="1462087"/>
          </a:xfrm>
        </p:spPr>
        <p:txBody>
          <a:bodyPr>
            <a:normAutofit fontScale="90000"/>
          </a:bodyPr>
          <a:lstStyle/>
          <a:p>
            <a:r>
              <a:rPr lang="en-US" altLang="zh-TW"/>
              <a:t>Example4</a:t>
            </a:r>
            <a:br>
              <a:rPr lang="en-US" altLang="zh-TW"/>
            </a:br>
            <a:r>
              <a:rPr lang="en-US" altLang="zh-TW"/>
              <a:t>Using Row Operations to Find      (3/3)    </a:t>
            </a:r>
          </a:p>
        </p:txBody>
      </p:sp>
      <p:graphicFrame>
        <p:nvGraphicFramePr>
          <p:cNvPr id="144384" name="Object 1024"/>
          <p:cNvGraphicFramePr>
            <a:graphicFrameLocks noGrp="1" noChangeAspect="1"/>
          </p:cNvGraphicFramePr>
          <p:nvPr>
            <p:ph sz="quarter" idx="13"/>
            <p:extLst>
              <p:ext uri="{D42A27DB-BD31-4B8C-83A1-F6EECF244321}">
                <p14:modId xmlns:p14="http://schemas.microsoft.com/office/powerpoint/2010/main" val="349167238"/>
              </p:ext>
            </p:extLst>
          </p:nvPr>
        </p:nvGraphicFramePr>
        <p:xfrm>
          <a:off x="8694738" y="946150"/>
          <a:ext cx="649287" cy="512763"/>
        </p:xfrm>
        <a:graphic>
          <a:graphicData uri="http://schemas.openxmlformats.org/presentationml/2006/ole">
            <mc:AlternateContent xmlns:mc="http://schemas.openxmlformats.org/markup-compatibility/2006">
              <mc:Choice xmlns:v="urn:schemas-microsoft-com:vml" Requires="v">
                <p:oleObj spid="_x0000_s3107" name="方程式" r:id="rId3" imgW="241200" imgH="190440" progId="Equation.3">
                  <p:embed/>
                </p:oleObj>
              </mc:Choice>
              <mc:Fallback>
                <p:oleObj name="方程式" r:id="rId3" imgW="241200" imgH="1904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94738" y="946150"/>
                        <a:ext cx="649287"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7524" name="Picture 4"/>
          <p:cNvPicPr>
            <a:picLocks noGrp="1" noChangeAspect="1" noChangeArrowheads="1"/>
          </p:cNvPicPr>
          <p:nvPr>
            <p:ph sz="quarter" idx="14"/>
          </p:nvPr>
        </p:nvPicPr>
        <p:blipFill>
          <a:blip r:embed="rId5"/>
          <a:srcRect/>
          <a:stretch>
            <a:fillRect/>
          </a:stretch>
        </p:blipFill>
        <p:spPr>
          <a:xfrm>
            <a:off x="313899" y="1458913"/>
            <a:ext cx="11341289" cy="5289430"/>
          </a:xfrm>
        </p:spPr>
      </p:pic>
      <p:sp>
        <p:nvSpPr>
          <p:cNvPr id="2" name="Slide Number Placeholder 1"/>
          <p:cNvSpPr>
            <a:spLocks noGrp="1"/>
          </p:cNvSpPr>
          <p:nvPr>
            <p:ph type="sldNum" sz="quarter" idx="12"/>
          </p:nvPr>
        </p:nvSpPr>
        <p:spPr/>
        <p:txBody>
          <a:bodyPr/>
          <a:lstStyle/>
          <a:p>
            <a:fld id="{8FAE5F5B-D033-4948-A552-0387E2E5927C}" type="slidenum">
              <a:rPr lang="zh-TW" altLang="en-US" smtClean="0"/>
              <a:pPr/>
              <a:t>22</a:t>
            </a:fld>
            <a:endParaRPr lang="en-US" altLang="zh-TW"/>
          </a:p>
        </p:txBody>
      </p:sp>
    </p:spTree>
    <p:extLst>
      <p:ext uri="{BB962C8B-B14F-4D97-AF65-F5344CB8AC3E}">
        <p14:creationId xmlns:p14="http://schemas.microsoft.com/office/powerpoint/2010/main" val="1645348995"/>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6" name="Rectangle 2"/>
          <p:cNvSpPr>
            <a:spLocks noGrp="1" noChangeArrowheads="1"/>
          </p:cNvSpPr>
          <p:nvPr>
            <p:ph type="title"/>
          </p:nvPr>
        </p:nvSpPr>
        <p:spPr>
          <a:xfrm>
            <a:off x="2495550" y="333376"/>
            <a:ext cx="8280400" cy="1414463"/>
          </a:xfrm>
        </p:spPr>
        <p:txBody>
          <a:bodyPr>
            <a:normAutofit fontScale="90000"/>
          </a:bodyPr>
          <a:lstStyle/>
          <a:p>
            <a:r>
              <a:rPr lang="en-US" altLang="zh-TW" dirty="0"/>
              <a:t/>
            </a:r>
            <a:br>
              <a:rPr lang="en-US" altLang="zh-TW" dirty="0"/>
            </a:br>
            <a:r>
              <a:rPr lang="en-US" altLang="zh-TW" dirty="0"/>
              <a:t>Showing That a Matrix Is Not Invertible</a:t>
            </a:r>
          </a:p>
        </p:txBody>
      </p:sp>
      <p:pic>
        <p:nvPicPr>
          <p:cNvPr id="108547" name="Picture 3"/>
          <p:cNvPicPr>
            <a:picLocks noGrp="1" noChangeAspect="1" noChangeArrowheads="1"/>
          </p:cNvPicPr>
          <p:nvPr>
            <p:ph sz="quarter" idx="13"/>
          </p:nvPr>
        </p:nvPicPr>
        <p:blipFill>
          <a:blip r:embed="rId2"/>
          <a:stretch>
            <a:fillRect/>
          </a:stretch>
        </p:blipFill>
        <p:spPr>
          <a:xfrm>
            <a:off x="914399" y="1557785"/>
            <a:ext cx="10208525" cy="5147816"/>
          </a:xfrm>
        </p:spPr>
      </p:pic>
      <p:sp>
        <p:nvSpPr>
          <p:cNvPr id="2" name="Slide Number Placeholder 1"/>
          <p:cNvSpPr>
            <a:spLocks noGrp="1"/>
          </p:cNvSpPr>
          <p:nvPr>
            <p:ph type="sldNum" sz="quarter" idx="12"/>
          </p:nvPr>
        </p:nvSpPr>
        <p:spPr/>
        <p:txBody>
          <a:bodyPr/>
          <a:lstStyle/>
          <a:p>
            <a:fld id="{D250DEC5-8428-4FF1-BC6C-A1BB46B1D35A}" type="slidenum">
              <a:rPr lang="zh-TW" altLang="en-US" smtClean="0"/>
              <a:pPr/>
              <a:t>23</a:t>
            </a:fld>
            <a:endParaRPr lang="en-US" altLang="zh-TW"/>
          </a:p>
        </p:txBody>
      </p:sp>
    </p:spTree>
    <p:extLst>
      <p:ext uri="{BB962C8B-B14F-4D97-AF65-F5344CB8AC3E}">
        <p14:creationId xmlns:p14="http://schemas.microsoft.com/office/powerpoint/2010/main" val="332552067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2388" y="185872"/>
            <a:ext cx="10645253" cy="6504374"/>
          </a:xfrm>
          <a:prstGeom prst="rect">
            <a:avLst/>
          </a:prstGeom>
        </p:spPr>
      </p:pic>
    </p:spTree>
    <p:extLst>
      <p:ext uri="{BB962C8B-B14F-4D97-AF65-F5344CB8AC3E}">
        <p14:creationId xmlns:p14="http://schemas.microsoft.com/office/powerpoint/2010/main" val="16623646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41776" y="315029"/>
            <a:ext cx="8994045" cy="6276839"/>
          </a:xfrm>
          <a:prstGeom prst="rect">
            <a:avLst/>
          </a:prstGeom>
        </p:spPr>
      </p:pic>
    </p:spTree>
    <p:extLst>
      <p:ext uri="{BB962C8B-B14F-4D97-AF65-F5344CB8AC3E}">
        <p14:creationId xmlns:p14="http://schemas.microsoft.com/office/powerpoint/2010/main" val="2286832122"/>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624085" y="0"/>
            <a:ext cx="9415292" cy="6520267"/>
          </a:xfrm>
          <a:prstGeom prst="rect">
            <a:avLst/>
          </a:prstGeom>
        </p:spPr>
      </p:pic>
    </p:spTree>
    <p:extLst>
      <p:ext uri="{BB962C8B-B14F-4D97-AF65-F5344CB8AC3E}">
        <p14:creationId xmlns:p14="http://schemas.microsoft.com/office/powerpoint/2010/main" val="130845189"/>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18372" y="128625"/>
            <a:ext cx="9699335" cy="4553585"/>
          </a:xfrm>
          <a:prstGeom prst="rect">
            <a:avLst/>
          </a:prstGeom>
        </p:spPr>
      </p:pic>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18371" y="4682209"/>
            <a:ext cx="9699335" cy="1810543"/>
          </a:xfrm>
          <a:prstGeom prst="rect">
            <a:avLst/>
          </a:prstGeom>
        </p:spPr>
      </p:pic>
    </p:spTree>
    <p:extLst>
      <p:ext uri="{BB962C8B-B14F-4D97-AF65-F5344CB8AC3E}">
        <p14:creationId xmlns:p14="http://schemas.microsoft.com/office/powerpoint/2010/main" val="219698111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15679" y="845123"/>
            <a:ext cx="11217478" cy="4600333"/>
          </a:xfrm>
          <a:prstGeom prst="rect">
            <a:avLst/>
          </a:prstGeom>
        </p:spPr>
      </p:pic>
    </p:spTree>
    <p:extLst>
      <p:ext uri="{BB962C8B-B14F-4D97-AF65-F5344CB8AC3E}">
        <p14:creationId xmlns:p14="http://schemas.microsoft.com/office/powerpoint/2010/main" val="3238158522"/>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7251" name="Rectangle 3"/>
          <p:cNvSpPr>
            <a:spLocks noGrp="1" noChangeArrowheads="1"/>
          </p:cNvSpPr>
          <p:nvPr>
            <p:ph type="title"/>
          </p:nvPr>
        </p:nvSpPr>
        <p:spPr>
          <a:extLst>
            <a:ext uri="{FAA26D3D-D897-4be2-8F04-BA451C77F1D7}"/>
          </a:extLst>
        </p:spPr>
        <p:txBody>
          <a:bodyPr/>
          <a:lstStyle/>
          <a:p>
            <a:pPr eaLnBrk="1" hangingPunct="1">
              <a:defRPr/>
            </a:pPr>
            <a:r>
              <a:rPr lang="en-US" dirty="0" smtClean="0">
                <a:ea typeface="+mj-ea"/>
                <a:cs typeface="+mj-cs"/>
              </a:rPr>
              <a:t>Linear Equations in Linear Algebra</a:t>
            </a:r>
          </a:p>
        </p:txBody>
      </p:sp>
      <p:sp>
        <p:nvSpPr>
          <p:cNvPr id="437252" name="Rectangle 4"/>
          <p:cNvSpPr>
            <a:spLocks noGrp="1" noChangeArrowheads="1"/>
          </p:cNvSpPr>
          <p:nvPr>
            <p:ph sz="quarter" idx="13"/>
          </p:nvPr>
        </p:nvSpPr>
        <p:spPr>
          <a:xfrm>
            <a:off x="2228513" y="2136325"/>
            <a:ext cx="10131425" cy="3649133"/>
          </a:xfrm>
          <a:extLst>
            <a:ext uri="{FAA26D3D-D897-4be2-8F04-BA451C77F1D7}"/>
          </a:extLst>
        </p:spPr>
        <p:txBody>
          <a:bodyPr/>
          <a:lstStyle/>
          <a:p>
            <a:pPr eaLnBrk="1" hangingPunct="1">
              <a:defRPr/>
            </a:pPr>
            <a:r>
              <a:rPr lang="en-US" dirty="0" smtClean="0">
                <a:ea typeface="+mn-ea"/>
                <a:cs typeface="+mn-cs"/>
              </a:rPr>
              <a:t>Row Reduction and Echelon Forms</a:t>
            </a:r>
          </a:p>
        </p:txBody>
      </p:sp>
      <p:sp>
        <p:nvSpPr>
          <p:cNvPr id="4100" name="Footer Placeholder 9"/>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Tree>
    <p:extLst>
      <p:ext uri="{BB962C8B-B14F-4D97-AF65-F5344CB8AC3E}">
        <p14:creationId xmlns:p14="http://schemas.microsoft.com/office/powerpoint/2010/main" val="27443287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6418" name="Rectangle 2"/>
          <p:cNvSpPr>
            <a:spLocks noGrp="1" noChangeArrowheads="1"/>
          </p:cNvSpPr>
          <p:nvPr>
            <p:ph type="title"/>
          </p:nvPr>
        </p:nvSpPr>
        <p:spPr>
          <a:xfrm>
            <a:off x="913775" y="0"/>
            <a:ext cx="10364451" cy="1596177"/>
          </a:xfrm>
        </p:spPr>
        <p:txBody>
          <a:bodyPr/>
          <a:lstStyle/>
          <a:p>
            <a:pPr eaLnBrk="1" hangingPunct="1">
              <a:defRPr/>
            </a:pPr>
            <a:r>
              <a:rPr lang="en-US" dirty="0" smtClean="0">
                <a:ea typeface="+mj-ea"/>
                <a:cs typeface="+mj-cs"/>
              </a:rPr>
              <a:t>ECHELON FORM</a:t>
            </a:r>
          </a:p>
        </p:txBody>
      </p:sp>
      <p:sp>
        <p:nvSpPr>
          <p:cNvPr id="316424" name="Rectangle 8"/>
          <p:cNvSpPr>
            <a:spLocks noGrp="1" noChangeArrowheads="1"/>
          </p:cNvSpPr>
          <p:nvPr>
            <p:ph sz="quarter" idx="13"/>
          </p:nvPr>
        </p:nvSpPr>
        <p:spPr>
          <a:xfrm>
            <a:off x="1296537" y="1295400"/>
            <a:ext cx="9981689" cy="4876800"/>
          </a:xfrm>
        </p:spPr>
        <p:txBody>
          <a:bodyPr>
            <a:normAutofit fontScale="92500"/>
          </a:bodyPr>
          <a:lstStyle/>
          <a:p>
            <a:pPr marL="609600" indent="-609600">
              <a:buFont typeface="Wingdings" charset="0"/>
              <a:buChar char="§"/>
              <a:defRPr/>
            </a:pPr>
            <a:r>
              <a:rPr lang="en-US" sz="2800" dirty="0"/>
              <a:t>A rectangular matrix is in </a:t>
            </a:r>
            <a:r>
              <a:rPr lang="en-US" sz="2800" b="1" dirty="0"/>
              <a:t>echelon form </a:t>
            </a:r>
            <a:r>
              <a:rPr lang="en-US" sz="2800" dirty="0"/>
              <a:t>(or </a:t>
            </a:r>
            <a:r>
              <a:rPr lang="en-US" sz="2800" b="1" dirty="0"/>
              <a:t>row echelon form</a:t>
            </a:r>
            <a:r>
              <a:rPr lang="en-US" sz="2800" dirty="0"/>
              <a:t>) if it has the following three properties:</a:t>
            </a:r>
          </a:p>
          <a:p>
            <a:pPr marL="1371600" lvl="2" indent="-457200">
              <a:buFont typeface="Wingdings" charset="0"/>
              <a:buAutoNum type="arabicPeriod"/>
              <a:defRPr/>
            </a:pPr>
            <a:r>
              <a:rPr lang="en-US" sz="2800" dirty="0"/>
              <a:t>All nonzero rows are above any rows of all zeros.</a:t>
            </a:r>
          </a:p>
          <a:p>
            <a:pPr marL="1371600" lvl="2" indent="-457200">
              <a:buFont typeface="Wingdings" charset="0"/>
              <a:buAutoNum type="arabicPeriod"/>
              <a:defRPr/>
            </a:pPr>
            <a:r>
              <a:rPr lang="en-US" sz="2800" dirty="0"/>
              <a:t>Each leading entry of a row is in a column to the right of the leading entry of the row above it.</a:t>
            </a:r>
          </a:p>
          <a:p>
            <a:pPr marL="1371600" lvl="2" indent="-457200">
              <a:buFont typeface="Wingdings" charset="0"/>
              <a:buAutoNum type="arabicPeriod"/>
              <a:defRPr/>
            </a:pPr>
            <a:r>
              <a:rPr lang="en-US" sz="2800" dirty="0"/>
              <a:t>All entries in a column below a leading entry are zeros.</a:t>
            </a:r>
          </a:p>
        </p:txBody>
      </p:sp>
    </p:spTree>
    <p:extLst>
      <p:ext uri="{BB962C8B-B14F-4D97-AF65-F5344CB8AC3E}">
        <p14:creationId xmlns:p14="http://schemas.microsoft.com/office/powerpoint/2010/main" val="19746269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316424">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316424">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316424">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316424">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ea typeface="+mj-ea"/>
                <a:cs typeface="+mj-cs"/>
              </a:rPr>
              <a:t>Example of matrix in Echelon Form</a:t>
            </a:r>
          </a:p>
        </p:txBody>
      </p:sp>
      <p:sp>
        <p:nvSpPr>
          <p:cNvPr id="3" name="Content Placeholder 2"/>
          <p:cNvSpPr>
            <a:spLocks noGrp="1"/>
          </p:cNvSpPr>
          <p:nvPr>
            <p:ph sz="quarter" idx="13"/>
          </p:nvPr>
        </p:nvSpPr>
        <p:spPr/>
        <p:txBody>
          <a:bodyPr/>
          <a:lstStyle/>
          <a:p>
            <a:pPr eaLnBrk="1" hangingPunct="1">
              <a:buFont typeface="Wingdings" charset="0"/>
              <a:buChar char="§"/>
              <a:defRPr/>
            </a:pPr>
            <a:r>
              <a:rPr lang="en-US" dirty="0" smtClean="0">
                <a:ea typeface="+mn-ea"/>
                <a:cs typeface="+mn-cs"/>
              </a:rPr>
              <a:t>Matrix in Echelon form</a:t>
            </a:r>
          </a:p>
        </p:txBody>
      </p:sp>
      <p:sp>
        <p:nvSpPr>
          <p:cNvPr id="819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819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EB33FF20-8784-4D1C-B631-2DC220B902A7}" type="slidenum">
              <a:rPr lang="en-US" altLang="en-US" sz="1200">
                <a:latin typeface="Arial" panose="020B0604020202020204" pitchFamily="34" charset="0"/>
              </a:rPr>
              <a:pPr>
                <a:spcBef>
                  <a:spcPct val="0"/>
                </a:spcBef>
                <a:buClrTx/>
                <a:buFontTx/>
                <a:buNone/>
              </a:pPr>
              <a:t>31</a:t>
            </a:fld>
            <a:endParaRPr lang="en-CA" altLang="en-US" sz="1200">
              <a:latin typeface="Arial" panose="020B0604020202020204" pitchFamily="34" charset="0"/>
            </a:endParaRPr>
          </a:p>
        </p:txBody>
      </p:sp>
      <p:graphicFrame>
        <p:nvGraphicFramePr>
          <p:cNvPr id="6" name="Object 4"/>
          <p:cNvGraphicFramePr>
            <a:graphicFrameLocks noChangeAspect="1"/>
          </p:cNvGraphicFramePr>
          <p:nvPr>
            <p:extLst>
              <p:ext uri="{D42A27DB-BD31-4B8C-83A1-F6EECF244321}">
                <p14:modId xmlns:p14="http://schemas.microsoft.com/office/powerpoint/2010/main" val="1884675307"/>
              </p:ext>
            </p:extLst>
          </p:nvPr>
        </p:nvGraphicFramePr>
        <p:xfrm>
          <a:off x="4495801" y="2904226"/>
          <a:ext cx="3160713" cy="2209800"/>
        </p:xfrm>
        <a:graphic>
          <a:graphicData uri="http://schemas.openxmlformats.org/presentationml/2006/ole">
            <mc:AlternateContent xmlns:mc="http://schemas.openxmlformats.org/markup-compatibility/2006">
              <mc:Choice xmlns:v="urn:schemas-microsoft-com:vml" Requires="v">
                <p:oleObj spid="_x0000_s4125" name="Equation" r:id="rId3" imgW="3378200" imgH="2362200" progId="Equation.3">
                  <p:embed/>
                </p:oleObj>
              </mc:Choice>
              <mc:Fallback>
                <p:oleObj name="Equation" r:id="rId3" imgW="3378200" imgH="2362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1" y="2904226"/>
                        <a:ext cx="3160713" cy="2209800"/>
                      </a:xfrm>
                      <a:prstGeom prst="rect">
                        <a:avLst/>
                      </a:prstGeom>
                      <a:solidFill>
                        <a:schemeClr val="accent3">
                          <a:lumMod val="40000"/>
                          <a:lumOff val="60000"/>
                        </a:schemeClr>
                      </a:solidFill>
                      <a:ln>
                        <a:noFill/>
                      </a:ln>
                      <a:effectLst/>
                      <a:extLst/>
                    </p:spPr>
                  </p:pic>
                </p:oleObj>
              </mc:Fallback>
            </mc:AlternateContent>
          </a:graphicData>
        </a:graphic>
      </p:graphicFrame>
    </p:spTree>
    <p:extLst>
      <p:ext uri="{BB962C8B-B14F-4D97-AF65-F5344CB8AC3E}">
        <p14:creationId xmlns:p14="http://schemas.microsoft.com/office/powerpoint/2010/main" val="34411877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0"/>
            <a:ext cx="12192000" cy="2496313"/>
          </a:xfrm>
          <a:prstGeom prst="rect">
            <a:avLst/>
          </a:prstGeom>
        </p:spPr>
      </p:pic>
      <p:pic>
        <p:nvPicPr>
          <p:cNvPr id="12" name="Picture 1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2496313"/>
            <a:ext cx="4434756" cy="2055026"/>
          </a:xfrm>
          <a:prstGeom prst="rect">
            <a:avLst/>
          </a:prstGeom>
        </p:spPr>
      </p:pic>
      <p:pic>
        <p:nvPicPr>
          <p:cNvPr id="13" name="Picture 1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34757" y="2496313"/>
            <a:ext cx="4122390" cy="2055026"/>
          </a:xfrm>
          <a:prstGeom prst="rect">
            <a:avLst/>
          </a:prstGeom>
        </p:spPr>
      </p:pic>
      <p:pic>
        <p:nvPicPr>
          <p:cNvPr id="14" name="Picture 13"/>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57148" y="2431498"/>
            <a:ext cx="3634854" cy="2010724"/>
          </a:xfrm>
          <a:prstGeom prst="rect">
            <a:avLst/>
          </a:prstGeom>
        </p:spPr>
      </p:pic>
      <p:pic>
        <p:nvPicPr>
          <p:cNvPr id="15" name="Picture 1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 y="4551339"/>
            <a:ext cx="3805267" cy="2306661"/>
          </a:xfrm>
          <a:prstGeom prst="rect">
            <a:avLst/>
          </a:prstGeom>
        </p:spPr>
      </p:pic>
      <p:pic>
        <p:nvPicPr>
          <p:cNvPr id="16" name="Picture 15"/>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806129" y="4551339"/>
            <a:ext cx="3880993" cy="2306661"/>
          </a:xfrm>
          <a:prstGeom prst="rect">
            <a:avLst/>
          </a:prstGeom>
        </p:spPr>
      </p:pic>
      <p:pic>
        <p:nvPicPr>
          <p:cNvPr id="17" name="Picture 16"/>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687122" y="4442222"/>
            <a:ext cx="4504879" cy="2415778"/>
          </a:xfrm>
          <a:prstGeom prst="rect">
            <a:avLst/>
          </a:prstGeom>
        </p:spPr>
      </p:pic>
    </p:spTree>
    <p:extLst>
      <p:ext uri="{BB962C8B-B14F-4D97-AF65-F5344CB8AC3E}">
        <p14:creationId xmlns:p14="http://schemas.microsoft.com/office/powerpoint/2010/main" val="300616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anim calcmode="lin" valueType="num">
                                      <p:cBhvr additive="base">
                                        <p:cTn id="7" dur="500" fill="hold"/>
                                        <p:tgtEl>
                                          <p:spTgt spid="11"/>
                                        </p:tgtEl>
                                        <p:attrNameLst>
                                          <p:attrName>ppt_x</p:attrName>
                                        </p:attrNameLst>
                                      </p:cBhvr>
                                      <p:tavLst>
                                        <p:tav tm="0">
                                          <p:val>
                                            <p:strVal val="#ppt_x"/>
                                          </p:val>
                                        </p:tav>
                                        <p:tav tm="100000">
                                          <p:val>
                                            <p:strVal val="#ppt_x"/>
                                          </p:val>
                                        </p:tav>
                                      </p:tavLst>
                                    </p:anim>
                                    <p:anim calcmode="lin" valueType="num">
                                      <p:cBhvr additive="base">
                                        <p:cTn id="8"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6" presetClass="entr" presetSubtype="21" fill="hold" nodeType="click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barn(inVertical)">
                                      <p:cBhvr>
                                        <p:cTn id="13" dur="500"/>
                                        <p:tgtEl>
                                          <p:spTgt spid="12"/>
                                        </p:tgtEl>
                                      </p:cBhvr>
                                    </p:animEffect>
                                  </p:childTnLst>
                                </p:cTn>
                              </p:par>
                            </p:childTnLst>
                          </p:cTn>
                        </p:par>
                      </p:childTnLst>
                    </p:cTn>
                  </p:par>
                  <p:par>
                    <p:cTn id="14" fill="hold">
                      <p:stCondLst>
                        <p:cond delay="indefinite"/>
                      </p:stCondLst>
                      <p:childTnLst>
                        <p:par>
                          <p:cTn id="15" fill="hold">
                            <p:stCondLst>
                              <p:cond delay="0"/>
                            </p:stCondLst>
                            <p:childTnLst>
                              <p:par>
                                <p:cTn id="16" presetID="6" presetClass="entr" presetSubtype="16" fill="hold" nodeType="click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circle(in)">
                                      <p:cBhvr>
                                        <p:cTn id="18" dur="20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6" presetClass="entr" presetSubtype="16" fill="hold" nodeType="clickEffect">
                                  <p:stCondLst>
                                    <p:cond delay="0"/>
                                  </p:stCondLst>
                                  <p:childTnLst>
                                    <p:set>
                                      <p:cBhvr>
                                        <p:cTn id="22" dur="1" fill="hold">
                                          <p:stCondLst>
                                            <p:cond delay="0"/>
                                          </p:stCondLst>
                                        </p:cTn>
                                        <p:tgtEl>
                                          <p:spTgt spid="14"/>
                                        </p:tgtEl>
                                        <p:attrNameLst>
                                          <p:attrName>style.visibility</p:attrName>
                                        </p:attrNameLst>
                                      </p:cBhvr>
                                      <p:to>
                                        <p:strVal val="visible"/>
                                      </p:to>
                                    </p:set>
                                    <p:animEffect transition="in" filter="circle(in)">
                                      <p:cBhvr>
                                        <p:cTn id="23" dur="2000"/>
                                        <p:tgtEl>
                                          <p:spTgt spid="14"/>
                                        </p:tgtEl>
                                      </p:cBhvr>
                                    </p:animEffect>
                                  </p:childTnLst>
                                </p:cTn>
                              </p:par>
                            </p:childTnLst>
                          </p:cTn>
                        </p:par>
                      </p:childTnLst>
                    </p:cTn>
                  </p:par>
                  <p:par>
                    <p:cTn id="24" fill="hold">
                      <p:stCondLst>
                        <p:cond delay="indefinite"/>
                      </p:stCondLst>
                      <p:childTnLst>
                        <p:par>
                          <p:cTn id="25" fill="hold">
                            <p:stCondLst>
                              <p:cond delay="0"/>
                            </p:stCondLst>
                            <p:childTnLst>
                              <p:par>
                                <p:cTn id="26" presetID="2" presetClass="entr" presetSubtype="4" fill="hold" nodeType="clickEffect">
                                  <p:stCondLst>
                                    <p:cond delay="0"/>
                                  </p:stCondLst>
                                  <p:childTnLst>
                                    <p:set>
                                      <p:cBhvr>
                                        <p:cTn id="27" dur="1" fill="hold">
                                          <p:stCondLst>
                                            <p:cond delay="0"/>
                                          </p:stCondLst>
                                        </p:cTn>
                                        <p:tgtEl>
                                          <p:spTgt spid="15"/>
                                        </p:tgtEl>
                                        <p:attrNameLst>
                                          <p:attrName>style.visibility</p:attrName>
                                        </p:attrNameLst>
                                      </p:cBhvr>
                                      <p:to>
                                        <p:strVal val="visible"/>
                                      </p:to>
                                    </p:set>
                                    <p:anim calcmode="lin" valueType="num">
                                      <p:cBhvr additive="base">
                                        <p:cTn id="28" dur="500" fill="hold"/>
                                        <p:tgtEl>
                                          <p:spTgt spid="15"/>
                                        </p:tgtEl>
                                        <p:attrNameLst>
                                          <p:attrName>ppt_x</p:attrName>
                                        </p:attrNameLst>
                                      </p:cBhvr>
                                      <p:tavLst>
                                        <p:tav tm="0">
                                          <p:val>
                                            <p:strVal val="#ppt_x"/>
                                          </p:val>
                                        </p:tav>
                                        <p:tav tm="100000">
                                          <p:val>
                                            <p:strVal val="#ppt_x"/>
                                          </p:val>
                                        </p:tav>
                                      </p:tavLst>
                                    </p:anim>
                                    <p:anim calcmode="lin" valueType="num">
                                      <p:cBhvr additive="base">
                                        <p:cTn id="29"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barn(inVertical)">
                                      <p:cBhvr>
                                        <p:cTn id="34" dur="500"/>
                                        <p:tgtEl>
                                          <p:spTgt spid="16"/>
                                        </p:tgtEl>
                                      </p:cBhvr>
                                    </p:animEffec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Grp="1" noChangeArrowheads="1"/>
          </p:cNvSpPr>
          <p:nvPr>
            <p:ph type="title"/>
          </p:nvPr>
        </p:nvSpPr>
        <p:spPr>
          <a:xfrm>
            <a:off x="913774" y="0"/>
            <a:ext cx="10364451" cy="1596177"/>
          </a:xfrm>
        </p:spPr>
        <p:txBody>
          <a:bodyPr/>
          <a:lstStyle/>
          <a:p>
            <a:pPr eaLnBrk="1" hangingPunct="1">
              <a:defRPr/>
            </a:pPr>
            <a:r>
              <a:rPr lang="en-US" dirty="0" smtClean="0">
                <a:ea typeface="+mj-ea"/>
                <a:cs typeface="+mj-cs"/>
              </a:rPr>
              <a:t>ECHELON FORM</a:t>
            </a:r>
          </a:p>
        </p:txBody>
      </p:sp>
      <p:sp>
        <p:nvSpPr>
          <p:cNvPr id="653315" name="Rectangle 3"/>
          <p:cNvSpPr>
            <a:spLocks noGrp="1" noChangeArrowheads="1"/>
          </p:cNvSpPr>
          <p:nvPr>
            <p:ph sz="quarter" idx="13"/>
          </p:nvPr>
        </p:nvSpPr>
        <p:spPr>
          <a:xfrm>
            <a:off x="913774" y="1425396"/>
            <a:ext cx="10363826" cy="4156538"/>
          </a:xfrm>
        </p:spPr>
        <p:txBody>
          <a:bodyPr>
            <a:normAutofit fontScale="92500" lnSpcReduction="10000"/>
          </a:bodyPr>
          <a:lstStyle/>
          <a:p>
            <a:pPr eaLnBrk="1" hangingPunct="1">
              <a:buFont typeface="Wingdings" charset="0"/>
              <a:buChar char="§"/>
              <a:defRPr/>
            </a:pPr>
            <a:r>
              <a:rPr lang="en-US" sz="2800" dirty="0"/>
              <a:t>If a matrix in echelon form satisfies the following additional conditions, then it is in </a:t>
            </a:r>
            <a:r>
              <a:rPr lang="en-US" sz="2800" b="1" dirty="0"/>
              <a:t>reduced echelon form</a:t>
            </a:r>
            <a:r>
              <a:rPr lang="en-US" sz="2800" dirty="0"/>
              <a:t> (or </a:t>
            </a:r>
            <a:r>
              <a:rPr lang="en-US" sz="2800" b="1" dirty="0"/>
              <a:t>reduced row echelon form</a:t>
            </a:r>
            <a:r>
              <a:rPr lang="en-US" sz="2800" dirty="0"/>
              <a:t>):</a:t>
            </a:r>
          </a:p>
          <a:p>
            <a:pPr lvl="1" eaLnBrk="1" hangingPunct="1">
              <a:buFont typeface="Wingdings" charset="0"/>
              <a:buNone/>
              <a:defRPr/>
            </a:pPr>
            <a:r>
              <a:rPr lang="en-US" sz="2400" dirty="0">
                <a:solidFill>
                  <a:srgbClr val="077C97"/>
                </a:solidFill>
              </a:rPr>
              <a:t>	</a:t>
            </a:r>
            <a:r>
              <a:rPr lang="en-US" sz="3800" dirty="0">
                <a:solidFill>
                  <a:srgbClr val="077C97"/>
                </a:solidFill>
              </a:rPr>
              <a:t>4.</a:t>
            </a:r>
            <a:r>
              <a:rPr lang="en-US" sz="3800" dirty="0"/>
              <a:t> </a:t>
            </a:r>
            <a:r>
              <a:rPr lang="en-US" sz="2800" dirty="0" smtClean="0">
                <a:ea typeface="+mn-ea"/>
              </a:rPr>
              <a:t>The leading entry in each nonzero row is 1.</a:t>
            </a:r>
          </a:p>
          <a:p>
            <a:pPr lvl="1" eaLnBrk="1" hangingPunct="1">
              <a:buFont typeface="Wingdings" charset="0"/>
              <a:buNone/>
              <a:defRPr/>
            </a:pPr>
            <a:r>
              <a:rPr lang="en-US" sz="2800" dirty="0" smtClean="0">
                <a:solidFill>
                  <a:srgbClr val="077C97"/>
                </a:solidFill>
                <a:ea typeface="+mn-ea"/>
              </a:rPr>
              <a:t>	5.</a:t>
            </a:r>
            <a:r>
              <a:rPr lang="en-US" sz="2800" dirty="0" smtClean="0">
                <a:ea typeface="+mn-ea"/>
              </a:rPr>
              <a:t> Each leading 1 is the only nonzero entry in its column.</a:t>
            </a:r>
          </a:p>
          <a:p>
            <a:pPr eaLnBrk="1" hangingPunct="1">
              <a:buFont typeface="Wingdings" charset="0"/>
              <a:buChar char="§"/>
              <a:defRPr/>
            </a:pPr>
            <a:r>
              <a:rPr lang="en-US" sz="2800" dirty="0"/>
              <a:t>An </a:t>
            </a:r>
            <a:r>
              <a:rPr lang="en-US" sz="2800" b="1" dirty="0"/>
              <a:t>echelon matrix</a:t>
            </a:r>
            <a:r>
              <a:rPr lang="en-US" sz="2800" dirty="0"/>
              <a:t> (respectively, </a:t>
            </a:r>
            <a:r>
              <a:rPr lang="en-US" sz="2800" b="1" dirty="0"/>
              <a:t>reduced echelon matrix</a:t>
            </a:r>
            <a:r>
              <a:rPr lang="en-US" sz="2800" dirty="0"/>
              <a:t>) is one that is in echelon form (respectively, reduced echelon form.)</a:t>
            </a:r>
          </a:p>
          <a:p>
            <a:pPr eaLnBrk="1" hangingPunct="1">
              <a:buFont typeface="Wingdings" charset="0"/>
              <a:buChar char="§"/>
              <a:defRPr/>
            </a:pPr>
            <a:endParaRPr lang="en-US" dirty="0" smtClean="0">
              <a:ea typeface="+mn-ea"/>
              <a:cs typeface="+mn-cs"/>
            </a:endParaRPr>
          </a:p>
        </p:txBody>
      </p:sp>
      <p:sp>
        <p:nvSpPr>
          <p:cNvPr id="921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921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33DF6292-62A8-4D29-A136-46BC0D6B2EAF}" type="slidenum">
              <a:rPr lang="en-US" altLang="en-US" sz="1200">
                <a:latin typeface="Arial" panose="020B0604020202020204" pitchFamily="34" charset="0"/>
              </a:rPr>
              <a:pPr>
                <a:spcBef>
                  <a:spcPct val="0"/>
                </a:spcBef>
                <a:buClrTx/>
                <a:buFontTx/>
                <a:buNone/>
              </a:pPr>
              <a:t>33</a:t>
            </a:fld>
            <a:endParaRPr lang="en-CA" altLang="en-US" sz="1200">
              <a:latin typeface="Arial" panose="020B0604020202020204" pitchFamily="34" charset="0"/>
            </a:endParaRPr>
          </a:p>
        </p:txBody>
      </p:sp>
    </p:spTree>
    <p:extLst>
      <p:ext uri="{BB962C8B-B14F-4D97-AF65-F5344CB8AC3E}">
        <p14:creationId xmlns:p14="http://schemas.microsoft.com/office/powerpoint/2010/main" val="339928452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331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3315">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53315">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53315">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eaLnBrk="1" hangingPunct="1">
              <a:defRPr/>
            </a:pPr>
            <a:r>
              <a:rPr lang="en-US" dirty="0" smtClean="0">
                <a:ea typeface="+mj-ea"/>
                <a:cs typeface="+mj-cs"/>
              </a:rPr>
              <a:t>Example of matrix in Echelon Form</a:t>
            </a:r>
          </a:p>
        </p:txBody>
      </p:sp>
      <p:sp>
        <p:nvSpPr>
          <p:cNvPr id="3" name="Content Placeholder 2"/>
          <p:cNvSpPr>
            <a:spLocks noGrp="1"/>
          </p:cNvSpPr>
          <p:nvPr>
            <p:ph sz="quarter" idx="13"/>
          </p:nvPr>
        </p:nvSpPr>
        <p:spPr/>
        <p:txBody>
          <a:bodyPr/>
          <a:lstStyle/>
          <a:p>
            <a:pPr eaLnBrk="1" hangingPunct="1">
              <a:buFont typeface="Wingdings" charset="0"/>
              <a:buChar char="§"/>
              <a:defRPr/>
            </a:pPr>
            <a:r>
              <a:rPr lang="en-US" dirty="0" smtClean="0">
                <a:ea typeface="+mn-ea"/>
                <a:cs typeface="+mn-cs"/>
              </a:rPr>
              <a:t>Matrix in Echelon form</a:t>
            </a:r>
          </a:p>
        </p:txBody>
      </p:sp>
      <p:sp>
        <p:nvSpPr>
          <p:cNvPr id="1024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024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FFA87764-BEA0-455C-9348-DD80942B6CED}" type="slidenum">
              <a:rPr lang="en-US" altLang="en-US" sz="1200">
                <a:latin typeface="Arial" panose="020B0604020202020204" pitchFamily="34" charset="0"/>
              </a:rPr>
              <a:pPr>
                <a:spcBef>
                  <a:spcPct val="0"/>
                </a:spcBef>
                <a:buClrTx/>
                <a:buFontTx/>
                <a:buNone/>
              </a:pPr>
              <a:t>34</a:t>
            </a:fld>
            <a:endParaRPr lang="en-CA" altLang="en-US" sz="1200">
              <a:latin typeface="Arial" panose="020B0604020202020204" pitchFamily="34" charset="0"/>
            </a:endParaRPr>
          </a:p>
        </p:txBody>
      </p:sp>
      <p:graphicFrame>
        <p:nvGraphicFramePr>
          <p:cNvPr id="7" name="Object 4"/>
          <p:cNvGraphicFramePr>
            <a:graphicFrameLocks noChangeAspect="1"/>
          </p:cNvGraphicFramePr>
          <p:nvPr/>
        </p:nvGraphicFramePr>
        <p:xfrm>
          <a:off x="3810000" y="4419600"/>
          <a:ext cx="4152900" cy="1778000"/>
        </p:xfrm>
        <a:graphic>
          <a:graphicData uri="http://schemas.openxmlformats.org/presentationml/2006/ole">
            <mc:AlternateContent xmlns:mc="http://schemas.openxmlformats.org/markup-compatibility/2006">
              <mc:Choice xmlns:v="urn:schemas-microsoft-com:vml" Requires="v">
                <p:oleObj spid="_x0000_s5176" name="Equation" r:id="rId3" imgW="4152900" imgH="1778000" progId="Equation.3">
                  <p:embed/>
                </p:oleObj>
              </mc:Choice>
              <mc:Fallback>
                <p:oleObj name="Equation" r:id="rId3" imgW="4152900" imgH="1778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10000" y="4419600"/>
                        <a:ext cx="4152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10247" name="Object 4"/>
          <p:cNvGraphicFramePr>
            <a:graphicFrameLocks noChangeAspect="1"/>
          </p:cNvGraphicFramePr>
          <p:nvPr/>
        </p:nvGraphicFramePr>
        <p:xfrm>
          <a:off x="4419601" y="2209800"/>
          <a:ext cx="2835275" cy="1828800"/>
        </p:xfrm>
        <a:graphic>
          <a:graphicData uri="http://schemas.openxmlformats.org/presentationml/2006/ole">
            <mc:AlternateContent xmlns:mc="http://schemas.openxmlformats.org/markup-compatibility/2006">
              <mc:Choice xmlns:v="urn:schemas-microsoft-com:vml" Requires="v">
                <p:oleObj spid="_x0000_s5177" name="Equation" r:id="rId5" imgW="1079500" imgH="723900" progId="Equation.3">
                  <p:embed/>
                </p:oleObj>
              </mc:Choice>
              <mc:Fallback>
                <p:oleObj name="Equation" r:id="rId5" imgW="1079500" imgH="7239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19601" y="2209800"/>
                        <a:ext cx="2835275" cy="1828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70607914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Grp="1" noChangeArrowheads="1"/>
          </p:cNvSpPr>
          <p:nvPr>
            <p:ph type="title"/>
          </p:nvPr>
        </p:nvSpPr>
        <p:spPr/>
        <p:txBody>
          <a:bodyPr/>
          <a:lstStyle/>
          <a:p>
            <a:pPr eaLnBrk="1" hangingPunct="1">
              <a:defRPr/>
            </a:pPr>
            <a:r>
              <a:rPr lang="en-US" smtClean="0">
                <a:ea typeface="+mj-ea"/>
                <a:cs typeface="+mj-cs"/>
              </a:rPr>
              <a:t>ECHELON FORM</a:t>
            </a:r>
          </a:p>
        </p:txBody>
      </p:sp>
      <p:sp>
        <p:nvSpPr>
          <p:cNvPr id="654339" name="Rectangle 3"/>
          <p:cNvSpPr>
            <a:spLocks noGrp="1" noChangeArrowheads="1"/>
          </p:cNvSpPr>
          <p:nvPr>
            <p:ph sz="quarter" idx="13"/>
          </p:nvPr>
        </p:nvSpPr>
        <p:spPr/>
        <p:txBody>
          <a:bodyPr>
            <a:normAutofit fontScale="85000" lnSpcReduction="10000"/>
          </a:bodyPr>
          <a:lstStyle/>
          <a:p>
            <a:pPr eaLnBrk="1" hangingPunct="1">
              <a:buFont typeface="Wingdings" charset="0"/>
              <a:buChar char="§"/>
              <a:defRPr/>
            </a:pPr>
            <a:r>
              <a:rPr lang="en-US" sz="2800"/>
              <a:t>Any nonzero matrix may be </a:t>
            </a:r>
            <a:r>
              <a:rPr lang="en-US" sz="2800" b="1"/>
              <a:t>row reduced</a:t>
            </a:r>
            <a:r>
              <a:rPr lang="en-US" sz="2800"/>
              <a:t> (i.e., transformed by elementary row operations) into more than one matrix in echelon form, using different sequences of row operations. However, the reduced echelon form one obtains from a matrix is unique.</a:t>
            </a:r>
          </a:p>
          <a:p>
            <a:pPr eaLnBrk="1" hangingPunct="1">
              <a:buFont typeface="Wingdings" charset="0"/>
              <a:buNone/>
              <a:defRPr/>
            </a:pPr>
            <a:r>
              <a:rPr lang="en-US" sz="2800" b="1"/>
              <a:t>	Theorem 1:</a:t>
            </a:r>
            <a:r>
              <a:rPr lang="en-US" sz="2800"/>
              <a:t> Uniqueness of the Reduced Echelon Form</a:t>
            </a:r>
          </a:p>
          <a:p>
            <a:pPr eaLnBrk="1" hangingPunct="1">
              <a:buFont typeface="Wingdings" charset="0"/>
              <a:buNone/>
              <a:defRPr/>
            </a:pPr>
            <a:r>
              <a:rPr lang="en-US" sz="2800"/>
              <a:t>	Each matrix is row equivalent to one and only one reduced echelon matrix.</a:t>
            </a:r>
          </a:p>
          <a:p>
            <a:pPr eaLnBrk="1" hangingPunct="1">
              <a:buFont typeface="Wingdings" charset="0"/>
              <a:buChar char="§"/>
              <a:defRPr/>
            </a:pPr>
            <a:endParaRPr lang="en-US" sz="2800"/>
          </a:p>
        </p:txBody>
      </p:sp>
      <p:sp>
        <p:nvSpPr>
          <p:cNvPr id="1126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126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C4B67820-DB29-4DCC-B1AF-3C74CE34C2CE}" type="slidenum">
              <a:rPr lang="en-US" altLang="en-US" sz="1200">
                <a:latin typeface="Arial" panose="020B0604020202020204" pitchFamily="34" charset="0"/>
              </a:rPr>
              <a:pPr>
                <a:spcBef>
                  <a:spcPct val="0"/>
                </a:spcBef>
                <a:buClrTx/>
                <a:buFontTx/>
                <a:buNone/>
              </a:pPr>
              <a:t>35</a:t>
            </a:fld>
            <a:endParaRPr lang="en-CA" altLang="en-US" sz="1200">
              <a:latin typeface="Arial" panose="020B0604020202020204" pitchFamily="34" charset="0"/>
            </a:endParaRPr>
          </a:p>
        </p:txBody>
      </p:sp>
    </p:spTree>
    <p:extLst>
      <p:ext uri="{BB962C8B-B14F-4D97-AF65-F5344CB8AC3E}">
        <p14:creationId xmlns:p14="http://schemas.microsoft.com/office/powerpoint/2010/main" val="29837219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433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4339">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5433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62" name="Rectangle 2"/>
          <p:cNvSpPr>
            <a:spLocks noGrp="1" noChangeArrowheads="1"/>
          </p:cNvSpPr>
          <p:nvPr>
            <p:ph type="title"/>
          </p:nvPr>
        </p:nvSpPr>
        <p:spPr/>
        <p:txBody>
          <a:bodyPr/>
          <a:lstStyle/>
          <a:p>
            <a:pPr eaLnBrk="1" hangingPunct="1">
              <a:defRPr/>
            </a:pPr>
            <a:r>
              <a:rPr lang="en-US" smtClean="0">
                <a:ea typeface="+mj-ea"/>
                <a:cs typeface="+mj-cs"/>
              </a:rPr>
              <a:t>PIVOT POSITION</a:t>
            </a:r>
          </a:p>
        </p:txBody>
      </p:sp>
      <p:sp>
        <p:nvSpPr>
          <p:cNvPr id="655363" name="Rectangle 3"/>
          <p:cNvSpPr>
            <a:spLocks noGrp="1" noChangeArrowheads="1"/>
          </p:cNvSpPr>
          <p:nvPr>
            <p:ph sz="quarter" idx="13"/>
          </p:nvPr>
        </p:nvSpPr>
        <p:spPr/>
        <p:txBody>
          <a:bodyPr>
            <a:normAutofit fontScale="85000" lnSpcReduction="10000"/>
          </a:bodyPr>
          <a:lstStyle/>
          <a:p>
            <a:pPr eaLnBrk="1" hangingPunct="1">
              <a:buFont typeface="Wingdings" charset="0"/>
              <a:buChar char="§"/>
              <a:defRPr/>
            </a:pPr>
            <a:r>
              <a:rPr lang="en-US" sz="2800"/>
              <a:t>If a matrix </a:t>
            </a:r>
            <a:r>
              <a:rPr lang="en-US" sz="2800" i="1"/>
              <a:t>A</a:t>
            </a:r>
            <a:r>
              <a:rPr lang="en-US" sz="2800"/>
              <a:t> is</a:t>
            </a:r>
            <a:r>
              <a:rPr lang="en-US" smtClean="0">
                <a:ea typeface="+mn-ea"/>
                <a:cs typeface="+mn-cs"/>
              </a:rPr>
              <a:t> </a:t>
            </a:r>
            <a:r>
              <a:rPr lang="en-US" sz="2800"/>
              <a:t>row equivalent to an echelon matrix </a:t>
            </a:r>
            <a:r>
              <a:rPr lang="en-US" sz="2800" i="1"/>
              <a:t>U</a:t>
            </a:r>
            <a:r>
              <a:rPr lang="en-US" sz="2800"/>
              <a:t>, we call </a:t>
            </a:r>
            <a:r>
              <a:rPr lang="en-US" sz="2800" i="1"/>
              <a:t>U</a:t>
            </a:r>
            <a:r>
              <a:rPr lang="en-US" sz="2800"/>
              <a:t> </a:t>
            </a:r>
            <a:r>
              <a:rPr lang="en-US" sz="2800" b="1"/>
              <a:t>an echelon form</a:t>
            </a:r>
            <a:r>
              <a:rPr lang="en-US" sz="2800"/>
              <a:t> (or row echelon form) </a:t>
            </a:r>
            <a:r>
              <a:rPr lang="en-US" sz="2800" b="1"/>
              <a:t>of </a:t>
            </a:r>
            <a:r>
              <a:rPr lang="en-US" sz="2800" b="1" i="1"/>
              <a:t>A</a:t>
            </a:r>
            <a:r>
              <a:rPr lang="en-US" sz="2800"/>
              <a:t>; if </a:t>
            </a:r>
            <a:r>
              <a:rPr lang="en-US" sz="2800" i="1"/>
              <a:t>U</a:t>
            </a:r>
            <a:r>
              <a:rPr lang="en-US" sz="2800"/>
              <a:t> is in reduced echelon form, we call </a:t>
            </a:r>
            <a:r>
              <a:rPr lang="en-US" sz="2800" i="1"/>
              <a:t>U</a:t>
            </a:r>
            <a:r>
              <a:rPr lang="en-US" sz="2800"/>
              <a:t> </a:t>
            </a:r>
            <a:r>
              <a:rPr lang="en-US" sz="2800" b="1"/>
              <a:t>the reduced echelon form of </a:t>
            </a:r>
            <a:r>
              <a:rPr lang="en-US" sz="2800" b="1" i="1"/>
              <a:t>A</a:t>
            </a:r>
            <a:r>
              <a:rPr lang="en-US" sz="2800"/>
              <a:t>.</a:t>
            </a:r>
          </a:p>
          <a:p>
            <a:pPr eaLnBrk="1" hangingPunct="1">
              <a:buFont typeface="Wingdings" charset="0"/>
              <a:buChar char="§"/>
              <a:defRPr/>
            </a:pPr>
            <a:endParaRPr lang="en-US" sz="2800"/>
          </a:p>
          <a:p>
            <a:pPr eaLnBrk="1" hangingPunct="1">
              <a:buFont typeface="Wingdings" charset="0"/>
              <a:buChar char="§"/>
              <a:defRPr/>
            </a:pPr>
            <a:r>
              <a:rPr lang="en-US" sz="2800"/>
              <a:t>A </a:t>
            </a:r>
            <a:r>
              <a:rPr lang="en-US" sz="2800" b="1"/>
              <a:t>pivot position</a:t>
            </a:r>
            <a:r>
              <a:rPr lang="en-US" sz="2800"/>
              <a:t> in a matrix </a:t>
            </a:r>
            <a:r>
              <a:rPr lang="en-US" sz="2800" i="1"/>
              <a:t>A</a:t>
            </a:r>
            <a:r>
              <a:rPr lang="en-US" sz="2800"/>
              <a:t> is a location in </a:t>
            </a:r>
            <a:r>
              <a:rPr lang="en-US" sz="2800" i="1"/>
              <a:t>A</a:t>
            </a:r>
            <a:r>
              <a:rPr lang="en-US" sz="2800"/>
              <a:t> that corresponds to a leading 1 in the reduced echelon form of </a:t>
            </a:r>
            <a:r>
              <a:rPr lang="en-US" sz="2800" i="1"/>
              <a:t>A</a:t>
            </a:r>
            <a:r>
              <a:rPr lang="en-US" sz="2800"/>
              <a:t>. A </a:t>
            </a:r>
            <a:r>
              <a:rPr lang="en-US" sz="2800" b="1"/>
              <a:t>pivot column</a:t>
            </a:r>
            <a:r>
              <a:rPr lang="en-US" sz="2800"/>
              <a:t> is a column of </a:t>
            </a:r>
            <a:r>
              <a:rPr lang="en-US" sz="2800" i="1"/>
              <a:t>A</a:t>
            </a:r>
            <a:r>
              <a:rPr lang="en-US" sz="2800"/>
              <a:t> that contains a pivot position.</a:t>
            </a:r>
          </a:p>
        </p:txBody>
      </p:sp>
      <p:sp>
        <p:nvSpPr>
          <p:cNvPr id="1229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229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CA89AF55-687A-4EC0-B8FD-81FC90ED33BA}" type="slidenum">
              <a:rPr lang="en-US" altLang="en-US" sz="1200">
                <a:latin typeface="Arial" panose="020B0604020202020204" pitchFamily="34" charset="0"/>
              </a:rPr>
              <a:pPr>
                <a:spcBef>
                  <a:spcPct val="0"/>
                </a:spcBef>
                <a:buClrTx/>
                <a:buFontTx/>
                <a:buNone/>
              </a:pPr>
              <a:t>36</a:t>
            </a:fld>
            <a:endParaRPr lang="en-CA" altLang="en-US" sz="1200">
              <a:latin typeface="Arial" panose="020B0604020202020204" pitchFamily="34" charset="0"/>
            </a:endParaRPr>
          </a:p>
        </p:txBody>
      </p:sp>
    </p:spTree>
    <p:extLst>
      <p:ext uri="{BB962C8B-B14F-4D97-AF65-F5344CB8AC3E}">
        <p14:creationId xmlns:p14="http://schemas.microsoft.com/office/powerpoint/2010/main" val="245711541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536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5536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6386" name="Rectangle 2"/>
          <p:cNvSpPr>
            <a:spLocks noGrp="1" noChangeArrowheads="1"/>
          </p:cNvSpPr>
          <p:nvPr>
            <p:ph type="title"/>
          </p:nvPr>
        </p:nvSpPr>
        <p:spPr>
          <a:xfrm>
            <a:off x="913774" y="154493"/>
            <a:ext cx="10364451" cy="1596177"/>
          </a:xfrm>
        </p:spPr>
        <p:txBody>
          <a:bodyPr/>
          <a:lstStyle/>
          <a:p>
            <a:pPr eaLnBrk="1" hangingPunct="1">
              <a:defRPr/>
            </a:pPr>
            <a:r>
              <a:rPr lang="en-US" dirty="0" smtClean="0">
                <a:ea typeface="+mj-ea"/>
                <a:cs typeface="+mj-cs"/>
              </a:rPr>
              <a:t>PIVOT POSITION</a:t>
            </a:r>
          </a:p>
        </p:txBody>
      </p:sp>
      <p:sp>
        <p:nvSpPr>
          <p:cNvPr id="656387" name="Rectangle 3"/>
          <p:cNvSpPr>
            <a:spLocks noGrp="1" noChangeArrowheads="1"/>
          </p:cNvSpPr>
          <p:nvPr>
            <p:ph sz="quarter" idx="13"/>
          </p:nvPr>
        </p:nvSpPr>
        <p:spPr>
          <a:xfrm>
            <a:off x="2133600" y="1149973"/>
            <a:ext cx="8229600" cy="5334000"/>
          </a:xfrm>
        </p:spPr>
        <p:txBody>
          <a:bodyPr>
            <a:normAutofit fontScale="92500" lnSpcReduction="10000"/>
          </a:bodyPr>
          <a:lstStyle/>
          <a:p>
            <a:pPr eaLnBrk="1" hangingPunct="1">
              <a:lnSpc>
                <a:spcPct val="80000"/>
              </a:lnSpc>
              <a:buFont typeface="Wingdings" charset="0"/>
              <a:buChar char="§"/>
              <a:defRPr/>
            </a:pPr>
            <a:r>
              <a:rPr lang="en-US" sz="2800" b="1" dirty="0"/>
              <a:t>Example 1:</a:t>
            </a:r>
            <a:r>
              <a:rPr lang="en-US" sz="2800" dirty="0"/>
              <a:t> Row reduce the matrix </a:t>
            </a:r>
            <a:r>
              <a:rPr lang="en-US" sz="2800" i="1" dirty="0"/>
              <a:t>A</a:t>
            </a:r>
            <a:r>
              <a:rPr lang="en-US" sz="2800" dirty="0"/>
              <a:t> below to echelon form, and locate the pivot columns of </a:t>
            </a:r>
            <a:r>
              <a:rPr lang="en-US" sz="2800" i="1" dirty="0"/>
              <a:t>A</a:t>
            </a:r>
            <a:r>
              <a:rPr lang="en-US" sz="2800" dirty="0"/>
              <a:t>.</a:t>
            </a:r>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r>
              <a:rPr lang="en-US" sz="2800" b="1" dirty="0"/>
              <a:t>Solution:</a:t>
            </a:r>
            <a:r>
              <a:rPr lang="en-US" sz="2800" dirty="0"/>
              <a:t> The top of the leftmost nonzero column is the first pivot position. A nonzero entry, or </a:t>
            </a:r>
            <a:r>
              <a:rPr lang="en-US" sz="2800" i="1" dirty="0"/>
              <a:t>pivot</a:t>
            </a:r>
            <a:r>
              <a:rPr lang="en-US" sz="2800" dirty="0"/>
              <a:t>, must be placed in this position.</a:t>
            </a:r>
          </a:p>
          <a:p>
            <a:pPr eaLnBrk="1" hangingPunct="1">
              <a:lnSpc>
                <a:spcPct val="80000"/>
              </a:lnSpc>
              <a:buFont typeface="Wingdings" charset="0"/>
              <a:buNone/>
              <a:defRPr/>
            </a:pPr>
            <a:r>
              <a:rPr lang="en-US" sz="2800" dirty="0"/>
              <a:t>	</a:t>
            </a:r>
          </a:p>
        </p:txBody>
      </p:sp>
      <p:sp>
        <p:nvSpPr>
          <p:cNvPr id="1331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331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AEC486A1-8645-4D13-BA1C-7368420FDBEE}" type="slidenum">
              <a:rPr lang="en-US" altLang="en-US" sz="1200">
                <a:latin typeface="Arial" panose="020B0604020202020204" pitchFamily="34" charset="0"/>
              </a:rPr>
              <a:pPr>
                <a:spcBef>
                  <a:spcPct val="0"/>
                </a:spcBef>
                <a:buClrTx/>
                <a:buFontTx/>
                <a:buNone/>
              </a:pPr>
              <a:t>37</a:t>
            </a:fld>
            <a:endParaRPr lang="en-CA" altLang="en-US" sz="1200">
              <a:latin typeface="Arial" panose="020B0604020202020204" pitchFamily="34" charset="0"/>
            </a:endParaRPr>
          </a:p>
        </p:txBody>
      </p:sp>
      <p:graphicFrame>
        <p:nvGraphicFramePr>
          <p:cNvPr id="656388" name="Object 4"/>
          <p:cNvGraphicFramePr>
            <a:graphicFrameLocks noChangeAspect="1"/>
          </p:cNvGraphicFramePr>
          <p:nvPr>
            <p:extLst>
              <p:ext uri="{D42A27DB-BD31-4B8C-83A1-F6EECF244321}">
                <p14:modId xmlns:p14="http://schemas.microsoft.com/office/powerpoint/2010/main" val="1158509449"/>
              </p:ext>
            </p:extLst>
          </p:nvPr>
        </p:nvGraphicFramePr>
        <p:xfrm>
          <a:off x="3886200" y="2529385"/>
          <a:ext cx="4724400" cy="2362200"/>
        </p:xfrm>
        <a:graphic>
          <a:graphicData uri="http://schemas.openxmlformats.org/presentationml/2006/ole">
            <mc:AlternateContent xmlns:mc="http://schemas.openxmlformats.org/markup-compatibility/2006">
              <mc:Choice xmlns:v="urn:schemas-microsoft-com:vml" Requires="v">
                <p:oleObj spid="_x0000_s6173" name="Equation" r:id="rId3" imgW="4724400" imgH="2362200" progId="Equation.DSMT4">
                  <p:embed/>
                </p:oleObj>
              </mc:Choice>
              <mc:Fallback>
                <p:oleObj name="Equation" r:id="rId3" imgW="4724400" imgH="2362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2529385"/>
                        <a:ext cx="47244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7276173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638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638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56387">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7410" name="Rectangle 2"/>
          <p:cNvSpPr>
            <a:spLocks noGrp="1" noChangeArrowheads="1"/>
          </p:cNvSpPr>
          <p:nvPr>
            <p:ph type="title"/>
          </p:nvPr>
        </p:nvSpPr>
        <p:spPr>
          <a:xfrm>
            <a:off x="913775" y="-72176"/>
            <a:ext cx="10364451" cy="1596177"/>
          </a:xfrm>
        </p:spPr>
        <p:txBody>
          <a:bodyPr/>
          <a:lstStyle/>
          <a:p>
            <a:pPr eaLnBrk="1" hangingPunct="1">
              <a:defRPr/>
            </a:pPr>
            <a:r>
              <a:rPr lang="en-US" dirty="0" smtClean="0">
                <a:ea typeface="+mj-ea"/>
                <a:cs typeface="+mj-cs"/>
              </a:rPr>
              <a:t>PIVOT POSITION</a:t>
            </a:r>
          </a:p>
        </p:txBody>
      </p:sp>
      <p:sp>
        <p:nvSpPr>
          <p:cNvPr id="657411" name="Rectangle 3"/>
          <p:cNvSpPr>
            <a:spLocks noGrp="1" noChangeArrowheads="1"/>
          </p:cNvSpPr>
          <p:nvPr>
            <p:ph sz="quarter" idx="13"/>
          </p:nvPr>
        </p:nvSpPr>
        <p:spPr>
          <a:xfrm>
            <a:off x="1981200" y="1371600"/>
            <a:ext cx="8229600" cy="4953000"/>
          </a:xfrm>
        </p:spPr>
        <p:txBody>
          <a:bodyPr>
            <a:normAutofit lnSpcReduction="10000"/>
          </a:bodyPr>
          <a:lstStyle/>
          <a:p>
            <a:pPr eaLnBrk="1" hangingPunct="1">
              <a:lnSpc>
                <a:spcPct val="80000"/>
              </a:lnSpc>
              <a:buFont typeface="Wingdings" charset="0"/>
              <a:buChar char="§"/>
              <a:defRPr/>
            </a:pPr>
            <a:r>
              <a:rPr lang="en-US" sz="2800"/>
              <a:t>Now, interchange rows 1 and 4.</a:t>
            </a:r>
          </a:p>
          <a:p>
            <a:pPr eaLnBrk="1" hangingPunct="1">
              <a:lnSpc>
                <a:spcPct val="80000"/>
              </a:lnSpc>
              <a:buFont typeface="Wingdings" charset="0"/>
              <a:buChar char="§"/>
              <a:defRPr/>
            </a:pPr>
            <a:endParaRPr lang="en-US" sz="2400"/>
          </a:p>
          <a:p>
            <a:pPr eaLnBrk="1" hangingPunct="1">
              <a:lnSpc>
                <a:spcPct val="80000"/>
              </a:lnSpc>
              <a:buFont typeface="Wingdings" charset="0"/>
              <a:buChar char="§"/>
              <a:defRPr/>
            </a:pPr>
            <a:endParaRPr lang="en-US" sz="2400"/>
          </a:p>
          <a:p>
            <a:pPr eaLnBrk="1" hangingPunct="1">
              <a:lnSpc>
                <a:spcPct val="80000"/>
              </a:lnSpc>
              <a:buFont typeface="Wingdings" charset="0"/>
              <a:buChar char="§"/>
              <a:defRPr/>
            </a:pPr>
            <a:endParaRPr lang="en-US" sz="2400"/>
          </a:p>
          <a:p>
            <a:pPr eaLnBrk="1" hangingPunct="1">
              <a:lnSpc>
                <a:spcPct val="80000"/>
              </a:lnSpc>
              <a:buFont typeface="Wingdings" charset="0"/>
              <a:buChar char="§"/>
              <a:defRPr/>
            </a:pPr>
            <a:endParaRPr lang="en-US" sz="2400"/>
          </a:p>
          <a:p>
            <a:pPr eaLnBrk="1" hangingPunct="1">
              <a:lnSpc>
                <a:spcPct val="80000"/>
              </a:lnSpc>
              <a:buFont typeface="Wingdings" charset="0"/>
              <a:buChar char="§"/>
              <a:defRPr/>
            </a:pPr>
            <a:endParaRPr lang="en-US" sz="2400"/>
          </a:p>
          <a:p>
            <a:pPr eaLnBrk="1" hangingPunct="1">
              <a:lnSpc>
                <a:spcPct val="80000"/>
              </a:lnSpc>
              <a:buFont typeface="Wingdings" charset="0"/>
              <a:buChar char="§"/>
              <a:defRPr/>
            </a:pPr>
            <a:endParaRPr lang="en-US" sz="2400"/>
          </a:p>
          <a:p>
            <a:pPr eaLnBrk="1" hangingPunct="1">
              <a:lnSpc>
                <a:spcPct val="80000"/>
              </a:lnSpc>
              <a:buFont typeface="Wingdings" charset="0"/>
              <a:buChar char="§"/>
              <a:defRPr/>
            </a:pPr>
            <a:endParaRPr lang="en-US" sz="2800"/>
          </a:p>
          <a:p>
            <a:pPr eaLnBrk="1" hangingPunct="1">
              <a:lnSpc>
                <a:spcPct val="80000"/>
              </a:lnSpc>
              <a:buFont typeface="Wingdings" charset="0"/>
              <a:buChar char="§"/>
              <a:defRPr/>
            </a:pPr>
            <a:endParaRPr lang="en-US" sz="2800"/>
          </a:p>
          <a:p>
            <a:pPr eaLnBrk="1" hangingPunct="1">
              <a:lnSpc>
                <a:spcPct val="80000"/>
              </a:lnSpc>
              <a:buFont typeface="Wingdings" charset="0"/>
              <a:buChar char="§"/>
              <a:defRPr/>
            </a:pPr>
            <a:r>
              <a:rPr lang="en-US" sz="2800"/>
              <a:t>Create zeros below the pivot, 1, by adding multiples of the first row to the rows below, and obtain the next matrix. </a:t>
            </a:r>
          </a:p>
        </p:txBody>
      </p:sp>
      <p:sp>
        <p:nvSpPr>
          <p:cNvPr id="1433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433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DE949301-D1A3-463E-9F26-00C56A86FE7D}" type="slidenum">
              <a:rPr lang="en-US" altLang="en-US" sz="1200">
                <a:latin typeface="Arial" panose="020B0604020202020204" pitchFamily="34" charset="0"/>
              </a:rPr>
              <a:pPr>
                <a:spcBef>
                  <a:spcPct val="0"/>
                </a:spcBef>
                <a:buClrTx/>
                <a:buFontTx/>
                <a:buNone/>
              </a:pPr>
              <a:t>38</a:t>
            </a:fld>
            <a:endParaRPr lang="en-CA" altLang="en-US" sz="1200">
              <a:latin typeface="Arial" panose="020B0604020202020204" pitchFamily="34" charset="0"/>
            </a:endParaRPr>
          </a:p>
        </p:txBody>
      </p:sp>
      <p:graphicFrame>
        <p:nvGraphicFramePr>
          <p:cNvPr id="657412" name="Object 4"/>
          <p:cNvGraphicFramePr>
            <a:graphicFrameLocks noChangeAspect="1"/>
          </p:cNvGraphicFramePr>
          <p:nvPr/>
        </p:nvGraphicFramePr>
        <p:xfrm>
          <a:off x="4419600" y="2057400"/>
          <a:ext cx="4051300" cy="2362200"/>
        </p:xfrm>
        <a:graphic>
          <a:graphicData uri="http://schemas.openxmlformats.org/presentationml/2006/ole">
            <mc:AlternateContent xmlns:mc="http://schemas.openxmlformats.org/markup-compatibility/2006">
              <mc:Choice xmlns:v="urn:schemas-microsoft-com:vml" Requires="v">
                <p:oleObj spid="_x0000_s7197" name="Equation" r:id="rId3" imgW="4051300" imgH="2362200" progId="Equation.DSMT4">
                  <p:embed/>
                </p:oleObj>
              </mc:Choice>
              <mc:Fallback>
                <p:oleObj name="Equation" r:id="rId3" imgW="4051300" imgH="2362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2057400"/>
                        <a:ext cx="40513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57413" name="Line 5"/>
          <p:cNvSpPr>
            <a:spLocks noChangeShapeType="1"/>
          </p:cNvSpPr>
          <p:nvPr/>
        </p:nvSpPr>
        <p:spPr bwMode="auto">
          <a:xfrm flipH="1">
            <a:off x="5105400" y="2286000"/>
            <a:ext cx="304800" cy="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7414" name="Line 6"/>
          <p:cNvSpPr>
            <a:spLocks noChangeShapeType="1"/>
          </p:cNvSpPr>
          <p:nvPr/>
        </p:nvSpPr>
        <p:spPr bwMode="auto">
          <a:xfrm flipV="1">
            <a:off x="5410200" y="1905000"/>
            <a:ext cx="0" cy="3810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415" name="Line 7"/>
          <p:cNvSpPr>
            <a:spLocks noChangeShapeType="1"/>
          </p:cNvSpPr>
          <p:nvPr/>
        </p:nvSpPr>
        <p:spPr bwMode="auto">
          <a:xfrm>
            <a:off x="5410200" y="1905000"/>
            <a:ext cx="4572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7416" name="Text Box 8" descr="Pink tissue paper"/>
          <p:cNvSpPr txBox="1">
            <a:spLocks noChangeArrowheads="1"/>
          </p:cNvSpPr>
          <p:nvPr/>
        </p:nvSpPr>
        <p:spPr bwMode="auto">
          <a:xfrm>
            <a:off x="5791200" y="16764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eaLnBrk="1" hangingPunct="1">
              <a:spcBef>
                <a:spcPct val="50000"/>
              </a:spcBef>
            </a:pPr>
            <a:r>
              <a:rPr lang="en-US" altLang="en-US">
                <a:solidFill>
                  <a:srgbClr val="0099FF"/>
                </a:solidFill>
                <a:latin typeface="Times New Roman" panose="02020603050405020304" pitchFamily="18" charset="0"/>
              </a:rPr>
              <a:t>Pivot</a:t>
            </a:r>
          </a:p>
        </p:txBody>
      </p:sp>
      <p:sp>
        <p:nvSpPr>
          <p:cNvPr id="657417" name="Line 9"/>
          <p:cNvSpPr>
            <a:spLocks noChangeShapeType="1"/>
          </p:cNvSpPr>
          <p:nvPr/>
        </p:nvSpPr>
        <p:spPr bwMode="auto">
          <a:xfrm flipV="1">
            <a:off x="4953000" y="4343400"/>
            <a:ext cx="0" cy="3048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7418" name="Line 10"/>
          <p:cNvSpPr>
            <a:spLocks noChangeShapeType="1"/>
          </p:cNvSpPr>
          <p:nvPr/>
        </p:nvSpPr>
        <p:spPr bwMode="auto">
          <a:xfrm>
            <a:off x="4953000" y="4648200"/>
            <a:ext cx="3810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4349" name="Text Box 11" descr="Pink tissue paper"/>
          <p:cNvSpPr txBox="1">
            <a:spLocks noChangeArrowheads="1"/>
          </p:cNvSpPr>
          <p:nvPr/>
        </p:nvSpPr>
        <p:spPr bwMode="auto">
          <a:xfrm>
            <a:off x="5280026" y="5173663"/>
            <a:ext cx="1730375"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eaLnBrk="1" hangingPunct="1">
              <a:spcBef>
                <a:spcPct val="50000"/>
              </a:spcBef>
            </a:pPr>
            <a:endParaRPr lang="en-US" altLang="en-US"/>
          </a:p>
        </p:txBody>
      </p:sp>
      <p:sp>
        <p:nvSpPr>
          <p:cNvPr id="657420" name="Text Box 12" descr="Pink tissue paper"/>
          <p:cNvSpPr txBox="1">
            <a:spLocks noChangeArrowheads="1"/>
          </p:cNvSpPr>
          <p:nvPr/>
        </p:nvSpPr>
        <p:spPr bwMode="auto">
          <a:xfrm>
            <a:off x="5181600" y="4419600"/>
            <a:ext cx="1981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eaLnBrk="1" hangingPunct="1">
              <a:spcBef>
                <a:spcPct val="50000"/>
              </a:spcBef>
            </a:pPr>
            <a:r>
              <a:rPr lang="en-US" altLang="en-US">
                <a:solidFill>
                  <a:srgbClr val="0099FF"/>
                </a:solidFill>
                <a:latin typeface="Times New Roman" panose="02020603050405020304" pitchFamily="18" charset="0"/>
              </a:rPr>
              <a:t>Pivot column</a:t>
            </a:r>
          </a:p>
        </p:txBody>
      </p:sp>
    </p:spTree>
    <p:extLst>
      <p:ext uri="{BB962C8B-B14F-4D97-AF65-F5344CB8AC3E}">
        <p14:creationId xmlns:p14="http://schemas.microsoft.com/office/powerpoint/2010/main" val="392707745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7411">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741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74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74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574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74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74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741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7420"/>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5741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7413" grpId="0" animBg="1"/>
      <p:bldP spid="657414" grpId="0" animBg="1"/>
      <p:bldP spid="657415" grpId="0" animBg="1"/>
      <p:bldP spid="657416" grpId="0"/>
      <p:bldP spid="657417" grpId="0" animBg="1"/>
      <p:bldP spid="657418" grpId="0" animBg="1"/>
      <p:bldP spid="657420"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4" name="Rectangle 2"/>
          <p:cNvSpPr>
            <a:spLocks noGrp="1" noChangeArrowheads="1"/>
          </p:cNvSpPr>
          <p:nvPr>
            <p:ph type="title"/>
          </p:nvPr>
        </p:nvSpPr>
        <p:spPr/>
        <p:txBody>
          <a:bodyPr/>
          <a:lstStyle/>
          <a:p>
            <a:pPr eaLnBrk="1" hangingPunct="1">
              <a:defRPr/>
            </a:pPr>
            <a:r>
              <a:rPr lang="en-US" smtClean="0">
                <a:ea typeface="+mj-ea"/>
                <a:cs typeface="+mj-cs"/>
              </a:rPr>
              <a:t>PIVOT POSITION</a:t>
            </a:r>
          </a:p>
        </p:txBody>
      </p:sp>
      <p:sp>
        <p:nvSpPr>
          <p:cNvPr id="658435" name="Rectangle 3"/>
          <p:cNvSpPr>
            <a:spLocks noGrp="1" noChangeArrowheads="1"/>
          </p:cNvSpPr>
          <p:nvPr>
            <p:ph type="body" sz="half" idx="1"/>
          </p:nvPr>
        </p:nvSpPr>
        <p:spPr>
          <a:xfrm>
            <a:off x="1981200" y="1600200"/>
            <a:ext cx="8534400" cy="4572000"/>
          </a:xfrm>
        </p:spPr>
        <p:txBody>
          <a:bodyPr>
            <a:normAutofit fontScale="92500" lnSpcReduction="20000"/>
          </a:bodyPr>
          <a:lstStyle/>
          <a:p>
            <a:pPr eaLnBrk="1" hangingPunct="1">
              <a:buFont typeface="Wingdings" charset="0"/>
              <a:buChar char="§"/>
              <a:defRPr/>
            </a:pPr>
            <a:r>
              <a:rPr lang="en-US" sz="2800"/>
              <a:t>Choose 2 in the second row as the next pivot.</a:t>
            </a:r>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r>
              <a:rPr lang="en-US" sz="2800"/>
              <a:t>Add            times row 2 to row 3, and add         times row 2 to row 4.</a:t>
            </a:r>
          </a:p>
          <a:p>
            <a:pPr eaLnBrk="1" hangingPunct="1">
              <a:buFont typeface="Wingdings" charset="0"/>
              <a:buChar char="§"/>
              <a:defRPr/>
            </a:pPr>
            <a:endParaRPr lang="en-US" sz="2800"/>
          </a:p>
        </p:txBody>
      </p:sp>
      <p:graphicFrame>
        <p:nvGraphicFramePr>
          <p:cNvPr id="658436" name="Object 4"/>
          <p:cNvGraphicFramePr>
            <a:graphicFrameLocks noGrp="1" noChangeAspect="1"/>
          </p:cNvGraphicFramePr>
          <p:nvPr>
            <p:ph sz="quarter" idx="2"/>
          </p:nvPr>
        </p:nvGraphicFramePr>
        <p:xfrm>
          <a:off x="4191000" y="2438400"/>
          <a:ext cx="3932238" cy="2209800"/>
        </p:xfrm>
        <a:graphic>
          <a:graphicData uri="http://schemas.openxmlformats.org/presentationml/2006/ole">
            <mc:AlternateContent xmlns:mc="http://schemas.openxmlformats.org/markup-compatibility/2006">
              <mc:Choice xmlns:v="urn:schemas-microsoft-com:vml" Requires="v">
                <p:oleObj spid="_x0000_s8275" name="Equation" r:id="rId3" imgW="4203700" imgH="2362200" progId="Equation.DSMT4">
                  <p:embed/>
                </p:oleObj>
              </mc:Choice>
              <mc:Fallback>
                <p:oleObj name="Equation" r:id="rId3" imgW="4203700" imgH="2362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2438400"/>
                        <a:ext cx="3932238"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58446" name="Object 14"/>
          <p:cNvGraphicFramePr>
            <a:graphicFrameLocks noGrp="1" noChangeAspect="1"/>
          </p:cNvGraphicFramePr>
          <p:nvPr>
            <p:ph sz="quarter" idx="3"/>
          </p:nvPr>
        </p:nvGraphicFramePr>
        <p:xfrm>
          <a:off x="3124200" y="5295900"/>
          <a:ext cx="838200" cy="322263"/>
        </p:xfrm>
        <a:graphic>
          <a:graphicData uri="http://schemas.openxmlformats.org/presentationml/2006/ole">
            <mc:AlternateContent xmlns:mc="http://schemas.openxmlformats.org/markup-compatibility/2006">
              <mc:Choice xmlns:v="urn:schemas-microsoft-com:vml" Requires="v">
                <p:oleObj spid="_x0000_s8276" name="Equation" r:id="rId5" imgW="926698" imgH="355446" progId="Equation.DSMT4">
                  <p:embed/>
                </p:oleObj>
              </mc:Choice>
              <mc:Fallback>
                <p:oleObj name="Equation" r:id="rId5" imgW="926698" imgH="35544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24200" y="5295900"/>
                        <a:ext cx="838200" cy="322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5362" name="Slide Number Placeholder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728DA619-8833-4710-8044-FA9DCF000D9D}" type="slidenum">
              <a:rPr lang="en-US" altLang="en-US" sz="1200">
                <a:latin typeface="Arial" panose="020B0604020202020204" pitchFamily="34" charset="0"/>
              </a:rPr>
              <a:pPr>
                <a:spcBef>
                  <a:spcPct val="0"/>
                </a:spcBef>
                <a:buClrTx/>
                <a:buFontTx/>
                <a:buNone/>
              </a:pPr>
              <a:t>39</a:t>
            </a:fld>
            <a:endParaRPr lang="en-CA" altLang="en-US" sz="1200">
              <a:latin typeface="Arial" panose="020B0604020202020204" pitchFamily="34" charset="0"/>
            </a:endParaRPr>
          </a:p>
        </p:txBody>
      </p:sp>
      <p:sp>
        <p:nvSpPr>
          <p:cNvPr id="15363"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658438" name="Line 6"/>
          <p:cNvSpPr>
            <a:spLocks noChangeShapeType="1"/>
          </p:cNvSpPr>
          <p:nvPr/>
        </p:nvSpPr>
        <p:spPr bwMode="auto">
          <a:xfrm flipH="1">
            <a:off x="5334000" y="3200400"/>
            <a:ext cx="228600" cy="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8439" name="Line 7"/>
          <p:cNvSpPr>
            <a:spLocks noChangeShapeType="1"/>
          </p:cNvSpPr>
          <p:nvPr/>
        </p:nvSpPr>
        <p:spPr bwMode="auto">
          <a:xfrm flipV="1">
            <a:off x="5562600" y="2286000"/>
            <a:ext cx="0" cy="9144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8441" name="Line 9"/>
          <p:cNvSpPr>
            <a:spLocks noChangeShapeType="1"/>
          </p:cNvSpPr>
          <p:nvPr/>
        </p:nvSpPr>
        <p:spPr bwMode="auto">
          <a:xfrm>
            <a:off x="5562600" y="2286000"/>
            <a:ext cx="5334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8442" name="Text Box 10" descr="Pink tissue paper"/>
          <p:cNvSpPr txBox="1">
            <a:spLocks noChangeArrowheads="1"/>
          </p:cNvSpPr>
          <p:nvPr/>
        </p:nvSpPr>
        <p:spPr bwMode="auto">
          <a:xfrm>
            <a:off x="6019800" y="2057400"/>
            <a:ext cx="990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eaLnBrk="1" hangingPunct="1">
              <a:spcBef>
                <a:spcPct val="50000"/>
              </a:spcBef>
            </a:pPr>
            <a:r>
              <a:rPr lang="en-US" altLang="en-US">
                <a:solidFill>
                  <a:srgbClr val="0099FF"/>
                </a:solidFill>
                <a:latin typeface="Times New Roman" panose="02020603050405020304" pitchFamily="18" charset="0"/>
              </a:rPr>
              <a:t>Pivot</a:t>
            </a:r>
          </a:p>
        </p:txBody>
      </p:sp>
      <p:sp>
        <p:nvSpPr>
          <p:cNvPr id="658443" name="Line 11"/>
          <p:cNvSpPr>
            <a:spLocks noChangeShapeType="1"/>
          </p:cNvSpPr>
          <p:nvPr/>
        </p:nvSpPr>
        <p:spPr bwMode="auto">
          <a:xfrm flipV="1">
            <a:off x="5257800" y="4572000"/>
            <a:ext cx="0" cy="2286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58444" name="Line 12"/>
          <p:cNvSpPr>
            <a:spLocks noChangeShapeType="1"/>
          </p:cNvSpPr>
          <p:nvPr/>
        </p:nvSpPr>
        <p:spPr bwMode="auto">
          <a:xfrm>
            <a:off x="5257800" y="4800600"/>
            <a:ext cx="6858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58445" name="Text Box 13" descr="Pink tissue paper"/>
          <p:cNvSpPr txBox="1">
            <a:spLocks noChangeArrowheads="1"/>
          </p:cNvSpPr>
          <p:nvPr/>
        </p:nvSpPr>
        <p:spPr bwMode="auto">
          <a:xfrm>
            <a:off x="5943600" y="45720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Next pivot column</a:t>
            </a:r>
          </a:p>
        </p:txBody>
      </p:sp>
      <p:graphicFrame>
        <p:nvGraphicFramePr>
          <p:cNvPr id="658448" name="Object 16"/>
          <p:cNvGraphicFramePr>
            <a:graphicFrameLocks noChangeAspect="1"/>
          </p:cNvGraphicFramePr>
          <p:nvPr>
            <p:extLst>
              <p:ext uri="{D42A27DB-BD31-4B8C-83A1-F6EECF244321}">
                <p14:modId xmlns:p14="http://schemas.microsoft.com/office/powerpoint/2010/main" val="1374664653"/>
              </p:ext>
            </p:extLst>
          </p:nvPr>
        </p:nvGraphicFramePr>
        <p:xfrm>
          <a:off x="9031406" y="5356842"/>
          <a:ext cx="609600" cy="315913"/>
        </p:xfrm>
        <a:graphic>
          <a:graphicData uri="http://schemas.openxmlformats.org/presentationml/2006/ole">
            <mc:AlternateContent xmlns:mc="http://schemas.openxmlformats.org/markup-compatibility/2006">
              <mc:Choice xmlns:v="urn:schemas-microsoft-com:vml" Requires="v">
                <p:oleObj spid="_x0000_s8277" name="Equation" r:id="rId7" imgW="685502" imgH="355446" progId="Equation.DSMT4">
                  <p:embed/>
                </p:oleObj>
              </mc:Choice>
              <mc:Fallback>
                <p:oleObj name="Equation" r:id="rId7" imgW="685502" imgH="355446"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031406" y="5356842"/>
                        <a:ext cx="609600" cy="315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810833748"/>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5843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5843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5844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5843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5843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58442"/>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5844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58444"/>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58445"/>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658435">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58446"/>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65844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8" grpId="0" animBg="1"/>
      <p:bldP spid="658439" grpId="0" animBg="1"/>
      <p:bldP spid="658441" grpId="0" animBg="1"/>
      <p:bldP spid="658442" grpId="0"/>
      <p:bldP spid="658443" grpId="0" animBg="1"/>
      <p:bldP spid="658444" grpId="0" animBg="1"/>
      <p:bldP spid="658445"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2"/>
          <p:cNvSpPr>
            <a:spLocks noGrp="1" noChangeArrowheads="1"/>
          </p:cNvSpPr>
          <p:nvPr>
            <p:ph type="title"/>
          </p:nvPr>
        </p:nvSpPr>
        <p:spPr>
          <a:xfrm>
            <a:off x="913149" y="0"/>
            <a:ext cx="10364451" cy="1596177"/>
          </a:xfrm>
        </p:spPr>
        <p:txBody>
          <a:bodyPr/>
          <a:lstStyle/>
          <a:p>
            <a:pPr eaLnBrk="1" hangingPunct="1">
              <a:defRPr/>
            </a:pPr>
            <a:r>
              <a:rPr lang="en-US" dirty="0" smtClean="0">
                <a:ea typeface="+mj-ea"/>
                <a:cs typeface="+mj-cs"/>
              </a:rPr>
              <a:t>PIVOT POSITION</a:t>
            </a:r>
          </a:p>
        </p:txBody>
      </p:sp>
      <p:sp>
        <p:nvSpPr>
          <p:cNvPr id="660483" name="Rectangle 3"/>
          <p:cNvSpPr>
            <a:spLocks noGrp="1" noChangeArrowheads="1"/>
          </p:cNvSpPr>
          <p:nvPr>
            <p:ph sz="quarter" idx="13"/>
          </p:nvPr>
        </p:nvSpPr>
        <p:spPr/>
        <p:txBody>
          <a:bodyPr>
            <a:normAutofit fontScale="77500" lnSpcReduction="20000"/>
          </a:bodyPr>
          <a:lstStyle/>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r>
              <a:rPr lang="en-US" sz="2800"/>
              <a:t>There is no way a leading entry can be created in column 3. But, if we interchange rows 3 and 4, we can produce a leading entry in column 4.</a:t>
            </a:r>
          </a:p>
        </p:txBody>
      </p:sp>
      <p:sp>
        <p:nvSpPr>
          <p:cNvPr id="16387"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638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276F91F7-EB20-42F3-977B-4ED045D9AC01}" type="slidenum">
              <a:rPr lang="en-US" altLang="en-US" sz="1200">
                <a:latin typeface="Arial" panose="020B0604020202020204" pitchFamily="34" charset="0"/>
              </a:rPr>
              <a:pPr>
                <a:spcBef>
                  <a:spcPct val="0"/>
                </a:spcBef>
                <a:buClrTx/>
                <a:buFontTx/>
                <a:buNone/>
              </a:pPr>
              <a:t>40</a:t>
            </a:fld>
            <a:endParaRPr lang="en-CA" altLang="en-US" sz="1200">
              <a:latin typeface="Arial" panose="020B0604020202020204" pitchFamily="34" charset="0"/>
            </a:endParaRPr>
          </a:p>
        </p:txBody>
      </p:sp>
      <p:graphicFrame>
        <p:nvGraphicFramePr>
          <p:cNvPr id="660486" name="Object 6"/>
          <p:cNvGraphicFramePr>
            <a:graphicFrameLocks noChangeAspect="1"/>
          </p:cNvGraphicFramePr>
          <p:nvPr/>
        </p:nvGraphicFramePr>
        <p:xfrm>
          <a:off x="4419600" y="1295400"/>
          <a:ext cx="3378200" cy="2362200"/>
        </p:xfrm>
        <a:graphic>
          <a:graphicData uri="http://schemas.openxmlformats.org/presentationml/2006/ole">
            <mc:AlternateContent xmlns:mc="http://schemas.openxmlformats.org/markup-compatibility/2006">
              <mc:Choice xmlns:v="urn:schemas-microsoft-com:vml" Requires="v">
                <p:oleObj spid="_x0000_s9245" name="Equation" r:id="rId3" imgW="3378200" imgH="2362200" progId="Equation.DSMT4">
                  <p:embed/>
                </p:oleObj>
              </mc:Choice>
              <mc:Fallback>
                <p:oleObj name="Equation" r:id="rId3" imgW="3378200" imgH="2362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19600" y="1295400"/>
                        <a:ext cx="3378200" cy="236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92212601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048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604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Rectangle 2"/>
          <p:cNvSpPr>
            <a:spLocks noGrp="1" noChangeArrowheads="1"/>
          </p:cNvSpPr>
          <p:nvPr>
            <p:ph type="title"/>
          </p:nvPr>
        </p:nvSpPr>
        <p:spPr/>
        <p:txBody>
          <a:bodyPr/>
          <a:lstStyle/>
          <a:p>
            <a:pPr eaLnBrk="1" hangingPunct="1">
              <a:defRPr/>
            </a:pPr>
            <a:r>
              <a:rPr lang="en-US" smtClean="0">
                <a:ea typeface="+mj-ea"/>
                <a:cs typeface="+mj-cs"/>
              </a:rPr>
              <a:t>PIVOT POSITION</a:t>
            </a:r>
          </a:p>
        </p:txBody>
      </p:sp>
      <p:graphicFrame>
        <p:nvGraphicFramePr>
          <p:cNvPr id="661508" name="Object 4"/>
          <p:cNvGraphicFramePr>
            <a:graphicFrameLocks noGrp="1" noChangeAspect="1"/>
          </p:cNvGraphicFramePr>
          <p:nvPr>
            <p:ph sz="half" idx="1"/>
          </p:nvPr>
        </p:nvGraphicFramePr>
        <p:xfrm>
          <a:off x="4516438" y="1600200"/>
          <a:ext cx="3159125" cy="2209800"/>
        </p:xfrm>
        <a:graphic>
          <a:graphicData uri="http://schemas.openxmlformats.org/presentationml/2006/ole">
            <mc:AlternateContent xmlns:mc="http://schemas.openxmlformats.org/markup-compatibility/2006">
              <mc:Choice xmlns:v="urn:schemas-microsoft-com:vml" Requires="v">
                <p:oleObj spid="_x0000_s10269" name="Equation" r:id="rId3" imgW="3378200" imgH="2362200" progId="Equation.3">
                  <p:embed/>
                </p:oleObj>
              </mc:Choice>
              <mc:Fallback>
                <p:oleObj name="Equation" r:id="rId3" imgW="3378200" imgH="2362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16438" y="1600200"/>
                        <a:ext cx="3159125" cy="220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1520" name="Rectangle 16"/>
          <p:cNvSpPr>
            <a:spLocks noGrp="1" noChangeArrowheads="1"/>
          </p:cNvSpPr>
          <p:nvPr>
            <p:ph type="body" sz="half" idx="2"/>
          </p:nvPr>
        </p:nvSpPr>
        <p:spPr>
          <a:xfrm>
            <a:off x="1981200" y="4191000"/>
            <a:ext cx="8229600" cy="1981200"/>
          </a:xfrm>
        </p:spPr>
        <p:txBody>
          <a:bodyPr>
            <a:normAutofit fontScale="92500" lnSpcReduction="20000"/>
          </a:bodyPr>
          <a:lstStyle/>
          <a:p>
            <a:pPr eaLnBrk="1" hangingPunct="1">
              <a:buFont typeface="Wingdings" charset="0"/>
              <a:buChar char="§"/>
              <a:defRPr/>
            </a:pPr>
            <a:endParaRPr lang="en-US" sz="2800" dirty="0"/>
          </a:p>
          <a:p>
            <a:pPr eaLnBrk="1" hangingPunct="1">
              <a:buFont typeface="Wingdings" charset="0"/>
              <a:buChar char="§"/>
              <a:defRPr/>
            </a:pPr>
            <a:r>
              <a:rPr lang="en-US" sz="2800" dirty="0"/>
              <a:t>The matrix is in echelon form and thus reveals that columns 1, 2, and 4 of </a:t>
            </a:r>
            <a:r>
              <a:rPr lang="en-US" sz="2800" i="1" dirty="0"/>
              <a:t>A</a:t>
            </a:r>
            <a:r>
              <a:rPr lang="en-US" sz="2800" dirty="0"/>
              <a:t> are pivot columns.</a:t>
            </a:r>
          </a:p>
          <a:p>
            <a:pPr eaLnBrk="1" hangingPunct="1">
              <a:buFont typeface="Wingdings" charset="0"/>
              <a:buChar char="§"/>
              <a:defRPr/>
            </a:pPr>
            <a:r>
              <a:rPr lang="en-US" sz="2800" dirty="0"/>
              <a:t>The pivots in the example are 1, 2 and -5.</a:t>
            </a:r>
          </a:p>
        </p:txBody>
      </p:sp>
      <p:sp>
        <p:nvSpPr>
          <p:cNvPr id="17410" name="Slide Number Placeholder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F5F543BE-67F7-4E5F-8BE8-058AC9679099}" type="slidenum">
              <a:rPr lang="en-US" altLang="en-US" sz="1200">
                <a:latin typeface="Arial" panose="020B0604020202020204" pitchFamily="34" charset="0"/>
              </a:rPr>
              <a:pPr>
                <a:spcBef>
                  <a:spcPct val="0"/>
                </a:spcBef>
                <a:buClrTx/>
                <a:buFontTx/>
                <a:buNone/>
              </a:pPr>
              <a:t>41</a:t>
            </a:fld>
            <a:endParaRPr lang="en-CA" altLang="en-US" sz="1200">
              <a:latin typeface="Arial" panose="020B0604020202020204" pitchFamily="34" charset="0"/>
            </a:endParaRPr>
          </a:p>
        </p:txBody>
      </p:sp>
      <p:sp>
        <p:nvSpPr>
          <p:cNvPr id="17411"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661510" name="Line 6"/>
          <p:cNvSpPr>
            <a:spLocks noChangeShapeType="1"/>
          </p:cNvSpPr>
          <p:nvPr/>
        </p:nvSpPr>
        <p:spPr bwMode="auto">
          <a:xfrm flipH="1">
            <a:off x="6705600" y="2971800"/>
            <a:ext cx="228600" cy="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1511" name="Line 7"/>
          <p:cNvSpPr>
            <a:spLocks noChangeShapeType="1"/>
          </p:cNvSpPr>
          <p:nvPr/>
        </p:nvSpPr>
        <p:spPr bwMode="auto">
          <a:xfrm flipV="1">
            <a:off x="6934200" y="1371600"/>
            <a:ext cx="0" cy="16002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1512" name="Line 8"/>
          <p:cNvSpPr>
            <a:spLocks noChangeShapeType="1"/>
          </p:cNvSpPr>
          <p:nvPr/>
        </p:nvSpPr>
        <p:spPr bwMode="auto">
          <a:xfrm>
            <a:off x="6934200" y="1371600"/>
            <a:ext cx="2286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1513" name="Text Box 9" descr="Pink tissue paper"/>
          <p:cNvSpPr txBox="1">
            <a:spLocks noChangeArrowheads="1"/>
          </p:cNvSpPr>
          <p:nvPr/>
        </p:nvSpPr>
        <p:spPr bwMode="auto">
          <a:xfrm>
            <a:off x="7086600" y="1143000"/>
            <a:ext cx="12192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Pivot</a:t>
            </a:r>
          </a:p>
        </p:txBody>
      </p:sp>
      <p:sp>
        <p:nvSpPr>
          <p:cNvPr id="661514" name="Line 10"/>
          <p:cNvSpPr>
            <a:spLocks noChangeShapeType="1"/>
          </p:cNvSpPr>
          <p:nvPr/>
        </p:nvSpPr>
        <p:spPr bwMode="auto">
          <a:xfrm flipV="1">
            <a:off x="4800600" y="3810000"/>
            <a:ext cx="0" cy="2286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1515" name="Line 11"/>
          <p:cNvSpPr>
            <a:spLocks noChangeShapeType="1"/>
          </p:cNvSpPr>
          <p:nvPr/>
        </p:nvSpPr>
        <p:spPr bwMode="auto">
          <a:xfrm flipV="1">
            <a:off x="5334000" y="3810000"/>
            <a:ext cx="0" cy="2286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1516" name="Line 12"/>
          <p:cNvSpPr>
            <a:spLocks noChangeShapeType="1"/>
          </p:cNvSpPr>
          <p:nvPr/>
        </p:nvSpPr>
        <p:spPr bwMode="auto">
          <a:xfrm flipV="1">
            <a:off x="6629400" y="3810000"/>
            <a:ext cx="0" cy="2286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1517" name="Line 13"/>
          <p:cNvSpPr>
            <a:spLocks noChangeShapeType="1"/>
          </p:cNvSpPr>
          <p:nvPr/>
        </p:nvSpPr>
        <p:spPr bwMode="auto">
          <a:xfrm>
            <a:off x="4800600" y="4038600"/>
            <a:ext cx="30480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1518" name="Text Box 14" descr="Pink tissue paper"/>
          <p:cNvSpPr txBox="1">
            <a:spLocks noChangeArrowheads="1"/>
          </p:cNvSpPr>
          <p:nvPr/>
        </p:nvSpPr>
        <p:spPr bwMode="auto">
          <a:xfrm>
            <a:off x="7848600" y="3810000"/>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Pivot columns</a:t>
            </a:r>
          </a:p>
        </p:txBody>
      </p:sp>
    </p:spTree>
    <p:extLst>
      <p:ext uri="{BB962C8B-B14F-4D97-AF65-F5344CB8AC3E}">
        <p14:creationId xmlns:p14="http://schemas.microsoft.com/office/powerpoint/2010/main" val="31157026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150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151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15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151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151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151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615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615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615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61512"/>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661520">
                                            <p:txEl>
                                              <p:pRg st="1" end="1"/>
                                            </p:txEl>
                                          </p:spTgt>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1" presetClass="entr" presetSubtype="0" fill="hold" nodeType="clickEffect">
                                  <p:stCondLst>
                                    <p:cond delay="0"/>
                                  </p:stCondLst>
                                  <p:childTnLst>
                                    <p:set>
                                      <p:cBhvr>
                                        <p:cTn id="32" dur="1" fill="hold">
                                          <p:stCondLst>
                                            <p:cond delay="0"/>
                                          </p:stCondLst>
                                        </p:cTn>
                                        <p:tgtEl>
                                          <p:spTgt spid="661520">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1510" grpId="0" animBg="1"/>
      <p:bldP spid="661511" grpId="0" animBg="1"/>
      <p:bldP spid="661512" grpId="0" animBg="1"/>
      <p:bldP spid="661513" grpId="0"/>
      <p:bldP spid="661514" grpId="0" animBg="1"/>
      <p:bldP spid="661515" grpId="0" animBg="1"/>
      <p:bldP spid="661516" grpId="0" animBg="1"/>
      <p:bldP spid="661517" grpId="0" animBg="1"/>
      <p:bldP spid="6615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6" name="Rectangle 2"/>
          <p:cNvSpPr>
            <a:spLocks noGrp="1" noChangeArrowheads="1"/>
          </p:cNvSpPr>
          <p:nvPr>
            <p:ph type="title"/>
          </p:nvPr>
        </p:nvSpPr>
        <p:spPr>
          <a:xfrm>
            <a:off x="685800" y="0"/>
            <a:ext cx="10131425" cy="1456267"/>
          </a:xfrm>
        </p:spPr>
        <p:txBody>
          <a:bodyPr/>
          <a:lstStyle/>
          <a:p>
            <a:pPr eaLnBrk="1" hangingPunct="1">
              <a:defRPr/>
            </a:pPr>
            <a:r>
              <a:rPr lang="en-US" dirty="0" smtClean="0">
                <a:ea typeface="+mj-ea"/>
                <a:cs typeface="+mj-cs"/>
              </a:rPr>
              <a:t>ROW REDUCTION ALGORITHM</a:t>
            </a:r>
          </a:p>
        </p:txBody>
      </p:sp>
      <p:sp>
        <p:nvSpPr>
          <p:cNvPr id="666627" name="Rectangle 3"/>
          <p:cNvSpPr>
            <a:spLocks noGrp="1" noChangeArrowheads="1"/>
          </p:cNvSpPr>
          <p:nvPr>
            <p:ph sz="quarter" idx="13"/>
          </p:nvPr>
        </p:nvSpPr>
        <p:spPr>
          <a:xfrm>
            <a:off x="1981200" y="1295400"/>
            <a:ext cx="8229600" cy="4876800"/>
          </a:xfrm>
        </p:spPr>
        <p:txBody>
          <a:bodyPr>
            <a:normAutofit lnSpcReduction="10000"/>
          </a:bodyPr>
          <a:lstStyle/>
          <a:p>
            <a:pPr eaLnBrk="1" hangingPunct="1">
              <a:lnSpc>
                <a:spcPct val="80000"/>
              </a:lnSpc>
              <a:buFont typeface="Wingdings" charset="0"/>
              <a:buChar char="§"/>
              <a:defRPr/>
            </a:pPr>
            <a:r>
              <a:rPr lang="en-US" sz="2800" b="1"/>
              <a:t>Example 2:</a:t>
            </a:r>
            <a:r>
              <a:rPr lang="en-US" sz="2800"/>
              <a:t> Apply elementary row operations to transform the following matrix first into echelon form and then into reduced echelon form.</a:t>
            </a:r>
          </a:p>
          <a:p>
            <a:pPr eaLnBrk="1" hangingPunct="1">
              <a:lnSpc>
                <a:spcPct val="80000"/>
              </a:lnSpc>
              <a:buFont typeface="Wingdings" charset="0"/>
              <a:buChar char="§"/>
              <a:defRPr/>
            </a:pPr>
            <a:endParaRPr lang="en-US" sz="2800"/>
          </a:p>
          <a:p>
            <a:pPr eaLnBrk="1" hangingPunct="1">
              <a:lnSpc>
                <a:spcPct val="80000"/>
              </a:lnSpc>
              <a:buFont typeface="Wingdings" charset="0"/>
              <a:buChar char="§"/>
              <a:defRPr/>
            </a:pPr>
            <a:endParaRPr lang="en-US" sz="2800"/>
          </a:p>
          <a:p>
            <a:pPr eaLnBrk="1" hangingPunct="1">
              <a:lnSpc>
                <a:spcPct val="80000"/>
              </a:lnSpc>
              <a:buFont typeface="Wingdings" charset="0"/>
              <a:buChar char="§"/>
              <a:defRPr/>
            </a:pPr>
            <a:endParaRPr lang="en-US" sz="2800"/>
          </a:p>
          <a:p>
            <a:pPr eaLnBrk="1" hangingPunct="1">
              <a:lnSpc>
                <a:spcPct val="80000"/>
              </a:lnSpc>
              <a:buFont typeface="Wingdings" charset="0"/>
              <a:buChar char="§"/>
              <a:defRPr/>
            </a:pPr>
            <a:endParaRPr lang="en-US" sz="2800"/>
          </a:p>
          <a:p>
            <a:pPr eaLnBrk="1" hangingPunct="1">
              <a:lnSpc>
                <a:spcPct val="80000"/>
              </a:lnSpc>
              <a:buFont typeface="Wingdings" charset="0"/>
              <a:buChar char="§"/>
              <a:defRPr/>
            </a:pPr>
            <a:endParaRPr lang="en-US" sz="2800">
              <a:solidFill>
                <a:srgbClr val="0099FF"/>
              </a:solidFill>
            </a:endParaRPr>
          </a:p>
          <a:p>
            <a:pPr eaLnBrk="1" hangingPunct="1">
              <a:lnSpc>
                <a:spcPct val="80000"/>
              </a:lnSpc>
              <a:buFont typeface="Wingdings" charset="0"/>
              <a:buChar char="§"/>
              <a:defRPr/>
            </a:pPr>
            <a:r>
              <a:rPr lang="en-US" sz="2800" b="1"/>
              <a:t>Solution:</a:t>
            </a:r>
          </a:p>
          <a:p>
            <a:pPr eaLnBrk="1" hangingPunct="1">
              <a:lnSpc>
                <a:spcPct val="80000"/>
              </a:lnSpc>
              <a:buFont typeface="Wingdings" charset="0"/>
              <a:buChar char="§"/>
              <a:defRPr/>
            </a:pPr>
            <a:r>
              <a:rPr lang="en-US" sz="2800" b="1"/>
              <a:t>STEP 1:</a:t>
            </a:r>
            <a:r>
              <a:rPr lang="en-US" sz="2800"/>
              <a:t> Begin with the leftmost nonzero column. This is a pivot column. The pivot position is at the top.</a:t>
            </a:r>
          </a:p>
          <a:p>
            <a:pPr eaLnBrk="1" hangingPunct="1">
              <a:lnSpc>
                <a:spcPct val="80000"/>
              </a:lnSpc>
              <a:buFont typeface="Wingdings" charset="0"/>
              <a:buChar char="§"/>
              <a:defRPr/>
            </a:pPr>
            <a:endParaRPr lang="en-US" sz="2800" b="1"/>
          </a:p>
        </p:txBody>
      </p:sp>
      <p:sp>
        <p:nvSpPr>
          <p:cNvPr id="1843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1843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95313232-8B52-4484-8A68-56EE9C4D1756}" type="slidenum">
              <a:rPr lang="en-US" altLang="en-US" sz="1200">
                <a:latin typeface="Arial" panose="020B0604020202020204" pitchFamily="34" charset="0"/>
              </a:rPr>
              <a:pPr>
                <a:spcBef>
                  <a:spcPct val="0"/>
                </a:spcBef>
                <a:buClrTx/>
                <a:buFontTx/>
                <a:buNone/>
              </a:pPr>
              <a:t>42</a:t>
            </a:fld>
            <a:endParaRPr lang="en-CA" altLang="en-US" sz="1200">
              <a:latin typeface="Arial" panose="020B0604020202020204" pitchFamily="34" charset="0"/>
            </a:endParaRPr>
          </a:p>
        </p:txBody>
      </p:sp>
      <p:graphicFrame>
        <p:nvGraphicFramePr>
          <p:cNvPr id="666628" name="Object 4"/>
          <p:cNvGraphicFramePr>
            <a:graphicFrameLocks noChangeAspect="1"/>
          </p:cNvGraphicFramePr>
          <p:nvPr/>
        </p:nvGraphicFramePr>
        <p:xfrm>
          <a:off x="4191000" y="2895600"/>
          <a:ext cx="4406900" cy="1778000"/>
        </p:xfrm>
        <a:graphic>
          <a:graphicData uri="http://schemas.openxmlformats.org/presentationml/2006/ole">
            <mc:AlternateContent xmlns:mc="http://schemas.openxmlformats.org/markup-compatibility/2006">
              <mc:Choice xmlns:v="urn:schemas-microsoft-com:vml" Requires="v">
                <p:oleObj spid="_x0000_s11293" name="Equation" r:id="rId3" imgW="4406900" imgH="1778000" progId="Equation.DSMT4">
                  <p:embed/>
                </p:oleObj>
              </mc:Choice>
              <mc:Fallback>
                <p:oleObj name="Equation" r:id="rId3" imgW="44069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2895600"/>
                        <a:ext cx="4406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60820946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662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6628"/>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66627">
                                            <p:txEl>
                                              <p:pRg st="6" end="6"/>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66627">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7650" name="Rectangle 2"/>
          <p:cNvSpPr>
            <a:spLocks noGrp="1" noChangeArrowheads="1"/>
          </p:cNvSpPr>
          <p:nvPr>
            <p:ph type="title"/>
          </p:nvPr>
        </p:nvSpPr>
        <p:spPr/>
        <p:txBody>
          <a:bodyPr/>
          <a:lstStyle/>
          <a:p>
            <a:pPr eaLnBrk="1" hangingPunct="1">
              <a:defRPr/>
            </a:pPr>
            <a:r>
              <a:rPr lang="en-US" smtClean="0">
                <a:ea typeface="+mj-ea"/>
                <a:cs typeface="+mj-cs"/>
              </a:rPr>
              <a:t>ROW REDUCTION ALGORITHM</a:t>
            </a:r>
          </a:p>
        </p:txBody>
      </p:sp>
      <p:sp>
        <p:nvSpPr>
          <p:cNvPr id="667651" name="Rectangle 3"/>
          <p:cNvSpPr>
            <a:spLocks noGrp="1" noChangeArrowheads="1"/>
          </p:cNvSpPr>
          <p:nvPr>
            <p:ph type="body" sz="half" idx="1"/>
          </p:nvPr>
        </p:nvSpPr>
        <p:spPr>
          <a:xfrm>
            <a:off x="1981200" y="1600200"/>
            <a:ext cx="8534400" cy="4572000"/>
          </a:xfrm>
        </p:spPr>
        <p:txBody>
          <a:bodyPr>
            <a:normAutofit lnSpcReduction="10000"/>
          </a:bodyPr>
          <a:lstStyle/>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r>
              <a:rPr lang="en-US" sz="2800" b="1"/>
              <a:t>STEP 2:</a:t>
            </a:r>
            <a:r>
              <a:rPr lang="en-US" sz="2800"/>
              <a:t> Select a nonzero entry in the pivot column as a pivot. If necessary, interchange rows to move this entry into the pivot position.</a:t>
            </a:r>
          </a:p>
        </p:txBody>
      </p:sp>
      <p:graphicFrame>
        <p:nvGraphicFramePr>
          <p:cNvPr id="667652" name="Object 4"/>
          <p:cNvGraphicFramePr>
            <a:graphicFrameLocks noGrp="1" noChangeAspect="1"/>
          </p:cNvGraphicFramePr>
          <p:nvPr>
            <p:ph sz="half" idx="2"/>
          </p:nvPr>
        </p:nvGraphicFramePr>
        <p:xfrm>
          <a:off x="4191000" y="1295400"/>
          <a:ext cx="4037013" cy="1628775"/>
        </p:xfrm>
        <a:graphic>
          <a:graphicData uri="http://schemas.openxmlformats.org/presentationml/2006/ole">
            <mc:AlternateContent xmlns:mc="http://schemas.openxmlformats.org/markup-compatibility/2006">
              <mc:Choice xmlns:v="urn:schemas-microsoft-com:vml" Requires="v">
                <p:oleObj spid="_x0000_s12317" name="Equation" r:id="rId3" imgW="4406900" imgH="1778000" progId="Equation.DSMT4">
                  <p:embed/>
                </p:oleObj>
              </mc:Choice>
              <mc:Fallback>
                <p:oleObj name="Equation" r:id="rId3" imgW="44069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91000" y="1295400"/>
                        <a:ext cx="4037013"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19458" name="Slide Number Placeholder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770354F9-EE57-49F2-82A7-C760322CC33B}" type="slidenum">
              <a:rPr lang="en-US" altLang="en-US" sz="1200">
                <a:latin typeface="Arial" panose="020B0604020202020204" pitchFamily="34" charset="0"/>
              </a:rPr>
              <a:pPr>
                <a:spcBef>
                  <a:spcPct val="0"/>
                </a:spcBef>
                <a:buClrTx/>
                <a:buFontTx/>
                <a:buNone/>
              </a:pPr>
              <a:t>43</a:t>
            </a:fld>
            <a:endParaRPr lang="en-CA" altLang="en-US" sz="1200">
              <a:latin typeface="Arial" panose="020B0604020202020204" pitchFamily="34" charset="0"/>
            </a:endParaRPr>
          </a:p>
        </p:txBody>
      </p:sp>
      <p:sp>
        <p:nvSpPr>
          <p:cNvPr id="19459"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667654" name="Line 6"/>
          <p:cNvSpPr>
            <a:spLocks noChangeShapeType="1"/>
          </p:cNvSpPr>
          <p:nvPr/>
        </p:nvSpPr>
        <p:spPr bwMode="auto">
          <a:xfrm flipV="1">
            <a:off x="4495800" y="2819400"/>
            <a:ext cx="0" cy="2286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7656" name="Line 8"/>
          <p:cNvSpPr>
            <a:spLocks noChangeShapeType="1"/>
          </p:cNvSpPr>
          <p:nvPr/>
        </p:nvSpPr>
        <p:spPr bwMode="auto">
          <a:xfrm>
            <a:off x="4495800" y="3048000"/>
            <a:ext cx="7620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7657" name="Text Box 9" descr="Pink tissue paper"/>
          <p:cNvSpPr txBox="1">
            <a:spLocks noChangeArrowheads="1"/>
          </p:cNvSpPr>
          <p:nvPr/>
        </p:nvSpPr>
        <p:spPr bwMode="auto">
          <a:xfrm>
            <a:off x="5257800" y="2819400"/>
            <a:ext cx="2286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Pivot column</a:t>
            </a:r>
          </a:p>
        </p:txBody>
      </p:sp>
    </p:spTree>
    <p:extLst>
      <p:ext uri="{BB962C8B-B14F-4D97-AF65-F5344CB8AC3E}">
        <p14:creationId xmlns:p14="http://schemas.microsoft.com/office/powerpoint/2010/main" val="318680992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66765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6765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765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7657"/>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67651">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7654" grpId="0" animBg="1"/>
      <p:bldP spid="667656" grpId="0" animBg="1"/>
      <p:bldP spid="667657"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Grp="1" noChangeArrowheads="1"/>
          </p:cNvSpPr>
          <p:nvPr>
            <p:ph type="title"/>
          </p:nvPr>
        </p:nvSpPr>
        <p:spPr/>
        <p:txBody>
          <a:bodyPr/>
          <a:lstStyle/>
          <a:p>
            <a:pPr eaLnBrk="1" hangingPunct="1">
              <a:defRPr/>
            </a:pPr>
            <a:r>
              <a:rPr lang="en-US" smtClean="0">
                <a:ea typeface="+mj-ea"/>
                <a:cs typeface="+mj-cs"/>
              </a:rPr>
              <a:t>ROW REDUCTION ALGORITHM</a:t>
            </a:r>
          </a:p>
        </p:txBody>
      </p:sp>
      <p:sp>
        <p:nvSpPr>
          <p:cNvPr id="669699" name="Rectangle 3"/>
          <p:cNvSpPr>
            <a:spLocks noGrp="1" noChangeArrowheads="1"/>
          </p:cNvSpPr>
          <p:nvPr>
            <p:ph sz="quarter" idx="13"/>
          </p:nvPr>
        </p:nvSpPr>
        <p:spPr/>
        <p:txBody>
          <a:bodyPr>
            <a:normAutofit fontScale="77500" lnSpcReduction="20000"/>
          </a:bodyPr>
          <a:lstStyle/>
          <a:p>
            <a:pPr eaLnBrk="1" hangingPunct="1">
              <a:buFont typeface="Wingdings" charset="0"/>
              <a:buChar char="§"/>
              <a:defRPr/>
            </a:pPr>
            <a:r>
              <a:rPr lang="en-US" sz="2800" dirty="0"/>
              <a:t>Interchange rows 1 and 3. (Rows 1 and 2 could have also been interchanged instead.)</a:t>
            </a:r>
          </a:p>
          <a:p>
            <a:pPr eaLnBrk="1" hangingPunct="1">
              <a:buFont typeface="Wingdings" charset="0"/>
              <a:buChar char="§"/>
              <a:defRPr/>
            </a:pPr>
            <a:endParaRPr lang="en-US" sz="2800" dirty="0"/>
          </a:p>
          <a:p>
            <a:pPr eaLnBrk="1" hangingPunct="1">
              <a:buFont typeface="Wingdings" charset="0"/>
              <a:buChar char="§"/>
              <a:defRPr/>
            </a:pPr>
            <a:endParaRPr lang="en-US" sz="2800" dirty="0"/>
          </a:p>
          <a:p>
            <a:pPr eaLnBrk="1" hangingPunct="1">
              <a:buFont typeface="Wingdings" charset="0"/>
              <a:buChar char="§"/>
              <a:defRPr/>
            </a:pPr>
            <a:endParaRPr lang="en-US" sz="2800" dirty="0"/>
          </a:p>
          <a:p>
            <a:pPr eaLnBrk="1" hangingPunct="1">
              <a:buFont typeface="Wingdings" charset="0"/>
              <a:buChar char="§"/>
              <a:defRPr/>
            </a:pPr>
            <a:endParaRPr lang="en-US" sz="2800" dirty="0"/>
          </a:p>
          <a:p>
            <a:pPr eaLnBrk="1" hangingPunct="1">
              <a:buFont typeface="Wingdings" charset="0"/>
              <a:buChar char="§"/>
              <a:defRPr/>
            </a:pPr>
            <a:r>
              <a:rPr lang="en-US" sz="2800" b="1" dirty="0"/>
              <a:t>STEP 3:</a:t>
            </a:r>
            <a:r>
              <a:rPr lang="en-US" sz="2800" dirty="0"/>
              <a:t> Use row replacement operations to create zeros in all positions below the pivot.</a:t>
            </a:r>
          </a:p>
        </p:txBody>
      </p:sp>
      <p:sp>
        <p:nvSpPr>
          <p:cNvPr id="2048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2048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F9F5EFE0-0E87-4C9E-B961-3B2E7390CE51}" type="slidenum">
              <a:rPr lang="en-US" altLang="en-US" sz="1200">
                <a:latin typeface="Arial" panose="020B0604020202020204" pitchFamily="34" charset="0"/>
              </a:rPr>
              <a:pPr>
                <a:spcBef>
                  <a:spcPct val="0"/>
                </a:spcBef>
                <a:buClrTx/>
                <a:buFontTx/>
                <a:buNone/>
              </a:pPr>
              <a:t>44</a:t>
            </a:fld>
            <a:endParaRPr lang="en-CA" altLang="en-US" sz="1200">
              <a:latin typeface="Arial" panose="020B0604020202020204" pitchFamily="34" charset="0"/>
            </a:endParaRPr>
          </a:p>
        </p:txBody>
      </p:sp>
      <p:graphicFrame>
        <p:nvGraphicFramePr>
          <p:cNvPr id="669700" name="Object 4"/>
          <p:cNvGraphicFramePr>
            <a:graphicFrameLocks noChangeAspect="1"/>
          </p:cNvGraphicFramePr>
          <p:nvPr>
            <p:extLst>
              <p:ext uri="{D42A27DB-BD31-4B8C-83A1-F6EECF244321}">
                <p14:modId xmlns:p14="http://schemas.microsoft.com/office/powerpoint/2010/main" val="4047829375"/>
              </p:ext>
            </p:extLst>
          </p:nvPr>
        </p:nvGraphicFramePr>
        <p:xfrm>
          <a:off x="5314745" y="3080603"/>
          <a:ext cx="4406900" cy="1778000"/>
        </p:xfrm>
        <a:graphic>
          <a:graphicData uri="http://schemas.openxmlformats.org/presentationml/2006/ole">
            <mc:AlternateContent xmlns:mc="http://schemas.openxmlformats.org/markup-compatibility/2006">
              <mc:Choice xmlns:v="urn:schemas-microsoft-com:vml" Requires="v">
                <p:oleObj spid="_x0000_s13341" name="Equation" r:id="rId3" imgW="4406900" imgH="1778000" progId="Equation.DSMT4">
                  <p:embed/>
                </p:oleObj>
              </mc:Choice>
              <mc:Fallback>
                <p:oleObj name="Equation" r:id="rId3" imgW="44069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14745" y="3080603"/>
                        <a:ext cx="4406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69701" name="Line 5"/>
          <p:cNvSpPr>
            <a:spLocks noChangeShapeType="1"/>
          </p:cNvSpPr>
          <p:nvPr/>
        </p:nvSpPr>
        <p:spPr bwMode="auto">
          <a:xfrm flipH="1">
            <a:off x="5712728" y="3334604"/>
            <a:ext cx="152400" cy="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69702" name="Line 6"/>
          <p:cNvSpPr>
            <a:spLocks noChangeShapeType="1"/>
          </p:cNvSpPr>
          <p:nvPr/>
        </p:nvSpPr>
        <p:spPr bwMode="auto">
          <a:xfrm flipV="1">
            <a:off x="5865128" y="3029804"/>
            <a:ext cx="0" cy="3048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03" name="Line 7"/>
          <p:cNvSpPr>
            <a:spLocks noChangeShapeType="1"/>
          </p:cNvSpPr>
          <p:nvPr/>
        </p:nvSpPr>
        <p:spPr bwMode="auto">
          <a:xfrm>
            <a:off x="5865128" y="3029804"/>
            <a:ext cx="8382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69704" name="Text Box 8" descr="Pink tissue paper"/>
          <p:cNvSpPr txBox="1">
            <a:spLocks noChangeArrowheads="1"/>
          </p:cNvSpPr>
          <p:nvPr/>
        </p:nvSpPr>
        <p:spPr bwMode="auto">
          <a:xfrm>
            <a:off x="6703328" y="2801204"/>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dirty="0">
                <a:solidFill>
                  <a:srgbClr val="0099FF"/>
                </a:solidFill>
                <a:latin typeface="Times New Roman" panose="02020603050405020304" pitchFamily="18" charset="0"/>
              </a:rPr>
              <a:t>Pivot</a:t>
            </a:r>
          </a:p>
        </p:txBody>
      </p:sp>
    </p:spTree>
    <p:extLst>
      <p:ext uri="{BB962C8B-B14F-4D97-AF65-F5344CB8AC3E}">
        <p14:creationId xmlns:p14="http://schemas.microsoft.com/office/powerpoint/2010/main" val="156558032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6969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970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6970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6970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697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69704"/>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69699">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9701" grpId="0" animBg="1"/>
      <p:bldP spid="669702" grpId="0" animBg="1"/>
      <p:bldP spid="669703" grpId="0" animBg="1"/>
      <p:bldP spid="66970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0722" name="Rectangle 2"/>
          <p:cNvSpPr>
            <a:spLocks noGrp="1" noChangeArrowheads="1"/>
          </p:cNvSpPr>
          <p:nvPr>
            <p:ph type="title"/>
          </p:nvPr>
        </p:nvSpPr>
        <p:spPr>
          <a:xfrm>
            <a:off x="913775" y="-65403"/>
            <a:ext cx="10364451" cy="1596177"/>
          </a:xfrm>
        </p:spPr>
        <p:txBody>
          <a:bodyPr/>
          <a:lstStyle/>
          <a:p>
            <a:pPr eaLnBrk="1" hangingPunct="1">
              <a:defRPr/>
            </a:pPr>
            <a:r>
              <a:rPr lang="en-US" dirty="0" smtClean="0">
                <a:ea typeface="+mj-ea"/>
                <a:cs typeface="+mj-cs"/>
              </a:rPr>
              <a:t>ROW REDUCTION ALGORITHM</a:t>
            </a:r>
          </a:p>
        </p:txBody>
      </p:sp>
      <p:sp>
        <p:nvSpPr>
          <p:cNvPr id="670723" name="Rectangle 3"/>
          <p:cNvSpPr>
            <a:spLocks noGrp="1" noChangeArrowheads="1"/>
          </p:cNvSpPr>
          <p:nvPr>
            <p:ph sz="quarter" idx="13"/>
          </p:nvPr>
        </p:nvSpPr>
        <p:spPr>
          <a:xfrm>
            <a:off x="1981200" y="1295400"/>
            <a:ext cx="8305800" cy="5257800"/>
          </a:xfrm>
        </p:spPr>
        <p:txBody>
          <a:bodyPr>
            <a:normAutofit fontScale="85000" lnSpcReduction="10000"/>
          </a:bodyPr>
          <a:lstStyle/>
          <a:p>
            <a:pPr eaLnBrk="1" hangingPunct="1"/>
            <a:r>
              <a:rPr lang="en-US" altLang="en-US" sz="2800"/>
              <a:t>We could have divided the top row by the pivot, 3, but with two 3s in column 1, it is just as easy to add      times row 1 to row 2.</a:t>
            </a:r>
          </a:p>
          <a:p>
            <a:pPr eaLnBrk="1" hangingPunct="1"/>
            <a:endParaRPr lang="en-US" altLang="en-US" sz="2800"/>
          </a:p>
          <a:p>
            <a:pPr eaLnBrk="1" hangingPunct="1"/>
            <a:endParaRPr lang="en-US" altLang="en-US" sz="2800"/>
          </a:p>
          <a:p>
            <a:pPr eaLnBrk="1" hangingPunct="1"/>
            <a:endParaRPr lang="en-US" altLang="en-US" sz="2800"/>
          </a:p>
          <a:p>
            <a:pPr eaLnBrk="1" hangingPunct="1"/>
            <a:endParaRPr lang="en-US" altLang="en-US" sz="2800"/>
          </a:p>
          <a:p>
            <a:pPr eaLnBrk="1" hangingPunct="1"/>
            <a:r>
              <a:rPr lang="en-US" altLang="en-US" sz="2800" b="1"/>
              <a:t>STEP 4:</a:t>
            </a:r>
            <a:r>
              <a:rPr lang="en-US" altLang="en-US" sz="2800"/>
              <a:t> Cover the row containing the pivot position, and cover all rows, if any, above it. Apply steps 1–3 to the submatrix that remains. Repeat the process until there are no more nonzero rows to modify.</a:t>
            </a:r>
          </a:p>
        </p:txBody>
      </p:sp>
      <p:sp>
        <p:nvSpPr>
          <p:cNvPr id="2150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F4C0CB18-C47C-4C21-8F42-4C60F370A9C9}" type="slidenum">
              <a:rPr lang="en-US" altLang="en-US" sz="1200">
                <a:latin typeface="Arial" panose="020B0604020202020204" pitchFamily="34" charset="0"/>
              </a:rPr>
              <a:pPr>
                <a:spcBef>
                  <a:spcPct val="0"/>
                </a:spcBef>
                <a:buClrTx/>
                <a:buFontTx/>
                <a:buNone/>
              </a:pPr>
              <a:t>45</a:t>
            </a:fld>
            <a:endParaRPr lang="en-CA" altLang="en-US" sz="1200">
              <a:latin typeface="Arial" panose="020B0604020202020204" pitchFamily="34" charset="0"/>
            </a:endParaRPr>
          </a:p>
        </p:txBody>
      </p:sp>
      <p:graphicFrame>
        <p:nvGraphicFramePr>
          <p:cNvPr id="670724" name="Object 4"/>
          <p:cNvGraphicFramePr>
            <a:graphicFrameLocks noChangeAspect="1"/>
          </p:cNvGraphicFramePr>
          <p:nvPr/>
        </p:nvGraphicFramePr>
        <p:xfrm>
          <a:off x="9321800" y="1828800"/>
          <a:ext cx="381000" cy="300038"/>
        </p:xfrm>
        <a:graphic>
          <a:graphicData uri="http://schemas.openxmlformats.org/presentationml/2006/ole">
            <mc:AlternateContent xmlns:mc="http://schemas.openxmlformats.org/markup-compatibility/2006">
              <mc:Choice xmlns:v="urn:schemas-microsoft-com:vml" Requires="v">
                <p:oleObj spid="_x0000_s14392" name="Equation" r:id="rId3" imgW="419100" imgH="330200" progId="Equation.DSMT4">
                  <p:embed/>
                </p:oleObj>
              </mc:Choice>
              <mc:Fallback>
                <p:oleObj name="Equation" r:id="rId3" imgW="419100" imgH="330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321800" y="1828800"/>
                        <a:ext cx="381000" cy="300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0725" name="Object 5"/>
          <p:cNvGraphicFramePr>
            <a:graphicFrameLocks noChangeAspect="1"/>
          </p:cNvGraphicFramePr>
          <p:nvPr/>
        </p:nvGraphicFramePr>
        <p:xfrm>
          <a:off x="3886200" y="2819400"/>
          <a:ext cx="4406900" cy="1778000"/>
        </p:xfrm>
        <a:graphic>
          <a:graphicData uri="http://schemas.openxmlformats.org/presentationml/2006/ole">
            <mc:AlternateContent xmlns:mc="http://schemas.openxmlformats.org/markup-compatibility/2006">
              <mc:Choice xmlns:v="urn:schemas-microsoft-com:vml" Requires="v">
                <p:oleObj spid="_x0000_s14393" name="Equation" r:id="rId5" imgW="4406900" imgH="1778000" progId="Equation.DSMT4">
                  <p:embed/>
                </p:oleObj>
              </mc:Choice>
              <mc:Fallback>
                <p:oleObj name="Equation" r:id="rId5" imgW="4406900" imgH="177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86200" y="2819400"/>
                        <a:ext cx="4406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0726" name="Line 6"/>
          <p:cNvSpPr>
            <a:spLocks noChangeShapeType="1"/>
          </p:cNvSpPr>
          <p:nvPr/>
        </p:nvSpPr>
        <p:spPr bwMode="auto">
          <a:xfrm flipH="1">
            <a:off x="4267200" y="2971800"/>
            <a:ext cx="152400" cy="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0727" name="Line 7"/>
          <p:cNvSpPr>
            <a:spLocks noChangeShapeType="1"/>
          </p:cNvSpPr>
          <p:nvPr/>
        </p:nvSpPr>
        <p:spPr bwMode="auto">
          <a:xfrm flipV="1">
            <a:off x="4419600" y="2667000"/>
            <a:ext cx="0" cy="3048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0728" name="Line 8"/>
          <p:cNvSpPr>
            <a:spLocks noChangeShapeType="1"/>
          </p:cNvSpPr>
          <p:nvPr/>
        </p:nvSpPr>
        <p:spPr bwMode="auto">
          <a:xfrm>
            <a:off x="4419600" y="2667000"/>
            <a:ext cx="9144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0729" name="Text Box 9" descr="Pink tissue paper"/>
          <p:cNvSpPr txBox="1">
            <a:spLocks noChangeArrowheads="1"/>
          </p:cNvSpPr>
          <p:nvPr/>
        </p:nvSpPr>
        <p:spPr bwMode="auto">
          <a:xfrm>
            <a:off x="5334000" y="2438400"/>
            <a:ext cx="1371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Pivot</a:t>
            </a:r>
          </a:p>
        </p:txBody>
      </p:sp>
    </p:spTree>
    <p:extLst>
      <p:ext uri="{BB962C8B-B14F-4D97-AF65-F5344CB8AC3E}">
        <p14:creationId xmlns:p14="http://schemas.microsoft.com/office/powerpoint/2010/main" val="41760520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072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072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072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072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0728"/>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072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670724"/>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7072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0726" grpId="0" animBg="1"/>
      <p:bldP spid="670727" grpId="0" animBg="1"/>
      <p:bldP spid="670728" grpId="0" animBg="1"/>
      <p:bldP spid="670729"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1746" name="Rectangle 2"/>
          <p:cNvSpPr>
            <a:spLocks noGrp="1" noChangeArrowheads="1"/>
          </p:cNvSpPr>
          <p:nvPr>
            <p:ph type="title"/>
          </p:nvPr>
        </p:nvSpPr>
        <p:spPr/>
        <p:txBody>
          <a:bodyPr/>
          <a:lstStyle/>
          <a:p>
            <a:pPr eaLnBrk="1" hangingPunct="1">
              <a:defRPr/>
            </a:pPr>
            <a:r>
              <a:rPr lang="en-US" smtClean="0">
                <a:ea typeface="+mj-ea"/>
                <a:cs typeface="+mj-cs"/>
              </a:rPr>
              <a:t>ROW REDUCTION ALGORITHM</a:t>
            </a:r>
          </a:p>
        </p:txBody>
      </p:sp>
      <p:sp>
        <p:nvSpPr>
          <p:cNvPr id="671747" name="Rectangle 3"/>
          <p:cNvSpPr>
            <a:spLocks noGrp="1" noChangeArrowheads="1"/>
          </p:cNvSpPr>
          <p:nvPr>
            <p:ph type="body" sz="half" idx="1"/>
          </p:nvPr>
        </p:nvSpPr>
        <p:spPr>
          <a:xfrm>
            <a:off x="1981200" y="1746912"/>
            <a:ext cx="8532811" cy="4806287"/>
          </a:xfrm>
        </p:spPr>
        <p:txBody>
          <a:bodyPr>
            <a:normAutofit fontScale="85000" lnSpcReduction="20000"/>
          </a:bodyPr>
          <a:lstStyle/>
          <a:p>
            <a:pPr eaLnBrk="1" hangingPunct="1"/>
            <a:r>
              <a:rPr lang="en-US" altLang="en-US" sz="2800" dirty="0"/>
              <a:t>With row 1 covered, step 1 shows that column 2 is the next pivot column; for step 2, select as a pivot the </a:t>
            </a:r>
            <a:r>
              <a:rPr lang="ja-JP" altLang="en-US" sz="2800" dirty="0">
                <a:latin typeface="Arial" panose="020B0604020202020204" pitchFamily="34" charset="0"/>
              </a:rPr>
              <a:t>“</a:t>
            </a:r>
            <a:r>
              <a:rPr lang="en-US" altLang="ja-JP" sz="2800" dirty="0"/>
              <a:t>top</a:t>
            </a:r>
            <a:r>
              <a:rPr lang="ja-JP" altLang="en-US" sz="2800" dirty="0">
                <a:latin typeface="Arial" panose="020B0604020202020204" pitchFamily="34" charset="0"/>
              </a:rPr>
              <a:t>”</a:t>
            </a:r>
            <a:r>
              <a:rPr lang="en-US" altLang="ja-JP" sz="2800" dirty="0"/>
              <a:t> entry in that column.</a:t>
            </a:r>
          </a:p>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a:p>
            <a:pPr eaLnBrk="1" hangingPunct="1"/>
            <a:r>
              <a:rPr lang="en-US" altLang="en-US" sz="2800" dirty="0"/>
              <a:t>For step 3, we could insert an optional step of dividing the </a:t>
            </a:r>
            <a:r>
              <a:rPr lang="ja-JP" altLang="en-US" sz="2800" dirty="0">
                <a:latin typeface="Arial" panose="020B0604020202020204" pitchFamily="34" charset="0"/>
              </a:rPr>
              <a:t>“</a:t>
            </a:r>
            <a:r>
              <a:rPr lang="en-US" altLang="ja-JP" sz="2800" dirty="0"/>
              <a:t>top</a:t>
            </a:r>
            <a:r>
              <a:rPr lang="ja-JP" altLang="en-US" sz="2800" dirty="0">
                <a:latin typeface="Arial" panose="020B0604020202020204" pitchFamily="34" charset="0"/>
              </a:rPr>
              <a:t>”</a:t>
            </a:r>
            <a:r>
              <a:rPr lang="en-US" altLang="ja-JP" sz="2800" dirty="0"/>
              <a:t> row of the submatrix by the pivot, 2. Instead, we add            times the </a:t>
            </a:r>
            <a:r>
              <a:rPr lang="ja-JP" altLang="en-US" sz="2800" dirty="0">
                <a:latin typeface="Arial" panose="020B0604020202020204" pitchFamily="34" charset="0"/>
              </a:rPr>
              <a:t>“</a:t>
            </a:r>
            <a:r>
              <a:rPr lang="en-US" altLang="ja-JP" sz="2800" dirty="0"/>
              <a:t>top</a:t>
            </a:r>
            <a:r>
              <a:rPr lang="ja-JP" altLang="en-US" sz="2800" dirty="0">
                <a:latin typeface="Arial" panose="020B0604020202020204" pitchFamily="34" charset="0"/>
              </a:rPr>
              <a:t>”</a:t>
            </a:r>
            <a:r>
              <a:rPr lang="en-US" altLang="ja-JP" sz="2800" dirty="0"/>
              <a:t> row to the row below.</a:t>
            </a:r>
            <a:endParaRPr lang="en-US" altLang="en-US" sz="2800" dirty="0"/>
          </a:p>
        </p:txBody>
      </p:sp>
      <p:graphicFrame>
        <p:nvGraphicFramePr>
          <p:cNvPr id="671748" name="Object 4"/>
          <p:cNvGraphicFramePr>
            <a:graphicFrameLocks noGrp="1" noChangeAspect="1"/>
          </p:cNvGraphicFramePr>
          <p:nvPr>
            <p:ph sz="half" idx="2"/>
          </p:nvPr>
        </p:nvGraphicFramePr>
        <p:xfrm>
          <a:off x="4343400" y="3124200"/>
          <a:ext cx="4037013" cy="1628775"/>
        </p:xfrm>
        <a:graphic>
          <a:graphicData uri="http://schemas.openxmlformats.org/presentationml/2006/ole">
            <mc:AlternateContent xmlns:mc="http://schemas.openxmlformats.org/markup-compatibility/2006">
              <mc:Choice xmlns:v="urn:schemas-microsoft-com:vml" Requires="v">
                <p:oleObj spid="_x0000_s15416" name="Equation" r:id="rId3" imgW="4406900" imgH="1778000" progId="Equation.DSMT4">
                  <p:embed/>
                </p:oleObj>
              </mc:Choice>
              <mc:Fallback>
                <p:oleObj name="Equation" r:id="rId3" imgW="44069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43400" y="3124200"/>
                        <a:ext cx="4037013"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2530" name="Slide Number Placeholder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46AD84A2-D601-49F6-ADB1-84168AD01DF5}" type="slidenum">
              <a:rPr lang="en-US" altLang="en-US" sz="1200">
                <a:latin typeface="Arial" panose="020B0604020202020204" pitchFamily="34" charset="0"/>
              </a:rPr>
              <a:pPr>
                <a:spcBef>
                  <a:spcPct val="0"/>
                </a:spcBef>
                <a:buClrTx/>
                <a:buFontTx/>
                <a:buNone/>
              </a:pPr>
              <a:t>46</a:t>
            </a:fld>
            <a:endParaRPr lang="en-CA" altLang="en-US" sz="1200">
              <a:latin typeface="Arial" panose="020B0604020202020204" pitchFamily="34" charset="0"/>
            </a:endParaRPr>
          </a:p>
        </p:txBody>
      </p:sp>
      <p:sp>
        <p:nvSpPr>
          <p:cNvPr id="671751" name="Line 7"/>
          <p:cNvSpPr>
            <a:spLocks noChangeShapeType="1"/>
          </p:cNvSpPr>
          <p:nvPr/>
        </p:nvSpPr>
        <p:spPr bwMode="auto">
          <a:xfrm flipH="1">
            <a:off x="5410200" y="3962400"/>
            <a:ext cx="228600" cy="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1753" name="Line 9"/>
          <p:cNvSpPr>
            <a:spLocks noChangeShapeType="1"/>
          </p:cNvSpPr>
          <p:nvPr/>
        </p:nvSpPr>
        <p:spPr bwMode="auto">
          <a:xfrm flipV="1">
            <a:off x="5638800" y="2971800"/>
            <a:ext cx="0" cy="9906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54" name="Line 10"/>
          <p:cNvSpPr>
            <a:spLocks noChangeShapeType="1"/>
          </p:cNvSpPr>
          <p:nvPr/>
        </p:nvSpPr>
        <p:spPr bwMode="auto">
          <a:xfrm>
            <a:off x="5638800" y="2971800"/>
            <a:ext cx="4572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55" name="Text Box 11" descr="Pink tissue paper"/>
          <p:cNvSpPr txBox="1">
            <a:spLocks noChangeArrowheads="1"/>
          </p:cNvSpPr>
          <p:nvPr/>
        </p:nvSpPr>
        <p:spPr bwMode="auto">
          <a:xfrm>
            <a:off x="6096000" y="2743200"/>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Pivot</a:t>
            </a:r>
          </a:p>
        </p:txBody>
      </p:sp>
      <p:sp>
        <p:nvSpPr>
          <p:cNvPr id="671756" name="Line 12"/>
          <p:cNvSpPr>
            <a:spLocks noChangeShapeType="1"/>
          </p:cNvSpPr>
          <p:nvPr/>
        </p:nvSpPr>
        <p:spPr bwMode="auto">
          <a:xfrm flipV="1">
            <a:off x="5334000" y="4648200"/>
            <a:ext cx="0" cy="228600"/>
          </a:xfrm>
          <a:prstGeom prst="line">
            <a:avLst/>
          </a:prstGeom>
          <a:noFill/>
          <a:ln w="9525">
            <a:solidFill>
              <a:srgbClr val="0099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1757" name="Line 13"/>
          <p:cNvSpPr>
            <a:spLocks noChangeShapeType="1"/>
          </p:cNvSpPr>
          <p:nvPr/>
        </p:nvSpPr>
        <p:spPr bwMode="auto">
          <a:xfrm>
            <a:off x="5334000" y="4876800"/>
            <a:ext cx="5334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58" name="Text Box 14" descr="Pink tissue paper"/>
          <p:cNvSpPr txBox="1">
            <a:spLocks noChangeArrowheads="1"/>
          </p:cNvSpPr>
          <p:nvPr/>
        </p:nvSpPr>
        <p:spPr bwMode="auto">
          <a:xfrm>
            <a:off x="5867400" y="4648200"/>
            <a:ext cx="2667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lgn="ctr">
              <a:defRPr sz="2400">
                <a:solidFill>
                  <a:schemeClr val="tx1"/>
                </a:solidFill>
                <a:latin typeface="Bookshelf Symbol 2" pitchFamily="2" charset="2"/>
                <a:ea typeface="MS PGothic" panose="020B0600070205080204" pitchFamily="34" charset="-128"/>
              </a:defRPr>
            </a:lvl1pPr>
            <a:lvl2pPr marL="742950" indent="-285750" algn="ctr">
              <a:defRPr sz="2400">
                <a:solidFill>
                  <a:schemeClr val="tx1"/>
                </a:solidFill>
                <a:latin typeface="Bookshelf Symbol 2" pitchFamily="2" charset="2"/>
                <a:ea typeface="MS PGothic" panose="020B0600070205080204" pitchFamily="34" charset="-128"/>
              </a:defRPr>
            </a:lvl2pPr>
            <a:lvl3pPr marL="1143000" indent="-228600" algn="ctr">
              <a:defRPr sz="2400">
                <a:solidFill>
                  <a:schemeClr val="tx1"/>
                </a:solidFill>
                <a:latin typeface="Bookshelf Symbol 2" pitchFamily="2" charset="2"/>
                <a:ea typeface="MS PGothic" panose="020B0600070205080204" pitchFamily="34" charset="-128"/>
              </a:defRPr>
            </a:lvl3pPr>
            <a:lvl4pPr marL="1600200" indent="-228600" algn="ctr">
              <a:defRPr sz="2400">
                <a:solidFill>
                  <a:schemeClr val="tx1"/>
                </a:solidFill>
                <a:latin typeface="Bookshelf Symbol 2" pitchFamily="2" charset="2"/>
                <a:ea typeface="MS PGothic" panose="020B0600070205080204" pitchFamily="34" charset="-128"/>
              </a:defRPr>
            </a:lvl4pPr>
            <a:lvl5pPr marL="2057400" indent="-228600" algn="ctr">
              <a:defRPr sz="2400">
                <a:solidFill>
                  <a:schemeClr val="tx1"/>
                </a:solidFill>
                <a:latin typeface="Bookshelf Symbol 2" pitchFamily="2" charset="2"/>
                <a:ea typeface="MS PGothic" panose="020B0600070205080204" pitchFamily="34" charset="-128"/>
              </a:defRPr>
            </a:lvl5pPr>
            <a:lvl6pPr marL="25146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6pPr>
            <a:lvl7pPr marL="29718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7pPr>
            <a:lvl8pPr marL="34290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8pPr>
            <a:lvl9pPr marL="3886200" indent="-228600" algn="ctr" eaLnBrk="0" fontAlgn="base" hangingPunct="0">
              <a:spcBef>
                <a:spcPct val="0"/>
              </a:spcBef>
              <a:spcAft>
                <a:spcPct val="0"/>
              </a:spcAft>
              <a:defRPr sz="2400">
                <a:solidFill>
                  <a:schemeClr val="tx1"/>
                </a:solidFill>
                <a:latin typeface="Bookshelf Symbol 2" pitchFamily="2" charset="2"/>
                <a:ea typeface="MS PGothic" panose="020B0600070205080204" pitchFamily="34" charset="-128"/>
              </a:defRPr>
            </a:lvl9pPr>
          </a:lstStyle>
          <a:p>
            <a:pPr algn="l" eaLnBrk="1" hangingPunct="1">
              <a:spcBef>
                <a:spcPct val="50000"/>
              </a:spcBef>
            </a:pPr>
            <a:r>
              <a:rPr lang="en-US" altLang="en-US">
                <a:solidFill>
                  <a:srgbClr val="0099FF"/>
                </a:solidFill>
                <a:latin typeface="Times New Roman" panose="02020603050405020304" pitchFamily="18" charset="0"/>
              </a:rPr>
              <a:t>New pivot column</a:t>
            </a:r>
          </a:p>
        </p:txBody>
      </p:sp>
      <p:sp>
        <p:nvSpPr>
          <p:cNvPr id="671761" name="Line 17"/>
          <p:cNvSpPr>
            <a:spLocks noChangeShapeType="1"/>
          </p:cNvSpPr>
          <p:nvPr/>
        </p:nvSpPr>
        <p:spPr bwMode="auto">
          <a:xfrm>
            <a:off x="4495800" y="3200400"/>
            <a:ext cx="0" cy="3048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62" name="Line 18"/>
          <p:cNvSpPr>
            <a:spLocks noChangeShapeType="1"/>
          </p:cNvSpPr>
          <p:nvPr/>
        </p:nvSpPr>
        <p:spPr bwMode="auto">
          <a:xfrm>
            <a:off x="4495800" y="3200400"/>
            <a:ext cx="37338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63" name="Line 19"/>
          <p:cNvSpPr>
            <a:spLocks noChangeShapeType="1"/>
          </p:cNvSpPr>
          <p:nvPr/>
        </p:nvSpPr>
        <p:spPr bwMode="auto">
          <a:xfrm>
            <a:off x="8229600" y="3200400"/>
            <a:ext cx="0" cy="3048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1764" name="Line 20"/>
          <p:cNvSpPr>
            <a:spLocks noChangeShapeType="1"/>
          </p:cNvSpPr>
          <p:nvPr/>
        </p:nvSpPr>
        <p:spPr bwMode="auto">
          <a:xfrm>
            <a:off x="4495800" y="3505200"/>
            <a:ext cx="37338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71765" name="Object 21"/>
          <p:cNvGraphicFramePr>
            <a:graphicFrameLocks noChangeAspect="1"/>
          </p:cNvGraphicFramePr>
          <p:nvPr>
            <p:extLst>
              <p:ext uri="{D42A27DB-BD31-4B8C-83A1-F6EECF244321}">
                <p14:modId xmlns:p14="http://schemas.microsoft.com/office/powerpoint/2010/main" val="1819844922"/>
              </p:ext>
            </p:extLst>
          </p:nvPr>
        </p:nvGraphicFramePr>
        <p:xfrm>
          <a:off x="4572000" y="5740399"/>
          <a:ext cx="838200" cy="325438"/>
        </p:xfrm>
        <a:graphic>
          <a:graphicData uri="http://schemas.openxmlformats.org/presentationml/2006/ole">
            <mc:AlternateContent xmlns:mc="http://schemas.openxmlformats.org/markup-compatibility/2006">
              <mc:Choice xmlns:v="urn:schemas-microsoft-com:vml" Requires="v">
                <p:oleObj spid="_x0000_s15417" name="Equation" r:id="rId5" imgW="914003" imgH="355446" progId="Equation.DSMT4">
                  <p:embed/>
                </p:oleObj>
              </mc:Choice>
              <mc:Fallback>
                <p:oleObj name="Equation" r:id="rId5" imgW="914003" imgH="355446"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0" y="5740399"/>
                        <a:ext cx="838200" cy="325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6670304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174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174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175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175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175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17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67175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67175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7175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176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717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176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1763"/>
                                        </p:tgtEl>
                                        <p:attrNameLst>
                                          <p:attrName>style.visibility</p:attrName>
                                        </p:attrNameLst>
                                      </p:cBhvr>
                                      <p:to>
                                        <p:strVal val="visible"/>
                                      </p:to>
                                    </p:set>
                                  </p:childTnLst>
                                </p:cTn>
                              </p:par>
                            </p:childTnLst>
                          </p:cTn>
                        </p:par>
                      </p:childTnLst>
                    </p:cTn>
                  </p:par>
                  <p:par>
                    <p:cTn id="31" fill="hold" nodeType="clickPar">
                      <p:stCondLst>
                        <p:cond delay="indefinite"/>
                      </p:stCondLst>
                      <p:childTnLst>
                        <p:par>
                          <p:cTn id="32" fill="hold" nodeType="withGroup">
                            <p:stCondLst>
                              <p:cond delay="0"/>
                            </p:stCondLst>
                            <p:childTnLst>
                              <p:par>
                                <p:cTn id="33" presetID="1" presetClass="entr" presetSubtype="0" fill="hold" nodeType="clickEffect">
                                  <p:stCondLst>
                                    <p:cond delay="0"/>
                                  </p:stCondLst>
                                  <p:childTnLst>
                                    <p:set>
                                      <p:cBhvr>
                                        <p:cTn id="34" dur="1" fill="hold">
                                          <p:stCondLst>
                                            <p:cond delay="0"/>
                                          </p:stCondLst>
                                        </p:cTn>
                                        <p:tgtEl>
                                          <p:spTgt spid="671747">
                                            <p:txEl>
                                              <p:pRg st="5" end="5"/>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7176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1751" grpId="0" animBg="1"/>
      <p:bldP spid="671753" grpId="0" animBg="1"/>
      <p:bldP spid="671754" grpId="0" animBg="1"/>
      <p:bldP spid="671755" grpId="0"/>
      <p:bldP spid="671756" grpId="0" animBg="1"/>
      <p:bldP spid="671757" grpId="0" animBg="1"/>
      <p:bldP spid="671758" grpId="0"/>
      <p:bldP spid="671761" grpId="0" animBg="1"/>
      <p:bldP spid="671762" grpId="0" animBg="1"/>
      <p:bldP spid="671763" grpId="0" animBg="1"/>
      <p:bldP spid="67176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Grp="1" noChangeArrowheads="1"/>
          </p:cNvSpPr>
          <p:nvPr>
            <p:ph type="title"/>
          </p:nvPr>
        </p:nvSpPr>
        <p:spPr/>
        <p:txBody>
          <a:bodyPr/>
          <a:lstStyle/>
          <a:p>
            <a:pPr eaLnBrk="1" hangingPunct="1">
              <a:defRPr/>
            </a:pPr>
            <a:r>
              <a:rPr lang="en-US" smtClean="0">
                <a:ea typeface="+mj-ea"/>
                <a:cs typeface="+mj-cs"/>
              </a:rPr>
              <a:t>ROW REDUCTION ALGORITHM</a:t>
            </a:r>
          </a:p>
        </p:txBody>
      </p:sp>
      <p:sp>
        <p:nvSpPr>
          <p:cNvPr id="673795" name="Rectangle 3"/>
          <p:cNvSpPr>
            <a:spLocks noGrp="1" noChangeArrowheads="1"/>
          </p:cNvSpPr>
          <p:nvPr>
            <p:ph type="body" sz="half" idx="1"/>
          </p:nvPr>
        </p:nvSpPr>
        <p:spPr>
          <a:xfrm>
            <a:off x="828436" y="832449"/>
            <a:ext cx="10517875" cy="5486400"/>
          </a:xfrm>
        </p:spPr>
        <p:txBody>
          <a:bodyPr/>
          <a:lstStyle/>
          <a:p>
            <a:pPr eaLnBrk="1" hangingPunct="1">
              <a:buFont typeface="Wingdings" charset="0"/>
              <a:buChar char="§"/>
              <a:defRPr/>
            </a:pPr>
            <a:r>
              <a:rPr lang="en-US" sz="2800" dirty="0"/>
              <a:t>This produces the following matrix. </a:t>
            </a:r>
          </a:p>
          <a:p>
            <a:pPr eaLnBrk="1" hangingPunct="1">
              <a:buFont typeface="Wingdings" charset="0"/>
              <a:buChar char="§"/>
              <a:defRPr/>
            </a:pPr>
            <a:endParaRPr lang="en-US" sz="2800" dirty="0" smtClean="0"/>
          </a:p>
          <a:p>
            <a:pPr eaLnBrk="1" hangingPunct="1">
              <a:buFont typeface="Wingdings" charset="0"/>
              <a:buChar char="§"/>
              <a:defRPr/>
            </a:pPr>
            <a:endParaRPr lang="en-US" sz="2400" dirty="0" smtClean="0"/>
          </a:p>
          <a:p>
            <a:pPr eaLnBrk="1" hangingPunct="1">
              <a:buFont typeface="Wingdings" charset="0"/>
              <a:buChar char="§"/>
              <a:defRPr/>
            </a:pPr>
            <a:endParaRPr lang="en-US" sz="2400" dirty="0" smtClean="0"/>
          </a:p>
          <a:p>
            <a:pPr eaLnBrk="1" hangingPunct="1">
              <a:buFont typeface="Wingdings" charset="0"/>
              <a:buChar char="§"/>
              <a:defRPr/>
            </a:pPr>
            <a:endParaRPr lang="en-US" sz="2800" dirty="0"/>
          </a:p>
          <a:p>
            <a:pPr eaLnBrk="1" hangingPunct="1">
              <a:buFont typeface="Wingdings" charset="0"/>
              <a:buChar char="§"/>
              <a:defRPr/>
            </a:pPr>
            <a:r>
              <a:rPr lang="en-US" sz="2800" dirty="0"/>
              <a:t>When we cover the row containing the second pivot position for step 4, we are left with a new submatrix that has only one row.</a:t>
            </a:r>
          </a:p>
          <a:p>
            <a:pPr eaLnBrk="1" hangingPunct="1">
              <a:buFont typeface="Wingdings" charset="0"/>
              <a:buNone/>
              <a:defRPr/>
            </a:pPr>
            <a:endParaRPr lang="en-US" sz="2800" dirty="0"/>
          </a:p>
        </p:txBody>
      </p:sp>
      <p:graphicFrame>
        <p:nvGraphicFramePr>
          <p:cNvPr id="673802" name="Object 10"/>
          <p:cNvGraphicFramePr>
            <a:graphicFrameLocks noGrp="1" noChangeAspect="1"/>
          </p:cNvGraphicFramePr>
          <p:nvPr>
            <p:ph sz="half" idx="2"/>
          </p:nvPr>
        </p:nvGraphicFramePr>
        <p:xfrm>
          <a:off x="4495800" y="4800600"/>
          <a:ext cx="4037013" cy="1628775"/>
        </p:xfrm>
        <a:graphic>
          <a:graphicData uri="http://schemas.openxmlformats.org/presentationml/2006/ole">
            <mc:AlternateContent xmlns:mc="http://schemas.openxmlformats.org/markup-compatibility/2006">
              <mc:Choice xmlns:v="urn:schemas-microsoft-com:vml" Requires="v">
                <p:oleObj spid="_x0000_s16440" name="Equation" r:id="rId3" imgW="4406900" imgH="1778000" progId="Equation.DSMT4">
                  <p:embed/>
                </p:oleObj>
              </mc:Choice>
              <mc:Fallback>
                <p:oleObj name="Equation" r:id="rId3" imgW="44069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495800" y="4800600"/>
                        <a:ext cx="4037013" cy="1628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3554" name="Slide Number Placeholder 4"/>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E5E8C420-AC06-43E7-BA8D-BCCC963987FE}" type="slidenum">
              <a:rPr lang="en-US" altLang="en-US" sz="1200">
                <a:latin typeface="Arial" panose="020B0604020202020204" pitchFamily="34" charset="0"/>
              </a:rPr>
              <a:pPr>
                <a:spcBef>
                  <a:spcPct val="0"/>
                </a:spcBef>
                <a:buClrTx/>
                <a:buFontTx/>
                <a:buNone/>
              </a:pPr>
              <a:t>47</a:t>
            </a:fld>
            <a:endParaRPr lang="en-CA" altLang="en-US" sz="1200">
              <a:latin typeface="Arial" panose="020B0604020202020204" pitchFamily="34" charset="0"/>
            </a:endParaRPr>
          </a:p>
        </p:txBody>
      </p:sp>
      <p:sp>
        <p:nvSpPr>
          <p:cNvPr id="23555" name="Footer Placeholder 5"/>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graphicFrame>
        <p:nvGraphicFramePr>
          <p:cNvPr id="673796" name="Object 4"/>
          <p:cNvGraphicFramePr>
            <a:graphicFrameLocks noChangeAspect="1"/>
          </p:cNvGraphicFramePr>
          <p:nvPr/>
        </p:nvGraphicFramePr>
        <p:xfrm>
          <a:off x="4267200" y="1600200"/>
          <a:ext cx="4406900" cy="1778000"/>
        </p:xfrm>
        <a:graphic>
          <a:graphicData uri="http://schemas.openxmlformats.org/presentationml/2006/ole">
            <mc:AlternateContent xmlns:mc="http://schemas.openxmlformats.org/markup-compatibility/2006">
              <mc:Choice xmlns:v="urn:schemas-microsoft-com:vml" Requires="v">
                <p:oleObj spid="_x0000_s16441" name="Equation" r:id="rId5" imgW="4406900" imgH="1778000" progId="Equation.DSMT4">
                  <p:embed/>
                </p:oleObj>
              </mc:Choice>
              <mc:Fallback>
                <p:oleObj name="Equation" r:id="rId5" imgW="4406900" imgH="177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267200" y="1600200"/>
                        <a:ext cx="4406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3797" name="Line 5"/>
          <p:cNvSpPr>
            <a:spLocks noChangeShapeType="1"/>
          </p:cNvSpPr>
          <p:nvPr/>
        </p:nvSpPr>
        <p:spPr bwMode="auto">
          <a:xfrm>
            <a:off x="4419600" y="1676400"/>
            <a:ext cx="0" cy="3810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798" name="Line 6"/>
          <p:cNvSpPr>
            <a:spLocks noChangeShapeType="1"/>
          </p:cNvSpPr>
          <p:nvPr/>
        </p:nvSpPr>
        <p:spPr bwMode="auto">
          <a:xfrm>
            <a:off x="4419600" y="1676400"/>
            <a:ext cx="40386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799" name="Line 7"/>
          <p:cNvSpPr>
            <a:spLocks noChangeShapeType="1"/>
          </p:cNvSpPr>
          <p:nvPr/>
        </p:nvSpPr>
        <p:spPr bwMode="auto">
          <a:xfrm>
            <a:off x="8458200" y="1676400"/>
            <a:ext cx="0" cy="3810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801" name="Line 9"/>
          <p:cNvSpPr>
            <a:spLocks noChangeShapeType="1"/>
          </p:cNvSpPr>
          <p:nvPr/>
        </p:nvSpPr>
        <p:spPr bwMode="auto">
          <a:xfrm>
            <a:off x="4419600" y="2057400"/>
            <a:ext cx="40386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804" name="Line 12"/>
          <p:cNvSpPr>
            <a:spLocks noChangeShapeType="1"/>
          </p:cNvSpPr>
          <p:nvPr/>
        </p:nvSpPr>
        <p:spPr bwMode="auto">
          <a:xfrm>
            <a:off x="4648200" y="4876800"/>
            <a:ext cx="0" cy="8382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805" name="Line 13"/>
          <p:cNvSpPr>
            <a:spLocks noChangeShapeType="1"/>
          </p:cNvSpPr>
          <p:nvPr/>
        </p:nvSpPr>
        <p:spPr bwMode="auto">
          <a:xfrm>
            <a:off x="4648200" y="4876800"/>
            <a:ext cx="37338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806" name="Line 14"/>
          <p:cNvSpPr>
            <a:spLocks noChangeShapeType="1"/>
          </p:cNvSpPr>
          <p:nvPr/>
        </p:nvSpPr>
        <p:spPr bwMode="auto">
          <a:xfrm>
            <a:off x="8382000" y="4876800"/>
            <a:ext cx="0" cy="83820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673807" name="Line 15"/>
          <p:cNvSpPr>
            <a:spLocks noChangeShapeType="1"/>
          </p:cNvSpPr>
          <p:nvPr/>
        </p:nvSpPr>
        <p:spPr bwMode="auto">
          <a:xfrm>
            <a:off x="4648200" y="5715000"/>
            <a:ext cx="3733800" cy="0"/>
          </a:xfrm>
          <a:prstGeom prst="line">
            <a:avLst/>
          </a:prstGeom>
          <a:noFill/>
          <a:ln w="9525">
            <a:solidFill>
              <a:srgbClr val="0099FF"/>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3169474571"/>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3795">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7379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7379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3798"/>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7380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73799"/>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73795">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73802"/>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67380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67380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738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7380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797" grpId="0" animBg="1"/>
      <p:bldP spid="673798" grpId="0" animBg="1"/>
      <p:bldP spid="673799" grpId="0" animBg="1"/>
      <p:bldP spid="673801" grpId="0" animBg="1"/>
      <p:bldP spid="673804" grpId="0" animBg="1"/>
      <p:bldP spid="673805" grpId="0" animBg="1"/>
      <p:bldP spid="673806" grpId="0" animBg="1"/>
      <p:bldP spid="673807"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42" name="Rectangle 2"/>
          <p:cNvSpPr>
            <a:spLocks noGrp="1" noChangeArrowheads="1"/>
          </p:cNvSpPr>
          <p:nvPr>
            <p:ph type="title"/>
          </p:nvPr>
        </p:nvSpPr>
        <p:spPr>
          <a:xfrm>
            <a:off x="913775" y="0"/>
            <a:ext cx="10364451" cy="1596177"/>
          </a:xfrm>
        </p:spPr>
        <p:txBody>
          <a:bodyPr/>
          <a:lstStyle/>
          <a:p>
            <a:pPr eaLnBrk="1" hangingPunct="1">
              <a:defRPr/>
            </a:pPr>
            <a:r>
              <a:rPr lang="en-US" dirty="0" smtClean="0">
                <a:ea typeface="+mj-ea"/>
                <a:cs typeface="+mj-cs"/>
              </a:rPr>
              <a:t>ROW REDUCTION ALGORITHM</a:t>
            </a:r>
          </a:p>
        </p:txBody>
      </p:sp>
      <p:sp>
        <p:nvSpPr>
          <p:cNvPr id="675843" name="Rectangle 3"/>
          <p:cNvSpPr>
            <a:spLocks noGrp="1" noChangeArrowheads="1"/>
          </p:cNvSpPr>
          <p:nvPr>
            <p:ph sz="quarter" idx="13"/>
          </p:nvPr>
        </p:nvSpPr>
        <p:spPr>
          <a:xfrm>
            <a:off x="1981200" y="1295400"/>
            <a:ext cx="8229600" cy="5029200"/>
          </a:xfrm>
        </p:spPr>
        <p:txBody>
          <a:bodyPr>
            <a:normAutofit fontScale="92500" lnSpcReduction="20000"/>
          </a:bodyPr>
          <a:lstStyle/>
          <a:p>
            <a:pPr eaLnBrk="1" hangingPunct="1"/>
            <a:r>
              <a:rPr lang="en-US" altLang="en-US" sz="2800"/>
              <a:t>Steps 1–3 require no work for this submatrix, and we have reached an echelon form of the full matrix. We perform one more step to obtain the reduced echelon form.</a:t>
            </a:r>
          </a:p>
          <a:p>
            <a:pPr eaLnBrk="1" hangingPunct="1"/>
            <a:r>
              <a:rPr lang="en-US" altLang="en-US" sz="2800" b="1"/>
              <a:t>STEP 5:</a:t>
            </a:r>
            <a:r>
              <a:rPr lang="en-US" altLang="en-US" sz="2800"/>
              <a:t> Beginning with the rightmost pivot and working upward and to the left, create zeros above each pivot. If a pivot is not 1, make it 1 by a scaling operation.</a:t>
            </a:r>
          </a:p>
          <a:p>
            <a:pPr eaLnBrk="1" hangingPunct="1"/>
            <a:r>
              <a:rPr lang="en-US" altLang="en-US" sz="2800"/>
              <a:t>The rightmost pivot is in row 3. Create zeros above it, adding suitable multiples of row 3 to rows 2 and 1.</a:t>
            </a:r>
          </a:p>
        </p:txBody>
      </p:sp>
      <p:sp>
        <p:nvSpPr>
          <p:cNvPr id="2457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2457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22631700-A10C-40C2-95F8-9FA8583962E4}" type="slidenum">
              <a:rPr lang="en-US" altLang="en-US" sz="1200">
                <a:latin typeface="Arial" panose="020B0604020202020204" pitchFamily="34" charset="0"/>
              </a:rPr>
              <a:pPr>
                <a:spcBef>
                  <a:spcPct val="0"/>
                </a:spcBef>
                <a:buClrTx/>
                <a:buFontTx/>
                <a:buNone/>
              </a:pPr>
              <a:t>48</a:t>
            </a:fld>
            <a:endParaRPr lang="en-CA" altLang="en-US" sz="1200">
              <a:latin typeface="Arial" panose="020B0604020202020204" pitchFamily="34" charset="0"/>
            </a:endParaRPr>
          </a:p>
        </p:txBody>
      </p:sp>
    </p:spTree>
    <p:extLst>
      <p:ext uri="{BB962C8B-B14F-4D97-AF65-F5344CB8AC3E}">
        <p14:creationId xmlns:p14="http://schemas.microsoft.com/office/powerpoint/2010/main" val="176429655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584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75843">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7584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6866" name="Rectangle 2"/>
          <p:cNvSpPr>
            <a:spLocks noGrp="1" noChangeArrowheads="1"/>
          </p:cNvSpPr>
          <p:nvPr>
            <p:ph type="title"/>
          </p:nvPr>
        </p:nvSpPr>
        <p:spPr/>
        <p:txBody>
          <a:bodyPr/>
          <a:lstStyle/>
          <a:p>
            <a:pPr eaLnBrk="1" hangingPunct="1">
              <a:defRPr/>
            </a:pPr>
            <a:r>
              <a:rPr lang="en-US" smtClean="0">
                <a:ea typeface="+mj-ea"/>
                <a:cs typeface="+mj-cs"/>
              </a:rPr>
              <a:t>ROW REDUCTION ALGORITHM</a:t>
            </a:r>
          </a:p>
        </p:txBody>
      </p:sp>
      <p:graphicFrame>
        <p:nvGraphicFramePr>
          <p:cNvPr id="676870" name="Object 6"/>
          <p:cNvGraphicFramePr>
            <a:graphicFrameLocks noGrp="1" noChangeAspect="1"/>
          </p:cNvGraphicFramePr>
          <p:nvPr>
            <p:ph sz="quarter" idx="1"/>
          </p:nvPr>
        </p:nvGraphicFramePr>
        <p:xfrm>
          <a:off x="2438400" y="1371600"/>
          <a:ext cx="4038600" cy="1562100"/>
        </p:xfrm>
        <a:graphic>
          <a:graphicData uri="http://schemas.openxmlformats.org/presentationml/2006/ole">
            <mc:AlternateContent xmlns:mc="http://schemas.openxmlformats.org/markup-compatibility/2006">
              <mc:Choice xmlns:v="urn:schemas-microsoft-com:vml" Requires="v">
                <p:oleObj spid="_x0000_s17545" name="Equation" r:id="rId3" imgW="4597400" imgH="1778000" progId="Equation.DSMT4">
                  <p:embed/>
                </p:oleObj>
              </mc:Choice>
              <mc:Fallback>
                <p:oleObj name="Equation" r:id="rId3" imgW="45974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8400" y="1371600"/>
                        <a:ext cx="4038600" cy="156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6879" name="Object 15"/>
          <p:cNvGraphicFramePr>
            <a:graphicFrameLocks noGrp="1" noChangeAspect="1"/>
          </p:cNvGraphicFramePr>
          <p:nvPr>
            <p:ph sz="quarter" idx="2"/>
          </p:nvPr>
        </p:nvGraphicFramePr>
        <p:xfrm>
          <a:off x="2520950" y="4267200"/>
          <a:ext cx="3871913" cy="1562100"/>
        </p:xfrm>
        <a:graphic>
          <a:graphicData uri="http://schemas.openxmlformats.org/presentationml/2006/ole">
            <mc:AlternateContent xmlns:mc="http://schemas.openxmlformats.org/markup-compatibility/2006">
              <mc:Choice xmlns:v="urn:schemas-microsoft-com:vml" Requires="v">
                <p:oleObj spid="_x0000_s17546" name="Equation" r:id="rId5" imgW="4406900" imgH="1778000" progId="Equation.DSMT4">
                  <p:embed/>
                </p:oleObj>
              </mc:Choice>
              <mc:Fallback>
                <p:oleObj name="Equation" r:id="rId5" imgW="4406900" imgH="177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20950" y="4267200"/>
                        <a:ext cx="3871913" cy="1562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6878" name="Rectangle 14"/>
          <p:cNvSpPr>
            <a:spLocks noGrp="1" noChangeArrowheads="1"/>
          </p:cNvSpPr>
          <p:nvPr>
            <p:ph type="body" sz="half" idx="3"/>
          </p:nvPr>
        </p:nvSpPr>
        <p:spPr>
          <a:xfrm>
            <a:off x="1348381" y="2883725"/>
            <a:ext cx="8229600" cy="3124200"/>
          </a:xfrm>
        </p:spPr>
        <p:txBody>
          <a:bodyPr/>
          <a:lstStyle/>
          <a:p>
            <a:pPr eaLnBrk="1" hangingPunct="1">
              <a:buFont typeface="Wingdings" charset="0"/>
              <a:buChar char="§"/>
              <a:defRPr/>
            </a:pPr>
            <a:r>
              <a:rPr lang="en-US" sz="2800" dirty="0"/>
              <a:t>The next pivot is in row 2. Scale this row, dividing by the pivot.</a:t>
            </a:r>
          </a:p>
        </p:txBody>
      </p:sp>
      <p:sp>
        <p:nvSpPr>
          <p:cNvPr id="25602" name="Slide Number Placeholder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AA791E6E-0263-4350-B7AD-DB9393D36101}" type="slidenum">
              <a:rPr lang="en-US" altLang="en-US" sz="1200">
                <a:latin typeface="Arial" panose="020B0604020202020204" pitchFamily="34" charset="0"/>
              </a:rPr>
              <a:pPr>
                <a:spcBef>
                  <a:spcPct val="0"/>
                </a:spcBef>
                <a:buClrTx/>
                <a:buFontTx/>
                <a:buNone/>
              </a:pPr>
              <a:t>49</a:t>
            </a:fld>
            <a:endParaRPr lang="en-CA" altLang="en-US" sz="1200">
              <a:latin typeface="Arial" panose="020B0604020202020204" pitchFamily="34" charset="0"/>
            </a:endParaRPr>
          </a:p>
        </p:txBody>
      </p:sp>
      <p:sp>
        <p:nvSpPr>
          <p:cNvPr id="25603"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676871" name="Line 7"/>
          <p:cNvSpPr>
            <a:spLocks noChangeShapeType="1"/>
          </p:cNvSpPr>
          <p:nvPr/>
        </p:nvSpPr>
        <p:spPr bwMode="auto">
          <a:xfrm flipH="1">
            <a:off x="6553200" y="1600200"/>
            <a:ext cx="381000" cy="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
        <p:nvSpPr>
          <p:cNvPr id="676872" name="Line 8"/>
          <p:cNvSpPr>
            <a:spLocks noChangeShapeType="1"/>
          </p:cNvSpPr>
          <p:nvPr/>
        </p:nvSpPr>
        <p:spPr bwMode="auto">
          <a:xfrm flipH="1">
            <a:off x="6553200" y="2209800"/>
            <a:ext cx="381000" cy="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76875" name="Object 11"/>
          <p:cNvGraphicFramePr>
            <a:graphicFrameLocks noChangeAspect="1"/>
          </p:cNvGraphicFramePr>
          <p:nvPr/>
        </p:nvGraphicFramePr>
        <p:xfrm>
          <a:off x="7010400" y="1371600"/>
          <a:ext cx="3378200" cy="431800"/>
        </p:xfrm>
        <a:graphic>
          <a:graphicData uri="http://schemas.openxmlformats.org/presentationml/2006/ole">
            <mc:AlternateContent xmlns:mc="http://schemas.openxmlformats.org/markup-compatibility/2006">
              <mc:Choice xmlns:v="urn:schemas-microsoft-com:vml" Requires="v">
                <p:oleObj spid="_x0000_s17547" name="Equation" r:id="rId7" imgW="3378200" imgH="431800" progId="Equation.DSMT4">
                  <p:embed/>
                </p:oleObj>
              </mc:Choice>
              <mc:Fallback>
                <p:oleObj name="Equation" r:id="rId7" imgW="3378200" imgH="431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010400" y="1371600"/>
                        <a:ext cx="33782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76876" name="Object 12"/>
          <p:cNvGraphicFramePr>
            <a:graphicFrameLocks noChangeAspect="1"/>
          </p:cNvGraphicFramePr>
          <p:nvPr/>
        </p:nvGraphicFramePr>
        <p:xfrm>
          <a:off x="6972300" y="1981200"/>
          <a:ext cx="3454400" cy="431800"/>
        </p:xfrm>
        <a:graphic>
          <a:graphicData uri="http://schemas.openxmlformats.org/presentationml/2006/ole">
            <mc:AlternateContent xmlns:mc="http://schemas.openxmlformats.org/markup-compatibility/2006">
              <mc:Choice xmlns:v="urn:schemas-microsoft-com:vml" Requires="v">
                <p:oleObj spid="_x0000_s17548" name="Equation" r:id="rId9" imgW="3454400" imgH="431800" progId="Equation.DSMT4">
                  <p:embed/>
                </p:oleObj>
              </mc:Choice>
              <mc:Fallback>
                <p:oleObj name="Equation" r:id="rId9" imgW="3454400" imgH="431800" progId="Equation.DSMT4">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972300" y="1981200"/>
                        <a:ext cx="34544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76881" name="Line 17"/>
          <p:cNvSpPr>
            <a:spLocks noChangeShapeType="1"/>
          </p:cNvSpPr>
          <p:nvPr/>
        </p:nvSpPr>
        <p:spPr bwMode="auto">
          <a:xfrm flipH="1">
            <a:off x="6400800" y="5029200"/>
            <a:ext cx="381000" cy="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76882" name="Object 18"/>
          <p:cNvGraphicFramePr>
            <a:graphicFrameLocks noChangeAspect="1"/>
          </p:cNvGraphicFramePr>
          <p:nvPr/>
        </p:nvGraphicFramePr>
        <p:xfrm>
          <a:off x="6953250" y="4546600"/>
          <a:ext cx="2832100" cy="939800"/>
        </p:xfrm>
        <a:graphic>
          <a:graphicData uri="http://schemas.openxmlformats.org/presentationml/2006/ole">
            <mc:AlternateContent xmlns:mc="http://schemas.openxmlformats.org/markup-compatibility/2006">
              <mc:Choice xmlns:v="urn:schemas-microsoft-com:vml" Requires="v">
                <p:oleObj spid="_x0000_s17549" name="Equation" r:id="rId11" imgW="2832100" imgH="939800" progId="Equation.DSMT4">
                  <p:embed/>
                </p:oleObj>
              </mc:Choice>
              <mc:Fallback>
                <p:oleObj name="Equation" r:id="rId11" imgW="2832100" imgH="939800" progId="Equation.DSMT4">
                  <p:embed/>
                  <p:pic>
                    <p:nvPicPr>
                      <p:cNvPr id="0" name=""/>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953250" y="4546600"/>
                        <a:ext cx="2832100" cy="93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836677699"/>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7687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76871"/>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76875"/>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76872"/>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76876"/>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76878">
                                            <p:txEl>
                                              <p:pRg st="0" end="0"/>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7687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7688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67688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6871" grpId="0" animBg="1"/>
      <p:bldP spid="676872" grpId="0" animBg="1"/>
      <p:bldP spid="676881" grpId="0" animBg="1"/>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0962" name="Rectangle 2"/>
          <p:cNvSpPr>
            <a:spLocks noGrp="1" noChangeArrowheads="1"/>
          </p:cNvSpPr>
          <p:nvPr>
            <p:ph type="title"/>
          </p:nvPr>
        </p:nvSpPr>
        <p:spPr/>
        <p:txBody>
          <a:bodyPr/>
          <a:lstStyle/>
          <a:p>
            <a:pPr eaLnBrk="1" hangingPunct="1">
              <a:defRPr/>
            </a:pPr>
            <a:r>
              <a:rPr lang="en-US" smtClean="0">
                <a:ea typeface="+mj-ea"/>
                <a:cs typeface="+mj-cs"/>
              </a:rPr>
              <a:t>ROW REDUCTION ALGORITHM</a:t>
            </a:r>
          </a:p>
        </p:txBody>
      </p:sp>
      <p:sp>
        <p:nvSpPr>
          <p:cNvPr id="680963" name="Rectangle 3"/>
          <p:cNvSpPr>
            <a:spLocks noGrp="1" noChangeArrowheads="1"/>
          </p:cNvSpPr>
          <p:nvPr>
            <p:ph type="body" sz="half" idx="1"/>
          </p:nvPr>
        </p:nvSpPr>
        <p:spPr>
          <a:xfrm>
            <a:off x="1981200" y="1524000"/>
            <a:ext cx="8534400" cy="4800600"/>
          </a:xfrm>
        </p:spPr>
        <p:txBody>
          <a:bodyPr>
            <a:normAutofit lnSpcReduction="10000"/>
          </a:bodyPr>
          <a:lstStyle/>
          <a:p>
            <a:pPr eaLnBrk="1" hangingPunct="1">
              <a:buFont typeface="Wingdings" charset="0"/>
              <a:buChar char="§"/>
              <a:defRPr/>
            </a:pPr>
            <a:r>
              <a:rPr lang="en-US" sz="2800"/>
              <a:t>Create a zero in column 2 by adding 9 times row 2 to row 1.</a:t>
            </a:r>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endParaRPr lang="en-US" sz="2800"/>
          </a:p>
          <a:p>
            <a:pPr eaLnBrk="1" hangingPunct="1">
              <a:buFont typeface="Wingdings" charset="0"/>
              <a:buChar char="§"/>
              <a:defRPr/>
            </a:pPr>
            <a:r>
              <a:rPr lang="en-US" sz="2800"/>
              <a:t>Finally, scale row 1, dividing by the pivot, 3.</a:t>
            </a:r>
          </a:p>
        </p:txBody>
      </p:sp>
      <p:graphicFrame>
        <p:nvGraphicFramePr>
          <p:cNvPr id="680966" name="Object 6"/>
          <p:cNvGraphicFramePr>
            <a:graphicFrameLocks noGrp="1" noChangeAspect="1"/>
          </p:cNvGraphicFramePr>
          <p:nvPr>
            <p:ph sz="quarter" idx="2"/>
          </p:nvPr>
        </p:nvGraphicFramePr>
        <p:xfrm>
          <a:off x="6858000" y="2743200"/>
          <a:ext cx="3175000" cy="431800"/>
        </p:xfrm>
        <a:graphic>
          <a:graphicData uri="http://schemas.openxmlformats.org/presentationml/2006/ole">
            <mc:AlternateContent xmlns:mc="http://schemas.openxmlformats.org/markup-compatibility/2006">
              <mc:Choice xmlns:v="urn:schemas-microsoft-com:vml" Requires="v">
                <p:oleObj spid="_x0000_s18488" name="Equation" r:id="rId3" imgW="3175000" imgH="431800" progId="Equation.DSMT4">
                  <p:embed/>
                </p:oleObj>
              </mc:Choice>
              <mc:Fallback>
                <p:oleObj name="Equation" r:id="rId3" imgW="3175000" imgH="4318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2743200"/>
                        <a:ext cx="3175000" cy="431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26626" name="Slide Number Placeholder 5"/>
          <p:cNvSpPr>
            <a:spLocks noGrp="1"/>
          </p:cNvSpPr>
          <p:nvPr>
            <p:ph type="sldNum" sz="quarter" idx="10"/>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C1175463-3B35-4095-87C0-4170DDFD9991}" type="slidenum">
              <a:rPr lang="en-US" altLang="en-US" sz="1200">
                <a:latin typeface="Arial" panose="020B0604020202020204" pitchFamily="34" charset="0"/>
              </a:rPr>
              <a:pPr>
                <a:spcBef>
                  <a:spcPct val="0"/>
                </a:spcBef>
                <a:buClrTx/>
                <a:buFontTx/>
                <a:buNone/>
              </a:pPr>
              <a:t>50</a:t>
            </a:fld>
            <a:endParaRPr lang="en-CA" altLang="en-US" sz="1200">
              <a:latin typeface="Arial" panose="020B0604020202020204" pitchFamily="34" charset="0"/>
            </a:endParaRPr>
          </a:p>
        </p:txBody>
      </p:sp>
      <p:sp>
        <p:nvSpPr>
          <p:cNvPr id="26627" name="Footer Placeholder 6"/>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graphicFrame>
        <p:nvGraphicFramePr>
          <p:cNvPr id="680964" name="Object 4"/>
          <p:cNvGraphicFramePr>
            <a:graphicFrameLocks noChangeAspect="1"/>
          </p:cNvGraphicFramePr>
          <p:nvPr/>
        </p:nvGraphicFramePr>
        <p:xfrm>
          <a:off x="2286000" y="2743200"/>
          <a:ext cx="4152900" cy="1778000"/>
        </p:xfrm>
        <a:graphic>
          <a:graphicData uri="http://schemas.openxmlformats.org/presentationml/2006/ole">
            <mc:AlternateContent xmlns:mc="http://schemas.openxmlformats.org/markup-compatibility/2006">
              <mc:Choice xmlns:v="urn:schemas-microsoft-com:vml" Requires="v">
                <p:oleObj spid="_x0000_s18489" name="Equation" r:id="rId5" imgW="4152900" imgH="1778000" progId="Equation.DSMT4">
                  <p:embed/>
                </p:oleObj>
              </mc:Choice>
              <mc:Fallback>
                <p:oleObj name="Equation" r:id="rId5" imgW="4152900" imgH="17780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6000" y="2743200"/>
                        <a:ext cx="4152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0965" name="Line 5"/>
          <p:cNvSpPr>
            <a:spLocks noChangeShapeType="1"/>
          </p:cNvSpPr>
          <p:nvPr/>
        </p:nvSpPr>
        <p:spPr bwMode="auto">
          <a:xfrm flipH="1">
            <a:off x="6477000" y="2971800"/>
            <a:ext cx="381000" cy="0"/>
          </a:xfrm>
          <a:prstGeom prst="line">
            <a:avLst/>
          </a:prstGeom>
          <a:noFill/>
          <a:ln w="9525">
            <a:solidFill>
              <a:srgbClr val="3366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spTree>
    <p:extLst>
      <p:ext uri="{BB962C8B-B14F-4D97-AF65-F5344CB8AC3E}">
        <p14:creationId xmlns:p14="http://schemas.microsoft.com/office/powerpoint/2010/main" val="4243685036"/>
      </p:ext>
    </p:extLst>
  </p:cSld>
  <p:clrMapOvr>
    <a:masterClrMapping/>
  </p:clrMapOvr>
  <p:transition spd="med"/>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096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096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80965"/>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0966"/>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8096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0965" grpId="0" animBg="1"/>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4034" name="Rectangle 2"/>
          <p:cNvSpPr>
            <a:spLocks noGrp="1" noChangeArrowheads="1"/>
          </p:cNvSpPr>
          <p:nvPr>
            <p:ph type="title"/>
          </p:nvPr>
        </p:nvSpPr>
        <p:spPr>
          <a:xfrm>
            <a:off x="1682087" y="103452"/>
            <a:ext cx="10131425" cy="1456267"/>
          </a:xfrm>
        </p:spPr>
        <p:txBody>
          <a:bodyPr/>
          <a:lstStyle/>
          <a:p>
            <a:pPr eaLnBrk="1" hangingPunct="1">
              <a:defRPr/>
            </a:pPr>
            <a:r>
              <a:rPr lang="en-US" dirty="0" smtClean="0">
                <a:ea typeface="+mj-ea"/>
                <a:cs typeface="+mj-cs"/>
              </a:rPr>
              <a:t>ROW REDUCTION ALGORITHM</a:t>
            </a:r>
          </a:p>
        </p:txBody>
      </p:sp>
      <p:sp>
        <p:nvSpPr>
          <p:cNvPr id="684035" name="Rectangle 3"/>
          <p:cNvSpPr>
            <a:spLocks noGrp="1" noChangeArrowheads="1"/>
          </p:cNvSpPr>
          <p:nvPr>
            <p:ph sz="quarter" idx="13"/>
          </p:nvPr>
        </p:nvSpPr>
        <p:spPr>
          <a:xfrm>
            <a:off x="1981200" y="1295400"/>
            <a:ext cx="8229600" cy="5105400"/>
          </a:xfrm>
        </p:spPr>
        <p:txBody>
          <a:bodyPr>
            <a:normAutofit fontScale="92500" lnSpcReduction="20000"/>
          </a:bodyPr>
          <a:lstStyle/>
          <a:p>
            <a:pPr eaLnBrk="1" hangingPunct="1"/>
            <a:endParaRPr lang="en-US" altLang="en-US" sz="2800" dirty="0"/>
          </a:p>
          <a:p>
            <a:pPr eaLnBrk="1" hangingPunct="1"/>
            <a:endParaRPr lang="en-US" altLang="en-US" sz="2800" dirty="0"/>
          </a:p>
          <a:p>
            <a:pPr eaLnBrk="1" hangingPunct="1"/>
            <a:endParaRPr lang="en-US" altLang="en-US" sz="2800" dirty="0"/>
          </a:p>
          <a:p>
            <a:pPr eaLnBrk="1" hangingPunct="1"/>
            <a:endParaRPr lang="en-US" altLang="en-US" sz="2800" dirty="0"/>
          </a:p>
          <a:p>
            <a:pPr eaLnBrk="1" hangingPunct="1"/>
            <a:r>
              <a:rPr lang="en-US" altLang="en-US" sz="2800" dirty="0"/>
              <a:t>This is the reduced echelon form of the original matrix</a:t>
            </a:r>
            <a:r>
              <a:rPr lang="en-US" altLang="en-US" sz="2800" dirty="0" smtClean="0"/>
              <a:t>.</a:t>
            </a:r>
            <a:endParaRPr lang="en-US" altLang="en-US" sz="2800" dirty="0"/>
          </a:p>
          <a:p>
            <a:pPr eaLnBrk="1" hangingPunct="1"/>
            <a:r>
              <a:rPr lang="en-US" altLang="en-US" sz="2800" dirty="0"/>
              <a:t>The combination of steps 1–4 is called the </a:t>
            </a:r>
            <a:r>
              <a:rPr lang="en-US" altLang="en-US" sz="2800" b="1" dirty="0"/>
              <a:t>forward phase</a:t>
            </a:r>
            <a:r>
              <a:rPr lang="en-US" altLang="en-US" sz="2800" dirty="0"/>
              <a:t> of the row reduction algorithm. Step 5, which produces the unique reduced echelon form, is called the </a:t>
            </a:r>
            <a:r>
              <a:rPr lang="en-US" altLang="en-US" sz="2800" b="1" dirty="0"/>
              <a:t>backward phase</a:t>
            </a:r>
            <a:r>
              <a:rPr lang="en-US" altLang="en-US" sz="2800" dirty="0"/>
              <a:t>.</a:t>
            </a:r>
          </a:p>
        </p:txBody>
      </p:sp>
      <p:sp>
        <p:nvSpPr>
          <p:cNvPr id="2765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A1C0C59B-7F15-43E9-85FD-62C2C8480E95}" type="slidenum">
              <a:rPr lang="en-US" altLang="en-US" sz="1200">
                <a:latin typeface="Arial" panose="020B0604020202020204" pitchFamily="34" charset="0"/>
              </a:rPr>
              <a:pPr>
                <a:spcBef>
                  <a:spcPct val="0"/>
                </a:spcBef>
                <a:buClrTx/>
                <a:buFontTx/>
                <a:buNone/>
              </a:pPr>
              <a:t>51</a:t>
            </a:fld>
            <a:endParaRPr lang="en-CA" altLang="en-US" sz="1200">
              <a:latin typeface="Arial" panose="020B0604020202020204" pitchFamily="34" charset="0"/>
            </a:endParaRPr>
          </a:p>
        </p:txBody>
      </p:sp>
      <p:graphicFrame>
        <p:nvGraphicFramePr>
          <p:cNvPr id="684036" name="Object 4"/>
          <p:cNvGraphicFramePr>
            <a:graphicFrameLocks noChangeAspect="1"/>
          </p:cNvGraphicFramePr>
          <p:nvPr/>
        </p:nvGraphicFramePr>
        <p:xfrm>
          <a:off x="2819400" y="1295400"/>
          <a:ext cx="4152900" cy="1778000"/>
        </p:xfrm>
        <a:graphic>
          <a:graphicData uri="http://schemas.openxmlformats.org/presentationml/2006/ole">
            <mc:AlternateContent xmlns:mc="http://schemas.openxmlformats.org/markup-compatibility/2006">
              <mc:Choice xmlns:v="urn:schemas-microsoft-com:vml" Requires="v">
                <p:oleObj spid="_x0000_s19512" name="Equation" r:id="rId3" imgW="4152900" imgH="1778000" progId="Equation.3">
                  <p:embed/>
                </p:oleObj>
              </mc:Choice>
              <mc:Fallback>
                <p:oleObj name="Equation" r:id="rId3" imgW="4152900" imgH="17780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19400" y="1295400"/>
                        <a:ext cx="41529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
        <p:nvSpPr>
          <p:cNvPr id="684037" name="Line 5"/>
          <p:cNvSpPr>
            <a:spLocks noChangeShapeType="1"/>
          </p:cNvSpPr>
          <p:nvPr/>
        </p:nvSpPr>
        <p:spPr bwMode="auto">
          <a:xfrm flipH="1">
            <a:off x="7010400" y="1524000"/>
            <a:ext cx="381000" cy="0"/>
          </a:xfrm>
          <a:prstGeom prst="line">
            <a:avLst/>
          </a:prstGeom>
          <a:noFill/>
          <a:ln w="9525">
            <a:solidFill>
              <a:srgbClr val="007FFF"/>
            </a:solidFill>
            <a:round/>
            <a:headEnd/>
            <a:tailEnd type="triangle" w="med" len="med"/>
          </a:ln>
          <a:extLst>
            <a:ext uri="{909E8E84-426E-40DD-AFC4-6F175D3DCCD1}">
              <a14:hiddenFill xmlns:a14="http://schemas.microsoft.com/office/drawing/2010/main">
                <a:noFill/>
              </a14:hiddenFill>
            </a:ext>
          </a:extLst>
        </p:spPr>
        <p:txBody>
          <a:bodyPr wrap="none" anchor="ctr"/>
          <a:lstStyle/>
          <a:p>
            <a:endParaRPr lang="en-US"/>
          </a:p>
        </p:txBody>
      </p:sp>
      <p:graphicFrame>
        <p:nvGraphicFramePr>
          <p:cNvPr id="684039" name="Object 7"/>
          <p:cNvGraphicFramePr>
            <a:graphicFrameLocks noChangeAspect="1"/>
          </p:cNvGraphicFramePr>
          <p:nvPr/>
        </p:nvGraphicFramePr>
        <p:xfrm>
          <a:off x="7543801" y="1143000"/>
          <a:ext cx="2455863" cy="833438"/>
        </p:xfrm>
        <a:graphic>
          <a:graphicData uri="http://schemas.openxmlformats.org/presentationml/2006/ole">
            <mc:AlternateContent xmlns:mc="http://schemas.openxmlformats.org/markup-compatibility/2006">
              <mc:Choice xmlns:v="urn:schemas-microsoft-com:vml" Requires="v">
                <p:oleObj spid="_x0000_s19513" name="Equation" r:id="rId5" imgW="2806700" imgH="952500" progId="Equation.DSMT4">
                  <p:embed/>
                </p:oleObj>
              </mc:Choice>
              <mc:Fallback>
                <p:oleObj name="Equation" r:id="rId5" imgW="2806700" imgH="952500"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43801" y="1143000"/>
                        <a:ext cx="2455863" cy="833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23256230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403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8403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4039"/>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4035">
                                            <p:txEl>
                                              <p:pRg st="4" end="4"/>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8403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4037"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58" name="Rectangle 2"/>
          <p:cNvSpPr>
            <a:spLocks noGrp="1" noChangeArrowheads="1"/>
          </p:cNvSpPr>
          <p:nvPr>
            <p:ph type="title"/>
          </p:nvPr>
        </p:nvSpPr>
        <p:spPr>
          <a:xfrm>
            <a:off x="1239837" y="-313267"/>
            <a:ext cx="10131425" cy="1456267"/>
          </a:xfrm>
        </p:spPr>
        <p:txBody>
          <a:bodyPr/>
          <a:lstStyle/>
          <a:p>
            <a:pPr eaLnBrk="1" hangingPunct="1">
              <a:defRPr/>
            </a:pPr>
            <a:r>
              <a:rPr lang="en-US" dirty="0" smtClean="0">
                <a:ea typeface="+mj-ea"/>
                <a:cs typeface="+mj-cs"/>
              </a:rPr>
              <a:t>SOLUTIONS OF LINEAR SYSTEMS</a:t>
            </a:r>
          </a:p>
        </p:txBody>
      </p:sp>
      <p:sp>
        <p:nvSpPr>
          <p:cNvPr id="685059" name="Rectangle 3"/>
          <p:cNvSpPr>
            <a:spLocks noGrp="1" noChangeArrowheads="1"/>
          </p:cNvSpPr>
          <p:nvPr>
            <p:ph sz="quarter" idx="13"/>
          </p:nvPr>
        </p:nvSpPr>
        <p:spPr>
          <a:xfrm>
            <a:off x="1960260" y="643079"/>
            <a:ext cx="8229600" cy="5410200"/>
          </a:xfrm>
        </p:spPr>
        <p:txBody>
          <a:bodyPr/>
          <a:lstStyle/>
          <a:p>
            <a:pPr eaLnBrk="1" hangingPunct="1">
              <a:buFont typeface="Wingdings" charset="0"/>
              <a:buChar char="§"/>
              <a:defRPr/>
            </a:pPr>
            <a:r>
              <a:rPr lang="en-US" sz="2800" dirty="0"/>
              <a:t>The row reduction algorithm leads to an explicit description of the solution set of a linear system when the algorithm is applied to the augmented matrix of the system.</a:t>
            </a:r>
          </a:p>
          <a:p>
            <a:pPr eaLnBrk="1" hangingPunct="1">
              <a:buFont typeface="Wingdings" charset="0"/>
              <a:buChar char="§"/>
              <a:defRPr/>
            </a:pPr>
            <a:r>
              <a:rPr lang="en-US" sz="2800" dirty="0"/>
              <a:t>Suppose that the augmented matrix of a linear system has been changed into the equivalent </a:t>
            </a:r>
            <a:r>
              <a:rPr lang="en-US" sz="2800" i="1" dirty="0"/>
              <a:t>reduced</a:t>
            </a:r>
            <a:r>
              <a:rPr lang="en-US" sz="2800" dirty="0"/>
              <a:t> echelon form.</a:t>
            </a:r>
          </a:p>
        </p:txBody>
      </p:sp>
      <p:sp>
        <p:nvSpPr>
          <p:cNvPr id="2867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2867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E11A722B-0DE3-46EB-ACA0-F15C2CCE8A93}" type="slidenum">
              <a:rPr lang="en-US" altLang="en-US" sz="1200">
                <a:latin typeface="Arial" panose="020B0604020202020204" pitchFamily="34" charset="0"/>
              </a:rPr>
              <a:pPr>
                <a:spcBef>
                  <a:spcPct val="0"/>
                </a:spcBef>
                <a:buClrTx/>
                <a:buFontTx/>
                <a:buNone/>
              </a:pPr>
              <a:t>52</a:t>
            </a:fld>
            <a:endParaRPr lang="en-CA" altLang="en-US" sz="1200">
              <a:latin typeface="Arial" panose="020B0604020202020204" pitchFamily="34" charset="0"/>
            </a:endParaRPr>
          </a:p>
        </p:txBody>
      </p:sp>
      <p:graphicFrame>
        <p:nvGraphicFramePr>
          <p:cNvPr id="685060" name="Object 4"/>
          <p:cNvGraphicFramePr>
            <a:graphicFrameLocks noChangeAspect="1"/>
          </p:cNvGraphicFramePr>
          <p:nvPr>
            <p:extLst>
              <p:ext uri="{D42A27DB-BD31-4B8C-83A1-F6EECF244321}">
                <p14:modId xmlns:p14="http://schemas.microsoft.com/office/powerpoint/2010/main" val="1910127491"/>
              </p:ext>
            </p:extLst>
          </p:nvPr>
        </p:nvGraphicFramePr>
        <p:xfrm>
          <a:off x="5029199" y="4470400"/>
          <a:ext cx="2552700" cy="1778000"/>
        </p:xfrm>
        <a:graphic>
          <a:graphicData uri="http://schemas.openxmlformats.org/presentationml/2006/ole">
            <mc:AlternateContent xmlns:mc="http://schemas.openxmlformats.org/markup-compatibility/2006">
              <mc:Choice xmlns:v="urn:schemas-microsoft-com:vml" Requires="v">
                <p:oleObj spid="_x0000_s20509" name="Equation" r:id="rId3" imgW="2552700" imgH="1778000" progId="Equation.DSMT4">
                  <p:embed/>
                </p:oleObj>
              </mc:Choice>
              <mc:Fallback>
                <p:oleObj name="Equation" r:id="rId3" imgW="2552700" imgH="17780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199" y="4470400"/>
                        <a:ext cx="2552700" cy="1778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196645234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5059">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5059">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8506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82" name="Rectangle 2"/>
          <p:cNvSpPr>
            <a:spLocks noGrp="1" noChangeArrowheads="1"/>
          </p:cNvSpPr>
          <p:nvPr>
            <p:ph type="title"/>
          </p:nvPr>
        </p:nvSpPr>
        <p:spPr/>
        <p:txBody>
          <a:bodyPr/>
          <a:lstStyle/>
          <a:p>
            <a:pPr eaLnBrk="1" hangingPunct="1">
              <a:defRPr/>
            </a:pPr>
            <a:r>
              <a:rPr lang="en-US" smtClean="0">
                <a:ea typeface="+mj-ea"/>
                <a:cs typeface="+mj-cs"/>
              </a:rPr>
              <a:t>SOLUTIONS OF LINEAR SYSTEMS</a:t>
            </a:r>
          </a:p>
        </p:txBody>
      </p:sp>
      <p:sp>
        <p:nvSpPr>
          <p:cNvPr id="686083" name="Rectangle 3"/>
          <p:cNvSpPr>
            <a:spLocks noGrp="1" noChangeArrowheads="1"/>
          </p:cNvSpPr>
          <p:nvPr>
            <p:ph sz="quarter" idx="13"/>
          </p:nvPr>
        </p:nvSpPr>
        <p:spPr>
          <a:xfrm>
            <a:off x="1709383" y="1705339"/>
            <a:ext cx="10131425" cy="3649133"/>
          </a:xfrm>
        </p:spPr>
        <p:txBody>
          <a:bodyPr>
            <a:normAutofit fontScale="92500" lnSpcReduction="10000"/>
          </a:bodyPr>
          <a:lstStyle/>
          <a:p>
            <a:pPr eaLnBrk="1" hangingPunct="1">
              <a:lnSpc>
                <a:spcPct val="90000"/>
              </a:lnSpc>
              <a:buFont typeface="Wingdings" charset="0"/>
              <a:buChar char="§"/>
              <a:defRPr/>
            </a:pPr>
            <a:r>
              <a:rPr lang="en-US" sz="2800" dirty="0"/>
              <a:t>There are 3 variables because the augmented matrix has four columns. The associated system of equations is  </a:t>
            </a:r>
          </a:p>
          <a:p>
            <a:pPr eaLnBrk="1" hangingPunct="1">
              <a:lnSpc>
                <a:spcPct val="90000"/>
              </a:lnSpc>
              <a:buFont typeface="Wingdings" charset="0"/>
              <a:buNone/>
              <a:defRPr/>
            </a:pPr>
            <a:r>
              <a:rPr lang="en-US" sz="2800" dirty="0"/>
              <a:t>                                            ----(1)</a:t>
            </a:r>
          </a:p>
          <a:p>
            <a:pPr eaLnBrk="1" hangingPunct="1">
              <a:lnSpc>
                <a:spcPct val="90000"/>
              </a:lnSpc>
              <a:buFont typeface="Wingdings" charset="0"/>
              <a:buChar char="§"/>
              <a:defRPr/>
            </a:pPr>
            <a:endParaRPr lang="en-US" sz="2800" dirty="0"/>
          </a:p>
          <a:p>
            <a:pPr eaLnBrk="1" hangingPunct="1">
              <a:lnSpc>
                <a:spcPct val="90000"/>
              </a:lnSpc>
              <a:buFont typeface="Wingdings" charset="0"/>
              <a:buChar char="§"/>
              <a:defRPr/>
            </a:pPr>
            <a:endParaRPr lang="en-US" sz="2800" dirty="0"/>
          </a:p>
          <a:p>
            <a:pPr eaLnBrk="1" hangingPunct="1">
              <a:lnSpc>
                <a:spcPct val="90000"/>
              </a:lnSpc>
              <a:buFont typeface="Wingdings" charset="0"/>
              <a:buChar char="§"/>
              <a:defRPr/>
            </a:pPr>
            <a:endParaRPr lang="en-US" sz="2800" dirty="0"/>
          </a:p>
          <a:p>
            <a:pPr eaLnBrk="1" hangingPunct="1">
              <a:lnSpc>
                <a:spcPct val="90000"/>
              </a:lnSpc>
              <a:buFont typeface="Wingdings" charset="0"/>
              <a:buChar char="§"/>
              <a:defRPr/>
            </a:pPr>
            <a:r>
              <a:rPr lang="en-US" sz="2800" dirty="0"/>
              <a:t>The variables </a:t>
            </a:r>
            <a:r>
              <a:rPr lang="en-US" sz="2800" i="1" dirty="0"/>
              <a:t>x</a:t>
            </a:r>
            <a:r>
              <a:rPr lang="en-US" sz="2800" baseline="-25000" dirty="0"/>
              <a:t>1</a:t>
            </a:r>
            <a:r>
              <a:rPr lang="en-US" sz="2800" dirty="0"/>
              <a:t> and </a:t>
            </a:r>
            <a:r>
              <a:rPr lang="en-US" sz="2800" i="1" dirty="0"/>
              <a:t>x</a:t>
            </a:r>
            <a:r>
              <a:rPr lang="en-US" sz="2800" baseline="-25000" dirty="0"/>
              <a:t>2</a:t>
            </a:r>
            <a:r>
              <a:rPr lang="en-US" sz="2800" dirty="0"/>
              <a:t> corresponding to pivot columns in the matrix are called </a:t>
            </a:r>
            <a:r>
              <a:rPr lang="en-US" sz="2800" b="1" dirty="0"/>
              <a:t>basic variables</a:t>
            </a:r>
            <a:r>
              <a:rPr lang="en-US" sz="2800" dirty="0"/>
              <a:t>. The other variable, </a:t>
            </a:r>
            <a:r>
              <a:rPr lang="en-US" sz="2800" i="1" dirty="0"/>
              <a:t>x</a:t>
            </a:r>
            <a:r>
              <a:rPr lang="en-US" sz="2800" baseline="-25000" dirty="0"/>
              <a:t>3</a:t>
            </a:r>
            <a:r>
              <a:rPr lang="en-US" sz="2800" dirty="0"/>
              <a:t>, is called a </a:t>
            </a:r>
            <a:r>
              <a:rPr lang="en-US" sz="2800" b="1" dirty="0"/>
              <a:t>free variable</a:t>
            </a:r>
            <a:r>
              <a:rPr lang="en-US" sz="2800" dirty="0"/>
              <a:t>.</a:t>
            </a:r>
          </a:p>
        </p:txBody>
      </p:sp>
      <p:sp>
        <p:nvSpPr>
          <p:cNvPr id="2969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2969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89BBEBE4-C641-4B94-A491-187AC91BB123}" type="slidenum">
              <a:rPr lang="en-US" altLang="en-US" sz="1200">
                <a:latin typeface="Arial" panose="020B0604020202020204" pitchFamily="34" charset="0"/>
              </a:rPr>
              <a:pPr>
                <a:spcBef>
                  <a:spcPct val="0"/>
                </a:spcBef>
                <a:buClrTx/>
                <a:buFontTx/>
                <a:buNone/>
              </a:pPr>
              <a:t>53</a:t>
            </a:fld>
            <a:endParaRPr lang="en-CA" altLang="en-US" sz="1200">
              <a:latin typeface="Arial" panose="020B0604020202020204" pitchFamily="34" charset="0"/>
            </a:endParaRPr>
          </a:p>
        </p:txBody>
      </p:sp>
      <p:graphicFrame>
        <p:nvGraphicFramePr>
          <p:cNvPr id="686085" name="Object 5"/>
          <p:cNvGraphicFramePr>
            <a:graphicFrameLocks noChangeAspect="1"/>
          </p:cNvGraphicFramePr>
          <p:nvPr/>
        </p:nvGraphicFramePr>
        <p:xfrm>
          <a:off x="3048000" y="2514600"/>
          <a:ext cx="1816100" cy="1625600"/>
        </p:xfrm>
        <a:graphic>
          <a:graphicData uri="http://schemas.openxmlformats.org/presentationml/2006/ole">
            <mc:AlternateContent xmlns:mc="http://schemas.openxmlformats.org/markup-compatibility/2006">
              <mc:Choice xmlns:v="urn:schemas-microsoft-com:vml" Requires="v">
                <p:oleObj spid="_x0000_s21533" name="Equation" r:id="rId3" imgW="1816100" imgH="1625600" progId="Equation.DSMT4">
                  <p:embed/>
                </p:oleObj>
              </mc:Choice>
              <mc:Fallback>
                <p:oleObj name="Equation" r:id="rId3" imgW="1816100" imgH="16256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48000" y="2514600"/>
                        <a:ext cx="1816100" cy="1625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5956582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6083">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6083">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86085"/>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608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7106" name="Rectangle 2"/>
          <p:cNvSpPr>
            <a:spLocks noGrp="1" noChangeArrowheads="1"/>
          </p:cNvSpPr>
          <p:nvPr>
            <p:ph type="title"/>
          </p:nvPr>
        </p:nvSpPr>
        <p:spPr>
          <a:xfrm>
            <a:off x="685800" y="0"/>
            <a:ext cx="10131425" cy="1456267"/>
          </a:xfrm>
        </p:spPr>
        <p:txBody>
          <a:bodyPr/>
          <a:lstStyle/>
          <a:p>
            <a:pPr eaLnBrk="1" hangingPunct="1">
              <a:defRPr/>
            </a:pPr>
            <a:r>
              <a:rPr lang="en-US" dirty="0" smtClean="0">
                <a:ea typeface="+mj-ea"/>
                <a:cs typeface="+mj-cs"/>
              </a:rPr>
              <a:t>SOLUTIONS OF LINEAR SYSTEMS</a:t>
            </a:r>
          </a:p>
        </p:txBody>
      </p:sp>
      <p:sp>
        <p:nvSpPr>
          <p:cNvPr id="687107" name="Rectangle 3"/>
          <p:cNvSpPr>
            <a:spLocks noGrp="1" noChangeArrowheads="1"/>
          </p:cNvSpPr>
          <p:nvPr>
            <p:ph sz="quarter" idx="13"/>
          </p:nvPr>
        </p:nvSpPr>
        <p:spPr>
          <a:xfrm>
            <a:off x="1216924" y="1295400"/>
            <a:ext cx="10056125" cy="4953000"/>
          </a:xfrm>
        </p:spPr>
        <p:txBody>
          <a:bodyPr/>
          <a:lstStyle/>
          <a:p>
            <a:pPr eaLnBrk="1" hangingPunct="1">
              <a:lnSpc>
                <a:spcPct val="80000"/>
              </a:lnSpc>
              <a:buFont typeface="Wingdings" charset="0"/>
              <a:buChar char="§"/>
              <a:defRPr/>
            </a:pPr>
            <a:r>
              <a:rPr lang="en-US" sz="2800" dirty="0"/>
              <a:t>Whenever a system is consistent, as in (1), the solution set can be described explicitly by solving the </a:t>
            </a:r>
            <a:r>
              <a:rPr lang="en-US" sz="2800" i="1" dirty="0"/>
              <a:t>reduced</a:t>
            </a:r>
            <a:r>
              <a:rPr lang="en-US" sz="2800" dirty="0"/>
              <a:t> system of equations for the basic variables in terms of the free variables. </a:t>
            </a:r>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r>
              <a:rPr lang="en-US" sz="2800" dirty="0"/>
              <a:t>This operation is possible because the reduced echelon form places each basic variable in one and only one equation. </a:t>
            </a:r>
          </a:p>
          <a:p>
            <a:pPr eaLnBrk="1" hangingPunct="1">
              <a:lnSpc>
                <a:spcPct val="80000"/>
              </a:lnSpc>
              <a:buFont typeface="Wingdings" charset="0"/>
              <a:buChar char="§"/>
              <a:defRPr/>
            </a:pPr>
            <a:endParaRPr lang="en-US" sz="2800" dirty="0"/>
          </a:p>
          <a:p>
            <a:pPr eaLnBrk="1" hangingPunct="1">
              <a:lnSpc>
                <a:spcPct val="80000"/>
              </a:lnSpc>
              <a:buFont typeface="Wingdings" charset="0"/>
              <a:buChar char="§"/>
              <a:defRPr/>
            </a:pPr>
            <a:r>
              <a:rPr lang="en-US" sz="2800" dirty="0"/>
              <a:t>In (1), solve the first and second equations for </a:t>
            </a:r>
            <a:r>
              <a:rPr lang="en-US" sz="2800" i="1" dirty="0"/>
              <a:t>x</a:t>
            </a:r>
            <a:r>
              <a:rPr lang="en-US" sz="2800" baseline="-25000" dirty="0"/>
              <a:t>1</a:t>
            </a:r>
            <a:r>
              <a:rPr lang="en-US" sz="2800" dirty="0"/>
              <a:t> and </a:t>
            </a:r>
            <a:r>
              <a:rPr lang="en-US" sz="2800" i="1" dirty="0"/>
              <a:t>x</a:t>
            </a:r>
            <a:r>
              <a:rPr lang="en-US" sz="2800" baseline="-25000" dirty="0"/>
              <a:t>2</a:t>
            </a:r>
            <a:r>
              <a:rPr lang="en-US" sz="2800" dirty="0"/>
              <a:t>. (Ignore the third equation; it offers no restriction on the variables.)</a:t>
            </a:r>
          </a:p>
          <a:p>
            <a:pPr eaLnBrk="1" hangingPunct="1">
              <a:lnSpc>
                <a:spcPct val="80000"/>
              </a:lnSpc>
              <a:buFont typeface="Wingdings" charset="0"/>
              <a:buNone/>
              <a:defRPr/>
            </a:pPr>
            <a:endParaRPr lang="en-US" sz="2800" dirty="0"/>
          </a:p>
        </p:txBody>
      </p:sp>
      <p:sp>
        <p:nvSpPr>
          <p:cNvPr id="30723"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3072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D3322F14-5ED7-454E-A5A1-A7AC81D81903}" type="slidenum">
              <a:rPr lang="en-US" altLang="en-US" sz="1200">
                <a:latin typeface="Arial" panose="020B0604020202020204" pitchFamily="34" charset="0"/>
              </a:rPr>
              <a:pPr>
                <a:spcBef>
                  <a:spcPct val="0"/>
                </a:spcBef>
                <a:buClrTx/>
                <a:buFontTx/>
                <a:buNone/>
              </a:pPr>
              <a:t>54</a:t>
            </a:fld>
            <a:endParaRPr lang="en-CA" altLang="en-US" sz="1200">
              <a:latin typeface="Arial" panose="020B0604020202020204" pitchFamily="34" charset="0"/>
            </a:endParaRPr>
          </a:p>
        </p:txBody>
      </p:sp>
    </p:spTree>
    <p:extLst>
      <p:ext uri="{BB962C8B-B14F-4D97-AF65-F5344CB8AC3E}">
        <p14:creationId xmlns:p14="http://schemas.microsoft.com/office/powerpoint/2010/main" val="76664258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710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7107">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7107">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8130" name="Rectangle 2"/>
          <p:cNvSpPr>
            <a:spLocks noGrp="1" noChangeArrowheads="1"/>
          </p:cNvSpPr>
          <p:nvPr>
            <p:ph type="title"/>
          </p:nvPr>
        </p:nvSpPr>
        <p:spPr>
          <a:xfrm>
            <a:off x="849574" y="-41275"/>
            <a:ext cx="10131425" cy="1456267"/>
          </a:xfrm>
        </p:spPr>
        <p:txBody>
          <a:bodyPr/>
          <a:lstStyle/>
          <a:p>
            <a:pPr eaLnBrk="1" hangingPunct="1">
              <a:defRPr/>
            </a:pPr>
            <a:r>
              <a:rPr lang="en-US" dirty="0" smtClean="0">
                <a:ea typeface="+mj-ea"/>
                <a:cs typeface="+mj-cs"/>
              </a:rPr>
              <a:t>SOLUTIONS OF LINEAR SYSTEMS</a:t>
            </a:r>
          </a:p>
        </p:txBody>
      </p:sp>
      <p:sp>
        <p:nvSpPr>
          <p:cNvPr id="688131" name="Rectangle 3"/>
          <p:cNvSpPr>
            <a:spLocks noGrp="1" noChangeArrowheads="1"/>
          </p:cNvSpPr>
          <p:nvPr>
            <p:ph sz="quarter" idx="13"/>
          </p:nvPr>
        </p:nvSpPr>
        <p:spPr>
          <a:xfrm>
            <a:off x="2090382" y="975784"/>
            <a:ext cx="8534400" cy="5334000"/>
          </a:xfrm>
        </p:spPr>
        <p:txBody>
          <a:bodyPr>
            <a:normAutofit fontScale="92500" lnSpcReduction="10000"/>
          </a:bodyPr>
          <a:lstStyle/>
          <a:p>
            <a:pPr algn="just" eaLnBrk="1" hangingPunct="1">
              <a:lnSpc>
                <a:spcPct val="80000"/>
              </a:lnSpc>
            </a:pPr>
            <a:endParaRPr lang="en-US" altLang="en-US" sz="1000" dirty="0"/>
          </a:p>
          <a:p>
            <a:pPr algn="just" eaLnBrk="1" hangingPunct="1">
              <a:lnSpc>
                <a:spcPct val="80000"/>
              </a:lnSpc>
              <a:buFont typeface="Wingdings" panose="05000000000000000000" pitchFamily="2" charset="2"/>
              <a:buNone/>
            </a:pPr>
            <a:r>
              <a:rPr lang="en-US" altLang="en-US" sz="1200" dirty="0"/>
              <a:t>                                                                                  </a:t>
            </a:r>
          </a:p>
          <a:p>
            <a:pPr algn="just" eaLnBrk="1" hangingPunct="1">
              <a:lnSpc>
                <a:spcPct val="80000"/>
              </a:lnSpc>
              <a:buFont typeface="Wingdings" panose="05000000000000000000" pitchFamily="2" charset="2"/>
              <a:buNone/>
            </a:pPr>
            <a:r>
              <a:rPr lang="en-US" altLang="en-US" sz="1200" dirty="0"/>
              <a:t>                                           </a:t>
            </a:r>
          </a:p>
          <a:p>
            <a:pPr algn="just" eaLnBrk="1" hangingPunct="1">
              <a:lnSpc>
                <a:spcPct val="80000"/>
              </a:lnSpc>
              <a:buFont typeface="Wingdings" panose="05000000000000000000" pitchFamily="2" charset="2"/>
              <a:buNone/>
            </a:pPr>
            <a:endParaRPr lang="en-US" altLang="en-US" sz="1200" dirty="0"/>
          </a:p>
          <a:p>
            <a:pPr algn="just" eaLnBrk="1" hangingPunct="1">
              <a:lnSpc>
                <a:spcPct val="80000"/>
              </a:lnSpc>
              <a:buFont typeface="Wingdings" panose="05000000000000000000" pitchFamily="2" charset="2"/>
              <a:buNone/>
            </a:pPr>
            <a:r>
              <a:rPr lang="en-US" altLang="en-US" sz="1200" dirty="0"/>
              <a:t>                                                                                                                                                             </a:t>
            </a:r>
            <a:r>
              <a:rPr lang="en-US" altLang="en-US" sz="2800" dirty="0"/>
              <a:t>----(2)</a:t>
            </a:r>
          </a:p>
          <a:p>
            <a:pPr algn="just" eaLnBrk="1" hangingPunct="1">
              <a:lnSpc>
                <a:spcPct val="80000"/>
              </a:lnSpc>
            </a:pPr>
            <a:endParaRPr lang="en-US" altLang="en-US" sz="2800" dirty="0"/>
          </a:p>
          <a:p>
            <a:pPr algn="just" eaLnBrk="1" hangingPunct="1">
              <a:lnSpc>
                <a:spcPct val="80000"/>
              </a:lnSpc>
            </a:pPr>
            <a:endParaRPr lang="en-US" altLang="en-US" sz="2400" dirty="0"/>
          </a:p>
          <a:p>
            <a:pPr algn="just" eaLnBrk="1" hangingPunct="1">
              <a:lnSpc>
                <a:spcPct val="80000"/>
              </a:lnSpc>
            </a:pPr>
            <a:r>
              <a:rPr lang="en-US" altLang="en-US" sz="2800" dirty="0"/>
              <a:t>The statement </a:t>
            </a:r>
            <a:r>
              <a:rPr lang="ja-JP" altLang="en-US" sz="2800" dirty="0">
                <a:latin typeface="Arial" panose="020B0604020202020204" pitchFamily="34" charset="0"/>
              </a:rPr>
              <a:t>“</a:t>
            </a:r>
            <a:r>
              <a:rPr lang="en-US" altLang="ja-JP" sz="2800" i="1" dirty="0"/>
              <a:t>x</a:t>
            </a:r>
            <a:r>
              <a:rPr lang="en-US" altLang="ja-JP" sz="2800" baseline="-25000" dirty="0"/>
              <a:t>3</a:t>
            </a:r>
            <a:r>
              <a:rPr lang="en-US" altLang="ja-JP" sz="2800" dirty="0"/>
              <a:t> is free</a:t>
            </a:r>
            <a:r>
              <a:rPr lang="ja-JP" altLang="en-US" sz="2800" dirty="0">
                <a:latin typeface="Arial" panose="020B0604020202020204" pitchFamily="34" charset="0"/>
              </a:rPr>
              <a:t>”</a:t>
            </a:r>
            <a:r>
              <a:rPr lang="en-US" altLang="ja-JP" sz="2800" dirty="0"/>
              <a:t> means that you are free to choose any value for </a:t>
            </a:r>
            <a:r>
              <a:rPr lang="en-US" altLang="ja-JP" sz="2800" i="1" dirty="0"/>
              <a:t>x</a:t>
            </a:r>
            <a:r>
              <a:rPr lang="en-US" altLang="ja-JP" sz="2800" baseline="-25000" dirty="0"/>
              <a:t>3</a:t>
            </a:r>
            <a:r>
              <a:rPr lang="en-US" altLang="ja-JP" sz="2800" dirty="0"/>
              <a:t>. Once that is done, the formulas in (2) determine the values for </a:t>
            </a:r>
            <a:r>
              <a:rPr lang="en-US" altLang="ja-JP" sz="2800" i="1" dirty="0"/>
              <a:t>x</a:t>
            </a:r>
            <a:r>
              <a:rPr lang="en-US" altLang="ja-JP" sz="2800" baseline="-25000" dirty="0"/>
              <a:t>1</a:t>
            </a:r>
            <a:r>
              <a:rPr lang="en-US" altLang="ja-JP" sz="2800" dirty="0"/>
              <a:t> and </a:t>
            </a:r>
            <a:r>
              <a:rPr lang="en-US" altLang="ja-JP" sz="2800" i="1" dirty="0"/>
              <a:t>x</a:t>
            </a:r>
            <a:r>
              <a:rPr lang="en-US" altLang="ja-JP" sz="2800" baseline="-25000" dirty="0"/>
              <a:t>2</a:t>
            </a:r>
            <a:r>
              <a:rPr lang="en-US" altLang="ja-JP" sz="2800" dirty="0"/>
              <a:t>. For instance, when           , the solution is (1,4,0); when           , the solution is (6,3,1).</a:t>
            </a:r>
          </a:p>
          <a:p>
            <a:pPr algn="just" eaLnBrk="1" hangingPunct="1">
              <a:lnSpc>
                <a:spcPct val="80000"/>
              </a:lnSpc>
            </a:pPr>
            <a:endParaRPr lang="en-US" altLang="en-US" sz="2800" dirty="0"/>
          </a:p>
          <a:p>
            <a:pPr algn="just" eaLnBrk="1" hangingPunct="1">
              <a:lnSpc>
                <a:spcPct val="80000"/>
              </a:lnSpc>
            </a:pPr>
            <a:r>
              <a:rPr lang="en-US" altLang="en-US" sz="2800" i="1" dirty="0"/>
              <a:t>Each different choice of x</a:t>
            </a:r>
            <a:r>
              <a:rPr lang="en-US" altLang="en-US" sz="2800" baseline="-25000" dirty="0"/>
              <a:t>3</a:t>
            </a:r>
            <a:r>
              <a:rPr lang="en-US" altLang="en-US" sz="2800" i="1" dirty="0"/>
              <a:t> determines a (different) solution of the system, and every solution of the system is determined by a choice of x</a:t>
            </a:r>
            <a:r>
              <a:rPr lang="en-US" altLang="en-US" sz="2800" baseline="-25000" dirty="0"/>
              <a:t>3</a:t>
            </a:r>
            <a:r>
              <a:rPr lang="en-US" altLang="en-US" sz="2800" i="1" dirty="0"/>
              <a:t>.        </a:t>
            </a:r>
          </a:p>
        </p:txBody>
      </p:sp>
      <p:sp>
        <p:nvSpPr>
          <p:cNvPr id="31746"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2306D318-4230-4E67-AA46-D6CD114A755C}" type="slidenum">
              <a:rPr lang="en-US" altLang="en-US" sz="1200">
                <a:latin typeface="Arial" panose="020B0604020202020204" pitchFamily="34" charset="0"/>
              </a:rPr>
              <a:pPr>
                <a:spcBef>
                  <a:spcPct val="0"/>
                </a:spcBef>
                <a:buClrTx/>
                <a:buFontTx/>
                <a:buNone/>
              </a:pPr>
              <a:t>55</a:t>
            </a:fld>
            <a:endParaRPr lang="en-CA" altLang="en-US" sz="1200">
              <a:latin typeface="Arial" panose="020B0604020202020204" pitchFamily="34" charset="0"/>
            </a:endParaRPr>
          </a:p>
        </p:txBody>
      </p:sp>
      <p:graphicFrame>
        <p:nvGraphicFramePr>
          <p:cNvPr id="688132" name="Object 4"/>
          <p:cNvGraphicFramePr>
            <a:graphicFrameLocks noChangeAspect="1"/>
          </p:cNvGraphicFramePr>
          <p:nvPr>
            <p:extLst>
              <p:ext uri="{D42A27DB-BD31-4B8C-83A1-F6EECF244321}">
                <p14:modId xmlns:p14="http://schemas.microsoft.com/office/powerpoint/2010/main" val="1690579677"/>
              </p:ext>
            </p:extLst>
          </p:nvPr>
        </p:nvGraphicFramePr>
        <p:xfrm>
          <a:off x="3374030" y="4127500"/>
          <a:ext cx="952500" cy="482600"/>
        </p:xfrm>
        <a:graphic>
          <a:graphicData uri="http://schemas.openxmlformats.org/presentationml/2006/ole">
            <mc:AlternateContent xmlns:mc="http://schemas.openxmlformats.org/markup-compatibility/2006">
              <mc:Choice xmlns:v="urn:schemas-microsoft-com:vml" Requires="v">
                <p:oleObj spid="_x0000_s22611" name="Equation" r:id="rId3" imgW="952087" imgH="482391" progId="Equation.DSMT4">
                  <p:embed/>
                </p:oleObj>
              </mc:Choice>
              <mc:Fallback>
                <p:oleObj name="Equation" r:id="rId3" imgW="952087" imgH="48239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74030" y="4127500"/>
                        <a:ext cx="9525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8133" name="Object 5"/>
          <p:cNvGraphicFramePr>
            <a:graphicFrameLocks noChangeAspect="1"/>
          </p:cNvGraphicFramePr>
          <p:nvPr>
            <p:extLst>
              <p:ext uri="{D42A27DB-BD31-4B8C-83A1-F6EECF244321}">
                <p14:modId xmlns:p14="http://schemas.microsoft.com/office/powerpoint/2010/main" val="3051581143"/>
              </p:ext>
            </p:extLst>
          </p:nvPr>
        </p:nvGraphicFramePr>
        <p:xfrm>
          <a:off x="8945260" y="4127500"/>
          <a:ext cx="889000" cy="482600"/>
        </p:xfrm>
        <a:graphic>
          <a:graphicData uri="http://schemas.openxmlformats.org/presentationml/2006/ole">
            <mc:AlternateContent xmlns:mc="http://schemas.openxmlformats.org/markup-compatibility/2006">
              <mc:Choice xmlns:v="urn:schemas-microsoft-com:vml" Requires="v">
                <p:oleObj spid="_x0000_s22612" name="Equation" r:id="rId5" imgW="888614" imgH="482391" progId="Equation.DSMT4">
                  <p:embed/>
                </p:oleObj>
              </mc:Choice>
              <mc:Fallback>
                <p:oleObj name="Equation" r:id="rId5" imgW="888614" imgH="482391" progId="Equation.DSMT4">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945260" y="4127500"/>
                        <a:ext cx="88900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graphicFrame>
        <p:nvGraphicFramePr>
          <p:cNvPr id="688136" name="Object 8"/>
          <p:cNvGraphicFramePr>
            <a:graphicFrameLocks noChangeAspect="1"/>
          </p:cNvGraphicFramePr>
          <p:nvPr/>
        </p:nvGraphicFramePr>
        <p:xfrm>
          <a:off x="4953000" y="1219200"/>
          <a:ext cx="1714500" cy="1727200"/>
        </p:xfrm>
        <a:graphic>
          <a:graphicData uri="http://schemas.openxmlformats.org/presentationml/2006/ole">
            <mc:AlternateContent xmlns:mc="http://schemas.openxmlformats.org/markup-compatibility/2006">
              <mc:Choice xmlns:v="urn:schemas-microsoft-com:vml" Requires="v">
                <p:oleObj spid="_x0000_s22613" name="Equation" r:id="rId7" imgW="1714500" imgH="1727200" progId="Equation.DSMT4">
                  <p:embed/>
                </p:oleObj>
              </mc:Choice>
              <mc:Fallback>
                <p:oleObj name="Equation" r:id="rId7" imgW="1714500" imgH="17272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953000" y="1219200"/>
                        <a:ext cx="1714500" cy="172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48043977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8131">
                                            <p:txEl>
                                              <p:pRg st="4" end="4"/>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88136"/>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88131">
                                            <p:txEl>
                                              <p:pRg st="7" end="7"/>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813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88133"/>
                                        </p:tgtEl>
                                        <p:attrNameLst>
                                          <p:attrName>style.visibility</p:attrName>
                                        </p:attrNameLst>
                                      </p:cBhvr>
                                      <p:to>
                                        <p:strVal val="visible"/>
                                      </p:to>
                                    </p:set>
                                  </p:childTnLst>
                                </p:cTn>
                              </p:par>
                            </p:childTnLst>
                          </p:cTn>
                        </p:par>
                      </p:childTnLst>
                    </p:cTn>
                  </p:par>
                  <p:par>
                    <p:cTn id="17" fill="hold" nodeType="clickPar">
                      <p:stCondLst>
                        <p:cond delay="indefinite"/>
                      </p:stCondLst>
                      <p:childTnLst>
                        <p:par>
                          <p:cTn id="18" fill="hold" nodeType="withGroup">
                            <p:stCondLst>
                              <p:cond delay="0"/>
                            </p:stCondLst>
                            <p:childTnLst>
                              <p:par>
                                <p:cTn id="19" presetID="1" presetClass="entr" presetSubtype="0" fill="hold" nodeType="clickEffect">
                                  <p:stCondLst>
                                    <p:cond delay="0"/>
                                  </p:stCondLst>
                                  <p:childTnLst>
                                    <p:set>
                                      <p:cBhvr>
                                        <p:cTn id="20" dur="1" fill="hold">
                                          <p:stCondLst>
                                            <p:cond delay="0"/>
                                          </p:stCondLst>
                                        </p:cTn>
                                        <p:tgtEl>
                                          <p:spTgt spid="688131">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9154" name="Rectangle 2"/>
          <p:cNvSpPr>
            <a:spLocks noGrp="1" noChangeArrowheads="1"/>
          </p:cNvSpPr>
          <p:nvPr>
            <p:ph type="title"/>
          </p:nvPr>
        </p:nvSpPr>
        <p:spPr>
          <a:xfrm>
            <a:off x="904165" y="0"/>
            <a:ext cx="10131425" cy="1456267"/>
          </a:xfrm>
        </p:spPr>
        <p:txBody>
          <a:bodyPr/>
          <a:lstStyle/>
          <a:p>
            <a:pPr eaLnBrk="1" hangingPunct="1">
              <a:defRPr/>
            </a:pPr>
            <a:r>
              <a:rPr lang="en-US" dirty="0" smtClean="0">
                <a:ea typeface="+mj-ea"/>
                <a:cs typeface="+mj-cs"/>
              </a:rPr>
              <a:t>PARAMETRIC DESCRIPTIONS OF SOLUTION SETS</a:t>
            </a:r>
          </a:p>
        </p:txBody>
      </p:sp>
      <p:sp>
        <p:nvSpPr>
          <p:cNvPr id="689155" name="Rectangle 3"/>
          <p:cNvSpPr>
            <a:spLocks noGrp="1" noChangeArrowheads="1"/>
          </p:cNvSpPr>
          <p:nvPr>
            <p:ph sz="quarter" idx="13"/>
          </p:nvPr>
        </p:nvSpPr>
        <p:spPr>
          <a:xfrm>
            <a:off x="1981199" y="1295400"/>
            <a:ext cx="9496567" cy="4876800"/>
          </a:xfrm>
        </p:spPr>
        <p:txBody>
          <a:bodyPr>
            <a:normAutofit fontScale="92500" lnSpcReduction="20000"/>
          </a:bodyPr>
          <a:lstStyle/>
          <a:p>
            <a:pPr eaLnBrk="1" hangingPunct="1">
              <a:buFont typeface="Wingdings" charset="0"/>
              <a:buChar char="§"/>
              <a:defRPr/>
            </a:pPr>
            <a:r>
              <a:rPr lang="en-US" sz="2800" dirty="0"/>
              <a:t>The description in (2) is a </a:t>
            </a:r>
            <a:r>
              <a:rPr lang="en-US" sz="2800" i="1" dirty="0"/>
              <a:t>parametric description</a:t>
            </a:r>
            <a:r>
              <a:rPr lang="en-US" sz="2800" dirty="0"/>
              <a:t> of solutions sets in which the free variables act as parameters. </a:t>
            </a:r>
          </a:p>
          <a:p>
            <a:pPr eaLnBrk="1" hangingPunct="1">
              <a:buFont typeface="Wingdings" charset="0"/>
              <a:buNone/>
              <a:defRPr/>
            </a:pPr>
            <a:endParaRPr lang="en-US" sz="2800" dirty="0"/>
          </a:p>
          <a:p>
            <a:pPr eaLnBrk="1" hangingPunct="1">
              <a:buFont typeface="Wingdings" charset="0"/>
              <a:buChar char="§"/>
              <a:defRPr/>
            </a:pPr>
            <a:r>
              <a:rPr lang="en-US" sz="2800" i="1" dirty="0"/>
              <a:t>Solving a system</a:t>
            </a:r>
            <a:r>
              <a:rPr lang="en-US" sz="2800" dirty="0"/>
              <a:t> amounts to finding a parametric description of the solution set or determining that the solution set is empty.</a:t>
            </a:r>
          </a:p>
          <a:p>
            <a:pPr eaLnBrk="1" hangingPunct="1">
              <a:buFont typeface="Wingdings" charset="0"/>
              <a:buChar char="§"/>
              <a:defRPr/>
            </a:pPr>
            <a:endParaRPr lang="en-US" sz="2800" dirty="0"/>
          </a:p>
          <a:p>
            <a:pPr eaLnBrk="1" hangingPunct="1">
              <a:buFont typeface="Wingdings" charset="0"/>
              <a:buChar char="§"/>
              <a:defRPr/>
            </a:pPr>
            <a:r>
              <a:rPr lang="en-US" sz="2800" dirty="0"/>
              <a:t>Whenever a system is consistent and has free variables, the solution set has many parametric descriptions.</a:t>
            </a:r>
          </a:p>
        </p:txBody>
      </p:sp>
      <p:sp>
        <p:nvSpPr>
          <p:cNvPr id="32771"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32770"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F5827932-5E23-4926-895B-0EA242D5080A}" type="slidenum">
              <a:rPr lang="en-US" altLang="en-US" sz="1200">
                <a:latin typeface="Arial" panose="020B0604020202020204" pitchFamily="34" charset="0"/>
              </a:rPr>
              <a:pPr>
                <a:spcBef>
                  <a:spcPct val="0"/>
                </a:spcBef>
                <a:buClrTx/>
                <a:buFontTx/>
                <a:buNone/>
              </a:pPr>
              <a:t>56</a:t>
            </a:fld>
            <a:endParaRPr lang="en-CA" altLang="en-US" sz="1200">
              <a:latin typeface="Arial" panose="020B0604020202020204" pitchFamily="34" charset="0"/>
            </a:endParaRPr>
          </a:p>
        </p:txBody>
      </p:sp>
    </p:spTree>
    <p:extLst>
      <p:ext uri="{BB962C8B-B14F-4D97-AF65-F5344CB8AC3E}">
        <p14:creationId xmlns:p14="http://schemas.microsoft.com/office/powerpoint/2010/main" val="54575690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89155">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89155">
                                            <p:txEl>
                                              <p:pRg st="2" end="2"/>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89155">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0178" name="Rectangle 2"/>
          <p:cNvSpPr>
            <a:spLocks noGrp="1" noChangeArrowheads="1"/>
          </p:cNvSpPr>
          <p:nvPr>
            <p:ph type="title"/>
          </p:nvPr>
        </p:nvSpPr>
        <p:spPr>
          <a:xfrm>
            <a:off x="1030287" y="-145521"/>
            <a:ext cx="10131425" cy="1456267"/>
          </a:xfrm>
        </p:spPr>
        <p:txBody>
          <a:bodyPr/>
          <a:lstStyle/>
          <a:p>
            <a:pPr eaLnBrk="1" hangingPunct="1">
              <a:defRPr/>
            </a:pPr>
            <a:r>
              <a:rPr lang="en-US" dirty="0" smtClean="0">
                <a:ea typeface="+mj-ea"/>
                <a:cs typeface="+mj-cs"/>
              </a:rPr>
              <a:t>PARAMETRIC DESCRIPTIONS OF SOLUTION SETS</a:t>
            </a:r>
          </a:p>
        </p:txBody>
      </p:sp>
      <p:sp>
        <p:nvSpPr>
          <p:cNvPr id="690179" name="Rectangle 3"/>
          <p:cNvSpPr>
            <a:spLocks noGrp="1" noChangeArrowheads="1"/>
          </p:cNvSpPr>
          <p:nvPr>
            <p:ph sz="quarter" idx="13"/>
          </p:nvPr>
        </p:nvSpPr>
        <p:spPr>
          <a:xfrm>
            <a:off x="1498600" y="853811"/>
            <a:ext cx="9525000" cy="5486400"/>
          </a:xfrm>
        </p:spPr>
        <p:txBody>
          <a:bodyPr/>
          <a:lstStyle/>
          <a:p>
            <a:pPr eaLnBrk="1" hangingPunct="1">
              <a:lnSpc>
                <a:spcPct val="90000"/>
              </a:lnSpc>
              <a:buFont typeface="Wingdings" charset="0"/>
              <a:buChar char="§"/>
              <a:defRPr/>
            </a:pPr>
            <a:r>
              <a:rPr lang="en-US" sz="2800" dirty="0"/>
              <a:t>For instance, in system (1), add 5 times equation 2 to equation 1 and obtain the following equivalent system.</a:t>
            </a:r>
          </a:p>
          <a:p>
            <a:pPr eaLnBrk="1" hangingPunct="1">
              <a:lnSpc>
                <a:spcPct val="90000"/>
              </a:lnSpc>
              <a:buFont typeface="Wingdings" charset="0"/>
              <a:buChar char="§"/>
              <a:defRPr/>
            </a:pPr>
            <a:endParaRPr lang="en-US" sz="2800" dirty="0"/>
          </a:p>
          <a:p>
            <a:pPr eaLnBrk="1" hangingPunct="1">
              <a:lnSpc>
                <a:spcPct val="90000"/>
              </a:lnSpc>
              <a:buFont typeface="Wingdings" charset="0"/>
              <a:buChar char="§"/>
              <a:defRPr/>
            </a:pPr>
            <a:endParaRPr lang="en-US" sz="2800" dirty="0"/>
          </a:p>
          <a:p>
            <a:pPr eaLnBrk="1" hangingPunct="1">
              <a:lnSpc>
                <a:spcPct val="90000"/>
              </a:lnSpc>
              <a:buFont typeface="Wingdings" charset="0"/>
              <a:buChar char="§"/>
              <a:defRPr/>
            </a:pPr>
            <a:r>
              <a:rPr lang="en-US" sz="2800" dirty="0"/>
              <a:t>We could treat </a:t>
            </a:r>
            <a:r>
              <a:rPr lang="en-US" sz="2800" i="1" dirty="0"/>
              <a:t>x</a:t>
            </a:r>
            <a:r>
              <a:rPr lang="en-US" sz="2800" baseline="-25000" dirty="0"/>
              <a:t>2</a:t>
            </a:r>
            <a:r>
              <a:rPr lang="en-US" sz="2800" dirty="0"/>
              <a:t> as a parameter and solve for </a:t>
            </a:r>
            <a:r>
              <a:rPr lang="en-US" sz="2800" i="1" dirty="0"/>
              <a:t>x</a:t>
            </a:r>
            <a:r>
              <a:rPr lang="en-US" sz="2800" baseline="-25000" dirty="0"/>
              <a:t>1</a:t>
            </a:r>
            <a:r>
              <a:rPr lang="en-US" sz="2800" dirty="0"/>
              <a:t> and </a:t>
            </a:r>
            <a:r>
              <a:rPr lang="en-US" sz="2800" i="1" dirty="0"/>
              <a:t>x</a:t>
            </a:r>
            <a:r>
              <a:rPr lang="en-US" sz="2800" baseline="-25000" dirty="0"/>
              <a:t>3</a:t>
            </a:r>
            <a:r>
              <a:rPr lang="en-US" sz="2800" dirty="0"/>
              <a:t> in terms of </a:t>
            </a:r>
            <a:r>
              <a:rPr lang="en-US" sz="2800" i="1" dirty="0"/>
              <a:t>x</a:t>
            </a:r>
            <a:r>
              <a:rPr lang="en-US" sz="2800" baseline="-25000" dirty="0"/>
              <a:t>2</a:t>
            </a:r>
            <a:r>
              <a:rPr lang="en-US" sz="2800" dirty="0"/>
              <a:t>, and we would have an accurate description of the solution set. </a:t>
            </a:r>
          </a:p>
          <a:p>
            <a:pPr eaLnBrk="1" hangingPunct="1">
              <a:lnSpc>
                <a:spcPct val="90000"/>
              </a:lnSpc>
              <a:buFont typeface="Wingdings" charset="0"/>
              <a:buChar char="§"/>
              <a:defRPr/>
            </a:pPr>
            <a:r>
              <a:rPr lang="en-US" sz="2800" dirty="0"/>
              <a:t>When a system is inconsistent, the solution set is empty, even when the system has free variables. In this case, the solution set has no parametric representation.</a:t>
            </a:r>
          </a:p>
        </p:txBody>
      </p:sp>
      <p:sp>
        <p:nvSpPr>
          <p:cNvPr id="33795"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33794"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915125D3-A9F8-4651-93ED-C10A622C8632}" type="slidenum">
              <a:rPr lang="en-US" altLang="en-US" sz="1200">
                <a:latin typeface="Arial" panose="020B0604020202020204" pitchFamily="34" charset="0"/>
              </a:rPr>
              <a:pPr>
                <a:spcBef>
                  <a:spcPct val="0"/>
                </a:spcBef>
                <a:buClrTx/>
                <a:buFontTx/>
                <a:buNone/>
              </a:pPr>
              <a:t>57</a:t>
            </a:fld>
            <a:endParaRPr lang="en-CA" altLang="en-US" sz="1200">
              <a:latin typeface="Arial" panose="020B0604020202020204" pitchFamily="34" charset="0"/>
            </a:endParaRPr>
          </a:p>
        </p:txBody>
      </p:sp>
      <p:graphicFrame>
        <p:nvGraphicFramePr>
          <p:cNvPr id="690180" name="Object 4"/>
          <p:cNvGraphicFramePr>
            <a:graphicFrameLocks noChangeAspect="1"/>
          </p:cNvGraphicFramePr>
          <p:nvPr/>
        </p:nvGraphicFramePr>
        <p:xfrm>
          <a:off x="5257800" y="1981200"/>
          <a:ext cx="2006600" cy="1092200"/>
        </p:xfrm>
        <a:graphic>
          <a:graphicData uri="http://schemas.openxmlformats.org/presentationml/2006/ole">
            <mc:AlternateContent xmlns:mc="http://schemas.openxmlformats.org/markup-compatibility/2006">
              <mc:Choice xmlns:v="urn:schemas-microsoft-com:vml" Requires="v">
                <p:oleObj spid="_x0000_s23581" name="Equation" r:id="rId3" imgW="2006600" imgH="1092200" progId="Equation.DSMT4">
                  <p:embed/>
                </p:oleObj>
              </mc:Choice>
              <mc:Fallback>
                <p:oleObj name="Equation" r:id="rId3" imgW="2006600" imgH="1092200"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57800" y="1981200"/>
                        <a:ext cx="2006600" cy="1092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79506060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0179">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90180"/>
                                        </p:tgtEl>
                                        <p:attrNameLst>
                                          <p:attrName>style.visibility</p:attrName>
                                        </p:attrNameLst>
                                      </p:cBhvr>
                                      <p:to>
                                        <p:strVal val="visible"/>
                                      </p:to>
                                    </p:set>
                                  </p:childTnLst>
                                </p:cTn>
                              </p:par>
                            </p:childTnLst>
                          </p:cTn>
                        </p:par>
                      </p:childTnLst>
                    </p:cTn>
                  </p:par>
                  <p:par>
                    <p:cTn id="9" fill="hold" nodeType="clickPar">
                      <p:stCondLst>
                        <p:cond delay="indefinite"/>
                      </p:stCondLst>
                      <p:childTnLst>
                        <p:par>
                          <p:cTn id="10" fill="hold" nodeType="withGroup">
                            <p:stCondLst>
                              <p:cond delay="0"/>
                            </p:stCondLst>
                            <p:childTnLst>
                              <p:par>
                                <p:cTn id="11" presetID="1" presetClass="entr" presetSubtype="0" fill="hold" nodeType="clickEffect">
                                  <p:stCondLst>
                                    <p:cond delay="0"/>
                                  </p:stCondLst>
                                  <p:childTnLst>
                                    <p:set>
                                      <p:cBhvr>
                                        <p:cTn id="12" dur="1" fill="hold">
                                          <p:stCondLst>
                                            <p:cond delay="0"/>
                                          </p:stCondLst>
                                        </p:cTn>
                                        <p:tgtEl>
                                          <p:spTgt spid="690179">
                                            <p:txEl>
                                              <p:pRg st="3" end="3"/>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9017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1202" name="Rectangle 2"/>
          <p:cNvSpPr>
            <a:spLocks noGrp="1" noChangeArrowheads="1"/>
          </p:cNvSpPr>
          <p:nvPr>
            <p:ph type="title"/>
          </p:nvPr>
        </p:nvSpPr>
        <p:spPr/>
        <p:txBody>
          <a:bodyPr/>
          <a:lstStyle/>
          <a:p>
            <a:pPr eaLnBrk="1" hangingPunct="1">
              <a:defRPr/>
            </a:pPr>
            <a:r>
              <a:rPr lang="en-US" smtClean="0">
                <a:ea typeface="+mj-ea"/>
                <a:cs typeface="+mj-cs"/>
              </a:rPr>
              <a:t>EXISTENCE AND UNIQUENESS THEOREM</a:t>
            </a:r>
          </a:p>
        </p:txBody>
      </p:sp>
      <p:sp>
        <p:nvSpPr>
          <p:cNvPr id="691203" name="Rectangle 3"/>
          <p:cNvSpPr>
            <a:spLocks noGrp="1" noChangeArrowheads="1"/>
          </p:cNvSpPr>
          <p:nvPr>
            <p:ph sz="quarter" idx="13"/>
          </p:nvPr>
        </p:nvSpPr>
        <p:spPr/>
        <p:txBody>
          <a:bodyPr>
            <a:normAutofit fontScale="85000" lnSpcReduction="10000"/>
          </a:bodyPr>
          <a:lstStyle/>
          <a:p>
            <a:pPr eaLnBrk="1" hangingPunct="1">
              <a:lnSpc>
                <a:spcPct val="90000"/>
              </a:lnSpc>
              <a:buFont typeface="Wingdings" panose="05000000000000000000" pitchFamily="2" charset="2"/>
              <a:buNone/>
            </a:pPr>
            <a:r>
              <a:rPr lang="en-US" altLang="en-US" sz="2800" b="1"/>
              <a:t>Theorem 2: </a:t>
            </a:r>
            <a:r>
              <a:rPr lang="en-US" altLang="en-US" sz="2800"/>
              <a:t>Existence and Uniqueness Theorem</a:t>
            </a:r>
          </a:p>
          <a:p>
            <a:pPr eaLnBrk="1" hangingPunct="1">
              <a:lnSpc>
                <a:spcPct val="90000"/>
              </a:lnSpc>
              <a:buFont typeface="Wingdings" panose="05000000000000000000" pitchFamily="2" charset="2"/>
              <a:buNone/>
            </a:pPr>
            <a:r>
              <a:rPr lang="en-US" altLang="en-US" sz="2800"/>
              <a:t>	A linear system is consistent if and only if the rightmost column of the augmented matrix is </a:t>
            </a:r>
            <a:r>
              <a:rPr lang="en-US" altLang="en-US" sz="2800" i="1"/>
              <a:t>not</a:t>
            </a:r>
            <a:r>
              <a:rPr lang="en-US" altLang="en-US" sz="2800"/>
              <a:t> a pivot column</a:t>
            </a:r>
            <a:r>
              <a:rPr lang="en-US" altLang="en-US" sz="2800">
                <a:cs typeface="Times New Roman" panose="02020603050405020304" pitchFamily="18" charset="0"/>
              </a:rPr>
              <a:t>—</a:t>
            </a:r>
            <a:r>
              <a:rPr lang="en-US" altLang="en-US" sz="2800"/>
              <a:t>i.e., if and only if an echelon form of the augmented matrix has </a:t>
            </a:r>
            <a:r>
              <a:rPr lang="en-US" altLang="en-US" sz="2800" i="1"/>
              <a:t>no</a:t>
            </a:r>
            <a:r>
              <a:rPr lang="en-US" altLang="en-US" sz="2800"/>
              <a:t> row of the form </a:t>
            </a:r>
          </a:p>
          <a:p>
            <a:pPr eaLnBrk="1" hangingPunct="1">
              <a:lnSpc>
                <a:spcPct val="90000"/>
              </a:lnSpc>
              <a:buFont typeface="Wingdings" panose="05000000000000000000" pitchFamily="2" charset="2"/>
              <a:buNone/>
            </a:pPr>
            <a:r>
              <a:rPr lang="en-US" altLang="en-US" sz="2800"/>
              <a:t>                          [0 … 0  </a:t>
            </a:r>
            <a:r>
              <a:rPr lang="en-US" altLang="en-US" sz="2800" i="1"/>
              <a:t>b</a:t>
            </a:r>
            <a:r>
              <a:rPr lang="en-US" altLang="en-US" sz="2800"/>
              <a:t>] with </a:t>
            </a:r>
            <a:r>
              <a:rPr lang="en-US" altLang="en-US" sz="2800" i="1"/>
              <a:t>b</a:t>
            </a:r>
            <a:r>
              <a:rPr lang="en-US" altLang="en-US" sz="2800"/>
              <a:t> nonzero.</a:t>
            </a:r>
          </a:p>
          <a:p>
            <a:pPr eaLnBrk="1" hangingPunct="1">
              <a:lnSpc>
                <a:spcPct val="90000"/>
              </a:lnSpc>
              <a:buFont typeface="Wingdings" panose="05000000000000000000" pitchFamily="2" charset="2"/>
              <a:buNone/>
            </a:pPr>
            <a:endParaRPr lang="en-US" altLang="en-US" sz="2800"/>
          </a:p>
          <a:p>
            <a:pPr eaLnBrk="1" hangingPunct="1">
              <a:lnSpc>
                <a:spcPct val="90000"/>
              </a:lnSpc>
            </a:pPr>
            <a:r>
              <a:rPr lang="en-US" altLang="en-US" sz="2800"/>
              <a:t>If a linear system is consistent, then the solution set contains either (i) a unique solution, when there are no free variables, or (ii) infinitely many solutions, when there is at least on free variable.</a:t>
            </a:r>
          </a:p>
        </p:txBody>
      </p:sp>
      <p:sp>
        <p:nvSpPr>
          <p:cNvPr id="34819" name="Footer Placeholder 4"/>
          <p:cNvSpPr>
            <a:spLocks noGrp="1"/>
          </p:cNvSpPr>
          <p:nvPr>
            <p:ph type="ftr" sz="quarter" idx="1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 typeface="Symbol" panose="05050102010706020507" pitchFamily="18" charset="2"/>
              <a:buNone/>
            </a:pPr>
            <a:r>
              <a:rPr lang="en-US" altLang="en-US" sz="1200">
                <a:latin typeface="Arial" panose="020B0604020202020204" pitchFamily="34" charset="0"/>
              </a:rPr>
              <a:t> © 2012 Pearson Education, Inc.</a:t>
            </a:r>
          </a:p>
        </p:txBody>
      </p:sp>
      <p:sp>
        <p:nvSpPr>
          <p:cNvPr id="34818"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4DB323BF-91F2-456C-A22A-380BCDC5DD99}" type="slidenum">
              <a:rPr lang="en-US" altLang="en-US" sz="1200">
                <a:latin typeface="Arial" panose="020B0604020202020204" pitchFamily="34" charset="0"/>
              </a:rPr>
              <a:pPr>
                <a:spcBef>
                  <a:spcPct val="0"/>
                </a:spcBef>
                <a:buClrTx/>
                <a:buFontTx/>
                <a:buNone/>
              </a:pPr>
              <a:t>58</a:t>
            </a:fld>
            <a:endParaRPr lang="en-CA" altLang="en-US" sz="1200">
              <a:latin typeface="Arial" panose="020B0604020202020204" pitchFamily="34" charset="0"/>
            </a:endParaRPr>
          </a:p>
        </p:txBody>
      </p:sp>
      <p:graphicFrame>
        <p:nvGraphicFramePr>
          <p:cNvPr id="34822" name="Object 4"/>
          <p:cNvGraphicFramePr>
            <a:graphicFrameLocks noChangeAspect="1"/>
          </p:cNvGraphicFramePr>
          <p:nvPr/>
        </p:nvGraphicFramePr>
        <p:xfrm>
          <a:off x="4254500" y="2057401"/>
          <a:ext cx="914400" cy="371475"/>
        </p:xfrm>
        <a:graphic>
          <a:graphicData uri="http://schemas.openxmlformats.org/presentationml/2006/ole">
            <mc:AlternateContent xmlns:mc="http://schemas.openxmlformats.org/markup-compatibility/2006">
              <mc:Choice xmlns:v="urn:schemas-microsoft-com:vml" Requires="v">
                <p:oleObj spid="_x0000_s24605" name="Equation" r:id="rId3" imgW="475104" imgH="810471" progId="Equation.DSMT4">
                  <p:embed/>
                </p:oleObj>
              </mc:Choice>
              <mc:Fallback>
                <p:oleObj name="Equation" r:id="rId3" imgW="475104" imgH="810471" progId="Equation.DSMT4">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54500" y="2057401"/>
                        <a:ext cx="914400" cy="371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alpha val="74997"/>
                                </a:srgbClr>
                              </a:outerShdw>
                            </a:effectLst>
                          </a14:hiddenEffects>
                        </a:ext>
                      </a:extLst>
                    </p:spPr>
                  </p:pic>
                </p:oleObj>
              </mc:Fallback>
            </mc:AlternateContent>
          </a:graphicData>
        </a:graphic>
      </p:graphicFrame>
    </p:spTree>
    <p:extLst>
      <p:ext uri="{BB962C8B-B14F-4D97-AF65-F5344CB8AC3E}">
        <p14:creationId xmlns:p14="http://schemas.microsoft.com/office/powerpoint/2010/main" val="30255152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1203">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1203">
                                            <p:txEl>
                                              <p:pRg st="1" end="1"/>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691203">
                                            <p:txEl>
                                              <p:pRg st="2" end="2"/>
                                            </p:txEl>
                                          </p:spTgt>
                                        </p:tgtEl>
                                        <p:attrNameLst>
                                          <p:attrName>style.visibility</p:attrName>
                                        </p:attrNameLst>
                                      </p:cBhvr>
                                      <p:to>
                                        <p:strVal val="visible"/>
                                      </p:to>
                                    </p:set>
                                  </p:childTnLst>
                                </p:cTn>
                              </p:par>
                            </p:childTnLst>
                          </p:cTn>
                        </p:par>
                      </p:childTnLst>
                    </p:cTn>
                  </p:par>
                  <p:par>
                    <p:cTn id="13" fill="hold" nodeType="clickPar">
                      <p:stCondLst>
                        <p:cond delay="indefinite"/>
                      </p:stCondLst>
                      <p:childTnLst>
                        <p:par>
                          <p:cTn id="14" fill="hold" nodeType="withGroup">
                            <p:stCondLst>
                              <p:cond delay="0"/>
                            </p:stCondLst>
                            <p:childTnLst>
                              <p:par>
                                <p:cTn id="15" presetID="1" presetClass="entr" presetSubtype="0" fill="hold" nodeType="clickEffect">
                                  <p:stCondLst>
                                    <p:cond delay="0"/>
                                  </p:stCondLst>
                                  <p:childTnLst>
                                    <p:set>
                                      <p:cBhvr>
                                        <p:cTn id="16" dur="1" fill="hold">
                                          <p:stCondLst>
                                            <p:cond delay="0"/>
                                          </p:stCondLst>
                                        </p:cTn>
                                        <p:tgtEl>
                                          <p:spTgt spid="69120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2226" name="Rectangle 2"/>
          <p:cNvSpPr>
            <a:spLocks noGrp="1" noChangeArrowheads="1"/>
          </p:cNvSpPr>
          <p:nvPr>
            <p:ph type="title"/>
          </p:nvPr>
        </p:nvSpPr>
        <p:spPr>
          <a:xfrm>
            <a:off x="890517" y="200167"/>
            <a:ext cx="10131425" cy="1456267"/>
          </a:xfrm>
        </p:spPr>
        <p:txBody>
          <a:bodyPr/>
          <a:lstStyle/>
          <a:p>
            <a:pPr eaLnBrk="1" hangingPunct="1">
              <a:defRPr/>
            </a:pPr>
            <a:r>
              <a:rPr lang="en-US" dirty="0" smtClean="0">
                <a:ea typeface="+mj-ea"/>
                <a:cs typeface="+mj-cs"/>
              </a:rPr>
              <a:t>ROW REDUCTION TO SOLVE A LINEAR SYSTEM</a:t>
            </a:r>
          </a:p>
        </p:txBody>
      </p:sp>
      <p:sp>
        <p:nvSpPr>
          <p:cNvPr id="692227" name="Rectangle 3"/>
          <p:cNvSpPr>
            <a:spLocks noGrp="1" noChangeArrowheads="1"/>
          </p:cNvSpPr>
          <p:nvPr>
            <p:ph sz="quarter" idx="13"/>
          </p:nvPr>
        </p:nvSpPr>
        <p:spPr>
          <a:xfrm>
            <a:off x="463006" y="1488387"/>
            <a:ext cx="10986446" cy="4382188"/>
          </a:xfrm>
        </p:spPr>
        <p:txBody>
          <a:bodyPr>
            <a:normAutofit fontScale="92500" lnSpcReduction="20000"/>
          </a:bodyPr>
          <a:lstStyle/>
          <a:p>
            <a:pPr marL="609600" indent="-609600" algn="just">
              <a:lnSpc>
                <a:spcPct val="90000"/>
              </a:lnSpc>
              <a:buNone/>
              <a:defRPr/>
            </a:pPr>
            <a:r>
              <a:rPr lang="en-US" sz="2800" b="1" dirty="0"/>
              <a:t>Using Row Reduction to Solve a Linear System</a:t>
            </a:r>
          </a:p>
          <a:p>
            <a:pPr marL="1371600" lvl="2" indent="-457200" algn="just">
              <a:lnSpc>
                <a:spcPct val="90000"/>
              </a:lnSpc>
              <a:buFont typeface="Wingdings" charset="0"/>
              <a:buAutoNum type="arabicPeriod"/>
              <a:defRPr/>
            </a:pPr>
            <a:r>
              <a:rPr lang="en-US" sz="2800" dirty="0"/>
              <a:t>Write the augmented matrix of the system.</a:t>
            </a:r>
          </a:p>
          <a:p>
            <a:pPr marL="1371600" lvl="2" indent="-457200" algn="just">
              <a:lnSpc>
                <a:spcPct val="90000"/>
              </a:lnSpc>
              <a:buFont typeface="Wingdings" charset="0"/>
              <a:buAutoNum type="arabicPeriod"/>
              <a:defRPr/>
            </a:pPr>
            <a:r>
              <a:rPr lang="en-US" sz="2800" dirty="0"/>
              <a:t>Use the row reduction algorithm to obtain an equivalent augmented matrix in echelon form. Decide whether the system is consistent. If there is no solution, stop; otherwise, go to the next step.</a:t>
            </a:r>
          </a:p>
          <a:p>
            <a:pPr marL="1371600" lvl="2" indent="-457200" algn="just">
              <a:lnSpc>
                <a:spcPct val="90000"/>
              </a:lnSpc>
              <a:buFont typeface="Wingdings" charset="0"/>
              <a:buAutoNum type="arabicPeriod"/>
              <a:defRPr/>
            </a:pPr>
            <a:r>
              <a:rPr lang="en-US" sz="2800" dirty="0"/>
              <a:t>Continue row reduction to obtain the reduced echelon form.</a:t>
            </a:r>
          </a:p>
          <a:p>
            <a:pPr marL="1371600" lvl="2" indent="-457200" algn="just">
              <a:lnSpc>
                <a:spcPct val="90000"/>
              </a:lnSpc>
              <a:buFont typeface="Wingdings" charset="0"/>
              <a:buAutoNum type="arabicPeriod"/>
              <a:defRPr/>
            </a:pPr>
            <a:r>
              <a:rPr lang="en-US" sz="2800" dirty="0"/>
              <a:t>Write the system of equations corresponding to the matrix obtained in step 3</a:t>
            </a:r>
            <a:r>
              <a:rPr lang="en-US" sz="2800" dirty="0" smtClean="0"/>
              <a:t>.</a:t>
            </a:r>
          </a:p>
          <a:p>
            <a:pPr marL="1371600" lvl="2" indent="-457200" algn="just">
              <a:lnSpc>
                <a:spcPct val="90000"/>
              </a:lnSpc>
              <a:buFont typeface="Wingdings" charset="0"/>
              <a:buAutoNum type="arabicPeriod"/>
              <a:defRPr/>
            </a:pPr>
            <a:r>
              <a:rPr lang="en-US" sz="2800" dirty="0"/>
              <a:t>Rewrite each nonzero equation from step 4 so that its one basic variable is expressed in terms of any free variables appearing in the equation.</a:t>
            </a:r>
          </a:p>
          <a:p>
            <a:pPr marL="1371600" lvl="2" indent="-457200" algn="just">
              <a:lnSpc>
                <a:spcPct val="90000"/>
              </a:lnSpc>
              <a:buFont typeface="Wingdings" charset="0"/>
              <a:buAutoNum type="arabicPeriod"/>
              <a:defRPr/>
            </a:pPr>
            <a:endParaRPr lang="en-US" sz="2800" dirty="0" smtClean="0"/>
          </a:p>
        </p:txBody>
      </p:sp>
      <p:sp>
        <p:nvSpPr>
          <p:cNvPr id="35842" name="Slide Number Placeholder 3"/>
          <p:cNvSpPr>
            <a:spLocks noGrp="1"/>
          </p:cNvSpPr>
          <p:nvPr>
            <p:ph type="sldNum" sz="quarter" idx="12"/>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077C97"/>
              </a:buClr>
              <a:buFont typeface="Wingdings" panose="05000000000000000000" pitchFamily="2" charset="2"/>
              <a:buChar char="§"/>
              <a:defRPr sz="3200">
                <a:solidFill>
                  <a:schemeClr val="tx1"/>
                </a:solidFill>
                <a:latin typeface="Times New Roman" panose="02020603050405020304" pitchFamily="18" charset="0"/>
                <a:ea typeface="MS PGothic" panose="020B0600070205080204" pitchFamily="34" charset="-128"/>
              </a:defRPr>
            </a:lvl1pPr>
            <a:lvl2pPr marL="742950" indent="-285750">
              <a:spcBef>
                <a:spcPct val="20000"/>
              </a:spcBef>
              <a:buClr>
                <a:srgbClr val="077C97"/>
              </a:buClr>
              <a:buFont typeface="Wingdings" panose="05000000000000000000" pitchFamily="2" charset="2"/>
              <a:buChar char="§"/>
              <a:defRPr sz="2800">
                <a:solidFill>
                  <a:schemeClr val="tx1"/>
                </a:solidFill>
                <a:latin typeface="Times New Roman" panose="02020603050405020304" pitchFamily="18" charset="0"/>
                <a:ea typeface="MS PGothic" panose="020B0600070205080204" pitchFamily="34" charset="-128"/>
              </a:defRPr>
            </a:lvl2pPr>
            <a:lvl3pPr marL="1143000" indent="-228600">
              <a:spcBef>
                <a:spcPct val="20000"/>
              </a:spcBef>
              <a:buClr>
                <a:srgbClr val="077C97"/>
              </a:buClr>
              <a:buFont typeface="Wingdings" panose="05000000000000000000" pitchFamily="2" charset="2"/>
              <a:buChar char="§"/>
              <a:defRPr sz="2400">
                <a:solidFill>
                  <a:schemeClr val="tx1"/>
                </a:solidFill>
                <a:latin typeface="Times New Roman" panose="02020603050405020304" pitchFamily="18" charset="0"/>
                <a:ea typeface="MS PGothic" panose="020B0600070205080204" pitchFamily="34" charset="-128"/>
              </a:defRPr>
            </a:lvl3pPr>
            <a:lvl4pPr marL="16002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4pPr>
            <a:lvl5pPr marL="2057400" indent="-228600">
              <a:spcBef>
                <a:spcPct val="20000"/>
              </a:spcBef>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5pPr>
            <a:lvl6pPr marL="25146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6pPr>
            <a:lvl7pPr marL="29718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7pPr>
            <a:lvl8pPr marL="34290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8pPr>
            <a:lvl9pPr marL="3886200" indent="-228600" eaLnBrk="0" fontAlgn="base" hangingPunct="0">
              <a:spcBef>
                <a:spcPct val="20000"/>
              </a:spcBef>
              <a:spcAft>
                <a:spcPct val="0"/>
              </a:spcAft>
              <a:buClr>
                <a:srgbClr val="077C97"/>
              </a:buClr>
              <a:buFont typeface="Wingdings" panose="05000000000000000000" pitchFamily="2" charset="2"/>
              <a:buChar char="§"/>
              <a:defRPr sz="2000">
                <a:solidFill>
                  <a:schemeClr val="tx1"/>
                </a:solidFill>
                <a:latin typeface="Times New Roman" panose="02020603050405020304" pitchFamily="18" charset="0"/>
                <a:ea typeface="MS PGothic" panose="020B0600070205080204" pitchFamily="34" charset="-128"/>
              </a:defRPr>
            </a:lvl9pPr>
          </a:lstStyle>
          <a:p>
            <a:pPr>
              <a:spcBef>
                <a:spcPct val="0"/>
              </a:spcBef>
              <a:buClrTx/>
              <a:buFontTx/>
              <a:buNone/>
            </a:pPr>
            <a:r>
              <a:rPr lang="en-US" altLang="en-US" sz="1200">
                <a:latin typeface="Arial" panose="020B0604020202020204" pitchFamily="34" charset="0"/>
              </a:rPr>
              <a:t>Slide 1.2- </a:t>
            </a:r>
            <a:fld id="{948E75BC-EC4C-4A25-86C1-323D1A208C21}" type="slidenum">
              <a:rPr lang="en-US" altLang="en-US" sz="1200">
                <a:latin typeface="Arial" panose="020B0604020202020204" pitchFamily="34" charset="0"/>
              </a:rPr>
              <a:pPr>
                <a:spcBef>
                  <a:spcPct val="0"/>
                </a:spcBef>
                <a:buClrTx/>
                <a:buFontTx/>
                <a:buNone/>
              </a:pPr>
              <a:t>59</a:t>
            </a:fld>
            <a:endParaRPr lang="en-CA" altLang="en-US" sz="1200">
              <a:latin typeface="Arial" panose="020B0604020202020204" pitchFamily="34" charset="0"/>
            </a:endParaRPr>
          </a:p>
        </p:txBody>
      </p:sp>
    </p:spTree>
    <p:extLst>
      <p:ext uri="{BB962C8B-B14F-4D97-AF65-F5344CB8AC3E}">
        <p14:creationId xmlns:p14="http://schemas.microsoft.com/office/powerpoint/2010/main" val="285640075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692227">
                                            <p:txEl>
                                              <p:pRg st="0" end="0"/>
                                            </p:txEl>
                                          </p:spTgt>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692227">
                                            <p:txEl>
                                              <p:pRg st="1" end="1"/>
                                            </p:txEl>
                                          </p:spTgt>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692227">
                                            <p:txEl>
                                              <p:pRg st="2" end="2"/>
                                            </p:txEl>
                                          </p:spTgt>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692227">
                                            <p:txEl>
                                              <p:pRg st="3" end="3"/>
                                            </p:txEl>
                                          </p:spTgt>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692227">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9222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2371B305-FC3F-4426-A26A-DDFF99403284}" type="slidenum">
              <a:rPr kumimoji="0" lang="en-US" altLang="zh-TW" sz="1400">
                <a:solidFill>
                  <a:srgbClr val="A50021"/>
                </a:solidFill>
              </a:rPr>
              <a:pPr eaLnBrk="1" hangingPunct="1"/>
              <a:t>60</a:t>
            </a:fld>
            <a:endParaRPr kumimoji="0" lang="en-US" altLang="zh-TW" sz="1400">
              <a:solidFill>
                <a:srgbClr val="A50021"/>
              </a:solidFill>
            </a:endParaRPr>
          </a:p>
        </p:txBody>
      </p:sp>
      <p:sp>
        <p:nvSpPr>
          <p:cNvPr id="22531" name="Rectangle 1026"/>
          <p:cNvSpPr>
            <a:spLocks noGrp="1" noChangeArrowheads="1"/>
          </p:cNvSpPr>
          <p:nvPr>
            <p:ph type="title"/>
          </p:nvPr>
        </p:nvSpPr>
        <p:spPr>
          <a:xfrm>
            <a:off x="2667000" y="381000"/>
            <a:ext cx="7543800" cy="685800"/>
          </a:xfrm>
        </p:spPr>
        <p:txBody>
          <a:bodyPr>
            <a:normAutofit fontScale="90000"/>
          </a:bodyPr>
          <a:lstStyle/>
          <a:p>
            <a:pPr eaLnBrk="1" hangingPunct="1"/>
            <a:r>
              <a:rPr lang="en-US" altLang="zh-TW"/>
              <a:t>Computation of Eigenvalues and Eigenvectors</a:t>
            </a:r>
          </a:p>
        </p:txBody>
      </p:sp>
      <p:sp>
        <p:nvSpPr>
          <p:cNvPr id="22532" name="Text Box 1027"/>
          <p:cNvSpPr txBox="1">
            <a:spLocks noChangeArrowheads="1"/>
          </p:cNvSpPr>
          <p:nvPr/>
        </p:nvSpPr>
        <p:spPr bwMode="auto">
          <a:xfrm>
            <a:off x="1889126" y="1330325"/>
            <a:ext cx="8321675" cy="415498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Let </a:t>
            </a:r>
            <a:r>
              <a:rPr lang="en-US" altLang="zh-TW" i="1"/>
              <a:t>A</a:t>
            </a:r>
            <a:r>
              <a:rPr lang="en-US" altLang="zh-TW"/>
              <a:t> be an </a:t>
            </a:r>
            <a:r>
              <a:rPr lang="en-US" altLang="zh-TW" i="1"/>
              <a:t>n</a:t>
            </a:r>
            <a:r>
              <a:rPr lang="en-US" altLang="zh-TW"/>
              <a:t> </a:t>
            </a:r>
            <a:r>
              <a:rPr lang="en-US" altLang="zh-TW">
                <a:sym typeface="Symbol" panose="05050102010706020507" pitchFamily="18" charset="2"/>
              </a:rPr>
              <a:t> </a:t>
            </a:r>
            <a:r>
              <a:rPr lang="en-US" altLang="zh-TW" i="1">
                <a:sym typeface="Symbol" panose="05050102010706020507" pitchFamily="18" charset="2"/>
              </a:rPr>
              <a:t>n</a:t>
            </a:r>
            <a:r>
              <a:rPr lang="en-US" altLang="zh-TW">
                <a:sym typeface="Symbol" panose="05050102010706020507" pitchFamily="18" charset="2"/>
              </a:rPr>
              <a:t> matrix with eigenvalue  and corresponding eigenvector </a:t>
            </a:r>
            <a:r>
              <a:rPr lang="en-US" altLang="zh-TW" b="1">
                <a:sym typeface="Symbol" panose="05050102010706020507" pitchFamily="18" charset="2"/>
              </a:rPr>
              <a:t>x</a:t>
            </a:r>
            <a:r>
              <a:rPr lang="en-US" altLang="zh-TW">
                <a:sym typeface="Symbol" panose="05050102010706020507" pitchFamily="18" charset="2"/>
              </a:rPr>
              <a:t>. Thus </a:t>
            </a:r>
            <a:r>
              <a:rPr lang="en-US" altLang="zh-TW" i="1">
                <a:sym typeface="Symbol" panose="05050102010706020507" pitchFamily="18" charset="2"/>
              </a:rPr>
              <a:t>A</a:t>
            </a:r>
            <a:r>
              <a:rPr lang="en-US" altLang="zh-TW" b="1">
                <a:sym typeface="Symbol" panose="05050102010706020507" pitchFamily="18" charset="2"/>
              </a:rPr>
              <a:t>x</a:t>
            </a:r>
            <a:r>
              <a:rPr lang="en-US" altLang="zh-TW">
                <a:sym typeface="Symbol" panose="05050102010706020507" pitchFamily="18" charset="2"/>
              </a:rPr>
              <a:t> = </a:t>
            </a:r>
            <a:r>
              <a:rPr lang="en-US" altLang="zh-TW" b="1">
                <a:sym typeface="Symbol" panose="05050102010706020507" pitchFamily="18" charset="2"/>
              </a:rPr>
              <a:t>x</a:t>
            </a:r>
            <a:r>
              <a:rPr lang="en-US" altLang="zh-TW">
                <a:sym typeface="Symbol" panose="05050102010706020507" pitchFamily="18" charset="2"/>
              </a:rPr>
              <a:t>. This equation may be written</a:t>
            </a:r>
          </a:p>
          <a:p>
            <a:pPr algn="ctr" eaLnBrk="1" hangingPunct="1"/>
            <a:r>
              <a:rPr lang="en-US" altLang="zh-TW" i="1">
                <a:sym typeface="Symbol" panose="05050102010706020507" pitchFamily="18" charset="2"/>
              </a:rPr>
              <a:t>A</a:t>
            </a:r>
            <a:r>
              <a:rPr lang="en-US" altLang="zh-TW" b="1">
                <a:sym typeface="Symbol" panose="05050102010706020507" pitchFamily="18" charset="2"/>
              </a:rPr>
              <a:t>x</a:t>
            </a:r>
            <a:r>
              <a:rPr lang="en-US" altLang="zh-TW">
                <a:sym typeface="Symbol" panose="05050102010706020507" pitchFamily="18" charset="2"/>
              </a:rPr>
              <a:t> –  </a:t>
            </a:r>
            <a:r>
              <a:rPr lang="en-US" altLang="zh-TW" b="1">
                <a:sym typeface="Symbol" panose="05050102010706020507" pitchFamily="18" charset="2"/>
              </a:rPr>
              <a:t>x</a:t>
            </a:r>
            <a:r>
              <a:rPr lang="en-US" altLang="zh-TW">
                <a:sym typeface="Symbol" panose="05050102010706020507" pitchFamily="18" charset="2"/>
              </a:rPr>
              <a:t> = </a:t>
            </a:r>
            <a:r>
              <a:rPr lang="en-US" altLang="zh-TW" b="1">
                <a:sym typeface="Symbol" panose="05050102010706020507" pitchFamily="18" charset="2"/>
              </a:rPr>
              <a:t>0</a:t>
            </a:r>
          </a:p>
          <a:p>
            <a:pPr eaLnBrk="1" hangingPunct="1"/>
            <a:r>
              <a:rPr lang="en-US" altLang="zh-TW">
                <a:sym typeface="Symbol" panose="05050102010706020507" pitchFamily="18" charset="2"/>
              </a:rPr>
              <a:t>given </a:t>
            </a:r>
          </a:p>
          <a:p>
            <a:pPr algn="ctr" eaLnBrk="1" hangingPunct="1"/>
            <a:r>
              <a:rPr lang="en-US" altLang="zh-TW">
                <a:sym typeface="Symbol" panose="05050102010706020507" pitchFamily="18" charset="2"/>
              </a:rPr>
              <a:t>(</a:t>
            </a:r>
            <a:r>
              <a:rPr lang="en-US" altLang="zh-TW" i="1">
                <a:sym typeface="Symbol" panose="05050102010706020507" pitchFamily="18" charset="2"/>
              </a:rPr>
              <a:t>A</a:t>
            </a:r>
            <a:r>
              <a:rPr lang="en-US" altLang="zh-TW">
                <a:sym typeface="Symbol" panose="05050102010706020507" pitchFamily="18" charset="2"/>
              </a:rPr>
              <a:t> – </a:t>
            </a:r>
            <a:r>
              <a:rPr lang="en-US" altLang="zh-TW" i="1">
                <a:sym typeface="Symbol" panose="05050102010706020507" pitchFamily="18" charset="2"/>
              </a:rPr>
              <a:t>I</a:t>
            </a:r>
            <a:r>
              <a:rPr lang="en-US" altLang="zh-TW" i="1" baseline="-25000">
                <a:sym typeface="Symbol" panose="05050102010706020507" pitchFamily="18" charset="2"/>
              </a:rPr>
              <a:t>n</a:t>
            </a:r>
            <a:r>
              <a:rPr lang="en-US" altLang="zh-TW">
                <a:sym typeface="Symbol" panose="05050102010706020507" pitchFamily="18" charset="2"/>
              </a:rPr>
              <a:t>)</a:t>
            </a:r>
            <a:r>
              <a:rPr lang="en-US" altLang="zh-TW" b="1">
                <a:sym typeface="Symbol" panose="05050102010706020507" pitchFamily="18" charset="2"/>
              </a:rPr>
              <a:t>x</a:t>
            </a:r>
            <a:r>
              <a:rPr lang="en-US" altLang="zh-TW">
                <a:sym typeface="Symbol" panose="05050102010706020507" pitchFamily="18" charset="2"/>
              </a:rPr>
              <a:t> = </a:t>
            </a:r>
            <a:r>
              <a:rPr lang="en-US" altLang="zh-TW" b="1">
                <a:sym typeface="Symbol" panose="05050102010706020507" pitchFamily="18" charset="2"/>
              </a:rPr>
              <a:t>0</a:t>
            </a:r>
          </a:p>
          <a:p>
            <a:pPr eaLnBrk="1" hangingPunct="1"/>
            <a:r>
              <a:rPr lang="en-US" altLang="zh-TW">
                <a:sym typeface="Symbol" panose="05050102010706020507" pitchFamily="18" charset="2"/>
              </a:rPr>
              <a:t>Solving the equation |</a:t>
            </a:r>
            <a:r>
              <a:rPr lang="en-US" altLang="zh-TW" i="1">
                <a:sym typeface="Symbol" panose="05050102010706020507" pitchFamily="18" charset="2"/>
              </a:rPr>
              <a:t>A</a:t>
            </a:r>
            <a:r>
              <a:rPr lang="en-US" altLang="zh-TW">
                <a:sym typeface="Symbol" panose="05050102010706020507" pitchFamily="18" charset="2"/>
              </a:rPr>
              <a:t> – </a:t>
            </a:r>
            <a:r>
              <a:rPr lang="en-US" altLang="zh-TW" i="1">
                <a:sym typeface="Symbol" panose="05050102010706020507" pitchFamily="18" charset="2"/>
              </a:rPr>
              <a:t>I</a:t>
            </a:r>
            <a:r>
              <a:rPr lang="en-US" altLang="zh-TW" i="1" baseline="-25000">
                <a:sym typeface="Symbol" panose="05050102010706020507" pitchFamily="18" charset="2"/>
              </a:rPr>
              <a:t>n</a:t>
            </a:r>
            <a:r>
              <a:rPr lang="en-US" altLang="zh-TW" i="1">
                <a:sym typeface="Symbol" panose="05050102010706020507" pitchFamily="18" charset="2"/>
              </a:rPr>
              <a:t>|</a:t>
            </a:r>
            <a:r>
              <a:rPr lang="en-US" altLang="zh-TW">
                <a:sym typeface="Symbol" panose="05050102010706020507" pitchFamily="18" charset="2"/>
              </a:rPr>
              <a:t> = 0 for  leads to all the eigenvalues of </a:t>
            </a:r>
            <a:r>
              <a:rPr lang="en-US" altLang="zh-TW" i="1">
                <a:sym typeface="Symbol" panose="05050102010706020507" pitchFamily="18" charset="2"/>
              </a:rPr>
              <a:t>A</a:t>
            </a:r>
            <a:r>
              <a:rPr lang="en-US" altLang="zh-TW">
                <a:sym typeface="Symbol" panose="05050102010706020507" pitchFamily="18" charset="2"/>
              </a:rPr>
              <a:t>. </a:t>
            </a:r>
          </a:p>
          <a:p>
            <a:pPr eaLnBrk="1" hangingPunct="1"/>
            <a:r>
              <a:rPr lang="en-US" altLang="zh-TW">
                <a:sym typeface="Symbol" panose="05050102010706020507" pitchFamily="18" charset="2"/>
              </a:rPr>
              <a:t>On expending the determinant |</a:t>
            </a:r>
            <a:r>
              <a:rPr lang="en-US" altLang="zh-TW" i="1"/>
              <a:t>A</a:t>
            </a:r>
            <a:r>
              <a:rPr lang="en-US" altLang="zh-TW"/>
              <a:t> – </a:t>
            </a:r>
            <a:r>
              <a:rPr lang="en-US" altLang="zh-TW">
                <a:sym typeface="Symbol" panose="05050102010706020507" pitchFamily="18" charset="2"/>
              </a:rPr>
              <a:t></a:t>
            </a:r>
            <a:r>
              <a:rPr lang="en-US" altLang="zh-TW" i="1"/>
              <a:t>I</a:t>
            </a:r>
            <a:r>
              <a:rPr lang="en-US" altLang="zh-TW" i="1" baseline="-25000"/>
              <a:t>n</a:t>
            </a:r>
            <a:r>
              <a:rPr lang="en-US" altLang="zh-TW">
                <a:sym typeface="Symbol" panose="05050102010706020507" pitchFamily="18" charset="2"/>
              </a:rPr>
              <a:t>|</a:t>
            </a:r>
            <a:r>
              <a:rPr lang="en-US" altLang="zh-TW"/>
              <a:t>, we get a polynomial in </a:t>
            </a:r>
            <a:r>
              <a:rPr lang="en-US" altLang="zh-TW">
                <a:sym typeface="Symbol" panose="05050102010706020507" pitchFamily="18" charset="2"/>
              </a:rPr>
              <a:t>. This polynomial is called the </a:t>
            </a:r>
            <a:r>
              <a:rPr lang="en-US" altLang="zh-TW" b="1">
                <a:solidFill>
                  <a:srgbClr val="0000FF"/>
                </a:solidFill>
                <a:sym typeface="Symbol" panose="05050102010706020507" pitchFamily="18" charset="2"/>
              </a:rPr>
              <a:t>characteristic polynomial</a:t>
            </a:r>
            <a:r>
              <a:rPr lang="en-US" altLang="zh-TW">
                <a:sym typeface="Symbol" panose="05050102010706020507" pitchFamily="18" charset="2"/>
              </a:rPr>
              <a:t> of </a:t>
            </a:r>
            <a:r>
              <a:rPr lang="en-US" altLang="zh-TW" i="1">
                <a:sym typeface="Symbol" panose="05050102010706020507" pitchFamily="18" charset="2"/>
              </a:rPr>
              <a:t>A</a:t>
            </a:r>
            <a:r>
              <a:rPr lang="en-US" altLang="zh-TW">
                <a:sym typeface="Symbol" panose="05050102010706020507" pitchFamily="18" charset="2"/>
              </a:rPr>
              <a:t>.</a:t>
            </a:r>
          </a:p>
          <a:p>
            <a:pPr eaLnBrk="1" hangingPunct="1"/>
            <a:r>
              <a:rPr lang="en-US" altLang="zh-TW">
                <a:sym typeface="Symbol" panose="05050102010706020507" pitchFamily="18" charset="2"/>
              </a:rPr>
              <a:t>The equation |</a:t>
            </a:r>
            <a:r>
              <a:rPr lang="en-US" altLang="zh-TW" i="1"/>
              <a:t>A</a:t>
            </a:r>
            <a:r>
              <a:rPr lang="en-US" altLang="zh-TW"/>
              <a:t> – </a:t>
            </a:r>
            <a:r>
              <a:rPr lang="en-US" altLang="zh-TW">
                <a:sym typeface="Symbol" panose="05050102010706020507" pitchFamily="18" charset="2"/>
              </a:rPr>
              <a:t></a:t>
            </a:r>
            <a:r>
              <a:rPr lang="en-US" altLang="zh-TW" i="1"/>
              <a:t>I</a:t>
            </a:r>
            <a:r>
              <a:rPr lang="en-US" altLang="zh-TW" i="1" baseline="-25000"/>
              <a:t>n</a:t>
            </a:r>
            <a:r>
              <a:rPr lang="en-US" altLang="zh-TW">
                <a:sym typeface="Symbol" panose="05050102010706020507" pitchFamily="18" charset="2"/>
              </a:rPr>
              <a:t>| = 0 is called the </a:t>
            </a:r>
            <a:r>
              <a:rPr lang="en-US" altLang="zh-TW" b="1">
                <a:solidFill>
                  <a:srgbClr val="0000FF"/>
                </a:solidFill>
                <a:sym typeface="Symbol" panose="05050102010706020507" pitchFamily="18" charset="2"/>
              </a:rPr>
              <a:t>characteristic equation</a:t>
            </a:r>
            <a:r>
              <a:rPr lang="en-US" altLang="zh-TW">
                <a:sym typeface="Symbol" panose="05050102010706020507" pitchFamily="18" charset="2"/>
              </a:rPr>
              <a:t> of </a:t>
            </a:r>
            <a:r>
              <a:rPr lang="en-US" altLang="zh-TW" i="1">
                <a:sym typeface="Symbol" panose="05050102010706020507" pitchFamily="18" charset="2"/>
              </a:rPr>
              <a:t>A</a:t>
            </a:r>
            <a:r>
              <a:rPr lang="en-US" altLang="zh-TW">
                <a:sym typeface="Symbol" panose="05050102010706020507" pitchFamily="18" charset="2"/>
              </a:rPr>
              <a:t>.</a:t>
            </a:r>
          </a:p>
        </p:txBody>
      </p:sp>
    </p:spTree>
    <p:extLst>
      <p:ext uri="{BB962C8B-B14F-4D97-AF65-F5344CB8AC3E}">
        <p14:creationId xmlns:p14="http://schemas.microsoft.com/office/powerpoint/2010/main" val="39133693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0"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4B5AD473-5078-45D9-A842-D3D232B4F68A}" type="slidenum">
              <a:rPr kumimoji="0" lang="en-US" altLang="zh-TW" sz="1400">
                <a:solidFill>
                  <a:srgbClr val="A50021"/>
                </a:solidFill>
              </a:rPr>
              <a:pPr eaLnBrk="1" hangingPunct="1"/>
              <a:t>61</a:t>
            </a:fld>
            <a:endParaRPr kumimoji="0" lang="en-US" altLang="zh-TW" sz="1400">
              <a:solidFill>
                <a:srgbClr val="A50021"/>
              </a:solidFill>
            </a:endParaRPr>
          </a:p>
        </p:txBody>
      </p:sp>
      <p:sp>
        <p:nvSpPr>
          <p:cNvPr id="1031" name="Rectangle 2"/>
          <p:cNvSpPr>
            <a:spLocks noGrp="1" noChangeArrowheads="1"/>
          </p:cNvSpPr>
          <p:nvPr>
            <p:ph type="title"/>
          </p:nvPr>
        </p:nvSpPr>
        <p:spPr>
          <a:xfrm>
            <a:off x="871726" y="-243044"/>
            <a:ext cx="10364451" cy="1596177"/>
          </a:xfrm>
        </p:spPr>
        <p:txBody>
          <a:bodyPr/>
          <a:lstStyle/>
          <a:p>
            <a:pPr eaLnBrk="1" hangingPunct="1"/>
            <a:r>
              <a:rPr lang="en-US" altLang="zh-TW" dirty="0" smtClean="0"/>
              <a:t>Example 1</a:t>
            </a:r>
          </a:p>
        </p:txBody>
      </p:sp>
      <p:sp>
        <p:nvSpPr>
          <p:cNvPr id="1032" name="Text Box 3"/>
          <p:cNvSpPr txBox="1">
            <a:spLocks noChangeArrowheads="1"/>
          </p:cNvSpPr>
          <p:nvPr/>
        </p:nvSpPr>
        <p:spPr bwMode="auto">
          <a:xfrm>
            <a:off x="2094049" y="820260"/>
            <a:ext cx="648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dirty="0">
                <a:solidFill>
                  <a:schemeClr val="tx2"/>
                </a:solidFill>
              </a:rPr>
              <a:t>Find the eigenvalues and eigenvectors of the matrix</a:t>
            </a:r>
          </a:p>
        </p:txBody>
      </p:sp>
      <p:graphicFrame>
        <p:nvGraphicFramePr>
          <p:cNvPr id="1026" name="Object 4"/>
          <p:cNvGraphicFramePr>
            <a:graphicFrameLocks noChangeAspect="1"/>
          </p:cNvGraphicFramePr>
          <p:nvPr/>
        </p:nvGraphicFramePr>
        <p:xfrm>
          <a:off x="4800600" y="1371600"/>
          <a:ext cx="1828800" cy="838200"/>
        </p:xfrm>
        <a:graphic>
          <a:graphicData uri="http://schemas.openxmlformats.org/presentationml/2006/ole">
            <mc:AlternateContent xmlns:mc="http://schemas.openxmlformats.org/markup-compatibility/2006">
              <mc:Choice xmlns:v="urn:schemas-microsoft-com:vml" Requires="v">
                <p:oleObj spid="_x0000_s25654" name="Equation" r:id="rId3" imgW="1828800" imgH="838080" progId="Equation.3">
                  <p:embed/>
                </p:oleObj>
              </mc:Choice>
              <mc:Fallback>
                <p:oleObj name="Equation" r:id="rId3" imgW="1828800" imgH="8380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00600" y="1371600"/>
                        <a:ext cx="18288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3"/>
          <p:cNvGrpSpPr>
            <a:grpSpLocks/>
          </p:cNvGrpSpPr>
          <p:nvPr/>
        </p:nvGrpSpPr>
        <p:grpSpPr bwMode="auto">
          <a:xfrm>
            <a:off x="2041525" y="2097088"/>
            <a:ext cx="8097838" cy="1992312"/>
            <a:chOff x="326" y="1321"/>
            <a:chExt cx="5101" cy="1255"/>
          </a:xfrm>
        </p:grpSpPr>
        <p:sp>
          <p:nvSpPr>
            <p:cNvPr id="1035" name="Text Box 6"/>
            <p:cNvSpPr txBox="1">
              <a:spLocks noChangeArrowheads="1"/>
            </p:cNvSpPr>
            <p:nvPr/>
          </p:nvSpPr>
          <p:spPr bwMode="auto">
            <a:xfrm>
              <a:off x="336" y="1370"/>
              <a:ext cx="5091"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	       Let us first derive the characteristic polynomial of</a:t>
              </a:r>
              <a:r>
                <a:rPr lang="en-US" altLang="zh-TW" i="1"/>
                <a:t> A</a:t>
              </a:r>
              <a:r>
                <a:rPr lang="en-US" altLang="zh-TW"/>
                <a:t>.</a:t>
              </a:r>
            </a:p>
            <a:p>
              <a:pPr eaLnBrk="1" hangingPunct="1"/>
              <a:r>
                <a:rPr lang="en-US" altLang="zh-TW"/>
                <a:t>We get</a:t>
              </a:r>
            </a:p>
          </p:txBody>
        </p:sp>
        <p:sp>
          <p:nvSpPr>
            <p:cNvPr id="1036" name="Text Box 5"/>
            <p:cNvSpPr txBox="1">
              <a:spLocks noChangeArrowheads="1"/>
            </p:cNvSpPr>
            <p:nvPr/>
          </p:nvSpPr>
          <p:spPr bwMode="auto">
            <a:xfrm>
              <a:off x="326" y="1321"/>
              <a:ext cx="882" cy="288"/>
            </a:xfrm>
            <a:prstGeom prst="rect">
              <a:avLst/>
            </a:prstGeom>
            <a:gradFill rotWithShape="0">
              <a:gsLst>
                <a:gs pos="0">
                  <a:srgbClr val="969696"/>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b="1">
                  <a:solidFill>
                    <a:schemeClr val="tx2"/>
                  </a:solidFill>
                  <a:latin typeface="Arial" panose="020B0604020202020204" pitchFamily="34" charset="0"/>
                </a:rPr>
                <a:t>Solution</a:t>
              </a:r>
            </a:p>
          </p:txBody>
        </p:sp>
        <p:graphicFrame>
          <p:nvGraphicFramePr>
            <p:cNvPr id="1028" name="Object 7"/>
            <p:cNvGraphicFramePr>
              <a:graphicFrameLocks noChangeAspect="1"/>
            </p:cNvGraphicFramePr>
            <p:nvPr/>
          </p:nvGraphicFramePr>
          <p:xfrm>
            <a:off x="964" y="1752"/>
            <a:ext cx="3832" cy="816"/>
          </p:xfrm>
          <a:graphic>
            <a:graphicData uri="http://schemas.openxmlformats.org/presentationml/2006/ole">
              <mc:AlternateContent xmlns:mc="http://schemas.openxmlformats.org/markup-compatibility/2006">
                <mc:Choice xmlns:v="urn:schemas-microsoft-com:vml" Requires="v">
                  <p:oleObj spid="_x0000_s25655" name="Equation" r:id="rId5" imgW="6083280" imgH="1295280" progId="Equation.3">
                    <p:embed/>
                  </p:oleObj>
                </mc:Choice>
                <mc:Fallback>
                  <p:oleObj name="Equation" r:id="rId5" imgW="6083280" imgH="12952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64" y="1752"/>
                          <a:ext cx="3832" cy="81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9" name="Object 8"/>
            <p:cNvGraphicFramePr>
              <a:graphicFrameLocks noChangeAspect="1"/>
            </p:cNvGraphicFramePr>
            <p:nvPr/>
          </p:nvGraphicFramePr>
          <p:xfrm>
            <a:off x="912" y="2304"/>
            <a:ext cx="3192" cy="272"/>
          </p:xfrm>
          <a:graphic>
            <a:graphicData uri="http://schemas.openxmlformats.org/presentationml/2006/ole">
              <mc:AlternateContent xmlns:mc="http://schemas.openxmlformats.org/markup-compatibility/2006">
                <mc:Choice xmlns:v="urn:schemas-microsoft-com:vml" Requires="v">
                  <p:oleObj spid="_x0000_s25656" name="Equation" r:id="rId7" imgW="5067000" imgH="431640" progId="Equation.3">
                    <p:embed/>
                  </p:oleObj>
                </mc:Choice>
                <mc:Fallback>
                  <p:oleObj name="Equation" r:id="rId7" imgW="5067000" imgH="43164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12" y="2304"/>
                          <a:ext cx="3192" cy="27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
        <p:nvSpPr>
          <p:cNvPr id="71691" name="Text Box 11"/>
          <p:cNvSpPr txBox="1">
            <a:spLocks noChangeArrowheads="1"/>
          </p:cNvSpPr>
          <p:nvPr/>
        </p:nvSpPr>
        <p:spPr bwMode="auto">
          <a:xfrm>
            <a:off x="2041526" y="4079875"/>
            <a:ext cx="8169275"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We now solve the characteristic equation of </a:t>
            </a:r>
            <a:r>
              <a:rPr lang="en-US" altLang="zh-TW" i="1"/>
              <a:t>A</a:t>
            </a:r>
            <a:r>
              <a:rPr lang="en-US" altLang="zh-TW"/>
              <a:t>.</a:t>
            </a:r>
          </a:p>
          <a:p>
            <a:pPr eaLnBrk="1" hangingPunct="1"/>
            <a:endParaRPr lang="en-US" altLang="zh-TW"/>
          </a:p>
          <a:p>
            <a:pPr eaLnBrk="1" hangingPunct="1"/>
            <a:r>
              <a:rPr lang="en-US" altLang="zh-TW"/>
              <a:t>The eigenvalues of </a:t>
            </a:r>
            <a:r>
              <a:rPr lang="en-US" altLang="zh-TW" i="1"/>
              <a:t>A</a:t>
            </a:r>
            <a:r>
              <a:rPr lang="en-US" altLang="zh-TW"/>
              <a:t> are 2 and –1.</a:t>
            </a:r>
          </a:p>
          <a:p>
            <a:pPr eaLnBrk="1" hangingPunct="1"/>
            <a:r>
              <a:rPr lang="en-US" altLang="zh-TW"/>
              <a:t>The corresponding eigenvectors are found by using these values of </a:t>
            </a:r>
            <a:r>
              <a:rPr lang="en-US" altLang="zh-TW">
                <a:sym typeface="Symbol" panose="05050102010706020507" pitchFamily="18" charset="2"/>
              </a:rPr>
              <a:t> in the equation(</a:t>
            </a:r>
            <a:r>
              <a:rPr lang="en-US" altLang="zh-TW" i="1"/>
              <a:t>A</a:t>
            </a:r>
            <a:r>
              <a:rPr lang="en-US" altLang="zh-TW"/>
              <a:t> – </a:t>
            </a:r>
            <a:r>
              <a:rPr lang="en-US" altLang="zh-TW">
                <a:sym typeface="Symbol" panose="05050102010706020507" pitchFamily="18" charset="2"/>
              </a:rPr>
              <a:t></a:t>
            </a:r>
            <a:r>
              <a:rPr lang="en-US" altLang="zh-TW" i="1"/>
              <a:t>I</a:t>
            </a:r>
            <a:r>
              <a:rPr lang="en-US" altLang="zh-TW" baseline="-25000"/>
              <a:t>2</a:t>
            </a:r>
            <a:r>
              <a:rPr lang="en-US" altLang="zh-TW"/>
              <a:t>)</a:t>
            </a:r>
            <a:r>
              <a:rPr lang="en-US" altLang="zh-TW" b="1"/>
              <a:t>x</a:t>
            </a:r>
            <a:r>
              <a:rPr lang="en-US" altLang="zh-TW"/>
              <a:t> = </a:t>
            </a:r>
            <a:r>
              <a:rPr lang="en-US" altLang="zh-TW" b="1"/>
              <a:t>0</a:t>
            </a:r>
            <a:r>
              <a:rPr lang="en-US" altLang="zh-TW"/>
              <a:t>. There are many eigenvectors corresponding to each eigenvalue.</a:t>
            </a:r>
            <a:endParaRPr lang="en-US" altLang="zh-TW" baseline="-25000"/>
          </a:p>
        </p:txBody>
      </p:sp>
      <p:graphicFrame>
        <p:nvGraphicFramePr>
          <p:cNvPr id="71692" name="Object 12"/>
          <p:cNvGraphicFramePr>
            <a:graphicFrameLocks noChangeAspect="1"/>
          </p:cNvGraphicFramePr>
          <p:nvPr/>
        </p:nvGraphicFramePr>
        <p:xfrm>
          <a:off x="2971800" y="4470400"/>
          <a:ext cx="5867400" cy="406400"/>
        </p:xfrm>
        <a:graphic>
          <a:graphicData uri="http://schemas.openxmlformats.org/presentationml/2006/ole">
            <mc:AlternateContent xmlns:mc="http://schemas.openxmlformats.org/markup-compatibility/2006">
              <mc:Choice xmlns:v="urn:schemas-microsoft-com:vml" Requires="v">
                <p:oleObj spid="_x0000_s25657" name="Equation" r:id="rId9" imgW="5867280" imgH="406080" progId="Equation.3">
                  <p:embed/>
                </p:oleObj>
              </mc:Choice>
              <mc:Fallback>
                <p:oleObj name="Equation" r:id="rId9" imgW="5867280" imgH="406080" progId="Equation.3">
                  <p:embed/>
                  <p:pic>
                    <p:nvPicPr>
                      <p:cNvPr id="0" name=""/>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71800" y="4470400"/>
                        <a:ext cx="5867400"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65268639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1691">
                                            <p:txEl>
                                              <p:pRg st="0" end="0"/>
                                            </p:txEl>
                                          </p:spTgt>
                                        </p:tgtEl>
                                        <p:attrNameLst>
                                          <p:attrName>style.visibility</p:attrName>
                                        </p:attrNameLst>
                                      </p:cBhvr>
                                      <p:to>
                                        <p:strVal val="visible"/>
                                      </p:to>
                                    </p:set>
                                    <p:anim calcmode="lin" valueType="num">
                                      <p:cBhvr additive="base">
                                        <p:cTn id="13" dur="500" fill="hold"/>
                                        <p:tgtEl>
                                          <p:spTgt spid="71691">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1691">
                                            <p:txEl>
                                              <p:pRg st="0" end="0"/>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1692"/>
                                        </p:tgtEl>
                                        <p:attrNameLst>
                                          <p:attrName>style.visibility</p:attrName>
                                        </p:attrNameLst>
                                      </p:cBhvr>
                                      <p:to>
                                        <p:strVal val="visible"/>
                                      </p:to>
                                    </p:set>
                                    <p:anim calcmode="lin" valueType="num">
                                      <p:cBhvr additive="base">
                                        <p:cTn id="17" dur="500" fill="hold"/>
                                        <p:tgtEl>
                                          <p:spTgt spid="71692"/>
                                        </p:tgtEl>
                                        <p:attrNameLst>
                                          <p:attrName>ppt_x</p:attrName>
                                        </p:attrNameLst>
                                      </p:cBhvr>
                                      <p:tavLst>
                                        <p:tav tm="0">
                                          <p:val>
                                            <p:strVal val="#ppt_x"/>
                                          </p:val>
                                        </p:tav>
                                        <p:tav tm="100000">
                                          <p:val>
                                            <p:strVal val="#ppt_x"/>
                                          </p:val>
                                        </p:tav>
                                      </p:tavLst>
                                    </p:anim>
                                    <p:anim calcmode="lin" valueType="num">
                                      <p:cBhvr additive="base">
                                        <p:cTn id="18" dur="500" fill="hold"/>
                                        <p:tgtEl>
                                          <p:spTgt spid="7169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71691">
                                            <p:txEl>
                                              <p:pRg st="2" end="2"/>
                                            </p:txEl>
                                          </p:spTgt>
                                        </p:tgtEl>
                                        <p:attrNameLst>
                                          <p:attrName>style.visibility</p:attrName>
                                        </p:attrNameLst>
                                      </p:cBhvr>
                                      <p:to>
                                        <p:strVal val="visible"/>
                                      </p:to>
                                    </p:set>
                                    <p:anim calcmode="lin" valueType="num">
                                      <p:cBhvr additive="base">
                                        <p:cTn id="23" dur="500" fill="hold"/>
                                        <p:tgtEl>
                                          <p:spTgt spid="71691">
                                            <p:txEl>
                                              <p:pRg st="2" end="2"/>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1691">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2" presetClass="entr" presetSubtype="4" fill="hold" nodeType="clickEffect">
                                  <p:stCondLst>
                                    <p:cond delay="0"/>
                                  </p:stCondLst>
                                  <p:childTnLst>
                                    <p:set>
                                      <p:cBhvr>
                                        <p:cTn id="28" dur="1" fill="hold">
                                          <p:stCondLst>
                                            <p:cond delay="0"/>
                                          </p:stCondLst>
                                        </p:cTn>
                                        <p:tgtEl>
                                          <p:spTgt spid="71691">
                                            <p:txEl>
                                              <p:pRg st="3" end="3"/>
                                            </p:txEl>
                                          </p:spTgt>
                                        </p:tgtEl>
                                        <p:attrNameLst>
                                          <p:attrName>style.visibility</p:attrName>
                                        </p:attrNameLst>
                                      </p:cBhvr>
                                      <p:to>
                                        <p:strVal val="visible"/>
                                      </p:to>
                                    </p:set>
                                    <p:anim calcmode="lin" valueType="num">
                                      <p:cBhvr additive="base">
                                        <p:cTn id="29" dur="500" fill="hold"/>
                                        <p:tgtEl>
                                          <p:spTgt spid="71691">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71691">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3"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2698F87B-E193-45C7-A237-0EB46D0A216E}" type="slidenum">
              <a:rPr kumimoji="0" lang="en-US" altLang="zh-TW" sz="1400">
                <a:solidFill>
                  <a:srgbClr val="A50021"/>
                </a:solidFill>
              </a:rPr>
              <a:pPr eaLnBrk="1" hangingPunct="1"/>
              <a:t>62</a:t>
            </a:fld>
            <a:endParaRPr kumimoji="0" lang="en-US" altLang="zh-TW" sz="1400">
              <a:solidFill>
                <a:srgbClr val="A50021"/>
              </a:solidFill>
            </a:endParaRPr>
          </a:p>
        </p:txBody>
      </p:sp>
      <p:sp>
        <p:nvSpPr>
          <p:cNvPr id="72707" name="Rectangle 3"/>
          <p:cNvSpPr>
            <a:spLocks noGrp="1" noChangeArrowheads="1"/>
          </p:cNvSpPr>
          <p:nvPr>
            <p:ph type="body" idx="4294967295"/>
          </p:nvPr>
        </p:nvSpPr>
        <p:spPr>
          <a:xfrm>
            <a:off x="2209801" y="322261"/>
            <a:ext cx="8001000" cy="2362200"/>
          </a:xfrm>
          <a:prstGeom prst="rect">
            <a:avLst/>
          </a:prstGeom>
        </p:spPr>
        <p:txBody>
          <a:bodyPr/>
          <a:lstStyle/>
          <a:p>
            <a:pPr marL="287338" indent="-287338"/>
            <a:r>
              <a:rPr lang="en-US" altLang="zh-TW" sz="2400" dirty="0">
                <a:latin typeface="Times New Roman" panose="02020603050405020304" pitchFamily="18" charset="0"/>
                <a:sym typeface="Symbol" panose="05050102010706020507" pitchFamily="18" charset="2"/>
              </a:rPr>
              <a:t>For  </a:t>
            </a:r>
            <a:r>
              <a:rPr lang="en-US" altLang="zh-TW" sz="2400" u="sng" dirty="0">
                <a:latin typeface="Times New Roman" panose="02020603050405020304" pitchFamily="18" charset="0"/>
                <a:sym typeface="Symbol" panose="05050102010706020507" pitchFamily="18" charset="2"/>
              </a:rPr>
              <a:t> = 2</a:t>
            </a:r>
          </a:p>
          <a:p>
            <a:pPr marL="287338" indent="-287338">
              <a:buNone/>
            </a:pPr>
            <a:r>
              <a:rPr lang="zh-TW" altLang="en-US" sz="2400" dirty="0">
                <a:latin typeface="Times New Roman" panose="02020603050405020304" pitchFamily="18" charset="0"/>
                <a:sym typeface="Symbol" panose="05050102010706020507" pitchFamily="18" charset="2"/>
              </a:rPr>
              <a:t>	</a:t>
            </a:r>
            <a:r>
              <a:rPr lang="en-US" altLang="zh-TW" sz="2400" dirty="0">
                <a:latin typeface="Times New Roman" panose="02020603050405020304" pitchFamily="18" charset="0"/>
                <a:sym typeface="Symbol" panose="05050102010706020507" pitchFamily="18" charset="2"/>
              </a:rPr>
              <a:t>We solve the equation (</a:t>
            </a:r>
            <a:r>
              <a:rPr lang="en-US" altLang="zh-TW" sz="2400" i="1" dirty="0">
                <a:latin typeface="Times New Roman" panose="02020603050405020304" pitchFamily="18" charset="0"/>
              </a:rPr>
              <a:t>A</a:t>
            </a:r>
            <a:r>
              <a:rPr lang="en-US" altLang="zh-TW" sz="2400" dirty="0">
                <a:latin typeface="Times New Roman" panose="02020603050405020304" pitchFamily="18" charset="0"/>
              </a:rPr>
              <a:t> – </a:t>
            </a:r>
            <a:r>
              <a:rPr lang="en-US" altLang="zh-TW" sz="2400" dirty="0">
                <a:latin typeface="Times New Roman" panose="02020603050405020304" pitchFamily="18" charset="0"/>
                <a:sym typeface="Symbol" panose="05050102010706020507" pitchFamily="18" charset="2"/>
              </a:rPr>
              <a:t>2</a:t>
            </a:r>
            <a:r>
              <a:rPr lang="en-US" altLang="zh-TW" sz="2400" i="1" dirty="0">
                <a:latin typeface="Times New Roman" panose="02020603050405020304" pitchFamily="18" charset="0"/>
              </a:rPr>
              <a:t>I</a:t>
            </a:r>
            <a:r>
              <a:rPr lang="en-US" altLang="zh-TW" sz="2400" baseline="-25000" dirty="0">
                <a:latin typeface="Times New Roman" panose="02020603050405020304" pitchFamily="18" charset="0"/>
              </a:rPr>
              <a:t>2</a:t>
            </a:r>
            <a:r>
              <a:rPr lang="en-US" altLang="zh-TW" sz="2400" dirty="0">
                <a:latin typeface="Times New Roman" panose="02020603050405020304" pitchFamily="18" charset="0"/>
              </a:rPr>
              <a:t>)</a:t>
            </a:r>
            <a:r>
              <a:rPr lang="en-US" altLang="zh-TW" sz="2400" b="1" dirty="0">
                <a:latin typeface="Times New Roman" panose="02020603050405020304" pitchFamily="18" charset="0"/>
              </a:rPr>
              <a:t>x</a:t>
            </a:r>
            <a:r>
              <a:rPr lang="en-US" altLang="zh-TW" sz="2400" i="1" dirty="0">
                <a:latin typeface="Times New Roman" panose="02020603050405020304" pitchFamily="18" charset="0"/>
              </a:rPr>
              <a:t> =</a:t>
            </a:r>
            <a:r>
              <a:rPr lang="en-US" altLang="zh-TW" sz="2400" b="1" dirty="0">
                <a:latin typeface="Times New Roman" panose="02020603050405020304" pitchFamily="18" charset="0"/>
              </a:rPr>
              <a:t> 0</a:t>
            </a:r>
            <a:r>
              <a:rPr lang="en-US" altLang="zh-TW" sz="2400" dirty="0">
                <a:latin typeface="Times New Roman" panose="02020603050405020304" pitchFamily="18" charset="0"/>
              </a:rPr>
              <a:t> for </a:t>
            </a:r>
            <a:r>
              <a:rPr lang="en-US" altLang="zh-TW" sz="2400" b="1" dirty="0">
                <a:latin typeface="Times New Roman" panose="02020603050405020304" pitchFamily="18" charset="0"/>
              </a:rPr>
              <a:t>x</a:t>
            </a:r>
            <a:r>
              <a:rPr lang="en-US" altLang="zh-TW" sz="2400" dirty="0">
                <a:latin typeface="Times New Roman" panose="02020603050405020304" pitchFamily="18" charset="0"/>
              </a:rPr>
              <a:t>.</a:t>
            </a:r>
          </a:p>
          <a:p>
            <a:pPr marL="287338" indent="-287338">
              <a:buNone/>
            </a:pPr>
            <a:r>
              <a:rPr lang="en-US" altLang="zh-TW" sz="2400" dirty="0">
                <a:latin typeface="Times New Roman" panose="02020603050405020304" pitchFamily="18" charset="0"/>
              </a:rPr>
              <a:t> The matrix (</a:t>
            </a:r>
            <a:r>
              <a:rPr lang="en-US" altLang="zh-TW" sz="2400" i="1" dirty="0">
                <a:latin typeface="Times New Roman" panose="02020603050405020304" pitchFamily="18" charset="0"/>
              </a:rPr>
              <a:t>A</a:t>
            </a:r>
            <a:r>
              <a:rPr lang="en-US" altLang="zh-TW" sz="2400" dirty="0">
                <a:latin typeface="Times New Roman" panose="02020603050405020304" pitchFamily="18" charset="0"/>
              </a:rPr>
              <a:t> – </a:t>
            </a:r>
            <a:r>
              <a:rPr lang="en-US" altLang="zh-TW" sz="2400" dirty="0">
                <a:latin typeface="Times New Roman" panose="02020603050405020304" pitchFamily="18" charset="0"/>
                <a:sym typeface="Symbol" panose="05050102010706020507" pitchFamily="18" charset="2"/>
              </a:rPr>
              <a:t>2</a:t>
            </a:r>
            <a:r>
              <a:rPr lang="en-US" altLang="zh-TW" sz="2400" i="1" dirty="0">
                <a:latin typeface="Times New Roman" panose="02020603050405020304" pitchFamily="18" charset="0"/>
              </a:rPr>
              <a:t>I</a:t>
            </a:r>
            <a:r>
              <a:rPr lang="en-US" altLang="zh-TW" sz="2400" baseline="-25000" dirty="0">
                <a:latin typeface="Times New Roman" panose="02020603050405020304" pitchFamily="18" charset="0"/>
              </a:rPr>
              <a:t>2</a:t>
            </a:r>
            <a:r>
              <a:rPr lang="en-US" altLang="zh-TW" sz="2400" dirty="0">
                <a:latin typeface="Times New Roman" panose="02020603050405020304" pitchFamily="18" charset="0"/>
              </a:rPr>
              <a:t>) is obtained by subtracting 2 from the diagonal elements of </a:t>
            </a:r>
            <a:r>
              <a:rPr lang="en-US" altLang="zh-TW" sz="2400" i="1" dirty="0">
                <a:latin typeface="Times New Roman" panose="02020603050405020304" pitchFamily="18" charset="0"/>
              </a:rPr>
              <a:t>A</a:t>
            </a:r>
            <a:r>
              <a:rPr lang="en-US" altLang="zh-TW" sz="2400" dirty="0">
                <a:latin typeface="Times New Roman" panose="02020603050405020304" pitchFamily="18" charset="0"/>
              </a:rPr>
              <a:t>. We get</a:t>
            </a:r>
          </a:p>
        </p:txBody>
      </p:sp>
      <p:graphicFrame>
        <p:nvGraphicFramePr>
          <p:cNvPr id="72708" name="Object 4"/>
          <p:cNvGraphicFramePr>
            <a:graphicFrameLocks noChangeAspect="1"/>
          </p:cNvGraphicFramePr>
          <p:nvPr/>
        </p:nvGraphicFramePr>
        <p:xfrm>
          <a:off x="6743700" y="2492375"/>
          <a:ext cx="2311400" cy="863600"/>
        </p:xfrm>
        <a:graphic>
          <a:graphicData uri="http://schemas.openxmlformats.org/presentationml/2006/ole">
            <mc:AlternateContent xmlns:mc="http://schemas.openxmlformats.org/markup-compatibility/2006">
              <mc:Choice xmlns:v="urn:schemas-microsoft-com:vml" Requires="v">
                <p:oleObj spid="_x0000_s26665" name="Equation" r:id="rId3" imgW="2311200" imgH="863280" progId="Equation.3">
                  <p:embed/>
                </p:oleObj>
              </mc:Choice>
              <mc:Fallback>
                <p:oleObj name="Equation" r:id="rId3" imgW="2311200" imgH="8632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743700" y="2492375"/>
                        <a:ext cx="2311400" cy="86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2709" name="Text Box 5"/>
          <p:cNvSpPr txBox="1">
            <a:spLocks noChangeArrowheads="1"/>
          </p:cNvSpPr>
          <p:nvPr/>
        </p:nvSpPr>
        <p:spPr bwMode="auto">
          <a:xfrm>
            <a:off x="2498726" y="3276600"/>
            <a:ext cx="7712075"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This leads to the system of equations</a:t>
            </a:r>
          </a:p>
          <a:p>
            <a:pPr eaLnBrk="1" hangingPunct="1"/>
            <a:endParaRPr lang="en-US" altLang="zh-TW"/>
          </a:p>
          <a:p>
            <a:pPr eaLnBrk="1" hangingPunct="1"/>
            <a:endParaRPr lang="en-US" altLang="zh-TW" sz="1800"/>
          </a:p>
          <a:p>
            <a:pPr eaLnBrk="1" hangingPunct="1"/>
            <a:endParaRPr lang="en-US" altLang="zh-TW" sz="1800"/>
          </a:p>
          <a:p>
            <a:pPr eaLnBrk="1" hangingPunct="1"/>
            <a:r>
              <a:rPr lang="en-US" altLang="zh-TW"/>
              <a:t>giving </a:t>
            </a:r>
            <a:r>
              <a:rPr lang="en-US" altLang="zh-TW" i="1"/>
              <a:t>x</a:t>
            </a:r>
            <a:r>
              <a:rPr lang="en-US" altLang="zh-TW" baseline="-25000"/>
              <a:t>1</a:t>
            </a:r>
            <a:r>
              <a:rPr lang="en-US" altLang="zh-TW"/>
              <a:t> = –</a:t>
            </a:r>
            <a:r>
              <a:rPr lang="en-US" altLang="zh-TW" i="1"/>
              <a:t>x</a:t>
            </a:r>
            <a:r>
              <a:rPr lang="en-US" altLang="zh-TW" baseline="-25000"/>
              <a:t>2</a:t>
            </a:r>
            <a:r>
              <a:rPr lang="en-US" altLang="zh-TW"/>
              <a:t>. The solutions to this system of equations are </a:t>
            </a:r>
            <a:r>
              <a:rPr lang="en-US" altLang="zh-TW" i="1"/>
              <a:t>x</a:t>
            </a:r>
            <a:r>
              <a:rPr lang="en-US" altLang="zh-TW" baseline="-25000"/>
              <a:t>1</a:t>
            </a:r>
            <a:r>
              <a:rPr lang="en-US" altLang="zh-TW"/>
              <a:t> = –</a:t>
            </a:r>
            <a:r>
              <a:rPr lang="en-US" altLang="zh-TW" i="1"/>
              <a:t>r</a:t>
            </a:r>
            <a:r>
              <a:rPr lang="en-US" altLang="zh-TW"/>
              <a:t>, </a:t>
            </a:r>
            <a:r>
              <a:rPr lang="en-US" altLang="zh-TW" i="1"/>
              <a:t>x</a:t>
            </a:r>
            <a:r>
              <a:rPr lang="en-US" altLang="zh-TW" baseline="-25000"/>
              <a:t>2</a:t>
            </a:r>
            <a:r>
              <a:rPr lang="en-US" altLang="zh-TW"/>
              <a:t> = </a:t>
            </a:r>
            <a:r>
              <a:rPr lang="en-US" altLang="zh-TW" i="1"/>
              <a:t>r</a:t>
            </a:r>
            <a:r>
              <a:rPr lang="en-US" altLang="zh-TW"/>
              <a:t>, where </a:t>
            </a:r>
            <a:r>
              <a:rPr lang="en-US" altLang="zh-TW" i="1"/>
              <a:t>r</a:t>
            </a:r>
            <a:r>
              <a:rPr lang="en-US" altLang="zh-TW"/>
              <a:t> is a scalar. Thus the eigenvectors of </a:t>
            </a:r>
            <a:r>
              <a:rPr lang="en-US" altLang="zh-TW" i="1"/>
              <a:t>A</a:t>
            </a:r>
            <a:r>
              <a:rPr lang="en-US" altLang="zh-TW"/>
              <a:t> corresponding to </a:t>
            </a:r>
            <a:r>
              <a:rPr lang="en-US" altLang="zh-TW">
                <a:sym typeface="Symbol" panose="05050102010706020507" pitchFamily="18" charset="2"/>
              </a:rPr>
              <a:t> = 2 are nonzero vectors of the form</a:t>
            </a:r>
          </a:p>
        </p:txBody>
      </p:sp>
      <p:graphicFrame>
        <p:nvGraphicFramePr>
          <p:cNvPr id="72710" name="Object 6"/>
          <p:cNvGraphicFramePr>
            <a:graphicFrameLocks noChangeAspect="1"/>
          </p:cNvGraphicFramePr>
          <p:nvPr/>
        </p:nvGraphicFramePr>
        <p:xfrm>
          <a:off x="5194300" y="3733800"/>
          <a:ext cx="1803400" cy="838200"/>
        </p:xfrm>
        <a:graphic>
          <a:graphicData uri="http://schemas.openxmlformats.org/presentationml/2006/ole">
            <mc:AlternateContent xmlns:mc="http://schemas.openxmlformats.org/markup-compatibility/2006">
              <mc:Choice xmlns:v="urn:schemas-microsoft-com:vml" Requires="v">
                <p:oleObj spid="_x0000_s26666" name="Equation" r:id="rId5" imgW="1803240" imgH="838080" progId="Equation.3">
                  <p:embed/>
                </p:oleObj>
              </mc:Choice>
              <mc:Fallback>
                <p:oleObj name="Equation" r:id="rId5" imgW="1803240" imgH="8380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194300" y="3733800"/>
                        <a:ext cx="18034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2711" name="Object 7"/>
          <p:cNvGraphicFramePr>
            <a:graphicFrameLocks noChangeAspect="1"/>
          </p:cNvGraphicFramePr>
          <p:nvPr/>
        </p:nvGraphicFramePr>
        <p:xfrm>
          <a:off x="4865689" y="5973764"/>
          <a:ext cx="3094037" cy="866775"/>
        </p:xfrm>
        <a:graphic>
          <a:graphicData uri="http://schemas.openxmlformats.org/presentationml/2006/ole">
            <mc:AlternateContent xmlns:mc="http://schemas.openxmlformats.org/markup-compatibility/2006">
              <mc:Choice xmlns:v="urn:schemas-microsoft-com:vml" Requires="v">
                <p:oleObj spid="_x0000_s26667" name="Equation" r:id="rId7" imgW="1676160" imgH="469800" progId="Equation.DSMT4">
                  <p:embed/>
                </p:oleObj>
              </mc:Choice>
              <mc:Fallback>
                <p:oleObj name="Equation" r:id="rId7" imgW="1676160" imgH="46980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65689" y="5973764"/>
                        <a:ext cx="3094037" cy="866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288927538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2707">
                                            <p:txEl>
                                              <p:pRg st="1" end="1"/>
                                            </p:txEl>
                                          </p:spTgt>
                                        </p:tgtEl>
                                        <p:attrNameLst>
                                          <p:attrName>style.visibility</p:attrName>
                                        </p:attrNameLst>
                                      </p:cBhvr>
                                      <p:to>
                                        <p:strVal val="visible"/>
                                      </p:to>
                                    </p:set>
                                    <p:anim calcmode="lin" valueType="num">
                                      <p:cBhvr additive="base">
                                        <p:cTn id="7" dur="500" fill="hold"/>
                                        <p:tgtEl>
                                          <p:spTgt spid="72707">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2707">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2707">
                                            <p:txEl>
                                              <p:pRg st="2" end="2"/>
                                            </p:txEl>
                                          </p:spTgt>
                                        </p:tgtEl>
                                        <p:attrNameLst>
                                          <p:attrName>style.visibility</p:attrName>
                                        </p:attrNameLst>
                                      </p:cBhvr>
                                      <p:to>
                                        <p:strVal val="visible"/>
                                      </p:to>
                                    </p:set>
                                    <p:anim calcmode="lin" valueType="num">
                                      <p:cBhvr additive="base">
                                        <p:cTn id="13" dur="500" fill="hold"/>
                                        <p:tgtEl>
                                          <p:spTgt spid="72707">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2707">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 presetClass="entr" presetSubtype="4" fill="hold" nodeType="clickEffect">
                                  <p:stCondLst>
                                    <p:cond delay="0"/>
                                  </p:stCondLst>
                                  <p:childTnLst>
                                    <p:set>
                                      <p:cBhvr>
                                        <p:cTn id="18" dur="1" fill="hold">
                                          <p:stCondLst>
                                            <p:cond delay="0"/>
                                          </p:stCondLst>
                                        </p:cTn>
                                        <p:tgtEl>
                                          <p:spTgt spid="72708"/>
                                        </p:tgtEl>
                                        <p:attrNameLst>
                                          <p:attrName>style.visibility</p:attrName>
                                        </p:attrNameLst>
                                      </p:cBhvr>
                                      <p:to>
                                        <p:strVal val="visible"/>
                                      </p:to>
                                    </p:set>
                                    <p:anim calcmode="lin" valueType="num">
                                      <p:cBhvr additive="base">
                                        <p:cTn id="19" dur="500" fill="hold"/>
                                        <p:tgtEl>
                                          <p:spTgt spid="72708"/>
                                        </p:tgtEl>
                                        <p:attrNameLst>
                                          <p:attrName>ppt_x</p:attrName>
                                        </p:attrNameLst>
                                      </p:cBhvr>
                                      <p:tavLst>
                                        <p:tav tm="0">
                                          <p:val>
                                            <p:strVal val="#ppt_x"/>
                                          </p:val>
                                        </p:tav>
                                        <p:tav tm="100000">
                                          <p:val>
                                            <p:strVal val="#ppt_x"/>
                                          </p:val>
                                        </p:tav>
                                      </p:tavLst>
                                    </p:anim>
                                    <p:anim calcmode="lin" valueType="num">
                                      <p:cBhvr additive="base">
                                        <p:cTn id="20" dur="500" fill="hold"/>
                                        <p:tgtEl>
                                          <p:spTgt spid="72708"/>
                                        </p:tgtEl>
                                        <p:attrNameLst>
                                          <p:attrName>ppt_y</p:attrName>
                                        </p:attrNameLst>
                                      </p:cBhvr>
                                      <p:tavLst>
                                        <p:tav tm="0">
                                          <p:val>
                                            <p:strVal val="1+#ppt_h/2"/>
                                          </p:val>
                                        </p:tav>
                                        <p:tav tm="100000">
                                          <p:val>
                                            <p:strVal val="#ppt_y"/>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 presetClass="entr" presetSubtype="4" fill="hold" nodeType="clickEffect">
                                  <p:stCondLst>
                                    <p:cond delay="0"/>
                                  </p:stCondLst>
                                  <p:childTnLst>
                                    <p:set>
                                      <p:cBhvr>
                                        <p:cTn id="24" dur="1" fill="hold">
                                          <p:stCondLst>
                                            <p:cond delay="0"/>
                                          </p:stCondLst>
                                        </p:cTn>
                                        <p:tgtEl>
                                          <p:spTgt spid="72709">
                                            <p:txEl>
                                              <p:pRg st="0" end="0"/>
                                            </p:txEl>
                                          </p:spTgt>
                                        </p:tgtEl>
                                        <p:attrNameLst>
                                          <p:attrName>style.visibility</p:attrName>
                                        </p:attrNameLst>
                                      </p:cBhvr>
                                      <p:to>
                                        <p:strVal val="visible"/>
                                      </p:to>
                                    </p:set>
                                    <p:anim calcmode="lin" valueType="num">
                                      <p:cBhvr additive="base">
                                        <p:cTn id="25" dur="500" fill="hold"/>
                                        <p:tgtEl>
                                          <p:spTgt spid="72709">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72709">
                                            <p:txEl>
                                              <p:pRg st="0" end="0"/>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72710"/>
                                        </p:tgtEl>
                                        <p:attrNameLst>
                                          <p:attrName>style.visibility</p:attrName>
                                        </p:attrNameLst>
                                      </p:cBhvr>
                                      <p:to>
                                        <p:strVal val="visible"/>
                                      </p:to>
                                    </p:set>
                                    <p:anim calcmode="lin" valueType="num">
                                      <p:cBhvr additive="base">
                                        <p:cTn id="29" dur="500" fill="hold"/>
                                        <p:tgtEl>
                                          <p:spTgt spid="72710"/>
                                        </p:tgtEl>
                                        <p:attrNameLst>
                                          <p:attrName>ppt_x</p:attrName>
                                        </p:attrNameLst>
                                      </p:cBhvr>
                                      <p:tavLst>
                                        <p:tav tm="0">
                                          <p:val>
                                            <p:strVal val="#ppt_x"/>
                                          </p:val>
                                        </p:tav>
                                        <p:tav tm="100000">
                                          <p:val>
                                            <p:strVal val="#ppt_x"/>
                                          </p:val>
                                        </p:tav>
                                      </p:tavLst>
                                    </p:anim>
                                    <p:anim calcmode="lin" valueType="num">
                                      <p:cBhvr additive="base">
                                        <p:cTn id="30" dur="500" fill="hold"/>
                                        <p:tgtEl>
                                          <p:spTgt spid="72710"/>
                                        </p:tgtEl>
                                        <p:attrNameLst>
                                          <p:attrName>ppt_y</p:attrName>
                                        </p:attrNameLst>
                                      </p:cBhvr>
                                      <p:tavLst>
                                        <p:tav tm="0">
                                          <p:val>
                                            <p:strVal val="1+#ppt_h/2"/>
                                          </p:val>
                                        </p:tav>
                                        <p:tav tm="100000">
                                          <p:val>
                                            <p:strVal val="#ppt_y"/>
                                          </p:val>
                                        </p:tav>
                                      </p:tavLst>
                                    </p:anim>
                                  </p:childTnLst>
                                </p:cTn>
                              </p:par>
                            </p:childTnLst>
                          </p:cTn>
                        </p:par>
                      </p:childTnLst>
                    </p:cTn>
                  </p:par>
                  <p:par>
                    <p:cTn id="31" fill="hold" nodeType="clickPar">
                      <p:stCondLst>
                        <p:cond delay="indefinite"/>
                      </p:stCondLst>
                      <p:childTnLst>
                        <p:par>
                          <p:cTn id="32" fill="hold" nodeType="withGroup">
                            <p:stCondLst>
                              <p:cond delay="0"/>
                            </p:stCondLst>
                            <p:childTnLst>
                              <p:par>
                                <p:cTn id="33" presetID="2" presetClass="entr" presetSubtype="4" fill="hold" nodeType="clickEffect">
                                  <p:stCondLst>
                                    <p:cond delay="0"/>
                                  </p:stCondLst>
                                  <p:childTnLst>
                                    <p:set>
                                      <p:cBhvr>
                                        <p:cTn id="34" dur="1" fill="hold">
                                          <p:stCondLst>
                                            <p:cond delay="0"/>
                                          </p:stCondLst>
                                        </p:cTn>
                                        <p:tgtEl>
                                          <p:spTgt spid="72709">
                                            <p:txEl>
                                              <p:pRg st="4" end="4"/>
                                            </p:txEl>
                                          </p:spTgt>
                                        </p:tgtEl>
                                        <p:attrNameLst>
                                          <p:attrName>style.visibility</p:attrName>
                                        </p:attrNameLst>
                                      </p:cBhvr>
                                      <p:to>
                                        <p:strVal val="visible"/>
                                      </p:to>
                                    </p:set>
                                    <p:anim calcmode="lin" valueType="num">
                                      <p:cBhvr additive="base">
                                        <p:cTn id="35" dur="500" fill="hold"/>
                                        <p:tgtEl>
                                          <p:spTgt spid="72709">
                                            <p:txEl>
                                              <p:pRg st="4" end="4"/>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72709">
                                            <p:txEl>
                                              <p:pRg st="4" end="4"/>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72711"/>
                                        </p:tgtEl>
                                        <p:attrNameLst>
                                          <p:attrName>style.visibility</p:attrName>
                                        </p:attrNameLst>
                                      </p:cBhvr>
                                      <p:to>
                                        <p:strVal val="visible"/>
                                      </p:to>
                                    </p:set>
                                    <p:anim calcmode="lin" valueType="num">
                                      <p:cBhvr additive="base">
                                        <p:cTn id="39" dur="500" fill="hold"/>
                                        <p:tgtEl>
                                          <p:spTgt spid="72711"/>
                                        </p:tgtEl>
                                        <p:attrNameLst>
                                          <p:attrName>ppt_x</p:attrName>
                                        </p:attrNameLst>
                                      </p:cBhvr>
                                      <p:tavLst>
                                        <p:tav tm="0">
                                          <p:val>
                                            <p:strVal val="#ppt_x"/>
                                          </p:val>
                                        </p:tav>
                                        <p:tav tm="100000">
                                          <p:val>
                                            <p:strVal val="#ppt_x"/>
                                          </p:val>
                                        </p:tav>
                                      </p:tavLst>
                                    </p:anim>
                                    <p:anim calcmode="lin" valueType="num">
                                      <p:cBhvr additive="base">
                                        <p:cTn id="40" dur="500" fill="hold"/>
                                        <p:tgtEl>
                                          <p:spTgt spid="727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7"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C5E20665-611F-4A63-94A8-3EA3842F06F9}" type="slidenum">
              <a:rPr kumimoji="0" lang="en-US" altLang="zh-TW" sz="1400">
                <a:solidFill>
                  <a:srgbClr val="A50021"/>
                </a:solidFill>
              </a:rPr>
              <a:pPr eaLnBrk="1" hangingPunct="1"/>
              <a:t>63</a:t>
            </a:fld>
            <a:endParaRPr kumimoji="0" lang="en-US" altLang="zh-TW" sz="1400">
              <a:solidFill>
                <a:srgbClr val="A50021"/>
              </a:solidFill>
            </a:endParaRPr>
          </a:p>
        </p:txBody>
      </p:sp>
      <p:sp>
        <p:nvSpPr>
          <p:cNvPr id="73731" name="Rectangle 3"/>
          <p:cNvSpPr>
            <a:spLocks noGrp="1" noChangeArrowheads="1"/>
          </p:cNvSpPr>
          <p:nvPr>
            <p:ph type="body" idx="4294967295"/>
          </p:nvPr>
        </p:nvSpPr>
        <p:spPr>
          <a:xfrm>
            <a:off x="2209801" y="334170"/>
            <a:ext cx="8001000" cy="2514600"/>
          </a:xfrm>
          <a:prstGeom prst="rect">
            <a:avLst/>
          </a:prstGeom>
        </p:spPr>
        <p:txBody>
          <a:bodyPr/>
          <a:lstStyle/>
          <a:p>
            <a:pPr eaLnBrk="1" hangingPunct="1"/>
            <a:r>
              <a:rPr lang="en-US" altLang="zh-TW" sz="2400" dirty="0">
                <a:latin typeface="Times New Roman" panose="02020603050405020304" pitchFamily="18" charset="0"/>
                <a:sym typeface="Symbol" panose="05050102010706020507" pitchFamily="18" charset="2"/>
              </a:rPr>
              <a:t>For </a:t>
            </a:r>
            <a:r>
              <a:rPr lang="en-US" altLang="zh-TW" sz="2400" u="sng" dirty="0">
                <a:latin typeface="Times New Roman" panose="02020603050405020304" pitchFamily="18" charset="0"/>
                <a:sym typeface="Symbol" panose="05050102010706020507" pitchFamily="18" charset="2"/>
              </a:rPr>
              <a:t> = </a:t>
            </a:r>
            <a:r>
              <a:rPr lang="en-US" altLang="zh-TW" sz="2400" u="sng" dirty="0">
                <a:latin typeface="Times New Roman" panose="02020603050405020304" pitchFamily="18" charset="0"/>
              </a:rPr>
              <a:t>–1</a:t>
            </a:r>
          </a:p>
          <a:p>
            <a:pPr eaLnBrk="1" hangingPunct="1">
              <a:buFontTx/>
              <a:buNone/>
            </a:pPr>
            <a:r>
              <a:rPr lang="zh-TW" altLang="en-US" sz="2400" dirty="0">
                <a:latin typeface="Times New Roman" panose="02020603050405020304" pitchFamily="18" charset="0"/>
              </a:rPr>
              <a:t>	</a:t>
            </a:r>
            <a:r>
              <a:rPr lang="en-US" altLang="zh-TW" sz="2400" dirty="0">
                <a:latin typeface="Times New Roman" panose="02020603050405020304" pitchFamily="18" charset="0"/>
              </a:rPr>
              <a:t>We solve the equation (</a:t>
            </a:r>
            <a:r>
              <a:rPr lang="en-US" altLang="zh-TW" sz="2400" i="1" dirty="0">
                <a:latin typeface="Times New Roman" panose="02020603050405020304" pitchFamily="18" charset="0"/>
              </a:rPr>
              <a:t>A</a:t>
            </a:r>
            <a:r>
              <a:rPr lang="en-US" altLang="zh-TW" sz="2400" dirty="0">
                <a:latin typeface="Times New Roman" panose="02020603050405020304" pitchFamily="18" charset="0"/>
              </a:rPr>
              <a:t> + </a:t>
            </a:r>
            <a:r>
              <a:rPr lang="en-US" altLang="zh-TW" sz="2400" dirty="0">
                <a:latin typeface="Times New Roman" panose="02020603050405020304" pitchFamily="18" charset="0"/>
                <a:sym typeface="Symbol" panose="05050102010706020507" pitchFamily="18" charset="2"/>
              </a:rPr>
              <a:t>1</a:t>
            </a:r>
            <a:r>
              <a:rPr lang="en-US" altLang="zh-TW" sz="2400" i="1" dirty="0">
                <a:latin typeface="Times New Roman" panose="02020603050405020304" pitchFamily="18" charset="0"/>
              </a:rPr>
              <a:t>I</a:t>
            </a:r>
            <a:r>
              <a:rPr lang="en-US" altLang="zh-TW" sz="2400" baseline="-25000" dirty="0">
                <a:latin typeface="Times New Roman" panose="02020603050405020304" pitchFamily="18" charset="0"/>
              </a:rPr>
              <a:t>2</a:t>
            </a:r>
            <a:r>
              <a:rPr lang="en-US" altLang="zh-TW" sz="2400" dirty="0">
                <a:latin typeface="Times New Roman" panose="02020603050405020304" pitchFamily="18" charset="0"/>
              </a:rPr>
              <a:t>)</a:t>
            </a:r>
            <a:r>
              <a:rPr lang="en-US" altLang="zh-TW" sz="2400" i="1" dirty="0">
                <a:latin typeface="Times New Roman" panose="02020603050405020304" pitchFamily="18" charset="0"/>
              </a:rPr>
              <a:t>x</a:t>
            </a:r>
            <a:r>
              <a:rPr lang="en-US" altLang="zh-TW" sz="2400" dirty="0">
                <a:latin typeface="Times New Roman" panose="02020603050405020304" pitchFamily="18" charset="0"/>
              </a:rPr>
              <a:t> = 0 for </a:t>
            </a:r>
            <a:r>
              <a:rPr lang="en-US" altLang="zh-TW" sz="2400" i="1" dirty="0">
                <a:latin typeface="Times New Roman" panose="02020603050405020304" pitchFamily="18" charset="0"/>
              </a:rPr>
              <a:t>x</a:t>
            </a:r>
            <a:r>
              <a:rPr lang="en-US" altLang="zh-TW" sz="2400" dirty="0">
                <a:latin typeface="Times New Roman" panose="02020603050405020304" pitchFamily="18" charset="0"/>
              </a:rPr>
              <a:t>. </a:t>
            </a:r>
          </a:p>
          <a:p>
            <a:pPr eaLnBrk="1" hangingPunct="1">
              <a:buFontTx/>
              <a:buNone/>
            </a:pPr>
            <a:r>
              <a:rPr lang="en-US" altLang="zh-TW" sz="2400" dirty="0">
                <a:latin typeface="Times New Roman" panose="02020603050405020304" pitchFamily="18" charset="0"/>
              </a:rPr>
              <a:t>The matrix (</a:t>
            </a:r>
            <a:r>
              <a:rPr lang="en-US" altLang="zh-TW" sz="2400" i="1" dirty="0">
                <a:latin typeface="Times New Roman" panose="02020603050405020304" pitchFamily="18" charset="0"/>
              </a:rPr>
              <a:t>A</a:t>
            </a:r>
            <a:r>
              <a:rPr lang="en-US" altLang="zh-TW" sz="2400" dirty="0">
                <a:latin typeface="Times New Roman" panose="02020603050405020304" pitchFamily="18" charset="0"/>
              </a:rPr>
              <a:t> + 1</a:t>
            </a:r>
            <a:r>
              <a:rPr lang="en-US" altLang="zh-TW" sz="2400" i="1" dirty="0">
                <a:latin typeface="Times New Roman" panose="02020603050405020304" pitchFamily="18" charset="0"/>
              </a:rPr>
              <a:t>I</a:t>
            </a:r>
            <a:r>
              <a:rPr lang="en-US" altLang="zh-TW" sz="2400" baseline="-25000" dirty="0">
                <a:latin typeface="Times New Roman" panose="02020603050405020304" pitchFamily="18" charset="0"/>
              </a:rPr>
              <a:t>2</a:t>
            </a:r>
            <a:r>
              <a:rPr lang="en-US" altLang="zh-TW" sz="2400" dirty="0">
                <a:latin typeface="Times New Roman" panose="02020603050405020304" pitchFamily="18" charset="0"/>
              </a:rPr>
              <a:t>) is obtained by adding 1 to the diagonal elements of </a:t>
            </a:r>
            <a:r>
              <a:rPr lang="en-US" altLang="zh-TW" sz="2400" i="1" dirty="0">
                <a:latin typeface="Times New Roman" panose="02020603050405020304" pitchFamily="18" charset="0"/>
              </a:rPr>
              <a:t>A</a:t>
            </a:r>
            <a:r>
              <a:rPr lang="en-US" altLang="zh-TW" sz="2400" dirty="0">
                <a:latin typeface="Times New Roman" panose="02020603050405020304" pitchFamily="18" charset="0"/>
              </a:rPr>
              <a:t>. We get</a:t>
            </a:r>
          </a:p>
        </p:txBody>
      </p:sp>
      <p:graphicFrame>
        <p:nvGraphicFramePr>
          <p:cNvPr id="73732" name="Object 4"/>
          <p:cNvGraphicFramePr>
            <a:graphicFrameLocks noChangeAspect="1"/>
          </p:cNvGraphicFramePr>
          <p:nvPr/>
        </p:nvGraphicFramePr>
        <p:xfrm>
          <a:off x="5951539" y="2420939"/>
          <a:ext cx="2160587" cy="884237"/>
        </p:xfrm>
        <a:graphic>
          <a:graphicData uri="http://schemas.openxmlformats.org/presentationml/2006/ole">
            <mc:AlternateContent xmlns:mc="http://schemas.openxmlformats.org/markup-compatibility/2006">
              <mc:Choice xmlns:v="urn:schemas-microsoft-com:vml" Requires="v">
                <p:oleObj spid="_x0000_s27689" name="方程式" r:id="rId3" imgW="1180800" imgH="482400" progId="Equation.3">
                  <p:embed/>
                </p:oleObj>
              </mc:Choice>
              <mc:Fallback>
                <p:oleObj name="方程式" r:id="rId3" imgW="1180800" imgH="4824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951539" y="2420939"/>
                        <a:ext cx="2160587" cy="884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3733" name="Text Box 5"/>
          <p:cNvSpPr txBox="1">
            <a:spLocks noChangeArrowheads="1"/>
          </p:cNvSpPr>
          <p:nvPr/>
        </p:nvSpPr>
        <p:spPr bwMode="auto">
          <a:xfrm>
            <a:off x="2498726" y="3276600"/>
            <a:ext cx="7712075" cy="24929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This leads to the system of equations</a:t>
            </a:r>
          </a:p>
          <a:p>
            <a:pPr eaLnBrk="1" hangingPunct="1"/>
            <a:endParaRPr lang="en-US" altLang="zh-TW"/>
          </a:p>
          <a:p>
            <a:pPr eaLnBrk="1" hangingPunct="1"/>
            <a:endParaRPr lang="en-US" altLang="zh-TW" sz="1800"/>
          </a:p>
          <a:p>
            <a:pPr eaLnBrk="1" hangingPunct="1"/>
            <a:endParaRPr lang="en-US" altLang="zh-TW" sz="1800"/>
          </a:p>
          <a:p>
            <a:pPr eaLnBrk="1" hangingPunct="1"/>
            <a:r>
              <a:rPr lang="en-US" altLang="zh-TW"/>
              <a:t>Thus </a:t>
            </a:r>
            <a:r>
              <a:rPr lang="en-US" altLang="zh-TW" i="1"/>
              <a:t>x</a:t>
            </a:r>
            <a:r>
              <a:rPr lang="en-US" altLang="zh-TW" baseline="-25000"/>
              <a:t>1</a:t>
            </a:r>
            <a:r>
              <a:rPr lang="en-US" altLang="zh-TW"/>
              <a:t> = –2</a:t>
            </a:r>
            <a:r>
              <a:rPr lang="en-US" altLang="zh-TW" i="1"/>
              <a:t>x</a:t>
            </a:r>
            <a:r>
              <a:rPr lang="en-US" altLang="zh-TW" baseline="-25000"/>
              <a:t>2</a:t>
            </a:r>
            <a:r>
              <a:rPr lang="en-US" altLang="zh-TW"/>
              <a:t>. The solutions to this system of equations are </a:t>
            </a:r>
            <a:r>
              <a:rPr lang="en-US" altLang="zh-TW" i="1"/>
              <a:t>x</a:t>
            </a:r>
            <a:r>
              <a:rPr lang="en-US" altLang="zh-TW" baseline="-25000"/>
              <a:t>1</a:t>
            </a:r>
            <a:r>
              <a:rPr lang="en-US" altLang="zh-TW"/>
              <a:t> = –2</a:t>
            </a:r>
            <a:r>
              <a:rPr lang="en-US" altLang="zh-TW" i="1"/>
              <a:t>s</a:t>
            </a:r>
            <a:r>
              <a:rPr lang="en-US" altLang="zh-TW"/>
              <a:t> and </a:t>
            </a:r>
            <a:r>
              <a:rPr lang="en-US" altLang="zh-TW" i="1"/>
              <a:t>x</a:t>
            </a:r>
            <a:r>
              <a:rPr lang="en-US" altLang="zh-TW" baseline="-25000"/>
              <a:t>2</a:t>
            </a:r>
            <a:r>
              <a:rPr lang="en-US" altLang="zh-TW"/>
              <a:t> = </a:t>
            </a:r>
            <a:r>
              <a:rPr lang="en-US" altLang="zh-TW" i="1"/>
              <a:t>s</a:t>
            </a:r>
            <a:r>
              <a:rPr lang="en-US" altLang="zh-TW"/>
              <a:t>, where </a:t>
            </a:r>
            <a:r>
              <a:rPr lang="en-US" altLang="zh-TW" i="1"/>
              <a:t>s</a:t>
            </a:r>
            <a:r>
              <a:rPr lang="en-US" altLang="zh-TW"/>
              <a:t> is a scalar. Thus the </a:t>
            </a:r>
            <a:r>
              <a:rPr lang="en-US" altLang="zh-TW" b="1"/>
              <a:t>eigenvectors</a:t>
            </a:r>
            <a:r>
              <a:rPr lang="en-US" altLang="zh-TW"/>
              <a:t> of </a:t>
            </a:r>
            <a:r>
              <a:rPr lang="en-US" altLang="zh-TW" i="1"/>
              <a:t>A</a:t>
            </a:r>
            <a:r>
              <a:rPr lang="en-US" altLang="zh-TW"/>
              <a:t> corresponding to </a:t>
            </a:r>
            <a:r>
              <a:rPr lang="en-US" altLang="zh-TW">
                <a:sym typeface="Symbol" panose="05050102010706020507" pitchFamily="18" charset="2"/>
              </a:rPr>
              <a:t> = </a:t>
            </a:r>
            <a:r>
              <a:rPr lang="en-US" altLang="zh-TW"/>
              <a:t>–1</a:t>
            </a:r>
            <a:r>
              <a:rPr lang="en-US" altLang="zh-TW">
                <a:sym typeface="Symbol" panose="05050102010706020507" pitchFamily="18" charset="2"/>
              </a:rPr>
              <a:t> are nonzero vectors of the form</a:t>
            </a:r>
          </a:p>
        </p:txBody>
      </p:sp>
      <p:graphicFrame>
        <p:nvGraphicFramePr>
          <p:cNvPr id="73734" name="Object 6"/>
          <p:cNvGraphicFramePr>
            <a:graphicFrameLocks noChangeAspect="1"/>
          </p:cNvGraphicFramePr>
          <p:nvPr/>
        </p:nvGraphicFramePr>
        <p:xfrm>
          <a:off x="5016500" y="3716339"/>
          <a:ext cx="1944688" cy="973137"/>
        </p:xfrm>
        <a:graphic>
          <a:graphicData uri="http://schemas.openxmlformats.org/presentationml/2006/ole">
            <mc:AlternateContent xmlns:mc="http://schemas.openxmlformats.org/markup-compatibility/2006">
              <mc:Choice xmlns:v="urn:schemas-microsoft-com:vml" Requires="v">
                <p:oleObj spid="_x0000_s27690" name="方程式" r:id="rId5" imgW="914400" imgH="457200" progId="Equation.3">
                  <p:embed/>
                </p:oleObj>
              </mc:Choice>
              <mc:Fallback>
                <p:oleObj name="方程式" r:id="rId5" imgW="914400" imgH="457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016500" y="3716339"/>
                        <a:ext cx="1944688" cy="973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3735" name="Object 7"/>
          <p:cNvGraphicFramePr>
            <a:graphicFrameLocks noChangeAspect="1"/>
          </p:cNvGraphicFramePr>
          <p:nvPr/>
        </p:nvGraphicFramePr>
        <p:xfrm>
          <a:off x="4892676" y="5907088"/>
          <a:ext cx="2957513" cy="819150"/>
        </p:xfrm>
        <a:graphic>
          <a:graphicData uri="http://schemas.openxmlformats.org/presentationml/2006/ole">
            <mc:AlternateContent xmlns:mc="http://schemas.openxmlformats.org/markup-compatibility/2006">
              <mc:Choice xmlns:v="urn:schemas-microsoft-com:vml" Requires="v">
                <p:oleObj spid="_x0000_s27691" name="Equation" r:id="rId7" imgW="1600200" imgH="444240" progId="Equation.DSMT4">
                  <p:embed/>
                </p:oleObj>
              </mc:Choice>
              <mc:Fallback>
                <p:oleObj name="Equation" r:id="rId7" imgW="1600200" imgH="444240" progId="Equation.DSMT4">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892676" y="5907088"/>
                        <a:ext cx="2957513" cy="819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120557991"/>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73731">
                                            <p:txEl>
                                              <p:pRg st="1" end="1"/>
                                            </p:txEl>
                                          </p:spTgt>
                                        </p:tgtEl>
                                        <p:attrNameLst>
                                          <p:attrName>style.visibility</p:attrName>
                                        </p:attrNameLst>
                                      </p:cBhvr>
                                      <p:to>
                                        <p:strVal val="visible"/>
                                      </p:to>
                                    </p:set>
                                    <p:anim calcmode="lin" valueType="num">
                                      <p:cBhvr additive="base">
                                        <p:cTn id="7" dur="500" fill="hold"/>
                                        <p:tgtEl>
                                          <p:spTgt spid="7373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73731">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4" fill="hold" nodeType="clickEffect">
                                  <p:stCondLst>
                                    <p:cond delay="0"/>
                                  </p:stCondLst>
                                  <p:childTnLst>
                                    <p:set>
                                      <p:cBhvr>
                                        <p:cTn id="12" dur="1" fill="hold">
                                          <p:stCondLst>
                                            <p:cond delay="0"/>
                                          </p:stCondLst>
                                        </p:cTn>
                                        <p:tgtEl>
                                          <p:spTgt spid="73731">
                                            <p:txEl>
                                              <p:pRg st="2" end="2"/>
                                            </p:txEl>
                                          </p:spTgt>
                                        </p:tgtEl>
                                        <p:attrNameLst>
                                          <p:attrName>style.visibility</p:attrName>
                                        </p:attrNameLst>
                                      </p:cBhvr>
                                      <p:to>
                                        <p:strVal val="visible"/>
                                      </p:to>
                                    </p:set>
                                    <p:anim calcmode="lin" valueType="num">
                                      <p:cBhvr additive="base">
                                        <p:cTn id="13" dur="500" fill="hold"/>
                                        <p:tgtEl>
                                          <p:spTgt spid="73731">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73731">
                                            <p:txEl>
                                              <p:pRg st="2" end="2"/>
                                            </p:txEl>
                                          </p:spTgt>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3732"/>
                                        </p:tgtEl>
                                        <p:attrNameLst>
                                          <p:attrName>style.visibility</p:attrName>
                                        </p:attrNameLst>
                                      </p:cBhvr>
                                      <p:to>
                                        <p:strVal val="visible"/>
                                      </p:to>
                                    </p:set>
                                    <p:anim calcmode="lin" valueType="num">
                                      <p:cBhvr additive="base">
                                        <p:cTn id="17" dur="500" fill="hold"/>
                                        <p:tgtEl>
                                          <p:spTgt spid="73732"/>
                                        </p:tgtEl>
                                        <p:attrNameLst>
                                          <p:attrName>ppt_x</p:attrName>
                                        </p:attrNameLst>
                                      </p:cBhvr>
                                      <p:tavLst>
                                        <p:tav tm="0">
                                          <p:val>
                                            <p:strVal val="#ppt_x"/>
                                          </p:val>
                                        </p:tav>
                                        <p:tav tm="100000">
                                          <p:val>
                                            <p:strVal val="#ppt_x"/>
                                          </p:val>
                                        </p:tav>
                                      </p:tavLst>
                                    </p:anim>
                                    <p:anim calcmode="lin" valueType="num">
                                      <p:cBhvr additive="base">
                                        <p:cTn id="18" dur="500" fill="hold"/>
                                        <p:tgtEl>
                                          <p:spTgt spid="73732"/>
                                        </p:tgtEl>
                                        <p:attrNameLst>
                                          <p:attrName>ppt_y</p:attrName>
                                        </p:attrNameLst>
                                      </p:cBhvr>
                                      <p:tavLst>
                                        <p:tav tm="0">
                                          <p:val>
                                            <p:strVal val="1+#ppt_h/2"/>
                                          </p:val>
                                        </p:tav>
                                        <p:tav tm="100000">
                                          <p:val>
                                            <p:strVal val="#ppt_y"/>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2" presetClass="entr" presetSubtype="4" fill="hold" nodeType="clickEffect">
                                  <p:stCondLst>
                                    <p:cond delay="0"/>
                                  </p:stCondLst>
                                  <p:childTnLst>
                                    <p:set>
                                      <p:cBhvr>
                                        <p:cTn id="22" dur="1" fill="hold">
                                          <p:stCondLst>
                                            <p:cond delay="0"/>
                                          </p:stCondLst>
                                        </p:cTn>
                                        <p:tgtEl>
                                          <p:spTgt spid="73733">
                                            <p:txEl>
                                              <p:pRg st="0" end="0"/>
                                            </p:txEl>
                                          </p:spTgt>
                                        </p:tgtEl>
                                        <p:attrNameLst>
                                          <p:attrName>style.visibility</p:attrName>
                                        </p:attrNameLst>
                                      </p:cBhvr>
                                      <p:to>
                                        <p:strVal val="visible"/>
                                      </p:to>
                                    </p:set>
                                    <p:anim calcmode="lin" valueType="num">
                                      <p:cBhvr additive="base">
                                        <p:cTn id="23" dur="500" fill="hold"/>
                                        <p:tgtEl>
                                          <p:spTgt spid="73733">
                                            <p:txEl>
                                              <p:pRg st="0" end="0"/>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73733">
                                            <p:txEl>
                                              <p:pRg st="0" end="0"/>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73734"/>
                                        </p:tgtEl>
                                        <p:attrNameLst>
                                          <p:attrName>style.visibility</p:attrName>
                                        </p:attrNameLst>
                                      </p:cBhvr>
                                      <p:to>
                                        <p:strVal val="visible"/>
                                      </p:to>
                                    </p:set>
                                    <p:anim calcmode="lin" valueType="num">
                                      <p:cBhvr additive="base">
                                        <p:cTn id="27" dur="500" fill="hold"/>
                                        <p:tgtEl>
                                          <p:spTgt spid="73734"/>
                                        </p:tgtEl>
                                        <p:attrNameLst>
                                          <p:attrName>ppt_x</p:attrName>
                                        </p:attrNameLst>
                                      </p:cBhvr>
                                      <p:tavLst>
                                        <p:tav tm="0">
                                          <p:val>
                                            <p:strVal val="#ppt_x"/>
                                          </p:val>
                                        </p:tav>
                                        <p:tav tm="100000">
                                          <p:val>
                                            <p:strVal val="#ppt_x"/>
                                          </p:val>
                                        </p:tav>
                                      </p:tavLst>
                                    </p:anim>
                                    <p:anim calcmode="lin" valueType="num">
                                      <p:cBhvr additive="base">
                                        <p:cTn id="28" dur="500" fill="hold"/>
                                        <p:tgtEl>
                                          <p:spTgt spid="73734"/>
                                        </p:tgtEl>
                                        <p:attrNameLst>
                                          <p:attrName>ppt_y</p:attrName>
                                        </p:attrNameLst>
                                      </p:cBhvr>
                                      <p:tavLst>
                                        <p:tav tm="0">
                                          <p:val>
                                            <p:strVal val="1+#ppt_h/2"/>
                                          </p:val>
                                        </p:tav>
                                        <p:tav tm="100000">
                                          <p:val>
                                            <p:strVal val="#ppt_y"/>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 presetClass="entr" presetSubtype="4" fill="hold" nodeType="clickEffect">
                                  <p:stCondLst>
                                    <p:cond delay="0"/>
                                  </p:stCondLst>
                                  <p:childTnLst>
                                    <p:set>
                                      <p:cBhvr>
                                        <p:cTn id="32" dur="1" fill="hold">
                                          <p:stCondLst>
                                            <p:cond delay="0"/>
                                          </p:stCondLst>
                                        </p:cTn>
                                        <p:tgtEl>
                                          <p:spTgt spid="73733">
                                            <p:txEl>
                                              <p:pRg st="4" end="4"/>
                                            </p:txEl>
                                          </p:spTgt>
                                        </p:tgtEl>
                                        <p:attrNameLst>
                                          <p:attrName>style.visibility</p:attrName>
                                        </p:attrNameLst>
                                      </p:cBhvr>
                                      <p:to>
                                        <p:strVal val="visible"/>
                                      </p:to>
                                    </p:set>
                                    <p:anim calcmode="lin" valueType="num">
                                      <p:cBhvr additive="base">
                                        <p:cTn id="33" dur="500" fill="hold"/>
                                        <p:tgtEl>
                                          <p:spTgt spid="73733">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73733">
                                            <p:txEl>
                                              <p:pRg st="4" end="4"/>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73735"/>
                                        </p:tgtEl>
                                        <p:attrNameLst>
                                          <p:attrName>style.visibility</p:attrName>
                                        </p:attrNameLst>
                                      </p:cBhvr>
                                      <p:to>
                                        <p:strVal val="visible"/>
                                      </p:to>
                                    </p:set>
                                    <p:anim calcmode="lin" valueType="num">
                                      <p:cBhvr additive="base">
                                        <p:cTn id="37" dur="500" fill="hold"/>
                                        <p:tgtEl>
                                          <p:spTgt spid="73735"/>
                                        </p:tgtEl>
                                        <p:attrNameLst>
                                          <p:attrName>ppt_x</p:attrName>
                                        </p:attrNameLst>
                                      </p:cBhvr>
                                      <p:tavLst>
                                        <p:tav tm="0">
                                          <p:val>
                                            <p:strVal val="#ppt_x"/>
                                          </p:val>
                                        </p:tav>
                                        <p:tav tm="100000">
                                          <p:val>
                                            <p:strVal val="#ppt_x"/>
                                          </p:val>
                                        </p:tav>
                                      </p:tavLst>
                                    </p:anim>
                                    <p:anim calcmode="lin" valueType="num">
                                      <p:cBhvr additive="base">
                                        <p:cTn id="38" dur="500" fill="hold"/>
                                        <p:tgtEl>
                                          <p:spTgt spid="7373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9" name="Slide Number Placeholder 3"/>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9DD8F080-6E9E-474E-AFD3-84179B9CC7EF}" type="slidenum">
              <a:rPr kumimoji="0" lang="en-US" altLang="zh-TW" sz="1400">
                <a:solidFill>
                  <a:srgbClr val="A50021"/>
                </a:solidFill>
              </a:rPr>
              <a:pPr eaLnBrk="1" hangingPunct="1"/>
              <a:t>64</a:t>
            </a:fld>
            <a:endParaRPr kumimoji="0" lang="en-US" altLang="zh-TW" sz="1400">
              <a:solidFill>
                <a:srgbClr val="A50021"/>
              </a:solidFill>
            </a:endParaRPr>
          </a:p>
        </p:txBody>
      </p:sp>
      <p:sp>
        <p:nvSpPr>
          <p:cNvPr id="6150" name="Rectangle 2"/>
          <p:cNvSpPr>
            <a:spLocks noGrp="1" noChangeArrowheads="1"/>
          </p:cNvSpPr>
          <p:nvPr>
            <p:ph type="title"/>
          </p:nvPr>
        </p:nvSpPr>
        <p:spPr>
          <a:xfrm>
            <a:off x="867737" y="-149617"/>
            <a:ext cx="10364451" cy="1596177"/>
          </a:xfrm>
        </p:spPr>
        <p:txBody>
          <a:bodyPr/>
          <a:lstStyle/>
          <a:p>
            <a:pPr eaLnBrk="1" hangingPunct="1"/>
            <a:r>
              <a:rPr lang="en-US" altLang="zh-TW" dirty="0" smtClean="0"/>
              <a:t>Example 2</a:t>
            </a:r>
          </a:p>
        </p:txBody>
      </p:sp>
      <p:sp>
        <p:nvSpPr>
          <p:cNvPr id="6151" name="Text Box 3"/>
          <p:cNvSpPr txBox="1">
            <a:spLocks noChangeArrowheads="1"/>
          </p:cNvSpPr>
          <p:nvPr/>
        </p:nvSpPr>
        <p:spPr bwMode="auto">
          <a:xfrm>
            <a:off x="2041526" y="914400"/>
            <a:ext cx="6481763"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solidFill>
                  <a:schemeClr val="tx2"/>
                </a:solidFill>
              </a:rPr>
              <a:t>Find the eigenvalues and eigenvectors of the matrix</a:t>
            </a:r>
          </a:p>
        </p:txBody>
      </p:sp>
      <p:graphicFrame>
        <p:nvGraphicFramePr>
          <p:cNvPr id="6146" name="Object 4"/>
          <p:cNvGraphicFramePr>
            <a:graphicFrameLocks noChangeAspect="1"/>
          </p:cNvGraphicFramePr>
          <p:nvPr/>
        </p:nvGraphicFramePr>
        <p:xfrm>
          <a:off x="4876800" y="1422400"/>
          <a:ext cx="1676400" cy="1168400"/>
        </p:xfrm>
        <a:graphic>
          <a:graphicData uri="http://schemas.openxmlformats.org/presentationml/2006/ole">
            <mc:AlternateContent xmlns:mc="http://schemas.openxmlformats.org/markup-compatibility/2006">
              <mc:Choice xmlns:v="urn:schemas-microsoft-com:vml" Requires="v">
                <p:oleObj spid="_x0000_s28713" name="Equation" r:id="rId3" imgW="1676160" imgH="1168200" progId="Equation.3">
                  <p:embed/>
                </p:oleObj>
              </mc:Choice>
              <mc:Fallback>
                <p:oleObj name="Equation" r:id="rId3" imgW="1676160" imgH="116820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876800" y="1422400"/>
                        <a:ext cx="1676400" cy="1168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11"/>
          <p:cNvGrpSpPr>
            <a:grpSpLocks/>
          </p:cNvGrpSpPr>
          <p:nvPr/>
        </p:nvGrpSpPr>
        <p:grpSpPr bwMode="auto">
          <a:xfrm>
            <a:off x="2041526" y="2514600"/>
            <a:ext cx="8093075" cy="2006600"/>
            <a:chOff x="326" y="1584"/>
            <a:chExt cx="5098" cy="1264"/>
          </a:xfrm>
        </p:grpSpPr>
        <p:sp>
          <p:nvSpPr>
            <p:cNvPr id="6155" name="Text Box 7"/>
            <p:cNvSpPr txBox="1">
              <a:spLocks noChangeArrowheads="1"/>
            </p:cNvSpPr>
            <p:nvPr/>
          </p:nvSpPr>
          <p:spPr bwMode="auto">
            <a:xfrm>
              <a:off x="336" y="1632"/>
              <a:ext cx="5088"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	       The matrix </a:t>
              </a:r>
              <a:r>
                <a:rPr lang="en-US" altLang="zh-TW" i="1"/>
                <a:t>A</a:t>
              </a:r>
              <a:r>
                <a:rPr lang="en-US" altLang="zh-TW"/>
                <a:t> – </a:t>
              </a:r>
              <a:r>
                <a:rPr lang="en-US" altLang="zh-TW">
                  <a:sym typeface="Symbol" panose="05050102010706020507" pitchFamily="18" charset="2"/>
                </a:rPr>
                <a:t></a:t>
              </a:r>
              <a:r>
                <a:rPr lang="en-US" altLang="zh-TW" i="1"/>
                <a:t>I</a:t>
              </a:r>
              <a:r>
                <a:rPr lang="en-US" altLang="zh-TW" baseline="-25000"/>
                <a:t>3</a:t>
              </a:r>
              <a:r>
                <a:rPr lang="en-US" altLang="zh-TW" i="1"/>
                <a:t> </a:t>
              </a:r>
              <a:r>
                <a:rPr lang="en-US" altLang="zh-TW"/>
                <a:t>is obtained by subtracting </a:t>
              </a:r>
              <a:r>
                <a:rPr lang="en-US" altLang="zh-TW">
                  <a:sym typeface="Symbol" panose="05050102010706020507" pitchFamily="18" charset="2"/>
                </a:rPr>
                <a:t> from the diagonal elements of </a:t>
              </a:r>
              <a:r>
                <a:rPr lang="en-US" altLang="zh-TW" i="1">
                  <a:sym typeface="Symbol" panose="05050102010706020507" pitchFamily="18" charset="2"/>
                </a:rPr>
                <a:t>A</a:t>
              </a:r>
              <a:r>
                <a:rPr lang="en-US" altLang="zh-TW">
                  <a:sym typeface="Symbol" panose="05050102010706020507" pitchFamily="18" charset="2"/>
                </a:rPr>
                <a:t>.Thus</a:t>
              </a:r>
            </a:p>
          </p:txBody>
        </p:sp>
        <p:sp>
          <p:nvSpPr>
            <p:cNvPr id="6156" name="Text Box 5"/>
            <p:cNvSpPr txBox="1">
              <a:spLocks noChangeArrowheads="1"/>
            </p:cNvSpPr>
            <p:nvPr/>
          </p:nvSpPr>
          <p:spPr bwMode="auto">
            <a:xfrm>
              <a:off x="326" y="1584"/>
              <a:ext cx="882" cy="288"/>
            </a:xfrm>
            <a:prstGeom prst="rect">
              <a:avLst/>
            </a:prstGeom>
            <a:gradFill rotWithShape="0">
              <a:gsLst>
                <a:gs pos="0">
                  <a:srgbClr val="969696"/>
                </a:gs>
                <a:gs pos="100000">
                  <a:schemeClr val="bg1"/>
                </a:gs>
              </a:gsLst>
              <a:lin ang="0" scaled="1"/>
            </a:gradFill>
            <a:ln>
              <a:noFill/>
            </a:ln>
            <a:extLs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b="1">
                  <a:solidFill>
                    <a:schemeClr val="tx2"/>
                  </a:solidFill>
                  <a:latin typeface="Arial" panose="020B0604020202020204" pitchFamily="34" charset="0"/>
                </a:rPr>
                <a:t>Solution</a:t>
              </a:r>
            </a:p>
          </p:txBody>
        </p:sp>
        <p:graphicFrame>
          <p:nvGraphicFramePr>
            <p:cNvPr id="6148" name="Object 6"/>
            <p:cNvGraphicFramePr>
              <a:graphicFrameLocks noChangeAspect="1"/>
            </p:cNvGraphicFramePr>
            <p:nvPr/>
          </p:nvGraphicFramePr>
          <p:xfrm>
            <a:off x="1776" y="2112"/>
            <a:ext cx="2208" cy="736"/>
          </p:xfrm>
          <a:graphic>
            <a:graphicData uri="http://schemas.openxmlformats.org/presentationml/2006/ole">
              <mc:AlternateContent xmlns:mc="http://schemas.openxmlformats.org/markup-compatibility/2006">
                <mc:Choice xmlns:v="urn:schemas-microsoft-com:vml" Requires="v">
                  <p:oleObj spid="_x0000_s28714" name="Equation" r:id="rId5" imgW="3504960" imgH="1168200" progId="Equation.3">
                    <p:embed/>
                  </p:oleObj>
                </mc:Choice>
                <mc:Fallback>
                  <p:oleObj name="Equation" r:id="rId5" imgW="3504960" imgH="116820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6" y="2112"/>
                          <a:ext cx="2208" cy="7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nvGrpSpPr>
          <p:cNvPr id="3" name="Group 12"/>
          <p:cNvGrpSpPr>
            <a:grpSpLocks/>
          </p:cNvGrpSpPr>
          <p:nvPr/>
        </p:nvGrpSpPr>
        <p:grpSpPr bwMode="auto">
          <a:xfrm>
            <a:off x="2041526" y="4537076"/>
            <a:ext cx="8016875" cy="1939925"/>
            <a:chOff x="326" y="2858"/>
            <a:chExt cx="5050" cy="1222"/>
          </a:xfrm>
        </p:grpSpPr>
        <p:graphicFrame>
          <p:nvGraphicFramePr>
            <p:cNvPr id="6147" name="Object 8"/>
            <p:cNvGraphicFramePr>
              <a:graphicFrameLocks noChangeAspect="1"/>
            </p:cNvGraphicFramePr>
            <p:nvPr/>
          </p:nvGraphicFramePr>
          <p:xfrm>
            <a:off x="656" y="3344"/>
            <a:ext cx="3712" cy="736"/>
          </p:xfrm>
          <a:graphic>
            <a:graphicData uri="http://schemas.openxmlformats.org/presentationml/2006/ole">
              <mc:AlternateContent xmlns:mc="http://schemas.openxmlformats.org/markup-compatibility/2006">
                <mc:Choice xmlns:v="urn:schemas-microsoft-com:vml" Requires="v">
                  <p:oleObj spid="_x0000_s28715" name="Equation" r:id="rId7" imgW="5892480" imgH="1168200" progId="Equation.3">
                    <p:embed/>
                  </p:oleObj>
                </mc:Choice>
                <mc:Fallback>
                  <p:oleObj name="Equation" r:id="rId7" imgW="5892480" imgH="1168200" progId="Equation.3">
                    <p:embed/>
                    <p:pic>
                      <p:nvPicPr>
                        <p:cNvPr id="0" name=""/>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56" y="3344"/>
                          <a:ext cx="3712" cy="7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154" name="Text Box 10"/>
            <p:cNvSpPr txBox="1">
              <a:spLocks noChangeArrowheads="1"/>
            </p:cNvSpPr>
            <p:nvPr/>
          </p:nvSpPr>
          <p:spPr bwMode="auto">
            <a:xfrm>
              <a:off x="326" y="2858"/>
              <a:ext cx="5050" cy="52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The characteristic polynomial of </a:t>
              </a:r>
              <a:r>
                <a:rPr lang="en-US" altLang="zh-TW" i="1"/>
                <a:t>A</a:t>
              </a:r>
              <a:r>
                <a:rPr lang="en-US" altLang="zh-TW"/>
                <a:t> is |</a:t>
              </a:r>
              <a:r>
                <a:rPr lang="en-US" altLang="zh-TW" i="1"/>
                <a:t>A</a:t>
              </a:r>
              <a:r>
                <a:rPr lang="en-US" altLang="zh-TW"/>
                <a:t> – </a:t>
              </a:r>
              <a:r>
                <a:rPr lang="en-US" altLang="zh-TW">
                  <a:sym typeface="Symbol" panose="05050102010706020507" pitchFamily="18" charset="2"/>
                </a:rPr>
                <a:t></a:t>
              </a:r>
              <a:r>
                <a:rPr lang="en-US" altLang="zh-TW" i="1"/>
                <a:t>I</a:t>
              </a:r>
              <a:r>
                <a:rPr lang="en-US" altLang="zh-TW" baseline="-25000"/>
                <a:t>3</a:t>
              </a:r>
              <a:r>
                <a:rPr lang="en-US" altLang="zh-TW"/>
                <a:t>|. Using row and column operations to simplify determinants, we get</a:t>
              </a:r>
            </a:p>
          </p:txBody>
        </p:sp>
      </p:grpSp>
    </p:spTree>
    <p:extLst>
      <p:ext uri="{BB962C8B-B14F-4D97-AF65-F5344CB8AC3E}">
        <p14:creationId xmlns:p14="http://schemas.microsoft.com/office/powerpoint/2010/main" val="273932369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ox(in)">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ox(in)">
                                      <p:cBhvr>
                                        <p:cTn id="12"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2"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5B3A6630-8519-4EB6-9A6B-732593DAB28B}" type="slidenum">
              <a:rPr kumimoji="0" lang="en-US" altLang="zh-TW" sz="1400">
                <a:solidFill>
                  <a:srgbClr val="A50021"/>
                </a:solidFill>
              </a:rPr>
              <a:pPr eaLnBrk="1" hangingPunct="1"/>
              <a:t>65</a:t>
            </a:fld>
            <a:endParaRPr kumimoji="0" lang="en-US" altLang="zh-TW" sz="1400">
              <a:solidFill>
                <a:srgbClr val="A50021"/>
              </a:solidFill>
            </a:endParaRPr>
          </a:p>
        </p:txBody>
      </p:sp>
      <p:graphicFrame>
        <p:nvGraphicFramePr>
          <p:cNvPr id="7170" name="Object 2"/>
          <p:cNvGraphicFramePr>
            <a:graphicFrameLocks noChangeAspect="1"/>
          </p:cNvGraphicFramePr>
          <p:nvPr/>
        </p:nvGraphicFramePr>
        <p:xfrm>
          <a:off x="2182814" y="688975"/>
          <a:ext cx="7107237" cy="2692400"/>
        </p:xfrm>
        <a:graphic>
          <a:graphicData uri="http://schemas.openxmlformats.org/presentationml/2006/ole">
            <mc:AlternateContent xmlns:mc="http://schemas.openxmlformats.org/markup-compatibility/2006">
              <mc:Choice xmlns:v="urn:schemas-microsoft-com:vml" Requires="v">
                <p:oleObj spid="_x0000_s29724" name="Equation" r:id="rId3" imgW="3581280" imgH="1358640" progId="Equation.3">
                  <p:embed/>
                </p:oleObj>
              </mc:Choice>
              <mc:Fallback>
                <p:oleObj name="Equation" r:id="rId3" imgW="3581280" imgH="135864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82814" y="688975"/>
                        <a:ext cx="7107237" cy="2692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5"/>
          <p:cNvGrpSpPr>
            <a:grpSpLocks/>
          </p:cNvGrpSpPr>
          <p:nvPr/>
        </p:nvGrpSpPr>
        <p:grpSpPr bwMode="auto">
          <a:xfrm>
            <a:off x="2041526" y="3200402"/>
            <a:ext cx="8093075" cy="2678113"/>
            <a:chOff x="326" y="2016"/>
            <a:chExt cx="5098" cy="1687"/>
          </a:xfrm>
        </p:grpSpPr>
        <p:sp>
          <p:nvSpPr>
            <p:cNvPr id="7174" name="Text Box 3"/>
            <p:cNvSpPr txBox="1">
              <a:spLocks noChangeArrowheads="1"/>
            </p:cNvSpPr>
            <p:nvPr/>
          </p:nvSpPr>
          <p:spPr bwMode="auto">
            <a:xfrm>
              <a:off x="326" y="2016"/>
              <a:ext cx="5098" cy="16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We now solving the characteristic equation of </a:t>
              </a:r>
              <a:r>
                <a:rPr lang="en-US" altLang="zh-TW" i="1"/>
                <a:t>A</a:t>
              </a:r>
              <a:r>
                <a:rPr lang="en-US" altLang="zh-TW"/>
                <a:t>:</a:t>
              </a:r>
            </a:p>
            <a:p>
              <a:pPr eaLnBrk="1" hangingPunct="1"/>
              <a:endParaRPr lang="en-US" altLang="zh-TW"/>
            </a:p>
            <a:p>
              <a:pPr eaLnBrk="1" hangingPunct="1"/>
              <a:endParaRPr lang="en-US" altLang="zh-TW"/>
            </a:p>
            <a:p>
              <a:pPr eaLnBrk="1" hangingPunct="1"/>
              <a:endParaRPr lang="en-US" altLang="zh-TW"/>
            </a:p>
            <a:p>
              <a:pPr eaLnBrk="1" hangingPunct="1"/>
              <a:r>
                <a:rPr lang="en-US" altLang="zh-TW"/>
                <a:t>The eigenvalues of </a:t>
              </a:r>
              <a:r>
                <a:rPr lang="en-US" altLang="zh-TW" i="1"/>
                <a:t>A</a:t>
              </a:r>
              <a:r>
                <a:rPr lang="en-US" altLang="zh-TW"/>
                <a:t> are 10 and 1.</a:t>
              </a:r>
            </a:p>
            <a:p>
              <a:pPr eaLnBrk="1" hangingPunct="1"/>
              <a:r>
                <a:rPr lang="en-US" altLang="zh-TW"/>
                <a:t>The corresponding eigenvectors are found by using three values of </a:t>
              </a:r>
              <a:r>
                <a:rPr lang="en-US" altLang="zh-TW">
                  <a:sym typeface="Symbol" panose="05050102010706020507" pitchFamily="18" charset="2"/>
                </a:rPr>
                <a:t> in the equation (</a:t>
              </a:r>
              <a:r>
                <a:rPr lang="en-US" altLang="zh-TW" i="1"/>
                <a:t>A</a:t>
              </a:r>
              <a:r>
                <a:rPr lang="en-US" altLang="zh-TW"/>
                <a:t> – </a:t>
              </a:r>
              <a:r>
                <a:rPr lang="en-US" altLang="zh-TW">
                  <a:sym typeface="Symbol" panose="05050102010706020507" pitchFamily="18" charset="2"/>
                </a:rPr>
                <a:t></a:t>
              </a:r>
              <a:r>
                <a:rPr lang="en-US" altLang="zh-TW" i="1"/>
                <a:t>I</a:t>
              </a:r>
              <a:r>
                <a:rPr lang="en-US" altLang="zh-TW" baseline="-25000"/>
                <a:t>3</a:t>
              </a:r>
              <a:r>
                <a:rPr lang="en-US" altLang="zh-TW">
                  <a:sym typeface="Symbol" panose="05050102010706020507" pitchFamily="18" charset="2"/>
                </a:rPr>
                <a:t>)</a:t>
              </a:r>
              <a:r>
                <a:rPr lang="en-US" altLang="zh-TW" b="1">
                  <a:sym typeface="Symbol" panose="05050102010706020507" pitchFamily="18" charset="2"/>
                </a:rPr>
                <a:t>x</a:t>
              </a:r>
              <a:r>
                <a:rPr lang="en-US" altLang="zh-TW">
                  <a:sym typeface="Symbol" panose="05050102010706020507" pitchFamily="18" charset="2"/>
                </a:rPr>
                <a:t> = </a:t>
              </a:r>
              <a:r>
                <a:rPr lang="en-US" altLang="zh-TW" b="1">
                  <a:sym typeface="Symbol" panose="05050102010706020507" pitchFamily="18" charset="2"/>
                </a:rPr>
                <a:t>0</a:t>
              </a:r>
              <a:r>
                <a:rPr lang="en-US" altLang="zh-TW">
                  <a:sym typeface="Symbol" panose="05050102010706020507" pitchFamily="18" charset="2"/>
                </a:rPr>
                <a:t>.</a:t>
              </a:r>
            </a:p>
          </p:txBody>
        </p:sp>
        <p:graphicFrame>
          <p:nvGraphicFramePr>
            <p:cNvPr id="7171" name="Object 4"/>
            <p:cNvGraphicFramePr>
              <a:graphicFrameLocks noChangeAspect="1"/>
            </p:cNvGraphicFramePr>
            <p:nvPr/>
          </p:nvGraphicFramePr>
          <p:xfrm>
            <a:off x="1892" y="2288"/>
            <a:ext cx="1976" cy="496"/>
          </p:xfrm>
          <a:graphic>
            <a:graphicData uri="http://schemas.openxmlformats.org/presentationml/2006/ole">
              <mc:AlternateContent xmlns:mc="http://schemas.openxmlformats.org/markup-compatibility/2006">
                <mc:Choice xmlns:v="urn:schemas-microsoft-com:vml" Requires="v">
                  <p:oleObj spid="_x0000_s29725" name="Equation" r:id="rId5" imgW="3136680" imgH="787320" progId="Equation.3">
                    <p:embed/>
                  </p:oleObj>
                </mc:Choice>
                <mc:Fallback>
                  <p:oleObj name="Equation" r:id="rId5" imgW="3136680" imgH="78732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92" y="2288"/>
                          <a:ext cx="1976" cy="4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25485263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6"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5A155368-9917-47DF-A733-C0AE41E1B954}" type="slidenum">
              <a:rPr kumimoji="0" lang="en-US" altLang="zh-TW" sz="1400">
                <a:solidFill>
                  <a:srgbClr val="A50021"/>
                </a:solidFill>
              </a:rPr>
              <a:pPr eaLnBrk="1" hangingPunct="1"/>
              <a:t>66</a:t>
            </a:fld>
            <a:endParaRPr kumimoji="0" lang="en-US" altLang="zh-TW" sz="1400">
              <a:solidFill>
                <a:srgbClr val="A50021"/>
              </a:solidFill>
            </a:endParaRPr>
          </a:p>
        </p:txBody>
      </p:sp>
      <p:sp>
        <p:nvSpPr>
          <p:cNvPr id="8197" name="Rectangle 3"/>
          <p:cNvSpPr>
            <a:spLocks noGrp="1" noChangeArrowheads="1"/>
          </p:cNvSpPr>
          <p:nvPr>
            <p:ph type="body" idx="4294967295"/>
          </p:nvPr>
        </p:nvSpPr>
        <p:spPr>
          <a:xfrm>
            <a:off x="2209800" y="990600"/>
            <a:ext cx="8001000" cy="2362200"/>
          </a:xfrm>
          <a:prstGeom prst="rect">
            <a:avLst/>
          </a:prstGeom>
        </p:spPr>
        <p:txBody>
          <a:bodyPr/>
          <a:lstStyle/>
          <a:p>
            <a:pPr eaLnBrk="1" hangingPunct="1"/>
            <a:r>
              <a:rPr lang="zh-TW" altLang="en-US" sz="2400">
                <a:latin typeface="Times New Roman" panose="02020603050405020304" pitchFamily="18" charset="0"/>
                <a:sym typeface="Symbol" panose="05050102010706020507" pitchFamily="18" charset="2"/>
              </a:rPr>
              <a:t></a:t>
            </a:r>
            <a:r>
              <a:rPr lang="en-US" altLang="zh-TW" sz="2400" baseline="-25000">
                <a:latin typeface="Times New Roman" panose="02020603050405020304" pitchFamily="18" charset="0"/>
                <a:sym typeface="Symbol" panose="05050102010706020507" pitchFamily="18" charset="2"/>
              </a:rPr>
              <a:t>1</a:t>
            </a:r>
            <a:r>
              <a:rPr lang="en-US" altLang="zh-TW" sz="2400">
                <a:latin typeface="Times New Roman" panose="02020603050405020304" pitchFamily="18" charset="0"/>
                <a:sym typeface="Symbol" panose="05050102010706020507" pitchFamily="18" charset="2"/>
              </a:rPr>
              <a:t> = </a:t>
            </a:r>
            <a:r>
              <a:rPr lang="en-US" altLang="zh-TW" sz="2400">
                <a:latin typeface="Times New Roman" panose="02020603050405020304" pitchFamily="18" charset="0"/>
              </a:rPr>
              <a:t>10</a:t>
            </a:r>
          </a:p>
          <a:p>
            <a:pPr eaLnBrk="1" hangingPunct="1">
              <a:buFontTx/>
              <a:buNone/>
            </a:pPr>
            <a:r>
              <a:rPr lang="zh-TW" altLang="en-US" sz="2400">
                <a:latin typeface="Times New Roman" panose="02020603050405020304" pitchFamily="18" charset="0"/>
              </a:rPr>
              <a:t>	</a:t>
            </a:r>
            <a:r>
              <a:rPr lang="en-US" altLang="zh-TW" sz="2400">
                <a:latin typeface="Times New Roman" panose="02020603050405020304" pitchFamily="18" charset="0"/>
              </a:rPr>
              <a:t>We get</a:t>
            </a:r>
          </a:p>
        </p:txBody>
      </p:sp>
      <p:graphicFrame>
        <p:nvGraphicFramePr>
          <p:cNvPr id="8194" name="Object 4"/>
          <p:cNvGraphicFramePr>
            <a:graphicFrameLocks noChangeAspect="1"/>
          </p:cNvGraphicFramePr>
          <p:nvPr/>
        </p:nvGraphicFramePr>
        <p:xfrm>
          <a:off x="4756150" y="2057400"/>
          <a:ext cx="2679700" cy="1498600"/>
        </p:xfrm>
        <a:graphic>
          <a:graphicData uri="http://schemas.openxmlformats.org/presentationml/2006/ole">
            <mc:AlternateContent xmlns:mc="http://schemas.openxmlformats.org/markup-compatibility/2006">
              <mc:Choice xmlns:v="urn:schemas-microsoft-com:vml" Requires="v">
                <p:oleObj spid="_x0000_s30748" name="Equation" r:id="rId3" imgW="2679480" imgH="1498320" progId="Equation.3">
                  <p:embed/>
                </p:oleObj>
              </mc:Choice>
              <mc:Fallback>
                <p:oleObj name="Equation" r:id="rId3" imgW="2679480" imgH="1498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56150" y="2057400"/>
                        <a:ext cx="2679700" cy="149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7"/>
          <p:cNvGrpSpPr>
            <a:grpSpLocks/>
          </p:cNvGrpSpPr>
          <p:nvPr/>
        </p:nvGrpSpPr>
        <p:grpSpPr bwMode="auto">
          <a:xfrm>
            <a:off x="2566989" y="3716339"/>
            <a:ext cx="7559675" cy="2498725"/>
            <a:chOff x="662" y="2330"/>
            <a:chExt cx="4762" cy="1574"/>
          </a:xfrm>
        </p:grpSpPr>
        <p:sp>
          <p:nvSpPr>
            <p:cNvPr id="8199" name="Text Box 5"/>
            <p:cNvSpPr txBox="1">
              <a:spLocks noChangeArrowheads="1"/>
            </p:cNvSpPr>
            <p:nvPr/>
          </p:nvSpPr>
          <p:spPr bwMode="auto">
            <a:xfrm>
              <a:off x="662" y="2330"/>
              <a:ext cx="4762"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The solution to this system of equations are </a:t>
              </a:r>
              <a:r>
                <a:rPr lang="en-US" altLang="zh-TW" i="1"/>
                <a:t>x</a:t>
              </a:r>
              <a:r>
                <a:rPr lang="en-US" altLang="zh-TW" baseline="-25000"/>
                <a:t>1</a:t>
              </a:r>
              <a:r>
                <a:rPr lang="en-US" altLang="zh-TW"/>
                <a:t> = 2</a:t>
              </a:r>
              <a:r>
                <a:rPr lang="en-US" altLang="zh-TW" i="1"/>
                <a:t>r</a:t>
              </a:r>
              <a:r>
                <a:rPr lang="en-US" altLang="zh-TW"/>
                <a:t>, </a:t>
              </a:r>
              <a:r>
                <a:rPr lang="en-US" altLang="zh-TW" i="1"/>
                <a:t>x</a:t>
              </a:r>
              <a:r>
                <a:rPr lang="en-US" altLang="zh-TW" baseline="-25000"/>
                <a:t>2</a:t>
              </a:r>
              <a:r>
                <a:rPr lang="en-US" altLang="zh-TW"/>
                <a:t> = 2</a:t>
              </a:r>
              <a:r>
                <a:rPr lang="en-US" altLang="zh-TW" i="1"/>
                <a:t>r</a:t>
              </a:r>
              <a:r>
                <a:rPr lang="en-US" altLang="zh-TW"/>
                <a:t>, and </a:t>
              </a:r>
              <a:r>
                <a:rPr lang="en-US" altLang="zh-TW" i="1"/>
                <a:t>x</a:t>
              </a:r>
              <a:r>
                <a:rPr lang="en-US" altLang="zh-TW" baseline="-25000"/>
                <a:t>3</a:t>
              </a:r>
              <a:r>
                <a:rPr lang="en-US" altLang="zh-TW"/>
                <a:t> = </a:t>
              </a:r>
              <a:r>
                <a:rPr lang="en-US" altLang="zh-TW" i="1"/>
                <a:t>r</a:t>
              </a:r>
              <a:r>
                <a:rPr lang="en-US" altLang="zh-TW"/>
                <a:t>, where </a:t>
              </a:r>
              <a:r>
                <a:rPr lang="en-US" altLang="zh-TW" i="1"/>
                <a:t>r</a:t>
              </a:r>
              <a:r>
                <a:rPr lang="en-US" altLang="zh-TW"/>
                <a:t> is a scalar.</a:t>
              </a:r>
            </a:p>
            <a:p>
              <a:pPr eaLnBrk="1" hangingPunct="1"/>
              <a:r>
                <a:rPr lang="en-US" altLang="zh-TW"/>
                <a:t>Thus the eigenspace of </a:t>
              </a:r>
              <a:r>
                <a:rPr lang="en-US" altLang="zh-TW">
                  <a:sym typeface="Symbol" panose="05050102010706020507" pitchFamily="18" charset="2"/>
                </a:rPr>
                <a:t></a:t>
              </a:r>
              <a:r>
                <a:rPr lang="en-US" altLang="zh-TW" baseline="-25000">
                  <a:sym typeface="Symbol" panose="05050102010706020507" pitchFamily="18" charset="2"/>
                </a:rPr>
                <a:t>1</a:t>
              </a:r>
              <a:r>
                <a:rPr lang="en-US" altLang="zh-TW">
                  <a:sym typeface="Symbol" panose="05050102010706020507" pitchFamily="18" charset="2"/>
                </a:rPr>
                <a:t> = 10 is the one-dimensional space of vectors of the form.</a:t>
              </a:r>
            </a:p>
          </p:txBody>
        </p:sp>
        <p:graphicFrame>
          <p:nvGraphicFramePr>
            <p:cNvPr id="8195" name="Object 6"/>
            <p:cNvGraphicFramePr>
              <a:graphicFrameLocks noChangeAspect="1"/>
            </p:cNvGraphicFramePr>
            <p:nvPr/>
          </p:nvGraphicFramePr>
          <p:xfrm>
            <a:off x="2692" y="3072"/>
            <a:ext cx="376" cy="832"/>
          </p:xfrm>
          <a:graphic>
            <a:graphicData uri="http://schemas.openxmlformats.org/presentationml/2006/ole">
              <mc:AlternateContent xmlns:mc="http://schemas.openxmlformats.org/markup-compatibility/2006">
                <mc:Choice xmlns:v="urn:schemas-microsoft-com:vml" Requires="v">
                  <p:oleObj spid="_x0000_s30749" name="Equation" r:id="rId5" imgW="596880" imgH="1320480" progId="Equation.3">
                    <p:embed/>
                  </p:oleObj>
                </mc:Choice>
                <mc:Fallback>
                  <p:oleObj name="Equation" r:id="rId5" imgW="596880" imgH="1320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92" y="3072"/>
                          <a:ext cx="376" cy="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119401569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20" name="Slide Number Placeholder 4"/>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CA7F6A5B-B278-453E-95CD-DEB27058A596}" type="slidenum">
              <a:rPr kumimoji="0" lang="en-US" altLang="zh-TW" sz="1400">
                <a:solidFill>
                  <a:srgbClr val="A50021"/>
                </a:solidFill>
              </a:rPr>
              <a:pPr eaLnBrk="1" hangingPunct="1"/>
              <a:t>67</a:t>
            </a:fld>
            <a:endParaRPr kumimoji="0" lang="en-US" altLang="zh-TW" sz="1400">
              <a:solidFill>
                <a:srgbClr val="A50021"/>
              </a:solidFill>
            </a:endParaRPr>
          </a:p>
        </p:txBody>
      </p:sp>
      <p:sp>
        <p:nvSpPr>
          <p:cNvPr id="9221" name="Rectangle 3"/>
          <p:cNvSpPr>
            <a:spLocks noGrp="1" noChangeArrowheads="1"/>
          </p:cNvSpPr>
          <p:nvPr>
            <p:ph type="body" idx="4294967295"/>
          </p:nvPr>
        </p:nvSpPr>
        <p:spPr>
          <a:xfrm>
            <a:off x="2209800" y="990600"/>
            <a:ext cx="8001000" cy="1524000"/>
          </a:xfrm>
          <a:prstGeom prst="rect">
            <a:avLst/>
          </a:prstGeom>
        </p:spPr>
        <p:txBody>
          <a:bodyPr/>
          <a:lstStyle/>
          <a:p>
            <a:pPr eaLnBrk="1" hangingPunct="1"/>
            <a:r>
              <a:rPr lang="zh-TW" altLang="en-US" sz="2400">
                <a:latin typeface="Times New Roman" panose="02020603050405020304" pitchFamily="18" charset="0"/>
                <a:sym typeface="Symbol" panose="05050102010706020507" pitchFamily="18" charset="2"/>
              </a:rPr>
              <a:t></a:t>
            </a:r>
            <a:r>
              <a:rPr lang="en-US" altLang="zh-TW" sz="2400" baseline="-25000">
                <a:latin typeface="Times New Roman" panose="02020603050405020304" pitchFamily="18" charset="0"/>
                <a:sym typeface="Symbol" panose="05050102010706020507" pitchFamily="18" charset="2"/>
              </a:rPr>
              <a:t>2</a:t>
            </a:r>
            <a:r>
              <a:rPr lang="en-US" altLang="zh-TW" sz="2400">
                <a:latin typeface="Times New Roman" panose="02020603050405020304" pitchFamily="18" charset="0"/>
                <a:sym typeface="Symbol" panose="05050102010706020507" pitchFamily="18" charset="2"/>
              </a:rPr>
              <a:t> = </a:t>
            </a:r>
            <a:r>
              <a:rPr lang="en-US" altLang="zh-TW" sz="2400">
                <a:latin typeface="Times New Roman" panose="02020603050405020304" pitchFamily="18" charset="0"/>
              </a:rPr>
              <a:t>1</a:t>
            </a:r>
          </a:p>
          <a:p>
            <a:pPr eaLnBrk="1" hangingPunct="1">
              <a:buFontTx/>
              <a:buNone/>
            </a:pPr>
            <a:r>
              <a:rPr lang="en-US" altLang="zh-TW" sz="2400">
                <a:latin typeface="Times New Roman" panose="02020603050405020304" pitchFamily="18" charset="0"/>
              </a:rPr>
              <a:t>	Let </a:t>
            </a:r>
            <a:r>
              <a:rPr lang="en-US" altLang="zh-TW" sz="2400">
                <a:latin typeface="Times New Roman" panose="02020603050405020304" pitchFamily="18" charset="0"/>
                <a:sym typeface="Symbol" panose="05050102010706020507" pitchFamily="18" charset="2"/>
              </a:rPr>
              <a:t> = 1 in (</a:t>
            </a:r>
            <a:r>
              <a:rPr lang="en-US" altLang="zh-TW" sz="2400" i="1">
                <a:latin typeface="Times New Roman" panose="02020603050405020304" pitchFamily="18" charset="0"/>
              </a:rPr>
              <a:t>A</a:t>
            </a:r>
            <a:r>
              <a:rPr lang="en-US" altLang="zh-TW" sz="2400">
                <a:latin typeface="Times New Roman" panose="02020603050405020304" pitchFamily="18" charset="0"/>
              </a:rPr>
              <a:t> – </a:t>
            </a:r>
            <a:r>
              <a:rPr lang="en-US" altLang="zh-TW" sz="2400">
                <a:latin typeface="Times New Roman" panose="02020603050405020304" pitchFamily="18" charset="0"/>
                <a:sym typeface="Symbol" panose="05050102010706020507" pitchFamily="18" charset="2"/>
              </a:rPr>
              <a:t></a:t>
            </a:r>
            <a:r>
              <a:rPr lang="en-US" altLang="zh-TW" sz="2400" i="1">
                <a:latin typeface="Times New Roman" panose="02020603050405020304" pitchFamily="18" charset="0"/>
              </a:rPr>
              <a:t>I</a:t>
            </a:r>
            <a:r>
              <a:rPr lang="en-US" altLang="zh-TW" sz="2400" baseline="-25000">
                <a:latin typeface="Times New Roman" panose="02020603050405020304" pitchFamily="18" charset="0"/>
              </a:rPr>
              <a:t>3</a:t>
            </a:r>
            <a:r>
              <a:rPr lang="en-US" altLang="zh-TW" sz="2400">
                <a:latin typeface="Times New Roman" panose="02020603050405020304" pitchFamily="18" charset="0"/>
              </a:rPr>
              <a:t>)</a:t>
            </a:r>
            <a:r>
              <a:rPr lang="en-US" altLang="zh-TW" sz="2400" b="1">
                <a:latin typeface="Times New Roman" panose="02020603050405020304" pitchFamily="18" charset="0"/>
              </a:rPr>
              <a:t>x</a:t>
            </a:r>
            <a:r>
              <a:rPr lang="en-US" altLang="zh-TW" sz="2400">
                <a:latin typeface="Times New Roman" panose="02020603050405020304" pitchFamily="18" charset="0"/>
              </a:rPr>
              <a:t> = </a:t>
            </a:r>
            <a:r>
              <a:rPr lang="en-US" altLang="zh-TW" sz="2400" b="1">
                <a:latin typeface="Times New Roman" panose="02020603050405020304" pitchFamily="18" charset="0"/>
              </a:rPr>
              <a:t>0</a:t>
            </a:r>
            <a:r>
              <a:rPr lang="en-US" altLang="zh-TW" sz="2400">
                <a:latin typeface="Times New Roman" panose="02020603050405020304" pitchFamily="18" charset="0"/>
              </a:rPr>
              <a:t>. We get</a:t>
            </a:r>
          </a:p>
        </p:txBody>
      </p:sp>
      <p:graphicFrame>
        <p:nvGraphicFramePr>
          <p:cNvPr id="9218" name="Object 4"/>
          <p:cNvGraphicFramePr>
            <a:graphicFrameLocks noChangeAspect="1"/>
          </p:cNvGraphicFramePr>
          <p:nvPr/>
        </p:nvGraphicFramePr>
        <p:xfrm>
          <a:off x="5029200" y="1981200"/>
          <a:ext cx="2133600" cy="1498600"/>
        </p:xfrm>
        <a:graphic>
          <a:graphicData uri="http://schemas.openxmlformats.org/presentationml/2006/ole">
            <mc:AlternateContent xmlns:mc="http://schemas.openxmlformats.org/markup-compatibility/2006">
              <mc:Choice xmlns:v="urn:schemas-microsoft-com:vml" Requires="v">
                <p:oleObj spid="_x0000_s31772" name="Equation" r:id="rId3" imgW="2133360" imgH="1498320" progId="Equation.3">
                  <p:embed/>
                </p:oleObj>
              </mc:Choice>
              <mc:Fallback>
                <p:oleObj name="Equation" r:id="rId3" imgW="2133360" imgH="149832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29200" y="1981200"/>
                        <a:ext cx="2133600" cy="149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 name="Group 7"/>
          <p:cNvGrpSpPr>
            <a:grpSpLocks/>
          </p:cNvGrpSpPr>
          <p:nvPr/>
        </p:nvGrpSpPr>
        <p:grpSpPr bwMode="auto">
          <a:xfrm>
            <a:off x="2574926" y="3552826"/>
            <a:ext cx="7559675" cy="2771775"/>
            <a:chOff x="662" y="2238"/>
            <a:chExt cx="4762" cy="1746"/>
          </a:xfrm>
        </p:grpSpPr>
        <p:sp>
          <p:nvSpPr>
            <p:cNvPr id="9223" name="Text Box 5"/>
            <p:cNvSpPr txBox="1">
              <a:spLocks noChangeArrowheads="1"/>
            </p:cNvSpPr>
            <p:nvPr/>
          </p:nvSpPr>
          <p:spPr bwMode="auto">
            <a:xfrm>
              <a:off x="662" y="2238"/>
              <a:ext cx="4762" cy="9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The solution to this system of equations can be shown to be </a:t>
              </a:r>
              <a:r>
                <a:rPr lang="en-US" altLang="zh-TW" i="1"/>
                <a:t>x</a:t>
              </a:r>
              <a:r>
                <a:rPr lang="en-US" altLang="zh-TW" baseline="-25000"/>
                <a:t>1</a:t>
              </a:r>
              <a:r>
                <a:rPr lang="en-US" altLang="zh-TW"/>
                <a:t> = – </a:t>
              </a:r>
              <a:r>
                <a:rPr lang="en-US" altLang="zh-TW" i="1"/>
                <a:t>s</a:t>
              </a:r>
              <a:r>
                <a:rPr lang="en-US" altLang="zh-TW"/>
                <a:t> – </a:t>
              </a:r>
              <a:r>
                <a:rPr lang="en-US" altLang="zh-TW" i="1"/>
                <a:t>t</a:t>
              </a:r>
              <a:r>
                <a:rPr lang="en-US" altLang="zh-TW"/>
                <a:t>, </a:t>
              </a:r>
              <a:r>
                <a:rPr lang="en-US" altLang="zh-TW" i="1"/>
                <a:t>x</a:t>
              </a:r>
              <a:r>
                <a:rPr lang="en-US" altLang="zh-TW" baseline="-25000"/>
                <a:t>2</a:t>
              </a:r>
              <a:r>
                <a:rPr lang="en-US" altLang="zh-TW"/>
                <a:t> = </a:t>
              </a:r>
              <a:r>
                <a:rPr lang="en-US" altLang="zh-TW" i="1"/>
                <a:t>s</a:t>
              </a:r>
              <a:r>
                <a:rPr lang="en-US" altLang="zh-TW"/>
                <a:t>, and </a:t>
              </a:r>
              <a:r>
                <a:rPr lang="en-US" altLang="zh-TW" i="1"/>
                <a:t>x</a:t>
              </a:r>
              <a:r>
                <a:rPr lang="en-US" altLang="zh-TW" baseline="-25000"/>
                <a:t>3</a:t>
              </a:r>
              <a:r>
                <a:rPr lang="en-US" altLang="zh-TW"/>
                <a:t> = 2</a:t>
              </a:r>
              <a:r>
                <a:rPr lang="en-US" altLang="zh-TW" i="1"/>
                <a:t>t</a:t>
              </a:r>
              <a:r>
                <a:rPr lang="en-US" altLang="zh-TW"/>
                <a:t>, where </a:t>
              </a:r>
              <a:r>
                <a:rPr lang="en-US" altLang="zh-TW" i="1"/>
                <a:t>s</a:t>
              </a:r>
              <a:r>
                <a:rPr lang="en-US" altLang="zh-TW"/>
                <a:t> and </a:t>
              </a:r>
              <a:r>
                <a:rPr lang="en-US" altLang="zh-TW" i="1"/>
                <a:t>t</a:t>
              </a:r>
              <a:r>
                <a:rPr lang="en-US" altLang="zh-TW"/>
                <a:t> are scalars. Thus the eigenspace of </a:t>
              </a:r>
              <a:r>
                <a:rPr lang="en-US" altLang="zh-TW">
                  <a:sym typeface="Symbol" panose="05050102010706020507" pitchFamily="18" charset="2"/>
                </a:rPr>
                <a:t></a:t>
              </a:r>
              <a:r>
                <a:rPr lang="en-US" altLang="zh-TW" baseline="-25000">
                  <a:sym typeface="Symbol" panose="05050102010706020507" pitchFamily="18" charset="2"/>
                </a:rPr>
                <a:t>2</a:t>
              </a:r>
              <a:r>
                <a:rPr lang="en-US" altLang="zh-TW">
                  <a:sym typeface="Symbol" panose="05050102010706020507" pitchFamily="18" charset="2"/>
                </a:rPr>
                <a:t> = 1 is the space of vectors of the form.</a:t>
              </a:r>
            </a:p>
          </p:txBody>
        </p:sp>
        <p:graphicFrame>
          <p:nvGraphicFramePr>
            <p:cNvPr id="9219" name="Object 6"/>
            <p:cNvGraphicFramePr>
              <a:graphicFrameLocks noChangeAspect="1"/>
            </p:cNvGraphicFramePr>
            <p:nvPr/>
          </p:nvGraphicFramePr>
          <p:xfrm>
            <a:off x="2560" y="3152"/>
            <a:ext cx="640" cy="832"/>
          </p:xfrm>
          <a:graphic>
            <a:graphicData uri="http://schemas.openxmlformats.org/presentationml/2006/ole">
              <mc:AlternateContent xmlns:mc="http://schemas.openxmlformats.org/markup-compatibility/2006">
                <mc:Choice xmlns:v="urn:schemas-microsoft-com:vml" Requires="v">
                  <p:oleObj spid="_x0000_s31773" name="Equation" r:id="rId5" imgW="1015920" imgH="1320480" progId="Equation.3">
                    <p:embed/>
                  </p:oleObj>
                </mc:Choice>
                <mc:Fallback>
                  <p:oleObj name="Equation" r:id="rId5" imgW="1015920" imgH="132048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60" y="3152"/>
                          <a:ext cx="640" cy="83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spTree>
    <p:extLst>
      <p:ext uri="{BB962C8B-B14F-4D97-AF65-F5344CB8AC3E}">
        <p14:creationId xmlns:p14="http://schemas.microsoft.com/office/powerpoint/2010/main" val="3017912408"/>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0-#ppt_w/2"/>
                                          </p:val>
                                        </p:tav>
                                        <p:tav tm="100000">
                                          <p:val>
                                            <p:strVal val="#ppt_x"/>
                                          </p:val>
                                        </p:tav>
                                      </p:tavLst>
                                    </p:anim>
                                    <p:anim calcmode="lin" valueType="num">
                                      <p:cBhvr additive="base">
                                        <p:cTn id="8" dur="500" fill="hold"/>
                                        <p:tgtEl>
                                          <p:spTgt spid="2"/>
                                        </p:tgtEl>
                                        <p:attrNameLst>
                                          <p:attrName>ppt_y</p:attrName>
                                        </p:attrNameLst>
                                      </p:cBhvr>
                                      <p:tavLst>
                                        <p:tav tm="0">
                                          <p:val>
                                            <p:strVal val="#ppt_y"/>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Slide Number Placeholder 2"/>
          <p:cNvSpPr>
            <a:spLocks noGrp="1"/>
          </p:cNvSpPr>
          <p:nvPr>
            <p:ph type="sldNum" sz="quarter" idx="1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kumimoji="0" lang="en-US" altLang="zh-TW" sz="1400">
                <a:solidFill>
                  <a:srgbClr val="A50021"/>
                </a:solidFill>
              </a:rPr>
              <a:t>Ch5_</a:t>
            </a:r>
            <a:fld id="{CB8F17F7-FF98-4E67-8B6D-9430CD10FD5D}" type="slidenum">
              <a:rPr kumimoji="0" lang="en-US" altLang="zh-TW" sz="1400">
                <a:solidFill>
                  <a:srgbClr val="A50021"/>
                </a:solidFill>
              </a:rPr>
              <a:pPr eaLnBrk="1" hangingPunct="1"/>
              <a:t>68</a:t>
            </a:fld>
            <a:endParaRPr kumimoji="0" lang="en-US" altLang="zh-TW" sz="1400">
              <a:solidFill>
                <a:srgbClr val="A50021"/>
              </a:solidFill>
            </a:endParaRPr>
          </a:p>
        </p:txBody>
      </p:sp>
      <p:sp>
        <p:nvSpPr>
          <p:cNvPr id="10245" name="Text Box 2"/>
          <p:cNvSpPr txBox="1">
            <a:spLocks noChangeArrowheads="1"/>
          </p:cNvSpPr>
          <p:nvPr/>
        </p:nvSpPr>
        <p:spPr bwMode="auto">
          <a:xfrm>
            <a:off x="2117726" y="1031876"/>
            <a:ext cx="8093075" cy="2678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Separating the parameters </a:t>
            </a:r>
            <a:r>
              <a:rPr lang="en-US" altLang="zh-TW" i="1"/>
              <a:t>s</a:t>
            </a:r>
            <a:r>
              <a:rPr lang="en-US" altLang="zh-TW"/>
              <a:t> and </a:t>
            </a:r>
            <a:r>
              <a:rPr lang="en-US" altLang="zh-TW" i="1"/>
              <a:t>t</a:t>
            </a:r>
            <a:r>
              <a:rPr lang="en-US" altLang="zh-TW"/>
              <a:t>, we can write</a:t>
            </a:r>
          </a:p>
          <a:p>
            <a:pPr eaLnBrk="1" hangingPunct="1"/>
            <a:endParaRPr lang="en-US" altLang="zh-TW"/>
          </a:p>
          <a:p>
            <a:pPr eaLnBrk="1" hangingPunct="1"/>
            <a:endParaRPr lang="en-US" altLang="zh-TW"/>
          </a:p>
          <a:p>
            <a:pPr eaLnBrk="1" hangingPunct="1"/>
            <a:endParaRPr lang="en-US" altLang="zh-TW"/>
          </a:p>
          <a:p>
            <a:pPr eaLnBrk="1" hangingPunct="1"/>
            <a:endParaRPr lang="en-US" altLang="zh-TW"/>
          </a:p>
          <a:p>
            <a:pPr eaLnBrk="1" hangingPunct="1"/>
            <a:r>
              <a:rPr lang="en-US" altLang="zh-TW"/>
              <a:t>Thus the eigenspace of </a:t>
            </a:r>
            <a:r>
              <a:rPr lang="en-US" altLang="zh-TW">
                <a:sym typeface="Symbol" panose="05050102010706020507" pitchFamily="18" charset="2"/>
              </a:rPr>
              <a:t> = 1 is a two-dimensional subspace of </a:t>
            </a:r>
            <a:r>
              <a:rPr lang="en-US" altLang="zh-TW" b="1">
                <a:sym typeface="Symbol" panose="05050102010706020507" pitchFamily="18" charset="2"/>
              </a:rPr>
              <a:t>R</a:t>
            </a:r>
            <a:r>
              <a:rPr lang="en-US" altLang="zh-TW" baseline="30000">
                <a:sym typeface="Symbol" panose="05050102010706020507" pitchFamily="18" charset="2"/>
              </a:rPr>
              <a:t>3</a:t>
            </a:r>
            <a:r>
              <a:rPr lang="en-US" altLang="zh-TW">
                <a:sym typeface="Symbol" panose="05050102010706020507" pitchFamily="18" charset="2"/>
              </a:rPr>
              <a:t> with basis</a:t>
            </a:r>
          </a:p>
        </p:txBody>
      </p:sp>
      <p:graphicFrame>
        <p:nvGraphicFramePr>
          <p:cNvPr id="10242" name="Object 3"/>
          <p:cNvGraphicFramePr>
            <a:graphicFrameLocks noChangeAspect="1"/>
          </p:cNvGraphicFramePr>
          <p:nvPr/>
        </p:nvGraphicFramePr>
        <p:xfrm>
          <a:off x="4724400" y="1524000"/>
          <a:ext cx="2984500" cy="1320800"/>
        </p:xfrm>
        <a:graphic>
          <a:graphicData uri="http://schemas.openxmlformats.org/presentationml/2006/ole">
            <mc:AlternateContent xmlns:mc="http://schemas.openxmlformats.org/markup-compatibility/2006">
              <mc:Choice xmlns:v="urn:schemas-microsoft-com:vml" Requires="v">
                <p:oleObj spid="_x0000_s32796" name="Equation" r:id="rId3" imgW="2984400" imgH="1320480" progId="Equation.3">
                  <p:embed/>
                </p:oleObj>
              </mc:Choice>
              <mc:Fallback>
                <p:oleObj name="Equation" r:id="rId3" imgW="2984400" imgH="1320480" progId="Equation.3">
                  <p:embed/>
                  <p:pic>
                    <p:nvPicPr>
                      <p:cNvPr id="0" name=""/>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24400" y="1524000"/>
                        <a:ext cx="2984500" cy="1320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243" name="Object 4"/>
          <p:cNvGraphicFramePr>
            <a:graphicFrameLocks noChangeAspect="1"/>
          </p:cNvGraphicFramePr>
          <p:nvPr/>
        </p:nvGraphicFramePr>
        <p:xfrm>
          <a:off x="5334000" y="3733800"/>
          <a:ext cx="1625600" cy="1346200"/>
        </p:xfrm>
        <a:graphic>
          <a:graphicData uri="http://schemas.openxmlformats.org/presentationml/2006/ole">
            <mc:AlternateContent xmlns:mc="http://schemas.openxmlformats.org/markup-compatibility/2006">
              <mc:Choice xmlns:v="urn:schemas-microsoft-com:vml" Requires="v">
                <p:oleObj spid="_x0000_s32797" name="Microsoft 方程式編輯器 3.0" r:id="rId5" imgW="1625400" imgH="1346040" progId="Equation.3">
                  <p:embed/>
                </p:oleObj>
              </mc:Choice>
              <mc:Fallback>
                <p:oleObj name="Microsoft 方程式編輯器 3.0" r:id="rId5" imgW="1625400" imgH="1346040" progId="Equation.3">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4000" y="3733800"/>
                        <a:ext cx="1625600" cy="1346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0901" name="Text Box 5"/>
          <p:cNvSpPr txBox="1">
            <a:spLocks noChangeArrowheads="1"/>
          </p:cNvSpPr>
          <p:nvPr/>
        </p:nvSpPr>
        <p:spPr bwMode="auto">
          <a:xfrm>
            <a:off x="2187576" y="5105400"/>
            <a:ext cx="7465505" cy="15696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anose="02020603050405020304" pitchFamily="18" charset="0"/>
                <a:ea typeface="新細明體" pitchFamily="18" charset="-120"/>
              </a:defRPr>
            </a:lvl1pPr>
            <a:lvl2pPr marL="742950" indent="-285750" eaLnBrk="0" hangingPunct="0">
              <a:defRPr kumimoji="1" sz="2400">
                <a:solidFill>
                  <a:schemeClr val="tx1"/>
                </a:solidFill>
                <a:latin typeface="Times New Roman" panose="02020603050405020304" pitchFamily="18" charset="0"/>
                <a:ea typeface="新細明體" pitchFamily="18" charset="-120"/>
              </a:defRPr>
            </a:lvl2pPr>
            <a:lvl3pPr marL="1143000" indent="-228600" eaLnBrk="0" hangingPunct="0">
              <a:defRPr kumimoji="1" sz="2400">
                <a:solidFill>
                  <a:schemeClr val="tx1"/>
                </a:solidFill>
                <a:latin typeface="Times New Roman" panose="02020603050405020304" pitchFamily="18" charset="0"/>
                <a:ea typeface="新細明體" pitchFamily="18" charset="-120"/>
              </a:defRPr>
            </a:lvl3pPr>
            <a:lvl4pPr marL="1600200" indent="-228600" eaLnBrk="0" hangingPunct="0">
              <a:defRPr kumimoji="1" sz="2400">
                <a:solidFill>
                  <a:schemeClr val="tx1"/>
                </a:solidFill>
                <a:latin typeface="Times New Roman" panose="02020603050405020304" pitchFamily="18" charset="0"/>
                <a:ea typeface="新細明體" pitchFamily="18" charset="-120"/>
              </a:defRPr>
            </a:lvl4pPr>
            <a:lvl5pPr marL="2057400" indent="-228600" eaLnBrk="0" hangingPunct="0">
              <a:defRPr kumimoji="1" sz="2400">
                <a:solidFill>
                  <a:schemeClr val="tx1"/>
                </a:solidFill>
                <a:latin typeface="Times New Roman" panose="02020603050405020304" pitchFamily="18" charset="0"/>
                <a:ea typeface="新細明體" pitchFamily="18" charset="-120"/>
              </a:defRPr>
            </a:lvl5pPr>
            <a:lvl6pPr marL="25146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6pPr>
            <a:lvl7pPr marL="29718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7pPr>
            <a:lvl8pPr marL="34290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8pPr>
            <a:lvl9pPr marL="3886200" indent="-228600" eaLnBrk="0" fontAlgn="base" hangingPunct="0">
              <a:spcBef>
                <a:spcPct val="0"/>
              </a:spcBef>
              <a:spcAft>
                <a:spcPct val="0"/>
              </a:spcAft>
              <a:defRPr kumimoji="1" sz="2400">
                <a:solidFill>
                  <a:schemeClr val="tx1"/>
                </a:solidFill>
                <a:latin typeface="Times New Roman" panose="02020603050405020304" pitchFamily="18" charset="0"/>
                <a:ea typeface="新細明體" pitchFamily="18" charset="-120"/>
              </a:defRPr>
            </a:lvl9pPr>
          </a:lstStyle>
          <a:p>
            <a:pPr eaLnBrk="1" hangingPunct="1"/>
            <a:r>
              <a:rPr lang="en-US" altLang="zh-TW"/>
              <a:t>If an eigenvalue occurs as a </a:t>
            </a:r>
            <a:r>
              <a:rPr lang="en-US" altLang="zh-TW" i="1"/>
              <a:t>k</a:t>
            </a:r>
            <a:r>
              <a:rPr lang="en-US" altLang="zh-TW"/>
              <a:t> times repeated root of the </a:t>
            </a:r>
            <a:br>
              <a:rPr lang="en-US" altLang="zh-TW"/>
            </a:br>
            <a:r>
              <a:rPr lang="en-US" altLang="zh-TW"/>
              <a:t>characteristic equation, we say that it is of </a:t>
            </a:r>
            <a:r>
              <a:rPr lang="en-US" altLang="zh-TW" b="1">
                <a:solidFill>
                  <a:srgbClr val="0000FF"/>
                </a:solidFill>
              </a:rPr>
              <a:t>multiplicity </a:t>
            </a:r>
            <a:r>
              <a:rPr lang="en-US" altLang="zh-TW" i="1"/>
              <a:t>k</a:t>
            </a:r>
            <a:r>
              <a:rPr lang="en-US" altLang="zh-TW"/>
              <a:t>. </a:t>
            </a:r>
            <a:br>
              <a:rPr lang="en-US" altLang="zh-TW"/>
            </a:br>
            <a:r>
              <a:rPr lang="en-US" altLang="zh-TW"/>
              <a:t>Thus </a:t>
            </a:r>
            <a:r>
              <a:rPr lang="en-US" altLang="zh-TW">
                <a:latin typeface="Symbol" panose="05050102010706020507" pitchFamily="18" charset="2"/>
              </a:rPr>
              <a:t>l</a:t>
            </a:r>
            <a:r>
              <a:rPr lang="en-US" altLang="zh-TW"/>
              <a:t>=10 has multiplicity 1, while </a:t>
            </a:r>
            <a:r>
              <a:rPr lang="en-US" altLang="zh-TW">
                <a:latin typeface="Symbol" panose="05050102010706020507" pitchFamily="18" charset="2"/>
              </a:rPr>
              <a:t>l</a:t>
            </a:r>
            <a:r>
              <a:rPr lang="en-US" altLang="zh-TW"/>
              <a:t>=1 has multiplicity 2 </a:t>
            </a:r>
            <a:br>
              <a:rPr lang="en-US" altLang="zh-TW"/>
            </a:br>
            <a:r>
              <a:rPr lang="en-US" altLang="zh-TW"/>
              <a:t>in this example.</a:t>
            </a:r>
          </a:p>
        </p:txBody>
      </p:sp>
    </p:spTree>
    <p:extLst>
      <p:ext uri="{BB962C8B-B14F-4D97-AF65-F5344CB8AC3E}">
        <p14:creationId xmlns:p14="http://schemas.microsoft.com/office/powerpoint/2010/main" val="129111133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0901"/>
                                        </p:tgtEl>
                                        <p:attrNameLst>
                                          <p:attrName>style.visibility</p:attrName>
                                        </p:attrNameLst>
                                      </p:cBhvr>
                                      <p:to>
                                        <p:strVal val="visible"/>
                                      </p:to>
                                    </p:set>
                                    <p:anim calcmode="lin" valueType="num">
                                      <p:cBhvr additive="base">
                                        <p:cTn id="7" dur="500" fill="hold"/>
                                        <p:tgtEl>
                                          <p:spTgt spid="80901"/>
                                        </p:tgtEl>
                                        <p:attrNameLst>
                                          <p:attrName>ppt_x</p:attrName>
                                        </p:attrNameLst>
                                      </p:cBhvr>
                                      <p:tavLst>
                                        <p:tav tm="0">
                                          <p:val>
                                            <p:strVal val="#ppt_x"/>
                                          </p:val>
                                        </p:tav>
                                        <p:tav tm="100000">
                                          <p:val>
                                            <p:strVal val="#ppt_x"/>
                                          </p:val>
                                        </p:tav>
                                      </p:tavLst>
                                    </p:anim>
                                    <p:anim calcmode="lin" valueType="num">
                                      <p:cBhvr additive="base">
                                        <p:cTn id="8" dur="500" fill="hold"/>
                                        <p:tgtEl>
                                          <p:spTgt spid="8090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901"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a:extLst>
              <a:ext uri="{FF2B5EF4-FFF2-40B4-BE49-F238E27FC236}">
                <a16:creationId xmlns="" xmlns:a16="http://schemas.microsoft.com/office/drawing/2014/main" id="{8B411CC5-EFA5-47CD-AA94-20FAD91EF18A}"/>
              </a:ext>
            </a:extLst>
          </p:cNvPr>
          <p:cNvPicPr>
            <a:picLocks noGrp="1" noChangeAspect="1"/>
          </p:cNvPicPr>
          <p:nvPr>
            <p:ph idx="4294967295"/>
          </p:nvPr>
        </p:nvPicPr>
        <p:blipFill>
          <a:blip r:embed="rId2"/>
          <a:stretch>
            <a:fillRect/>
          </a:stretch>
        </p:blipFill>
        <p:spPr>
          <a:xfrm>
            <a:off x="4136830" y="1120717"/>
            <a:ext cx="2781300" cy="1057275"/>
          </a:xfrm>
          <a:prstGeom prst="rect">
            <a:avLst/>
          </a:prstGeom>
        </p:spPr>
      </p:pic>
      <p:grpSp>
        <p:nvGrpSpPr>
          <p:cNvPr id="29" name="Group 28">
            <a:extLst>
              <a:ext uri="{FF2B5EF4-FFF2-40B4-BE49-F238E27FC236}">
                <a16:creationId xmlns="" xmlns:a16="http://schemas.microsoft.com/office/drawing/2014/main" id="{8D60C6A1-6403-4FE1-9CE5-B77E8DA56B21}"/>
              </a:ext>
            </a:extLst>
          </p:cNvPr>
          <p:cNvGrpSpPr/>
          <p:nvPr/>
        </p:nvGrpSpPr>
        <p:grpSpPr>
          <a:xfrm>
            <a:off x="230912" y="2021984"/>
            <a:ext cx="5898607" cy="3830277"/>
            <a:chOff x="502988" y="2685778"/>
            <a:chExt cx="5524500" cy="3319463"/>
          </a:xfrm>
        </p:grpSpPr>
        <p:pic>
          <p:nvPicPr>
            <p:cNvPr id="13" name="Picture 12">
              <a:extLst>
                <a:ext uri="{FF2B5EF4-FFF2-40B4-BE49-F238E27FC236}">
                  <a16:creationId xmlns="" xmlns:a16="http://schemas.microsoft.com/office/drawing/2014/main" id="{7E2223F6-1154-48B0-9B7C-0E79A329C0D4}"/>
                </a:ext>
              </a:extLst>
            </p:cNvPr>
            <p:cNvPicPr>
              <a:picLocks noChangeAspect="1"/>
            </p:cNvPicPr>
            <p:nvPr/>
          </p:nvPicPr>
          <p:blipFill>
            <a:blip r:embed="rId3"/>
            <a:stretch>
              <a:fillRect/>
            </a:stretch>
          </p:blipFill>
          <p:spPr>
            <a:xfrm>
              <a:off x="502988" y="2938191"/>
              <a:ext cx="5524500" cy="3067050"/>
            </a:xfrm>
            <a:prstGeom prst="rect">
              <a:avLst/>
            </a:prstGeom>
          </p:spPr>
        </p:pic>
        <p:pic>
          <p:nvPicPr>
            <p:cNvPr id="28" name="Picture 27">
              <a:extLst>
                <a:ext uri="{FF2B5EF4-FFF2-40B4-BE49-F238E27FC236}">
                  <a16:creationId xmlns="" xmlns:a16="http://schemas.microsoft.com/office/drawing/2014/main" id="{7D5A6AC6-18C4-472F-8673-B5729190A2BB}"/>
                </a:ext>
              </a:extLst>
            </p:cNvPr>
            <p:cNvPicPr>
              <a:picLocks noChangeAspect="1"/>
            </p:cNvPicPr>
            <p:nvPr/>
          </p:nvPicPr>
          <p:blipFill>
            <a:blip r:embed="rId4"/>
            <a:stretch>
              <a:fillRect/>
            </a:stretch>
          </p:blipFill>
          <p:spPr>
            <a:xfrm>
              <a:off x="641785" y="2685778"/>
              <a:ext cx="1095375" cy="504825"/>
            </a:xfrm>
            <a:prstGeom prst="rect">
              <a:avLst/>
            </a:prstGeom>
          </p:spPr>
        </p:pic>
      </p:grpSp>
      <p:sp>
        <p:nvSpPr>
          <p:cNvPr id="4" name="Slide Number Placeholder 5">
            <a:extLst>
              <a:ext uri="{FF2B5EF4-FFF2-40B4-BE49-F238E27FC236}">
                <a16:creationId xmlns="" xmlns:a16="http://schemas.microsoft.com/office/drawing/2014/main" id="{ECEF4A68-60C4-4BFE-AFD4-1A0A42518FD1}"/>
              </a:ext>
            </a:extLst>
          </p:cNvPr>
          <p:cNvSpPr>
            <a:spLocks noGrp="1"/>
          </p:cNvSpPr>
          <p:nvPr>
            <p:ph type="sldNum" sz="quarter" idx="12"/>
          </p:nvPr>
        </p:nvSpPr>
        <p:spPr>
          <a:xfrm>
            <a:off x="175953" y="6433820"/>
            <a:ext cx="2743200" cy="365125"/>
          </a:xfrm>
        </p:spPr>
        <p:txBody>
          <a:bodyPr/>
          <a:lstStyle/>
          <a:p>
            <a:pPr algn="l"/>
            <a:r>
              <a:rPr lang="en-US" b="1" dirty="0"/>
              <a:t>Page </a:t>
            </a:r>
            <a:fld id="{A973BAE2-7DD0-4A05-A95E-EC1444A28263}" type="slidenum">
              <a:rPr lang="en-US" b="1" smtClean="0"/>
              <a:pPr algn="l"/>
              <a:t>69</a:t>
            </a:fld>
            <a:endParaRPr lang="en-US" b="1" dirty="0"/>
          </a:p>
        </p:txBody>
      </p:sp>
      <p:pic>
        <p:nvPicPr>
          <p:cNvPr id="21" name="Picture 20">
            <a:extLst>
              <a:ext uri="{FF2B5EF4-FFF2-40B4-BE49-F238E27FC236}">
                <a16:creationId xmlns="" xmlns:a16="http://schemas.microsoft.com/office/drawing/2014/main" id="{F46F9638-DEF6-4650-9938-ABE326911CB1}"/>
              </a:ext>
            </a:extLst>
          </p:cNvPr>
          <p:cNvPicPr>
            <a:picLocks noChangeAspect="1"/>
          </p:cNvPicPr>
          <p:nvPr/>
        </p:nvPicPr>
        <p:blipFill>
          <a:blip r:embed="rId5"/>
          <a:stretch>
            <a:fillRect/>
          </a:stretch>
        </p:blipFill>
        <p:spPr>
          <a:xfrm>
            <a:off x="2859990" y="1225870"/>
            <a:ext cx="1019175" cy="295275"/>
          </a:xfrm>
          <a:prstGeom prst="rect">
            <a:avLst/>
          </a:prstGeom>
        </p:spPr>
      </p:pic>
      <p:sp>
        <p:nvSpPr>
          <p:cNvPr id="17" name="TextBox 16">
            <a:extLst>
              <a:ext uri="{FF2B5EF4-FFF2-40B4-BE49-F238E27FC236}">
                <a16:creationId xmlns="" xmlns:a16="http://schemas.microsoft.com/office/drawing/2014/main" id="{9047C7AA-14AC-41FA-9BFD-5F0FCD449311}"/>
              </a:ext>
            </a:extLst>
          </p:cNvPr>
          <p:cNvSpPr txBox="1"/>
          <p:nvPr/>
        </p:nvSpPr>
        <p:spPr>
          <a:xfrm>
            <a:off x="2786290" y="1119291"/>
            <a:ext cx="948978" cy="369332"/>
          </a:xfrm>
          <a:prstGeom prst="rect">
            <a:avLst/>
          </a:prstGeom>
          <a:noFill/>
        </p:spPr>
        <p:txBody>
          <a:bodyPr wrap="none" rtlCol="0">
            <a:spAutoFit/>
          </a:bodyPr>
          <a:lstStyle/>
          <a:p>
            <a:r>
              <a:rPr lang="en-US" b="1" dirty="0">
                <a:solidFill>
                  <a:srgbClr val="0070C0"/>
                </a:solidFill>
                <a:latin typeface="+mj-lt"/>
                <a:ea typeface="+mj-ea"/>
                <a:cs typeface="+mj-cs"/>
              </a:rPr>
              <a:t>Problem</a:t>
            </a:r>
            <a:endParaRPr lang="en-US" sz="2000" b="1" dirty="0">
              <a:solidFill>
                <a:srgbClr val="0070C0"/>
              </a:solidFill>
              <a:latin typeface="+mj-lt"/>
              <a:ea typeface="+mj-ea"/>
              <a:cs typeface="+mj-cs"/>
            </a:endParaRPr>
          </a:p>
        </p:txBody>
      </p:sp>
      <p:sp>
        <p:nvSpPr>
          <p:cNvPr id="23" name="TextBox 22">
            <a:extLst>
              <a:ext uri="{FF2B5EF4-FFF2-40B4-BE49-F238E27FC236}">
                <a16:creationId xmlns="" xmlns:a16="http://schemas.microsoft.com/office/drawing/2014/main" id="{8BA66799-4B20-4ED4-AE30-A69491F44277}"/>
              </a:ext>
            </a:extLst>
          </p:cNvPr>
          <p:cNvSpPr txBox="1"/>
          <p:nvPr/>
        </p:nvSpPr>
        <p:spPr>
          <a:xfrm>
            <a:off x="498050" y="2021984"/>
            <a:ext cx="931665" cy="369332"/>
          </a:xfrm>
          <a:prstGeom prst="rect">
            <a:avLst/>
          </a:prstGeom>
          <a:noFill/>
        </p:spPr>
        <p:txBody>
          <a:bodyPr wrap="none" rtlCol="0">
            <a:spAutoFit/>
          </a:bodyPr>
          <a:lstStyle/>
          <a:p>
            <a:r>
              <a:rPr lang="en-US" b="1" dirty="0">
                <a:solidFill>
                  <a:srgbClr val="0070C0"/>
                </a:solidFill>
                <a:latin typeface="+mj-lt"/>
                <a:ea typeface="+mj-ea"/>
                <a:cs typeface="+mj-cs"/>
              </a:rPr>
              <a:t>Solution</a:t>
            </a:r>
            <a:endParaRPr lang="en-US" sz="2000" b="1" dirty="0">
              <a:solidFill>
                <a:srgbClr val="0070C0"/>
              </a:solidFill>
              <a:latin typeface="+mj-lt"/>
              <a:ea typeface="+mj-ea"/>
              <a:cs typeface="+mj-cs"/>
            </a:endParaRPr>
          </a:p>
        </p:txBody>
      </p:sp>
      <p:cxnSp>
        <p:nvCxnSpPr>
          <p:cNvPr id="22" name="Straight Connector 21">
            <a:extLst>
              <a:ext uri="{FF2B5EF4-FFF2-40B4-BE49-F238E27FC236}">
                <a16:creationId xmlns="" xmlns:a16="http://schemas.microsoft.com/office/drawing/2014/main" id="{27846006-B021-4A51-BD09-BD15BB425B86}"/>
              </a:ext>
            </a:extLst>
          </p:cNvPr>
          <p:cNvCxnSpPr>
            <a:cxnSpLocks/>
          </p:cNvCxnSpPr>
          <p:nvPr/>
        </p:nvCxnSpPr>
        <p:spPr>
          <a:xfrm>
            <a:off x="6164514" y="2484290"/>
            <a:ext cx="0" cy="3631284"/>
          </a:xfrm>
          <a:prstGeom prst="line">
            <a:avLst/>
          </a:prstGeom>
        </p:spPr>
        <p:style>
          <a:lnRef idx="1">
            <a:schemeClr val="accent1"/>
          </a:lnRef>
          <a:fillRef idx="0">
            <a:schemeClr val="accent1"/>
          </a:fillRef>
          <a:effectRef idx="0">
            <a:schemeClr val="accent1"/>
          </a:effectRef>
          <a:fontRef idx="minor">
            <a:schemeClr val="tx1"/>
          </a:fontRef>
        </p:style>
      </p:cxnSp>
      <p:grpSp>
        <p:nvGrpSpPr>
          <p:cNvPr id="16" name="Group 15">
            <a:extLst>
              <a:ext uri="{FF2B5EF4-FFF2-40B4-BE49-F238E27FC236}">
                <a16:creationId xmlns="" xmlns:a16="http://schemas.microsoft.com/office/drawing/2014/main" id="{343A9836-9419-48E5-A477-1B5AEBF73911}"/>
              </a:ext>
            </a:extLst>
          </p:cNvPr>
          <p:cNvGrpSpPr/>
          <p:nvPr/>
        </p:nvGrpSpPr>
        <p:grpSpPr>
          <a:xfrm>
            <a:off x="6115350" y="2035364"/>
            <a:ext cx="5889295" cy="4398456"/>
            <a:chOff x="6255651" y="2484290"/>
            <a:chExt cx="5704123" cy="4167187"/>
          </a:xfrm>
        </p:grpSpPr>
        <p:pic>
          <p:nvPicPr>
            <p:cNvPr id="19" name="Picture 18">
              <a:extLst>
                <a:ext uri="{FF2B5EF4-FFF2-40B4-BE49-F238E27FC236}">
                  <a16:creationId xmlns="" xmlns:a16="http://schemas.microsoft.com/office/drawing/2014/main" id="{23BDAAE8-B23E-40F5-A0ED-AFCA872DD7F8}"/>
                </a:ext>
              </a:extLst>
            </p:cNvPr>
            <p:cNvPicPr>
              <a:picLocks noChangeAspect="1"/>
            </p:cNvPicPr>
            <p:nvPr/>
          </p:nvPicPr>
          <p:blipFill>
            <a:blip r:embed="rId6"/>
            <a:stretch>
              <a:fillRect/>
            </a:stretch>
          </p:blipFill>
          <p:spPr>
            <a:xfrm>
              <a:off x="6416224" y="2484290"/>
              <a:ext cx="5543550" cy="3914775"/>
            </a:xfrm>
            <a:prstGeom prst="rect">
              <a:avLst/>
            </a:prstGeom>
          </p:spPr>
        </p:pic>
        <p:pic>
          <p:nvPicPr>
            <p:cNvPr id="20" name="Picture 19">
              <a:extLst>
                <a:ext uri="{FF2B5EF4-FFF2-40B4-BE49-F238E27FC236}">
                  <a16:creationId xmlns="" xmlns:a16="http://schemas.microsoft.com/office/drawing/2014/main" id="{C6D3CA93-432B-4976-9516-D20C7108A4B2}"/>
                </a:ext>
              </a:extLst>
            </p:cNvPr>
            <p:cNvPicPr>
              <a:picLocks noChangeAspect="1"/>
            </p:cNvPicPr>
            <p:nvPr/>
          </p:nvPicPr>
          <p:blipFill>
            <a:blip r:embed="rId4"/>
            <a:stretch>
              <a:fillRect/>
            </a:stretch>
          </p:blipFill>
          <p:spPr>
            <a:xfrm>
              <a:off x="6255651" y="6146652"/>
              <a:ext cx="1095375" cy="504825"/>
            </a:xfrm>
            <a:prstGeom prst="rect">
              <a:avLst/>
            </a:prstGeom>
          </p:spPr>
        </p:pic>
      </p:grpSp>
    </p:spTree>
    <p:extLst>
      <p:ext uri="{BB962C8B-B14F-4D97-AF65-F5344CB8AC3E}">
        <p14:creationId xmlns:p14="http://schemas.microsoft.com/office/powerpoint/2010/main" val="3073419053"/>
      </p:ext>
    </p:extLst>
  </p:cSld>
  <p:clrMapOvr>
    <a:masterClrMapping/>
  </p:clrMapOvr>
  <p:timing>
    <p:tnLst>
      <p:par>
        <p:cTn id="1" dur="indefinite" restart="never" nodeType="tmRoot"/>
      </p:par>
    </p:tnLst>
  </p:timing>
</p:sld>
</file>

<file path=ppt/theme/theme1.xml><?xml version="1.0" encoding="utf-8"?>
<a:theme xmlns:a="http://schemas.openxmlformats.org/drawingml/2006/main" name="Droplet">
  <a:themeElements>
    <a:clrScheme name="Droplet">
      <a:dk1>
        <a:sysClr val="windowText" lastClr="000000"/>
      </a:dk1>
      <a:lt1>
        <a:sysClr val="window" lastClr="FFFFFF"/>
      </a:lt1>
      <a:dk2>
        <a:srgbClr val="27537E"/>
      </a:dk2>
      <a:lt2>
        <a:srgbClr val="AABED7"/>
      </a:lt2>
      <a:accent1>
        <a:srgbClr val="E34B7A"/>
      </a:accent1>
      <a:accent2>
        <a:srgbClr val="AC339A"/>
      </a:accent2>
      <a:accent3>
        <a:srgbClr val="6953B7"/>
      </a:accent3>
      <a:accent4>
        <a:srgbClr val="1D7EAB"/>
      </a:accent4>
      <a:accent5>
        <a:srgbClr val="43AFD6"/>
      </a:accent5>
      <a:accent6>
        <a:srgbClr val="DE85E1"/>
      </a:accent6>
      <a:hlink>
        <a:srgbClr val="ED87A6"/>
      </a:hlink>
      <a:folHlink>
        <a:srgbClr val="C99EAC"/>
      </a:folHlink>
    </a:clrScheme>
    <a:fontScheme name="Droplet">
      <a:majorFont>
        <a:latin typeface="Tw Cen M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78000"/>
                <a:shade val="100000"/>
                <a:hueMod val="136000"/>
                <a:satMod val="160000"/>
                <a:lumMod val="105000"/>
              </a:schemeClr>
            </a:gs>
            <a:gs pos="100000">
              <a:schemeClr val="phClr">
                <a:shade val="92000"/>
                <a:satMod val="170000"/>
                <a:lumMod val="96000"/>
              </a:schemeClr>
            </a:gs>
          </a:gsLst>
          <a:lin ang="5400000" scaled="0"/>
        </a:gradFill>
      </a:bgFillStyleLst>
    </a:fmtScheme>
  </a:themeElements>
  <a:objectDefaults/>
  <a:extraClrSchemeLst/>
  <a:extLst>
    <a:ext uri="{05A4C25C-085E-4340-85A3-A5531E510DB2}">
      <thm15:themeFamily xmlns="" xmlns:thm15="http://schemas.microsoft.com/office/thememl/2012/main" name="Droplet" id="{8984A317-299A-4E50-B45D-BFC9EDE2337A}" vid="{C71B277C-C29A-4BA0-A7BA-43502DF21AB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Droplet</Template>
  <TotalTime>389</TotalTime>
  <Words>2493</Words>
  <Application>Microsoft Office PowerPoint</Application>
  <PresentationFormat>Custom</PresentationFormat>
  <Paragraphs>369</Paragraphs>
  <Slides>69</Slides>
  <Notes>3</Notes>
  <HiddenSlides>0</HiddenSlides>
  <MMClips>0</MMClips>
  <ScaleCrop>false</ScaleCrop>
  <HeadingPairs>
    <vt:vector size="6" baseType="variant">
      <vt:variant>
        <vt:lpstr>Theme</vt:lpstr>
      </vt:variant>
      <vt:variant>
        <vt:i4>1</vt:i4>
      </vt:variant>
      <vt:variant>
        <vt:lpstr>Embedded OLE Servers</vt:lpstr>
      </vt:variant>
      <vt:variant>
        <vt:i4>3</vt:i4>
      </vt:variant>
      <vt:variant>
        <vt:lpstr>Slide Titles</vt:lpstr>
      </vt:variant>
      <vt:variant>
        <vt:i4>69</vt:i4>
      </vt:variant>
    </vt:vector>
  </HeadingPairs>
  <TitlesOfParts>
    <vt:vector size="73" baseType="lpstr">
      <vt:lpstr>Droplet</vt:lpstr>
      <vt:lpstr>方程式</vt:lpstr>
      <vt:lpstr>Equation</vt:lpstr>
      <vt:lpstr>Microsoft 方程式編輯器 3.0</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Using Row Operations to Find          (1/3)    </vt:lpstr>
      <vt:lpstr> Using Row Operations to Find      (2/3)    </vt:lpstr>
      <vt:lpstr>Example4 Using Row Operations to Find      (3/3)    </vt:lpstr>
      <vt:lpstr> Showing That a Matrix Is Not Invertible</vt:lpstr>
      <vt:lpstr>PowerPoint Presentation</vt:lpstr>
      <vt:lpstr>PowerPoint Presentation</vt:lpstr>
      <vt:lpstr>PowerPoint Presentation</vt:lpstr>
      <vt:lpstr>PowerPoint Presentation</vt:lpstr>
      <vt:lpstr>PowerPoint Presentation</vt:lpstr>
      <vt:lpstr>Linear Equations in Linear Algebra</vt:lpstr>
      <vt:lpstr>ECHELON FORM</vt:lpstr>
      <vt:lpstr>Example of matrix in Echelon Form</vt:lpstr>
      <vt:lpstr>PowerPoint Presentation</vt:lpstr>
      <vt:lpstr>ECHELON FORM</vt:lpstr>
      <vt:lpstr>Example of matrix in Echelon Form</vt:lpstr>
      <vt:lpstr>ECHELON FORM</vt:lpstr>
      <vt:lpstr>PIVOT POSITION</vt:lpstr>
      <vt:lpstr>PIVOT POSITION</vt:lpstr>
      <vt:lpstr>PIVOT POSITION</vt:lpstr>
      <vt:lpstr>PIVOT POSITION</vt:lpstr>
      <vt:lpstr>PIVOT POSITION</vt:lpstr>
      <vt:lpstr>PIVOT POSITION</vt:lpstr>
      <vt:lpstr>ROW REDUCTION ALGORITHM</vt:lpstr>
      <vt:lpstr>ROW REDUCTION ALGORITHM</vt:lpstr>
      <vt:lpstr>ROW REDUCTION ALGORITHM</vt:lpstr>
      <vt:lpstr>ROW REDUCTION ALGORITHM</vt:lpstr>
      <vt:lpstr>ROW REDUCTION ALGORITHM</vt:lpstr>
      <vt:lpstr>ROW REDUCTION ALGORITHM</vt:lpstr>
      <vt:lpstr>ROW REDUCTION ALGORITHM</vt:lpstr>
      <vt:lpstr>ROW REDUCTION ALGORITHM</vt:lpstr>
      <vt:lpstr>ROW REDUCTION ALGORITHM</vt:lpstr>
      <vt:lpstr>ROW REDUCTION ALGORITHM</vt:lpstr>
      <vt:lpstr>SOLUTIONS OF LINEAR SYSTEMS</vt:lpstr>
      <vt:lpstr>SOLUTIONS OF LINEAR SYSTEMS</vt:lpstr>
      <vt:lpstr>SOLUTIONS OF LINEAR SYSTEMS</vt:lpstr>
      <vt:lpstr>SOLUTIONS OF LINEAR SYSTEMS</vt:lpstr>
      <vt:lpstr>PARAMETRIC DESCRIPTIONS OF SOLUTION SETS</vt:lpstr>
      <vt:lpstr>PARAMETRIC DESCRIPTIONS OF SOLUTION SETS</vt:lpstr>
      <vt:lpstr>EXISTENCE AND UNIQUENESS THEOREM</vt:lpstr>
      <vt:lpstr>ROW REDUCTION TO SOLVE A LINEAR SYSTEM</vt:lpstr>
      <vt:lpstr>Computation of Eigenvalues and Eigenvectors</vt:lpstr>
      <vt:lpstr>Example 1</vt:lpstr>
      <vt:lpstr>PowerPoint Presentation</vt:lpstr>
      <vt:lpstr>PowerPoint Presentation</vt:lpstr>
      <vt:lpstr>Example 2</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HP</cp:lastModifiedBy>
  <cp:revision>44</cp:revision>
  <dcterms:created xsi:type="dcterms:W3CDTF">2022-03-21T16:14:50Z</dcterms:created>
  <dcterms:modified xsi:type="dcterms:W3CDTF">2023-05-11T09:20:13Z</dcterms:modified>
</cp:coreProperties>
</file>