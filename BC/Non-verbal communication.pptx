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7" r:id="rId16"/>
    <p:sldId id="279" r:id="rId17"/>
    <p:sldId id="280" r:id="rId18"/>
    <p:sldId id="281" r:id="rId19"/>
    <p:sldId id="282" r:id="rId20"/>
    <p:sldId id="270" r:id="rId21"/>
    <p:sldId id="271" r:id="rId22"/>
    <p:sldId id="272" r:id="rId23"/>
    <p:sldId id="273" r:id="rId24"/>
    <p:sldId id="274" r:id="rId25"/>
    <p:sldId id="275" r:id="rId26"/>
    <p:sldId id="276" r:id="rId27"/>
    <p:sldId id="278" r:id="rId28"/>
    <p:sldId id="283" r:id="rId29"/>
    <p:sldId id="284" r:id="rId30"/>
    <p:sldId id="285" r:id="rId31"/>
    <p:sldId id="286" r:id="rId32"/>
    <p:sldId id="288" r:id="rId33"/>
    <p:sldId id="28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1"/>
  </p:normalViewPr>
  <p:slideViewPr>
    <p:cSldViewPr>
      <p:cViewPr varScale="1">
        <p:scale>
          <a:sx n="108" d="100"/>
          <a:sy n="108" d="100"/>
        </p:scale>
        <p:origin x="176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D84AED-D8D1-46EF-A2BE-9518930D70A9}" type="datetimeFigureOut">
              <a:rPr lang="en-US" smtClean="0"/>
              <a:pPr/>
              <a:t>10/24/22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B6BB2D-D43F-430D-87EF-EAB3F5205352}" type="slidenum">
              <a:rPr lang="en-US" smtClean="0"/>
              <a:pPr/>
              <a:t>‹#›</a:t>
            </a:fld>
            <a:endParaRPr lang="en-US"/>
          </a:p>
        </p:txBody>
      </p:sp>
    </p:spTree>
    <p:extLst>
      <p:ext uri="{BB962C8B-B14F-4D97-AF65-F5344CB8AC3E}">
        <p14:creationId xmlns:p14="http://schemas.microsoft.com/office/powerpoint/2010/main" val="2698303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E18852E-3A47-FB41-ABD5-C365C1388FB9}"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EED03-0DD4-4A2E-BAAD-A215388912AB}" type="slidenum">
              <a:rPr lang="en-US" smtClean="0"/>
              <a:pPr/>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6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FC752-AFDD-1C44-94A9-154A0F03C1AB}"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3051759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0C139-B5A9-6548-9680-68B0AC503F52}"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EED03-0DD4-4A2E-BAAD-A215388912AB}" type="slidenum">
              <a:rPr lang="en-US" smtClean="0"/>
              <a:pPr/>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25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76F2AF-4EB4-2B47-A1FD-1069956E6C9A}" type="datetime1">
              <a:rPr lang="en-US" smtClean="0"/>
              <a:t>10/24/22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1245045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065497-2F7E-E042-AC02-713F90504E33}" type="datetime1">
              <a:rPr lang="en-US" smtClean="0"/>
              <a:t>10/24/22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45336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2D7914-AFDC-A445-8452-48EE41E79A4F}"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21058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50E0A-E7AD-8643-A3E8-AB9AA9208B94}" type="datetime1">
              <a:rPr lang="en-US" smtClean="0"/>
              <a:t>10/24/22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1280238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AEE1CF-ACE1-0748-9671-D0D41B3137B4}" type="datetime1">
              <a:rPr lang="en-US" smtClean="0"/>
              <a:t>10/24/22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2357018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B37129-4F92-EE45-8047-9CEB3B381184}" type="datetime1">
              <a:rPr lang="en-US" smtClean="0"/>
              <a:t>10/24/22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EED03-0DD4-4A2E-BAAD-A215388912AB}" type="slidenum">
              <a:rPr lang="en-US" smtClean="0"/>
              <a:pPr/>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958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25EBBF-F9C0-3D41-B30B-4EA759AA08C9}"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EED03-0DD4-4A2E-BAAD-A215388912AB}" type="slidenum">
              <a:rPr lang="en-US" smtClean="0"/>
              <a:pPr/>
              <a:t>‹#›</a:t>
            </a:fld>
            <a:endParaRPr lang="en-US"/>
          </a:p>
        </p:txBody>
      </p:sp>
    </p:spTree>
    <p:extLst>
      <p:ext uri="{BB962C8B-B14F-4D97-AF65-F5344CB8AC3E}">
        <p14:creationId xmlns:p14="http://schemas.microsoft.com/office/powerpoint/2010/main" val="1578331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91F9A-E96B-6149-9AE4-8F8D84AD8009}"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EED03-0DD4-4A2E-BAAD-A215388912AB}" type="slidenum">
              <a:rPr lang="en-US" smtClean="0"/>
              <a:pPr/>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19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356D43A-1D70-054D-B5CC-535AD32C5C20}" type="datetime1">
              <a:rPr lang="en-US" smtClean="0"/>
              <a:t>10/24/22</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E5EED03-0DD4-4A2E-BAAD-A215388912AB}" type="slidenum">
              <a:rPr lang="en-US" smtClean="0"/>
              <a:pPr/>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2274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Communication Skills </a:t>
            </a:r>
            <a:endParaRPr lang="en-US" dirty="0"/>
          </a:p>
        </p:txBody>
      </p:sp>
      <p:sp>
        <p:nvSpPr>
          <p:cNvPr id="3" name="Subtitle 2"/>
          <p:cNvSpPr>
            <a:spLocks noGrp="1"/>
          </p:cNvSpPr>
          <p:nvPr>
            <p:ph type="subTitle" idx="1"/>
          </p:nvPr>
        </p:nvSpPr>
        <p:spPr/>
        <p:txBody>
          <a:bodyPr/>
          <a:lstStyle/>
          <a:p>
            <a:r>
              <a:rPr lang="en-US" dirty="0"/>
              <a:t>Talha Memon </a:t>
            </a:r>
          </a:p>
          <a:p>
            <a:r>
              <a:rPr lang="en-US" dirty="0"/>
              <a:t>TIEST, </a:t>
            </a:r>
            <a:r>
              <a:rPr lang="en-US" dirty="0" err="1"/>
              <a:t>Tharparkar</a:t>
            </a:r>
            <a:r>
              <a:rPr lang="en-US"/>
              <a:t>  </a:t>
            </a:r>
            <a:endParaRPr lang="en-US" dirty="0"/>
          </a:p>
        </p:txBody>
      </p:sp>
      <p:sp>
        <p:nvSpPr>
          <p:cNvPr id="4" name="Date Placeholder 3"/>
          <p:cNvSpPr>
            <a:spLocks noGrp="1"/>
          </p:cNvSpPr>
          <p:nvPr>
            <p:ph type="dt" sz="half" idx="10"/>
          </p:nvPr>
        </p:nvSpPr>
        <p:spPr/>
        <p:txBody>
          <a:bodyPr/>
          <a:lstStyle/>
          <a:p>
            <a:fld id="{DE242E43-03A7-D248-82FC-D2C924618D67}"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Reflection</a:t>
            </a:r>
          </a:p>
        </p:txBody>
      </p:sp>
      <p:sp>
        <p:nvSpPr>
          <p:cNvPr id="3" name="Content Placeholder 2"/>
          <p:cNvSpPr>
            <a:spLocks noGrp="1"/>
          </p:cNvSpPr>
          <p:nvPr>
            <p:ph idx="1"/>
          </p:nvPr>
        </p:nvSpPr>
        <p:spPr/>
        <p:txBody>
          <a:bodyPr/>
          <a:lstStyle/>
          <a:p>
            <a:r>
              <a:rPr lang="en-US" dirty="0"/>
              <a:t>Symbols such as flags, songs, religious and cultural artifacts stand for something else. How important are symbols to you in your every day life? How far should we go to protect them or to control them? What exactly do they communicate? </a:t>
            </a:r>
          </a:p>
        </p:txBody>
      </p:sp>
      <p:sp>
        <p:nvSpPr>
          <p:cNvPr id="8" name="Date Placeholder 7"/>
          <p:cNvSpPr>
            <a:spLocks noGrp="1"/>
          </p:cNvSpPr>
          <p:nvPr>
            <p:ph type="dt" sz="half" idx="10"/>
          </p:nvPr>
        </p:nvSpPr>
        <p:spPr/>
        <p:txBody>
          <a:bodyPr/>
          <a:lstStyle/>
          <a:p>
            <a:fld id="{95B1AF40-3CED-F441-8804-8ACB1C7BB34D}" type="datetime1">
              <a:rPr lang="en-US" smtClean="0"/>
              <a:t>10/24/22</a:t>
            </a:fld>
            <a:endParaRPr lang="en-US"/>
          </a:p>
        </p:txBody>
      </p:sp>
      <p:sp>
        <p:nvSpPr>
          <p:cNvPr id="9" name="Footer Placeholder 8"/>
          <p:cNvSpPr>
            <a:spLocks noGrp="1"/>
          </p:cNvSpPr>
          <p:nvPr>
            <p:ph type="ftr" sz="quarter" idx="11"/>
          </p:nvPr>
        </p:nvSpPr>
        <p:spPr/>
        <p:txBody>
          <a:bodyPr/>
          <a:lstStyle/>
          <a:p>
            <a:endParaRPr lang="en-US"/>
          </a:p>
        </p:txBody>
      </p:sp>
      <p:pic>
        <p:nvPicPr>
          <p:cNvPr id="1026" name="Picture 2" descr="C:\Users\Syed Waqar\Desktop\images.jpg"/>
          <p:cNvPicPr>
            <a:picLocks noChangeAspect="1" noChangeArrowheads="1"/>
          </p:cNvPicPr>
          <p:nvPr/>
        </p:nvPicPr>
        <p:blipFill>
          <a:blip r:embed="rId2"/>
          <a:srcRect/>
          <a:stretch>
            <a:fillRect/>
          </a:stretch>
        </p:blipFill>
        <p:spPr bwMode="auto">
          <a:xfrm>
            <a:off x="357011" y="3752033"/>
            <a:ext cx="2057400" cy="1752600"/>
          </a:xfrm>
          <a:prstGeom prst="rect">
            <a:avLst/>
          </a:prstGeom>
          <a:noFill/>
        </p:spPr>
      </p:pic>
      <p:pic>
        <p:nvPicPr>
          <p:cNvPr id="1029" name="Picture 5" descr="C:\Users\Syed Waqar\Desktop\download (1).png"/>
          <p:cNvPicPr>
            <a:picLocks noChangeAspect="1" noChangeArrowheads="1"/>
          </p:cNvPicPr>
          <p:nvPr/>
        </p:nvPicPr>
        <p:blipFill>
          <a:blip r:embed="rId3"/>
          <a:srcRect/>
          <a:stretch>
            <a:fillRect/>
          </a:stretch>
        </p:blipFill>
        <p:spPr bwMode="auto">
          <a:xfrm>
            <a:off x="2756732" y="3727261"/>
            <a:ext cx="2143125" cy="1828800"/>
          </a:xfrm>
          <a:prstGeom prst="rect">
            <a:avLst/>
          </a:prstGeom>
          <a:noFill/>
        </p:spPr>
      </p:pic>
      <p:pic>
        <p:nvPicPr>
          <p:cNvPr id="1030" name="Picture 6" descr="C:\Users\Syed Waqar\Desktop\download.png"/>
          <p:cNvPicPr>
            <a:picLocks noChangeAspect="1" noChangeArrowheads="1"/>
          </p:cNvPicPr>
          <p:nvPr/>
        </p:nvPicPr>
        <p:blipFill>
          <a:blip r:embed="rId4"/>
          <a:srcRect/>
          <a:stretch>
            <a:fillRect/>
          </a:stretch>
        </p:blipFill>
        <p:spPr bwMode="auto">
          <a:xfrm>
            <a:off x="5126453" y="3616823"/>
            <a:ext cx="1809750" cy="1795463"/>
          </a:xfrm>
          <a:prstGeom prst="rect">
            <a:avLst/>
          </a:prstGeom>
          <a:noFill/>
        </p:spPr>
      </p:pic>
      <p:pic>
        <p:nvPicPr>
          <p:cNvPr id="1031" name="Picture 7" descr="C:\Users\Syed Waqar\Desktop\download (2).png"/>
          <p:cNvPicPr>
            <a:picLocks noChangeAspect="1" noChangeArrowheads="1"/>
          </p:cNvPicPr>
          <p:nvPr/>
        </p:nvPicPr>
        <p:blipFill>
          <a:blip r:embed="rId5"/>
          <a:srcRect/>
          <a:stretch>
            <a:fillRect/>
          </a:stretch>
        </p:blipFill>
        <p:spPr bwMode="auto">
          <a:xfrm>
            <a:off x="7194135" y="3616823"/>
            <a:ext cx="1628775" cy="1585913"/>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will you react?</a:t>
            </a:r>
          </a:p>
        </p:txBody>
      </p:sp>
      <p:sp>
        <p:nvSpPr>
          <p:cNvPr id="3" name="Content Placeholder 2"/>
          <p:cNvSpPr>
            <a:spLocks noGrp="1"/>
          </p:cNvSpPr>
          <p:nvPr>
            <p:ph idx="1"/>
          </p:nvPr>
        </p:nvSpPr>
        <p:spPr/>
        <p:txBody>
          <a:bodyPr/>
          <a:lstStyle/>
          <a:p>
            <a:r>
              <a:rPr lang="en-US" dirty="0"/>
              <a:t>Suppose,  you are a manager of any industry and people belonging to different cultures and diverse social backgrounds are working under you. The employees in their respective offices paste their specific pictures, images or any symbol on the wall, how will you react to that situation? </a:t>
            </a:r>
          </a:p>
          <a:p>
            <a:pPr>
              <a:buNone/>
            </a:pPr>
            <a:endParaRPr lang="en-US" dirty="0"/>
          </a:p>
          <a:p>
            <a:r>
              <a:rPr lang="en-US" dirty="0"/>
              <a:t>Should they be allowed to show their identity in respective workplace? </a:t>
            </a:r>
          </a:p>
        </p:txBody>
      </p:sp>
      <p:sp>
        <p:nvSpPr>
          <p:cNvPr id="4" name="Date Placeholder 3"/>
          <p:cNvSpPr>
            <a:spLocks noGrp="1"/>
          </p:cNvSpPr>
          <p:nvPr>
            <p:ph type="dt" sz="half" idx="10"/>
          </p:nvPr>
        </p:nvSpPr>
        <p:spPr/>
        <p:txBody>
          <a:bodyPr/>
          <a:lstStyle/>
          <a:p>
            <a:fld id="{6AAA797A-BBBC-A943-89E6-1602DDC549F6}"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Non-verbal Communication</a:t>
            </a:r>
          </a:p>
        </p:txBody>
      </p:sp>
      <p:sp>
        <p:nvSpPr>
          <p:cNvPr id="3" name="Content Placeholder 2"/>
          <p:cNvSpPr>
            <a:spLocks noGrp="1"/>
          </p:cNvSpPr>
          <p:nvPr>
            <p:ph idx="1"/>
          </p:nvPr>
        </p:nvSpPr>
        <p:spPr>
          <a:xfrm>
            <a:off x="914400" y="2514600"/>
            <a:ext cx="7772400" cy="1371600"/>
          </a:xfrm>
        </p:spPr>
        <p:txBody>
          <a:bodyPr/>
          <a:lstStyle/>
          <a:p>
            <a:r>
              <a:rPr lang="en-US" dirty="0"/>
              <a:t>Do you think silence, space and time also communicate something? </a:t>
            </a:r>
          </a:p>
        </p:txBody>
      </p:sp>
      <p:sp>
        <p:nvSpPr>
          <p:cNvPr id="4" name="Date Placeholder 3"/>
          <p:cNvSpPr>
            <a:spLocks noGrp="1"/>
          </p:cNvSpPr>
          <p:nvPr>
            <p:ph type="dt" sz="half" idx="10"/>
          </p:nvPr>
        </p:nvSpPr>
        <p:spPr/>
        <p:txBody>
          <a:bodyPr/>
          <a:lstStyle/>
          <a:p>
            <a:fld id="{E8D9105B-D9FE-9A4F-99B6-6A9E75E7EEB9}"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Silence </a:t>
            </a:r>
          </a:p>
        </p:txBody>
      </p:sp>
      <p:sp>
        <p:nvSpPr>
          <p:cNvPr id="3" name="Content Placeholder 2"/>
          <p:cNvSpPr>
            <a:spLocks noGrp="1"/>
          </p:cNvSpPr>
          <p:nvPr>
            <p:ph idx="1"/>
          </p:nvPr>
        </p:nvSpPr>
        <p:spPr>
          <a:xfrm>
            <a:off x="914400" y="2133600"/>
            <a:ext cx="7772400" cy="1447800"/>
          </a:xfrm>
        </p:spPr>
        <p:txBody>
          <a:bodyPr/>
          <a:lstStyle/>
          <a:p>
            <a:r>
              <a:rPr lang="en-US" dirty="0"/>
              <a:t>Suppose, you are writing to your Boss for increments in your salary. If you receive no response for several weeks, what would be your reaction?</a:t>
            </a:r>
          </a:p>
        </p:txBody>
      </p:sp>
      <p:sp>
        <p:nvSpPr>
          <p:cNvPr id="4" name="Date Placeholder 3"/>
          <p:cNvSpPr>
            <a:spLocks noGrp="1"/>
          </p:cNvSpPr>
          <p:nvPr>
            <p:ph type="dt" sz="half" idx="10"/>
          </p:nvPr>
        </p:nvSpPr>
        <p:spPr/>
        <p:txBody>
          <a:bodyPr/>
          <a:lstStyle/>
          <a:p>
            <a:fld id="{5F0C7061-F0ED-0A4D-9366-70C057A9F1EA}"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a:t>
            </a:r>
          </a:p>
        </p:txBody>
      </p:sp>
      <p:sp>
        <p:nvSpPr>
          <p:cNvPr id="3" name="Content Placeholder 2"/>
          <p:cNvSpPr>
            <a:spLocks noGrp="1"/>
          </p:cNvSpPr>
          <p:nvPr>
            <p:ph idx="1"/>
          </p:nvPr>
        </p:nvSpPr>
        <p:spPr>
          <a:xfrm>
            <a:off x="914400" y="1752600"/>
            <a:ext cx="7772400" cy="3657600"/>
          </a:xfrm>
        </p:spPr>
        <p:txBody>
          <a:bodyPr>
            <a:normAutofit/>
          </a:bodyPr>
          <a:lstStyle/>
          <a:p>
            <a:r>
              <a:rPr lang="en-US" dirty="0"/>
              <a:t>How do you feel when you are kept waiting two hours after the scheduled time for any appointment? </a:t>
            </a:r>
          </a:p>
          <a:p>
            <a:endParaRPr lang="en-US" dirty="0"/>
          </a:p>
          <a:p>
            <a:r>
              <a:rPr lang="en-US" dirty="0"/>
              <a:t>And how about Pakistani society, specially when you reach in wedding halls so early? How do you feel being the first arrival in Hall?</a:t>
            </a:r>
          </a:p>
        </p:txBody>
      </p:sp>
      <p:sp>
        <p:nvSpPr>
          <p:cNvPr id="4" name="Date Placeholder 3"/>
          <p:cNvSpPr>
            <a:spLocks noGrp="1"/>
          </p:cNvSpPr>
          <p:nvPr>
            <p:ph type="dt" sz="half" idx="10"/>
          </p:nvPr>
        </p:nvSpPr>
        <p:spPr/>
        <p:txBody>
          <a:bodyPr/>
          <a:lstStyle/>
          <a:p>
            <a:fld id="{8E2354A7-3DB7-1E43-8FC0-EDAF90E8E578}"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cont’d…</a:t>
            </a:r>
          </a:p>
        </p:txBody>
      </p:sp>
      <p:sp>
        <p:nvSpPr>
          <p:cNvPr id="3" name="Content Placeholder 2"/>
          <p:cNvSpPr>
            <a:spLocks noGrp="1"/>
          </p:cNvSpPr>
          <p:nvPr>
            <p:ph idx="1"/>
          </p:nvPr>
        </p:nvSpPr>
        <p:spPr>
          <a:xfrm>
            <a:off x="914400" y="1752600"/>
            <a:ext cx="7772400" cy="4267200"/>
          </a:xfrm>
        </p:spPr>
        <p:txBody>
          <a:bodyPr/>
          <a:lstStyle/>
          <a:p>
            <a:r>
              <a:rPr lang="en-US" dirty="0"/>
              <a:t>Americans and Germans are quite punctual. </a:t>
            </a:r>
          </a:p>
          <a:p>
            <a:r>
              <a:rPr lang="en-US" dirty="0"/>
              <a:t>In middle Eastern countries, time is not that much important in accomplishment of any task. </a:t>
            </a:r>
          </a:p>
          <a:p>
            <a:r>
              <a:rPr lang="en-US" dirty="0"/>
              <a:t>In Portugal, if you arrived on time for a meeting, you host will wonder why you came so early. </a:t>
            </a:r>
          </a:p>
          <a:p>
            <a:r>
              <a:rPr lang="en-US" dirty="0"/>
              <a:t>Cultural differences need to be taken into account while discussing time in communication. </a:t>
            </a:r>
          </a:p>
        </p:txBody>
      </p:sp>
      <p:sp>
        <p:nvSpPr>
          <p:cNvPr id="4" name="Date Placeholder 3"/>
          <p:cNvSpPr>
            <a:spLocks noGrp="1"/>
          </p:cNvSpPr>
          <p:nvPr>
            <p:ph type="dt" sz="half" idx="10"/>
          </p:nvPr>
        </p:nvSpPr>
        <p:spPr/>
        <p:txBody>
          <a:bodyPr/>
          <a:lstStyle/>
          <a:p>
            <a:fld id="{FA893AF5-981E-8F44-B489-0088A58183D4}"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Space </a:t>
            </a:r>
          </a:p>
        </p:txBody>
      </p:sp>
      <p:sp>
        <p:nvSpPr>
          <p:cNvPr id="3" name="Content Placeholder 2"/>
          <p:cNvSpPr>
            <a:spLocks noGrp="1"/>
          </p:cNvSpPr>
          <p:nvPr>
            <p:ph idx="1"/>
          </p:nvPr>
        </p:nvSpPr>
        <p:spPr>
          <a:xfrm>
            <a:off x="914400" y="2286000"/>
            <a:ext cx="7772400" cy="1600200"/>
          </a:xfrm>
        </p:spPr>
        <p:txBody>
          <a:bodyPr/>
          <a:lstStyle/>
          <a:p>
            <a:r>
              <a:rPr lang="en-US" dirty="0"/>
              <a:t>How do you feel when somebody comes too close to you while talking to you on any issue? </a:t>
            </a:r>
          </a:p>
        </p:txBody>
      </p:sp>
      <p:sp>
        <p:nvSpPr>
          <p:cNvPr id="4" name="Date Placeholder 3"/>
          <p:cNvSpPr>
            <a:spLocks noGrp="1"/>
          </p:cNvSpPr>
          <p:nvPr>
            <p:ph type="dt" sz="half" idx="10"/>
          </p:nvPr>
        </p:nvSpPr>
        <p:spPr/>
        <p:txBody>
          <a:bodyPr/>
          <a:lstStyle/>
          <a:p>
            <a:fld id="{67099658-C741-B04B-B510-D939D23A9E0F}"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Space cont’d…</a:t>
            </a:r>
          </a:p>
        </p:txBody>
      </p:sp>
      <p:sp>
        <p:nvSpPr>
          <p:cNvPr id="3" name="Content Placeholder 2"/>
          <p:cNvSpPr>
            <a:spLocks noGrp="1"/>
          </p:cNvSpPr>
          <p:nvPr>
            <p:ph idx="1"/>
          </p:nvPr>
        </p:nvSpPr>
        <p:spPr>
          <a:xfrm>
            <a:off x="914400" y="1752600"/>
            <a:ext cx="7772400" cy="4267200"/>
          </a:xfrm>
        </p:spPr>
        <p:txBody>
          <a:bodyPr/>
          <a:lstStyle/>
          <a:p>
            <a:r>
              <a:rPr lang="en-US" dirty="0"/>
              <a:t>In USA, the need for personal space in a two-person conversation is about 18 inches. </a:t>
            </a:r>
          </a:p>
          <a:p>
            <a:r>
              <a:rPr lang="en-US" dirty="0"/>
              <a:t>The space between two persons while having conversation is less in Middle Eastern countries as compared to USA. </a:t>
            </a:r>
          </a:p>
          <a:p>
            <a:r>
              <a:rPr lang="en-US" dirty="0"/>
              <a:t>Sometimes, the space can have drastic effect on communication specially in case of opposite genders. So, be careful! Or, get ready to welcome a slap in Pakistani culture.</a:t>
            </a:r>
          </a:p>
        </p:txBody>
      </p:sp>
      <p:sp>
        <p:nvSpPr>
          <p:cNvPr id="4" name="Date Placeholder 3"/>
          <p:cNvSpPr>
            <a:spLocks noGrp="1"/>
          </p:cNvSpPr>
          <p:nvPr>
            <p:ph type="dt" sz="half" idx="10"/>
          </p:nvPr>
        </p:nvSpPr>
        <p:spPr/>
        <p:txBody>
          <a:bodyPr/>
          <a:lstStyle/>
          <a:p>
            <a:fld id="{BE58ED25-DFAD-0541-B471-1916ED1D28A7}"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Facial Expressions </a:t>
            </a:r>
          </a:p>
        </p:txBody>
      </p:sp>
      <p:sp>
        <p:nvSpPr>
          <p:cNvPr id="3" name="Content Placeholder 2"/>
          <p:cNvSpPr>
            <a:spLocks noGrp="1"/>
          </p:cNvSpPr>
          <p:nvPr>
            <p:ph idx="1"/>
          </p:nvPr>
        </p:nvSpPr>
        <p:spPr/>
        <p:txBody>
          <a:bodyPr/>
          <a:lstStyle/>
          <a:p>
            <a:r>
              <a:rPr lang="en-US" dirty="0"/>
              <a:t>Conventions of eye contact are specific to each culture. </a:t>
            </a:r>
          </a:p>
          <a:p>
            <a:r>
              <a:rPr lang="en-US" dirty="0"/>
              <a:t>Eye contact and facial expressions can help or hinder your verbal message. </a:t>
            </a:r>
          </a:p>
          <a:p>
            <a:r>
              <a:rPr lang="en-US" dirty="0"/>
              <a:t>In USA, direct contact (but not staring) is considered desirable when two people converse. </a:t>
            </a:r>
          </a:p>
          <a:p>
            <a:r>
              <a:rPr lang="en-US" dirty="0"/>
              <a:t>The person whose eyes shift away from the listener is thought to be either shy or dishonest and untrustworthy. But, we need to be careful, may be, some people are very much obedient and they cannot hold their eyes in front of their elders. </a:t>
            </a:r>
          </a:p>
        </p:txBody>
      </p:sp>
      <p:sp>
        <p:nvSpPr>
          <p:cNvPr id="4" name="Date Placeholder 3"/>
          <p:cNvSpPr>
            <a:spLocks noGrp="1"/>
          </p:cNvSpPr>
          <p:nvPr>
            <p:ph type="dt" sz="half" idx="10"/>
          </p:nvPr>
        </p:nvSpPr>
        <p:spPr/>
        <p:txBody>
          <a:bodyPr/>
          <a:lstStyle/>
          <a:p>
            <a:fld id="{29B2DCC2-2B47-7148-957C-F36392E6FF86}"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Gesture, Posture and Movement </a:t>
            </a:r>
          </a:p>
        </p:txBody>
      </p:sp>
      <p:sp>
        <p:nvSpPr>
          <p:cNvPr id="3" name="Content Placeholder 2"/>
          <p:cNvSpPr>
            <a:spLocks noGrp="1"/>
          </p:cNvSpPr>
          <p:nvPr>
            <p:ph idx="1"/>
          </p:nvPr>
        </p:nvSpPr>
        <p:spPr/>
        <p:txBody>
          <a:bodyPr/>
          <a:lstStyle/>
          <a:p>
            <a:r>
              <a:rPr lang="en-US" dirty="0"/>
              <a:t>Postures, gestures and body movement convey a message and add to or subtract from your oral message. </a:t>
            </a:r>
          </a:p>
          <a:p>
            <a:r>
              <a:rPr lang="en-US" dirty="0"/>
              <a:t>In some occupations, actions speak louder than words! So, they need to be physically active. </a:t>
            </a:r>
          </a:p>
          <a:p>
            <a:r>
              <a:rPr lang="en-US" dirty="0"/>
              <a:t>Gestures and movements are culture specific. Each culture has a set of conventionally determined symbols which conveys something to the people. </a:t>
            </a:r>
          </a:p>
          <a:p>
            <a:r>
              <a:rPr lang="en-US" dirty="0"/>
              <a:t>Posture and movement are also determined by the power people have. </a:t>
            </a:r>
          </a:p>
        </p:txBody>
      </p:sp>
      <p:sp>
        <p:nvSpPr>
          <p:cNvPr id="4" name="Date Placeholder 3"/>
          <p:cNvSpPr>
            <a:spLocks noGrp="1"/>
          </p:cNvSpPr>
          <p:nvPr>
            <p:ph type="dt" sz="half" idx="10"/>
          </p:nvPr>
        </p:nvSpPr>
        <p:spPr/>
        <p:txBody>
          <a:bodyPr/>
          <a:lstStyle/>
          <a:p>
            <a:fld id="{3BA4E520-7064-F84B-8D75-EC8F8A6C2C2B}"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Communication</a:t>
            </a:r>
          </a:p>
        </p:txBody>
      </p:sp>
      <p:sp>
        <p:nvSpPr>
          <p:cNvPr id="5" name="Date Placeholder 4"/>
          <p:cNvSpPr>
            <a:spLocks noGrp="1"/>
          </p:cNvSpPr>
          <p:nvPr>
            <p:ph type="dt" sz="half" idx="10"/>
          </p:nvPr>
        </p:nvSpPr>
        <p:spPr/>
        <p:txBody>
          <a:bodyPr/>
          <a:lstStyle/>
          <a:p>
            <a:fld id="{5E94B31E-773C-5747-9054-91D9590EB0F2}" type="datetime1">
              <a:rPr lang="en-US" smtClean="0"/>
              <a:t>10/24/22</a:t>
            </a:fld>
            <a:endParaRPr lang="en-US"/>
          </a:p>
        </p:txBody>
      </p:sp>
      <p:sp>
        <p:nvSpPr>
          <p:cNvPr id="6" name="Footer Placeholder 5"/>
          <p:cNvSpPr>
            <a:spLocks noGrp="1"/>
          </p:cNvSpPr>
          <p:nvPr>
            <p:ph type="ftr" sz="quarter" idx="11"/>
          </p:nvPr>
        </p:nvSpPr>
        <p:spPr/>
        <p:txBody>
          <a:bodyPr/>
          <a:lstStyle/>
          <a:p>
            <a:endParaRPr lang="en-US"/>
          </a:p>
        </p:txBody>
      </p:sp>
      <p:sp>
        <p:nvSpPr>
          <p:cNvPr id="4" name="Oval 3"/>
          <p:cNvSpPr/>
          <p:nvPr/>
        </p:nvSpPr>
        <p:spPr>
          <a:xfrm>
            <a:off x="2286000" y="1600200"/>
            <a:ext cx="4876800" cy="426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Context </a:t>
            </a:r>
          </a:p>
          <a:p>
            <a:pPr algn="ctr"/>
            <a:r>
              <a:rPr lang="en-US" sz="2800" b="1" dirty="0"/>
              <a:t>Sender-Encoder</a:t>
            </a:r>
          </a:p>
          <a:p>
            <a:pPr algn="ctr"/>
            <a:r>
              <a:rPr lang="en-US" sz="2800" b="1" dirty="0"/>
              <a:t>Message </a:t>
            </a:r>
          </a:p>
          <a:p>
            <a:pPr algn="ctr"/>
            <a:r>
              <a:rPr lang="en-US" sz="2800" b="1" dirty="0"/>
              <a:t>Medium</a:t>
            </a:r>
          </a:p>
          <a:p>
            <a:pPr algn="ctr"/>
            <a:r>
              <a:rPr lang="en-US" sz="2800" b="1" dirty="0"/>
              <a:t>Receiver-decoder</a:t>
            </a:r>
          </a:p>
          <a:p>
            <a:pPr algn="ctr"/>
            <a:r>
              <a:rPr lang="en-US" sz="2800" b="1" dirty="0"/>
              <a:t>Feedback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a:t>
            </a:r>
          </a:p>
        </p:txBody>
      </p:sp>
      <p:sp>
        <p:nvSpPr>
          <p:cNvPr id="3" name="Content Placeholder 2"/>
          <p:cNvSpPr>
            <a:spLocks noGrp="1"/>
          </p:cNvSpPr>
          <p:nvPr>
            <p:ph idx="1"/>
          </p:nvPr>
        </p:nvSpPr>
        <p:spPr>
          <a:xfrm>
            <a:off x="914400" y="1752600"/>
            <a:ext cx="7772400" cy="3124200"/>
          </a:xfrm>
        </p:spPr>
        <p:txBody>
          <a:bodyPr/>
          <a:lstStyle/>
          <a:p>
            <a:r>
              <a:rPr lang="en-US" dirty="0"/>
              <a:t>Communication occurs in a particular context. Context is a broad term which includes country, culture and organization. </a:t>
            </a:r>
          </a:p>
          <a:p>
            <a:r>
              <a:rPr lang="en-US" dirty="0"/>
              <a:t>We need to understand overall set-up of the context, that is, language, signs, culture, values, attitudes and perceptions if we want to be successful and effective communicators. </a:t>
            </a:r>
          </a:p>
        </p:txBody>
      </p:sp>
      <p:sp>
        <p:nvSpPr>
          <p:cNvPr id="4" name="Date Placeholder 3"/>
          <p:cNvSpPr>
            <a:spLocks noGrp="1"/>
          </p:cNvSpPr>
          <p:nvPr>
            <p:ph type="dt" sz="half" idx="10"/>
          </p:nvPr>
        </p:nvSpPr>
        <p:spPr/>
        <p:txBody>
          <a:bodyPr/>
          <a:lstStyle/>
          <a:p>
            <a:fld id="{58E2D0DC-131E-A940-9120-697D6EBFF999}"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xagon 3"/>
          <p:cNvSpPr/>
          <p:nvPr/>
        </p:nvSpPr>
        <p:spPr>
          <a:xfrm>
            <a:off x="1447800" y="533400"/>
            <a:ext cx="6400800" cy="579120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Truth: </a:t>
            </a:r>
          </a:p>
          <a:p>
            <a:pPr algn="ctr"/>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A Multidimensional phenomenon  </a:t>
            </a:r>
          </a:p>
        </p:txBody>
      </p:sp>
      <p:sp>
        <p:nvSpPr>
          <p:cNvPr id="3" name="Date Placeholder 2"/>
          <p:cNvSpPr>
            <a:spLocks noGrp="1"/>
          </p:cNvSpPr>
          <p:nvPr>
            <p:ph type="dt" sz="half" idx="10"/>
          </p:nvPr>
        </p:nvSpPr>
        <p:spPr/>
        <p:txBody>
          <a:bodyPr/>
          <a:lstStyle/>
          <a:p>
            <a:fld id="{3AE17C4B-7D74-954B-8537-D90CE769BB35}"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Elephant &amp; Blind people: A parable</a:t>
            </a:r>
          </a:p>
        </p:txBody>
      </p:sp>
      <p:pic>
        <p:nvPicPr>
          <p:cNvPr id="1026" name="Picture 2" descr="C:\Users\Syed Waqar\Desktop\images.jpg"/>
          <p:cNvPicPr>
            <a:picLocks noGrp="1" noChangeAspect="1" noChangeArrowheads="1"/>
          </p:cNvPicPr>
          <p:nvPr>
            <p:ph idx="1"/>
          </p:nvPr>
        </p:nvPicPr>
        <p:blipFill>
          <a:blip r:embed="rId2"/>
          <a:srcRect/>
          <a:stretch>
            <a:fillRect/>
          </a:stretch>
        </p:blipFill>
        <p:spPr bwMode="auto">
          <a:xfrm>
            <a:off x="457200" y="1447800"/>
            <a:ext cx="8229599" cy="4724400"/>
          </a:xfrm>
          <a:prstGeom prst="rect">
            <a:avLst/>
          </a:prstGeom>
          <a:noFill/>
        </p:spPr>
      </p:pic>
      <p:sp>
        <p:nvSpPr>
          <p:cNvPr id="3" name="Date Placeholder 2"/>
          <p:cNvSpPr>
            <a:spLocks noGrp="1"/>
          </p:cNvSpPr>
          <p:nvPr>
            <p:ph type="dt" sz="half" idx="10"/>
          </p:nvPr>
        </p:nvSpPr>
        <p:spPr/>
        <p:txBody>
          <a:bodyPr/>
          <a:lstStyle/>
          <a:p>
            <a:fld id="{D1A97596-3B21-F74C-85DE-87FAE2C23BE1}"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710184"/>
          </a:xfrm>
        </p:spPr>
        <p:style>
          <a:lnRef idx="3">
            <a:schemeClr val="lt1"/>
          </a:lnRef>
          <a:fillRef idx="1">
            <a:schemeClr val="accent1"/>
          </a:fillRef>
          <a:effectRef idx="1">
            <a:schemeClr val="accent1"/>
          </a:effectRef>
          <a:fontRef idx="minor">
            <a:schemeClr val="lt1"/>
          </a:fontRef>
        </p:style>
        <p:txBody>
          <a:bodyPr/>
          <a:lstStyle/>
          <a:p>
            <a:pPr algn="ctr"/>
            <a:r>
              <a:rPr lang="en-US" dirty="0"/>
              <a:t>A Poem </a:t>
            </a:r>
          </a:p>
        </p:txBody>
      </p:sp>
      <p:sp>
        <p:nvSpPr>
          <p:cNvPr id="5" name="Content Placeholder 4"/>
          <p:cNvSpPr>
            <a:spLocks noGrp="1"/>
          </p:cNvSpPr>
          <p:nvPr>
            <p:ph idx="1"/>
          </p:nvPr>
        </p:nvSpPr>
        <p:spPr>
          <a:xfrm>
            <a:off x="1001120" y="2264464"/>
            <a:ext cx="7086600" cy="4343400"/>
          </a:xfrm>
        </p:spPr>
        <p:txBody>
          <a:bodyPr>
            <a:normAutofit/>
          </a:bodyPr>
          <a:lstStyle/>
          <a:p>
            <a:r>
              <a:rPr lang="en-US" dirty="0"/>
              <a:t>It was six men of Indostan</a:t>
            </a:r>
            <a:br>
              <a:rPr lang="en-US" dirty="0"/>
            </a:br>
            <a:r>
              <a:rPr lang="en-US" dirty="0"/>
              <a:t>To learning much inclined,</a:t>
            </a:r>
            <a:br>
              <a:rPr lang="en-US" dirty="0"/>
            </a:br>
            <a:r>
              <a:rPr lang="en-US" dirty="0"/>
              <a:t>Who went to see the Elephant</a:t>
            </a:r>
            <a:br>
              <a:rPr lang="en-US" dirty="0"/>
            </a:br>
            <a:r>
              <a:rPr lang="en-US" dirty="0"/>
              <a:t>(Though all of them were blind),</a:t>
            </a:r>
            <a:br>
              <a:rPr lang="en-US" dirty="0"/>
            </a:br>
            <a:r>
              <a:rPr lang="en-US" dirty="0"/>
              <a:t>That each by observation</a:t>
            </a:r>
            <a:br>
              <a:rPr lang="en-US" dirty="0"/>
            </a:br>
            <a:r>
              <a:rPr lang="en-US" dirty="0"/>
              <a:t>Might satisfy his mind.</a:t>
            </a:r>
          </a:p>
          <a:p>
            <a:r>
              <a:rPr lang="en-US" dirty="0"/>
              <a:t>The </a:t>
            </a:r>
            <a:r>
              <a:rPr lang="en-US" i="1" dirty="0"/>
              <a:t>First</a:t>
            </a:r>
            <a:r>
              <a:rPr lang="en-US" dirty="0"/>
              <a:t> approached the Elephant,</a:t>
            </a:r>
            <a:br>
              <a:rPr lang="en-US" dirty="0"/>
            </a:br>
            <a:r>
              <a:rPr lang="en-US" dirty="0"/>
              <a:t>And happening to fall</a:t>
            </a:r>
            <a:br>
              <a:rPr lang="en-US" dirty="0"/>
            </a:br>
            <a:r>
              <a:rPr lang="en-US" dirty="0"/>
              <a:t>Against his broad and sturdy side,</a:t>
            </a:r>
            <a:br>
              <a:rPr lang="en-US" dirty="0"/>
            </a:br>
            <a:r>
              <a:rPr lang="en-US" dirty="0"/>
              <a:t>At once began to bawl:</a:t>
            </a:r>
            <a:br>
              <a:rPr lang="en-US" dirty="0"/>
            </a:br>
            <a:r>
              <a:rPr lang="en-US" dirty="0"/>
              <a:t>“God bless me! but the Elephant</a:t>
            </a:r>
            <a:br>
              <a:rPr lang="en-US" dirty="0"/>
            </a:br>
            <a:r>
              <a:rPr lang="en-US" dirty="0"/>
              <a:t>Is very like a WALL!”</a:t>
            </a:r>
          </a:p>
        </p:txBody>
      </p:sp>
      <p:sp>
        <p:nvSpPr>
          <p:cNvPr id="3" name="Date Placeholder 2"/>
          <p:cNvSpPr>
            <a:spLocks noGrp="1"/>
          </p:cNvSpPr>
          <p:nvPr>
            <p:ph type="dt" sz="half" idx="10"/>
          </p:nvPr>
        </p:nvSpPr>
        <p:spPr/>
        <p:txBody>
          <a:bodyPr/>
          <a:lstStyle/>
          <a:p>
            <a:fld id="{7B6EE52A-D304-AA49-A643-F902ED08B7FB}"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409" y="609600"/>
            <a:ext cx="8077200" cy="685800"/>
          </a:xfrm>
        </p:spPr>
        <p:style>
          <a:lnRef idx="3">
            <a:schemeClr val="lt1"/>
          </a:lnRef>
          <a:fillRef idx="1">
            <a:schemeClr val="accent1"/>
          </a:fillRef>
          <a:effectRef idx="1">
            <a:schemeClr val="accent1"/>
          </a:effectRef>
          <a:fontRef idx="minor">
            <a:schemeClr val="lt1"/>
          </a:fontRef>
        </p:style>
        <p:txBody>
          <a:bodyPr/>
          <a:lstStyle/>
          <a:p>
            <a:r>
              <a:rPr lang="en-US" dirty="0"/>
              <a:t>Cont’d…</a:t>
            </a:r>
          </a:p>
        </p:txBody>
      </p:sp>
      <p:sp>
        <p:nvSpPr>
          <p:cNvPr id="5" name="Content Placeholder 4"/>
          <p:cNvSpPr>
            <a:spLocks noGrp="1"/>
          </p:cNvSpPr>
          <p:nvPr>
            <p:ph idx="1"/>
          </p:nvPr>
        </p:nvSpPr>
        <p:spPr/>
        <p:txBody>
          <a:bodyPr>
            <a:normAutofit/>
          </a:bodyPr>
          <a:lstStyle/>
          <a:p>
            <a:pPr fontAlgn="base"/>
            <a:r>
              <a:rPr lang="en-US" dirty="0"/>
              <a:t>The </a:t>
            </a:r>
            <a:r>
              <a:rPr lang="en-US" i="1" dirty="0"/>
              <a:t>Second</a:t>
            </a:r>
            <a:r>
              <a:rPr lang="en-US" dirty="0"/>
              <a:t>, feeling of the tusk,</a:t>
            </a:r>
            <a:br>
              <a:rPr lang="en-US" dirty="0"/>
            </a:br>
            <a:r>
              <a:rPr lang="en-US" dirty="0"/>
              <a:t>Cried, “Ho, what have we here,</a:t>
            </a:r>
            <a:br>
              <a:rPr lang="en-US" dirty="0"/>
            </a:br>
            <a:r>
              <a:rPr lang="en-US" dirty="0"/>
              <a:t>So very round and smooth and sharp?</a:t>
            </a:r>
            <a:br>
              <a:rPr lang="en-US" dirty="0"/>
            </a:br>
            <a:r>
              <a:rPr lang="en-US" dirty="0"/>
              <a:t>To me ’tis mighty clear</a:t>
            </a:r>
            <a:br>
              <a:rPr lang="en-US" dirty="0"/>
            </a:br>
            <a:r>
              <a:rPr lang="en-US" dirty="0"/>
              <a:t>This wonder of an Elephant</a:t>
            </a:r>
            <a:br>
              <a:rPr lang="en-US" dirty="0"/>
            </a:br>
            <a:r>
              <a:rPr lang="en-US" dirty="0"/>
              <a:t>Is very like a SPEAR!”</a:t>
            </a:r>
          </a:p>
          <a:p>
            <a:pPr fontAlgn="base"/>
            <a:r>
              <a:rPr lang="en-US" dirty="0"/>
              <a:t>The </a:t>
            </a:r>
            <a:r>
              <a:rPr lang="en-US" i="1" dirty="0"/>
              <a:t>Third</a:t>
            </a:r>
            <a:r>
              <a:rPr lang="en-US" dirty="0"/>
              <a:t> approached the animal,</a:t>
            </a:r>
            <a:br>
              <a:rPr lang="en-US" dirty="0"/>
            </a:br>
            <a:r>
              <a:rPr lang="en-US" dirty="0"/>
              <a:t>And happening to take</a:t>
            </a:r>
            <a:br>
              <a:rPr lang="en-US" dirty="0"/>
            </a:br>
            <a:r>
              <a:rPr lang="en-US" dirty="0"/>
              <a:t>The squirming trunk within his hands,</a:t>
            </a:r>
            <a:br>
              <a:rPr lang="en-US" dirty="0"/>
            </a:br>
            <a:r>
              <a:rPr lang="en-US" dirty="0"/>
              <a:t>Thus boldly up and </a:t>
            </a:r>
            <a:r>
              <a:rPr lang="en-US" dirty="0" err="1"/>
              <a:t>spake</a:t>
            </a:r>
            <a:r>
              <a:rPr lang="en-US" dirty="0"/>
              <a:t>:</a:t>
            </a:r>
            <a:br>
              <a:rPr lang="en-US" dirty="0"/>
            </a:br>
            <a:r>
              <a:rPr lang="en-US" dirty="0"/>
              <a:t>“I see,” </a:t>
            </a:r>
            <a:r>
              <a:rPr lang="en-US" dirty="0" err="1"/>
              <a:t>quoth</a:t>
            </a:r>
            <a:r>
              <a:rPr lang="en-US" dirty="0"/>
              <a:t> he, “the Elephant</a:t>
            </a:r>
            <a:br>
              <a:rPr lang="en-US" dirty="0"/>
            </a:br>
            <a:r>
              <a:rPr lang="en-US" dirty="0"/>
              <a:t>Is very like a SNAKE!”</a:t>
            </a:r>
          </a:p>
          <a:p>
            <a:endParaRPr lang="en-US" dirty="0"/>
          </a:p>
        </p:txBody>
      </p:sp>
      <p:sp>
        <p:nvSpPr>
          <p:cNvPr id="3" name="Date Placeholder 2"/>
          <p:cNvSpPr>
            <a:spLocks noGrp="1"/>
          </p:cNvSpPr>
          <p:nvPr>
            <p:ph type="dt" sz="half" idx="10"/>
          </p:nvPr>
        </p:nvSpPr>
        <p:spPr/>
        <p:txBody>
          <a:bodyPr/>
          <a:lstStyle/>
          <a:p>
            <a:fld id="{FFBA2242-DBBC-CD4F-A635-337C62EF14C4}"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Cont’d…</a:t>
            </a:r>
          </a:p>
        </p:txBody>
      </p:sp>
      <p:sp>
        <p:nvSpPr>
          <p:cNvPr id="5" name="Content Placeholder 4"/>
          <p:cNvSpPr>
            <a:spLocks noGrp="1"/>
          </p:cNvSpPr>
          <p:nvPr>
            <p:ph idx="1"/>
          </p:nvPr>
        </p:nvSpPr>
        <p:spPr>
          <a:xfrm>
            <a:off x="685800" y="1447800"/>
            <a:ext cx="8001000" cy="4572000"/>
          </a:xfrm>
        </p:spPr>
        <p:txBody>
          <a:bodyPr>
            <a:normAutofit/>
          </a:bodyPr>
          <a:lstStyle/>
          <a:p>
            <a:pPr fontAlgn="base"/>
            <a:r>
              <a:rPr lang="en-US" dirty="0"/>
              <a:t>The </a:t>
            </a:r>
            <a:r>
              <a:rPr lang="en-US" i="1" dirty="0"/>
              <a:t>Fourth</a:t>
            </a:r>
            <a:r>
              <a:rPr lang="en-US" dirty="0"/>
              <a:t> reached out an eager hand,</a:t>
            </a:r>
            <a:br>
              <a:rPr lang="en-US" dirty="0"/>
            </a:br>
            <a:r>
              <a:rPr lang="en-US" dirty="0"/>
              <a:t>And felt about the knee</a:t>
            </a:r>
            <a:br>
              <a:rPr lang="en-US" dirty="0"/>
            </a:br>
            <a:r>
              <a:rPr lang="en-US" dirty="0"/>
              <a:t>“What most this wondrous beast is like</a:t>
            </a:r>
            <a:br>
              <a:rPr lang="en-US" dirty="0"/>
            </a:br>
            <a:r>
              <a:rPr lang="en-US" dirty="0"/>
              <a:t>Is mighty plain,” </a:t>
            </a:r>
            <a:r>
              <a:rPr lang="en-US" dirty="0" err="1"/>
              <a:t>quoth</a:t>
            </a:r>
            <a:r>
              <a:rPr lang="en-US" dirty="0"/>
              <a:t> he:</a:t>
            </a:r>
            <a:br>
              <a:rPr lang="en-US" dirty="0"/>
            </a:br>
            <a:r>
              <a:rPr lang="en-US" dirty="0"/>
              <a:t>“</a:t>
            </a:r>
            <a:r>
              <a:rPr lang="en-US" dirty="0" err="1"/>
              <a:t>‘Tis</a:t>
            </a:r>
            <a:r>
              <a:rPr lang="en-US" dirty="0"/>
              <a:t> clear enough the Elephant</a:t>
            </a:r>
            <a:br>
              <a:rPr lang="en-US" dirty="0"/>
            </a:br>
            <a:r>
              <a:rPr lang="en-US" dirty="0"/>
              <a:t>Is very like a TREE!”</a:t>
            </a:r>
          </a:p>
          <a:p>
            <a:pPr fontAlgn="base"/>
            <a:r>
              <a:rPr lang="en-US" dirty="0"/>
              <a:t>The </a:t>
            </a:r>
            <a:r>
              <a:rPr lang="en-US" i="1" dirty="0"/>
              <a:t>Fifth</a:t>
            </a:r>
            <a:r>
              <a:rPr lang="en-US" dirty="0"/>
              <a:t>, who chanced to touch the ear,</a:t>
            </a:r>
            <a:br>
              <a:rPr lang="en-US" dirty="0"/>
            </a:br>
            <a:r>
              <a:rPr lang="en-US" dirty="0"/>
              <a:t>Said: “</a:t>
            </a:r>
            <a:r>
              <a:rPr lang="en-US" dirty="0" err="1"/>
              <a:t>E’en</a:t>
            </a:r>
            <a:r>
              <a:rPr lang="en-US" dirty="0"/>
              <a:t> the blindest man</a:t>
            </a:r>
            <a:br>
              <a:rPr lang="en-US" dirty="0"/>
            </a:br>
            <a:r>
              <a:rPr lang="en-US" dirty="0"/>
              <a:t>Can tell what this resembles most;</a:t>
            </a:r>
            <a:br>
              <a:rPr lang="en-US" dirty="0"/>
            </a:br>
            <a:r>
              <a:rPr lang="en-US" dirty="0"/>
              <a:t>Deny the fact who can,</a:t>
            </a:r>
            <a:br>
              <a:rPr lang="en-US" dirty="0"/>
            </a:br>
            <a:r>
              <a:rPr lang="en-US" dirty="0"/>
              <a:t>This marvel of an Elephant</a:t>
            </a:r>
            <a:br>
              <a:rPr lang="en-US" dirty="0"/>
            </a:br>
            <a:r>
              <a:rPr lang="en-US" dirty="0"/>
              <a:t>Is very like a FAN!”</a:t>
            </a:r>
          </a:p>
          <a:p>
            <a:endParaRPr lang="en-US" dirty="0"/>
          </a:p>
        </p:txBody>
      </p:sp>
      <p:sp>
        <p:nvSpPr>
          <p:cNvPr id="3" name="Date Placeholder 2"/>
          <p:cNvSpPr>
            <a:spLocks noGrp="1"/>
          </p:cNvSpPr>
          <p:nvPr>
            <p:ph type="dt" sz="half" idx="10"/>
          </p:nvPr>
        </p:nvSpPr>
        <p:spPr/>
        <p:txBody>
          <a:bodyPr/>
          <a:lstStyle/>
          <a:p>
            <a:fld id="{77DD59FF-7A04-9B4C-83BD-8D7B1BAD2135}"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Cont’d…</a:t>
            </a:r>
          </a:p>
        </p:txBody>
      </p:sp>
      <p:sp>
        <p:nvSpPr>
          <p:cNvPr id="5" name="Content Placeholder 4"/>
          <p:cNvSpPr>
            <a:spLocks noGrp="1"/>
          </p:cNvSpPr>
          <p:nvPr>
            <p:ph idx="1"/>
          </p:nvPr>
        </p:nvSpPr>
        <p:spPr>
          <a:xfrm>
            <a:off x="685800" y="1447800"/>
            <a:ext cx="8001000" cy="4572000"/>
          </a:xfrm>
        </p:spPr>
        <p:txBody>
          <a:bodyPr>
            <a:normAutofit/>
          </a:bodyPr>
          <a:lstStyle/>
          <a:p>
            <a:pPr fontAlgn="base"/>
            <a:r>
              <a:rPr lang="en-US" dirty="0"/>
              <a:t>The </a:t>
            </a:r>
            <a:r>
              <a:rPr lang="en-US" i="1" dirty="0"/>
              <a:t>Sixth</a:t>
            </a:r>
            <a:r>
              <a:rPr lang="en-US" dirty="0"/>
              <a:t> no sooner had begun</a:t>
            </a:r>
            <a:br>
              <a:rPr lang="en-US" dirty="0"/>
            </a:br>
            <a:r>
              <a:rPr lang="en-US" dirty="0"/>
              <a:t>About the beast to grope,</a:t>
            </a:r>
            <a:br>
              <a:rPr lang="en-US" dirty="0"/>
            </a:br>
            <a:r>
              <a:rPr lang="en-US" dirty="0"/>
              <a:t>Than seizing on the swinging tail</a:t>
            </a:r>
            <a:br>
              <a:rPr lang="en-US" dirty="0"/>
            </a:br>
            <a:r>
              <a:rPr lang="en-US" dirty="0"/>
              <a:t>That fell within his scope,</a:t>
            </a:r>
            <a:br>
              <a:rPr lang="en-US" dirty="0"/>
            </a:br>
            <a:r>
              <a:rPr lang="en-US" dirty="0"/>
              <a:t>“I see,” </a:t>
            </a:r>
            <a:r>
              <a:rPr lang="en-US" dirty="0" err="1"/>
              <a:t>quoth</a:t>
            </a:r>
            <a:r>
              <a:rPr lang="en-US" dirty="0"/>
              <a:t> he, “the Elephant</a:t>
            </a:r>
            <a:br>
              <a:rPr lang="en-US" dirty="0"/>
            </a:br>
            <a:r>
              <a:rPr lang="en-US" dirty="0"/>
              <a:t>Is very like a ROPE!”</a:t>
            </a:r>
          </a:p>
          <a:p>
            <a:pPr fontAlgn="base"/>
            <a:r>
              <a:rPr lang="en-US" dirty="0"/>
              <a:t>And so these men of Indostan</a:t>
            </a:r>
            <a:br>
              <a:rPr lang="en-US" dirty="0"/>
            </a:br>
            <a:r>
              <a:rPr lang="en-US" dirty="0"/>
              <a:t>Disputed loud and long,</a:t>
            </a:r>
            <a:br>
              <a:rPr lang="en-US" dirty="0"/>
            </a:br>
            <a:r>
              <a:rPr lang="en-US" dirty="0"/>
              <a:t>Each in his own opinion</a:t>
            </a:r>
            <a:br>
              <a:rPr lang="en-US" dirty="0"/>
            </a:br>
            <a:r>
              <a:rPr lang="en-US" dirty="0"/>
              <a:t>Exceeding stiff and strong,</a:t>
            </a:r>
            <a:br>
              <a:rPr lang="en-US" dirty="0"/>
            </a:br>
            <a:r>
              <a:rPr lang="en-US" dirty="0"/>
              <a:t>Though each was partly in the right,</a:t>
            </a:r>
          </a:p>
          <a:p>
            <a:pPr fontAlgn="base"/>
            <a:r>
              <a:rPr lang="en-US" dirty="0"/>
              <a:t>And all were in the wrong.</a:t>
            </a:r>
          </a:p>
          <a:p>
            <a:endParaRPr lang="en-US" dirty="0"/>
          </a:p>
        </p:txBody>
      </p:sp>
      <p:sp>
        <p:nvSpPr>
          <p:cNvPr id="3" name="Date Placeholder 2"/>
          <p:cNvSpPr>
            <a:spLocks noGrp="1"/>
          </p:cNvSpPr>
          <p:nvPr>
            <p:ph type="dt" sz="half" idx="10"/>
          </p:nvPr>
        </p:nvSpPr>
        <p:spPr/>
        <p:txBody>
          <a:bodyPr/>
          <a:lstStyle/>
          <a:p>
            <a:fld id="{A69D5658-03C7-0844-870C-35CBB9F447DC}"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Faces of Truth </a:t>
            </a:r>
          </a:p>
        </p:txBody>
      </p:sp>
      <p:sp>
        <p:nvSpPr>
          <p:cNvPr id="5" name="Date Placeholder 4"/>
          <p:cNvSpPr>
            <a:spLocks noGrp="1"/>
          </p:cNvSpPr>
          <p:nvPr>
            <p:ph type="dt" sz="half" idx="10"/>
          </p:nvPr>
        </p:nvSpPr>
        <p:spPr/>
        <p:txBody>
          <a:bodyPr/>
          <a:lstStyle/>
          <a:p>
            <a:fld id="{8FA7D6F6-2E59-9940-AD06-6B264A177FFE}" type="datetime1">
              <a:rPr lang="en-US" smtClean="0"/>
              <a:t>10/24/22</a:t>
            </a:fld>
            <a:endParaRPr lang="en-US"/>
          </a:p>
        </p:txBody>
      </p:sp>
      <p:sp>
        <p:nvSpPr>
          <p:cNvPr id="6" name="Footer Placeholder 5"/>
          <p:cNvSpPr>
            <a:spLocks noGrp="1"/>
          </p:cNvSpPr>
          <p:nvPr>
            <p:ph type="ftr" sz="quarter" idx="11"/>
          </p:nvPr>
        </p:nvSpPr>
        <p:spPr/>
        <p:txBody>
          <a:bodyPr/>
          <a:lstStyle/>
          <a:p>
            <a:endParaRPr lang="en-US"/>
          </a:p>
        </p:txBody>
      </p:sp>
      <p:sp>
        <p:nvSpPr>
          <p:cNvPr id="4" name="Rounded Rectangle 3"/>
          <p:cNvSpPr/>
          <p:nvPr/>
        </p:nvSpPr>
        <p:spPr>
          <a:xfrm>
            <a:off x="685800" y="1752600"/>
            <a:ext cx="7772400" cy="426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Reality is material</a:t>
            </a:r>
          </a:p>
          <a:p>
            <a:pPr algn="ctr"/>
            <a:r>
              <a:rPr lang="en-US" sz="2800" b="1" dirty="0"/>
              <a:t>Reality is ideal/spiritual</a:t>
            </a:r>
          </a:p>
          <a:p>
            <a:pPr algn="ctr"/>
            <a:r>
              <a:rPr lang="en-US" sz="2800" b="1" dirty="0"/>
              <a:t>Reality is dual </a:t>
            </a:r>
          </a:p>
          <a:p>
            <a:pPr algn="ctr"/>
            <a:endParaRPr lang="en-US" sz="2800" b="1" dirty="0"/>
          </a:p>
          <a:p>
            <a:pPr algn="ctr"/>
            <a:r>
              <a:rPr lang="en-US" sz="2800" b="1" dirty="0"/>
              <a:t>We need to understand the paradigms people use to see the reality of the world. It should never hinder our communication with people. Every person has right to have different worldview!</a:t>
            </a:r>
          </a:p>
          <a:p>
            <a:pPr algn="ct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in the context </a:t>
            </a:r>
          </a:p>
        </p:txBody>
      </p:sp>
      <p:sp>
        <p:nvSpPr>
          <p:cNvPr id="3" name="Content Placeholder 2"/>
          <p:cNvSpPr>
            <a:spLocks noGrp="1"/>
          </p:cNvSpPr>
          <p:nvPr>
            <p:ph idx="1"/>
          </p:nvPr>
        </p:nvSpPr>
        <p:spPr>
          <a:xfrm>
            <a:off x="914400" y="1676400"/>
            <a:ext cx="7772400" cy="4572000"/>
          </a:xfrm>
        </p:spPr>
        <p:txBody>
          <a:bodyPr/>
          <a:lstStyle/>
          <a:p>
            <a:endParaRPr lang="en-US" dirty="0"/>
          </a:p>
          <a:p>
            <a:pPr marL="0" indent="0">
              <a:buNone/>
            </a:pPr>
            <a:r>
              <a:rPr lang="en-US" dirty="0"/>
              <a:t> Denotations </a:t>
            </a:r>
          </a:p>
          <a:p>
            <a:r>
              <a:rPr lang="en-US" dirty="0"/>
              <a:t>Connotations</a:t>
            </a:r>
          </a:p>
          <a:p>
            <a:r>
              <a:rPr lang="en-US" dirty="0"/>
              <a:t>Euphemism </a:t>
            </a:r>
          </a:p>
          <a:p>
            <a:r>
              <a:rPr lang="en-US" dirty="0"/>
              <a:t>Snarl words</a:t>
            </a:r>
          </a:p>
          <a:p>
            <a:r>
              <a:rPr lang="en-US" dirty="0"/>
              <a:t>Purr words </a:t>
            </a:r>
          </a:p>
          <a:p>
            <a:r>
              <a:rPr lang="en-US" dirty="0"/>
              <a:t>Jargon</a:t>
            </a:r>
          </a:p>
        </p:txBody>
      </p:sp>
      <p:sp>
        <p:nvSpPr>
          <p:cNvPr id="4" name="Date Placeholder 3"/>
          <p:cNvSpPr>
            <a:spLocks noGrp="1"/>
          </p:cNvSpPr>
          <p:nvPr>
            <p:ph type="dt" sz="half" idx="10"/>
          </p:nvPr>
        </p:nvSpPr>
        <p:spPr/>
        <p:txBody>
          <a:bodyPr/>
          <a:lstStyle/>
          <a:p>
            <a:fld id="{F0D1EBDB-8AD5-EB41-BA89-B84464684FF8}"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Euphemism </a:t>
            </a:r>
          </a:p>
        </p:txBody>
      </p:sp>
      <p:sp>
        <p:nvSpPr>
          <p:cNvPr id="3" name="Content Placeholder 2"/>
          <p:cNvSpPr>
            <a:spLocks noGrp="1"/>
          </p:cNvSpPr>
          <p:nvPr>
            <p:ph idx="1"/>
          </p:nvPr>
        </p:nvSpPr>
        <p:spPr/>
        <p:txBody>
          <a:bodyPr>
            <a:normAutofit fontScale="92500" lnSpcReduction="10000"/>
          </a:bodyPr>
          <a:lstStyle/>
          <a:p>
            <a:r>
              <a:rPr lang="en-US" dirty="0"/>
              <a:t>Coded expressions used for certain situations where literal version of any message can be embarrassing, inappropriate or uncomfortable. </a:t>
            </a:r>
          </a:p>
          <a:p>
            <a:r>
              <a:rPr lang="en-US" dirty="0"/>
              <a:t>English language is full of euphemistic expressions. </a:t>
            </a:r>
          </a:p>
          <a:p>
            <a:pPr>
              <a:buNone/>
            </a:pPr>
            <a:endParaRPr lang="en-US" dirty="0"/>
          </a:p>
          <a:p>
            <a:pPr>
              <a:buNone/>
            </a:pPr>
            <a:r>
              <a:rPr lang="en-US" dirty="0"/>
              <a:t>For example:</a:t>
            </a:r>
          </a:p>
          <a:p>
            <a:pPr>
              <a:buNone/>
            </a:pPr>
            <a:endParaRPr lang="en-US" dirty="0"/>
          </a:p>
          <a:p>
            <a:pPr>
              <a:buFont typeface="Arial" pitchFamily="34" charset="0"/>
              <a:buChar char="•"/>
            </a:pPr>
            <a:r>
              <a:rPr lang="en-US" dirty="0"/>
              <a:t>Armed intervention is used for military attack</a:t>
            </a:r>
          </a:p>
          <a:p>
            <a:pPr>
              <a:buFont typeface="Arial" pitchFamily="34" charset="0"/>
              <a:buChar char="•"/>
            </a:pPr>
            <a:r>
              <a:rPr lang="en-US" dirty="0"/>
              <a:t>Between jobs is used for unemployed </a:t>
            </a:r>
          </a:p>
          <a:p>
            <a:pPr>
              <a:buFont typeface="Arial" pitchFamily="34" charset="0"/>
              <a:buChar char="•"/>
            </a:pPr>
            <a:r>
              <a:rPr lang="en-US" dirty="0"/>
              <a:t>Collateral damage is used for military destruction</a:t>
            </a:r>
          </a:p>
          <a:p>
            <a:pPr>
              <a:buFont typeface="Arial" pitchFamily="34" charset="0"/>
              <a:buChar char="•"/>
            </a:pPr>
            <a:r>
              <a:rPr lang="en-US" dirty="0"/>
              <a:t>Economical with the truth is used for ‘lie’.</a:t>
            </a:r>
          </a:p>
          <a:p>
            <a:pPr>
              <a:buFont typeface="Arial" pitchFamily="34" charset="0"/>
              <a:buChar char="•"/>
            </a:pPr>
            <a:endParaRPr lang="en-US" dirty="0"/>
          </a:p>
        </p:txBody>
      </p:sp>
      <p:sp>
        <p:nvSpPr>
          <p:cNvPr id="4" name="Date Placeholder 3"/>
          <p:cNvSpPr>
            <a:spLocks noGrp="1"/>
          </p:cNvSpPr>
          <p:nvPr>
            <p:ph type="dt" sz="half" idx="10"/>
          </p:nvPr>
        </p:nvSpPr>
        <p:spPr/>
        <p:txBody>
          <a:bodyPr/>
          <a:lstStyle/>
          <a:p>
            <a:fld id="{EC0825EA-A383-1046-A8D1-8DFE31E18770}"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normAutofit lnSpcReduction="10000"/>
          </a:bodyPr>
          <a:lstStyle/>
          <a:p>
            <a:r>
              <a:rPr lang="en-US" dirty="0"/>
              <a:t>George Carlin—an American comedian coined a term ‘soft language’ to describe euphemistic expressions. He said that euphemistic expressions conceal the reality. </a:t>
            </a:r>
          </a:p>
          <a:p>
            <a:r>
              <a:rPr lang="en-US" dirty="0"/>
              <a:t>American English is full of euphemistic expressions in order to hide the truth. Because, Americans have trouble dealing with the reality. For example, </a:t>
            </a:r>
          </a:p>
          <a:p>
            <a:r>
              <a:rPr lang="en-US" dirty="0"/>
              <a:t>The first word war was called ‘shell shock’.</a:t>
            </a:r>
          </a:p>
          <a:p>
            <a:r>
              <a:rPr lang="en-US" dirty="0"/>
              <a:t>The second world war was called ‘battle fatigue’.</a:t>
            </a:r>
          </a:p>
          <a:p>
            <a:r>
              <a:rPr lang="en-US" dirty="0"/>
              <a:t>They had a war in Vietnam and called it ‘Post-traumatic Stress Disorder’.</a:t>
            </a:r>
          </a:p>
          <a:p>
            <a:r>
              <a:rPr lang="en-US" dirty="0"/>
              <a:t>They had a war with Korea in 1950s and called it ‘operational Exhaustion.’</a:t>
            </a:r>
          </a:p>
          <a:p>
            <a:endParaRPr lang="en-US" dirty="0"/>
          </a:p>
          <a:p>
            <a:endParaRPr lang="en-US" dirty="0"/>
          </a:p>
        </p:txBody>
      </p:sp>
      <p:sp>
        <p:nvSpPr>
          <p:cNvPr id="4" name="Date Placeholder 3"/>
          <p:cNvSpPr>
            <a:spLocks noGrp="1"/>
          </p:cNvSpPr>
          <p:nvPr>
            <p:ph type="dt" sz="half" idx="10"/>
          </p:nvPr>
        </p:nvSpPr>
        <p:spPr/>
        <p:txBody>
          <a:bodyPr/>
          <a:lstStyle/>
          <a:p>
            <a:fld id="{7C376459-9DDE-3643-9A42-D105915FE5CD}"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Snarl Words </a:t>
            </a:r>
          </a:p>
        </p:txBody>
      </p:sp>
      <p:sp>
        <p:nvSpPr>
          <p:cNvPr id="3" name="Content Placeholder 2"/>
          <p:cNvSpPr>
            <a:spLocks noGrp="1"/>
          </p:cNvSpPr>
          <p:nvPr>
            <p:ph idx="1"/>
          </p:nvPr>
        </p:nvSpPr>
        <p:spPr/>
        <p:txBody>
          <a:bodyPr/>
          <a:lstStyle/>
          <a:p>
            <a:r>
              <a:rPr lang="en-US" dirty="0"/>
              <a:t>They are very harsh words and sometimes used in certain contexts. They need to be avoided as they embarrass the hearers or speakers in communication.</a:t>
            </a:r>
          </a:p>
          <a:p>
            <a:r>
              <a:rPr lang="en-US" dirty="0"/>
              <a:t>Snarl words are shocking words!</a:t>
            </a:r>
          </a:p>
          <a:p>
            <a:r>
              <a:rPr lang="en-US" dirty="0"/>
              <a:t>Animal names when used for human beings are snarl words. Example: Pig, chicken, donkey.</a:t>
            </a:r>
          </a:p>
          <a:p>
            <a:endParaRPr lang="en-US" dirty="0"/>
          </a:p>
          <a:p>
            <a:r>
              <a:rPr lang="en-US" dirty="0"/>
              <a:t>He is an idiot. </a:t>
            </a:r>
          </a:p>
          <a:p>
            <a:endParaRPr lang="en-US" dirty="0"/>
          </a:p>
        </p:txBody>
      </p:sp>
      <p:sp>
        <p:nvSpPr>
          <p:cNvPr id="4" name="Date Placeholder 3"/>
          <p:cNvSpPr>
            <a:spLocks noGrp="1"/>
          </p:cNvSpPr>
          <p:nvPr>
            <p:ph type="dt" sz="half" idx="10"/>
          </p:nvPr>
        </p:nvSpPr>
        <p:spPr/>
        <p:txBody>
          <a:bodyPr/>
          <a:lstStyle/>
          <a:p>
            <a:fld id="{4C912A1A-79B7-1E46-988C-1154781DEF92}"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Purr words </a:t>
            </a:r>
          </a:p>
        </p:txBody>
      </p:sp>
      <p:sp>
        <p:nvSpPr>
          <p:cNvPr id="3" name="Content Placeholder 2"/>
          <p:cNvSpPr>
            <a:spLocks noGrp="1"/>
          </p:cNvSpPr>
          <p:nvPr>
            <p:ph idx="1"/>
          </p:nvPr>
        </p:nvSpPr>
        <p:spPr/>
        <p:txBody>
          <a:bodyPr/>
          <a:lstStyle/>
          <a:p>
            <a:r>
              <a:rPr lang="en-US" dirty="0"/>
              <a:t>Purr words are highly positive words. For example, </a:t>
            </a:r>
          </a:p>
          <a:p>
            <a:endParaRPr lang="en-US" dirty="0"/>
          </a:p>
          <a:p>
            <a:r>
              <a:rPr lang="en-US" dirty="0"/>
              <a:t>She is a real sweet-heart.</a:t>
            </a:r>
          </a:p>
          <a:p>
            <a:r>
              <a:rPr lang="en-US" dirty="0"/>
              <a:t>He is a dream. </a:t>
            </a:r>
          </a:p>
          <a:p>
            <a:r>
              <a:rPr lang="en-US" dirty="0"/>
              <a:t>My niece is a cute doll.</a:t>
            </a:r>
          </a:p>
        </p:txBody>
      </p:sp>
      <p:sp>
        <p:nvSpPr>
          <p:cNvPr id="4" name="Date Placeholder 3"/>
          <p:cNvSpPr>
            <a:spLocks noGrp="1"/>
          </p:cNvSpPr>
          <p:nvPr>
            <p:ph type="dt" sz="half" idx="10"/>
          </p:nvPr>
        </p:nvSpPr>
        <p:spPr/>
        <p:txBody>
          <a:bodyPr/>
          <a:lstStyle/>
          <a:p>
            <a:fld id="{8342C786-B25E-474E-BECE-D7B99718971E}"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Jargon </a:t>
            </a:r>
          </a:p>
        </p:txBody>
      </p:sp>
      <p:sp>
        <p:nvSpPr>
          <p:cNvPr id="3" name="Content Placeholder 2"/>
          <p:cNvSpPr>
            <a:spLocks noGrp="1"/>
          </p:cNvSpPr>
          <p:nvPr>
            <p:ph idx="1"/>
          </p:nvPr>
        </p:nvSpPr>
        <p:spPr/>
        <p:txBody>
          <a:bodyPr/>
          <a:lstStyle/>
          <a:p>
            <a:r>
              <a:rPr lang="en-US" dirty="0"/>
              <a:t>The specialized language of the professional or other group often meaningless to the outsiders. </a:t>
            </a:r>
          </a:p>
        </p:txBody>
      </p:sp>
      <p:sp>
        <p:nvSpPr>
          <p:cNvPr id="4" name="Date Placeholder 3"/>
          <p:cNvSpPr>
            <a:spLocks noGrp="1"/>
          </p:cNvSpPr>
          <p:nvPr>
            <p:ph type="dt" sz="half" idx="10"/>
          </p:nvPr>
        </p:nvSpPr>
        <p:spPr/>
        <p:txBody>
          <a:bodyPr/>
          <a:lstStyle/>
          <a:p>
            <a:fld id="{259E7D4B-1F71-1D47-A32B-3CDE67656445}" type="datetime1">
              <a:rPr lang="en-US" smtClean="0"/>
              <a:t>10/24/22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Sender-Encoder</a:t>
            </a:r>
          </a:p>
        </p:txBody>
      </p:sp>
      <p:sp>
        <p:nvSpPr>
          <p:cNvPr id="5" name="Content Placeholder 4"/>
          <p:cNvSpPr>
            <a:spLocks noGrp="1"/>
          </p:cNvSpPr>
          <p:nvPr>
            <p:ph idx="1"/>
          </p:nvPr>
        </p:nvSpPr>
        <p:spPr>
          <a:xfrm>
            <a:off x="685800" y="1828800"/>
            <a:ext cx="8001000" cy="4191000"/>
          </a:xfrm>
        </p:spPr>
        <p:txBody>
          <a:bodyPr/>
          <a:lstStyle/>
          <a:p>
            <a:r>
              <a:rPr lang="en-US" dirty="0"/>
              <a:t>When you send a message, you are the “encoder”.</a:t>
            </a:r>
          </a:p>
          <a:p>
            <a:r>
              <a:rPr lang="en-US" dirty="0"/>
              <a:t>As a Sender-Encoder, you use symbols, words, graphics or pictures that express your message and create the desired response.</a:t>
            </a:r>
          </a:p>
          <a:p>
            <a:r>
              <a:rPr lang="en-US" dirty="0"/>
              <a:t>Encoding refers to bringing your message into a form (arranged shape of words so that a meaning is created for exchange of certain ideas)</a:t>
            </a:r>
          </a:p>
          <a:p>
            <a:r>
              <a:rPr lang="en-US" dirty="0"/>
              <a:t>We as a speaker or writer always encode information that we wish to convey to the people. </a:t>
            </a:r>
          </a:p>
        </p:txBody>
      </p:sp>
      <p:sp>
        <p:nvSpPr>
          <p:cNvPr id="3" name="Date Placeholder 2"/>
          <p:cNvSpPr>
            <a:spLocks noGrp="1"/>
          </p:cNvSpPr>
          <p:nvPr>
            <p:ph type="dt" sz="half" idx="10"/>
          </p:nvPr>
        </p:nvSpPr>
        <p:spPr/>
        <p:txBody>
          <a:bodyPr/>
          <a:lstStyle/>
          <a:p>
            <a:fld id="{D8413C6D-ACBD-0542-894B-4B6C16E2C99F}"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Message </a:t>
            </a:r>
          </a:p>
        </p:txBody>
      </p:sp>
      <p:sp>
        <p:nvSpPr>
          <p:cNvPr id="5" name="Content Placeholder 4"/>
          <p:cNvSpPr>
            <a:spLocks noGrp="1"/>
          </p:cNvSpPr>
          <p:nvPr>
            <p:ph idx="1"/>
          </p:nvPr>
        </p:nvSpPr>
        <p:spPr>
          <a:xfrm>
            <a:off x="685800" y="1447800"/>
            <a:ext cx="8001000" cy="4572000"/>
          </a:xfrm>
        </p:spPr>
        <p:txBody>
          <a:bodyPr/>
          <a:lstStyle/>
          <a:p>
            <a:r>
              <a:rPr lang="en-US" dirty="0"/>
              <a:t>The message is core idea that you wish to communicate. </a:t>
            </a:r>
          </a:p>
          <a:p>
            <a:r>
              <a:rPr lang="en-US" dirty="0"/>
              <a:t>Message consists of both verbal (written or spoken) symbols and non-verbal (unspoken words). </a:t>
            </a:r>
          </a:p>
        </p:txBody>
      </p:sp>
      <p:sp>
        <p:nvSpPr>
          <p:cNvPr id="3" name="Date Placeholder 2"/>
          <p:cNvSpPr>
            <a:spLocks noGrp="1"/>
          </p:cNvSpPr>
          <p:nvPr>
            <p:ph type="dt" sz="half" idx="10"/>
          </p:nvPr>
        </p:nvSpPr>
        <p:spPr/>
        <p:txBody>
          <a:bodyPr/>
          <a:lstStyle/>
          <a:p>
            <a:fld id="{AA8147A4-977A-B84E-899C-232F69AD08F8}"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pic>
        <p:nvPicPr>
          <p:cNvPr id="2051" name="Picture 3" descr="C:\Users\Syed Waqar\Desktop\download.jpg"/>
          <p:cNvPicPr>
            <a:picLocks noChangeAspect="1" noChangeArrowheads="1"/>
          </p:cNvPicPr>
          <p:nvPr/>
        </p:nvPicPr>
        <p:blipFill>
          <a:blip r:embed="rId2"/>
          <a:srcRect/>
          <a:stretch>
            <a:fillRect/>
          </a:stretch>
        </p:blipFill>
        <p:spPr bwMode="auto">
          <a:xfrm>
            <a:off x="762000" y="2895600"/>
            <a:ext cx="2667000" cy="3276600"/>
          </a:xfrm>
          <a:prstGeom prst="rect">
            <a:avLst/>
          </a:prstGeom>
          <a:noFill/>
        </p:spPr>
      </p:pic>
      <p:pic>
        <p:nvPicPr>
          <p:cNvPr id="2052" name="Picture 4" descr="C:\Users\Syed Waqar\Desktop\images (1).jpg"/>
          <p:cNvPicPr>
            <a:picLocks noChangeAspect="1" noChangeArrowheads="1"/>
          </p:cNvPicPr>
          <p:nvPr/>
        </p:nvPicPr>
        <p:blipFill>
          <a:blip r:embed="rId3"/>
          <a:srcRect/>
          <a:stretch>
            <a:fillRect/>
          </a:stretch>
        </p:blipFill>
        <p:spPr bwMode="auto">
          <a:xfrm>
            <a:off x="5181600" y="2819400"/>
            <a:ext cx="3276600" cy="23622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Medium </a:t>
            </a:r>
          </a:p>
        </p:txBody>
      </p:sp>
      <p:sp>
        <p:nvSpPr>
          <p:cNvPr id="5" name="Content Placeholder 4"/>
          <p:cNvSpPr>
            <a:spLocks noGrp="1"/>
          </p:cNvSpPr>
          <p:nvPr>
            <p:ph idx="1"/>
          </p:nvPr>
        </p:nvSpPr>
        <p:spPr>
          <a:xfrm>
            <a:off x="685800" y="1447800"/>
            <a:ext cx="8001000" cy="4572000"/>
          </a:xfrm>
        </p:spPr>
        <p:txBody>
          <a:bodyPr/>
          <a:lstStyle/>
          <a:p>
            <a:r>
              <a:rPr lang="en-US" dirty="0"/>
              <a:t>Medium is a channel that a sender chooses to send information or exchange ideas with the receiver. </a:t>
            </a:r>
          </a:p>
          <a:p>
            <a:r>
              <a:rPr lang="en-US" dirty="0"/>
              <a:t>It can an electronic channel (e-mails, written word manually, or a sound)</a:t>
            </a:r>
          </a:p>
          <a:p>
            <a:r>
              <a:rPr lang="en-US" dirty="0"/>
              <a:t>The choice of medium is influenced by the relationship between sender and receiver. </a:t>
            </a:r>
          </a:p>
        </p:txBody>
      </p:sp>
      <p:sp>
        <p:nvSpPr>
          <p:cNvPr id="3" name="Date Placeholder 2"/>
          <p:cNvSpPr>
            <a:spLocks noGrp="1"/>
          </p:cNvSpPr>
          <p:nvPr>
            <p:ph type="dt" sz="half" idx="10"/>
          </p:nvPr>
        </p:nvSpPr>
        <p:spPr/>
        <p:txBody>
          <a:bodyPr/>
          <a:lstStyle/>
          <a:p>
            <a:fld id="{93B2B300-C9EA-9645-9149-1828337FD2AD}"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pic>
        <p:nvPicPr>
          <p:cNvPr id="3074" name="Picture 2" descr="C:\Users\Syed Waqar\Desktop\download (1).jpg"/>
          <p:cNvPicPr>
            <a:picLocks noChangeAspect="1" noChangeArrowheads="1"/>
          </p:cNvPicPr>
          <p:nvPr/>
        </p:nvPicPr>
        <p:blipFill>
          <a:blip r:embed="rId2"/>
          <a:srcRect/>
          <a:stretch>
            <a:fillRect/>
          </a:stretch>
        </p:blipFill>
        <p:spPr bwMode="auto">
          <a:xfrm>
            <a:off x="762000" y="4114800"/>
            <a:ext cx="3276600" cy="1924050"/>
          </a:xfrm>
          <a:prstGeom prst="rect">
            <a:avLst/>
          </a:prstGeom>
          <a:noFill/>
        </p:spPr>
      </p:pic>
      <p:pic>
        <p:nvPicPr>
          <p:cNvPr id="3075" name="Picture 3" descr="C:\Users\Syed Waqar\Desktop\download (2).jpg"/>
          <p:cNvPicPr>
            <a:picLocks noChangeAspect="1" noChangeArrowheads="1"/>
          </p:cNvPicPr>
          <p:nvPr/>
        </p:nvPicPr>
        <p:blipFill>
          <a:blip r:embed="rId3"/>
          <a:srcRect/>
          <a:stretch>
            <a:fillRect/>
          </a:stretch>
        </p:blipFill>
        <p:spPr bwMode="auto">
          <a:xfrm>
            <a:off x="5410200" y="3810000"/>
            <a:ext cx="2819400" cy="21336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1143000"/>
          </a:xfrm>
        </p:spPr>
        <p:style>
          <a:lnRef idx="3">
            <a:schemeClr val="lt1"/>
          </a:lnRef>
          <a:fillRef idx="1">
            <a:schemeClr val="accent1"/>
          </a:fillRef>
          <a:effectRef idx="1">
            <a:schemeClr val="accent1"/>
          </a:effectRef>
          <a:fontRef idx="minor">
            <a:schemeClr val="lt1"/>
          </a:fontRef>
        </p:style>
        <p:txBody>
          <a:bodyPr/>
          <a:lstStyle/>
          <a:p>
            <a:r>
              <a:rPr lang="en-US" dirty="0"/>
              <a:t>Receiver-Decoder</a:t>
            </a:r>
          </a:p>
        </p:txBody>
      </p:sp>
      <p:sp>
        <p:nvSpPr>
          <p:cNvPr id="5" name="Content Placeholder 4"/>
          <p:cNvSpPr>
            <a:spLocks noGrp="1"/>
          </p:cNvSpPr>
          <p:nvPr>
            <p:ph idx="1"/>
          </p:nvPr>
        </p:nvSpPr>
        <p:spPr>
          <a:xfrm>
            <a:off x="762000" y="1905000"/>
            <a:ext cx="7924800" cy="4114800"/>
          </a:xfrm>
        </p:spPr>
        <p:txBody>
          <a:bodyPr/>
          <a:lstStyle/>
          <a:p>
            <a:r>
              <a:rPr lang="en-US" dirty="0"/>
              <a:t>The message receiver is your reader or listener.</a:t>
            </a:r>
          </a:p>
          <a:p>
            <a:r>
              <a:rPr lang="en-US" dirty="0"/>
              <a:t>Also, known as the ‘Decoder’. </a:t>
            </a:r>
          </a:p>
          <a:p>
            <a:r>
              <a:rPr lang="en-US" dirty="0"/>
              <a:t>Decode means to understand or interpret information to make sense of it. </a:t>
            </a:r>
          </a:p>
          <a:p>
            <a:pPr>
              <a:buNone/>
            </a:pPr>
            <a:endParaRPr lang="en-US" dirty="0"/>
          </a:p>
        </p:txBody>
      </p:sp>
      <p:sp>
        <p:nvSpPr>
          <p:cNvPr id="3" name="Date Placeholder 2"/>
          <p:cNvSpPr>
            <a:spLocks noGrp="1"/>
          </p:cNvSpPr>
          <p:nvPr>
            <p:ph type="dt" sz="half" idx="10"/>
          </p:nvPr>
        </p:nvSpPr>
        <p:spPr/>
        <p:txBody>
          <a:bodyPr/>
          <a:lstStyle/>
          <a:p>
            <a:fld id="{4E31AE2B-3C97-E748-A75D-3A742EBD9392}"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1143000"/>
          </a:xfrm>
        </p:spPr>
        <p:style>
          <a:lnRef idx="3">
            <a:schemeClr val="lt1"/>
          </a:lnRef>
          <a:fillRef idx="1">
            <a:schemeClr val="accent1"/>
          </a:fillRef>
          <a:effectRef idx="1">
            <a:schemeClr val="accent1"/>
          </a:effectRef>
          <a:fontRef idx="minor">
            <a:schemeClr val="lt1"/>
          </a:fontRef>
        </p:style>
        <p:txBody>
          <a:bodyPr/>
          <a:lstStyle/>
          <a:p>
            <a:r>
              <a:rPr lang="en-US" dirty="0"/>
              <a:t>Feedback </a:t>
            </a:r>
          </a:p>
        </p:txBody>
      </p:sp>
      <p:sp>
        <p:nvSpPr>
          <p:cNvPr id="5" name="Content Placeholder 4"/>
          <p:cNvSpPr>
            <a:spLocks noGrp="1"/>
          </p:cNvSpPr>
          <p:nvPr>
            <p:ph idx="1"/>
          </p:nvPr>
        </p:nvSpPr>
        <p:spPr>
          <a:xfrm>
            <a:off x="685800" y="1447800"/>
            <a:ext cx="8001000" cy="4572000"/>
          </a:xfrm>
        </p:spPr>
        <p:txBody>
          <a:bodyPr/>
          <a:lstStyle/>
          <a:p>
            <a:r>
              <a:rPr lang="en-US" dirty="0"/>
              <a:t>Feedback can be an oral or a written message, an action or simply silence. </a:t>
            </a:r>
          </a:p>
          <a:p>
            <a:r>
              <a:rPr lang="en-US" dirty="0"/>
              <a:t>Senders need feedback in order to determine the success or failure of the communication. </a:t>
            </a:r>
          </a:p>
        </p:txBody>
      </p:sp>
      <p:sp>
        <p:nvSpPr>
          <p:cNvPr id="3" name="Date Placeholder 2"/>
          <p:cNvSpPr>
            <a:spLocks noGrp="1"/>
          </p:cNvSpPr>
          <p:nvPr>
            <p:ph type="dt" sz="half" idx="10"/>
          </p:nvPr>
        </p:nvSpPr>
        <p:spPr/>
        <p:txBody>
          <a:bodyPr/>
          <a:lstStyle/>
          <a:p>
            <a:fld id="{F0271F5F-8792-4643-BB3C-BCAE2D701816}"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pic>
        <p:nvPicPr>
          <p:cNvPr id="4098" name="Picture 2" descr="C:\Users\Syed Waqar\Desktop\images (2).jpg"/>
          <p:cNvPicPr>
            <a:picLocks noChangeAspect="1" noChangeArrowheads="1"/>
          </p:cNvPicPr>
          <p:nvPr/>
        </p:nvPicPr>
        <p:blipFill>
          <a:blip r:embed="rId2"/>
          <a:srcRect/>
          <a:stretch>
            <a:fillRect/>
          </a:stretch>
        </p:blipFill>
        <p:spPr bwMode="auto">
          <a:xfrm>
            <a:off x="1447800" y="3352800"/>
            <a:ext cx="5943600" cy="2162175"/>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1" name="Oval 19"/>
          <p:cNvSpPr>
            <a:spLocks noChangeArrowheads="1"/>
          </p:cNvSpPr>
          <p:nvPr/>
        </p:nvSpPr>
        <p:spPr bwMode="auto">
          <a:xfrm>
            <a:off x="1981200" y="2133600"/>
            <a:ext cx="4724400" cy="3581400"/>
          </a:xfrm>
          <a:prstGeom prst="ellipse">
            <a:avLst/>
          </a:prstGeom>
          <a:ln>
            <a:headEnd/>
            <a:tailEnd/>
          </a:ln>
        </p:spPr>
        <p:style>
          <a:lnRef idx="3">
            <a:schemeClr val="lt1"/>
          </a:lnRef>
          <a:fillRef idx="1">
            <a:schemeClr val="accent1"/>
          </a:fillRef>
          <a:effectRef idx="1">
            <a:schemeClr val="accent1"/>
          </a:effectRef>
          <a:fontRef idx="minor">
            <a:schemeClr val="lt1"/>
          </a:fontRef>
        </p:style>
        <p:txBody>
          <a:bodyPr wrap="none" lIns="91431" tIns="45715" rIns="91431" bIns="45715" anchor="ctr"/>
          <a:lstStyle/>
          <a:p>
            <a:pPr>
              <a:defRPr/>
            </a:pPr>
            <a:endParaRPr lang="en-IN"/>
          </a:p>
        </p:txBody>
      </p:sp>
      <p:sp>
        <p:nvSpPr>
          <p:cNvPr id="8196" name="Text Box 4"/>
          <p:cNvSpPr txBox="1">
            <a:spLocks noChangeArrowheads="1"/>
          </p:cNvSpPr>
          <p:nvPr/>
        </p:nvSpPr>
        <p:spPr bwMode="auto">
          <a:xfrm>
            <a:off x="3581400" y="1981200"/>
            <a:ext cx="18288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dirty="0"/>
              <a:t>Sender</a:t>
            </a:r>
          </a:p>
        </p:txBody>
      </p:sp>
      <p:sp>
        <p:nvSpPr>
          <p:cNvPr id="8198" name="Text Box 6"/>
          <p:cNvSpPr txBox="1">
            <a:spLocks noChangeArrowheads="1"/>
          </p:cNvSpPr>
          <p:nvPr/>
        </p:nvSpPr>
        <p:spPr bwMode="auto">
          <a:xfrm>
            <a:off x="5562600" y="4800600"/>
            <a:ext cx="22860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a:t>Channel</a:t>
            </a:r>
          </a:p>
        </p:txBody>
      </p:sp>
      <p:sp>
        <p:nvSpPr>
          <p:cNvPr id="8199" name="Text Box 7"/>
          <p:cNvSpPr txBox="1">
            <a:spLocks noChangeArrowheads="1"/>
          </p:cNvSpPr>
          <p:nvPr/>
        </p:nvSpPr>
        <p:spPr bwMode="auto">
          <a:xfrm>
            <a:off x="3505200" y="5410200"/>
            <a:ext cx="18288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dirty="0"/>
              <a:t>Receiver</a:t>
            </a:r>
          </a:p>
        </p:txBody>
      </p:sp>
      <p:sp>
        <p:nvSpPr>
          <p:cNvPr id="8200" name="Text Box 8"/>
          <p:cNvSpPr txBox="1">
            <a:spLocks noChangeArrowheads="1"/>
          </p:cNvSpPr>
          <p:nvPr/>
        </p:nvSpPr>
        <p:spPr bwMode="auto">
          <a:xfrm>
            <a:off x="990600" y="4419600"/>
            <a:ext cx="22860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a:t>Feedback</a:t>
            </a:r>
          </a:p>
        </p:txBody>
      </p:sp>
      <p:sp>
        <p:nvSpPr>
          <p:cNvPr id="8201" name="Text Box 9"/>
          <p:cNvSpPr txBox="1">
            <a:spLocks noChangeArrowheads="1"/>
          </p:cNvSpPr>
          <p:nvPr/>
        </p:nvSpPr>
        <p:spPr bwMode="auto">
          <a:xfrm>
            <a:off x="914400" y="2971800"/>
            <a:ext cx="22860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dirty="0"/>
              <a:t>Channel</a:t>
            </a:r>
          </a:p>
        </p:txBody>
      </p:sp>
      <p:sp>
        <p:nvSpPr>
          <p:cNvPr id="8202" name="Text Box 10"/>
          <p:cNvSpPr txBox="1">
            <a:spLocks noChangeArrowheads="1"/>
          </p:cNvSpPr>
          <p:nvPr/>
        </p:nvSpPr>
        <p:spPr bwMode="auto">
          <a:xfrm>
            <a:off x="5630863" y="2362200"/>
            <a:ext cx="2141537" cy="40163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000" dirty="0"/>
              <a:t>Encoding</a:t>
            </a:r>
          </a:p>
        </p:txBody>
      </p:sp>
      <p:sp>
        <p:nvSpPr>
          <p:cNvPr id="8203" name="Text Box 11"/>
          <p:cNvSpPr txBox="1">
            <a:spLocks noChangeArrowheads="1"/>
          </p:cNvSpPr>
          <p:nvPr/>
        </p:nvSpPr>
        <p:spPr bwMode="auto">
          <a:xfrm>
            <a:off x="1169988" y="5319713"/>
            <a:ext cx="2041525" cy="40163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000" dirty="0"/>
              <a:t>Decoding</a:t>
            </a:r>
          </a:p>
        </p:txBody>
      </p:sp>
      <p:sp>
        <p:nvSpPr>
          <p:cNvPr id="8197" name="Text Box 5"/>
          <p:cNvSpPr txBox="1">
            <a:spLocks noChangeArrowheads="1"/>
          </p:cNvSpPr>
          <p:nvPr/>
        </p:nvSpPr>
        <p:spPr bwMode="auto">
          <a:xfrm>
            <a:off x="5715000" y="3200400"/>
            <a:ext cx="2286000" cy="4667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lIns="91431" tIns="45715" rIns="91431" bIns="45715">
            <a:spAutoFit/>
          </a:bodyPr>
          <a:lstStyle/>
          <a:p>
            <a:pPr algn="ctr">
              <a:spcBef>
                <a:spcPct val="50000"/>
              </a:spcBef>
            </a:pPr>
            <a:r>
              <a:rPr lang="en-US" sz="2400" dirty="0"/>
              <a:t>Message</a:t>
            </a:r>
          </a:p>
        </p:txBody>
      </p:sp>
      <p:sp>
        <p:nvSpPr>
          <p:cNvPr id="11275" name="AutoShape 20"/>
          <p:cNvSpPr>
            <a:spLocks noChangeArrowheads="1"/>
          </p:cNvSpPr>
          <p:nvPr/>
        </p:nvSpPr>
        <p:spPr bwMode="auto">
          <a:xfrm rot="8374436">
            <a:off x="6172200" y="2895600"/>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11276" name="AutoShape 21"/>
          <p:cNvSpPr>
            <a:spLocks noChangeArrowheads="1"/>
          </p:cNvSpPr>
          <p:nvPr/>
        </p:nvSpPr>
        <p:spPr bwMode="auto">
          <a:xfrm rot="-9474030">
            <a:off x="6447994" y="4508728"/>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11277" name="AutoShape 22"/>
          <p:cNvSpPr>
            <a:spLocks noChangeArrowheads="1"/>
          </p:cNvSpPr>
          <p:nvPr/>
        </p:nvSpPr>
        <p:spPr bwMode="auto">
          <a:xfrm rot="-7880127">
            <a:off x="5312858" y="5486400"/>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11278" name="AutoShape 23"/>
          <p:cNvSpPr>
            <a:spLocks noChangeArrowheads="1"/>
          </p:cNvSpPr>
          <p:nvPr/>
        </p:nvSpPr>
        <p:spPr bwMode="auto">
          <a:xfrm rot="-2765945">
            <a:off x="2209800" y="4850779"/>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11279" name="AutoShape 24"/>
          <p:cNvSpPr>
            <a:spLocks noChangeArrowheads="1"/>
          </p:cNvSpPr>
          <p:nvPr/>
        </p:nvSpPr>
        <p:spPr bwMode="auto">
          <a:xfrm rot="440907">
            <a:off x="1828800" y="3481773"/>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11280" name="AutoShape 25"/>
          <p:cNvSpPr>
            <a:spLocks noChangeArrowheads="1"/>
          </p:cNvSpPr>
          <p:nvPr/>
        </p:nvSpPr>
        <p:spPr bwMode="auto">
          <a:xfrm rot="3925653">
            <a:off x="3276600" y="2133600"/>
            <a:ext cx="381000" cy="228600"/>
          </a:xfrm>
          <a:prstGeom prst="triangle">
            <a:avLst>
              <a:gd name="adj" fmla="val 50000"/>
            </a:avLst>
          </a:prstGeom>
          <a:solidFill>
            <a:schemeClr val="tx1"/>
          </a:solidFill>
          <a:ln w="9525">
            <a:solidFill>
              <a:schemeClr val="tx1"/>
            </a:solidFill>
            <a:miter lim="800000"/>
            <a:headEnd/>
            <a:tailEnd/>
          </a:ln>
        </p:spPr>
        <p:txBody>
          <a:bodyPr wrap="none" lIns="91431" tIns="45715" rIns="91431" bIns="45715" anchor="ctr"/>
          <a:lstStyle/>
          <a:p>
            <a:endParaRPr lang="en-IN"/>
          </a:p>
        </p:txBody>
      </p:sp>
      <p:sp>
        <p:nvSpPr>
          <p:cNvPr id="8218" name="Text Box 26"/>
          <p:cNvSpPr txBox="1">
            <a:spLocks noChangeArrowheads="1"/>
          </p:cNvSpPr>
          <p:nvPr/>
        </p:nvSpPr>
        <p:spPr bwMode="auto">
          <a:xfrm>
            <a:off x="3362325" y="3051175"/>
            <a:ext cx="1219200" cy="466725"/>
          </a:xfrm>
          <a:prstGeom prst="rect">
            <a:avLst/>
          </a:prstGeom>
          <a:solidFill>
            <a:schemeClr val="tx1"/>
          </a:solidFill>
          <a:ln w="9525">
            <a:noFill/>
            <a:miter lim="800000"/>
            <a:headEnd/>
            <a:tailEnd/>
          </a:ln>
        </p:spPr>
        <p:txBody>
          <a:bodyPr lIns="91431" tIns="45715" rIns="91431" bIns="45715">
            <a:spAutoFit/>
          </a:bodyPr>
          <a:lstStyle/>
          <a:p>
            <a:pPr algn="ctr">
              <a:spcBef>
                <a:spcPct val="50000"/>
              </a:spcBef>
            </a:pPr>
            <a:r>
              <a:rPr lang="en-US" sz="2400" dirty="0">
                <a:solidFill>
                  <a:schemeClr val="bg1"/>
                </a:solidFill>
              </a:rPr>
              <a:t>Noise</a:t>
            </a:r>
          </a:p>
        </p:txBody>
      </p:sp>
      <p:sp>
        <p:nvSpPr>
          <p:cNvPr id="8219" name="Text Box 27"/>
          <p:cNvSpPr txBox="1">
            <a:spLocks noChangeArrowheads="1"/>
          </p:cNvSpPr>
          <p:nvPr/>
        </p:nvSpPr>
        <p:spPr bwMode="auto">
          <a:xfrm>
            <a:off x="4043363" y="4335463"/>
            <a:ext cx="1219200" cy="468312"/>
          </a:xfrm>
          <a:prstGeom prst="rect">
            <a:avLst/>
          </a:prstGeom>
          <a:solidFill>
            <a:schemeClr val="tx1"/>
          </a:solidFill>
          <a:ln w="9525">
            <a:noFill/>
            <a:miter lim="800000"/>
            <a:headEnd/>
            <a:tailEnd/>
          </a:ln>
        </p:spPr>
        <p:txBody>
          <a:bodyPr lIns="91431" tIns="45715" rIns="91431" bIns="45715">
            <a:spAutoFit/>
          </a:bodyPr>
          <a:lstStyle/>
          <a:p>
            <a:pPr algn="ctr">
              <a:spcBef>
                <a:spcPct val="50000"/>
              </a:spcBef>
            </a:pPr>
            <a:r>
              <a:rPr lang="en-US" sz="2400">
                <a:solidFill>
                  <a:schemeClr val="bg1"/>
                </a:solidFill>
              </a:rPr>
              <a:t>Barrier</a:t>
            </a:r>
          </a:p>
        </p:txBody>
      </p:sp>
      <p:sp>
        <p:nvSpPr>
          <p:cNvPr id="20" name="Title 1"/>
          <p:cNvSpPr txBox="1">
            <a:spLocks/>
          </p:cNvSpPr>
          <p:nvPr/>
        </p:nvSpPr>
        <p:spPr>
          <a:xfrm>
            <a:off x="565150" y="274638"/>
            <a:ext cx="3402013" cy="1143000"/>
          </a:xfrm>
          <a:prstGeom prst="rect">
            <a:avLst/>
          </a:prstGeom>
        </p:spPr>
        <p:txBody>
          <a:bodyPr lIns="96762" tIns="48381" rIns="96762" bIns="48381" anchor="ctr">
            <a:normAutofit/>
          </a:bodyPr>
          <a:lstStyle/>
          <a:p>
            <a:pPr algn="ctr" defTabSz="967618" fontAlgn="auto">
              <a:spcAft>
                <a:spcPts val="0"/>
              </a:spcAft>
              <a:defRPr/>
            </a:pPr>
            <a:r>
              <a:rPr lang="en-US" sz="4700" dirty="0">
                <a:latin typeface="Arial Rounded MT Bold" pitchFamily="34" charset="0"/>
                <a:ea typeface="+mj-ea"/>
                <a:cs typeface="+mj-cs"/>
              </a:rPr>
              <a:t>Process of </a:t>
            </a:r>
            <a:endParaRPr lang="en-IN" sz="4700" dirty="0">
              <a:latin typeface="Arial Rounded MT Bold" pitchFamily="34" charset="0"/>
              <a:ea typeface="+mj-ea"/>
              <a:cs typeface="+mj-cs"/>
            </a:endParaRPr>
          </a:p>
        </p:txBody>
      </p:sp>
      <p:pic>
        <p:nvPicPr>
          <p:cNvPr id="11284" name="Content Placeholder 4" descr="cooltext1211653075.png"/>
          <p:cNvPicPr>
            <a:picLocks noGrp="1" noChangeAspect="1"/>
          </p:cNvPicPr>
          <p:nvPr>
            <p:ph idx="1"/>
          </p:nvPr>
        </p:nvPicPr>
        <p:blipFill>
          <a:blip r:embed="rId2"/>
          <a:srcRect/>
          <a:stretch>
            <a:fillRect/>
          </a:stretch>
        </p:blipFill>
        <p:spPr>
          <a:xfrm>
            <a:off x="4117975" y="263525"/>
            <a:ext cx="4384675" cy="1501775"/>
          </a:xfrm>
        </p:spPr>
      </p:pic>
      <p:sp>
        <p:nvSpPr>
          <p:cNvPr id="2" name="Date Placeholder 1">
            <a:extLst>
              <a:ext uri="{FF2B5EF4-FFF2-40B4-BE49-F238E27FC236}">
                <a16:creationId xmlns:a16="http://schemas.microsoft.com/office/drawing/2014/main" id="{94BE5AC4-B4EB-CFD8-6BDE-6804E25FFE11}"/>
              </a:ext>
            </a:extLst>
          </p:cNvPr>
          <p:cNvSpPr>
            <a:spLocks noGrp="1"/>
          </p:cNvSpPr>
          <p:nvPr>
            <p:ph type="dt" sz="half" idx="10"/>
          </p:nvPr>
        </p:nvSpPr>
        <p:spPr/>
        <p:txBody>
          <a:bodyPr/>
          <a:lstStyle/>
          <a:p>
            <a:fld id="{E9AE4F90-8279-3B49-BA27-BE04FF218E91}" type="datetime1">
              <a:rPr lang="en-US" smtClean="0"/>
              <a:t>10/24/22</a:t>
            </a:fld>
            <a:endParaRPr lang="en-US"/>
          </a:p>
        </p:txBody>
      </p:sp>
      <p:sp>
        <p:nvSpPr>
          <p:cNvPr id="3" name="Footer Placeholder 2">
            <a:extLst>
              <a:ext uri="{FF2B5EF4-FFF2-40B4-BE49-F238E27FC236}">
                <a16:creationId xmlns:a16="http://schemas.microsoft.com/office/drawing/2014/main" id="{50A9572C-DA4A-E883-44C2-D19FDC75D1FA}"/>
              </a:ext>
            </a:extLst>
          </p:cNvPr>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0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2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2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8" grpId="0" animBg="1"/>
      <p:bldP spid="8199" grpId="0" animBg="1"/>
      <p:bldP spid="8200" grpId="0" animBg="1"/>
      <p:bldP spid="8201" grpId="0" animBg="1"/>
      <p:bldP spid="8202" grpId="0" animBg="1"/>
      <p:bldP spid="8197" grpId="0" animBg="1"/>
      <p:bldP spid="8218" grpId="0" animBg="1"/>
      <p:bldP spid="82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a nutshell, </a:t>
            </a:r>
          </a:p>
        </p:txBody>
      </p:sp>
      <p:sp>
        <p:nvSpPr>
          <p:cNvPr id="5" name="Content Placeholder 4"/>
          <p:cNvSpPr>
            <a:spLocks noGrp="1"/>
          </p:cNvSpPr>
          <p:nvPr>
            <p:ph idx="1"/>
          </p:nvPr>
        </p:nvSpPr>
        <p:spPr>
          <a:xfrm>
            <a:off x="799941" y="1905000"/>
            <a:ext cx="7734459" cy="4023360"/>
          </a:xfrm>
        </p:spPr>
        <p:style>
          <a:lnRef idx="3">
            <a:schemeClr val="lt1"/>
          </a:lnRef>
          <a:fillRef idx="1">
            <a:schemeClr val="accent1"/>
          </a:fillRef>
          <a:effectRef idx="1">
            <a:schemeClr val="accent1"/>
          </a:effectRef>
          <a:fontRef idx="minor">
            <a:schemeClr val="lt1"/>
          </a:fontRef>
        </p:style>
        <p:txBody>
          <a:bodyPr>
            <a:normAutofit/>
          </a:bodyPr>
          <a:lstStyle/>
          <a:p>
            <a:pPr>
              <a:buNone/>
            </a:pPr>
            <a:r>
              <a:rPr lang="en-US" sz="4000" dirty="0"/>
              <a:t>	Communication takes place in a context. Context exists in which a sender chooses a message to communicate; the sender must also choose the medium for the message; a receiver decodes the message and provides feedback. </a:t>
            </a:r>
          </a:p>
        </p:txBody>
      </p:sp>
      <p:sp>
        <p:nvSpPr>
          <p:cNvPr id="3" name="Date Placeholder 2"/>
          <p:cNvSpPr>
            <a:spLocks noGrp="1"/>
          </p:cNvSpPr>
          <p:nvPr>
            <p:ph type="dt" sz="half" idx="10"/>
          </p:nvPr>
        </p:nvSpPr>
        <p:spPr/>
        <p:txBody>
          <a:bodyPr/>
          <a:lstStyle/>
          <a:p>
            <a:fld id="{130ADFE6-A63F-224B-855E-F94B6C0939AB}" type="datetime1">
              <a:rPr lang="en-US" smtClean="0"/>
              <a:t>10/24/22</a:t>
            </a:fld>
            <a:endParaRPr lang="en-US"/>
          </a:p>
        </p:txBody>
      </p:sp>
      <p:sp>
        <p:nvSpPr>
          <p:cNvPr id="4" name="Footer Placeholder 3"/>
          <p:cNvSpPr>
            <a:spLocks noGrp="1"/>
          </p:cNvSpPr>
          <p:nvPr>
            <p:ph type="ftr" sz="quarter" idx="11"/>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533</TotalTime>
  <Words>1616</Words>
  <Application>Microsoft Macintosh PowerPoint</Application>
  <PresentationFormat>On-screen Show (4:3)</PresentationFormat>
  <Paragraphs>174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Rounded MT Bold</vt:lpstr>
      <vt:lpstr>Calibri</vt:lpstr>
      <vt:lpstr>Tw Cen MT</vt:lpstr>
      <vt:lpstr>Tw Cen MT Condensed</vt:lpstr>
      <vt:lpstr>Wingdings 3</vt:lpstr>
      <vt:lpstr>Integral</vt:lpstr>
      <vt:lpstr>Communication Skills </vt:lpstr>
      <vt:lpstr>Reflection</vt:lpstr>
      <vt:lpstr>How will you react?</vt:lpstr>
      <vt:lpstr>Non-verbal Communication</vt:lpstr>
      <vt:lpstr>Silence </vt:lpstr>
      <vt:lpstr>Time </vt:lpstr>
      <vt:lpstr>Time cont’d…</vt:lpstr>
      <vt:lpstr>Space </vt:lpstr>
      <vt:lpstr>Space cont’d…</vt:lpstr>
      <vt:lpstr>Facial Expressions </vt:lpstr>
      <vt:lpstr>Gesture, Posture and Movement </vt:lpstr>
      <vt:lpstr>Components of Communication</vt:lpstr>
      <vt:lpstr>Context</vt:lpstr>
      <vt:lpstr>PowerPoint Presentation</vt:lpstr>
      <vt:lpstr>Elephant &amp; Blind people: A parable</vt:lpstr>
      <vt:lpstr>A Poem </vt:lpstr>
      <vt:lpstr>Cont’d…</vt:lpstr>
      <vt:lpstr>Cont’d…</vt:lpstr>
      <vt:lpstr>Cont’d…</vt:lpstr>
      <vt:lpstr>Different Faces of Truth </vt:lpstr>
      <vt:lpstr>Language in the context </vt:lpstr>
      <vt:lpstr>Euphemism </vt:lpstr>
      <vt:lpstr>Cont’d…</vt:lpstr>
      <vt:lpstr>Snarl Words </vt:lpstr>
      <vt:lpstr>Purr words </vt:lpstr>
      <vt:lpstr>Jargon </vt:lpstr>
      <vt:lpstr>Sender-Encoder</vt:lpstr>
      <vt:lpstr>Message </vt:lpstr>
      <vt:lpstr>Medium </vt:lpstr>
      <vt:lpstr>Receiver-Decoder</vt:lpstr>
      <vt:lpstr>Feedback </vt:lpstr>
      <vt:lpstr>PowerPoint Presentation</vt:lpstr>
      <vt:lpstr>In a nutshell,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dc:title>
  <dc:creator>Syed Waqar</dc:creator>
  <cp:lastModifiedBy>talha memon</cp:lastModifiedBy>
  <cp:revision>41</cp:revision>
  <dcterms:created xsi:type="dcterms:W3CDTF">2016-01-12T16:56:03Z</dcterms:created>
  <dcterms:modified xsi:type="dcterms:W3CDTF">2022-10-24T08:05:00Z</dcterms:modified>
</cp:coreProperties>
</file>