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258" r:id="rId3"/>
    <p:sldId id="259" r:id="rId4"/>
    <p:sldId id="260" r:id="rId5"/>
    <p:sldId id="262" r:id="rId6"/>
    <p:sldId id="263" r:id="rId7"/>
    <p:sldId id="264" r:id="rId8"/>
    <p:sldId id="265" r:id="rId9"/>
    <p:sldId id="266" r:id="rId10"/>
    <p:sldId id="267" r:id="rId11"/>
    <p:sldId id="268" r:id="rId12"/>
    <p:sldId id="269" r:id="rId13"/>
    <p:sldId id="270" r:id="rId14"/>
    <p:sldId id="271" r:id="rId15"/>
    <p:sldId id="273" r:id="rId16"/>
    <p:sldId id="274" r:id="rId17"/>
    <p:sldId id="275" r:id="rId18"/>
    <p:sldId id="276"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52" autoAdjust="0"/>
    <p:restoredTop sz="94660"/>
  </p:normalViewPr>
  <p:slideViewPr>
    <p:cSldViewPr snapToGrid="0">
      <p:cViewPr varScale="1">
        <p:scale>
          <a:sx n="117" d="100"/>
          <a:sy n="117"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6480F7-CE4B-458E-8F82-DDB6D3DAB009}" type="datetimeFigureOut">
              <a:rPr lang="en-US" smtClean="0"/>
              <a:t>11/2/22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F5C691-807C-4DC6-9FB5-31ACFD60FFDA}" type="slidenum">
              <a:rPr lang="en-US" smtClean="0"/>
              <a:t>‹#›</a:t>
            </a:fld>
            <a:endParaRPr lang="en-US"/>
          </a:p>
        </p:txBody>
      </p:sp>
    </p:spTree>
    <p:extLst>
      <p:ext uri="{BB962C8B-B14F-4D97-AF65-F5344CB8AC3E}">
        <p14:creationId xmlns:p14="http://schemas.microsoft.com/office/powerpoint/2010/main" val="2291798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EF5C691-807C-4DC6-9FB5-31ACFD60FFDA}" type="slidenum">
              <a:rPr lang="en-US" smtClean="0"/>
              <a:t>1</a:t>
            </a:fld>
            <a:endParaRPr lang="en-US"/>
          </a:p>
        </p:txBody>
      </p:sp>
    </p:spTree>
    <p:extLst>
      <p:ext uri="{BB962C8B-B14F-4D97-AF65-F5344CB8AC3E}">
        <p14:creationId xmlns:p14="http://schemas.microsoft.com/office/powerpoint/2010/main" val="2142914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8EC2CCD-1554-AF43-866A-49E709A51CF9}" type="datetime1">
              <a:rPr lang="en-US" smtClean="0"/>
              <a:t>11/2/22</a:t>
            </a:fld>
            <a:endParaRPr lang="en-US"/>
          </a:p>
        </p:txBody>
      </p:sp>
      <p:sp>
        <p:nvSpPr>
          <p:cNvPr id="5" name="Footer Placeholder 4"/>
          <p:cNvSpPr>
            <a:spLocks noGrp="1"/>
          </p:cNvSpPr>
          <p:nvPr>
            <p:ph type="ftr" sz="quarter" idx="11"/>
          </p:nvPr>
        </p:nvSpPr>
        <p:spPr/>
        <p:txBody>
          <a:bodyPr/>
          <a:lstStyle/>
          <a:p>
            <a:r>
              <a:rPr lang="en-US"/>
              <a:t>Syed Waqar Ali Shah Bukhari, ELDC MUET Jamshoro </a:t>
            </a:r>
          </a:p>
        </p:txBody>
      </p:sp>
      <p:sp>
        <p:nvSpPr>
          <p:cNvPr id="6" name="Slide Number Placeholder 5"/>
          <p:cNvSpPr>
            <a:spLocks noGrp="1"/>
          </p:cNvSpPr>
          <p:nvPr>
            <p:ph type="sldNum" sz="quarter" idx="12"/>
          </p:nvPr>
        </p:nvSpPr>
        <p:spPr/>
        <p:txBody>
          <a:bodyPr/>
          <a:lstStyle/>
          <a:p>
            <a:fld id="{0108EFF4-ED53-4E85-A790-20C8991C4AE1}"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97589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A57DB7-97F9-294C-B444-A043B16D06E1}" type="datetime1">
              <a:rPr lang="en-US" smtClean="0"/>
              <a:t>11/2/22</a:t>
            </a:fld>
            <a:endParaRPr lang="en-US"/>
          </a:p>
        </p:txBody>
      </p:sp>
      <p:sp>
        <p:nvSpPr>
          <p:cNvPr id="5" name="Footer Placeholder 4"/>
          <p:cNvSpPr>
            <a:spLocks noGrp="1"/>
          </p:cNvSpPr>
          <p:nvPr>
            <p:ph type="ftr" sz="quarter" idx="11"/>
          </p:nvPr>
        </p:nvSpPr>
        <p:spPr/>
        <p:txBody>
          <a:bodyPr/>
          <a:lstStyle/>
          <a:p>
            <a:r>
              <a:rPr lang="en-US"/>
              <a:t>Syed Waqar Ali Shah Bukhari, ELDC MUET Jamshoro </a:t>
            </a:r>
          </a:p>
        </p:txBody>
      </p:sp>
      <p:sp>
        <p:nvSpPr>
          <p:cNvPr id="6" name="Slide Number Placeholder 5"/>
          <p:cNvSpPr>
            <a:spLocks noGrp="1"/>
          </p:cNvSpPr>
          <p:nvPr>
            <p:ph type="sldNum" sz="quarter" idx="12"/>
          </p:nvPr>
        </p:nvSpPr>
        <p:spPr/>
        <p:txBody>
          <a:bodyPr/>
          <a:lstStyle/>
          <a:p>
            <a:fld id="{0108EFF4-ED53-4E85-A790-20C8991C4AE1}" type="slidenum">
              <a:rPr lang="en-US" smtClean="0"/>
              <a:t>‹#›</a:t>
            </a:fld>
            <a:endParaRPr lang="en-US"/>
          </a:p>
        </p:txBody>
      </p:sp>
    </p:spTree>
    <p:extLst>
      <p:ext uri="{BB962C8B-B14F-4D97-AF65-F5344CB8AC3E}">
        <p14:creationId xmlns:p14="http://schemas.microsoft.com/office/powerpoint/2010/main" val="1535194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F04DC1-159C-4F41-9800-7A7D47C91456}" type="datetime1">
              <a:rPr lang="en-US" smtClean="0"/>
              <a:t>11/2/22</a:t>
            </a:fld>
            <a:endParaRPr lang="en-US"/>
          </a:p>
        </p:txBody>
      </p:sp>
      <p:sp>
        <p:nvSpPr>
          <p:cNvPr id="5" name="Footer Placeholder 4"/>
          <p:cNvSpPr>
            <a:spLocks noGrp="1"/>
          </p:cNvSpPr>
          <p:nvPr>
            <p:ph type="ftr" sz="quarter" idx="11"/>
          </p:nvPr>
        </p:nvSpPr>
        <p:spPr/>
        <p:txBody>
          <a:bodyPr/>
          <a:lstStyle/>
          <a:p>
            <a:r>
              <a:rPr lang="en-US"/>
              <a:t>Syed Waqar Ali Shah Bukhari, ELDC MUET Jamshoro </a:t>
            </a:r>
          </a:p>
        </p:txBody>
      </p:sp>
      <p:sp>
        <p:nvSpPr>
          <p:cNvPr id="6" name="Slide Number Placeholder 5"/>
          <p:cNvSpPr>
            <a:spLocks noGrp="1"/>
          </p:cNvSpPr>
          <p:nvPr>
            <p:ph type="sldNum" sz="quarter" idx="12"/>
          </p:nvPr>
        </p:nvSpPr>
        <p:spPr/>
        <p:txBody>
          <a:bodyPr/>
          <a:lstStyle/>
          <a:p>
            <a:fld id="{0108EFF4-ED53-4E85-A790-20C8991C4AE1}"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51755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465701-79EF-484E-8756-E77FE6113A42}" type="datetime1">
              <a:rPr lang="en-US" smtClean="0"/>
              <a:t>11/2/22</a:t>
            </a:fld>
            <a:endParaRPr lang="en-US"/>
          </a:p>
        </p:txBody>
      </p:sp>
      <p:sp>
        <p:nvSpPr>
          <p:cNvPr id="6" name="Footer Placeholder 5"/>
          <p:cNvSpPr>
            <a:spLocks noGrp="1"/>
          </p:cNvSpPr>
          <p:nvPr>
            <p:ph type="ftr" sz="quarter" idx="11"/>
          </p:nvPr>
        </p:nvSpPr>
        <p:spPr/>
        <p:txBody>
          <a:bodyPr/>
          <a:lstStyle/>
          <a:p>
            <a:r>
              <a:rPr lang="en-US"/>
              <a:t>Syed Waqar Ali Shah Bukhari, ELDC MUET Jamshoro </a:t>
            </a:r>
          </a:p>
        </p:txBody>
      </p:sp>
      <p:sp>
        <p:nvSpPr>
          <p:cNvPr id="7" name="Slide Number Placeholder 6"/>
          <p:cNvSpPr>
            <a:spLocks noGrp="1"/>
          </p:cNvSpPr>
          <p:nvPr>
            <p:ph type="sldNum" sz="quarter" idx="12"/>
          </p:nvPr>
        </p:nvSpPr>
        <p:spPr/>
        <p:txBody>
          <a:bodyPr/>
          <a:lstStyle/>
          <a:p>
            <a:fld id="{0108EFF4-ED53-4E85-A790-20C8991C4AE1}" type="slidenum">
              <a:rPr lang="en-US" smtClean="0"/>
              <a:t>‹#›</a:t>
            </a:fld>
            <a:endParaRPr lang="en-US"/>
          </a:p>
        </p:txBody>
      </p:sp>
    </p:spTree>
    <p:extLst>
      <p:ext uri="{BB962C8B-B14F-4D97-AF65-F5344CB8AC3E}">
        <p14:creationId xmlns:p14="http://schemas.microsoft.com/office/powerpoint/2010/main" val="109494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A5D6E8-2696-EC4C-8A5B-A19F28AB450D}" type="datetime1">
              <a:rPr lang="en-US" smtClean="0"/>
              <a:t>11/2/22</a:t>
            </a:fld>
            <a:endParaRPr lang="en-US"/>
          </a:p>
        </p:txBody>
      </p:sp>
      <p:sp>
        <p:nvSpPr>
          <p:cNvPr id="8" name="Footer Placeholder 7"/>
          <p:cNvSpPr>
            <a:spLocks noGrp="1"/>
          </p:cNvSpPr>
          <p:nvPr>
            <p:ph type="ftr" sz="quarter" idx="11"/>
          </p:nvPr>
        </p:nvSpPr>
        <p:spPr/>
        <p:txBody>
          <a:bodyPr/>
          <a:lstStyle/>
          <a:p>
            <a:r>
              <a:rPr lang="en-US"/>
              <a:t>Syed Waqar Ali Shah Bukhari, ELDC MUET Jamshoro </a:t>
            </a:r>
          </a:p>
        </p:txBody>
      </p:sp>
      <p:sp>
        <p:nvSpPr>
          <p:cNvPr id="9" name="Slide Number Placeholder 8"/>
          <p:cNvSpPr>
            <a:spLocks noGrp="1"/>
          </p:cNvSpPr>
          <p:nvPr>
            <p:ph type="sldNum" sz="quarter" idx="12"/>
          </p:nvPr>
        </p:nvSpPr>
        <p:spPr/>
        <p:txBody>
          <a:bodyPr/>
          <a:lstStyle/>
          <a:p>
            <a:fld id="{0108EFF4-ED53-4E85-A790-20C8991C4AE1}" type="slidenum">
              <a:rPr lang="en-US" smtClean="0"/>
              <a:t>‹#›</a:t>
            </a:fld>
            <a:endParaRPr lang="en-US"/>
          </a:p>
        </p:txBody>
      </p:sp>
    </p:spTree>
    <p:extLst>
      <p:ext uri="{BB962C8B-B14F-4D97-AF65-F5344CB8AC3E}">
        <p14:creationId xmlns:p14="http://schemas.microsoft.com/office/powerpoint/2010/main" val="2253348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D84D-F845-B349-B6AB-1B64492381D2}" type="datetime1">
              <a:rPr lang="en-US" smtClean="0"/>
              <a:t>11/2/22</a:t>
            </a:fld>
            <a:endParaRPr lang="en-US"/>
          </a:p>
        </p:txBody>
      </p:sp>
      <p:sp>
        <p:nvSpPr>
          <p:cNvPr id="4" name="Footer Placeholder 3"/>
          <p:cNvSpPr>
            <a:spLocks noGrp="1"/>
          </p:cNvSpPr>
          <p:nvPr>
            <p:ph type="ftr" sz="quarter" idx="11"/>
          </p:nvPr>
        </p:nvSpPr>
        <p:spPr/>
        <p:txBody>
          <a:bodyPr/>
          <a:lstStyle/>
          <a:p>
            <a:r>
              <a:rPr lang="en-US"/>
              <a:t>Syed Waqar Ali Shah Bukhari, ELDC MUET Jamshoro </a:t>
            </a:r>
          </a:p>
        </p:txBody>
      </p:sp>
      <p:sp>
        <p:nvSpPr>
          <p:cNvPr id="5" name="Slide Number Placeholder 4"/>
          <p:cNvSpPr>
            <a:spLocks noGrp="1"/>
          </p:cNvSpPr>
          <p:nvPr>
            <p:ph type="sldNum" sz="quarter" idx="12"/>
          </p:nvPr>
        </p:nvSpPr>
        <p:spPr/>
        <p:txBody>
          <a:bodyPr/>
          <a:lstStyle/>
          <a:p>
            <a:fld id="{0108EFF4-ED53-4E85-A790-20C8991C4AE1}" type="slidenum">
              <a:rPr lang="en-US" smtClean="0"/>
              <a:t>‹#›</a:t>
            </a:fld>
            <a:endParaRPr lang="en-US"/>
          </a:p>
        </p:txBody>
      </p:sp>
    </p:spTree>
    <p:extLst>
      <p:ext uri="{BB962C8B-B14F-4D97-AF65-F5344CB8AC3E}">
        <p14:creationId xmlns:p14="http://schemas.microsoft.com/office/powerpoint/2010/main" val="1971072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B7418F-D96D-5742-9525-39729F1176B5}" type="datetime1">
              <a:rPr lang="en-US" smtClean="0"/>
              <a:t>11/2/22</a:t>
            </a:fld>
            <a:endParaRPr lang="en-US"/>
          </a:p>
        </p:txBody>
      </p:sp>
      <p:sp>
        <p:nvSpPr>
          <p:cNvPr id="3" name="Footer Placeholder 2"/>
          <p:cNvSpPr>
            <a:spLocks noGrp="1"/>
          </p:cNvSpPr>
          <p:nvPr>
            <p:ph type="ftr" sz="quarter" idx="11"/>
          </p:nvPr>
        </p:nvSpPr>
        <p:spPr/>
        <p:txBody>
          <a:bodyPr/>
          <a:lstStyle/>
          <a:p>
            <a:r>
              <a:rPr lang="en-US"/>
              <a:t>Syed Waqar Ali Shah Bukhari, ELDC MUET Jamshoro </a:t>
            </a:r>
          </a:p>
        </p:txBody>
      </p:sp>
      <p:sp>
        <p:nvSpPr>
          <p:cNvPr id="4" name="Slide Number Placeholder 3"/>
          <p:cNvSpPr>
            <a:spLocks noGrp="1"/>
          </p:cNvSpPr>
          <p:nvPr>
            <p:ph type="sldNum" sz="quarter" idx="12"/>
          </p:nvPr>
        </p:nvSpPr>
        <p:spPr/>
        <p:txBody>
          <a:bodyPr/>
          <a:lstStyle/>
          <a:p>
            <a:fld id="{0108EFF4-ED53-4E85-A790-20C8991C4AE1}" type="slidenum">
              <a:rPr lang="en-US" smtClean="0"/>
              <a:t>‹#›</a:t>
            </a:fld>
            <a:endParaRPr lang="en-US"/>
          </a:p>
        </p:txBody>
      </p:sp>
    </p:spTree>
    <p:extLst>
      <p:ext uri="{BB962C8B-B14F-4D97-AF65-F5344CB8AC3E}">
        <p14:creationId xmlns:p14="http://schemas.microsoft.com/office/powerpoint/2010/main" val="2797070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E4E2CA-8790-2F42-8A4A-010177DC1632}" type="datetime1">
              <a:rPr lang="en-US" smtClean="0"/>
              <a:t>11/2/22</a:t>
            </a:fld>
            <a:endParaRPr lang="en-US"/>
          </a:p>
        </p:txBody>
      </p:sp>
      <p:sp>
        <p:nvSpPr>
          <p:cNvPr id="6" name="Footer Placeholder 5"/>
          <p:cNvSpPr>
            <a:spLocks noGrp="1"/>
          </p:cNvSpPr>
          <p:nvPr>
            <p:ph type="ftr" sz="quarter" idx="11"/>
          </p:nvPr>
        </p:nvSpPr>
        <p:spPr/>
        <p:txBody>
          <a:bodyPr/>
          <a:lstStyle/>
          <a:p>
            <a:r>
              <a:rPr lang="en-US"/>
              <a:t>Syed Waqar Ali Shah Bukhari, ELDC MUET Jamshoro </a:t>
            </a:r>
          </a:p>
        </p:txBody>
      </p:sp>
      <p:sp>
        <p:nvSpPr>
          <p:cNvPr id="7" name="Slide Number Placeholder 6"/>
          <p:cNvSpPr>
            <a:spLocks noGrp="1"/>
          </p:cNvSpPr>
          <p:nvPr>
            <p:ph type="sldNum" sz="quarter" idx="12"/>
          </p:nvPr>
        </p:nvSpPr>
        <p:spPr/>
        <p:txBody>
          <a:bodyPr/>
          <a:lstStyle/>
          <a:p>
            <a:fld id="{0108EFF4-ED53-4E85-A790-20C8991C4AE1}" type="slidenum">
              <a:rPr lang="en-US" smtClean="0"/>
              <a:t>‹#›</a:t>
            </a:fld>
            <a:endParaRPr lang="en-US"/>
          </a:p>
        </p:txBody>
      </p:sp>
    </p:spTree>
    <p:extLst>
      <p:ext uri="{BB962C8B-B14F-4D97-AF65-F5344CB8AC3E}">
        <p14:creationId xmlns:p14="http://schemas.microsoft.com/office/powerpoint/2010/main" val="332873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321610-3373-864F-8AE0-223E2A29E0D4}" type="datetime1">
              <a:rPr lang="en-US" smtClean="0"/>
              <a:t>11/2/22</a:t>
            </a:fld>
            <a:endParaRPr lang="en-US"/>
          </a:p>
        </p:txBody>
      </p:sp>
      <p:sp>
        <p:nvSpPr>
          <p:cNvPr id="6" name="Footer Placeholder 5"/>
          <p:cNvSpPr>
            <a:spLocks noGrp="1"/>
          </p:cNvSpPr>
          <p:nvPr>
            <p:ph type="ftr" sz="quarter" idx="11"/>
          </p:nvPr>
        </p:nvSpPr>
        <p:spPr/>
        <p:txBody>
          <a:bodyPr/>
          <a:lstStyle/>
          <a:p>
            <a:r>
              <a:rPr lang="en-US"/>
              <a:t>Syed Waqar Ali Shah Bukhari, ELDC MUET Jamshoro </a:t>
            </a:r>
          </a:p>
        </p:txBody>
      </p:sp>
      <p:sp>
        <p:nvSpPr>
          <p:cNvPr id="7" name="Slide Number Placeholder 6"/>
          <p:cNvSpPr>
            <a:spLocks noGrp="1"/>
          </p:cNvSpPr>
          <p:nvPr>
            <p:ph type="sldNum" sz="quarter" idx="12"/>
          </p:nvPr>
        </p:nvSpPr>
        <p:spPr/>
        <p:txBody>
          <a:bodyPr/>
          <a:lstStyle/>
          <a:p>
            <a:fld id="{0108EFF4-ED53-4E85-A790-20C8991C4AE1}"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737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EF84A8-330D-7B48-9A70-5605B1FD157D}" type="datetime1">
              <a:rPr lang="en-US" smtClean="0"/>
              <a:t>11/2/22</a:t>
            </a:fld>
            <a:endParaRPr lang="en-US"/>
          </a:p>
        </p:txBody>
      </p:sp>
      <p:sp>
        <p:nvSpPr>
          <p:cNvPr id="5" name="Footer Placeholder 4"/>
          <p:cNvSpPr>
            <a:spLocks noGrp="1"/>
          </p:cNvSpPr>
          <p:nvPr>
            <p:ph type="ftr" sz="quarter" idx="11"/>
          </p:nvPr>
        </p:nvSpPr>
        <p:spPr/>
        <p:txBody>
          <a:bodyPr/>
          <a:lstStyle/>
          <a:p>
            <a:r>
              <a:rPr lang="en-US"/>
              <a:t>Syed Waqar Ali Shah Bukhari, ELDC MUET Jamshoro </a:t>
            </a:r>
          </a:p>
        </p:txBody>
      </p:sp>
      <p:sp>
        <p:nvSpPr>
          <p:cNvPr id="6" name="Slide Number Placeholder 5"/>
          <p:cNvSpPr>
            <a:spLocks noGrp="1"/>
          </p:cNvSpPr>
          <p:nvPr>
            <p:ph type="sldNum" sz="quarter" idx="12"/>
          </p:nvPr>
        </p:nvSpPr>
        <p:spPr/>
        <p:txBody>
          <a:bodyPr/>
          <a:lstStyle/>
          <a:p>
            <a:fld id="{0108EFF4-ED53-4E85-A790-20C8991C4AE1}" type="slidenum">
              <a:rPr lang="en-US" smtClean="0"/>
              <a:t>‹#›</a:t>
            </a:fld>
            <a:endParaRPr lang="en-US"/>
          </a:p>
        </p:txBody>
      </p:sp>
    </p:spTree>
    <p:extLst>
      <p:ext uri="{BB962C8B-B14F-4D97-AF65-F5344CB8AC3E}">
        <p14:creationId xmlns:p14="http://schemas.microsoft.com/office/powerpoint/2010/main" val="283510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342CF9-ADB0-0744-9B85-E0E8A9D79F04}" type="datetime1">
              <a:rPr lang="en-US" smtClean="0"/>
              <a:t>11/2/22</a:t>
            </a:fld>
            <a:endParaRPr lang="en-US"/>
          </a:p>
        </p:txBody>
      </p:sp>
      <p:sp>
        <p:nvSpPr>
          <p:cNvPr id="5" name="Footer Placeholder 4"/>
          <p:cNvSpPr>
            <a:spLocks noGrp="1"/>
          </p:cNvSpPr>
          <p:nvPr>
            <p:ph type="ftr" sz="quarter" idx="11"/>
          </p:nvPr>
        </p:nvSpPr>
        <p:spPr/>
        <p:txBody>
          <a:bodyPr/>
          <a:lstStyle/>
          <a:p>
            <a:r>
              <a:rPr lang="en-US"/>
              <a:t>Syed Waqar Ali Shah Bukhari, ELDC MUET Jamshoro </a:t>
            </a:r>
          </a:p>
        </p:txBody>
      </p:sp>
      <p:sp>
        <p:nvSpPr>
          <p:cNvPr id="6" name="Slide Number Placeholder 5"/>
          <p:cNvSpPr>
            <a:spLocks noGrp="1"/>
          </p:cNvSpPr>
          <p:nvPr>
            <p:ph type="sldNum" sz="quarter" idx="12"/>
          </p:nvPr>
        </p:nvSpPr>
        <p:spPr/>
        <p:txBody>
          <a:bodyPr/>
          <a:lstStyle/>
          <a:p>
            <a:fld id="{0108EFF4-ED53-4E85-A790-20C8991C4AE1}"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876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72F1D20-39AA-E64F-9E72-8015FA510E49}" type="datetime1">
              <a:rPr lang="en-US" smtClean="0"/>
              <a:t>11/2/22</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Syed Waqar Ali Shah Bukhari, ELDC MUET Jamshoro </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108EFF4-ED53-4E85-A790-20C8991C4AE1}"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52296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The SEVEN C’S OF EFFFECTIVE COMMUNICATION </a:t>
            </a:r>
          </a:p>
        </p:txBody>
      </p:sp>
      <p:sp>
        <p:nvSpPr>
          <p:cNvPr id="3" name="Subtitle 2"/>
          <p:cNvSpPr>
            <a:spLocks noGrp="1"/>
          </p:cNvSpPr>
          <p:nvPr>
            <p:ph type="subTitle" idx="1"/>
          </p:nvPr>
        </p:nvSpPr>
        <p:spPr/>
        <p:txBody>
          <a:bodyPr/>
          <a:lstStyle/>
          <a:p>
            <a:r>
              <a:rPr lang="en-US" dirty="0"/>
              <a:t>Talha Memon </a:t>
            </a:r>
          </a:p>
          <a:p>
            <a:r>
              <a:rPr lang="en-US" dirty="0"/>
              <a:t>Lecturer, TIEST</a:t>
            </a:r>
          </a:p>
        </p:txBody>
      </p:sp>
      <p:sp>
        <p:nvSpPr>
          <p:cNvPr id="4" name="Date Placeholder 3"/>
          <p:cNvSpPr>
            <a:spLocks noGrp="1"/>
          </p:cNvSpPr>
          <p:nvPr>
            <p:ph type="dt" sz="half" idx="10"/>
          </p:nvPr>
        </p:nvSpPr>
        <p:spPr/>
        <p:txBody>
          <a:bodyPr/>
          <a:lstStyle/>
          <a:p>
            <a:fld id="{7B1AEFA9-6833-D84D-8124-B2DB24A059B0}"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a:t>
            </a:fld>
            <a:endParaRPr lang="en-US"/>
          </a:p>
        </p:txBody>
      </p:sp>
    </p:spTree>
    <p:extLst>
      <p:ext uri="{BB962C8B-B14F-4D97-AF65-F5344CB8AC3E}">
        <p14:creationId xmlns:p14="http://schemas.microsoft.com/office/powerpoint/2010/main" val="4292125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Seven c’s of communication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800" dirty="0"/>
              <a:t> Completeness</a:t>
            </a:r>
          </a:p>
          <a:p>
            <a:pPr>
              <a:buFont typeface="Wingdings" panose="05000000000000000000" pitchFamily="2" charset="2"/>
              <a:buChar char="§"/>
            </a:pPr>
            <a:r>
              <a:rPr lang="en-US" sz="2800" dirty="0"/>
              <a:t> Conciseness</a:t>
            </a:r>
          </a:p>
          <a:p>
            <a:pPr>
              <a:buFont typeface="Wingdings" panose="05000000000000000000" pitchFamily="2" charset="2"/>
              <a:buChar char="§"/>
            </a:pPr>
            <a:r>
              <a:rPr lang="en-US" sz="2800" dirty="0"/>
              <a:t> Consideration</a:t>
            </a:r>
          </a:p>
          <a:p>
            <a:pPr>
              <a:buFont typeface="Wingdings" panose="05000000000000000000" pitchFamily="2" charset="2"/>
              <a:buChar char="§"/>
            </a:pPr>
            <a:r>
              <a:rPr lang="en-US" sz="2800" dirty="0"/>
              <a:t> Concreteness</a:t>
            </a:r>
          </a:p>
          <a:p>
            <a:pPr>
              <a:buFont typeface="Wingdings" panose="05000000000000000000" pitchFamily="2" charset="2"/>
              <a:buChar char="§"/>
            </a:pPr>
            <a:r>
              <a:rPr lang="en-US" sz="2800" dirty="0"/>
              <a:t> Clarity</a:t>
            </a:r>
          </a:p>
          <a:p>
            <a:pPr>
              <a:buFont typeface="Wingdings" panose="05000000000000000000" pitchFamily="2" charset="2"/>
              <a:buChar char="§"/>
            </a:pPr>
            <a:r>
              <a:rPr lang="en-US" sz="2800" dirty="0"/>
              <a:t> Courtesy</a:t>
            </a:r>
          </a:p>
          <a:p>
            <a:pPr>
              <a:buFont typeface="Wingdings" panose="05000000000000000000" pitchFamily="2" charset="2"/>
              <a:buChar char="§"/>
            </a:pPr>
            <a:r>
              <a:rPr lang="en-US" sz="2800" dirty="0"/>
              <a:t> Correctness</a:t>
            </a:r>
          </a:p>
        </p:txBody>
      </p:sp>
      <p:sp>
        <p:nvSpPr>
          <p:cNvPr id="4" name="Date Placeholder 3"/>
          <p:cNvSpPr>
            <a:spLocks noGrp="1"/>
          </p:cNvSpPr>
          <p:nvPr>
            <p:ph type="dt" sz="half" idx="10"/>
          </p:nvPr>
        </p:nvSpPr>
        <p:spPr/>
        <p:txBody>
          <a:bodyPr/>
          <a:lstStyle/>
          <a:p>
            <a:fld id="{7BEAFE12-9F20-D64F-819A-FDE68A63D422}"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2</a:t>
            </a:fld>
            <a:endParaRPr lang="en-US"/>
          </a:p>
        </p:txBody>
      </p:sp>
    </p:spTree>
    <p:extLst>
      <p:ext uri="{BB962C8B-B14F-4D97-AF65-F5344CB8AC3E}">
        <p14:creationId xmlns:p14="http://schemas.microsoft.com/office/powerpoint/2010/main" val="1858147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Completeness </a:t>
            </a:r>
          </a:p>
        </p:txBody>
      </p:sp>
      <p:sp>
        <p:nvSpPr>
          <p:cNvPr id="3" name="Content Placeholder 2"/>
          <p:cNvSpPr>
            <a:spLocks noGrp="1"/>
          </p:cNvSpPr>
          <p:nvPr>
            <p:ph idx="1"/>
          </p:nvPr>
        </p:nvSpPr>
        <p:spPr/>
        <p:txBody>
          <a:bodyPr/>
          <a:lstStyle/>
          <a:p>
            <a:r>
              <a:rPr lang="en-US" sz="2800" dirty="0"/>
              <a:t>Message receivers—either listeners or readers desire complete information to their questions. When striving for completeness, keep the following points in mind:</a:t>
            </a:r>
          </a:p>
          <a:p>
            <a:pPr>
              <a:buFont typeface="Wingdings" panose="05000000000000000000" pitchFamily="2" charset="2"/>
              <a:buChar char="§"/>
            </a:pPr>
            <a:r>
              <a:rPr lang="en-US" sz="2800" dirty="0"/>
              <a:t> Provide all necessary information </a:t>
            </a:r>
          </a:p>
          <a:p>
            <a:pPr>
              <a:buFont typeface="Wingdings" panose="05000000000000000000" pitchFamily="2" charset="2"/>
              <a:buChar char="§"/>
            </a:pPr>
            <a:r>
              <a:rPr lang="en-US" sz="2800" dirty="0"/>
              <a:t> Answer all questions</a:t>
            </a:r>
          </a:p>
          <a:p>
            <a:pPr>
              <a:buFont typeface="Wingdings" panose="05000000000000000000" pitchFamily="2" charset="2"/>
              <a:buChar char="§"/>
            </a:pPr>
            <a:r>
              <a:rPr lang="en-US" sz="2800" dirty="0"/>
              <a:t> Give something extra, when desirable.</a:t>
            </a:r>
          </a:p>
          <a:p>
            <a:pPr marL="0" indent="0">
              <a:buNone/>
            </a:pPr>
            <a:endParaRPr lang="en-US" dirty="0"/>
          </a:p>
        </p:txBody>
      </p:sp>
      <p:sp>
        <p:nvSpPr>
          <p:cNvPr id="4" name="Date Placeholder 3"/>
          <p:cNvSpPr>
            <a:spLocks noGrp="1"/>
          </p:cNvSpPr>
          <p:nvPr>
            <p:ph type="dt" sz="half" idx="10"/>
          </p:nvPr>
        </p:nvSpPr>
        <p:spPr/>
        <p:txBody>
          <a:bodyPr/>
          <a:lstStyle/>
          <a:p>
            <a:fld id="{3D73F3A6-3488-FC41-BD30-93B158E675BE}"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3</a:t>
            </a:fld>
            <a:endParaRPr lang="en-US"/>
          </a:p>
        </p:txBody>
      </p:sp>
    </p:spTree>
    <p:extLst>
      <p:ext uri="{BB962C8B-B14F-4D97-AF65-F5344CB8AC3E}">
        <p14:creationId xmlns:p14="http://schemas.microsoft.com/office/powerpoint/2010/main" val="4165204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W’s + how FOR COMPLETENESS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800" dirty="0"/>
              <a:t> Who </a:t>
            </a:r>
          </a:p>
          <a:p>
            <a:pPr>
              <a:buFont typeface="Wingdings" panose="05000000000000000000" pitchFamily="2" charset="2"/>
              <a:buChar char="§"/>
            </a:pPr>
            <a:r>
              <a:rPr lang="en-US" sz="2800" dirty="0"/>
              <a:t> What</a:t>
            </a:r>
          </a:p>
          <a:p>
            <a:pPr>
              <a:buFont typeface="Wingdings" panose="05000000000000000000" pitchFamily="2" charset="2"/>
              <a:buChar char="§"/>
            </a:pPr>
            <a:r>
              <a:rPr lang="en-US" sz="2800" dirty="0"/>
              <a:t> When</a:t>
            </a:r>
          </a:p>
          <a:p>
            <a:pPr>
              <a:buFont typeface="Wingdings" panose="05000000000000000000" pitchFamily="2" charset="2"/>
              <a:buChar char="§"/>
            </a:pPr>
            <a:r>
              <a:rPr lang="en-US" sz="2800" dirty="0"/>
              <a:t> Where</a:t>
            </a:r>
          </a:p>
          <a:p>
            <a:pPr>
              <a:buFont typeface="Wingdings" panose="05000000000000000000" pitchFamily="2" charset="2"/>
              <a:buChar char="§"/>
            </a:pPr>
            <a:r>
              <a:rPr lang="en-US" sz="2800" dirty="0"/>
              <a:t> Why</a:t>
            </a:r>
          </a:p>
          <a:p>
            <a:pPr>
              <a:buFont typeface="Wingdings" panose="05000000000000000000" pitchFamily="2" charset="2"/>
              <a:buChar char="§"/>
            </a:pPr>
            <a:r>
              <a:rPr lang="en-US" sz="2800" dirty="0"/>
              <a:t> How </a:t>
            </a:r>
          </a:p>
        </p:txBody>
      </p:sp>
      <p:sp>
        <p:nvSpPr>
          <p:cNvPr id="4" name="Date Placeholder 3"/>
          <p:cNvSpPr>
            <a:spLocks noGrp="1"/>
          </p:cNvSpPr>
          <p:nvPr>
            <p:ph type="dt" sz="half" idx="10"/>
          </p:nvPr>
        </p:nvSpPr>
        <p:spPr/>
        <p:txBody>
          <a:bodyPr/>
          <a:lstStyle/>
          <a:p>
            <a:fld id="{4E492E73-C8C7-4D4F-B422-2C890C941708}"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4</a:t>
            </a:fld>
            <a:endParaRPr lang="en-US"/>
          </a:p>
        </p:txBody>
      </p:sp>
    </p:spTree>
    <p:extLst>
      <p:ext uri="{BB962C8B-B14F-4D97-AF65-F5344CB8AC3E}">
        <p14:creationId xmlns:p14="http://schemas.microsoft.com/office/powerpoint/2010/main" val="95606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Conciseness </a:t>
            </a:r>
          </a:p>
        </p:txBody>
      </p:sp>
      <p:sp>
        <p:nvSpPr>
          <p:cNvPr id="3" name="Content Placeholder 2"/>
          <p:cNvSpPr>
            <a:spLocks noGrp="1"/>
          </p:cNvSpPr>
          <p:nvPr>
            <p:ph idx="1"/>
          </p:nvPr>
        </p:nvSpPr>
        <p:spPr/>
        <p:txBody>
          <a:bodyPr>
            <a:normAutofit/>
          </a:bodyPr>
          <a:lstStyle/>
          <a:p>
            <a:r>
              <a:rPr lang="en-US" sz="2800" dirty="0"/>
              <a:t>Conciseness is saying what you have to say in the fewest possible words without sacrificing the other C qualities. A concise message is complete without being wordy. </a:t>
            </a:r>
          </a:p>
          <a:p>
            <a:r>
              <a:rPr lang="en-US" sz="2800" dirty="0"/>
              <a:t>To achieve the conciseness, observe the following suggestions:</a:t>
            </a:r>
          </a:p>
          <a:p>
            <a:pPr>
              <a:buFont typeface="Wingdings" panose="05000000000000000000" pitchFamily="2" charset="2"/>
              <a:buChar char="§"/>
            </a:pPr>
            <a:r>
              <a:rPr lang="en-US" sz="2800" dirty="0"/>
              <a:t> Eliminate wordy expression</a:t>
            </a:r>
          </a:p>
          <a:p>
            <a:pPr>
              <a:buFont typeface="Wingdings" panose="05000000000000000000" pitchFamily="2" charset="2"/>
              <a:buChar char="§"/>
            </a:pPr>
            <a:r>
              <a:rPr lang="en-US" sz="2800" dirty="0"/>
              <a:t> Include only relevant material </a:t>
            </a:r>
          </a:p>
          <a:p>
            <a:pPr>
              <a:buFont typeface="Wingdings" panose="05000000000000000000" pitchFamily="2" charset="2"/>
              <a:buChar char="§"/>
            </a:pPr>
            <a:r>
              <a:rPr lang="en-US" sz="2800" dirty="0"/>
              <a:t> Avoid unnecessary repetition </a:t>
            </a:r>
          </a:p>
        </p:txBody>
      </p:sp>
      <p:sp>
        <p:nvSpPr>
          <p:cNvPr id="4" name="Date Placeholder 3"/>
          <p:cNvSpPr>
            <a:spLocks noGrp="1"/>
          </p:cNvSpPr>
          <p:nvPr>
            <p:ph type="dt" sz="half" idx="10"/>
          </p:nvPr>
        </p:nvSpPr>
        <p:spPr/>
        <p:txBody>
          <a:bodyPr/>
          <a:lstStyle/>
          <a:p>
            <a:fld id="{208BF5E3-E54E-3A47-83F0-00CDA3B5ACAE}"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5</a:t>
            </a:fld>
            <a:endParaRPr lang="en-US"/>
          </a:p>
        </p:txBody>
      </p:sp>
    </p:spTree>
    <p:extLst>
      <p:ext uri="{BB962C8B-B14F-4D97-AF65-F5344CB8AC3E}">
        <p14:creationId xmlns:p14="http://schemas.microsoft.com/office/powerpoint/2010/main" val="1955280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Wordy expressions </a:t>
            </a:r>
          </a:p>
        </p:txBody>
      </p:sp>
      <p:sp>
        <p:nvSpPr>
          <p:cNvPr id="3" name="Content Placeholder 2"/>
          <p:cNvSpPr>
            <a:spLocks noGrp="1"/>
          </p:cNvSpPr>
          <p:nvPr>
            <p:ph idx="1"/>
          </p:nvPr>
        </p:nvSpPr>
        <p:spPr/>
        <p:txBody>
          <a:bodyPr>
            <a:noAutofit/>
          </a:bodyPr>
          <a:lstStyle/>
          <a:p>
            <a:r>
              <a:rPr lang="en-US" sz="2800" dirty="0"/>
              <a:t>Wordy: At this time</a:t>
            </a:r>
          </a:p>
          <a:p>
            <a:r>
              <a:rPr lang="en-US" sz="2800" dirty="0"/>
              <a:t>Concise: Now</a:t>
            </a:r>
          </a:p>
          <a:p>
            <a:endParaRPr lang="en-US" sz="2800" dirty="0"/>
          </a:p>
          <a:p>
            <a:r>
              <a:rPr lang="en-US" sz="2800" dirty="0"/>
              <a:t>Wordy: Due to the fact that</a:t>
            </a:r>
          </a:p>
          <a:p>
            <a:r>
              <a:rPr lang="en-US" sz="2800" dirty="0"/>
              <a:t>Concise: Because </a:t>
            </a:r>
          </a:p>
          <a:p>
            <a:endParaRPr lang="en-US" sz="2800" dirty="0"/>
          </a:p>
          <a:p>
            <a:r>
              <a:rPr lang="en-US" sz="2800" dirty="0"/>
              <a:t>Wordy: Have need for </a:t>
            </a:r>
          </a:p>
          <a:p>
            <a:r>
              <a:rPr lang="en-US" sz="2800" dirty="0"/>
              <a:t>Concise: need</a:t>
            </a:r>
          </a:p>
        </p:txBody>
      </p:sp>
      <p:sp>
        <p:nvSpPr>
          <p:cNvPr id="4" name="Date Placeholder 3"/>
          <p:cNvSpPr>
            <a:spLocks noGrp="1"/>
          </p:cNvSpPr>
          <p:nvPr>
            <p:ph type="dt" sz="half" idx="10"/>
          </p:nvPr>
        </p:nvSpPr>
        <p:spPr/>
        <p:txBody>
          <a:bodyPr/>
          <a:lstStyle/>
          <a:p>
            <a:fld id="{E5301994-A489-8C4E-B952-CD8D49EFA12B}"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6</a:t>
            </a:fld>
            <a:endParaRPr lang="en-US"/>
          </a:p>
        </p:txBody>
      </p:sp>
    </p:spTree>
    <p:extLst>
      <p:ext uri="{BB962C8B-B14F-4D97-AF65-F5344CB8AC3E}">
        <p14:creationId xmlns:p14="http://schemas.microsoft.com/office/powerpoint/2010/main" val="3738178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Wordy expressions</a:t>
            </a:r>
          </a:p>
        </p:txBody>
      </p:sp>
      <p:sp>
        <p:nvSpPr>
          <p:cNvPr id="3" name="Content Placeholder 2"/>
          <p:cNvSpPr>
            <a:spLocks noGrp="1"/>
          </p:cNvSpPr>
          <p:nvPr>
            <p:ph idx="1"/>
          </p:nvPr>
        </p:nvSpPr>
        <p:spPr/>
        <p:txBody>
          <a:bodyPr>
            <a:normAutofit/>
          </a:bodyPr>
          <a:lstStyle/>
          <a:p>
            <a:r>
              <a:rPr lang="en-US" sz="2800" dirty="0"/>
              <a:t>Wordy: Please, find attached the list you requested. </a:t>
            </a:r>
          </a:p>
          <a:p>
            <a:r>
              <a:rPr lang="en-US" sz="2800" dirty="0"/>
              <a:t>Concise: The list you requested is attached.</a:t>
            </a:r>
          </a:p>
          <a:p>
            <a:endParaRPr lang="en-US" sz="2800" dirty="0"/>
          </a:p>
          <a:p>
            <a:r>
              <a:rPr lang="en-US" sz="2800" dirty="0"/>
              <a:t>Wordy: She bought desks that are of the executive type. </a:t>
            </a:r>
          </a:p>
          <a:p>
            <a:r>
              <a:rPr lang="en-US" sz="2800" dirty="0"/>
              <a:t>Concise: She bought executive-type desks.</a:t>
            </a:r>
          </a:p>
          <a:p>
            <a:endParaRPr lang="en-US" sz="2800" dirty="0"/>
          </a:p>
          <a:p>
            <a:r>
              <a:rPr lang="en-US" sz="2800" dirty="0"/>
              <a:t>Note: You can omit ‘which’ and ‘that’ clauses whenever possible. </a:t>
            </a:r>
          </a:p>
        </p:txBody>
      </p:sp>
      <p:sp>
        <p:nvSpPr>
          <p:cNvPr id="4" name="Date Placeholder 3"/>
          <p:cNvSpPr>
            <a:spLocks noGrp="1"/>
          </p:cNvSpPr>
          <p:nvPr>
            <p:ph type="dt" sz="half" idx="10"/>
          </p:nvPr>
        </p:nvSpPr>
        <p:spPr/>
        <p:txBody>
          <a:bodyPr/>
          <a:lstStyle/>
          <a:p>
            <a:fld id="{96BE7E50-AA07-D64A-A402-ACD05CE2C077}"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7</a:t>
            </a:fld>
            <a:endParaRPr lang="en-US"/>
          </a:p>
        </p:txBody>
      </p:sp>
    </p:spTree>
    <p:extLst>
      <p:ext uri="{BB962C8B-B14F-4D97-AF65-F5344CB8AC3E}">
        <p14:creationId xmlns:p14="http://schemas.microsoft.com/office/powerpoint/2010/main" val="1720287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Consideration </a:t>
            </a:r>
          </a:p>
        </p:txBody>
      </p:sp>
      <p:sp>
        <p:nvSpPr>
          <p:cNvPr id="3" name="Content Placeholder 2"/>
          <p:cNvSpPr>
            <a:spLocks noGrp="1"/>
          </p:cNvSpPr>
          <p:nvPr>
            <p:ph idx="1"/>
          </p:nvPr>
        </p:nvSpPr>
        <p:spPr>
          <a:xfrm>
            <a:off x="1024127" y="1865376"/>
            <a:ext cx="9720073" cy="4023360"/>
          </a:xfrm>
        </p:spPr>
        <p:txBody>
          <a:bodyPr>
            <a:noAutofit/>
          </a:bodyPr>
          <a:lstStyle/>
          <a:p>
            <a:r>
              <a:rPr lang="en-US" sz="2400" dirty="0"/>
              <a:t>Consideration means preparing every message with the hearer or reader in mind; try to put yourself in their place. Make sure that you do not lose your temper, you do not accuse, you do not charge them without facts. You are, foremost, aware of their desires, problems, circumstances, emotions, and probable reactions to your request. </a:t>
            </a:r>
          </a:p>
          <a:p>
            <a:endParaRPr lang="en-US" sz="2400" dirty="0"/>
          </a:p>
          <a:p>
            <a:r>
              <a:rPr lang="en-US" sz="2400" dirty="0"/>
              <a:t>Three specific ways to indicate consideration are:</a:t>
            </a:r>
          </a:p>
          <a:p>
            <a:pPr>
              <a:buFont typeface="Wingdings" panose="05000000000000000000" pitchFamily="2" charset="2"/>
              <a:buChar char="§"/>
            </a:pPr>
            <a:r>
              <a:rPr lang="en-US" sz="2400" dirty="0"/>
              <a:t> Focus on ‘you’ instead of ‘I’ and ‘We’.</a:t>
            </a:r>
          </a:p>
          <a:p>
            <a:pPr>
              <a:buFont typeface="Wingdings" panose="05000000000000000000" pitchFamily="2" charset="2"/>
              <a:buChar char="§"/>
            </a:pPr>
            <a:r>
              <a:rPr lang="en-US" sz="2400" dirty="0"/>
              <a:t> Show audience benefit or interest in the receiver  </a:t>
            </a:r>
          </a:p>
          <a:p>
            <a:pPr>
              <a:buFont typeface="Wingdings" panose="05000000000000000000" pitchFamily="2" charset="2"/>
              <a:buChar char="§"/>
            </a:pPr>
            <a:r>
              <a:rPr lang="en-US" sz="2400" dirty="0"/>
              <a:t> Emphasize positive, pleasant facts. </a:t>
            </a:r>
          </a:p>
        </p:txBody>
      </p:sp>
      <p:sp>
        <p:nvSpPr>
          <p:cNvPr id="4" name="Date Placeholder 3"/>
          <p:cNvSpPr>
            <a:spLocks noGrp="1"/>
          </p:cNvSpPr>
          <p:nvPr>
            <p:ph type="dt" sz="half" idx="10"/>
          </p:nvPr>
        </p:nvSpPr>
        <p:spPr/>
        <p:txBody>
          <a:bodyPr/>
          <a:lstStyle/>
          <a:p>
            <a:fld id="{B61BCA55-0E54-C149-93F9-6BCCB8C1D130}"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8</a:t>
            </a:fld>
            <a:endParaRPr lang="en-US"/>
          </a:p>
        </p:txBody>
      </p:sp>
    </p:spTree>
    <p:extLst>
      <p:ext uri="{BB962C8B-B14F-4D97-AF65-F5344CB8AC3E}">
        <p14:creationId xmlns:p14="http://schemas.microsoft.com/office/powerpoint/2010/main" val="696913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Concreteness </a:t>
            </a:r>
          </a:p>
        </p:txBody>
      </p:sp>
      <p:sp>
        <p:nvSpPr>
          <p:cNvPr id="3" name="Content Placeholder 2"/>
          <p:cNvSpPr>
            <a:spLocks noGrp="1"/>
          </p:cNvSpPr>
          <p:nvPr>
            <p:ph idx="1"/>
          </p:nvPr>
        </p:nvSpPr>
        <p:spPr/>
        <p:txBody>
          <a:bodyPr>
            <a:noAutofit/>
          </a:bodyPr>
          <a:lstStyle/>
          <a:p>
            <a:r>
              <a:rPr lang="en-US" sz="2400" dirty="0"/>
              <a:t>Communicating concretely means being specific, definite, and vivid rather than vague and general. Often it means using denotative (direct, explicit, often dictionary-based) rather than connotative words (ideas or notions suggested by or associated with a word or phrase).</a:t>
            </a:r>
            <a:br>
              <a:rPr lang="en-US" sz="2400" dirty="0"/>
            </a:br>
            <a:br>
              <a:rPr lang="en-US" sz="2400" dirty="0"/>
            </a:br>
            <a:r>
              <a:rPr lang="en-US" sz="2400" dirty="0"/>
              <a:t>The following guidelines should help you compose concrete, convincing messages:</a:t>
            </a:r>
          </a:p>
          <a:p>
            <a:pPr>
              <a:buFont typeface="Wingdings" panose="05000000000000000000" pitchFamily="2" charset="2"/>
              <a:buChar char="§"/>
            </a:pPr>
            <a:r>
              <a:rPr lang="en-US" sz="2400" dirty="0"/>
              <a:t> Use specific facts and figures</a:t>
            </a:r>
          </a:p>
          <a:p>
            <a:pPr>
              <a:buFont typeface="Wingdings" panose="05000000000000000000" pitchFamily="2" charset="2"/>
              <a:buChar char="§"/>
            </a:pPr>
            <a:r>
              <a:rPr lang="en-US" sz="2400" dirty="0"/>
              <a:t> Put Actions in your verbs</a:t>
            </a:r>
          </a:p>
          <a:p>
            <a:pPr>
              <a:buFont typeface="Wingdings" panose="05000000000000000000" pitchFamily="2" charset="2"/>
              <a:buChar char="§"/>
            </a:pPr>
            <a:r>
              <a:rPr lang="en-US" sz="2400" dirty="0"/>
              <a:t> Choose vivid, image building words </a:t>
            </a:r>
          </a:p>
        </p:txBody>
      </p:sp>
      <p:sp>
        <p:nvSpPr>
          <p:cNvPr id="4" name="Date Placeholder 3"/>
          <p:cNvSpPr>
            <a:spLocks noGrp="1"/>
          </p:cNvSpPr>
          <p:nvPr>
            <p:ph type="dt" sz="half" idx="10"/>
          </p:nvPr>
        </p:nvSpPr>
        <p:spPr/>
        <p:txBody>
          <a:bodyPr/>
          <a:lstStyle/>
          <a:p>
            <a:fld id="{AA3C2E93-DD0F-6C49-BE3B-1FC294401AD6}"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9</a:t>
            </a:fld>
            <a:endParaRPr lang="en-US"/>
          </a:p>
        </p:txBody>
      </p:sp>
    </p:spTree>
    <p:extLst>
      <p:ext uri="{BB962C8B-B14F-4D97-AF65-F5344CB8AC3E}">
        <p14:creationId xmlns:p14="http://schemas.microsoft.com/office/powerpoint/2010/main" val="2471155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Vague language </a:t>
            </a:r>
          </a:p>
        </p:txBody>
      </p:sp>
      <p:sp>
        <p:nvSpPr>
          <p:cNvPr id="4" name="Rectangle 3"/>
          <p:cNvSpPr/>
          <p:nvPr/>
        </p:nvSpPr>
        <p:spPr>
          <a:xfrm>
            <a:off x="1197864" y="3035808"/>
            <a:ext cx="9372600" cy="1572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n w="0"/>
                <a:solidFill>
                  <a:schemeClr val="bg1"/>
                </a:solidFill>
                <a:effectLst>
                  <a:outerShdw blurRad="38100" dist="19050" dir="2700000" algn="tl" rotWithShape="0">
                    <a:schemeClr val="dk1">
                      <a:alpha val="40000"/>
                    </a:schemeClr>
                  </a:outerShdw>
                </a:effectLst>
              </a:rPr>
              <a:t>Slightly  Small  Soon  early  high  about  </a:t>
            </a:r>
          </a:p>
          <a:p>
            <a:pPr algn="ctr"/>
            <a:r>
              <a:rPr lang="en-US" sz="3200" dirty="0">
                <a:ln w="0"/>
                <a:solidFill>
                  <a:schemeClr val="bg1"/>
                </a:solidFill>
                <a:effectLst>
                  <a:outerShdw blurRad="38100" dist="19050" dir="2700000" algn="tl" rotWithShape="0">
                    <a:schemeClr val="dk1">
                      <a:alpha val="40000"/>
                    </a:schemeClr>
                  </a:outerShdw>
                </a:effectLst>
              </a:rPr>
              <a:t>most  a few  slow  very  almost  several </a:t>
            </a:r>
          </a:p>
        </p:txBody>
      </p:sp>
      <p:sp>
        <p:nvSpPr>
          <p:cNvPr id="3" name="Date Placeholder 2"/>
          <p:cNvSpPr>
            <a:spLocks noGrp="1"/>
          </p:cNvSpPr>
          <p:nvPr>
            <p:ph type="dt" sz="half" idx="10"/>
          </p:nvPr>
        </p:nvSpPr>
        <p:spPr/>
        <p:txBody>
          <a:bodyPr/>
          <a:lstStyle/>
          <a:p>
            <a:fld id="{57D98A7D-E567-9E41-9BF4-F46A736CA7C7}"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10</a:t>
            </a:fld>
            <a:endParaRPr lang="en-US"/>
          </a:p>
        </p:txBody>
      </p:sp>
    </p:spTree>
    <p:extLst>
      <p:ext uri="{BB962C8B-B14F-4D97-AF65-F5344CB8AC3E}">
        <p14:creationId xmlns:p14="http://schemas.microsoft.com/office/powerpoint/2010/main" val="2279925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 action in your verbs </a:t>
            </a:r>
          </a:p>
        </p:txBody>
      </p:sp>
      <p:sp>
        <p:nvSpPr>
          <p:cNvPr id="3" name="Content Placeholder 2"/>
          <p:cNvSpPr>
            <a:spLocks noGrp="1"/>
          </p:cNvSpPr>
          <p:nvPr>
            <p:ph idx="1"/>
          </p:nvPr>
        </p:nvSpPr>
        <p:spPr/>
        <p:txBody>
          <a:bodyPr>
            <a:normAutofit/>
          </a:bodyPr>
          <a:lstStyle/>
          <a:p>
            <a:r>
              <a:rPr lang="en-US" sz="2800" dirty="0"/>
              <a:t>Verbs can activate other words and help make your sentences alive, more vigorous. That is, to have dynamic sentences:</a:t>
            </a:r>
          </a:p>
          <a:p>
            <a:pPr>
              <a:buFont typeface="Wingdings" panose="05000000000000000000" pitchFamily="2" charset="2"/>
              <a:buChar char="§"/>
            </a:pPr>
            <a:r>
              <a:rPr lang="en-US" sz="2800" dirty="0"/>
              <a:t> Use active rather than Passive verbs </a:t>
            </a:r>
          </a:p>
          <a:p>
            <a:pPr>
              <a:buFont typeface="Wingdings" panose="05000000000000000000" pitchFamily="2" charset="2"/>
              <a:buChar char="§"/>
            </a:pPr>
            <a:r>
              <a:rPr lang="en-US" sz="2800" dirty="0"/>
              <a:t> Put action in your verbs rather than in nouns and infinitives </a:t>
            </a:r>
          </a:p>
        </p:txBody>
      </p:sp>
      <p:sp>
        <p:nvSpPr>
          <p:cNvPr id="4" name="Date Placeholder 3"/>
          <p:cNvSpPr>
            <a:spLocks noGrp="1"/>
          </p:cNvSpPr>
          <p:nvPr>
            <p:ph type="dt" sz="half" idx="10"/>
          </p:nvPr>
        </p:nvSpPr>
        <p:spPr/>
        <p:txBody>
          <a:bodyPr/>
          <a:lstStyle/>
          <a:p>
            <a:fld id="{087505A3-14F6-EB44-8A41-52251B4D4E74}"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11</a:t>
            </a:fld>
            <a:endParaRPr lang="en-US"/>
          </a:p>
        </p:txBody>
      </p:sp>
    </p:spTree>
    <p:extLst>
      <p:ext uri="{BB962C8B-B14F-4D97-AF65-F5344CB8AC3E}">
        <p14:creationId xmlns:p14="http://schemas.microsoft.com/office/powerpoint/2010/main" val="3870717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a:t>
            </a:r>
          </a:p>
        </p:txBody>
      </p:sp>
      <p:sp>
        <p:nvSpPr>
          <p:cNvPr id="4" name="Rounded Rectangle 3"/>
          <p:cNvSpPr/>
          <p:nvPr/>
        </p:nvSpPr>
        <p:spPr>
          <a:xfrm>
            <a:off x="1207008" y="2286000"/>
            <a:ext cx="4882896" cy="4023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The Tests were administered by the Professor. (Passive) </a:t>
            </a:r>
          </a:p>
          <a:p>
            <a:pPr algn="ctr"/>
            <a:endParaRPr lang="en-US" sz="2800" dirty="0"/>
          </a:p>
          <a:p>
            <a:pPr algn="ctr"/>
            <a:r>
              <a:rPr lang="en-US" sz="2800" dirty="0"/>
              <a:t>Professors administered the tests.  (Active)</a:t>
            </a:r>
          </a:p>
        </p:txBody>
      </p:sp>
      <p:sp>
        <p:nvSpPr>
          <p:cNvPr id="5" name="Rounded Rectangle 4"/>
          <p:cNvSpPr/>
          <p:nvPr/>
        </p:nvSpPr>
        <p:spPr>
          <a:xfrm>
            <a:off x="6565392" y="2286000"/>
            <a:ext cx="4608577" cy="4023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‘The Dean decided..’ is more explicit than ‘A decision was made’.</a:t>
            </a:r>
          </a:p>
          <a:p>
            <a:pPr algn="ctr"/>
            <a:endParaRPr lang="en-US" sz="2800" dirty="0"/>
          </a:p>
          <a:p>
            <a:pPr algn="ctr"/>
            <a:r>
              <a:rPr lang="en-US" sz="2800" dirty="0"/>
              <a:t>‘You will note..’ is more specific than ‘It will be noted…’</a:t>
            </a:r>
          </a:p>
        </p:txBody>
      </p:sp>
      <p:sp>
        <p:nvSpPr>
          <p:cNvPr id="3" name="Date Placeholder 2"/>
          <p:cNvSpPr>
            <a:spLocks noGrp="1"/>
          </p:cNvSpPr>
          <p:nvPr>
            <p:ph type="dt" sz="half" idx="10"/>
          </p:nvPr>
        </p:nvSpPr>
        <p:spPr/>
        <p:txBody>
          <a:bodyPr/>
          <a:lstStyle/>
          <a:p>
            <a:fld id="{CE6CA0C1-D3CD-814D-B5C1-A77433B75550}" type="datetime1">
              <a:rPr lang="en-US" smtClean="0"/>
              <a:t>11/2/22</a:t>
            </a:fld>
            <a:endParaRPr lang="en-US"/>
          </a:p>
        </p:txBody>
      </p:sp>
      <p:sp>
        <p:nvSpPr>
          <p:cNvPr id="7" name="Slide Number Placeholder 6"/>
          <p:cNvSpPr>
            <a:spLocks noGrp="1"/>
          </p:cNvSpPr>
          <p:nvPr>
            <p:ph type="sldNum" sz="quarter" idx="12"/>
          </p:nvPr>
        </p:nvSpPr>
        <p:spPr/>
        <p:txBody>
          <a:bodyPr/>
          <a:lstStyle/>
          <a:p>
            <a:fld id="{0108EFF4-ED53-4E85-A790-20C8991C4AE1}" type="slidenum">
              <a:rPr lang="en-US" smtClean="0"/>
              <a:t>12</a:t>
            </a:fld>
            <a:endParaRPr lang="en-US"/>
          </a:p>
        </p:txBody>
      </p:sp>
    </p:spTree>
    <p:extLst>
      <p:ext uri="{BB962C8B-B14F-4D97-AF65-F5344CB8AC3E}">
        <p14:creationId xmlns:p14="http://schemas.microsoft.com/office/powerpoint/2010/main" val="3232092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Clarity </a:t>
            </a:r>
          </a:p>
        </p:txBody>
      </p:sp>
      <p:sp>
        <p:nvSpPr>
          <p:cNvPr id="3" name="Content Placeholder 2"/>
          <p:cNvSpPr>
            <a:spLocks noGrp="1"/>
          </p:cNvSpPr>
          <p:nvPr>
            <p:ph idx="1"/>
          </p:nvPr>
        </p:nvSpPr>
        <p:spPr/>
        <p:txBody>
          <a:bodyPr>
            <a:normAutofit/>
          </a:bodyPr>
          <a:lstStyle/>
          <a:p>
            <a:r>
              <a:rPr lang="en-US" sz="2800" dirty="0"/>
              <a:t>Getting the meaning from your head into the head of your reader—accurately is the purpose of clarity. To do so, we need to:</a:t>
            </a:r>
          </a:p>
          <a:p>
            <a:pPr>
              <a:buFont typeface="Wingdings" panose="05000000000000000000" pitchFamily="2" charset="2"/>
              <a:buChar char="§"/>
            </a:pPr>
            <a:r>
              <a:rPr lang="en-US" sz="2800" dirty="0"/>
              <a:t> choose precise, concrete, and familiar words </a:t>
            </a:r>
          </a:p>
          <a:p>
            <a:pPr>
              <a:buFont typeface="Wingdings" panose="05000000000000000000" pitchFamily="2" charset="2"/>
              <a:buChar char="§"/>
            </a:pPr>
            <a:r>
              <a:rPr lang="en-US" sz="2800" dirty="0"/>
              <a:t> construct effective sentences &amp; phrases </a:t>
            </a:r>
          </a:p>
        </p:txBody>
      </p:sp>
      <p:sp>
        <p:nvSpPr>
          <p:cNvPr id="4" name="Date Placeholder 3"/>
          <p:cNvSpPr>
            <a:spLocks noGrp="1"/>
          </p:cNvSpPr>
          <p:nvPr>
            <p:ph type="dt" sz="half" idx="10"/>
          </p:nvPr>
        </p:nvSpPr>
        <p:spPr/>
        <p:txBody>
          <a:bodyPr/>
          <a:lstStyle/>
          <a:p>
            <a:fld id="{478273D7-702F-9846-B846-46933531F709}"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13</a:t>
            </a:fld>
            <a:endParaRPr lang="en-US"/>
          </a:p>
        </p:txBody>
      </p:sp>
    </p:spTree>
    <p:extLst>
      <p:ext uri="{BB962C8B-B14F-4D97-AF65-F5344CB8AC3E}">
        <p14:creationId xmlns:p14="http://schemas.microsoft.com/office/powerpoint/2010/main" val="237766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familiar words </a:t>
            </a:r>
          </a:p>
        </p:txBody>
      </p:sp>
      <p:sp>
        <p:nvSpPr>
          <p:cNvPr id="3" name="Content Placeholder 2"/>
          <p:cNvSpPr>
            <a:spLocks noGrp="1"/>
          </p:cNvSpPr>
          <p:nvPr>
            <p:ph idx="1"/>
          </p:nvPr>
        </p:nvSpPr>
        <p:spPr/>
        <p:txBody>
          <a:bodyPr>
            <a:normAutofit/>
          </a:bodyPr>
          <a:lstStyle/>
          <a:p>
            <a:r>
              <a:rPr lang="en-US" sz="2800" b="1" dirty="0"/>
              <a:t>Unfamiliar: </a:t>
            </a:r>
            <a:r>
              <a:rPr lang="en-US" sz="2800" dirty="0"/>
              <a:t>After our perusal of pertinent data, the conclusion is that a lucrative market exists for the subject properly. </a:t>
            </a:r>
          </a:p>
          <a:p>
            <a:endParaRPr lang="en-US" sz="2800" b="1" dirty="0"/>
          </a:p>
          <a:p>
            <a:r>
              <a:rPr lang="en-US" sz="2800" b="1" dirty="0"/>
              <a:t>Familiar: </a:t>
            </a:r>
            <a:r>
              <a:rPr lang="en-US" sz="2800" dirty="0"/>
              <a:t>The data we studied show that your property is profitable and in high demand. </a:t>
            </a:r>
            <a:endParaRPr lang="en-US" sz="2800" b="1" dirty="0"/>
          </a:p>
        </p:txBody>
      </p:sp>
      <p:sp>
        <p:nvSpPr>
          <p:cNvPr id="4" name="Date Placeholder 3"/>
          <p:cNvSpPr>
            <a:spLocks noGrp="1"/>
          </p:cNvSpPr>
          <p:nvPr>
            <p:ph type="dt" sz="half" idx="10"/>
          </p:nvPr>
        </p:nvSpPr>
        <p:spPr/>
        <p:txBody>
          <a:bodyPr/>
          <a:lstStyle/>
          <a:p>
            <a:fld id="{0AEF2987-7162-7E46-A7B8-A67DB00C64E3}"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14</a:t>
            </a:fld>
            <a:endParaRPr lang="en-US"/>
          </a:p>
        </p:txBody>
      </p:sp>
    </p:spTree>
    <p:extLst>
      <p:ext uri="{BB962C8B-B14F-4D97-AF65-F5344CB8AC3E}">
        <p14:creationId xmlns:p14="http://schemas.microsoft.com/office/powerpoint/2010/main" val="41210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87552"/>
          </a:xfrm>
        </p:spPr>
        <p:txBody>
          <a:bodyPr/>
          <a:lstStyle/>
          <a:p>
            <a:r>
              <a:rPr lang="en-US" dirty="0"/>
              <a:t>Ambiguity: lexical &amp; syntactic </a:t>
            </a:r>
          </a:p>
        </p:txBody>
      </p:sp>
      <p:sp>
        <p:nvSpPr>
          <p:cNvPr id="3" name="Content Placeholder 2"/>
          <p:cNvSpPr>
            <a:spLocks noGrp="1"/>
          </p:cNvSpPr>
          <p:nvPr>
            <p:ph idx="1"/>
          </p:nvPr>
        </p:nvSpPr>
        <p:spPr>
          <a:xfrm>
            <a:off x="1024128" y="1572768"/>
            <a:ext cx="10058400" cy="4736592"/>
          </a:xfrm>
        </p:spPr>
        <p:txBody>
          <a:bodyPr>
            <a:normAutofit fontScale="92500" lnSpcReduction="20000"/>
          </a:bodyPr>
          <a:lstStyle/>
          <a:p>
            <a:r>
              <a:rPr lang="en-US" sz="2800" dirty="0"/>
              <a:t>Ambiguity refers to words or expressions having more than one meaning. </a:t>
            </a:r>
          </a:p>
          <a:p>
            <a:endParaRPr lang="en-US" sz="2800" dirty="0"/>
          </a:p>
          <a:p>
            <a:r>
              <a:rPr lang="en-US" sz="2800" dirty="0"/>
              <a:t>Ambiguity at word level is called lexical ambiguity. </a:t>
            </a:r>
          </a:p>
          <a:p>
            <a:r>
              <a:rPr lang="en-US" sz="2400" b="1" dirty="0"/>
              <a:t>John went to the bank. (Bank has more than on meaning)</a:t>
            </a:r>
            <a:endParaRPr lang="en-US" sz="2400" dirty="0"/>
          </a:p>
          <a:p>
            <a:endParaRPr lang="en-US" sz="2800" dirty="0"/>
          </a:p>
          <a:p>
            <a:r>
              <a:rPr lang="en-US" sz="2800" dirty="0"/>
              <a:t>Ambiguity at sentence level is called syntactic ambiguity. </a:t>
            </a:r>
          </a:p>
          <a:p>
            <a:endParaRPr lang="en-US" sz="2800" dirty="0"/>
          </a:p>
          <a:p>
            <a:pPr marL="0" indent="0">
              <a:buNone/>
            </a:pPr>
            <a:r>
              <a:rPr lang="en-US" sz="2800" dirty="0"/>
              <a:t>Sarah gave a bath to her dog wearing a pink t-shirt.</a:t>
            </a:r>
          </a:p>
          <a:p>
            <a:pPr marL="0" indent="0">
              <a:buNone/>
            </a:pPr>
            <a:r>
              <a:rPr lang="en-US" sz="2800" b="1" dirty="0"/>
              <a:t>Ambiguity</a:t>
            </a:r>
            <a:r>
              <a:rPr lang="en-US" sz="2800" dirty="0"/>
              <a:t>: Is the dog wearing the pink t-shirt?</a:t>
            </a:r>
          </a:p>
          <a:p>
            <a:br>
              <a:rPr lang="en-US" sz="2800" dirty="0"/>
            </a:br>
            <a:endParaRPr lang="en-US" sz="2800" dirty="0"/>
          </a:p>
        </p:txBody>
      </p:sp>
      <p:sp>
        <p:nvSpPr>
          <p:cNvPr id="4" name="Date Placeholder 3"/>
          <p:cNvSpPr>
            <a:spLocks noGrp="1"/>
          </p:cNvSpPr>
          <p:nvPr>
            <p:ph type="dt" sz="half" idx="10"/>
          </p:nvPr>
        </p:nvSpPr>
        <p:spPr/>
        <p:txBody>
          <a:bodyPr/>
          <a:lstStyle/>
          <a:p>
            <a:fld id="{3A8203C5-0EAD-0649-91D8-A799300EFEEC}"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15</a:t>
            </a:fld>
            <a:endParaRPr lang="en-US"/>
          </a:p>
        </p:txBody>
      </p:sp>
    </p:spTree>
    <p:extLst>
      <p:ext uri="{BB962C8B-B14F-4D97-AF65-F5344CB8AC3E}">
        <p14:creationId xmlns:p14="http://schemas.microsoft.com/office/powerpoint/2010/main" val="2556104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Courtesy</a:t>
            </a:r>
          </a:p>
        </p:txBody>
      </p:sp>
      <p:sp>
        <p:nvSpPr>
          <p:cNvPr id="3" name="Content Placeholder 2"/>
          <p:cNvSpPr>
            <a:spLocks noGrp="1"/>
          </p:cNvSpPr>
          <p:nvPr>
            <p:ph idx="1"/>
          </p:nvPr>
        </p:nvSpPr>
        <p:spPr/>
        <p:txBody>
          <a:bodyPr/>
          <a:lstStyle/>
          <a:p>
            <a:r>
              <a:rPr lang="en-US" dirty="0"/>
              <a:t>The courtesy means being aware not only of the perspective of others, but also their feelings. Courtesy refers to applying socially accepted manners in a given situation. To show courtesy, w need to:</a:t>
            </a:r>
          </a:p>
          <a:p>
            <a:pPr marL="0" indent="0">
              <a:buNone/>
            </a:pPr>
            <a:endParaRPr lang="en-US" dirty="0"/>
          </a:p>
          <a:p>
            <a:pPr>
              <a:buFont typeface="Wingdings" panose="05000000000000000000" pitchFamily="2" charset="2"/>
              <a:buChar char="§"/>
            </a:pPr>
            <a:r>
              <a:rPr lang="en-US" dirty="0"/>
              <a:t> be sincere, thoughtful and appreciative</a:t>
            </a:r>
          </a:p>
          <a:p>
            <a:pPr>
              <a:buFont typeface="Wingdings" panose="05000000000000000000" pitchFamily="2" charset="2"/>
              <a:buChar char="§"/>
            </a:pPr>
            <a:r>
              <a:rPr lang="en-US" dirty="0"/>
              <a:t> Use expressions that show respect</a:t>
            </a:r>
          </a:p>
          <a:p>
            <a:pPr>
              <a:buFont typeface="Wingdings" panose="05000000000000000000" pitchFamily="2" charset="2"/>
              <a:buChar char="§"/>
            </a:pPr>
            <a:r>
              <a:rPr lang="en-US" dirty="0"/>
              <a:t> Choose non-discriminatory expressions</a:t>
            </a:r>
          </a:p>
        </p:txBody>
      </p:sp>
      <p:sp>
        <p:nvSpPr>
          <p:cNvPr id="4" name="Date Placeholder 3"/>
          <p:cNvSpPr>
            <a:spLocks noGrp="1"/>
          </p:cNvSpPr>
          <p:nvPr>
            <p:ph type="dt" sz="half" idx="10"/>
          </p:nvPr>
        </p:nvSpPr>
        <p:spPr/>
        <p:txBody>
          <a:bodyPr/>
          <a:lstStyle/>
          <a:p>
            <a:fld id="{73FD29FE-606A-2044-B5EA-AD3BDE314C2F}"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16</a:t>
            </a:fld>
            <a:endParaRPr lang="en-US"/>
          </a:p>
        </p:txBody>
      </p:sp>
    </p:spTree>
    <p:extLst>
      <p:ext uri="{BB962C8B-B14F-4D97-AF65-F5344CB8AC3E}">
        <p14:creationId xmlns:p14="http://schemas.microsoft.com/office/powerpoint/2010/main" val="3239753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Non-discriminatory expressions: </a:t>
            </a:r>
            <a:br>
              <a:rPr lang="en-US" dirty="0"/>
            </a:br>
            <a:r>
              <a:rPr lang="en-US" dirty="0"/>
              <a:t>“man words” or gendered language </a:t>
            </a:r>
          </a:p>
        </p:txBody>
      </p:sp>
      <p:sp>
        <p:nvSpPr>
          <p:cNvPr id="3" name="Content Placeholder 2"/>
          <p:cNvSpPr>
            <a:spLocks noGrp="1"/>
          </p:cNvSpPr>
          <p:nvPr>
            <p:ph idx="1"/>
          </p:nvPr>
        </p:nvSpPr>
        <p:spPr/>
        <p:txBody>
          <a:bodyPr>
            <a:normAutofit/>
          </a:bodyPr>
          <a:lstStyle/>
          <a:p>
            <a:r>
              <a:rPr lang="en-US" sz="2800" dirty="0"/>
              <a:t>For a long time, ‘man’ was accepted to denote not only a male person but, generically, humanity at large. But, this dominance of man in language is under question now in the world and such words have come to be used alternatively. </a:t>
            </a:r>
          </a:p>
          <a:p>
            <a:endParaRPr lang="en-US" sz="2800" dirty="0"/>
          </a:p>
          <a:p>
            <a:r>
              <a:rPr lang="en-US" sz="2800" dirty="0"/>
              <a:t>Gendered language: Examples</a:t>
            </a:r>
          </a:p>
          <a:p>
            <a:r>
              <a:rPr lang="en-US" sz="2800" dirty="0"/>
              <a:t>Man is mortal. </a:t>
            </a:r>
          </a:p>
          <a:p>
            <a:r>
              <a:rPr lang="en-US" sz="2800" dirty="0"/>
              <a:t>Practice makes a man perfect. </a:t>
            </a:r>
          </a:p>
          <a:p>
            <a:endParaRPr lang="en-US" sz="2800" dirty="0"/>
          </a:p>
        </p:txBody>
      </p:sp>
      <p:sp>
        <p:nvSpPr>
          <p:cNvPr id="4" name="Date Placeholder 3"/>
          <p:cNvSpPr>
            <a:spLocks noGrp="1"/>
          </p:cNvSpPr>
          <p:nvPr>
            <p:ph type="dt" sz="half" idx="10"/>
          </p:nvPr>
        </p:nvSpPr>
        <p:spPr/>
        <p:txBody>
          <a:bodyPr/>
          <a:lstStyle/>
          <a:p>
            <a:fld id="{1266FE09-1A72-F541-9AE8-793D91ADAF28}"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17</a:t>
            </a:fld>
            <a:endParaRPr lang="en-US"/>
          </a:p>
        </p:txBody>
      </p:sp>
    </p:spTree>
    <p:extLst>
      <p:ext uri="{BB962C8B-B14F-4D97-AF65-F5344CB8AC3E}">
        <p14:creationId xmlns:p14="http://schemas.microsoft.com/office/powerpoint/2010/main" val="98867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Gendered language </a:t>
            </a:r>
          </a:p>
        </p:txBody>
      </p:sp>
      <p:sp>
        <p:nvSpPr>
          <p:cNvPr id="3" name="Content Placeholder 2"/>
          <p:cNvSpPr>
            <a:spLocks noGrp="1"/>
          </p:cNvSpPr>
          <p:nvPr>
            <p:ph idx="1"/>
          </p:nvPr>
        </p:nvSpPr>
        <p:spPr/>
        <p:txBody>
          <a:bodyPr/>
          <a:lstStyle/>
          <a:p>
            <a:r>
              <a:rPr lang="en-US" sz="2800" b="1" dirty="0"/>
              <a:t>Words</a:t>
            </a:r>
            <a:r>
              <a:rPr lang="en-US" dirty="0"/>
              <a:t>:</a:t>
            </a:r>
          </a:p>
          <a:p>
            <a:pPr marL="0" indent="0">
              <a:buNone/>
            </a:pPr>
            <a:r>
              <a:rPr lang="en-US" dirty="0"/>
              <a:t>Policeman, watchman, mankind, fireman, chairman, man-made, manpower, person, </a:t>
            </a:r>
          </a:p>
          <a:p>
            <a:pPr marL="0" indent="0">
              <a:buNone/>
            </a:pPr>
            <a:r>
              <a:rPr lang="en-US" dirty="0"/>
              <a:t>History, human, chairperson, etc. </a:t>
            </a:r>
          </a:p>
          <a:p>
            <a:pPr marL="0" indent="0">
              <a:buNone/>
            </a:pPr>
            <a:endParaRPr lang="en-US" dirty="0"/>
          </a:p>
          <a:p>
            <a:pPr marL="0" indent="0">
              <a:buNone/>
            </a:pPr>
            <a:r>
              <a:rPr lang="en-US" dirty="0"/>
              <a:t>We need to us neutral language which is non-discriminatory. This way, we can show courtesy in communication! For example, </a:t>
            </a:r>
          </a:p>
          <a:p>
            <a:pPr marL="0" indent="0">
              <a:buNone/>
            </a:pPr>
            <a:r>
              <a:rPr lang="en-US" dirty="0"/>
              <a:t>We can use ‘workers, employees, work force’ instead of ‘manpower’.</a:t>
            </a:r>
          </a:p>
          <a:p>
            <a:pPr marL="0" indent="0">
              <a:buNone/>
            </a:pPr>
            <a:r>
              <a:rPr lang="en-US" dirty="0"/>
              <a:t>We can say ‘people’ instead of ‘mankind’. </a:t>
            </a:r>
          </a:p>
        </p:txBody>
      </p:sp>
      <p:sp>
        <p:nvSpPr>
          <p:cNvPr id="4" name="Date Placeholder 3"/>
          <p:cNvSpPr>
            <a:spLocks noGrp="1"/>
          </p:cNvSpPr>
          <p:nvPr>
            <p:ph type="dt" sz="half" idx="10"/>
          </p:nvPr>
        </p:nvSpPr>
        <p:spPr/>
        <p:txBody>
          <a:bodyPr/>
          <a:lstStyle/>
          <a:p>
            <a:fld id="{D9119721-B50C-3641-BCBA-AC1F7DAD1A29}"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18</a:t>
            </a:fld>
            <a:endParaRPr lang="en-US"/>
          </a:p>
        </p:txBody>
      </p:sp>
    </p:spTree>
    <p:extLst>
      <p:ext uri="{BB962C8B-B14F-4D97-AF65-F5344CB8AC3E}">
        <p14:creationId xmlns:p14="http://schemas.microsoft.com/office/powerpoint/2010/main" val="3774813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Correctness</a:t>
            </a:r>
          </a:p>
        </p:txBody>
      </p:sp>
      <p:sp>
        <p:nvSpPr>
          <p:cNvPr id="3" name="Content Placeholder 2"/>
          <p:cNvSpPr>
            <a:spLocks noGrp="1"/>
          </p:cNvSpPr>
          <p:nvPr>
            <p:ph idx="1"/>
          </p:nvPr>
        </p:nvSpPr>
        <p:spPr/>
        <p:txBody>
          <a:bodyPr/>
          <a:lstStyle/>
          <a:p>
            <a:r>
              <a:rPr lang="en-US" dirty="0"/>
              <a:t>At the core of Correctness is proper grammar, punctuation, and spelling. Keep the following points in view:</a:t>
            </a:r>
          </a:p>
          <a:p>
            <a:pPr>
              <a:buFont typeface="Wingdings" panose="05000000000000000000" pitchFamily="2" charset="2"/>
              <a:buChar char="§"/>
            </a:pPr>
            <a:r>
              <a:rPr lang="en-US" dirty="0"/>
              <a:t> Use the right level of language </a:t>
            </a:r>
          </a:p>
          <a:p>
            <a:pPr>
              <a:buFont typeface="Wingdings" panose="05000000000000000000" pitchFamily="2" charset="2"/>
              <a:buChar char="§"/>
            </a:pPr>
            <a:r>
              <a:rPr lang="en-US" dirty="0"/>
              <a:t> check accuracy of figures, facts and words</a:t>
            </a:r>
          </a:p>
          <a:p>
            <a:pPr>
              <a:buFont typeface="Wingdings" panose="05000000000000000000" pitchFamily="2" charset="2"/>
              <a:buChar char="§"/>
            </a:pPr>
            <a:r>
              <a:rPr lang="en-US" dirty="0"/>
              <a:t> Maintain acceptable writing mechanics </a:t>
            </a:r>
          </a:p>
          <a:p>
            <a:pPr>
              <a:buFont typeface="Wingdings" panose="05000000000000000000" pitchFamily="2" charset="2"/>
              <a:buChar char="§"/>
            </a:pPr>
            <a:r>
              <a:rPr lang="en-US" dirty="0"/>
              <a:t> Avoid slangs and sub-standard language </a:t>
            </a:r>
          </a:p>
        </p:txBody>
      </p:sp>
      <p:sp>
        <p:nvSpPr>
          <p:cNvPr id="4" name="Date Placeholder 3"/>
          <p:cNvSpPr>
            <a:spLocks noGrp="1"/>
          </p:cNvSpPr>
          <p:nvPr>
            <p:ph type="dt" sz="half" idx="10"/>
          </p:nvPr>
        </p:nvSpPr>
        <p:spPr/>
        <p:txBody>
          <a:bodyPr/>
          <a:lstStyle/>
          <a:p>
            <a:fld id="{EC980CA5-720D-194B-9383-2216C9F78B7F}"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19</a:t>
            </a:fld>
            <a:endParaRPr lang="en-US"/>
          </a:p>
        </p:txBody>
      </p:sp>
    </p:spTree>
    <p:extLst>
      <p:ext uri="{BB962C8B-B14F-4D97-AF65-F5344CB8AC3E}">
        <p14:creationId xmlns:p14="http://schemas.microsoft.com/office/powerpoint/2010/main" val="4188168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right word: Activity</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800" dirty="0"/>
              <a:t> This act will not (effect, affect) my confidence in you.</a:t>
            </a:r>
          </a:p>
          <a:p>
            <a:pPr>
              <a:buFont typeface="Wingdings" panose="05000000000000000000" pitchFamily="2" charset="2"/>
              <a:buChar char="§"/>
            </a:pPr>
            <a:r>
              <a:rPr lang="en-US" sz="2800" dirty="0"/>
              <a:t> We assure you (its, it’s) a pleasure to do as you suggest. </a:t>
            </a:r>
          </a:p>
          <a:p>
            <a:pPr>
              <a:buFont typeface="Wingdings" panose="05000000000000000000" pitchFamily="2" charset="2"/>
              <a:buChar char="§"/>
            </a:pPr>
            <a:r>
              <a:rPr lang="en-US" sz="2800" dirty="0"/>
              <a:t> The man (who, which, that) was crossing the street was struck by a car (who, which, that) Mr. Smith was driving. </a:t>
            </a:r>
          </a:p>
          <a:p>
            <a:pPr>
              <a:buFont typeface="Wingdings" panose="05000000000000000000" pitchFamily="2" charset="2"/>
              <a:buChar char="§"/>
            </a:pPr>
            <a:r>
              <a:rPr lang="en-US" sz="2800" dirty="0"/>
              <a:t> (A, An) university held (a, an) one-hour meeting with (a, an) honor society (council, counsel).</a:t>
            </a:r>
          </a:p>
          <a:p>
            <a:pPr>
              <a:buFont typeface="Wingdings" panose="05000000000000000000" pitchFamily="2" charset="2"/>
              <a:buChar char="§"/>
            </a:pPr>
            <a:r>
              <a:rPr lang="en-US" sz="2800" dirty="0"/>
              <a:t> The (principle, principal) of honesty should be evident here. </a:t>
            </a:r>
          </a:p>
        </p:txBody>
      </p:sp>
      <p:sp>
        <p:nvSpPr>
          <p:cNvPr id="4" name="Date Placeholder 3"/>
          <p:cNvSpPr>
            <a:spLocks noGrp="1"/>
          </p:cNvSpPr>
          <p:nvPr>
            <p:ph type="dt" sz="half" idx="10"/>
          </p:nvPr>
        </p:nvSpPr>
        <p:spPr/>
        <p:txBody>
          <a:bodyPr/>
          <a:lstStyle/>
          <a:p>
            <a:fld id="{C73B3CF5-27E4-4741-A45A-2638C977A788}" type="datetime1">
              <a:rPr lang="en-US" smtClean="0"/>
              <a:t>11/2/22</a:t>
            </a:fld>
            <a:endParaRPr lang="en-US"/>
          </a:p>
        </p:txBody>
      </p:sp>
      <p:sp>
        <p:nvSpPr>
          <p:cNvPr id="6" name="Slide Number Placeholder 5"/>
          <p:cNvSpPr>
            <a:spLocks noGrp="1"/>
          </p:cNvSpPr>
          <p:nvPr>
            <p:ph type="sldNum" sz="quarter" idx="12"/>
          </p:nvPr>
        </p:nvSpPr>
        <p:spPr/>
        <p:txBody>
          <a:bodyPr/>
          <a:lstStyle/>
          <a:p>
            <a:fld id="{0108EFF4-ED53-4E85-A790-20C8991C4AE1}" type="slidenum">
              <a:rPr lang="en-US" smtClean="0"/>
              <a:t>20</a:t>
            </a:fld>
            <a:endParaRPr lang="en-US"/>
          </a:p>
        </p:txBody>
      </p:sp>
    </p:spTree>
    <p:extLst>
      <p:ext uri="{BB962C8B-B14F-4D97-AF65-F5344CB8AC3E}">
        <p14:creationId xmlns:p14="http://schemas.microsoft.com/office/powerpoint/2010/main" val="37285711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2532</TotalTime>
  <Words>1097</Words>
  <Application>Microsoft Macintosh PowerPoint</Application>
  <PresentationFormat>Widescreen</PresentationFormat>
  <Paragraphs>164</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Tw Cen MT</vt:lpstr>
      <vt:lpstr>Tw Cen MT Condensed</vt:lpstr>
      <vt:lpstr>Wingdings</vt:lpstr>
      <vt:lpstr>Wingdings 3</vt:lpstr>
      <vt:lpstr>Integral</vt:lpstr>
      <vt:lpstr>The SEVEN C’S OF EFFFECTIVE COMMUNICATION </vt:lpstr>
      <vt:lpstr>Seven c’s of communication</vt:lpstr>
      <vt:lpstr>Completeness </vt:lpstr>
      <vt:lpstr>5 W’s + how FOR COMPLETENESS </vt:lpstr>
      <vt:lpstr>Conciseness </vt:lpstr>
      <vt:lpstr>Wordy expressions </vt:lpstr>
      <vt:lpstr>Wordy expressions</vt:lpstr>
      <vt:lpstr>Consideration </vt:lpstr>
      <vt:lpstr>Concreteness </vt:lpstr>
      <vt:lpstr>Vague language </vt:lpstr>
      <vt:lpstr>Put action in your verbs </vt:lpstr>
      <vt:lpstr>Examples </vt:lpstr>
      <vt:lpstr>Clarity </vt:lpstr>
      <vt:lpstr>Using familiar words </vt:lpstr>
      <vt:lpstr>Ambiguity: lexical &amp; syntactic </vt:lpstr>
      <vt:lpstr>Courtesy</vt:lpstr>
      <vt:lpstr>Non-discriminatory expressions:  “man words” or gendered language </vt:lpstr>
      <vt:lpstr>Gendered language </vt:lpstr>
      <vt:lpstr>Correctness</vt:lpstr>
      <vt:lpstr>The right word: 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SEVEN C’S OF EFFFECTIVE COMMUNICATION</dc:title>
  <dc:creator>syed waqar</dc:creator>
  <cp:lastModifiedBy>talha memon</cp:lastModifiedBy>
  <cp:revision>27</cp:revision>
  <dcterms:created xsi:type="dcterms:W3CDTF">2016-01-26T17:40:28Z</dcterms:created>
  <dcterms:modified xsi:type="dcterms:W3CDTF">2022-11-03T19:40:24Z</dcterms:modified>
</cp:coreProperties>
</file>