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  <p:sldMasterId id="2147483660" r:id="rId2"/>
  </p:sldMasterIdLst>
  <p:notesMasterIdLst>
    <p:notesMasterId r:id="rId25"/>
  </p:notesMasterIdLst>
  <p:sldIdLst>
    <p:sldId id="288" r:id="rId3"/>
    <p:sldId id="257" r:id="rId4"/>
    <p:sldId id="327" r:id="rId5"/>
    <p:sldId id="289" r:id="rId6"/>
    <p:sldId id="313" r:id="rId7"/>
    <p:sldId id="314" r:id="rId8"/>
    <p:sldId id="292" r:id="rId9"/>
    <p:sldId id="293" r:id="rId10"/>
    <p:sldId id="296" r:id="rId11"/>
    <p:sldId id="294" r:id="rId12"/>
    <p:sldId id="295" r:id="rId13"/>
    <p:sldId id="309" r:id="rId14"/>
    <p:sldId id="297" r:id="rId15"/>
    <p:sldId id="300" r:id="rId16"/>
    <p:sldId id="305" r:id="rId17"/>
    <p:sldId id="308" r:id="rId18"/>
    <p:sldId id="310" r:id="rId19"/>
    <p:sldId id="312" r:id="rId20"/>
    <p:sldId id="320" r:id="rId21"/>
    <p:sldId id="323" r:id="rId22"/>
    <p:sldId id="324" r:id="rId23"/>
    <p:sldId id="328" r:id="rId2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7336" autoAdjust="0"/>
  </p:normalViewPr>
  <p:slideViewPr>
    <p:cSldViewPr>
      <p:cViewPr varScale="1">
        <p:scale>
          <a:sx n="66" d="100"/>
          <a:sy n="66" d="100"/>
        </p:scale>
        <p:origin x="560" y="44"/>
      </p:cViewPr>
      <p:guideLst>
        <p:guide orient="horz" pos="2160"/>
        <p:guide pos="2880"/>
      </p:guideLst>
    </p:cSldViewPr>
  </p:slideViewPr>
  <p:notesTextViewPr>
    <p:cViewPr>
      <p:scale>
        <a:sx n="150" d="100"/>
        <a:sy n="15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336E0E-E216-4F82-8E86-94F3B620B25C}" type="datetimeFigureOut">
              <a:rPr lang="en-US" smtClean="0"/>
              <a:pPr/>
              <a:t>9/23/2025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6D8AF0A-8F1D-499E-872E-2C66C79CE3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07495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Stack: A function may be called inside another function</a:t>
            </a:r>
          </a:p>
          <a:p>
            <a:r>
              <a:rPr lang="en-US" dirty="0"/>
              <a:t>Data Space: Variables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6D8AF0A-8F1D-499E-872E-2C66C79CE338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142835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6D8AF0A-8F1D-499E-872E-2C66C79CE338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21705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i="1" dirty="0">
                <a:solidFill>
                  <a:srgbClr val="003366"/>
                </a:solidFill>
              </a:rPr>
              <a:t>T(N) = o(p(N)) </a:t>
            </a:r>
            <a:r>
              <a:rPr lang="en-US" dirty="0"/>
              <a:t>says that the growth rate of T(N) is less than (&lt;) the growth rate of p(N).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6D8AF0A-8F1D-499E-872E-2C66C79CE338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4411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6D8AF0A-8F1D-499E-872E-2C66C79CE338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107163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05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 attempt to evaluate </a:t>
            </a:r>
            <a:r>
              <a:rPr lang="en-US" sz="1050" b="0" i="1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 </a:t>
            </a:r>
            <a:r>
              <a:rPr lang="en-US" sz="105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(−1) will result in calls to </a:t>
            </a:r>
            <a:r>
              <a:rPr lang="en-US" sz="1050" b="0" i="1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 </a:t>
            </a:r>
            <a:r>
              <a:rPr lang="en-US" sz="105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(−2), </a:t>
            </a:r>
            <a:r>
              <a:rPr lang="en-US" sz="1050" b="0" i="1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 </a:t>
            </a:r>
            <a:r>
              <a:rPr lang="en-US" sz="105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(−3), and so on. Since this will never get to a base case, the program won’t be able to compute the answer. </a:t>
            </a:r>
            <a:endParaRPr lang="en-US" sz="105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6D8AF0A-8F1D-499E-872E-2C66C79CE338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368806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running time of this program grows exponentially.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6D8AF0A-8F1D-499E-872E-2C66C79CE338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60855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57B670-4E32-4036-A5E9-9BD3F84404CD}" type="datetime1">
              <a:rPr lang="en-US" smtClean="0"/>
              <a:pPr/>
              <a:t>9/23/2025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Obejct Oriented Programming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2AEF6-A042-4DA6-A3E1-F04AAE1E394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85800"/>
            <a:ext cx="8229600" cy="731838"/>
          </a:xfrm>
        </p:spPr>
        <p:txBody>
          <a:bodyPr>
            <a:normAutofit/>
          </a:bodyPr>
          <a:lstStyle>
            <a:lvl1pPr algn="l">
              <a:defRPr sz="3600">
                <a:solidFill>
                  <a:srgbClr val="003366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1BE2C0-B263-409E-B462-D229454C6A81}" type="datetime1">
              <a:rPr lang="en-US" smtClean="0"/>
              <a:pPr/>
              <a:t>9/23/2025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Obejct Oriented Programming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2AEF6-A042-4DA6-A3E1-F04AAE1E394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87EA4B-FFED-45FD-92F3-9E9573EF0F26}" type="datetime1">
              <a:rPr lang="en-US" smtClean="0"/>
              <a:pPr/>
              <a:t>9/23/2025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Obejct Oriented Programming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2AEF6-A042-4DA6-A3E1-F04AAE1E394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A4A94A-442C-4E48-86BF-88A663E49E53}" type="datetime1">
              <a:rPr lang="en-US" smtClean="0"/>
              <a:pPr/>
              <a:t>9/23/2025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Obejct Oriented Programming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2AEF6-A042-4DA6-A3E1-F04AAE1E394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734783-275E-45E1-B331-76959B67DCD6}" type="datetime1">
              <a:rPr lang="en-US" smtClean="0"/>
              <a:pPr/>
              <a:t>9/23/2025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Obejct Oriented Programming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2AEF6-A042-4DA6-A3E1-F04AAE1E394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AACB7C-9FA4-4DFC-BA1D-0D2B9E003269}" type="datetime1">
              <a:rPr lang="en-US" smtClean="0"/>
              <a:pPr/>
              <a:t>9/23/2025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Obejct Oriented Programming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2AEF6-A042-4DA6-A3E1-F04AAE1E394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C7B32-5594-4EA3-9030-D67ECE11B0DD}" type="datetime1">
              <a:rPr lang="en-US" smtClean="0"/>
              <a:pPr/>
              <a:t>9/23/2025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Obejct Oriented Programming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2AEF6-A042-4DA6-A3E1-F04AAE1E394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4AE58F-9A80-4350-B35E-C2FF90C3DDEB}" type="datetime1">
              <a:rPr lang="en-US" smtClean="0"/>
              <a:pPr/>
              <a:t>9/23/2025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Obejct Oriented Programming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2AEF6-A042-4DA6-A3E1-F04AAE1E394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18B5B7-F853-404E-926A-F167D71C4E76}" type="datetime1">
              <a:rPr lang="en-US" smtClean="0"/>
              <a:pPr/>
              <a:t>9/23/2025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Obejct Oriented Programming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2AEF6-A042-4DA6-A3E1-F04AAE1E394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039040-BAFD-41CF-85BB-5834C2DE6611}" type="datetime1">
              <a:rPr lang="en-US" smtClean="0"/>
              <a:pPr/>
              <a:t>9/23/2025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Obejct Oriented Programming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2AEF6-A042-4DA6-A3E1-F04AAE1E394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EB74F-A332-490A-A974-D6B293D9D1B6}" type="datetime1">
              <a:rPr lang="en-US" smtClean="0"/>
              <a:pPr/>
              <a:t>9/23/2025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Obejct Oriented Programming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2AEF6-A042-4DA6-A3E1-F04AAE1E394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A603BA-C3E3-4856-8942-1C256AB5CBE6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9/23/2025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Obejct Oriented Programming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2AEF6-A042-4DA6-A3E1-F04AAE1E394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598104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>
                <a:solidFill>
                  <a:srgbClr val="003366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A9F1E1-D6E7-4F8B-8DB6-41D86BE1FACF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9/23/2025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Obejct Oriented Programming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2AEF6-A042-4DA6-A3E1-F04AAE1E394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7648161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1EEA0A-7003-4B6C-8A1E-71E3647E1F9A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9/23/2025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Obejct Oriented Programming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2AEF6-A042-4DA6-A3E1-F04AAE1E394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8108818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96EB36-71C1-4110-B572-749DDBAC6048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9/23/2025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Obejct Oriented Programming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2AEF6-A042-4DA6-A3E1-F04AAE1E394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6191388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784079-EF1A-45F7-96CB-79FD96D85E23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9/23/2025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Obejct Oriented Programming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2AEF6-A042-4DA6-A3E1-F04AAE1E394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3051389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27669D-0A82-427E-8694-2D19DF3F9643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9/23/2025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Obejct Oriented Programming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2AEF6-A042-4DA6-A3E1-F04AAE1E394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1603582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0DAD3-97ED-4577-97C6-233F04DEED7D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9/23/2025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Obejct Oriented Programming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2AEF6-A042-4DA6-A3E1-F04AAE1E394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9231642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EAEE7E-8F72-46F1-B70F-999F416029C7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9/23/2025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Obejct Oriented Programming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2AEF6-A042-4DA6-A3E1-F04AAE1E394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3422629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70935-9A5E-49C7-8C22-F5608FAC2AAA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9/23/2025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Obejct Oriented Programming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2AEF6-A042-4DA6-A3E1-F04AAE1E394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2564118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025F4-582E-471A-A80D-A45F4FAB287A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9/23/2025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Obejct Oriented Programming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2AEF6-A042-4DA6-A3E1-F04AAE1E394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2144837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1CAF52-D0AE-421D-B6F8-53CFF6B592AE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9/23/2025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Obejct Oriented Programming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2AEF6-A042-4DA6-A3E1-F04AAE1E394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41693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5BCB15-0E58-450F-8576-74549CB0A59F}" type="datetime1">
              <a:rPr lang="en-US" smtClean="0"/>
              <a:pPr/>
              <a:t>9/23/2025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Obejct Oriented Programming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92AEF6-A042-4DA6-A3E1-F04AAE1E394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10258F-866B-445E-AF68-A3A101A00438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9/23/2025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Obejct Oriented Programming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92AEF6-A042-4DA6-A3E1-F04AAE1E394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688474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7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819400"/>
            <a:ext cx="91440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5400" dirty="0">
                <a:solidFill>
                  <a:srgbClr val="003366"/>
                </a:solidFill>
                <a:latin typeface="+mj-lt"/>
                <a:ea typeface="+mj-ea"/>
                <a:cs typeface="+mj-cs"/>
              </a:rPr>
              <a:t>Algorithm Analysis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562600" y="304800"/>
            <a:ext cx="349134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prstClr val="white">
                    <a:lumMod val="85000"/>
                  </a:prstClr>
                </a:solidFill>
              </a:rPr>
              <a:t>Data Structures and Algorithms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2AEF6-A042-4DA6-A3E1-F04AAE1E394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0ED6306C-7624-43AD-88DE-8ED36CC2945F}"/>
              </a:ext>
            </a:extLst>
          </p:cNvPr>
          <p:cNvSpPr/>
          <p:nvPr/>
        </p:nvSpPr>
        <p:spPr>
          <a:xfrm>
            <a:off x="97302" y="6172200"/>
            <a:ext cx="5770098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chemeClr val="bg1">
                    <a:lumMod val="95000"/>
                  </a:schemeClr>
                </a:solidFill>
              </a:rPr>
              <a:t>Reference: </a:t>
            </a:r>
          </a:p>
          <a:p>
            <a:r>
              <a:rPr lang="en-US" sz="1600" dirty="0">
                <a:solidFill>
                  <a:schemeClr val="bg1">
                    <a:lumMod val="95000"/>
                  </a:schemeClr>
                </a:solidFill>
              </a:rPr>
              <a:t>Data Structures and Algorithm Analysis in Java by Mark A. Weiss</a:t>
            </a:r>
            <a:endParaRPr lang="x-none" sz="1600" dirty="0">
              <a:solidFill>
                <a:schemeClr val="bg1">
                  <a:lumMod val="9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954828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39624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/>
              <a:t>You will learn about;</a:t>
            </a:r>
          </a:p>
          <a:p>
            <a:r>
              <a:rPr lang="en-US" sz="1800" dirty="0"/>
              <a:t>Algorithm</a:t>
            </a:r>
          </a:p>
          <a:p>
            <a:r>
              <a:rPr lang="en-US" sz="1800" dirty="0"/>
              <a:t>Properties of Algorithm</a:t>
            </a:r>
          </a:p>
          <a:p>
            <a:r>
              <a:rPr lang="en-US" sz="1800" dirty="0"/>
              <a:t>Complexity</a:t>
            </a:r>
          </a:p>
          <a:p>
            <a:r>
              <a:rPr lang="en-US" sz="1800" dirty="0"/>
              <a:t>Asymptotic Analysis</a:t>
            </a:r>
          </a:p>
          <a:p>
            <a:r>
              <a:rPr lang="en-US" sz="1800" dirty="0"/>
              <a:t>Big Oh</a:t>
            </a:r>
          </a:p>
          <a:p>
            <a:r>
              <a:rPr lang="en-US" sz="1800" dirty="0"/>
              <a:t>Recursion</a:t>
            </a:r>
          </a:p>
          <a:p>
            <a:endParaRPr lang="en-US" sz="1800" dirty="0"/>
          </a:p>
          <a:p>
            <a:endParaRPr lang="en-US" sz="1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2AEF6-A042-4DA6-A3E1-F04AAE1E3944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Algorithm 	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altLang="zh-TW" sz="2800" dirty="0">
                <a:latin typeface="+mj-lt"/>
              </a:rPr>
              <a:t>Any</a:t>
            </a:r>
            <a:r>
              <a:rPr lang="en-US" altLang="zh-TW" dirty="0"/>
              <a:t> </a:t>
            </a:r>
            <a:r>
              <a:rPr lang="en-US" altLang="zh-TW" sz="2800" dirty="0">
                <a:latin typeface="+mj-lt"/>
              </a:rPr>
              <a:t>well-defined computation procedure that takes some value, or set of values, as </a:t>
            </a:r>
            <a:r>
              <a:rPr lang="en-US" altLang="zh-TW" sz="2800" dirty="0">
                <a:solidFill>
                  <a:srgbClr val="003366"/>
                </a:solidFill>
                <a:latin typeface="+mj-lt"/>
              </a:rPr>
              <a:t>input</a:t>
            </a:r>
            <a:r>
              <a:rPr lang="en-US" altLang="zh-TW" sz="2800" dirty="0">
                <a:latin typeface="+mj-lt"/>
              </a:rPr>
              <a:t> and produces some value, or set of values, as </a:t>
            </a:r>
            <a:r>
              <a:rPr lang="en-US" altLang="zh-TW" sz="2800" dirty="0">
                <a:solidFill>
                  <a:srgbClr val="003366"/>
                </a:solidFill>
                <a:latin typeface="+mj-lt"/>
              </a:rPr>
              <a:t>output</a:t>
            </a:r>
          </a:p>
          <a:p>
            <a:endParaRPr lang="en-US" sz="2800" dirty="0">
              <a:solidFill>
                <a:srgbClr val="003366"/>
              </a:solidFill>
              <a:latin typeface="+mj-lt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2AEF6-A042-4DA6-A3E1-F04AAE1E3944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3200400" y="3810000"/>
            <a:ext cx="1752600" cy="762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Algorithm</a:t>
            </a:r>
          </a:p>
        </p:txBody>
      </p:sp>
      <p:cxnSp>
        <p:nvCxnSpPr>
          <p:cNvPr id="7" name="Straight Arrow Connector 6"/>
          <p:cNvCxnSpPr>
            <a:endCxn id="5" idx="1"/>
          </p:cNvCxnSpPr>
          <p:nvPr/>
        </p:nvCxnSpPr>
        <p:spPr>
          <a:xfrm>
            <a:off x="1981200" y="4191000"/>
            <a:ext cx="121920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/>
          <p:nvPr/>
        </p:nvCxnSpPr>
        <p:spPr>
          <a:xfrm>
            <a:off x="4724400" y="4191000"/>
            <a:ext cx="121920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1944914" y="3810000"/>
            <a:ext cx="6960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Input</a:t>
            </a:r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5072849" y="3810000"/>
            <a:ext cx="87075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Output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73924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Algorithm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altLang="zh-TW" sz="2800" dirty="0">
                <a:latin typeface="+mj-lt"/>
              </a:rPr>
              <a:t>A well-ordered collection of </a:t>
            </a:r>
            <a:r>
              <a:rPr lang="en-US" altLang="zh-TW" sz="2800" dirty="0">
                <a:solidFill>
                  <a:srgbClr val="003366"/>
                </a:solidFill>
                <a:latin typeface="+mj-lt"/>
              </a:rPr>
              <a:t>unambiguous </a:t>
            </a:r>
            <a:r>
              <a:rPr lang="en-US" altLang="zh-TW" sz="2800" dirty="0">
                <a:latin typeface="+mj-lt"/>
              </a:rPr>
              <a:t>and effectively computable operations that, when, executed, </a:t>
            </a:r>
            <a:r>
              <a:rPr lang="en-US" altLang="zh-TW" sz="2800" dirty="0">
                <a:solidFill>
                  <a:srgbClr val="003366"/>
                </a:solidFill>
                <a:latin typeface="+mj-lt"/>
              </a:rPr>
              <a:t>produces a result </a:t>
            </a:r>
            <a:r>
              <a:rPr lang="en-US" altLang="zh-TW" sz="2800" dirty="0">
                <a:latin typeface="+mj-lt"/>
              </a:rPr>
              <a:t>and </a:t>
            </a:r>
            <a:r>
              <a:rPr lang="en-US" altLang="zh-TW" sz="2800" dirty="0">
                <a:solidFill>
                  <a:srgbClr val="003366"/>
                </a:solidFill>
                <a:latin typeface="+mj-lt"/>
              </a:rPr>
              <a:t>halts </a:t>
            </a:r>
            <a:r>
              <a:rPr lang="en-US" altLang="zh-TW" sz="2800" dirty="0">
                <a:latin typeface="+mj-lt"/>
              </a:rPr>
              <a:t>in a </a:t>
            </a:r>
            <a:r>
              <a:rPr lang="en-US" altLang="zh-TW" sz="2800" dirty="0">
                <a:solidFill>
                  <a:srgbClr val="003366"/>
                </a:solidFill>
                <a:latin typeface="+mj-lt"/>
              </a:rPr>
              <a:t>finite</a:t>
            </a:r>
            <a:r>
              <a:rPr lang="en-US" altLang="zh-TW" sz="2800" dirty="0">
                <a:solidFill>
                  <a:srgbClr val="C20A3A"/>
                </a:solidFill>
                <a:latin typeface="+mj-lt"/>
              </a:rPr>
              <a:t> </a:t>
            </a:r>
            <a:r>
              <a:rPr lang="en-US" altLang="zh-TW" sz="2800" dirty="0">
                <a:solidFill>
                  <a:srgbClr val="003366"/>
                </a:solidFill>
                <a:latin typeface="+mj-lt"/>
              </a:rPr>
              <a:t>amount of time</a:t>
            </a:r>
            <a:r>
              <a:rPr lang="en-US" altLang="zh-TW" sz="2800" dirty="0">
                <a:latin typeface="+mj-lt"/>
              </a:rPr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2AEF6-A042-4DA6-A3E1-F04AAE1E3944}" type="slidenum">
              <a:rPr lang="en-US" smtClean="0">
                <a:latin typeface="+mj-lt"/>
              </a:rPr>
              <a:pPr/>
              <a:t>4</a:t>
            </a:fld>
            <a:endParaRPr lang="en-US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7460966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Properties of an Algorithm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solidFill>
                  <a:srgbClr val="003366"/>
                </a:solidFill>
              </a:rPr>
              <a:t>Input</a:t>
            </a:r>
            <a:r>
              <a:rPr lang="en-US" dirty="0"/>
              <a:t> -An algorithm has input values from a specified set.</a:t>
            </a:r>
          </a:p>
          <a:p>
            <a:endParaRPr lang="en-US" dirty="0"/>
          </a:p>
          <a:p>
            <a:r>
              <a:rPr lang="en-US" b="1" dirty="0">
                <a:solidFill>
                  <a:srgbClr val="003366"/>
                </a:solidFill>
              </a:rPr>
              <a:t>Output</a:t>
            </a:r>
            <a:r>
              <a:rPr lang="en-US" dirty="0"/>
              <a:t> -From each set of input values an algorithm produces output values from a specified set. The output values are the solution to the problem.</a:t>
            </a:r>
          </a:p>
          <a:p>
            <a:endParaRPr lang="en-US" dirty="0"/>
          </a:p>
          <a:p>
            <a:r>
              <a:rPr lang="en-US" b="1" dirty="0">
                <a:solidFill>
                  <a:srgbClr val="003366"/>
                </a:solidFill>
              </a:rPr>
              <a:t>Definiteness</a:t>
            </a:r>
            <a:r>
              <a:rPr lang="en-US" dirty="0"/>
              <a:t> -The steps of an algorithm must be defined precisely.</a:t>
            </a:r>
          </a:p>
          <a:p>
            <a:endParaRPr lang="en-US" dirty="0"/>
          </a:p>
          <a:p>
            <a:r>
              <a:rPr lang="en-US" b="1" dirty="0">
                <a:solidFill>
                  <a:srgbClr val="003366"/>
                </a:solidFill>
              </a:rPr>
              <a:t>Correctness</a:t>
            </a:r>
            <a:r>
              <a:rPr lang="en-US" b="1" dirty="0"/>
              <a:t> </a:t>
            </a:r>
            <a:r>
              <a:rPr lang="en-US" dirty="0"/>
              <a:t>-An algorithm should produce the correct output values for each set of input values.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2AEF6-A042-4DA6-A3E1-F04AAE1E3944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4479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Properties of an Algorithm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solidFill>
                  <a:srgbClr val="003366"/>
                </a:solidFill>
              </a:rPr>
              <a:t>Finiteness</a:t>
            </a:r>
            <a:r>
              <a:rPr lang="en-US" b="1" dirty="0"/>
              <a:t> </a:t>
            </a:r>
            <a:r>
              <a:rPr lang="en-US" dirty="0"/>
              <a:t>-An algorithm should produce the desired output after a finite (but perhaps large) number of steps for any input in the set.</a:t>
            </a:r>
          </a:p>
          <a:p>
            <a:endParaRPr lang="en-US" dirty="0"/>
          </a:p>
          <a:p>
            <a:r>
              <a:rPr lang="en-US" b="1" dirty="0">
                <a:solidFill>
                  <a:srgbClr val="003366"/>
                </a:solidFill>
              </a:rPr>
              <a:t>Effectiveness</a:t>
            </a:r>
            <a:r>
              <a:rPr lang="en-US" b="1" dirty="0"/>
              <a:t> </a:t>
            </a:r>
            <a:r>
              <a:rPr lang="en-US" dirty="0"/>
              <a:t>-It must be possible to perform each step of an algorithm exactly and in a finite amount of time.</a:t>
            </a:r>
          </a:p>
          <a:p>
            <a:endParaRPr lang="en-US" dirty="0"/>
          </a:p>
          <a:p>
            <a:r>
              <a:rPr lang="en-US" b="1" dirty="0">
                <a:solidFill>
                  <a:srgbClr val="003366"/>
                </a:solidFill>
              </a:rPr>
              <a:t>Generality</a:t>
            </a:r>
            <a:r>
              <a:rPr lang="en-US" b="1" dirty="0"/>
              <a:t> </a:t>
            </a:r>
            <a:r>
              <a:rPr lang="en-US" dirty="0"/>
              <a:t>-The procedure should be applicable for all problems of the desired form, not just for a particular set of input values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2AEF6-A042-4DA6-A3E1-F04AAE1E3944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58616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Algorithm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4267200"/>
          </a:xfrm>
        </p:spPr>
        <p:txBody>
          <a:bodyPr/>
          <a:lstStyle/>
          <a:p>
            <a:r>
              <a:rPr lang="en-US" dirty="0"/>
              <a:t>The task of determining how much computing time and storage an algorithm requires.</a:t>
            </a:r>
          </a:p>
          <a:p>
            <a:r>
              <a:rPr lang="en-US" dirty="0"/>
              <a:t> How good is the algorithm?</a:t>
            </a:r>
          </a:p>
          <a:p>
            <a:pPr lvl="1">
              <a:defRPr/>
            </a:pPr>
            <a:r>
              <a:rPr lang="en-US" dirty="0"/>
              <a:t>Correctness</a:t>
            </a:r>
          </a:p>
          <a:p>
            <a:pPr lvl="1">
              <a:defRPr/>
            </a:pPr>
            <a:r>
              <a:rPr lang="en-US" dirty="0"/>
              <a:t>Time efficiency</a:t>
            </a:r>
          </a:p>
          <a:p>
            <a:pPr lvl="1">
              <a:defRPr/>
            </a:pPr>
            <a:r>
              <a:rPr lang="en-US" dirty="0"/>
              <a:t>Space efficiency</a:t>
            </a:r>
          </a:p>
          <a:p>
            <a:pPr marL="342900" lvl="1" indent="-342900">
              <a:buFont typeface="Arial" pitchFamily="34" charset="0"/>
              <a:buChar char="•"/>
              <a:defRPr/>
            </a:pPr>
            <a:r>
              <a:rPr lang="en-US" dirty="0"/>
              <a:t>How to analyze algorithms? </a:t>
            </a:r>
          </a:p>
          <a:p>
            <a:pPr lvl="1">
              <a:defRPr/>
            </a:pPr>
            <a:r>
              <a:rPr lang="en-US" altLang="en-US" dirty="0"/>
              <a:t>theoretical analysis (Mathematical)</a:t>
            </a:r>
          </a:p>
          <a:p>
            <a:pPr lvl="1">
              <a:defRPr/>
            </a:pPr>
            <a:r>
              <a:rPr lang="en-US" altLang="en-US" dirty="0"/>
              <a:t>empirical analysis</a:t>
            </a:r>
          </a:p>
          <a:p>
            <a:pPr lvl="1"/>
            <a:r>
              <a:rPr lang="en-US" dirty="0"/>
              <a:t>It needs mathematical skills.</a:t>
            </a:r>
          </a:p>
          <a:p>
            <a:r>
              <a:rPr lang="en-US" dirty="0"/>
              <a:t>Best case, average case, and worst case.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2AEF6-A042-4DA6-A3E1-F04AAE1E3944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65034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Correctness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 algorithm is said to be </a:t>
            </a:r>
            <a:r>
              <a:rPr lang="en-US" dirty="0">
                <a:solidFill>
                  <a:srgbClr val="003366"/>
                </a:solidFill>
              </a:rPr>
              <a:t>correct</a:t>
            </a:r>
            <a:r>
              <a:rPr lang="en-US" dirty="0"/>
              <a:t> if, for every input instance, it halts with the correct output. </a:t>
            </a:r>
          </a:p>
          <a:p>
            <a:r>
              <a:rPr lang="en-US" dirty="0"/>
              <a:t>A correct algorithm solves the given computational problem.  </a:t>
            </a:r>
          </a:p>
          <a:p>
            <a:r>
              <a:rPr lang="en-US" dirty="0"/>
              <a:t>Partial correctness requires that if an answer is returned it will be correct.</a:t>
            </a:r>
          </a:p>
          <a:p>
            <a:r>
              <a:rPr lang="en-US" dirty="0"/>
              <a:t>Total correctness additionally requires that the algorithm terminates</a:t>
            </a:r>
          </a:p>
          <a:p>
            <a:r>
              <a:rPr lang="en-US" dirty="0"/>
              <a:t>An </a:t>
            </a:r>
            <a:r>
              <a:rPr lang="en-US" dirty="0">
                <a:solidFill>
                  <a:srgbClr val="003366"/>
                </a:solidFill>
              </a:rPr>
              <a:t>incorrect </a:t>
            </a:r>
            <a:r>
              <a:rPr lang="en-US" dirty="0"/>
              <a:t>algorithm might not halt at all on some input instance, or it might halt with other than the desired answer.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2AEF6-A042-4DA6-A3E1-F04AAE1E3944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14515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Space Complexity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Space complexity is the amount of memory used by the algorithm (including the input values to the algorithm) to execute and produce the result.</a:t>
            </a:r>
          </a:p>
          <a:p>
            <a:r>
              <a:rPr lang="en-US" dirty="0"/>
              <a:t>Algorithm uses memory space for three reasons</a:t>
            </a:r>
          </a:p>
          <a:p>
            <a:pPr lvl="1"/>
            <a:r>
              <a:rPr lang="en-US" dirty="0"/>
              <a:t>Instruction Space</a:t>
            </a:r>
          </a:p>
          <a:p>
            <a:pPr lvl="1"/>
            <a:r>
              <a:rPr lang="en-US" dirty="0"/>
              <a:t>Environmental Stack</a:t>
            </a:r>
          </a:p>
          <a:p>
            <a:pPr lvl="1"/>
            <a:r>
              <a:rPr lang="en-US" dirty="0"/>
              <a:t>Data Space</a:t>
            </a:r>
          </a:p>
          <a:p>
            <a:pPr lvl="2"/>
            <a:r>
              <a:rPr lang="en-US" dirty="0"/>
              <a:t>Memory used by different data types</a:t>
            </a:r>
          </a:p>
          <a:p>
            <a:r>
              <a:rPr lang="en-US" dirty="0"/>
              <a:t>How much memory resource, algorithm will require?</a:t>
            </a:r>
          </a:p>
          <a:p>
            <a:r>
              <a:rPr lang="en-US" dirty="0"/>
              <a:t>We usually consider only Data Space for space complexity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2AEF6-A042-4DA6-A3E1-F04AAE1E3944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38805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Time Complexity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Time complexity of an algorithm signifies the total time required by the program to run till its completion.</a:t>
            </a:r>
            <a:endParaRPr lang="en-US" altLang="en-US" dirty="0"/>
          </a:p>
          <a:p>
            <a:r>
              <a:rPr lang="en-US" altLang="en-US" dirty="0"/>
              <a:t>Time efficiency is analyzed by determining the number of repetitions of the basic operation as a function of input size.</a:t>
            </a:r>
            <a:endParaRPr lang="en-US" dirty="0"/>
          </a:p>
          <a:p>
            <a:r>
              <a:rPr lang="en-US" altLang="en-US" i="1" u="sng" dirty="0"/>
              <a:t>Basic operation</a:t>
            </a:r>
            <a:r>
              <a:rPr lang="en-US" altLang="en-US" dirty="0"/>
              <a:t>: the operation that contributes most towards the running time of the algorithm</a:t>
            </a:r>
          </a:p>
          <a:p>
            <a:r>
              <a:rPr lang="en-US" dirty="0"/>
              <a:t>Time Efficiency is speed</a:t>
            </a:r>
          </a:p>
          <a:p>
            <a:r>
              <a:rPr lang="en-US" dirty="0"/>
              <a:t>How long an algorithm takes to produce its result?</a:t>
            </a:r>
          </a:p>
          <a:p>
            <a:r>
              <a:rPr lang="en-US" dirty="0"/>
              <a:t>We usually use the worst-case time complexity</a:t>
            </a:r>
            <a:endParaRPr lang="en-US" altLang="en-US" dirty="0"/>
          </a:p>
          <a:p>
            <a:endParaRPr lang="en-US" dirty="0"/>
          </a:p>
          <a:p>
            <a:endParaRPr lang="en-US" altLang="en-US" i="1" u="sng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2AEF6-A042-4DA6-A3E1-F04AAE1E3944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76696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solidFill>
                  <a:srgbClr val="003366"/>
                </a:solidFill>
              </a:rPr>
              <a:t>Best</a:t>
            </a:r>
            <a:r>
              <a:rPr lang="en-US" dirty="0">
                <a:solidFill>
                  <a:srgbClr val="003366"/>
                </a:solidFill>
              </a:rPr>
              <a:t> </a:t>
            </a:r>
            <a:r>
              <a:rPr lang="en-US" b="1" dirty="0">
                <a:solidFill>
                  <a:srgbClr val="003366"/>
                </a:solidFill>
              </a:rPr>
              <a:t>case</a:t>
            </a:r>
            <a:r>
              <a:rPr lang="en-US" dirty="0"/>
              <a:t> is the function which performs the minimum number of steps on input data of n elements. </a:t>
            </a:r>
          </a:p>
          <a:p>
            <a:r>
              <a:rPr lang="en-US" b="1" dirty="0">
                <a:solidFill>
                  <a:srgbClr val="003366"/>
                </a:solidFill>
              </a:rPr>
              <a:t>Worst</a:t>
            </a:r>
            <a:r>
              <a:rPr lang="en-US" dirty="0">
                <a:solidFill>
                  <a:srgbClr val="003366"/>
                </a:solidFill>
              </a:rPr>
              <a:t> </a:t>
            </a:r>
            <a:r>
              <a:rPr lang="en-US" b="1" dirty="0">
                <a:solidFill>
                  <a:srgbClr val="003366"/>
                </a:solidFill>
              </a:rPr>
              <a:t>case</a:t>
            </a:r>
            <a:r>
              <a:rPr lang="en-US" dirty="0"/>
              <a:t> is the function which performs the maximum number of steps on input data of size n. </a:t>
            </a:r>
          </a:p>
          <a:p>
            <a:r>
              <a:rPr lang="en-US" b="1" dirty="0">
                <a:solidFill>
                  <a:srgbClr val="003366"/>
                </a:solidFill>
              </a:rPr>
              <a:t>Average</a:t>
            </a:r>
            <a:r>
              <a:rPr lang="en-US" dirty="0">
                <a:solidFill>
                  <a:srgbClr val="003366"/>
                </a:solidFill>
              </a:rPr>
              <a:t> </a:t>
            </a:r>
            <a:r>
              <a:rPr lang="en-US" b="1" dirty="0">
                <a:solidFill>
                  <a:srgbClr val="003366"/>
                </a:solidFill>
              </a:rPr>
              <a:t>case</a:t>
            </a:r>
            <a:r>
              <a:rPr lang="en-US" dirty="0"/>
              <a:t> is the function which performs an average number of steps on input data of n elements.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2AEF6-A042-4DA6-A3E1-F04AAE1E3944}" type="slidenum">
              <a:rPr lang="en-US" smtClean="0"/>
              <a:pPr/>
              <a:t>11</a:t>
            </a:fld>
            <a:endParaRPr lang="en-US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136063"/>
              </p:ext>
            </p:extLst>
          </p:nvPr>
        </p:nvGraphicFramePr>
        <p:xfrm>
          <a:off x="1295400" y="4114800"/>
          <a:ext cx="6096000" cy="1102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Average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Worst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1496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effectLst/>
                        </a:rPr>
                        <a:t>Insertion sort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i="1" dirty="0">
                          <a:effectLst/>
                        </a:rPr>
                        <a:t>n</a:t>
                      </a:r>
                      <a:endParaRPr lang="en-US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i="1" dirty="0">
                          <a:effectLst/>
                        </a:rPr>
                        <a:t>n</a:t>
                      </a:r>
                      <a:r>
                        <a:rPr lang="en-US" baseline="30000" dirty="0">
                          <a:effectLst/>
                        </a:rPr>
                        <a:t>2</a:t>
                      </a:r>
                      <a:endParaRPr lang="en-US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i="1" dirty="0">
                          <a:effectLst/>
                        </a:rPr>
                        <a:t>n</a:t>
                      </a:r>
                      <a:r>
                        <a:rPr lang="en-US" baseline="30000" dirty="0">
                          <a:effectLst/>
                        </a:rPr>
                        <a:t>2</a:t>
                      </a:r>
                      <a:endParaRPr lang="en-US" dirty="0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1496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effectLst/>
                        </a:rPr>
                        <a:t>Quick Sort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i="1" dirty="0">
                          <a:effectLst/>
                        </a:rPr>
                        <a:t>n</a:t>
                      </a:r>
                      <a:r>
                        <a:rPr lang="en-US" dirty="0">
                          <a:effectLst/>
                        </a:rPr>
                        <a:t> log(</a:t>
                      </a:r>
                      <a:r>
                        <a:rPr lang="en-US" i="1" dirty="0">
                          <a:effectLst/>
                        </a:rPr>
                        <a:t>n</a:t>
                      </a:r>
                      <a:r>
                        <a:rPr lang="en-US" dirty="0">
                          <a:effectLst/>
                        </a:rPr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i="1" dirty="0">
                          <a:effectLst/>
                        </a:rPr>
                        <a:t>n</a:t>
                      </a:r>
                      <a:r>
                        <a:rPr lang="en-US" dirty="0">
                          <a:effectLst/>
                        </a:rPr>
                        <a:t> log(</a:t>
                      </a:r>
                      <a:r>
                        <a:rPr lang="en-US" i="1" dirty="0">
                          <a:effectLst/>
                        </a:rPr>
                        <a:t>n</a:t>
                      </a:r>
                      <a:r>
                        <a:rPr lang="en-US" dirty="0">
                          <a:effectLst/>
                        </a:rPr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i="1" dirty="0">
                          <a:effectLst/>
                        </a:rPr>
                        <a:t>n</a:t>
                      </a:r>
                      <a:r>
                        <a:rPr lang="en-US" baseline="30000" dirty="0">
                          <a:effectLst/>
                        </a:rPr>
                        <a:t>2</a:t>
                      </a:r>
                      <a:endParaRPr lang="en-US" dirty="0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713002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Asymptotic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Refers to computing the running time of any operation in mathematical units of computation</a:t>
            </a:r>
          </a:p>
          <a:p>
            <a:r>
              <a:rPr lang="en-US" dirty="0"/>
              <a:t>It is input bound</a:t>
            </a:r>
          </a:p>
          <a:p>
            <a:r>
              <a:rPr lang="en-US" dirty="0"/>
              <a:t>If there's no input to the algorithm, it is concluded to work in a constant time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2AEF6-A042-4DA6-A3E1-F04AAE1E3944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82802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Asymptotic Notations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Following are the commonly used asymptotic notations to calculate the running time complexity of an algorithm</a:t>
            </a:r>
            <a:endParaRPr lang="en-US" sz="2400" dirty="0"/>
          </a:p>
          <a:p>
            <a:pPr lvl="1"/>
            <a:r>
              <a:rPr lang="en-US" sz="2400" dirty="0"/>
              <a:t>Big Oh           </a:t>
            </a:r>
            <a:r>
              <a:rPr lang="en-US" sz="2400" dirty="0">
                <a:sym typeface="Wingdings" panose="05000000000000000000" pitchFamily="2" charset="2"/>
              </a:rPr>
              <a:t> </a:t>
            </a:r>
            <a:r>
              <a:rPr lang="en-US" sz="2400" dirty="0"/>
              <a:t>O()</a:t>
            </a:r>
          </a:p>
          <a:p>
            <a:pPr lvl="1"/>
            <a:r>
              <a:rPr lang="en-US" sz="2400" dirty="0"/>
              <a:t>Big Omega   </a:t>
            </a:r>
            <a:r>
              <a:rPr lang="en-US" sz="2400" dirty="0">
                <a:sym typeface="Wingdings" panose="05000000000000000000" pitchFamily="2" charset="2"/>
              </a:rPr>
              <a:t> </a:t>
            </a:r>
            <a:r>
              <a:rPr lang="el-GR" sz="2400" dirty="0"/>
              <a:t>Ω()</a:t>
            </a:r>
            <a:endParaRPr lang="en-US" sz="2400" dirty="0"/>
          </a:p>
          <a:p>
            <a:pPr lvl="1"/>
            <a:r>
              <a:rPr lang="en-US" sz="2400" dirty="0"/>
              <a:t>Big Theta      </a:t>
            </a:r>
            <a:r>
              <a:rPr lang="en-US" sz="2400" dirty="0">
                <a:sym typeface="Wingdings" panose="05000000000000000000" pitchFamily="2" charset="2"/>
              </a:rPr>
              <a:t> </a:t>
            </a:r>
            <a:r>
              <a:rPr lang="el-GR" sz="2400" dirty="0">
                <a:sym typeface="Wingdings" panose="05000000000000000000" pitchFamily="2" charset="2"/>
              </a:rPr>
              <a:t>θ</a:t>
            </a:r>
            <a:r>
              <a:rPr lang="en-US" sz="2400" dirty="0">
                <a:sym typeface="Wingdings" panose="05000000000000000000" pitchFamily="2" charset="2"/>
              </a:rPr>
              <a:t>()</a:t>
            </a:r>
          </a:p>
          <a:p>
            <a:endParaRPr lang="en-US" sz="2400" dirty="0">
              <a:sym typeface="Wingdings" panose="05000000000000000000" pitchFamily="2" charset="2"/>
            </a:endParaRPr>
          </a:p>
          <a:p>
            <a:r>
              <a:rPr lang="en-US" dirty="0">
                <a:sym typeface="Wingdings" panose="05000000000000000000" pitchFamily="2" charset="2"/>
              </a:rPr>
              <a:t>Other notion are</a:t>
            </a:r>
            <a:endParaRPr lang="en-US" dirty="0"/>
          </a:p>
          <a:p>
            <a:pPr lvl="1"/>
            <a:r>
              <a:rPr lang="en-US" sz="2400" dirty="0"/>
              <a:t>Little Oh        </a:t>
            </a:r>
            <a:r>
              <a:rPr lang="en-US" sz="2400" dirty="0">
                <a:sym typeface="Wingdings" panose="05000000000000000000" pitchFamily="2" charset="2"/>
              </a:rPr>
              <a:t> o()</a:t>
            </a:r>
            <a:endParaRPr lang="en-US" sz="2400" dirty="0"/>
          </a:p>
          <a:p>
            <a:pPr lvl="1"/>
            <a:r>
              <a:rPr lang="en-US" sz="2400" dirty="0"/>
              <a:t>Little Omega </a:t>
            </a:r>
            <a:r>
              <a:rPr lang="en-US" sz="2400" dirty="0">
                <a:sym typeface="Wingdings" panose="05000000000000000000" pitchFamily="2" charset="2"/>
              </a:rPr>
              <a:t> </a:t>
            </a:r>
            <a:r>
              <a:rPr lang="el-GR" sz="2400" dirty="0">
                <a:sym typeface="Wingdings" panose="05000000000000000000" pitchFamily="2" charset="2"/>
              </a:rPr>
              <a:t>ω</a:t>
            </a:r>
            <a:r>
              <a:rPr lang="en-US" sz="2400" dirty="0">
                <a:sym typeface="Wingdings" panose="05000000000000000000" pitchFamily="2" charset="2"/>
              </a:rPr>
              <a:t>()</a:t>
            </a:r>
            <a:endParaRPr lang="en-US" sz="2400" dirty="0"/>
          </a:p>
          <a:p>
            <a:pPr marL="0" indent="0">
              <a:buNone/>
            </a:pPr>
            <a:endParaRPr lang="en-US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2AEF6-A042-4DA6-A3E1-F04AAE1E3944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9747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Relative rates of growth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idea of previous definitions is to establish a relative order among functions. This is the important measure in analysis. </a:t>
            </a:r>
          </a:p>
          <a:p>
            <a:r>
              <a:rPr lang="en-US" altLang="en-US" dirty="0"/>
              <a:t>It is not the exact number of basic ops executed for given </a:t>
            </a:r>
            <a:r>
              <a:rPr lang="en-US" altLang="en-US" i="1" dirty="0"/>
              <a:t>n rather it is </a:t>
            </a:r>
            <a:r>
              <a:rPr lang="en-US" altLang="en-US" dirty="0"/>
              <a:t>how </a:t>
            </a:r>
            <a:r>
              <a:rPr lang="en-US" altLang="en-US" i="1" dirty="0">
                <a:solidFill>
                  <a:srgbClr val="003366"/>
                </a:solidFill>
              </a:rPr>
              <a:t>number of basic operations grows as n increases</a:t>
            </a:r>
            <a:endParaRPr lang="en-US" i="1" dirty="0">
              <a:solidFill>
                <a:srgbClr val="003366"/>
              </a:solidFill>
            </a:endParaRPr>
          </a:p>
          <a:p>
            <a:endParaRPr lang="en-US" b="1" i="1" dirty="0">
              <a:solidFill>
                <a:srgbClr val="003366"/>
              </a:solidFill>
            </a:endParaRPr>
          </a:p>
          <a:p>
            <a:r>
              <a:rPr lang="en-US" b="1" i="1" dirty="0">
                <a:solidFill>
                  <a:srgbClr val="003366"/>
                </a:solidFill>
              </a:rPr>
              <a:t>T(N) = O(f(N)) </a:t>
            </a:r>
            <a:r>
              <a:rPr lang="en-US" dirty="0"/>
              <a:t>says that the growth rate of T(N) is less than or equal to (≤) that of f(N)</a:t>
            </a:r>
          </a:p>
          <a:p>
            <a:r>
              <a:rPr lang="en-US" b="1" i="1" dirty="0">
                <a:solidFill>
                  <a:srgbClr val="003366"/>
                </a:solidFill>
              </a:rPr>
              <a:t>T(N) = </a:t>
            </a:r>
            <a:r>
              <a:rPr lang="el-GR" b="1" i="1" dirty="0">
                <a:solidFill>
                  <a:srgbClr val="003366"/>
                </a:solidFill>
              </a:rPr>
              <a:t>Ω </a:t>
            </a:r>
            <a:r>
              <a:rPr lang="en-US" b="1" i="1" dirty="0">
                <a:solidFill>
                  <a:srgbClr val="003366"/>
                </a:solidFill>
              </a:rPr>
              <a:t>(g(N))  </a:t>
            </a:r>
            <a:r>
              <a:rPr lang="en-US" dirty="0"/>
              <a:t>says that growth rate of T(N) is greater than or equal to (≥) that of g(N). </a:t>
            </a:r>
          </a:p>
          <a:p>
            <a:r>
              <a:rPr lang="pt-BR" b="1" i="1" dirty="0">
                <a:solidFill>
                  <a:srgbClr val="003366"/>
                </a:solidFill>
              </a:rPr>
              <a:t>T(N) = </a:t>
            </a:r>
            <a:r>
              <a:rPr lang="el-GR" b="1" i="1" dirty="0">
                <a:solidFill>
                  <a:srgbClr val="003366"/>
                </a:solidFill>
              </a:rPr>
              <a:t>θ </a:t>
            </a:r>
            <a:r>
              <a:rPr lang="pt-BR" b="1" i="1" dirty="0">
                <a:solidFill>
                  <a:srgbClr val="003366"/>
                </a:solidFill>
              </a:rPr>
              <a:t>(h(N)) </a:t>
            </a:r>
            <a:r>
              <a:rPr lang="en-US" dirty="0"/>
              <a:t>says that the growth rate of T(N) equals (=) the growth rate of h(N)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2AEF6-A042-4DA6-A3E1-F04AAE1E3944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02191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Order of growth  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2AEF6-A042-4DA6-A3E1-F04AAE1E3944}" type="slidenum">
              <a:rPr lang="en-US" smtClean="0"/>
              <a:pPr/>
              <a:t>15</a:t>
            </a:fld>
            <a:endParaRPr lang="en-US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7400" y="1447800"/>
            <a:ext cx="3733800" cy="41071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5"/>
          <p:cNvSpPr/>
          <p:nvPr/>
        </p:nvSpPr>
        <p:spPr>
          <a:xfrm>
            <a:off x="2895600" y="5554980"/>
            <a:ext cx="140865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Growth rates</a:t>
            </a:r>
          </a:p>
        </p:txBody>
      </p:sp>
    </p:spTree>
    <p:extLst>
      <p:ext uri="{BB962C8B-B14F-4D97-AF65-F5344CB8AC3E}">
        <p14:creationId xmlns:p14="http://schemas.microsoft.com/office/powerpoint/2010/main" val="424981242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Order of growth  </a:t>
            </a:r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1371600"/>
            <a:ext cx="8001000" cy="4639149"/>
          </a:xfr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2AEF6-A042-4DA6-A3E1-F04AAE1E3944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5" name="AutoShape 2" descr="Image result for constant linear quadratic curves algorithm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555328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Recursion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It is a method of solving a problem where the solution depends on solutions to smaller instances of the same problem.</a:t>
            </a:r>
          </a:p>
          <a:p>
            <a:endParaRPr lang="en-US" dirty="0"/>
          </a:p>
          <a:p>
            <a:pPr marL="457200" lvl="1" indent="0">
              <a:buNone/>
            </a:pPr>
            <a:r>
              <a:rPr lang="en-US" sz="2400" b="1" i="1" dirty="0">
                <a:latin typeface="Courier New" panose="02070309020205020404" pitchFamily="49" charset="0"/>
                <a:cs typeface="Courier New" panose="02070309020205020404" pitchFamily="49" charset="0"/>
              </a:rPr>
              <a:t>f(x) = 2f(x − 1) + x^2</a:t>
            </a:r>
          </a:p>
          <a:p>
            <a:pPr marL="457200" lvl="1" indent="0"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f(0) = 0 (Base)</a:t>
            </a:r>
          </a:p>
          <a:p>
            <a:pPr marL="457200" lvl="1" indent="0"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f(1) = 1, </a:t>
            </a:r>
          </a:p>
          <a:p>
            <a:pPr marL="457200" lvl="1" indent="0"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f(2) = 6, </a:t>
            </a:r>
          </a:p>
          <a:p>
            <a:pPr marL="457200" lvl="1" indent="0"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f(3) = 21</a:t>
            </a:r>
            <a:endParaRPr lang="en-US" sz="2400" dirty="0"/>
          </a:p>
          <a:p>
            <a:endParaRPr lang="en-US" dirty="0"/>
          </a:p>
          <a:p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2AEF6-A042-4DA6-A3E1-F04AAE1E3944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645033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Recursive Method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2AEF6-A042-4DA6-A3E1-F04AAE1E3944}" type="slidenum">
              <a:rPr lang="en-US" smtClean="0"/>
              <a:pPr/>
              <a:t>18</a:t>
            </a:fld>
            <a:endParaRPr lang="en-US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7943" y="2379434"/>
            <a:ext cx="5152322" cy="26497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1485" y="1723571"/>
            <a:ext cx="3429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4"/>
          <p:cNvSpPr/>
          <p:nvPr/>
        </p:nvSpPr>
        <p:spPr>
          <a:xfrm>
            <a:off x="914400" y="5049982"/>
            <a:ext cx="70866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What will happen If </a:t>
            </a:r>
            <a:r>
              <a:rPr lang="en-US" sz="2400" i="1" dirty="0"/>
              <a:t>f </a:t>
            </a:r>
            <a:r>
              <a:rPr lang="en-US" sz="2400" dirty="0"/>
              <a:t>is called with the value of 4?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What will happen for </a:t>
            </a:r>
            <a:r>
              <a:rPr lang="en-US" sz="2400" b="1" i="1" dirty="0"/>
              <a:t>f(-1)</a:t>
            </a:r>
            <a:r>
              <a:rPr lang="en-US" sz="2400" i="1" dirty="0"/>
              <a:t>?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64056315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Analyzing Recursive Methods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400" dirty="0">
                <a:solidFill>
                  <a:srgbClr val="003366"/>
                </a:solidFill>
              </a:rPr>
              <a:t>Factorial: 5! </a:t>
            </a:r>
            <a:r>
              <a:rPr lang="en-US" sz="2400" dirty="0">
                <a:solidFill>
                  <a:srgbClr val="003366"/>
                </a:solidFill>
                <a:sym typeface="Wingdings" panose="05000000000000000000" pitchFamily="2" charset="2"/>
              </a:rPr>
              <a:t> 5.4.3.2.1 </a:t>
            </a:r>
            <a:endParaRPr lang="en-US" sz="2400" dirty="0">
              <a:solidFill>
                <a:srgbClr val="003366"/>
              </a:solidFill>
            </a:endParaRPr>
          </a:p>
          <a:p>
            <a:r>
              <a:rPr lang="en-US" dirty="0"/>
              <a:t>If the recursion is really just a thinly veiled for loop, the analysis is usually trivial. For instance, the following method is really just a simple loop and is O(N):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2AEF6-A042-4DA6-A3E1-F04AAE1E3944}" type="slidenum">
              <a:rPr lang="en-US" smtClean="0"/>
              <a:pPr/>
              <a:t>19</a:t>
            </a:fld>
            <a:endParaRPr lang="en-US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3102578"/>
            <a:ext cx="4800600" cy="23838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4336063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Analyzing Recursive Methods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400" dirty="0">
                <a:solidFill>
                  <a:srgbClr val="003366"/>
                </a:solidFill>
              </a:rPr>
              <a:t>Fibonacci Series:</a:t>
            </a:r>
            <a:r>
              <a:rPr lang="en-US" dirty="0"/>
              <a:t> </a:t>
            </a:r>
            <a:r>
              <a:rPr lang="en-US" sz="2400" dirty="0">
                <a:solidFill>
                  <a:srgbClr val="003366"/>
                </a:solidFill>
              </a:rPr>
              <a:t>1, 1, 2, 3, 5, 8 . . . . </a:t>
            </a:r>
            <a:endParaRPr lang="en-US" dirty="0">
              <a:solidFill>
                <a:srgbClr val="003366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2AEF6-A042-4DA6-A3E1-F04AAE1E3944}" type="slidenum">
              <a:rPr lang="en-US" smtClean="0"/>
              <a:pPr/>
              <a:t>20</a:t>
            </a:fld>
            <a:endParaRPr lang="en-US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2133600"/>
            <a:ext cx="5253570" cy="2319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98925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Analyzing Recursive Methods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2AEF6-A042-4DA6-A3E1-F04AAE1E3944}" type="slidenum">
              <a:rPr lang="en-US" smtClean="0"/>
              <a:pPr/>
              <a:t>21</a:t>
            </a:fld>
            <a:endParaRPr lang="en-US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1981200"/>
            <a:ext cx="5253570" cy="2319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0600" y="4452938"/>
            <a:ext cx="3514725" cy="495300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4802944" y="5029200"/>
                <a:ext cx="1140655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/>
                        </a:rPr>
                        <m:t>𝑂</m:t>
                      </m:r>
                      <m:r>
                        <a:rPr lang="en-US" sz="2800" b="0" i="1" smtClean="0">
                          <a:latin typeface="Cambria Math"/>
                        </a:rPr>
                        <m:t>(</m:t>
                      </m:r>
                      <m:sSup>
                        <m:sSup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latin typeface="Cambria Math"/>
                            </a:rPr>
                            <m:t>2</m:t>
                          </m:r>
                        </m:e>
                        <m:sup>
                          <m:r>
                            <a:rPr lang="en-US" sz="2800" b="0" i="1" smtClean="0">
                              <a:latin typeface="Cambria Math"/>
                            </a:rPr>
                            <m:t>𝑛</m:t>
                          </m:r>
                        </m:sup>
                      </m:sSup>
                      <m:r>
                        <a:rPr lang="en-US" sz="2800" b="0" i="1" smtClean="0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02944" y="5029200"/>
                <a:ext cx="1140655" cy="523220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4446670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33FB99C-522F-4C27-A369-2C91AD82FA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Review Questions</a:t>
            </a:r>
            <a:endParaRPr lang="x-non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80F2CD64-A591-4DF4-B4EE-DDF25BEA51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Question 1:</a:t>
            </a:r>
          </a:p>
          <a:p>
            <a:pPr marL="0" indent="0">
              <a:buNone/>
            </a:pPr>
            <a:r>
              <a:rPr lang="en-US" dirty="0"/>
              <a:t>Describe properties of an algorithm?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Question 2:</a:t>
            </a:r>
          </a:p>
          <a:p>
            <a:pPr marL="0" indent="0">
              <a:buNone/>
            </a:pPr>
            <a:r>
              <a:rPr lang="en-US" dirty="0"/>
              <a:t>What is base case in recursion?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D722FB60-B01F-4D89-ABDB-845E836287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2AEF6-A042-4DA6-A3E1-F04AAE1E3944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49446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Trek">
      <a:fillStyleLst>
        <a:solidFill>
          <a:schemeClr val="phClr"/>
        </a:solidFill>
        <a:gradFill rotWithShape="1">
          <a:gsLst>
            <a:gs pos="0">
              <a:schemeClr val="phClr">
                <a:tint val="30000"/>
                <a:satMod val="250000"/>
              </a:schemeClr>
            </a:gs>
            <a:gs pos="72000">
              <a:schemeClr val="phClr">
                <a:tint val="75000"/>
                <a:satMod val="210000"/>
              </a:schemeClr>
            </a:gs>
            <a:gs pos="100000">
              <a:schemeClr val="phClr">
                <a:tint val="85000"/>
                <a:satMod val="21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75000"/>
                <a:shade val="85000"/>
                <a:satMod val="230000"/>
              </a:schemeClr>
            </a:gs>
            <a:gs pos="25000">
              <a:schemeClr val="phClr">
                <a:tint val="90000"/>
                <a:shade val="70000"/>
                <a:satMod val="220000"/>
              </a:schemeClr>
            </a:gs>
            <a:gs pos="50000">
              <a:schemeClr val="phClr">
                <a:tint val="90000"/>
                <a:shade val="58000"/>
                <a:satMod val="225000"/>
              </a:schemeClr>
            </a:gs>
            <a:gs pos="65000">
              <a:schemeClr val="phClr">
                <a:tint val="90000"/>
                <a:shade val="58000"/>
                <a:satMod val="225000"/>
              </a:schemeClr>
            </a:gs>
            <a:gs pos="80000">
              <a:schemeClr val="phClr">
                <a:tint val="90000"/>
                <a:shade val="69000"/>
                <a:satMod val="220000"/>
              </a:schemeClr>
            </a:gs>
            <a:gs pos="100000">
              <a:schemeClr val="phClr">
                <a:tint val="77000"/>
                <a:shade val="80000"/>
                <a:satMod val="230000"/>
              </a:schemeClr>
            </a:gs>
          </a:gsLst>
          <a:lin ang="5400000" scaled="1"/>
        </a:gradFill>
      </a:fillStyleLst>
      <a:lnStyleLst>
        <a:ln w="100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76200" dist="50800" dir="5400000" rotWithShape="0">
              <a:srgbClr val="4E3B30">
                <a:alpha val="60000"/>
              </a:srgbClr>
            </a:outerShdw>
          </a:effectLst>
        </a:effectStyle>
        <a:effectStyle>
          <a:effectLst>
            <a:outerShdw blurRad="76200" dist="50800" dir="5400000" rotWithShape="0">
              <a:srgbClr val="4E3B3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0"/>
            </a:lightRig>
          </a:scene3d>
          <a:sp3d prstMaterial="metal">
            <a:bevelT w="10000" h="10000"/>
          </a:sp3d>
        </a:effectStyle>
        <a:effectStyle>
          <a:effectLst>
            <a:outerShdw blurRad="76200" dist="50800" dir="5400000" rotWithShape="0">
              <a:srgbClr val="4E3B30">
                <a:alpha val="60000"/>
              </a:srgbClr>
            </a:outerShdw>
          </a:effectLst>
          <a:scene3d>
            <a:camera prst="obliqueTopLeft" fov="600000">
              <a:rot lat="0" lon="0" rev="0"/>
            </a:camera>
            <a:lightRig rig="balanced" dir="t">
              <a:rot lat="0" lon="0" rev="19200000"/>
            </a:lightRig>
          </a:scene3d>
          <a:sp3d contourW="12700" prstMaterial="matte">
            <a:bevelT w="60000" h="50800"/>
            <a:contourClr>
              <a:schemeClr val="phClr">
                <a:shade val="60000"/>
                <a:satMod val="11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3973</TotalTime>
  <Words>870</Words>
  <Application>Microsoft Office PowerPoint</Application>
  <PresentationFormat>On-screen Show (4:3)</PresentationFormat>
  <Paragraphs>162</Paragraphs>
  <Slides>22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22</vt:i4>
      </vt:variant>
    </vt:vector>
  </HeadingPairs>
  <TitlesOfParts>
    <vt:vector size="30" baseType="lpstr">
      <vt:lpstr>Arial</vt:lpstr>
      <vt:lpstr>Calibri</vt:lpstr>
      <vt:lpstr>Cambria Math</vt:lpstr>
      <vt:lpstr>Courier New</vt:lpstr>
      <vt:lpstr>新細明體</vt:lpstr>
      <vt:lpstr>Wingdings</vt:lpstr>
      <vt:lpstr>Office Theme</vt:lpstr>
      <vt:lpstr>1_Office Theme</vt:lpstr>
      <vt:lpstr>PowerPoint Presentation</vt:lpstr>
      <vt:lpstr>Objectives</vt:lpstr>
      <vt:lpstr>Algorithm  </vt:lpstr>
      <vt:lpstr>Algorithm</vt:lpstr>
      <vt:lpstr>Properties of an Algorithm</vt:lpstr>
      <vt:lpstr>Properties of an Algorithm</vt:lpstr>
      <vt:lpstr>Algorithm Analysis</vt:lpstr>
      <vt:lpstr>Correctness</vt:lpstr>
      <vt:lpstr>Space Complexity</vt:lpstr>
      <vt:lpstr>Time Complexity</vt:lpstr>
      <vt:lpstr>Cases</vt:lpstr>
      <vt:lpstr>Asymptotic Analysis</vt:lpstr>
      <vt:lpstr>Asymptotic Notations</vt:lpstr>
      <vt:lpstr>Relative rates of growth</vt:lpstr>
      <vt:lpstr>Order of growth  </vt:lpstr>
      <vt:lpstr>Order of growth  </vt:lpstr>
      <vt:lpstr>Recursion</vt:lpstr>
      <vt:lpstr>Recursive Method</vt:lpstr>
      <vt:lpstr>Analyzing Recursive Methods </vt:lpstr>
      <vt:lpstr>Analyzing Recursive Methods </vt:lpstr>
      <vt:lpstr>Analyzing Recursive Methods </vt:lpstr>
      <vt:lpstr>Review Questions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Object Oriented Programming</dc:title>
  <dc:creator>Mehak Usmani; mehak</dc:creator>
  <cp:lastModifiedBy>Anees</cp:lastModifiedBy>
  <cp:revision>281</cp:revision>
  <dcterms:created xsi:type="dcterms:W3CDTF">2016-09-04T12:01:02Z</dcterms:created>
  <dcterms:modified xsi:type="dcterms:W3CDTF">2025-09-23T18:17:20Z</dcterms:modified>
</cp:coreProperties>
</file>