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311" r:id="rId5"/>
    <p:sldId id="312" r:id="rId6"/>
    <p:sldId id="264" r:id="rId7"/>
    <p:sldId id="314" r:id="rId8"/>
    <p:sldId id="315" r:id="rId9"/>
    <p:sldId id="316" r:id="rId10"/>
    <p:sldId id="317" r:id="rId11"/>
    <p:sldId id="318" r:id="rId12"/>
    <p:sldId id="319" r:id="rId13"/>
    <p:sldId id="265" r:id="rId14"/>
    <p:sldId id="267" r:id="rId15"/>
    <p:sldId id="266" r:id="rId16"/>
    <p:sldId id="268" r:id="rId17"/>
    <p:sldId id="269" r:id="rId18"/>
    <p:sldId id="270" r:id="rId19"/>
    <p:sldId id="288" r:id="rId20"/>
    <p:sldId id="306" r:id="rId21"/>
    <p:sldId id="287" r:id="rId22"/>
    <p:sldId id="289" r:id="rId23"/>
    <p:sldId id="305" r:id="rId24"/>
    <p:sldId id="293" r:id="rId25"/>
    <p:sldId id="294" r:id="rId26"/>
    <p:sldId id="295" r:id="rId27"/>
    <p:sldId id="271" r:id="rId28"/>
    <p:sldId id="272" r:id="rId29"/>
    <p:sldId id="278" r:id="rId30"/>
    <p:sldId id="276" r:id="rId31"/>
    <p:sldId id="273" r:id="rId32"/>
    <p:sldId id="333" r:id="rId33"/>
    <p:sldId id="259" r:id="rId34"/>
    <p:sldId id="331" r:id="rId35"/>
    <p:sldId id="257" r:id="rId36"/>
    <p:sldId id="334" r:id="rId37"/>
    <p:sldId id="282" r:id="rId38"/>
    <p:sldId id="260" r:id="rId39"/>
    <p:sldId id="335" r:id="rId40"/>
    <p:sldId id="283" r:id="rId41"/>
    <p:sldId id="286" r:id="rId42"/>
    <p:sldId id="303" r:id="rId43"/>
    <p:sldId id="285" r:id="rId44"/>
    <p:sldId id="326" r:id="rId45"/>
    <p:sldId id="327" r:id="rId46"/>
    <p:sldId id="296" r:id="rId47"/>
    <p:sldId id="320" r:id="rId48"/>
    <p:sldId id="321" r:id="rId49"/>
    <p:sldId id="322" r:id="rId50"/>
    <p:sldId id="328" r:id="rId51"/>
    <p:sldId id="323" r:id="rId52"/>
    <p:sldId id="329" r:id="rId53"/>
    <p:sldId id="330" r:id="rId54"/>
    <p:sldId id="324" r:id="rId55"/>
    <p:sldId id="325" r:id="rId56"/>
    <p:sldId id="309" r:id="rId57"/>
    <p:sldId id="307" r:id="rId58"/>
    <p:sldId id="297" r:id="rId59"/>
    <p:sldId id="290" r:id="rId60"/>
    <p:sldId id="298" r:id="rId61"/>
    <p:sldId id="291" r:id="rId62"/>
    <p:sldId id="301" r:id="rId63"/>
    <p:sldId id="310" r:id="rId64"/>
    <p:sldId id="302" r:id="rId65"/>
    <p:sldId id="292" r:id="rId66"/>
    <p:sldId id="258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9" d="100"/>
          <a:sy n="89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5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3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99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11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46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2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5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6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7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02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68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C442C-DAB9-4BE6-9476-FCA89E32235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C99A7-14D4-49C6-BF6E-F193CA5C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9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995702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41614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5621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Searching techniques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504" y="1898815"/>
            <a:ext cx="8248902" cy="3714334"/>
          </a:xfrm>
        </p:spPr>
      </p:pic>
    </p:spTree>
    <p:extLst>
      <p:ext uri="{BB962C8B-B14F-4D97-AF65-F5344CB8AC3E}">
        <p14:creationId xmlns:p14="http://schemas.microsoft.com/office/powerpoint/2010/main" val="258777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0" y="256484"/>
            <a:ext cx="9537071" cy="6210690"/>
          </a:xfrm>
        </p:spPr>
      </p:pic>
    </p:spTree>
    <p:extLst>
      <p:ext uri="{BB962C8B-B14F-4D97-AF65-F5344CB8AC3E}">
        <p14:creationId xmlns:p14="http://schemas.microsoft.com/office/powerpoint/2010/main" val="1934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50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Hashing ?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8649833" cy="220345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041083"/>
            <a:ext cx="8649833" cy="221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13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Hashing cont..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49" y="1690688"/>
            <a:ext cx="9752908" cy="11557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22" y="2846387"/>
            <a:ext cx="9574543" cy="22144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42" y="5271255"/>
            <a:ext cx="9103573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Hashing cont..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7"/>
            <a:ext cx="10143653" cy="225662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425" y="4185341"/>
            <a:ext cx="9038504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92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Hash table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72" y="1801992"/>
            <a:ext cx="6938727" cy="312309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926" y="2328280"/>
            <a:ext cx="4107444" cy="42230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541" y="5036389"/>
            <a:ext cx="5755552" cy="1581150"/>
          </a:xfrm>
          <a:prstGeom prst="rect">
            <a:avLst/>
          </a:prstGeom>
        </p:spPr>
      </p:pic>
      <p:cxnSp>
        <p:nvCxnSpPr>
          <p:cNvPr id="8" name="Elbow Connector 7"/>
          <p:cNvCxnSpPr/>
          <p:nvPr/>
        </p:nvCxnSpPr>
        <p:spPr>
          <a:xfrm>
            <a:off x="5450186" y="4264182"/>
            <a:ext cx="2507810" cy="103209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/>
          <p:nvPr/>
        </p:nvCxnSpPr>
        <p:spPr>
          <a:xfrm>
            <a:off x="6916848" y="5984341"/>
            <a:ext cx="787651" cy="398352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018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72" y="1801992"/>
            <a:ext cx="6938727" cy="3123093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493" y="4800999"/>
            <a:ext cx="5755552" cy="1581150"/>
          </a:xfrm>
          <a:prstGeom prst="rect">
            <a:avLst/>
          </a:prstGeom>
        </p:spPr>
      </p:pic>
      <p:cxnSp>
        <p:nvCxnSpPr>
          <p:cNvPr id="9" name="Elbow Connector 8"/>
          <p:cNvCxnSpPr/>
          <p:nvPr/>
        </p:nvCxnSpPr>
        <p:spPr>
          <a:xfrm>
            <a:off x="5287227" y="4134632"/>
            <a:ext cx="808773" cy="79045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44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hashing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483" y="1776478"/>
            <a:ext cx="8791033" cy="221548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787" y="3442933"/>
            <a:ext cx="7088251" cy="17565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786" y="5658415"/>
            <a:ext cx="7142571" cy="85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12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98" y="103030"/>
            <a:ext cx="11856211" cy="64394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44766" y="6488668"/>
            <a:ext cx="207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By: Hira Farman</a:t>
            </a:r>
          </a:p>
        </p:txBody>
      </p:sp>
    </p:spTree>
    <p:extLst>
      <p:ext uri="{BB962C8B-B14F-4D97-AF65-F5344CB8AC3E}">
        <p14:creationId xmlns:p14="http://schemas.microsoft.com/office/powerpoint/2010/main" val="2949271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HOW TO IMPLEMENT A DICTIONARY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82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88" y="194726"/>
            <a:ext cx="11791815" cy="636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08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031"/>
            <a:ext cx="11822806" cy="647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9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50" y="234906"/>
            <a:ext cx="11379692" cy="66230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2656" y="2653243"/>
            <a:ext cx="17720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According to research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532586" y="3345740"/>
            <a:ext cx="540913" cy="26034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69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271"/>
            <a:ext cx="12192000" cy="650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88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113" y="1096605"/>
            <a:ext cx="4091188" cy="2387600"/>
          </a:xfrm>
        </p:spPr>
        <p:txBody>
          <a:bodyPr/>
          <a:lstStyle/>
          <a:p>
            <a:r>
              <a:rPr lang="en-US" b="1" u="sng" dirty="0"/>
              <a:t>WHAT IS HASHING?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Image result for hash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944" y="861387"/>
            <a:ext cx="6442253" cy="479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hash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13" y="1741129"/>
            <a:ext cx="5100660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201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ASHING&#10;Hashing is the transformation of a string of&#10;characters into a usually shorter fixed-length value&#10;or key that repr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0"/>
            <a:ext cx="12172950" cy="717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324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HASHING: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Hashing is the concept that order is determined by some function of the value of the element to be stored.</a:t>
            </a:r>
          </a:p>
          <a:p>
            <a:r>
              <a:rPr lang="en-US" dirty="0"/>
              <a:t>Order is unimportant</a:t>
            </a:r>
          </a:p>
          <a:p>
            <a:endParaRPr lang="en-US" dirty="0"/>
          </a:p>
          <a:p>
            <a:pPr lvl="1"/>
            <a:r>
              <a:rPr lang="en-US" dirty="0"/>
              <a:t>More precisely, the location within the collection is determined by some </a:t>
            </a:r>
            <a:r>
              <a:rPr lang="en-US" dirty="0">
                <a:solidFill>
                  <a:srgbClr val="FF0000"/>
                </a:solidFill>
              </a:rPr>
              <a:t>function </a:t>
            </a:r>
            <a:r>
              <a:rPr lang="en-US" dirty="0"/>
              <a:t>of the </a:t>
            </a:r>
            <a:r>
              <a:rPr lang="en-US" dirty="0">
                <a:solidFill>
                  <a:srgbClr val="FF0000"/>
                </a:solidFill>
              </a:rPr>
              <a:t>value of the element </a:t>
            </a:r>
            <a:r>
              <a:rPr lang="en-US" dirty="0"/>
              <a:t>to be stored </a:t>
            </a:r>
          </a:p>
        </p:txBody>
      </p:sp>
    </p:spTree>
    <p:extLst>
      <p:ext uri="{BB962C8B-B14F-4D97-AF65-F5344CB8AC3E}">
        <p14:creationId xmlns:p14="http://schemas.microsoft.com/office/powerpoint/2010/main" val="3860526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HASHING: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hashing, elements are stored in a </a:t>
            </a:r>
            <a:r>
              <a:rPr lang="en-US" dirty="0">
                <a:solidFill>
                  <a:srgbClr val="FF0000"/>
                </a:solidFill>
              </a:rPr>
              <a:t>hash table </a:t>
            </a:r>
            <a:r>
              <a:rPr lang="en-US" dirty="0"/>
              <a:t>with their location in the table determined by a </a:t>
            </a:r>
            <a:r>
              <a:rPr lang="en-US" dirty="0">
                <a:solidFill>
                  <a:srgbClr val="FF0000"/>
                </a:solidFill>
              </a:rPr>
              <a:t>hashing function .</a:t>
            </a:r>
          </a:p>
          <a:p>
            <a:endParaRPr lang="en-US" dirty="0"/>
          </a:p>
          <a:p>
            <a:r>
              <a:rPr lang="en-US" dirty="0"/>
              <a:t>Each location in the hash table is called a </a:t>
            </a:r>
            <a:r>
              <a:rPr lang="en-US" dirty="0">
                <a:solidFill>
                  <a:srgbClr val="FF0000"/>
                </a:solidFill>
              </a:rPr>
              <a:t>cell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a bucket.</a:t>
            </a:r>
          </a:p>
        </p:txBody>
      </p:sp>
    </p:spTree>
    <p:extLst>
      <p:ext uri="{BB962C8B-B14F-4D97-AF65-F5344CB8AC3E}">
        <p14:creationId xmlns:p14="http://schemas.microsoft.com/office/powerpoint/2010/main" val="563395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Hash Table &#10; A hash table is a data structure that stores elements and &#10;10 &#10;allows insertions, lookups, and deletions to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0"/>
            <a:ext cx="12172950" cy="676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098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HASH TABLE OPERATION: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  <a:p>
            <a:r>
              <a:rPr lang="en-US" dirty="0"/>
              <a:t>Insert </a:t>
            </a:r>
          </a:p>
          <a:p>
            <a:r>
              <a:rPr lang="en-US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1574932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51594" cy="6858000"/>
          </a:xfrm>
        </p:spPr>
      </p:pic>
    </p:spTree>
    <p:extLst>
      <p:ext uri="{BB962C8B-B14F-4D97-AF65-F5344CB8AC3E}">
        <p14:creationId xmlns:p14="http://schemas.microsoft.com/office/powerpoint/2010/main" val="2945783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312203" cy="6503831"/>
          </a:xfrm>
        </p:spPr>
      </p:pic>
    </p:spTree>
    <p:extLst>
      <p:ext uri="{BB962C8B-B14F-4D97-AF65-F5344CB8AC3E}">
        <p14:creationId xmlns:p14="http://schemas.microsoft.com/office/powerpoint/2010/main" val="1254576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9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52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84" y="0"/>
            <a:ext cx="119334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32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84" y="0"/>
            <a:ext cx="12096616" cy="672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09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TOPIC COVERED: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endParaRPr lang="en-US" sz="3600" dirty="0"/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HASH FUNCTIONS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/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COLLISION RESOLUTION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73902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u="sng" dirty="0"/>
              <a:t>TECHNIQUES OF HASH FUNCTION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Division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</a:rPr>
              <a:t>Midsquare</a:t>
            </a:r>
            <a:r>
              <a:rPr lang="en-US" dirty="0">
                <a:solidFill>
                  <a:srgbClr val="FF0000"/>
                </a:solidFill>
              </a:rPr>
              <a:t>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Folding Method</a:t>
            </a:r>
          </a:p>
          <a:p>
            <a:r>
              <a:rPr lang="en-US" dirty="0"/>
              <a:t>Each of these functions can be easily and quickly evaluated by the computers</a:t>
            </a:r>
          </a:p>
          <a:p>
            <a:r>
              <a:rPr lang="en-US" b="1" dirty="0">
                <a:solidFill>
                  <a:srgbClr val="FF0000"/>
                </a:solidFill>
              </a:rPr>
              <a:t>k=H(k) ---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Hash values</a:t>
            </a:r>
          </a:p>
          <a:p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Where k represents keys(roll no </a:t>
            </a:r>
            <a:r>
              <a:rPr lang="en-US" b="1" dirty="0" err="1">
                <a:solidFill>
                  <a:srgbClr val="FF0000"/>
                </a:solidFill>
                <a:sym typeface="Wingdings" panose="05000000000000000000" pitchFamily="2" charset="2"/>
              </a:rPr>
              <a:t>etc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810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37774-4ACC-3DCB-D45E-BCA68CEB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 working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A19C3E-FA83-5249-E001-8DDB470A3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007" y="1881187"/>
            <a:ext cx="7661631" cy="4241959"/>
          </a:xfrm>
        </p:spPr>
      </p:pic>
    </p:spTree>
    <p:extLst>
      <p:ext uri="{BB962C8B-B14F-4D97-AF65-F5344CB8AC3E}">
        <p14:creationId xmlns:p14="http://schemas.microsoft.com/office/powerpoint/2010/main" val="2455852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u="sng" dirty="0"/>
              <a:t>DIVISION METHOD:</a:t>
            </a:r>
            <a:br>
              <a:rPr lang="en-US" b="1" u="sng" dirty="0"/>
            </a:b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851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division method is a hashing technique where the hash value is calculated by taking a key and finding the remainder after dividing it by the size of the hash table (key modulo m).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remainder serves as the index in the hash table for storing or retrieving the data.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hash function H defined by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H(k)=k (mod m) 		or	 H(k)=k (mod m) + 1</a:t>
            </a:r>
          </a:p>
          <a:p>
            <a:endParaRPr lang="en-US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k( mod m )  denotes the remainder when k is divided by m. The second formula is used when we want the hash addresses to range from 1 to m rather than from 0 to m-1.</a:t>
            </a:r>
          </a:p>
        </p:txBody>
      </p:sp>
    </p:spTree>
    <p:extLst>
      <p:ext uri="{BB962C8B-B14F-4D97-AF65-F5344CB8AC3E}">
        <p14:creationId xmlns:p14="http://schemas.microsoft.com/office/powerpoint/2010/main" val="4036110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6E7D-5857-C7E7-8499-74F9903B8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2C270-D1A7-4D63-7864-800745B0118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u="sng" dirty="0"/>
              <a:t>DIVISION METHOD:</a:t>
            </a:r>
            <a:br>
              <a:rPr lang="en-US" b="1" u="sng" dirty="0"/>
            </a:b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D8A55-020B-931E-7822-4EC3FDAF6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8510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We have keys :</a:t>
            </a:r>
          </a:p>
          <a:p>
            <a:pPr marL="0" indent="0">
              <a:buNone/>
            </a:pPr>
            <a:r>
              <a:rPr lang="en-US" dirty="0"/>
              <a:t>                           12  34  43  </a:t>
            </a:r>
            <a:r>
              <a:rPr lang="en-US" dirty="0">
                <a:solidFill>
                  <a:srgbClr val="FF0000"/>
                </a:solidFill>
              </a:rPr>
              <a:t>52</a:t>
            </a:r>
          </a:p>
          <a:p>
            <a:pPr marL="0" indent="0">
              <a:buNone/>
            </a:pPr>
            <a:r>
              <a:rPr lang="en-US" dirty="0"/>
              <a:t>Apply :  </a:t>
            </a:r>
            <a:r>
              <a:rPr lang="en-US" b="1" dirty="0">
                <a:solidFill>
                  <a:srgbClr val="FF0000"/>
                </a:solidFill>
              </a:rPr>
              <a:t>H(k)=k (mod m) 	                     </a:t>
            </a:r>
            <a:r>
              <a:rPr lang="en-US" b="1" dirty="0">
                <a:solidFill>
                  <a:schemeClr val="accent1"/>
                </a:solidFill>
              </a:rPr>
              <a:t>M-&gt; size of table  say 10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		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12 mod 10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=2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34 mod 10=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43 mod=10=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52 mode10=2    -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collision occurs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B7E90F-9ACE-BCDD-AD53-A5D263549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465433"/>
              </p:ext>
            </p:extLst>
          </p:nvPr>
        </p:nvGraphicFramePr>
        <p:xfrm>
          <a:off x="10370372" y="2929715"/>
          <a:ext cx="1327673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7673">
                  <a:extLst>
                    <a:ext uri="{9D8B030D-6E8A-4147-A177-3AD203B41FA5}">
                      <a16:colId xmlns:a16="http://schemas.microsoft.com/office/drawing/2014/main" val="2162991004"/>
                    </a:ext>
                  </a:extLst>
                </a:gridCol>
              </a:tblGrid>
              <a:tr h="272123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13706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10905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3611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45716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363365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53414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1584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56939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45127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438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823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u="sng" dirty="0"/>
              <a:t>MID SQUARE METHOD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finds a hash address by squaring the key, taking the </a:t>
            </a:r>
            <a:r>
              <a:rPr lang="en-US" dirty="0">
                <a:solidFill>
                  <a:schemeClr val="accent1"/>
                </a:solidFill>
              </a:rPr>
              <a:t>middle</a:t>
            </a:r>
            <a:r>
              <a:rPr lang="en-US" dirty="0"/>
              <a:t> digits of the result, and then using these digits to determine the index in the hash table: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				H(k²)=l</a:t>
            </a:r>
          </a:p>
          <a:p>
            <a:endParaRPr lang="en-US" dirty="0"/>
          </a:p>
          <a:p>
            <a:r>
              <a:rPr lang="en-US" dirty="0"/>
              <a:t>Where l is obtained by deleting digits from both ends of k². we emphasize that the same positions of k² must be used for all of the keys.</a:t>
            </a:r>
          </a:p>
        </p:txBody>
      </p:sp>
    </p:spTree>
    <p:extLst>
      <p:ext uri="{BB962C8B-B14F-4D97-AF65-F5344CB8AC3E}">
        <p14:creationId xmlns:p14="http://schemas.microsoft.com/office/powerpoint/2010/main" val="18488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C8182-0CBB-03FC-7B28-CBC29B800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B150-F2F9-C18D-70F4-2A890B246CD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u="sng" dirty="0"/>
              <a:t>MID SQUARE METHOD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05324-6348-5340-E219-EF1CF0775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H(k)=mid(</a:t>
            </a:r>
            <a:r>
              <a:rPr lang="en-US" dirty="0"/>
              <a:t>k²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/>
              <a:t>Example key 12 , 123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dirty="0"/>
              <a:t>k²</a:t>
            </a:r>
            <a:r>
              <a:rPr lang="en-US" b="1" dirty="0">
                <a:solidFill>
                  <a:srgbClr val="FF0000"/>
                </a:solidFill>
              </a:rPr>
              <a:t>) =(12) =  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b="1" dirty="0">
                <a:solidFill>
                  <a:schemeClr val="accent1"/>
                </a:solidFill>
              </a:rPr>
              <a:t>4   </a:t>
            </a:r>
            <a:r>
              <a:rPr lang="en-US" b="1" dirty="0">
                <a:solidFill>
                  <a:schemeClr val="accent1"/>
                </a:solidFill>
                <a:sym typeface="Wingdings" panose="05000000000000000000" pitchFamily="2" charset="2"/>
              </a:rPr>
              <a:t>4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dirty="0"/>
              <a:t>k²</a:t>
            </a:r>
            <a:r>
              <a:rPr lang="en-US" b="1" dirty="0">
                <a:solidFill>
                  <a:srgbClr val="FF0000"/>
                </a:solidFill>
              </a:rPr>
              <a:t>) =(123) =  </a:t>
            </a:r>
            <a:r>
              <a:rPr lang="en-US" b="1" dirty="0">
                <a:solidFill>
                  <a:schemeClr val="accent1"/>
                </a:solidFill>
              </a:rPr>
              <a:t>15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chemeClr val="accent1"/>
                </a:solidFill>
              </a:rPr>
              <a:t>29   </a:t>
            </a:r>
            <a:r>
              <a:rPr lang="en-US" b="1" dirty="0">
                <a:solidFill>
                  <a:schemeClr val="accent1"/>
                </a:solidFill>
                <a:sym typeface="Wingdings" panose="05000000000000000000" pitchFamily="2" charset="2"/>
              </a:rPr>
              <a:t>1</a:t>
            </a:r>
          </a:p>
          <a:p>
            <a:pPr marL="0" indent="0">
              <a:buNone/>
            </a:pPr>
            <a:endParaRPr lang="en-US" b="1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sym typeface="Wingdings" panose="05000000000000000000" pitchFamily="2" charset="2"/>
              </a:rPr>
              <a:t>Complex when key size increases and chances of </a:t>
            </a:r>
            <a:r>
              <a:rPr lang="en-US" b="1" dirty="0" err="1">
                <a:solidFill>
                  <a:schemeClr val="accent1"/>
                </a:solidFill>
                <a:sym typeface="Wingdings" panose="05000000000000000000" pitchFamily="2" charset="2"/>
              </a:rPr>
              <a:t>collison</a:t>
            </a:r>
            <a:endParaRPr lang="en-US" b="1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0F6AEF-CA25-4A17-197C-CCE0A07E2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250473"/>
              </p:ext>
            </p:extLst>
          </p:nvPr>
        </p:nvGraphicFramePr>
        <p:xfrm>
          <a:off x="10338099" y="2338044"/>
          <a:ext cx="1327673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7673">
                  <a:extLst>
                    <a:ext uri="{9D8B030D-6E8A-4147-A177-3AD203B41FA5}">
                      <a16:colId xmlns:a16="http://schemas.microsoft.com/office/drawing/2014/main" val="2162991004"/>
                    </a:ext>
                  </a:extLst>
                </a:gridCol>
              </a:tblGrid>
              <a:tr h="272123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13706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123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10905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3611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45716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363365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53414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1584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56939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45127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438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0500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SOLUTION:MIDSQUARE METHIOD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following calculations are performed:</a:t>
                </a:r>
              </a:p>
              <a:p>
                <a:pPr lvl="1"/>
                <a:r>
                  <a:rPr lang="en-US" dirty="0"/>
                  <a:t>K:	3205		7148		2345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:	10272025	51093904	5499025</a:t>
                </a:r>
              </a:p>
              <a:p>
                <a:pPr lvl="1"/>
                <a:r>
                  <a:rPr lang="en-US" dirty="0"/>
                  <a:t>H(K):	      72		     93		   99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Observe that the fourth and fifth digits ,counting from the right are chosen from the hash address.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95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u="sng" dirty="0"/>
              <a:t>FOLDING METHOD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key k is partitioned into a number of parts, k₁,…….kᵣ, where each part, except possibly the last, has the same number of digits as the required address. Then the parts are added together, ignoring the last carry. That is,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H(k)=k₁+k₂+………+kᵣ mod m</a:t>
            </a:r>
          </a:p>
          <a:p>
            <a:endParaRPr lang="en-US" dirty="0"/>
          </a:p>
          <a:p>
            <a:r>
              <a:rPr lang="en-US" dirty="0"/>
              <a:t>Where the leading digits carries, if any, are ignored. Sometimes, for extra “milling”, the even numbered parts, </a:t>
            </a:r>
            <a:r>
              <a:rPr lang="en-US" dirty="0" err="1"/>
              <a:t>k₂,k</a:t>
            </a:r>
            <a:r>
              <a:rPr lang="en-US" dirty="0"/>
              <a:t>₄,……, are each reserved before the addition.</a:t>
            </a:r>
          </a:p>
        </p:txBody>
      </p:sp>
    </p:spTree>
    <p:extLst>
      <p:ext uri="{BB962C8B-B14F-4D97-AF65-F5344CB8AC3E}">
        <p14:creationId xmlns:p14="http://schemas.microsoft.com/office/powerpoint/2010/main" val="1595602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7319A-D334-A217-E26D-399122C3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4AE8-B764-73E0-2DBA-9D679D04418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u="sng" dirty="0"/>
              <a:t>FOLDING METHOD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1C323-9FC9-1A2D-370C-E7E20DFEC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H(k)=k₁+k₂+………+kᵣ mod m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We have key  1234</a:t>
            </a:r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lang="en-US" b="1" dirty="0">
                <a:solidFill>
                  <a:srgbClr val="FF0000"/>
                </a:solidFill>
              </a:rPr>
              <a:t>k1+k2</a:t>
            </a:r>
          </a:p>
          <a:p>
            <a:pPr marL="0" indent="0">
              <a:buNone/>
            </a:pPr>
            <a:r>
              <a:rPr lang="en-US" dirty="0"/>
              <a:t>		12+34  =</a:t>
            </a:r>
            <a:r>
              <a:rPr lang="en-US" dirty="0">
                <a:solidFill>
                  <a:schemeClr val="accent1"/>
                </a:solidFill>
              </a:rPr>
              <a:t>46</a:t>
            </a:r>
            <a:r>
              <a:rPr lang="en-US" dirty="0"/>
              <a:t> mod 20 -&gt;</a:t>
            </a:r>
            <a:r>
              <a:rPr lang="en-US" dirty="0">
                <a:solidFill>
                  <a:schemeClr val="accent1"/>
                </a:solidFill>
              </a:rPr>
              <a:t>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4F775F-96AD-DD65-8102-3368BC2DA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034995"/>
              </p:ext>
            </p:extLst>
          </p:nvPr>
        </p:nvGraphicFramePr>
        <p:xfrm>
          <a:off x="9929309" y="2172494"/>
          <a:ext cx="1327673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7673">
                  <a:extLst>
                    <a:ext uri="{9D8B030D-6E8A-4147-A177-3AD203B41FA5}">
                      <a16:colId xmlns:a16="http://schemas.microsoft.com/office/drawing/2014/main" val="2162991004"/>
                    </a:ext>
                  </a:extLst>
                </a:gridCol>
              </a:tblGrid>
              <a:tr h="272123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13706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10905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3611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45716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363365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53414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1234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1584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56939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45127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438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626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SOLUTION: FOLDING METHOD: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solidFill>
                  <a:srgbClr val="FF0000"/>
                </a:solidFill>
              </a:rPr>
              <a:t>Chopping </a:t>
            </a:r>
            <a:r>
              <a:rPr lang="en-US" dirty="0"/>
              <a:t>the key K into two parts and adding yields the following hash addresses: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H(3205)= 32+05=37          hash address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H(7148)= 71+48=119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H(2345)= 23+54=77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108361" y="3078051"/>
            <a:ext cx="605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8761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58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COLLISION 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the sequence into Hash-Table :</a:t>
            </a:r>
          </a:p>
          <a:p>
            <a:r>
              <a:rPr lang="en-US" dirty="0"/>
              <a:t>Consider the following item.</a:t>
            </a:r>
          </a:p>
          <a:p>
            <a:r>
              <a:rPr lang="en-US" dirty="0"/>
              <a:t>18,	26,	35,	9,	64,	47,	96,	36,	70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6653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u="sng" dirty="0"/>
              <a:t>COLLISION: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an element is inserted, if it hashes to the same value as an already inserted element, then we have a collision .We have to resolve it </a:t>
            </a:r>
          </a:p>
          <a:p>
            <a:r>
              <a:rPr lang="en-US" dirty="0"/>
              <a:t>Collision resolving techniques:</a:t>
            </a:r>
          </a:p>
          <a:p>
            <a:r>
              <a:rPr lang="en-US" dirty="0">
                <a:solidFill>
                  <a:srgbClr val="FF0000"/>
                </a:solidFill>
              </a:rPr>
              <a:t>Separate Chaining (A linked list based representation)</a:t>
            </a:r>
          </a:p>
          <a:p>
            <a:r>
              <a:rPr lang="en-US" dirty="0">
                <a:solidFill>
                  <a:srgbClr val="FF0000"/>
                </a:solidFill>
              </a:rPr>
              <a:t>Open Addressing (Array based representation)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Linear Probing, (Linear search)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Quadratic Probing, (non linear search)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Double Hashing </a:t>
            </a:r>
          </a:p>
        </p:txBody>
      </p:sp>
    </p:spTree>
    <p:extLst>
      <p:ext uri="{BB962C8B-B14F-4D97-AF65-F5344CB8AC3E}">
        <p14:creationId xmlns:p14="http://schemas.microsoft.com/office/powerpoint/2010/main" val="32539591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347" y="109905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Collision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f(x)=x%10 </a:t>
            </a:r>
            <a:br>
              <a:rPr lang="en-US" sz="3600" dirty="0"/>
            </a:br>
            <a:r>
              <a:rPr lang="en-US" sz="3600" dirty="0"/>
              <a:t>f(x)=8%10=8</a:t>
            </a:r>
            <a:br>
              <a:rPr lang="en-US" sz="3600" dirty="0"/>
            </a:br>
            <a:r>
              <a:rPr lang="en-US" sz="3600" dirty="0"/>
              <a:t>f(x)=3%10=3</a:t>
            </a:r>
            <a:br>
              <a:rPr lang="en-US" sz="3600" dirty="0"/>
            </a:br>
            <a:r>
              <a:rPr lang="en-US" sz="3600" dirty="0"/>
              <a:t>f(x)=13%10=3</a:t>
            </a:r>
            <a:br>
              <a:rPr lang="en-US" sz="3600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8664" y="1945941"/>
            <a:ext cx="60687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195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056" y="1837657"/>
            <a:ext cx="57931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452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87" y="167425"/>
            <a:ext cx="11462198" cy="6490952"/>
          </a:xfrm>
        </p:spPr>
      </p:pic>
    </p:spTree>
    <p:extLst>
      <p:ext uri="{BB962C8B-B14F-4D97-AF65-F5344CB8AC3E}">
        <p14:creationId xmlns:p14="http://schemas.microsoft.com/office/powerpoint/2010/main" val="31504363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channing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313609"/>
            <a:ext cx="9066291" cy="5011260"/>
          </a:xfrm>
        </p:spPr>
      </p:pic>
    </p:spTree>
    <p:extLst>
      <p:ext uri="{BB962C8B-B14F-4D97-AF65-F5344CB8AC3E}">
        <p14:creationId xmlns:p14="http://schemas.microsoft.com/office/powerpoint/2010/main" val="12097028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Chaning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827" y="1807518"/>
            <a:ext cx="9769454" cy="4351338"/>
          </a:xfrm>
        </p:spPr>
      </p:pic>
    </p:spTree>
    <p:extLst>
      <p:ext uri="{BB962C8B-B14F-4D97-AF65-F5344CB8AC3E}">
        <p14:creationId xmlns:p14="http://schemas.microsoft.com/office/powerpoint/2010/main" val="19728847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Chaning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83" y="1870893"/>
            <a:ext cx="9778508" cy="4351338"/>
          </a:xfrm>
        </p:spPr>
      </p:pic>
    </p:spTree>
    <p:extLst>
      <p:ext uri="{BB962C8B-B14F-4D97-AF65-F5344CB8AC3E}">
        <p14:creationId xmlns:p14="http://schemas.microsoft.com/office/powerpoint/2010/main" val="19195998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for a key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3822" y="1921876"/>
            <a:ext cx="6022820" cy="462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1569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probing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971638" cy="4351338"/>
          </a:xfrm>
        </p:spPr>
      </p:pic>
    </p:spTree>
    <p:extLst>
      <p:ext uri="{BB962C8B-B14F-4D97-AF65-F5344CB8AC3E}">
        <p14:creationId xmlns:p14="http://schemas.microsoft.com/office/powerpoint/2010/main" val="37872856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Again collision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inserting 4, so we store at next position at 5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66" y="2334126"/>
            <a:ext cx="7429500" cy="408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077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element 4</a:t>
            </a:r>
            <a:br>
              <a:rPr lang="en-US" dirty="0"/>
            </a:br>
            <a:r>
              <a:rPr lang="en-US" dirty="0"/>
              <a:t>we found at another location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5037" y="1825625"/>
            <a:ext cx="65819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718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probing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36" y="1825625"/>
            <a:ext cx="10565394" cy="4351338"/>
          </a:xfrm>
        </p:spPr>
      </p:pic>
    </p:spTree>
    <p:extLst>
      <p:ext uri="{BB962C8B-B14F-4D97-AF65-F5344CB8AC3E}">
        <p14:creationId xmlns:p14="http://schemas.microsoft.com/office/powerpoint/2010/main" val="39746628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Quadratic probing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10515600" cy="4351338"/>
          </a:xfrm>
        </p:spPr>
      </p:pic>
    </p:spTree>
    <p:extLst>
      <p:ext uri="{BB962C8B-B14F-4D97-AF65-F5344CB8AC3E}">
        <p14:creationId xmlns:p14="http://schemas.microsoft.com/office/powerpoint/2010/main" val="40667050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48" y="167425"/>
            <a:ext cx="11062952" cy="647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373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90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145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Open addressing: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 area address are searched for an open or unoccupied element where now data can be occupied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5628" y="3477296"/>
            <a:ext cx="1970468" cy="24985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335628" y="4224271"/>
            <a:ext cx="1983347" cy="51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335628" y="5125792"/>
            <a:ext cx="1970468" cy="257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290552" y="4181599"/>
            <a:ext cx="1983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615189" y="4687910"/>
            <a:ext cx="1184856" cy="38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87514" y="4645238"/>
            <a:ext cx="2189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44721" y="3786389"/>
            <a:ext cx="96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995" y="5379007"/>
            <a:ext cx="96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320338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LINEAR PROBLING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dirty="0"/>
              <a:t>Resolve by adding ‘k’ to current address</a:t>
            </a:r>
          </a:p>
          <a:p>
            <a:pPr lvl="1"/>
            <a:r>
              <a:rPr lang="en-US" dirty="0"/>
              <a:t>T(h) ,T(h+1),T(h+2)…</a:t>
            </a:r>
          </a:p>
          <a:p>
            <a:pPr lvl="1"/>
            <a:r>
              <a:rPr lang="en-US" dirty="0" err="1"/>
              <a:t>Untill</a:t>
            </a:r>
            <a:r>
              <a:rPr lang="en-US" dirty="0"/>
              <a:t> the data </a:t>
            </a:r>
            <a:r>
              <a:rPr lang="en-US" dirty="0" err="1"/>
              <a:t>fiill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2882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495504"/>
          </a:xfrm>
        </p:spPr>
      </p:pic>
    </p:spTree>
    <p:extLst>
      <p:ext uri="{BB962C8B-B14F-4D97-AF65-F5344CB8AC3E}">
        <p14:creationId xmlns:p14="http://schemas.microsoft.com/office/powerpoint/2010/main" val="30051332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QUADRATIC PROBLING: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a record R with key  K has the hash address H (K)=</a:t>
                </a:r>
                <a:r>
                  <a:rPr lang="en-US" dirty="0" err="1"/>
                  <a:t>h.Then</a:t>
                </a:r>
                <a:r>
                  <a:rPr lang="en-US" dirty="0"/>
                  <a:t> instead of searching the locations with addresses h,h+1,h+2, we linearly search the locations with addresses.</a:t>
                </a:r>
              </a:p>
              <a:p>
                <a:endParaRPr lang="en-US" dirty="0"/>
              </a:p>
              <a:p>
                <a:r>
                  <a:rPr lang="en-US" dirty="0"/>
                  <a:t>h,h+1, h+4, h+9, h+16,….. h+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,……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13815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482625"/>
          </a:xfrm>
        </p:spPr>
      </p:pic>
      <p:sp>
        <p:nvSpPr>
          <p:cNvPr id="3" name="TextBox 2"/>
          <p:cNvSpPr txBox="1"/>
          <p:nvPr/>
        </p:nvSpPr>
        <p:spPr>
          <a:xfrm>
            <a:off x="4675031" y="5808371"/>
            <a:ext cx="18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744755" y="2073499"/>
            <a:ext cx="3065172" cy="1390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Wrong some mistake in this slide</a:t>
            </a:r>
          </a:p>
          <a:p>
            <a:pPr algn="ctr"/>
            <a:r>
              <a:rPr lang="en-US"/>
              <a:t>Check yourself</a:t>
            </a:r>
          </a:p>
        </p:txBody>
      </p:sp>
    </p:spTree>
    <p:extLst>
      <p:ext uri="{BB962C8B-B14F-4D97-AF65-F5344CB8AC3E}">
        <p14:creationId xmlns:p14="http://schemas.microsoft.com/office/powerpoint/2010/main" val="10916791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937"/>
            <a:ext cx="12192000" cy="697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Collision Resolution&#10;Advantages of Separate Chaining:&#10;• Better space utilization for large items.&#10;• Simple collision handl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25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https://www.youtube.com/watch?v=mFY0J5W8Udk</a:t>
            </a:r>
          </a:p>
        </p:txBody>
      </p:sp>
    </p:spTree>
    <p:extLst>
      <p:ext uri="{BB962C8B-B14F-4D97-AF65-F5344CB8AC3E}">
        <p14:creationId xmlns:p14="http://schemas.microsoft.com/office/powerpoint/2010/main" val="26358953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DOUBLE HASHING: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a second hash function H’ is used for resolving  a collision as follows.</a:t>
            </a:r>
          </a:p>
          <a:p>
            <a:r>
              <a:rPr lang="en-US" dirty="0"/>
              <a:t>Suppose a record R with key K has the hash addresses H(K)=h and H’(K)=</a:t>
            </a:r>
            <a:r>
              <a:rPr lang="en-US" dirty="0" err="1"/>
              <a:t>h’≠m</a:t>
            </a:r>
            <a:r>
              <a:rPr lang="en-US" dirty="0"/>
              <a:t>. Then we linearly search the locations with addresses.</a:t>
            </a:r>
          </a:p>
          <a:p>
            <a:endParaRPr lang="en-US" dirty="0"/>
          </a:p>
          <a:p>
            <a:pPr lvl="1"/>
            <a:r>
              <a:rPr lang="en-US" dirty="0"/>
              <a:t>H,h+h’,h+2h’,h+3h’,…..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If m is the prime </a:t>
            </a:r>
            <a:r>
              <a:rPr lang="en-US" dirty="0" err="1"/>
              <a:t>no,then</a:t>
            </a:r>
            <a:r>
              <a:rPr lang="en-US" dirty="0"/>
              <a:t> the above sequence will access all the locations in the table T. </a:t>
            </a:r>
          </a:p>
        </p:txBody>
      </p:sp>
    </p:spTree>
    <p:extLst>
      <p:ext uri="{BB962C8B-B14F-4D97-AF65-F5344CB8AC3E}">
        <p14:creationId xmlns:p14="http://schemas.microsoft.com/office/powerpoint/2010/main" val="29731010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LECTURE:</a:t>
            </a:r>
            <a:br>
              <a:rPr lang="en-US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32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2281</TotalTime>
  <Words>1150</Words>
  <Application>Microsoft Office PowerPoint</Application>
  <PresentationFormat>Widescreen</PresentationFormat>
  <Paragraphs>155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HASHING</vt:lpstr>
      <vt:lpstr>PowerPoint Presentation</vt:lpstr>
      <vt:lpstr>PowerPoint Presentation</vt:lpstr>
      <vt:lpstr>Searching techniques</vt:lpstr>
      <vt:lpstr>PowerPoint Presentation</vt:lpstr>
      <vt:lpstr>PowerPoint Presentation</vt:lpstr>
      <vt:lpstr> Hashing ? </vt:lpstr>
      <vt:lpstr>Hashing cont..</vt:lpstr>
      <vt:lpstr>Hashing cont..</vt:lpstr>
      <vt:lpstr>Hash table </vt:lpstr>
      <vt:lpstr>Example</vt:lpstr>
      <vt:lpstr>Creating hashing</vt:lpstr>
      <vt:lpstr>PowerPoint Presentation</vt:lpstr>
      <vt:lpstr>HOW TO IMPLEMENT A DICTIONARY</vt:lpstr>
      <vt:lpstr>PowerPoint Presentation</vt:lpstr>
      <vt:lpstr>PowerPoint Presentation</vt:lpstr>
      <vt:lpstr>PowerPoint Presentation</vt:lpstr>
      <vt:lpstr>PowerPoint Presentation</vt:lpstr>
      <vt:lpstr>WHAT IS HASHING?</vt:lpstr>
      <vt:lpstr>PowerPoint Presentation</vt:lpstr>
      <vt:lpstr>HASHING:</vt:lpstr>
      <vt:lpstr>HASHING:</vt:lpstr>
      <vt:lpstr>PowerPoint Presentation</vt:lpstr>
      <vt:lpstr>HASH TABLE OPERATION: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COVERED:</vt:lpstr>
      <vt:lpstr>TECHNIQUES OF HASH FUNCTION</vt:lpstr>
      <vt:lpstr>Hash function working</vt:lpstr>
      <vt:lpstr>DIVISION METHOD: </vt:lpstr>
      <vt:lpstr>DIVISION METHOD: </vt:lpstr>
      <vt:lpstr>MID SQUARE METHOD: </vt:lpstr>
      <vt:lpstr>MID SQUARE METHOD: </vt:lpstr>
      <vt:lpstr>SOLUTION:MIDSQUARE METHIOD</vt:lpstr>
      <vt:lpstr>FOLDING METHOD:</vt:lpstr>
      <vt:lpstr>FOLDING METHOD:</vt:lpstr>
      <vt:lpstr>SOLUTION: FOLDING METHOD:</vt:lpstr>
      <vt:lpstr>COLLISION</vt:lpstr>
      <vt:lpstr>COLLISION EXAMPLE:</vt:lpstr>
      <vt:lpstr>COLLISION:</vt:lpstr>
      <vt:lpstr>Collision  f(x)=x%10  f(x)=8%10=8 f(x)=3%10=3 f(x)=13%10=3 </vt:lpstr>
      <vt:lpstr>solution</vt:lpstr>
      <vt:lpstr>PowerPoint Presentation</vt:lpstr>
      <vt:lpstr>channing</vt:lpstr>
      <vt:lpstr>Chaning </vt:lpstr>
      <vt:lpstr>Chaning </vt:lpstr>
      <vt:lpstr>Search for a key</vt:lpstr>
      <vt:lpstr>Linear probing </vt:lpstr>
      <vt:lpstr>Again collision </vt:lpstr>
      <vt:lpstr>Searching element 4 we found at another location </vt:lpstr>
      <vt:lpstr>Linear probing </vt:lpstr>
      <vt:lpstr>Quadratic probing </vt:lpstr>
      <vt:lpstr>PowerPoint Presentation</vt:lpstr>
      <vt:lpstr>PowerPoint Presentation</vt:lpstr>
      <vt:lpstr>Open addressing:</vt:lpstr>
      <vt:lpstr>LINEAR PROBLING</vt:lpstr>
      <vt:lpstr>PowerPoint Presentation</vt:lpstr>
      <vt:lpstr>QUADRATIC PROBLING:</vt:lpstr>
      <vt:lpstr>PowerPoint Presentation</vt:lpstr>
      <vt:lpstr>PowerPoint Presentation</vt:lpstr>
      <vt:lpstr>important</vt:lpstr>
      <vt:lpstr>DOUBLE HASHING:</vt:lpstr>
      <vt:lpstr>END LECTURE: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HASHING</dc:title>
  <dc:creator>Hira Farman</dc:creator>
  <cp:lastModifiedBy>Anees Ahmed</cp:lastModifiedBy>
  <cp:revision>121</cp:revision>
  <dcterms:created xsi:type="dcterms:W3CDTF">2017-04-23T18:20:40Z</dcterms:created>
  <dcterms:modified xsi:type="dcterms:W3CDTF">2025-11-12T04:24:14Z</dcterms:modified>
</cp:coreProperties>
</file>