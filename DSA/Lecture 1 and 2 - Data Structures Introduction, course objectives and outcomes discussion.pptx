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5"/>
  </p:notesMasterIdLst>
  <p:handoutMasterIdLst>
    <p:handoutMasterId r:id="rId46"/>
  </p:handoutMasterIdLst>
  <p:sldIdLst>
    <p:sldId id="286" r:id="rId3"/>
    <p:sldId id="323" r:id="rId4"/>
    <p:sldId id="325" r:id="rId5"/>
    <p:sldId id="326" r:id="rId6"/>
    <p:sldId id="327" r:id="rId7"/>
    <p:sldId id="256" r:id="rId8"/>
    <p:sldId id="257" r:id="rId9"/>
    <p:sldId id="328" r:id="rId10"/>
    <p:sldId id="258" r:id="rId11"/>
    <p:sldId id="260" r:id="rId12"/>
    <p:sldId id="261" r:id="rId13"/>
    <p:sldId id="262" r:id="rId14"/>
    <p:sldId id="331" r:id="rId15"/>
    <p:sldId id="332" r:id="rId16"/>
    <p:sldId id="333" r:id="rId17"/>
    <p:sldId id="334" r:id="rId18"/>
    <p:sldId id="335" r:id="rId19"/>
    <p:sldId id="336" r:id="rId20"/>
    <p:sldId id="337" r:id="rId21"/>
    <p:sldId id="329" r:id="rId22"/>
    <p:sldId id="287" r:id="rId23"/>
    <p:sldId id="264" r:id="rId24"/>
    <p:sldId id="316" r:id="rId25"/>
    <p:sldId id="288" r:id="rId26"/>
    <p:sldId id="330" r:id="rId27"/>
    <p:sldId id="293" r:id="rId28"/>
    <p:sldId id="322" r:id="rId29"/>
    <p:sldId id="279" r:id="rId30"/>
    <p:sldId id="289" r:id="rId31"/>
    <p:sldId id="290" r:id="rId32"/>
    <p:sldId id="291" r:id="rId33"/>
    <p:sldId id="292" r:id="rId34"/>
    <p:sldId id="271" r:id="rId35"/>
    <p:sldId id="294" r:id="rId36"/>
    <p:sldId id="263" r:id="rId37"/>
    <p:sldId id="307" r:id="rId38"/>
    <p:sldId id="319" r:id="rId39"/>
    <p:sldId id="320" r:id="rId40"/>
    <p:sldId id="299" r:id="rId41"/>
    <p:sldId id="300" r:id="rId42"/>
    <p:sldId id="303" r:id="rId43"/>
    <p:sldId id="321" r:id="rId44"/>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7149" autoAdjust="0"/>
  </p:normalViewPr>
  <p:slideViewPr>
    <p:cSldViewPr snapToGrid="0">
      <p:cViewPr varScale="1">
        <p:scale>
          <a:sx n="61" d="100"/>
          <a:sy n="61" d="100"/>
        </p:scale>
        <p:origin x="832" y="40"/>
      </p:cViewPr>
      <p:guideLst/>
    </p:cSldViewPr>
  </p:slideViewPr>
  <p:outlineViewPr>
    <p:cViewPr>
      <p:scale>
        <a:sx n="33" d="100"/>
        <a:sy n="33" d="100"/>
      </p:scale>
      <p:origin x="0" y="-5256"/>
    </p:cViewPr>
  </p:outlineViewPr>
  <p:notesTextViewPr>
    <p:cViewPr>
      <p:scale>
        <a:sx n="1" d="1"/>
        <a:sy n="1" d="1"/>
      </p:scale>
      <p:origin x="0" y="0"/>
    </p:cViewPr>
  </p:notesTextViewPr>
  <p:sorterViewPr>
    <p:cViewPr>
      <p:scale>
        <a:sx n="100" d="100"/>
        <a:sy n="100" d="100"/>
      </p:scale>
      <p:origin x="0" y="-830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356AC9EC-0E84-4365-906D-88F88B4B087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a:extLst>
              <a:ext uri="{FF2B5EF4-FFF2-40B4-BE49-F238E27FC236}">
                <a16:creationId xmlns:a16="http://schemas.microsoft.com/office/drawing/2014/main" xmlns="" id="{6FD4DC27-50DE-4836-8E53-EB0CBEE5A9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1868723-7155-4765-BEDB-23C7567642DA}" type="datetimeFigureOut">
              <a:rPr lang="en-PK" smtClean="0"/>
              <a:t>21/08/2025</a:t>
            </a:fld>
            <a:endParaRPr lang="en-PK"/>
          </a:p>
        </p:txBody>
      </p:sp>
      <p:sp>
        <p:nvSpPr>
          <p:cNvPr id="4" name="Footer Placeholder 3">
            <a:extLst>
              <a:ext uri="{FF2B5EF4-FFF2-40B4-BE49-F238E27FC236}">
                <a16:creationId xmlns:a16="http://schemas.microsoft.com/office/drawing/2014/main" xmlns="" id="{A3926616-E830-4C22-A74B-CF0C0552141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5" name="Slide Number Placeholder 4">
            <a:extLst>
              <a:ext uri="{FF2B5EF4-FFF2-40B4-BE49-F238E27FC236}">
                <a16:creationId xmlns:a16="http://schemas.microsoft.com/office/drawing/2014/main" xmlns="" id="{57E42BB1-9E88-4252-BFDA-EB9AF1BB98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0A8D63-9030-4735-87A1-C7B5CED5B562}" type="slidenum">
              <a:rPr lang="en-PK" smtClean="0"/>
              <a:t>‹#›</a:t>
            </a:fld>
            <a:endParaRPr lang="en-PK"/>
          </a:p>
        </p:txBody>
      </p:sp>
    </p:spTree>
    <p:extLst>
      <p:ext uri="{BB962C8B-B14F-4D97-AF65-F5344CB8AC3E}">
        <p14:creationId xmlns:p14="http://schemas.microsoft.com/office/powerpoint/2010/main" val="4221228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0CAC9F-C053-47A7-A90B-C0D70845F1E6}" type="datetimeFigureOut">
              <a:rPr lang="en-PK" smtClean="0"/>
              <a:t>21/08/2025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A327BB-D075-49A2-AA18-D75C376A90AF}" type="slidenum">
              <a:rPr lang="en-PK" smtClean="0"/>
              <a:t>‹#›</a:t>
            </a:fld>
            <a:endParaRPr lang="en-PK"/>
          </a:p>
        </p:txBody>
      </p:sp>
    </p:spTree>
    <p:extLst>
      <p:ext uri="{BB962C8B-B14F-4D97-AF65-F5344CB8AC3E}">
        <p14:creationId xmlns:p14="http://schemas.microsoft.com/office/powerpoint/2010/main" val="977453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2</a:t>
            </a:fld>
            <a:endParaRPr lang="en-PK"/>
          </a:p>
        </p:txBody>
      </p:sp>
    </p:spTree>
    <p:extLst>
      <p:ext uri="{BB962C8B-B14F-4D97-AF65-F5344CB8AC3E}">
        <p14:creationId xmlns:p14="http://schemas.microsoft.com/office/powerpoint/2010/main" val="2782867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3</a:t>
            </a:fld>
            <a:endParaRPr lang="en-PK"/>
          </a:p>
        </p:txBody>
      </p:sp>
    </p:spTree>
    <p:extLst>
      <p:ext uri="{BB962C8B-B14F-4D97-AF65-F5344CB8AC3E}">
        <p14:creationId xmlns:p14="http://schemas.microsoft.com/office/powerpoint/2010/main" val="4181682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4</a:t>
            </a:fld>
            <a:endParaRPr lang="en-PK"/>
          </a:p>
        </p:txBody>
      </p:sp>
    </p:spTree>
    <p:extLst>
      <p:ext uri="{BB962C8B-B14F-4D97-AF65-F5344CB8AC3E}">
        <p14:creationId xmlns:p14="http://schemas.microsoft.com/office/powerpoint/2010/main" val="104907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5</a:t>
            </a:fld>
            <a:endParaRPr lang="en-PK"/>
          </a:p>
        </p:txBody>
      </p:sp>
    </p:spTree>
    <p:extLst>
      <p:ext uri="{BB962C8B-B14F-4D97-AF65-F5344CB8AC3E}">
        <p14:creationId xmlns:p14="http://schemas.microsoft.com/office/powerpoint/2010/main" val="128359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6</a:t>
            </a:fld>
            <a:endParaRPr lang="en-PK"/>
          </a:p>
        </p:txBody>
      </p:sp>
    </p:spTree>
    <p:extLst>
      <p:ext uri="{BB962C8B-B14F-4D97-AF65-F5344CB8AC3E}">
        <p14:creationId xmlns:p14="http://schemas.microsoft.com/office/powerpoint/2010/main" val="3328810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7</a:t>
            </a:fld>
            <a:endParaRPr lang="en-PK"/>
          </a:p>
        </p:txBody>
      </p:sp>
    </p:spTree>
    <p:extLst>
      <p:ext uri="{BB962C8B-B14F-4D97-AF65-F5344CB8AC3E}">
        <p14:creationId xmlns:p14="http://schemas.microsoft.com/office/powerpoint/2010/main" val="24168683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8</a:t>
            </a:fld>
            <a:endParaRPr lang="en-PK"/>
          </a:p>
        </p:txBody>
      </p:sp>
    </p:spTree>
    <p:extLst>
      <p:ext uri="{BB962C8B-B14F-4D97-AF65-F5344CB8AC3E}">
        <p14:creationId xmlns:p14="http://schemas.microsoft.com/office/powerpoint/2010/main" val="3886245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c’c’’’c’c’cccccccccccccccccccccccccccccccc’’c’c’c’cc’’’’’’’’’’’’’’’’’’’’’’’’’’’’’’’’’’’’’’’’’’’’’’’’’’’’’’’’’’’’’’’’’’’’’’’’’’’’’’’’’’’’’’’’’’’’’’’’’’’’’’’’’’’’’’’’’’’’’’’’’’’’’’’’’’’’’’’’’’’’’’’’’’’’’’’’’’’’’’’’’’’’’’’’’’’’’’’’’’’’’’’’’’’’’’’’’’’’’’’’’’’’’’’’’’’’’’’’’’’’’’’’’’’’’’’’’’’’’’’’’’’’’’’’’’’’’’’’’’’’’’’’’’’’’’’’’’’’’’’’’’’’’’’’’’’’’’’’’’’’’’’’’’’’’’’’’’’’’’’’’’’’’’’’’’’’’’’’’’’’’’’’’’’’’’’’’’’’’’’’’’’’’’’’’’’’’’’’’’’’’’’’’’’’’’’’’’’’’’’’’’’’’’’’’’’’’’’’’’’’’’’’’’’’’’’’’’’’’’’’’’’’’’’’’’’’’’’’’’’’’’’’’’’’’’’’’’’’’’’’’’’’’’’’’’’’’’’’’’’’’’’’’’’’’’’’’’’’’’’’’’’’’’’’’’’’’’’’’’’’’’’’’’’’’’’’’’’’’’’’’’’’’’’’’’’’’’’’’’’’’’’’’’’’’’’’’’’’’’’’’’’’’’’’’’’’’’’’’’’’’’’’’’’’’’’’’’’’’’’’’’’’’’’’’’’’’’’’’’’’’’’’’’’’’’’’’’’’’’’’’’’’’’’’’’’’’’’’’’’’’’’’’’’’’’’’’’’’’’’’’’’’’’’’’’’’’’’’’’’’’’’’’’’’’’’’’’’’’’’’’’’’’’’’’’’’’’’’’’’’’’’’’’’’’’’’’’’’’’’’’’’’’’’’’’’’’’’’’’’’’’’’’’’’’’’’’’’’’’’’’’’’’’’’’’’’’’’’’’’’’’’’’’’’’’’’’’’’’’’’’’’’’’’’’’’’’’’’’’’’’’’’’’’’’’’’’’’’’’’’’’’’’’’’’’’’’’’’’’’’’’’’’’’’’’’’’’’’’’’’’’’’’’’’’’’’’’’’’’’’’’’’’’’’’’’’’’’’’’’’’’’’’’’’’’’’’’’’’’’’’’’’’’’’’’’’’’’’’’’’’’’’’’’’’’’’’’’’’’’’’’’’’’’’’’’’’’’’’’’’’’’’’’’’’’’’’’’’’’’’’’’’’’’’’’’’’’’’’’’’’’’’’’’’’’’’’’’’’’’’’’’’’’’’’’’’’’’’’’’’’’’’’’’’’’’’’’’’’’’’’’’’’’’’’’’’’’’’’’’’’’’’’’’’’’’’’’’’’’’’’’’’’’’’’’’’’’’’’’’’’’’’’’’’’’’’’’’’’’’’’’’’’’’’’’’’’’’’’’’’’’’’’’’’’’’’’’’’’’’’’’’’’’’’’’’’’’’’’’’’’’’’’’’’’’’’’’’’’’’’’’’’’’’’’’’’’’’’’’’’’’’’’’’’’’’’’’’’’’’’’’’’’’’’’’’’’’’’’’’’’’’’’’’’’’’’’’’’’’’’’’’’’’’’’’’’’’’’’’’’’’’’’’’’’’’’’’’’’’’’’’’’’’’’’’’’’’’’’’’’’’’’’’’’’’’’’’’’’’’’’’’’’’’’’’’’’’’’’’’’’’’’’’’’’’’’’’’’’’’’’’’’’’’’’’’’’’’’’’’’’’’’’’’’’’’’’’’’’’’’’’’’’’’’’’’’’’’’’’’’’’’’’’’’’’’’’’’’’’’’’’’’’’’’’’’’’’’’’’’’’’’’’’’’’’’’’’’’’’’’’’’’’’’’’’’’’’’’’’’’’’’’’’’’’’’’’’’’’’’’’’’’’’’’’’’’’’’’’’’’’’’’’’’’’’’’’’’’’’’’’’’’’’’’’’’’’’’’’’’’’’’’’’’’’’’’’’’’’’’’’’’’’’’’’’’’’’’’’’’’’’’’’’’’’’’’’’’’’’’’’’’’’’’’’’’’’’’’’’’’’’’’’’’’’’’’’’’’’’’’’’’’’’’’’’’’’’’’’’’’’’’’’’’’’’’’’’</a:t>
            </a:r>
            <a:endParaRPr lang="en-US" dirty="0"/>
          </a:p>
        </p:txBody>
      </p:sp>
      <p:sp>
        <p:nvSpPr>
          <p:cNvPr id="4" name="Slide Number Placeholder 3"/>
          <p:cNvSpPr>
            <a:spLocks noGrp="1"/>
          </p:cNvSpPr>
          <p:nvPr>
            <p:ph type="sldNum" sz="quarter" idx="10"/>
          </p:nvPr>
        </p:nvSpPr>
        <p:spPr/>
        <p:txBody>
          <a:bodyPr/>
          <a:lstStyle/>
          <a:p>
            <a:fld id="{41A327BB-D075-49A2-AA18-D75C376A90AF}" type="slidenum">
              <a:rPr lang="en-PK" smtClean="0"/>
              <a:t>13</a:t>
            </a:fld>
            <a:endParaRPr lang="en-PK"/>
          </a:p>
        </p:txBody>
      </p:sp>
    </p:spTree>
    <p:extLst>
      <p:ext uri="{BB962C8B-B14F-4D97-AF65-F5344CB8AC3E}">
        <p14:creationId xmlns:p14="http://schemas.microsoft.com/office/powerpoint/2010/main" val="922521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20</a:t>
            </a:fld>
            <a:endParaRPr lang="en-PK"/>
          </a:p>
        </p:txBody>
      </p:sp>
    </p:spTree>
    <p:extLst>
      <p:ext uri="{BB962C8B-B14F-4D97-AF65-F5344CB8AC3E}">
        <p14:creationId xmlns:p14="http://schemas.microsoft.com/office/powerpoint/2010/main" val="1742035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21</a:t>
            </a:fld>
            <a:endParaRPr lang="en-PK"/>
          </a:p>
        </p:txBody>
      </p:sp>
    </p:spTree>
    <p:extLst>
      <p:ext uri="{BB962C8B-B14F-4D97-AF65-F5344CB8AC3E}">
        <p14:creationId xmlns:p14="http://schemas.microsoft.com/office/powerpoint/2010/main" val="8575934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26</a:t>
            </a:fld>
            <a:endParaRPr lang="en-PK"/>
          </a:p>
        </p:txBody>
      </p:sp>
    </p:spTree>
    <p:extLst>
      <p:ext uri="{BB962C8B-B14F-4D97-AF65-F5344CB8AC3E}">
        <p14:creationId xmlns:p14="http://schemas.microsoft.com/office/powerpoint/2010/main" val="28945227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27</a:t>
            </a:fld>
            <a:endParaRPr lang="en-PK"/>
          </a:p>
        </p:txBody>
      </p:sp>
    </p:spTree>
    <p:extLst>
      <p:ext uri="{BB962C8B-B14F-4D97-AF65-F5344CB8AC3E}">
        <p14:creationId xmlns:p14="http://schemas.microsoft.com/office/powerpoint/2010/main" val="809722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28</a:t>
            </a:fld>
            <a:endParaRPr lang="en-PK"/>
          </a:p>
        </p:txBody>
      </p:sp>
    </p:spTree>
    <p:extLst>
      <p:ext uri="{BB962C8B-B14F-4D97-AF65-F5344CB8AC3E}">
        <p14:creationId xmlns:p14="http://schemas.microsoft.com/office/powerpoint/2010/main" val="25728372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472A09-6445-4DFD-AF10-B27B9FB9CF67}" type="slidenum">
              <a:rPr lang="en-PK" smtClean="0"/>
              <a:t>29</a:t>
            </a:fld>
            <a:endParaRPr lang="en-PK"/>
          </a:p>
        </p:txBody>
      </p:sp>
    </p:spTree>
    <p:extLst>
      <p:ext uri="{BB962C8B-B14F-4D97-AF65-F5344CB8AC3E}">
        <p14:creationId xmlns:p14="http://schemas.microsoft.com/office/powerpoint/2010/main" val="3695497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30</a:t>
            </a:fld>
            <a:endParaRPr lang="en-PK"/>
          </a:p>
        </p:txBody>
      </p:sp>
    </p:spTree>
    <p:extLst>
      <p:ext uri="{BB962C8B-B14F-4D97-AF65-F5344CB8AC3E}">
        <p14:creationId xmlns:p14="http://schemas.microsoft.com/office/powerpoint/2010/main" val="21719580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PT Serif"/>
              </a:rPr>
              <a:t>Every day we come across many problems and we find one or more than one solutions to that particular problem. Some solutions may be efficient as compared to others and some solutions may be less efficient. Generally, we tend to use the most efficient solution.</a:t>
            </a:r>
          </a:p>
          <a:p>
            <a:endParaRPr lang="en-US" b="0" i="0" dirty="0">
              <a:solidFill>
                <a:srgbClr val="333333"/>
              </a:solidFill>
              <a:effectLst/>
              <a:latin typeface="PT Serif"/>
            </a:endParaRPr>
          </a:p>
          <a:p>
            <a:r>
              <a:rPr lang="en-US" b="1" i="0" dirty="0">
                <a:solidFill>
                  <a:srgbClr val="333333"/>
                </a:solidFill>
                <a:effectLst/>
                <a:latin typeface="PT Serif"/>
              </a:rPr>
              <a:t>For example,</a:t>
            </a:r>
            <a:r>
              <a:rPr lang="en-US" b="0" i="0" dirty="0">
                <a:solidFill>
                  <a:srgbClr val="333333"/>
                </a:solidFill>
                <a:effectLst/>
                <a:latin typeface="PT Serif"/>
              </a:rPr>
              <a:t> while going from your home to your office or school or college, there can be "n" number of paths. But you choose only one path to go to your destination i.e. the shortest path.</a:t>
            </a:r>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31</a:t>
            </a:fld>
            <a:endParaRPr lang="en-PK"/>
          </a:p>
        </p:txBody>
      </p:sp>
    </p:spTree>
    <p:extLst>
      <p:ext uri="{BB962C8B-B14F-4D97-AF65-F5344CB8AC3E}">
        <p14:creationId xmlns:p14="http://schemas.microsoft.com/office/powerpoint/2010/main" val="20003687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32</a:t>
            </a:fld>
            <a:endParaRPr lang="en-PK"/>
          </a:p>
        </p:txBody>
      </p:sp>
    </p:spTree>
    <p:extLst>
      <p:ext uri="{BB962C8B-B14F-4D97-AF65-F5344CB8AC3E}">
        <p14:creationId xmlns:p14="http://schemas.microsoft.com/office/powerpoint/2010/main" val="3745727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33</a:t>
            </a:fld>
            <a:endParaRPr lang="en-PK"/>
          </a:p>
        </p:txBody>
      </p:sp>
    </p:spTree>
    <p:extLst>
      <p:ext uri="{BB962C8B-B14F-4D97-AF65-F5344CB8AC3E}">
        <p14:creationId xmlns:p14="http://schemas.microsoft.com/office/powerpoint/2010/main" val="32107098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34</a:t>
            </a:fld>
            <a:endParaRPr lang="en-PK"/>
          </a:p>
        </p:txBody>
      </p:sp>
    </p:spTree>
    <p:extLst>
      <p:ext uri="{BB962C8B-B14F-4D97-AF65-F5344CB8AC3E}">
        <p14:creationId xmlns:p14="http://schemas.microsoft.com/office/powerpoint/2010/main" val="19737920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36</a:t>
            </a:fld>
            <a:endParaRPr lang="en-PK"/>
          </a:p>
        </p:txBody>
      </p:sp>
    </p:spTree>
    <p:extLst>
      <p:ext uri="{BB962C8B-B14F-4D97-AF65-F5344CB8AC3E}">
        <p14:creationId xmlns:p14="http://schemas.microsoft.com/office/powerpoint/2010/main" val="10525547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414141"/>
                </a:solidFill>
                <a:effectLst/>
                <a:latin typeface="Helvetica" panose="020B0604020202020204" pitchFamily="34" charset="0"/>
                <a:ea typeface="Times New Roman" panose="02020603050405020304" pitchFamily="18" charset="0"/>
                <a:cs typeface="Times New Roman" panose="02020603050405020304" pitchFamily="18" charset="0"/>
              </a:rPr>
              <a:t>book is Abstract (Telephone Book is an implementation)</a:t>
            </a:r>
            <a:endParaRPr lang="en-PK" sz="1800" dirty="0">
              <a:effectLst/>
              <a:latin typeface="Times New Roman" panose="02020603050405020304" pitchFamily="18" charset="0"/>
              <a:ea typeface="Times New Roman" panose="02020603050405020304" pitchFamily="18" charset="0"/>
            </a:endParaRPr>
          </a:p>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39</a:t>
            </a:fld>
            <a:endParaRPr lang="en-PK"/>
          </a:p>
        </p:txBody>
      </p:sp>
    </p:spTree>
    <p:extLst>
      <p:ext uri="{BB962C8B-B14F-4D97-AF65-F5344CB8AC3E}">
        <p14:creationId xmlns:p14="http://schemas.microsoft.com/office/powerpoint/2010/main" val="17138456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40</a:t>
            </a:fld>
            <a:endParaRPr lang="en-PK"/>
          </a:p>
        </p:txBody>
      </p:sp>
    </p:spTree>
    <p:extLst>
      <p:ext uri="{BB962C8B-B14F-4D97-AF65-F5344CB8AC3E}">
        <p14:creationId xmlns:p14="http://schemas.microsoft.com/office/powerpoint/2010/main" val="42552835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abstract data type thus can be further defined as a data declaration packaged together with the operations that are meaningful for the data type, in other words, we encapsulate the data and the operations on the data, and then we hide them from the user.  Like Data abstraction</a:t>
            </a:r>
          </a:p>
          <a:p>
            <a:endParaRPr lang="en-US" dirty="0"/>
          </a:p>
          <a:p>
            <a:r>
              <a:rPr lang="en-US" dirty="0"/>
              <a:t>The user need not know the data structure to use the ADT. Considering example 8.1, the application program should have no knowledge of the data structure. All references to and manipulation of the data in the queue must be handles through defined interfaces in the structure. Allowing the application program to directly references the data structures is a common fault in many implementation. This prevents the ADT from being fully portable to other applications.</a:t>
            </a:r>
          </a:p>
          <a:p>
            <a:endParaRPr lang="en-US" dirty="0"/>
          </a:p>
          <a:p>
            <a:endParaRPr lang="en-US" dirty="0"/>
          </a:p>
          <a:p>
            <a:r>
              <a:rPr lang="en-US" dirty="0"/>
              <a:t>As representation of the ADT model is shown in Fig. 1.13. Notice that there are two different parts of the ADT model – functions(public and private) and data structures. Both are contained within the ADT model itself, and do not come within the scope of the application program. On the other hand, data structures are available to all of the ADTs functions as required, and a function may call on any other function to accomplish its task. This means that data structures and functions are within the scope of each other. </a:t>
            </a:r>
          </a:p>
          <a:p>
            <a:r>
              <a:rPr lang="en-US" dirty="0"/>
              <a:t> data are entered, accessed, modified and deleted through the external  application programming interface. This interface can only access the public functions. For each ADT operation, there is an algorithm that perform its specific task. The operation name and parameters are available  to the application, and they provide the only interface to the application. </a:t>
            </a:r>
          </a:p>
          <a:p>
            <a:endParaRPr lang="en-US" dirty="0"/>
          </a:p>
          <a:p>
            <a:r>
              <a:rPr lang="en-US" dirty="0"/>
              <a:t>When a list is controlled entirely  by the program , it is implemented using simple structures.</a:t>
            </a:r>
          </a:p>
          <a:p>
            <a:r>
              <a:rPr lang="en-US" dirty="0"/>
              <a:t>Note that it is not enough if we just encapsulate the structures in an ADT, it is also necessary for multiple version of the structure to coexist.  Therefore, we must hide the implementation form the user, while being able to store different data at the same time.</a:t>
            </a:r>
          </a:p>
          <a:p>
            <a:endParaRPr lang="en-US" dirty="0"/>
          </a:p>
          <a:p>
            <a:r>
              <a:rPr lang="en-US" dirty="0"/>
              <a:t>Two basic structures, namely array and linked list, can be used to implement an ADT </a:t>
            </a:r>
            <a:r>
              <a:rPr lang="en-US" dirty="0" err="1"/>
              <a:t>ist</a:t>
            </a:r>
            <a:r>
              <a:rPr lang="en-US" dirty="0"/>
              <a:t>.</a:t>
            </a:r>
            <a:endParaRPr lang="en-PK" dirty="0"/>
          </a:p>
        </p:txBody>
      </p:sp>
      <p:sp>
        <p:nvSpPr>
          <p:cNvPr id="4" name="Slide Number Placeholder 3"/>
          <p:cNvSpPr>
            <a:spLocks noGrp="1"/>
          </p:cNvSpPr>
          <p:nvPr>
            <p:ph type="sldNum" sz="quarter" idx="5"/>
          </p:nvPr>
        </p:nvSpPr>
        <p:spPr/>
        <p:txBody>
          <a:bodyPr/>
          <a:lstStyle/>
          <a:p>
            <a:fld id="{10472A09-6445-4DFD-AF10-B27B9FB9CF67}" type="slidenum">
              <a:rPr lang="en-PK" smtClean="0"/>
              <a:t>41</a:t>
            </a:fld>
            <a:endParaRPr lang="en-PK"/>
          </a:p>
        </p:txBody>
      </p:sp>
    </p:spTree>
    <p:extLst>
      <p:ext uri="{BB962C8B-B14F-4D97-AF65-F5344CB8AC3E}">
        <p14:creationId xmlns:p14="http://schemas.microsoft.com/office/powerpoint/2010/main" val="3179506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1D110F-A4AA-4C10-84BD-EC6FDAFE88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xmlns="" id="{DB53D3CD-1BA7-49DB-9338-26FC4889ED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xmlns="" id="{8D8EA8E9-8748-48BD-8A8C-42B08AE89BBD}"/>
              </a:ext>
            </a:extLst>
          </p:cNvPr>
          <p:cNvSpPr>
            <a:spLocks noGrp="1"/>
          </p:cNvSpPr>
          <p:nvPr>
            <p:ph type="dt" sz="half" idx="10"/>
          </p:nvPr>
        </p:nvSpPr>
        <p:spPr/>
        <p:txBody>
          <a:bodyPr/>
          <a:lstStyle/>
          <a:p>
            <a:fld id="{95B571AF-1B03-43DE-BB93-1E3FCDF9F58F}" type="datetimeFigureOut">
              <a:rPr lang="en-PK" smtClean="0"/>
              <a:t>21/08/2025</a:t>
            </a:fld>
            <a:endParaRPr lang="en-PK"/>
          </a:p>
        </p:txBody>
      </p:sp>
      <p:sp>
        <p:nvSpPr>
          <p:cNvPr id="5" name="Footer Placeholder 4">
            <a:extLst>
              <a:ext uri="{FF2B5EF4-FFF2-40B4-BE49-F238E27FC236}">
                <a16:creationId xmlns:a16="http://schemas.microsoft.com/office/drawing/2014/main" xmlns="" id="{27B9DC9F-DF7D-4EC2-BA56-D33F51B23B2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xmlns="" id="{E9C79360-8DEC-4456-A7BA-7264AE57D456}"/>
              </a:ext>
            </a:extLst>
          </p:cNvPr>
          <p:cNvSpPr>
            <a:spLocks noGrp="1"/>
          </p:cNvSpPr>
          <p:nvPr>
            <p:ph type="sldNum" sz="quarter" idx="12"/>
          </p:nvPr>
        </p:nvSpPr>
        <p:spPr/>
        <p:txBody>
          <a:bodyPr/>
          <a:lstStyle/>
          <a:p>
            <a:fld id="{C0835088-93A1-48A3-93BC-81BA3F61C33A}" type="slidenum">
              <a:rPr lang="en-PK" smtClean="0"/>
              <a:t>‹#›</a:t>
            </a:fld>
            <a:endParaRPr lang="en-PK"/>
          </a:p>
        </p:txBody>
      </p:sp>
    </p:spTree>
    <p:extLst>
      <p:ext uri="{BB962C8B-B14F-4D97-AF65-F5344CB8AC3E}">
        <p14:creationId xmlns:p14="http://schemas.microsoft.com/office/powerpoint/2010/main" val="2242454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5B309D-83E7-4083-8D23-94C252B1A5DF}"/>
              </a:ext>
            </a:extLst>
          </p:cNvPr>
          <p:cNvSpPr>
            <a:spLocks noGrp="1"/>
          </p:cNvSpPr>
          <p:nvPr>
            <p:ph type="title"/>
          </p:nvPr>
        </p:nvSpPr>
        <p:spPr/>
        <p:txBody>
          <a:body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xmlns="" id="{61BE0A4D-47C5-470E-8725-F203A02A9E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dirty="0"/>
          </a:p>
        </p:txBody>
      </p:sp>
      <p:sp>
        <p:nvSpPr>
          <p:cNvPr id="5" name="Footer Placeholder 4">
            <a:extLst>
              <a:ext uri="{FF2B5EF4-FFF2-40B4-BE49-F238E27FC236}">
                <a16:creationId xmlns:a16="http://schemas.microsoft.com/office/drawing/2014/main" xmlns="" id="{76BDCE86-9E22-4984-BE09-710A1FCD204B}"/>
              </a:ext>
            </a:extLst>
          </p:cNvPr>
          <p:cNvSpPr>
            <a:spLocks noGrp="1"/>
          </p:cNvSpPr>
          <p:nvPr>
            <p:ph type="ftr" sz="quarter" idx="11"/>
          </p:nvPr>
        </p:nvSpPr>
        <p:spPr>
          <a:xfrm>
            <a:off x="305586" y="6415596"/>
            <a:ext cx="1579775" cy="305880"/>
          </a:xfrm>
        </p:spPr>
        <p:txBody>
          <a:bodyPr/>
          <a:lstStyle>
            <a:lvl1pPr>
              <a:defRPr b="1">
                <a:solidFill>
                  <a:schemeClr val="accent1"/>
                </a:solidFill>
              </a:defRPr>
            </a:lvl1pPr>
          </a:lstStyle>
          <a:p>
            <a:r>
              <a:rPr lang="en-US" dirty="0"/>
              <a:t>Engr. A. Hafeez Babar</a:t>
            </a:r>
            <a:endParaRPr lang="en-PK" dirty="0"/>
          </a:p>
        </p:txBody>
      </p:sp>
      <p:sp>
        <p:nvSpPr>
          <p:cNvPr id="6" name="Slide Number Placeholder 5">
            <a:extLst>
              <a:ext uri="{FF2B5EF4-FFF2-40B4-BE49-F238E27FC236}">
                <a16:creationId xmlns:a16="http://schemas.microsoft.com/office/drawing/2014/main" xmlns="" id="{49B3DB5C-192C-4746-9269-54386CE1D6EE}"/>
              </a:ext>
            </a:extLst>
          </p:cNvPr>
          <p:cNvSpPr>
            <a:spLocks noGrp="1"/>
          </p:cNvSpPr>
          <p:nvPr>
            <p:ph type="sldNum" sz="quarter" idx="12"/>
          </p:nvPr>
        </p:nvSpPr>
        <p:spPr/>
        <p:txBody>
          <a:bodyPr/>
          <a:lstStyle/>
          <a:p>
            <a:fld id="{C0835088-93A1-48A3-93BC-81BA3F61C33A}" type="slidenum">
              <a:rPr lang="en-PK" smtClean="0"/>
              <a:t>‹#›</a:t>
            </a:fld>
            <a:endParaRPr lang="en-PK"/>
          </a:p>
        </p:txBody>
      </p:sp>
    </p:spTree>
    <p:extLst>
      <p:ext uri="{BB962C8B-B14F-4D97-AF65-F5344CB8AC3E}">
        <p14:creationId xmlns:p14="http://schemas.microsoft.com/office/powerpoint/2010/main" val="3670228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9A31C7-837A-4B1B-80EF-C2B9B8EEB4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xmlns="" id="{21C4BB2C-A2F2-4920-870B-11C41DCE68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4E6F7AA0-5715-42CF-BC8D-F037694820F7}"/>
              </a:ext>
            </a:extLst>
          </p:cNvPr>
          <p:cNvSpPr>
            <a:spLocks noGrp="1"/>
          </p:cNvSpPr>
          <p:nvPr>
            <p:ph type="dt" sz="half" idx="10"/>
          </p:nvPr>
        </p:nvSpPr>
        <p:spPr/>
        <p:txBody>
          <a:bodyPr/>
          <a:lstStyle/>
          <a:p>
            <a:fld id="{95B571AF-1B03-43DE-BB93-1E3FCDF9F58F}" type="datetimeFigureOut">
              <a:rPr lang="en-PK" smtClean="0"/>
              <a:t>21/08/2025</a:t>
            </a:fld>
            <a:endParaRPr lang="en-PK"/>
          </a:p>
        </p:txBody>
      </p:sp>
      <p:sp>
        <p:nvSpPr>
          <p:cNvPr id="5" name="Footer Placeholder 4">
            <a:extLst>
              <a:ext uri="{FF2B5EF4-FFF2-40B4-BE49-F238E27FC236}">
                <a16:creationId xmlns:a16="http://schemas.microsoft.com/office/drawing/2014/main" xmlns="" id="{FC4B3B47-0F1B-42EE-9B82-61981EDA72F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xmlns="" id="{5119CF52-7B9E-4F59-82CC-27177EFF4643}"/>
              </a:ext>
            </a:extLst>
          </p:cNvPr>
          <p:cNvSpPr>
            <a:spLocks noGrp="1"/>
          </p:cNvSpPr>
          <p:nvPr>
            <p:ph type="sldNum" sz="quarter" idx="12"/>
          </p:nvPr>
        </p:nvSpPr>
        <p:spPr/>
        <p:txBody>
          <a:bodyPr/>
          <a:lstStyle/>
          <a:p>
            <a:fld id="{C0835088-93A1-48A3-93BC-81BA3F61C33A}" type="slidenum">
              <a:rPr lang="en-PK" smtClean="0"/>
              <a:t>‹#›</a:t>
            </a:fld>
            <a:endParaRPr lang="en-PK"/>
          </a:p>
        </p:txBody>
      </p:sp>
    </p:spTree>
    <p:extLst>
      <p:ext uri="{BB962C8B-B14F-4D97-AF65-F5344CB8AC3E}">
        <p14:creationId xmlns:p14="http://schemas.microsoft.com/office/powerpoint/2010/main" val="3641230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A165AE-A471-41E7-9B17-5B5C95045988}"/>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xmlns="" id="{30D5F055-B963-4554-A8C5-E89535CF36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xmlns="" id="{81F16817-CBD6-45A3-8872-CF4DA3DFCE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xmlns="" id="{59541829-ED23-42D1-A04A-EDD90D6652E9}"/>
              </a:ext>
            </a:extLst>
          </p:cNvPr>
          <p:cNvSpPr>
            <a:spLocks noGrp="1"/>
          </p:cNvSpPr>
          <p:nvPr>
            <p:ph type="dt" sz="half" idx="10"/>
          </p:nvPr>
        </p:nvSpPr>
        <p:spPr/>
        <p:txBody>
          <a:bodyPr/>
          <a:lstStyle/>
          <a:p>
            <a:fld id="{95B571AF-1B03-43DE-BB93-1E3FCDF9F58F}" type="datetimeFigureOut">
              <a:rPr lang="en-PK" smtClean="0"/>
              <a:t>21/08/2025</a:t>
            </a:fld>
            <a:endParaRPr lang="en-PK"/>
          </a:p>
        </p:txBody>
      </p:sp>
      <p:sp>
        <p:nvSpPr>
          <p:cNvPr id="6" name="Footer Placeholder 5">
            <a:extLst>
              <a:ext uri="{FF2B5EF4-FFF2-40B4-BE49-F238E27FC236}">
                <a16:creationId xmlns:a16="http://schemas.microsoft.com/office/drawing/2014/main" xmlns="" id="{09C7D9ED-31F5-4027-986F-29EC1E07614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xmlns="" id="{DDF6B233-1E74-434E-AF0A-E5CCABF065D8}"/>
              </a:ext>
            </a:extLst>
          </p:cNvPr>
          <p:cNvSpPr>
            <a:spLocks noGrp="1"/>
          </p:cNvSpPr>
          <p:nvPr>
            <p:ph type="sldNum" sz="quarter" idx="12"/>
          </p:nvPr>
        </p:nvSpPr>
        <p:spPr/>
        <p:txBody>
          <a:bodyPr/>
          <a:lstStyle/>
          <a:p>
            <a:fld id="{C0835088-93A1-48A3-93BC-81BA3F61C33A}" type="slidenum">
              <a:rPr lang="en-PK" smtClean="0"/>
              <a:t>‹#›</a:t>
            </a:fld>
            <a:endParaRPr lang="en-PK"/>
          </a:p>
        </p:txBody>
      </p:sp>
    </p:spTree>
    <p:extLst>
      <p:ext uri="{BB962C8B-B14F-4D97-AF65-F5344CB8AC3E}">
        <p14:creationId xmlns:p14="http://schemas.microsoft.com/office/powerpoint/2010/main" val="2957211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30FB34-59A0-4C81-B89C-EB6B4B77C932}"/>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xmlns="" id="{A1565024-D704-45D8-9294-90DA8C9D15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887E596B-5BCF-4C28-8DE8-C9247A6B97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xmlns="" id="{C0284D63-414C-4615-85E2-6090B4169E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1A7DD98E-87AA-4CD7-8C60-D3D08E12EF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xmlns="" id="{C15E82F8-A9BE-4F7A-A81D-43DDEC0DF634}"/>
              </a:ext>
            </a:extLst>
          </p:cNvPr>
          <p:cNvSpPr>
            <a:spLocks noGrp="1"/>
          </p:cNvSpPr>
          <p:nvPr>
            <p:ph type="dt" sz="half" idx="10"/>
          </p:nvPr>
        </p:nvSpPr>
        <p:spPr/>
        <p:txBody>
          <a:bodyPr/>
          <a:lstStyle/>
          <a:p>
            <a:fld id="{95B571AF-1B03-43DE-BB93-1E3FCDF9F58F}" type="datetimeFigureOut">
              <a:rPr lang="en-PK" smtClean="0"/>
              <a:t>21/08/2025</a:t>
            </a:fld>
            <a:endParaRPr lang="en-PK"/>
          </a:p>
        </p:txBody>
      </p:sp>
      <p:sp>
        <p:nvSpPr>
          <p:cNvPr id="8" name="Footer Placeholder 7">
            <a:extLst>
              <a:ext uri="{FF2B5EF4-FFF2-40B4-BE49-F238E27FC236}">
                <a16:creationId xmlns:a16="http://schemas.microsoft.com/office/drawing/2014/main" xmlns="" id="{A7296ED7-4A7B-4B69-A228-E3568A17B543}"/>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xmlns="" id="{39630110-CFD6-4805-A5EC-68D7E95E083D}"/>
              </a:ext>
            </a:extLst>
          </p:cNvPr>
          <p:cNvSpPr>
            <a:spLocks noGrp="1"/>
          </p:cNvSpPr>
          <p:nvPr>
            <p:ph type="sldNum" sz="quarter" idx="12"/>
          </p:nvPr>
        </p:nvSpPr>
        <p:spPr/>
        <p:txBody>
          <a:bodyPr/>
          <a:lstStyle/>
          <a:p>
            <a:fld id="{C0835088-93A1-48A3-93BC-81BA3F61C33A}" type="slidenum">
              <a:rPr lang="en-PK" smtClean="0"/>
              <a:t>‹#›</a:t>
            </a:fld>
            <a:endParaRPr lang="en-PK"/>
          </a:p>
        </p:txBody>
      </p:sp>
    </p:spTree>
    <p:extLst>
      <p:ext uri="{BB962C8B-B14F-4D97-AF65-F5344CB8AC3E}">
        <p14:creationId xmlns:p14="http://schemas.microsoft.com/office/powerpoint/2010/main" val="1105943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3E98B0-A055-4E01-8F31-39D9F18C165C}"/>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xmlns="" id="{E56E3D38-C76D-4895-8F92-39FD62338F93}"/>
              </a:ext>
            </a:extLst>
          </p:cNvPr>
          <p:cNvSpPr>
            <a:spLocks noGrp="1"/>
          </p:cNvSpPr>
          <p:nvPr>
            <p:ph type="dt" sz="half" idx="10"/>
          </p:nvPr>
        </p:nvSpPr>
        <p:spPr/>
        <p:txBody>
          <a:bodyPr/>
          <a:lstStyle/>
          <a:p>
            <a:fld id="{95B571AF-1B03-43DE-BB93-1E3FCDF9F58F}" type="datetimeFigureOut">
              <a:rPr lang="en-PK" smtClean="0"/>
              <a:t>21/08/2025</a:t>
            </a:fld>
            <a:endParaRPr lang="en-PK"/>
          </a:p>
        </p:txBody>
      </p:sp>
      <p:sp>
        <p:nvSpPr>
          <p:cNvPr id="4" name="Footer Placeholder 3">
            <a:extLst>
              <a:ext uri="{FF2B5EF4-FFF2-40B4-BE49-F238E27FC236}">
                <a16:creationId xmlns:a16="http://schemas.microsoft.com/office/drawing/2014/main" xmlns="" id="{9970C95D-3D12-4C79-A314-3EB1771C4A0C}"/>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xmlns="" id="{B507826C-DABB-48EE-9330-4AA7B19B5AF7}"/>
              </a:ext>
            </a:extLst>
          </p:cNvPr>
          <p:cNvSpPr>
            <a:spLocks noGrp="1"/>
          </p:cNvSpPr>
          <p:nvPr>
            <p:ph type="sldNum" sz="quarter" idx="12"/>
          </p:nvPr>
        </p:nvSpPr>
        <p:spPr/>
        <p:txBody>
          <a:bodyPr/>
          <a:lstStyle/>
          <a:p>
            <a:fld id="{C0835088-93A1-48A3-93BC-81BA3F61C33A}" type="slidenum">
              <a:rPr lang="en-PK" smtClean="0"/>
              <a:t>‹#›</a:t>
            </a:fld>
            <a:endParaRPr lang="en-PK"/>
          </a:p>
        </p:txBody>
      </p:sp>
    </p:spTree>
    <p:extLst>
      <p:ext uri="{BB962C8B-B14F-4D97-AF65-F5344CB8AC3E}">
        <p14:creationId xmlns:p14="http://schemas.microsoft.com/office/powerpoint/2010/main" val="240560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A060F98-822C-4DB0-88E4-94DD85D7B3C0}"/>
              </a:ext>
            </a:extLst>
          </p:cNvPr>
          <p:cNvSpPr>
            <a:spLocks noGrp="1"/>
          </p:cNvSpPr>
          <p:nvPr>
            <p:ph type="dt" sz="half" idx="10"/>
          </p:nvPr>
        </p:nvSpPr>
        <p:spPr/>
        <p:txBody>
          <a:bodyPr/>
          <a:lstStyle/>
          <a:p>
            <a:fld id="{95B571AF-1B03-43DE-BB93-1E3FCDF9F58F}" type="datetimeFigureOut">
              <a:rPr lang="en-PK" smtClean="0"/>
              <a:t>21/08/2025</a:t>
            </a:fld>
            <a:endParaRPr lang="en-PK"/>
          </a:p>
        </p:txBody>
      </p:sp>
      <p:sp>
        <p:nvSpPr>
          <p:cNvPr id="3" name="Footer Placeholder 2">
            <a:extLst>
              <a:ext uri="{FF2B5EF4-FFF2-40B4-BE49-F238E27FC236}">
                <a16:creationId xmlns:a16="http://schemas.microsoft.com/office/drawing/2014/main" xmlns="" id="{07B3702E-3A05-4F5E-BC8E-EF460115BF3A}"/>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xmlns="" id="{8B63AD2F-E991-4DBB-A8DA-84A3ABA71E2E}"/>
              </a:ext>
            </a:extLst>
          </p:cNvPr>
          <p:cNvSpPr>
            <a:spLocks noGrp="1"/>
          </p:cNvSpPr>
          <p:nvPr>
            <p:ph type="sldNum" sz="quarter" idx="12"/>
          </p:nvPr>
        </p:nvSpPr>
        <p:spPr/>
        <p:txBody>
          <a:bodyPr/>
          <a:lstStyle/>
          <a:p>
            <a:fld id="{C0835088-93A1-48A3-93BC-81BA3F61C33A}" type="slidenum">
              <a:rPr lang="en-PK" smtClean="0"/>
              <a:t>‹#›</a:t>
            </a:fld>
            <a:endParaRPr lang="en-PK"/>
          </a:p>
        </p:txBody>
      </p:sp>
    </p:spTree>
    <p:extLst>
      <p:ext uri="{BB962C8B-B14F-4D97-AF65-F5344CB8AC3E}">
        <p14:creationId xmlns:p14="http://schemas.microsoft.com/office/powerpoint/2010/main" val="1506069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963D52-3E41-43FD-953D-099B634221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xmlns="" id="{41BA6EE5-CC9D-4DB8-8FED-9E3DFCA19F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xmlns="" id="{92862A8F-B4D4-457C-AA26-A373D7A3E3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55853F1-6A69-4FDF-B380-CBDA7F15A89B}"/>
              </a:ext>
            </a:extLst>
          </p:cNvPr>
          <p:cNvSpPr>
            <a:spLocks noGrp="1"/>
          </p:cNvSpPr>
          <p:nvPr>
            <p:ph type="dt" sz="half" idx="10"/>
          </p:nvPr>
        </p:nvSpPr>
        <p:spPr/>
        <p:txBody>
          <a:bodyPr/>
          <a:lstStyle/>
          <a:p>
            <a:fld id="{95B571AF-1B03-43DE-BB93-1E3FCDF9F58F}" type="datetimeFigureOut">
              <a:rPr lang="en-PK" smtClean="0"/>
              <a:t>21/08/2025</a:t>
            </a:fld>
            <a:endParaRPr lang="en-PK"/>
          </a:p>
        </p:txBody>
      </p:sp>
      <p:sp>
        <p:nvSpPr>
          <p:cNvPr id="6" name="Footer Placeholder 5">
            <a:extLst>
              <a:ext uri="{FF2B5EF4-FFF2-40B4-BE49-F238E27FC236}">
                <a16:creationId xmlns:a16="http://schemas.microsoft.com/office/drawing/2014/main" xmlns="" id="{6251F89B-974E-46A9-AC85-174C29C9F300}"/>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xmlns="" id="{6CF925D8-E6B1-4DC3-895F-5F7D3837EEBD}"/>
              </a:ext>
            </a:extLst>
          </p:cNvPr>
          <p:cNvSpPr>
            <a:spLocks noGrp="1"/>
          </p:cNvSpPr>
          <p:nvPr>
            <p:ph type="sldNum" sz="quarter" idx="12"/>
          </p:nvPr>
        </p:nvSpPr>
        <p:spPr/>
        <p:txBody>
          <a:bodyPr/>
          <a:lstStyle/>
          <a:p>
            <a:fld id="{C0835088-93A1-48A3-93BC-81BA3F61C33A}" type="slidenum">
              <a:rPr lang="en-PK" smtClean="0"/>
              <a:t>‹#›</a:t>
            </a:fld>
            <a:endParaRPr lang="en-PK"/>
          </a:p>
        </p:txBody>
      </p:sp>
    </p:spTree>
    <p:extLst>
      <p:ext uri="{BB962C8B-B14F-4D97-AF65-F5344CB8AC3E}">
        <p14:creationId xmlns:p14="http://schemas.microsoft.com/office/powerpoint/2010/main" val="2498049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D5C98D-9A6D-4A28-ADD2-E18A1C2C89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xmlns="" id="{80D9835A-7B8C-4C39-8DFB-11FAC136B3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xmlns="" id="{045C02C0-C9C6-486C-BFAF-1318DDF43D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27B8256-7D40-4B34-A2DB-0095CA2EFBDD}"/>
              </a:ext>
            </a:extLst>
          </p:cNvPr>
          <p:cNvSpPr>
            <a:spLocks noGrp="1"/>
          </p:cNvSpPr>
          <p:nvPr>
            <p:ph type="dt" sz="half" idx="10"/>
          </p:nvPr>
        </p:nvSpPr>
        <p:spPr/>
        <p:txBody>
          <a:bodyPr/>
          <a:lstStyle/>
          <a:p>
            <a:fld id="{95B571AF-1B03-43DE-BB93-1E3FCDF9F58F}" type="datetimeFigureOut">
              <a:rPr lang="en-PK" smtClean="0"/>
              <a:t>21/08/2025</a:t>
            </a:fld>
            <a:endParaRPr lang="en-PK"/>
          </a:p>
        </p:txBody>
      </p:sp>
      <p:sp>
        <p:nvSpPr>
          <p:cNvPr id="6" name="Footer Placeholder 5">
            <a:extLst>
              <a:ext uri="{FF2B5EF4-FFF2-40B4-BE49-F238E27FC236}">
                <a16:creationId xmlns:a16="http://schemas.microsoft.com/office/drawing/2014/main" xmlns="" id="{D2BAD26F-6E92-4407-A667-D8EF79071680}"/>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xmlns="" id="{AEBF41C7-4C70-4A99-B434-BEE167FAADFD}"/>
              </a:ext>
            </a:extLst>
          </p:cNvPr>
          <p:cNvSpPr>
            <a:spLocks noGrp="1"/>
          </p:cNvSpPr>
          <p:nvPr>
            <p:ph type="sldNum" sz="quarter" idx="12"/>
          </p:nvPr>
        </p:nvSpPr>
        <p:spPr/>
        <p:txBody>
          <a:bodyPr/>
          <a:lstStyle/>
          <a:p>
            <a:fld id="{C0835088-93A1-48A3-93BC-81BA3F61C33A}" type="slidenum">
              <a:rPr lang="en-PK" smtClean="0"/>
              <a:t>‹#›</a:t>
            </a:fld>
            <a:endParaRPr lang="en-PK"/>
          </a:p>
        </p:txBody>
      </p:sp>
    </p:spTree>
    <p:extLst>
      <p:ext uri="{BB962C8B-B14F-4D97-AF65-F5344CB8AC3E}">
        <p14:creationId xmlns:p14="http://schemas.microsoft.com/office/powerpoint/2010/main" val="3376792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7637EC-BA4B-4953-B8AC-B4DE67F51B44}"/>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xmlns="" id="{EF4EB075-B4EC-4F2B-B31C-4CFC8C1A50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xmlns="" id="{BBE034D5-9EC0-4BBC-935B-70E3601DB3F0}"/>
              </a:ext>
            </a:extLst>
          </p:cNvPr>
          <p:cNvSpPr>
            <a:spLocks noGrp="1"/>
          </p:cNvSpPr>
          <p:nvPr>
            <p:ph type="dt" sz="half" idx="10"/>
          </p:nvPr>
        </p:nvSpPr>
        <p:spPr/>
        <p:txBody>
          <a:bodyPr/>
          <a:lstStyle/>
          <a:p>
            <a:fld id="{95B571AF-1B03-43DE-BB93-1E3FCDF9F58F}" type="datetimeFigureOut">
              <a:rPr lang="en-PK" smtClean="0"/>
              <a:t>21/08/2025</a:t>
            </a:fld>
            <a:endParaRPr lang="en-PK"/>
          </a:p>
        </p:txBody>
      </p:sp>
      <p:sp>
        <p:nvSpPr>
          <p:cNvPr id="5" name="Footer Placeholder 4">
            <a:extLst>
              <a:ext uri="{FF2B5EF4-FFF2-40B4-BE49-F238E27FC236}">
                <a16:creationId xmlns:a16="http://schemas.microsoft.com/office/drawing/2014/main" xmlns="" id="{32073535-CC62-4974-9CEA-6DAA8770BAF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xmlns="" id="{1A3523D9-AD6A-4003-B550-39D01F5E3F96}"/>
              </a:ext>
            </a:extLst>
          </p:cNvPr>
          <p:cNvSpPr>
            <a:spLocks noGrp="1"/>
          </p:cNvSpPr>
          <p:nvPr>
            <p:ph type="sldNum" sz="quarter" idx="12"/>
          </p:nvPr>
        </p:nvSpPr>
        <p:spPr/>
        <p:txBody>
          <a:bodyPr/>
          <a:lstStyle/>
          <a:p>
            <a:fld id="{C0835088-93A1-48A3-93BC-81BA3F61C33A}" type="slidenum">
              <a:rPr lang="en-PK" smtClean="0"/>
              <a:t>‹#›</a:t>
            </a:fld>
            <a:endParaRPr lang="en-PK"/>
          </a:p>
        </p:txBody>
      </p:sp>
    </p:spTree>
    <p:extLst>
      <p:ext uri="{BB962C8B-B14F-4D97-AF65-F5344CB8AC3E}">
        <p14:creationId xmlns:p14="http://schemas.microsoft.com/office/powerpoint/2010/main" val="4232056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3C929A9D-82BA-4B2E-B977-FAE8803B42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xmlns="" id="{69A66462-1661-46F3-812C-545AE3F5B0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xmlns="" id="{ADE2C67A-8AC9-4668-AFED-EA570B1DE855}"/>
              </a:ext>
            </a:extLst>
          </p:cNvPr>
          <p:cNvSpPr>
            <a:spLocks noGrp="1"/>
          </p:cNvSpPr>
          <p:nvPr>
            <p:ph type="dt" sz="half" idx="10"/>
          </p:nvPr>
        </p:nvSpPr>
        <p:spPr/>
        <p:txBody>
          <a:bodyPr/>
          <a:lstStyle/>
          <a:p>
            <a:fld id="{95B571AF-1B03-43DE-BB93-1E3FCDF9F58F}" type="datetimeFigureOut">
              <a:rPr lang="en-PK" smtClean="0"/>
              <a:t>21/08/2025</a:t>
            </a:fld>
            <a:endParaRPr lang="en-PK"/>
          </a:p>
        </p:txBody>
      </p:sp>
      <p:sp>
        <p:nvSpPr>
          <p:cNvPr id="5" name="Footer Placeholder 4">
            <a:extLst>
              <a:ext uri="{FF2B5EF4-FFF2-40B4-BE49-F238E27FC236}">
                <a16:creationId xmlns:a16="http://schemas.microsoft.com/office/drawing/2014/main" xmlns="" id="{123585AC-1B89-4C22-8F82-0099A9A9EDB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xmlns="" id="{104B8CE6-B462-4FCD-9260-9A6C2A7E53C8}"/>
              </a:ext>
            </a:extLst>
          </p:cNvPr>
          <p:cNvSpPr>
            <a:spLocks noGrp="1"/>
          </p:cNvSpPr>
          <p:nvPr>
            <p:ph type="sldNum" sz="quarter" idx="12"/>
          </p:nvPr>
        </p:nvSpPr>
        <p:spPr/>
        <p:txBody>
          <a:bodyPr/>
          <a:lstStyle/>
          <a:p>
            <a:fld id="{C0835088-93A1-48A3-93BC-81BA3F61C33A}" type="slidenum">
              <a:rPr lang="en-PK" smtClean="0"/>
              <a:t>‹#›</a:t>
            </a:fld>
            <a:endParaRPr lang="en-PK"/>
          </a:p>
        </p:txBody>
      </p:sp>
    </p:spTree>
    <p:extLst>
      <p:ext uri="{BB962C8B-B14F-4D97-AF65-F5344CB8AC3E}">
        <p14:creationId xmlns:p14="http://schemas.microsoft.com/office/powerpoint/2010/main" val="2926961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 Placeholder 7"/>
          <p:cNvSpPr>
            <a:spLocks noGrp="1"/>
          </p:cNvSpPr>
          <p:nvPr>
            <p:ph type="body" idx="10"/>
          </p:nvPr>
        </p:nvSpPr>
        <p:spPr>
          <a:xfrm>
            <a:off x="663098" y="473720"/>
            <a:ext cx="10925627" cy="5852964"/>
          </a:xfrm>
          <a:prstGeom prst="rect">
            <a:avLst/>
          </a:prstGeom>
          <a:solidFill>
            <a:srgbClr val="FEFEFE"/>
          </a:solidFill>
          <a:ln w="0" cmpd="sng">
            <a:noFill/>
            <a:prstDash val="solid"/>
          </a:ln>
        </p:spPr>
        <p:txBody>
          <a:bodyPr lIns="0" tIns="0" rIns="0" bIns="0" anchor="t"/>
          <a:lstStyle/>
          <a:p>
            <a:pPr algn="l"/>
            <a:r>
              <a:rPr lang="en-US" sz="100"/>
              <a:t> </a:t>
            </a:r>
          </a:p>
        </p:txBody>
      </p:sp>
      <p:sp>
        <p:nvSpPr>
          <p:cNvPr id="11" name="Text Placeholder 10"/>
          <p:cNvSpPr>
            <a:spLocks noGrp="1"/>
          </p:cNvSpPr>
          <p:nvPr>
            <p:ph type="body" idx="10"/>
          </p:nvPr>
        </p:nvSpPr>
        <p:spPr>
          <a:xfrm>
            <a:off x="4965491" y="2462362"/>
            <a:ext cx="5074419" cy="158502"/>
          </a:xfrm>
          <a:prstGeom prst="rect">
            <a:avLst/>
          </a:prstGeom>
          <a:noFill/>
          <a:ln w="0" cmpd="sng">
            <a:noFill/>
            <a:prstDash val="solid"/>
          </a:ln>
        </p:spPr>
        <p:txBody>
          <a:bodyPr lIns="0" tIns="0" rIns="0" bIns="0" anchor="t"/>
          <a:lstStyle>
            <a:lvl1pPr marL="0" marR="0" indent="0" algn="l">
              <a:lnSpc>
                <a:spcPts val="1406"/>
              </a:lnSpc>
              <a:spcAft>
                <a:spcPts val="0"/>
              </a:spcAft>
              <a:tabLst>
                <a:tab pos="3803912" algn="r"/>
              </a:tabLst>
              <a:defRPr/>
            </a:lvl1pPr>
          </a:lstStyle>
          <a:p>
            <a:pPr marL="0" marR="0" indent="0" algn="l">
              <a:lnSpc>
                <a:spcPts val="2000"/>
              </a:lnSpc>
              <a:spcAft>
                <a:spcPts val="0"/>
              </a:spcAft>
              <a:tabLst>
                <a:tab pos="5410200" algn="r"/>
              </a:tabLst>
            </a:pPr>
            <a:r>
              <a:rPr lang="en-US" sz="1512" spc="-49">
                <a:solidFill>
                  <a:srgbClr val="060307"/>
                </a:solidFill>
                <a:latin typeface="Palatino Linotype" panose="22635452340000000000" pitchFamily="1"/>
              </a:rPr>
              <a:t>Music	</a:t>
            </a:r>
            <a:r>
              <a:rPr lang="en-US" sz="1512" spc="0">
                <a:solidFill>
                  <a:srgbClr val="060307"/>
                </a:solidFill>
                <a:latin typeface="Palatino Linotype" panose="22635452340000000000" pitchFamily="1"/>
              </a:rPr>
              <a:t>Photos</a:t>
            </a:r>
          </a:p>
        </p:txBody>
      </p:sp>
      <p:sp>
        <p:nvSpPr>
          <p:cNvPr id="12" name="Text Placeholder 11"/>
          <p:cNvSpPr>
            <a:spLocks noGrp="1"/>
          </p:cNvSpPr>
          <p:nvPr>
            <p:ph type="body" idx="10"/>
          </p:nvPr>
        </p:nvSpPr>
        <p:spPr>
          <a:xfrm>
            <a:off x="4057155" y="3868341"/>
            <a:ext cx="834526" cy="452289"/>
          </a:xfrm>
          <a:prstGeom prst="rect">
            <a:avLst/>
          </a:prstGeom>
          <a:noFill/>
          <a:ln w="0" cmpd="sng">
            <a:noFill/>
            <a:prstDash val="solid"/>
          </a:ln>
        </p:spPr>
        <p:txBody>
          <a:bodyPr lIns="0" tIns="0" rIns="0" bIns="0" anchor="t"/>
          <a:lstStyle>
            <a:lvl1pPr marL="0" marR="0" indent="0" algn="ctr">
              <a:lnSpc>
                <a:spcPct val="98879"/>
              </a:lnSpc>
              <a:spcBef>
                <a:spcPts val="0"/>
              </a:spcBef>
              <a:spcAft>
                <a:spcPts val="0"/>
              </a:spcAft>
              <a:defRPr/>
            </a:lvl1pPr>
          </a:lstStyle>
          <a:p>
            <a:pPr marL="0" marR="0" indent="0" algn="ctr">
              <a:lnSpc>
                <a:spcPts val="2000"/>
              </a:lnSpc>
              <a:spcAft>
                <a:spcPts val="0"/>
              </a:spcAft>
            </a:pPr>
            <a:r>
              <a:rPr lang="en-US" sz="1512" spc="-42">
                <a:solidFill>
                  <a:srgbClr val="060307"/>
                </a:solidFill>
                <a:latin typeface="Palatino Linotype" panose="22635452340000000000" pitchFamily="1"/>
              </a:rPr>
              <a:t>Protein</a:t>
            </a:r>
          </a:p>
          <a:p>
            <a:pPr marL="0" marR="0" indent="0" algn="ctr">
              <a:lnSpc>
                <a:spcPct val="98879"/>
              </a:lnSpc>
              <a:spcBef>
                <a:spcPts val="0"/>
              </a:spcBef>
              <a:spcAft>
                <a:spcPts val="0"/>
              </a:spcAft>
            </a:pPr>
            <a:r>
              <a:rPr lang="en-US" sz="1512" spc="-28">
                <a:solidFill>
                  <a:srgbClr val="060307"/>
                </a:solidFill>
                <a:latin typeface="Palatino Linotype" panose="22635452340000000000" pitchFamily="1"/>
              </a:rPr>
              <a:t>Shapes</a:t>
            </a:r>
          </a:p>
        </p:txBody>
      </p:sp>
      <p:sp>
        <p:nvSpPr>
          <p:cNvPr id="13" name="Text Placeholder 12"/>
          <p:cNvSpPr>
            <a:spLocks noGrp="1"/>
          </p:cNvSpPr>
          <p:nvPr>
            <p:ph type="body" idx="10"/>
          </p:nvPr>
        </p:nvSpPr>
        <p:spPr>
          <a:xfrm>
            <a:off x="863098" y="4688979"/>
            <a:ext cx="5562516" cy="589359"/>
          </a:xfrm>
          <a:prstGeom prst="rect">
            <a:avLst/>
          </a:prstGeom>
          <a:noFill/>
          <a:ln w="0" cmpd="sng">
            <a:noFill/>
            <a:prstDash val="solid"/>
          </a:ln>
        </p:spPr>
        <p:txBody>
          <a:bodyPr lIns="0" tIns="0" rIns="0" bIns="0" anchor="t"/>
          <a:lstStyle>
            <a:lvl1pPr marL="0" marR="0" indent="0" algn="just">
              <a:lnSpc>
                <a:spcPts val="914"/>
              </a:lnSpc>
              <a:spcAft>
                <a:spcPts val="0"/>
              </a:spcAft>
              <a:defRPr/>
            </a:lvl1pPr>
          </a:lstStyle>
          <a:p>
            <a:pPr marL="0" marR="0" indent="0" algn="just">
              <a:lnSpc>
                <a:spcPts val="1300"/>
              </a:lnSpc>
              <a:spcAft>
                <a:spcPts val="0"/>
              </a:spcAft>
            </a:pPr>
            <a:r>
              <a:rPr lang="en-US" sz="844" spc="-21">
                <a:solidFill>
                  <a:srgbClr val="060307"/>
                </a:solidFill>
                <a:latin typeface="Courier New" panose="22635452340000000000" pitchFamily="3"/>
              </a:rPr>
              <a:t>gatcttttta tttaaacgat ctctttatta gatctcttat taggatcatg atcctctgtg gataagtgat tattcacatg gcagatcata taattaagga ggatcgtttg ttgtgagtga ccggtgatcg tattgcgtat aagctgggat ctaaatggca tgttatgcac agtcactcgg cagaatcaag gttgttatgt ggatatctac tggttttacc ctgcttttaa gcatagttat </a:t>
            </a:r>
            <a:r>
              <a:rPr lang="en-US" sz="844" spc="-11">
                <a:solidFill>
                  <a:srgbClr val="060307"/>
                </a:solidFill>
                <a:latin typeface="Courier New" panose="22635452340000000000" pitchFamily="3"/>
              </a:rPr>
              <a:t>acacattcgt tcgcgcgatc tttgagctaa ttagagtaaa ttaatccaat ctttgaccca</a:t>
            </a:r>
          </a:p>
        </p:txBody>
      </p:sp>
      <p:sp>
        <p:nvSpPr>
          <p:cNvPr id="14" name="Text Placeholder 13"/>
          <p:cNvSpPr>
            <a:spLocks noGrp="1"/>
          </p:cNvSpPr>
          <p:nvPr>
            <p:ph type="body" idx="10"/>
          </p:nvPr>
        </p:nvSpPr>
        <p:spPr>
          <a:xfrm>
            <a:off x="2505960" y="5973068"/>
            <a:ext cx="7230973" cy="156270"/>
          </a:xfrm>
          <a:prstGeom prst="rect">
            <a:avLst/>
          </a:prstGeom>
          <a:noFill/>
          <a:ln w="0" cmpd="sng">
            <a:noFill/>
            <a:prstDash val="solid"/>
          </a:ln>
        </p:spPr>
        <p:txBody>
          <a:bodyPr lIns="0" tIns="0" rIns="0" bIns="0" anchor="t"/>
          <a:lstStyle>
            <a:lvl1pPr marL="0" marR="0" indent="0" algn="ctr">
              <a:lnSpc>
                <a:spcPts val="1406"/>
              </a:lnSpc>
              <a:spcAft>
                <a:spcPts val="0"/>
              </a:spcAft>
              <a:defRPr/>
            </a:lvl1pPr>
          </a:lstStyle>
          <a:p>
            <a:pPr marL="0" marR="0" indent="0" algn="ctr">
              <a:lnSpc>
                <a:spcPts val="2000"/>
              </a:lnSpc>
              <a:spcAft>
                <a:spcPts val="0"/>
              </a:spcAft>
            </a:pPr>
            <a:r>
              <a:rPr lang="en-US" sz="1687" spc="-14">
                <a:solidFill>
                  <a:srgbClr val="060307"/>
                </a:solidFill>
                <a:latin typeface="Gill Sans MT" panose="22635452340000000000" pitchFamily="2"/>
              </a:rPr>
              <a:t>0010101001010101010100100100101010000010010010100....</a:t>
            </a:r>
          </a:p>
        </p:txBody>
      </p:sp>
      <p:sp>
        <p:nvSpPr>
          <p:cNvPr id="15" name="Text Placeholder 14"/>
          <p:cNvSpPr>
            <a:spLocks noGrp="1"/>
          </p:cNvSpPr>
          <p:nvPr>
            <p:ph type="body" idx="10"/>
          </p:nvPr>
        </p:nvSpPr>
        <p:spPr>
          <a:xfrm>
            <a:off x="797026" y="525066"/>
            <a:ext cx="2397031" cy="319236"/>
          </a:xfrm>
          <a:prstGeom prst="rect">
            <a:avLst/>
          </a:prstGeom>
          <a:noFill/>
          <a:ln w="0" cmpd="sng">
            <a:noFill/>
            <a:prstDash val="solid"/>
          </a:ln>
        </p:spPr>
        <p:txBody>
          <a:bodyPr lIns="0" tIns="0" rIns="0" bIns="0" anchor="t"/>
          <a:lstStyle>
            <a:lvl1pPr marL="0" marR="0" indent="0" algn="ctr">
              <a:lnSpc>
                <a:spcPct val="72959"/>
              </a:lnSpc>
              <a:spcAft>
                <a:spcPts val="0"/>
              </a:spcAft>
              <a:defRPr/>
            </a:lvl1pPr>
          </a:lstStyle>
          <a:p>
            <a:pPr marL="0" marR="0" indent="0" algn="ctr">
              <a:lnSpc>
                <a:spcPct val="72959"/>
              </a:lnSpc>
              <a:spcAft>
                <a:spcPts val="0"/>
              </a:spcAft>
            </a:pPr>
            <a:r>
              <a:rPr lang="en-US" sz="2426" b="1" spc="-32">
                <a:solidFill>
                  <a:srgbClr val="010383"/>
                </a:solidFill>
                <a:latin typeface="Palatino Linotype" panose="22635452340000000000" pitchFamily="1"/>
              </a:rPr>
              <a:t>Digital Data</a:t>
            </a:r>
          </a:p>
        </p:txBody>
      </p:sp>
      <p:sp>
        <p:nvSpPr>
          <p:cNvPr id="16" name="Text Placeholder 15"/>
          <p:cNvSpPr>
            <a:spLocks noGrp="1"/>
          </p:cNvSpPr>
          <p:nvPr>
            <p:ph type="body" idx="10"/>
          </p:nvPr>
        </p:nvSpPr>
        <p:spPr>
          <a:xfrm>
            <a:off x="2048815" y="3193256"/>
            <a:ext cx="842860" cy="141536"/>
          </a:xfrm>
          <a:prstGeom prst="rect">
            <a:avLst/>
          </a:prstGeom>
          <a:noFill/>
          <a:ln w="0" cmpd="sng">
            <a:noFill/>
            <a:prstDash val="solid"/>
          </a:ln>
        </p:spPr>
        <p:txBody>
          <a:bodyPr lIns="0" tIns="0" rIns="0" bIns="0" anchor="t"/>
          <a:lstStyle>
            <a:lvl1pPr marL="0" marR="0" indent="0" algn="ctr">
              <a:lnSpc>
                <a:spcPts val="1266"/>
              </a:lnSpc>
              <a:spcAft>
                <a:spcPts val="0"/>
              </a:spcAft>
              <a:defRPr/>
            </a:lvl1pPr>
          </a:lstStyle>
          <a:p>
            <a:pPr marL="0" marR="0" indent="0" algn="ctr">
              <a:lnSpc>
                <a:spcPts val="1800"/>
              </a:lnSpc>
              <a:spcAft>
                <a:spcPts val="0"/>
              </a:spcAft>
            </a:pPr>
            <a:r>
              <a:rPr lang="en-US" sz="1512" spc="-46">
                <a:solidFill>
                  <a:srgbClr val="060307"/>
                </a:solidFill>
                <a:latin typeface="Palatino Linotype" panose="22635452340000000000" pitchFamily="1"/>
              </a:rPr>
              <a:t>Movies</a:t>
            </a:r>
          </a:p>
        </p:txBody>
      </p:sp>
      <p:sp>
        <p:nvSpPr>
          <p:cNvPr id="17" name="Text Placeholder 16"/>
          <p:cNvSpPr>
            <a:spLocks noGrp="1"/>
          </p:cNvSpPr>
          <p:nvPr>
            <p:ph type="body" idx="10"/>
          </p:nvPr>
        </p:nvSpPr>
        <p:spPr>
          <a:xfrm>
            <a:off x="1079765" y="4423321"/>
            <a:ext cx="620240" cy="146000"/>
          </a:xfrm>
          <a:prstGeom prst="rect">
            <a:avLst/>
          </a:prstGeom>
          <a:noFill/>
          <a:ln w="0" cmpd="sng">
            <a:noFill/>
            <a:prstDash val="solid"/>
          </a:ln>
        </p:spPr>
        <p:txBody>
          <a:bodyPr lIns="0" tIns="0" rIns="0" bIns="0" anchor="t"/>
          <a:lstStyle>
            <a:lvl1pPr marL="0" marR="0" indent="0" algn="ctr">
              <a:lnSpc>
                <a:spcPts val="1336"/>
              </a:lnSpc>
              <a:spcAft>
                <a:spcPts val="0"/>
              </a:spcAft>
              <a:defRPr/>
            </a:lvl1pPr>
          </a:lstStyle>
          <a:p>
            <a:pPr marL="0" marR="0" indent="0" algn="ctr">
              <a:lnSpc>
                <a:spcPts val="1900"/>
              </a:lnSpc>
              <a:spcAft>
                <a:spcPts val="0"/>
              </a:spcAft>
            </a:pPr>
            <a:r>
              <a:rPr lang="en-US" sz="1512" spc="-53">
                <a:solidFill>
                  <a:srgbClr val="060307"/>
                </a:solidFill>
                <a:latin typeface="Palatino Linotype" panose="22635452340000000000" pitchFamily="1"/>
              </a:rPr>
              <a:t>DNA</a:t>
            </a:r>
          </a:p>
        </p:txBody>
      </p:sp>
      <p:sp>
        <p:nvSpPr>
          <p:cNvPr id="18" name="Text Placeholder 17"/>
          <p:cNvSpPr>
            <a:spLocks noGrp="1"/>
          </p:cNvSpPr>
          <p:nvPr>
            <p:ph type="body" idx="10"/>
          </p:nvPr>
        </p:nvSpPr>
        <p:spPr>
          <a:xfrm>
            <a:off x="9331575" y="4817567"/>
            <a:ext cx="639883" cy="195114"/>
          </a:xfrm>
          <a:prstGeom prst="rect">
            <a:avLst/>
          </a:prstGeom>
          <a:noFill/>
          <a:ln w="0" cmpd="sng">
            <a:noFill/>
            <a:prstDash val="solid"/>
          </a:ln>
        </p:spPr>
        <p:txBody>
          <a:bodyPr lIns="0" tIns="0" rIns="0" bIns="0" anchor="t"/>
          <a:lstStyle>
            <a:lvl1pPr marL="0" marR="0" indent="0" algn="ctr">
              <a:lnSpc>
                <a:spcPct val="71999"/>
              </a:lnSpc>
              <a:spcAft>
                <a:spcPts val="0"/>
              </a:spcAft>
              <a:defRPr/>
            </a:lvl1pPr>
          </a:lstStyle>
          <a:p>
            <a:pPr marL="0" marR="0" indent="0" algn="ctr">
              <a:lnSpc>
                <a:spcPct val="71999"/>
              </a:lnSpc>
              <a:spcAft>
                <a:spcPts val="0"/>
              </a:spcAft>
            </a:pPr>
            <a:r>
              <a:rPr lang="en-US" sz="1512" spc="-49">
                <a:solidFill>
                  <a:srgbClr val="060307"/>
                </a:solidFill>
                <a:latin typeface="Palatino Linotype" panose="22635452340000000000" pitchFamily="1"/>
              </a:rPr>
              <a:t>Maps</a:t>
            </a:r>
          </a:p>
        </p:txBody>
      </p:sp>
    </p:spTree>
    <p:extLst>
      <p:ext uri="{BB962C8B-B14F-4D97-AF65-F5344CB8AC3E}">
        <p14:creationId xmlns:p14="http://schemas.microsoft.com/office/powerpoint/2010/main" val="18824641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1_">
    <p:spTree>
      <p:nvGrpSpPr>
        <p:cNvPr id="1" name=""/>
        <p:cNvGrpSpPr/>
        <p:nvPr/>
      </p:nvGrpSpPr>
      <p:grpSpPr>
        <a:xfrm>
          <a:off x="0" y="0"/>
          <a:ext cx="0" cy="0"/>
          <a:chOff x="0" y="0"/>
          <a:chExt cx="0" cy="0"/>
        </a:xfrm>
      </p:grpSpPr>
      <p:sp>
        <p:nvSpPr>
          <p:cNvPr id="23" name="Text Placeholder 22"/>
          <p:cNvSpPr>
            <a:spLocks noGrp="1"/>
          </p:cNvSpPr>
          <p:nvPr>
            <p:ph type="body" idx="10"/>
          </p:nvPr>
        </p:nvSpPr>
        <p:spPr>
          <a:xfrm>
            <a:off x="802979" y="490687"/>
            <a:ext cx="5322634" cy="319236"/>
          </a:xfrm>
          <a:prstGeom prst="rect">
            <a:avLst/>
          </a:prstGeom>
          <a:noFill/>
          <a:ln w="0" cmpd="sng">
            <a:noFill/>
            <a:prstDash val="solid"/>
          </a:ln>
        </p:spPr>
        <p:txBody>
          <a:bodyPr lIns="0" tIns="0" rIns="0" bIns="0" anchor="t"/>
          <a:lstStyle>
            <a:lvl1pPr marL="0" marR="0" indent="0" algn="ctr">
              <a:lnSpc>
                <a:spcPct val="71999"/>
              </a:lnSpc>
              <a:spcAft>
                <a:spcPts val="0"/>
              </a:spcAft>
              <a:defRPr/>
            </a:lvl1pPr>
          </a:lstStyle>
          <a:p>
            <a:pPr marL="0" marR="0" indent="0" algn="ctr">
              <a:lnSpc>
                <a:spcPct val="71999"/>
              </a:lnSpc>
              <a:spcAft>
                <a:spcPts val="0"/>
              </a:spcAft>
            </a:pPr>
            <a:r>
              <a:rPr lang="en-US" sz="2461" b="1" spc="-28">
                <a:solidFill>
                  <a:srgbClr val="000080"/>
                </a:solidFill>
                <a:latin typeface="Palatino Linotype" panose="22635452340000000000" pitchFamily="1"/>
              </a:rPr>
              <a:t>RAM = Symbols + Pointers</a:t>
            </a:r>
          </a:p>
        </p:txBody>
      </p:sp>
      <p:sp>
        <p:nvSpPr>
          <p:cNvPr id="24" name="Text Placeholder 23"/>
          <p:cNvSpPr>
            <a:spLocks noGrp="1"/>
          </p:cNvSpPr>
          <p:nvPr>
            <p:ph type="body" idx="10"/>
          </p:nvPr>
        </p:nvSpPr>
        <p:spPr>
          <a:xfrm>
            <a:off x="851193" y="857250"/>
            <a:ext cx="2280364" cy="227261"/>
          </a:xfrm>
          <a:prstGeom prst="rect">
            <a:avLst/>
          </a:prstGeom>
          <a:noFill/>
          <a:ln w="0" cmpd="sng">
            <a:noFill/>
            <a:prstDash val="solid"/>
          </a:ln>
        </p:spPr>
        <p:txBody>
          <a:bodyPr lIns="0" tIns="0" rIns="0" bIns="0" anchor="t"/>
          <a:lstStyle>
            <a:lvl1pPr marL="0" marR="0" indent="0" algn="ctr">
              <a:lnSpc>
                <a:spcPct val="78719"/>
              </a:lnSpc>
              <a:spcAft>
                <a:spcPts val="0"/>
              </a:spcAft>
              <a:defRPr/>
            </a:lvl1pPr>
          </a:lstStyle>
          <a:p>
            <a:pPr marL="0" marR="0" indent="0" algn="ctr">
              <a:lnSpc>
                <a:spcPct val="78719"/>
              </a:lnSpc>
              <a:spcAft>
                <a:spcPts val="0"/>
              </a:spcAft>
            </a:pPr>
            <a:r>
              <a:rPr lang="en-US" sz="1617" spc="-28">
                <a:solidFill>
                  <a:srgbClr val="000000"/>
                </a:solidFill>
                <a:latin typeface="Palatino Linotype" panose="22635452340000000000" pitchFamily="1"/>
              </a:rPr>
              <a:t>(for our purposes)</a:t>
            </a:r>
          </a:p>
        </p:txBody>
      </p:sp>
      <p:sp>
        <p:nvSpPr>
          <p:cNvPr id="25" name="Text Placeholder 24"/>
          <p:cNvSpPr>
            <a:spLocks noGrp="1"/>
          </p:cNvSpPr>
          <p:nvPr>
            <p:ph type="body" idx="10"/>
          </p:nvPr>
        </p:nvSpPr>
        <p:spPr>
          <a:xfrm>
            <a:off x="3411320" y="2342257"/>
            <a:ext cx="1174408" cy="122337"/>
          </a:xfrm>
          <a:prstGeom prst="rect">
            <a:avLst/>
          </a:prstGeom>
          <a:noFill/>
          <a:ln w="0" cmpd="sng">
            <a:noFill/>
            <a:prstDash val="solid"/>
          </a:ln>
        </p:spPr>
        <p:txBody>
          <a:bodyPr lIns="0" tIns="0" rIns="0" bIns="0" anchor="t"/>
          <a:lstStyle>
            <a:lvl1pPr marL="0" marR="0" indent="0" algn="ctr">
              <a:lnSpc>
                <a:spcPts val="1125"/>
              </a:lnSpc>
              <a:spcAft>
                <a:spcPts val="0"/>
              </a:spcAft>
              <a:defRPr/>
            </a:lvl1pPr>
          </a:lstStyle>
          <a:p>
            <a:pPr marL="0" marR="0" indent="0" algn="ctr">
              <a:lnSpc>
                <a:spcPts val="1600"/>
              </a:lnSpc>
              <a:spcAft>
                <a:spcPts val="0"/>
              </a:spcAft>
            </a:pPr>
            <a:r>
              <a:rPr lang="en-US" sz="1266" spc="-53">
                <a:solidFill>
                  <a:srgbClr val="000000"/>
                </a:solidFill>
                <a:latin typeface="Palatino Linotype" panose="22635452340000000000" pitchFamily="1"/>
              </a:rPr>
              <a:t>16-bit words</a:t>
            </a:r>
          </a:p>
        </p:txBody>
      </p:sp>
      <p:sp>
        <p:nvSpPr>
          <p:cNvPr id="26" name="Text Placeholder 25"/>
          <p:cNvSpPr>
            <a:spLocks noGrp="1"/>
          </p:cNvSpPr>
          <p:nvPr>
            <p:ph type="body" idx="10"/>
          </p:nvPr>
        </p:nvSpPr>
        <p:spPr>
          <a:xfrm>
            <a:off x="2985723" y="2616845"/>
            <a:ext cx="2017268" cy="107156"/>
          </a:xfrm>
          <a:prstGeom prst="rect">
            <a:avLst/>
          </a:prstGeom>
          <a:noFill/>
          <a:ln w="0" cmpd="sng">
            <a:noFill/>
            <a:prstDash val="solid"/>
          </a:ln>
        </p:spPr>
        <p:txBody>
          <a:bodyPr lIns="0" tIns="0" rIns="0" bIns="0" anchor="t"/>
          <a:lstStyle>
            <a:lvl1pPr marL="0" marR="0" indent="0" algn="l">
              <a:lnSpc>
                <a:spcPts val="984"/>
              </a:lnSpc>
              <a:spcAft>
                <a:spcPts val="0"/>
              </a:spcAft>
              <a:defRPr/>
            </a:lvl1pPr>
          </a:lstStyle>
          <a:p>
            <a:pPr marL="0" marR="0" indent="0" algn="l">
              <a:lnSpc>
                <a:spcPts val="1400"/>
              </a:lnSpc>
              <a:spcAft>
                <a:spcPts val="0"/>
              </a:spcAft>
            </a:pPr>
            <a:r>
              <a:rPr lang="en-US" sz="1266" spc="-70">
                <a:solidFill>
                  <a:srgbClr val="000000"/>
                </a:solidFill>
                <a:latin typeface="Courier New" panose="22635452340000000000" pitchFamily="3"/>
              </a:rPr>
              <a:t>0100101001111011</a:t>
            </a:r>
          </a:p>
        </p:txBody>
      </p:sp>
      <p:sp>
        <p:nvSpPr>
          <p:cNvPr id="27" name="Text Placeholder 26"/>
          <p:cNvSpPr>
            <a:spLocks noGrp="1"/>
          </p:cNvSpPr>
          <p:nvPr>
            <p:ph type="body" idx="10"/>
          </p:nvPr>
        </p:nvSpPr>
        <p:spPr>
          <a:xfrm>
            <a:off x="2985723" y="2901702"/>
            <a:ext cx="2017268" cy="107156"/>
          </a:xfrm>
          <a:prstGeom prst="rect">
            <a:avLst/>
          </a:prstGeom>
          <a:noFill/>
          <a:ln w="0" cmpd="sng">
            <a:noFill/>
            <a:prstDash val="solid"/>
          </a:ln>
        </p:spPr>
        <p:txBody>
          <a:bodyPr lIns="0" tIns="0" rIns="0" bIns="0" anchor="t"/>
          <a:lstStyle>
            <a:lvl1pPr marL="0" marR="0" indent="0" algn="l">
              <a:lnSpc>
                <a:spcPts val="984"/>
              </a:lnSpc>
              <a:spcAft>
                <a:spcPts val="0"/>
              </a:spcAft>
              <a:defRPr/>
            </a:lvl1pPr>
          </a:lstStyle>
          <a:p>
            <a:pPr marL="0" marR="0" indent="0" algn="l">
              <a:lnSpc>
                <a:spcPts val="1400"/>
              </a:lnSpc>
              <a:spcAft>
                <a:spcPts val="0"/>
              </a:spcAft>
            </a:pPr>
            <a:r>
              <a:rPr lang="en-US" sz="1266" spc="-151">
                <a:solidFill>
                  <a:srgbClr val="000000"/>
                </a:solidFill>
                <a:latin typeface="Courier New" panose="22635452340000000000" pitchFamily="3"/>
              </a:rPr>
              <a:t>01101110 10 100000</a:t>
            </a:r>
          </a:p>
        </p:txBody>
      </p:sp>
      <p:sp>
        <p:nvSpPr>
          <p:cNvPr id="28" name="Text Placeholder 27"/>
          <p:cNvSpPr>
            <a:spLocks noGrp="1"/>
          </p:cNvSpPr>
          <p:nvPr>
            <p:ph type="body" idx="10"/>
          </p:nvPr>
        </p:nvSpPr>
        <p:spPr>
          <a:xfrm>
            <a:off x="2985723" y="3188792"/>
            <a:ext cx="2017268" cy="107156"/>
          </a:xfrm>
          <a:prstGeom prst="rect">
            <a:avLst/>
          </a:prstGeom>
          <a:noFill/>
          <a:ln w="0" cmpd="sng">
            <a:noFill/>
            <a:prstDash val="solid"/>
          </a:ln>
        </p:spPr>
        <p:txBody>
          <a:bodyPr lIns="0" tIns="0" rIns="0" bIns="0" anchor="t"/>
          <a:lstStyle>
            <a:lvl1pPr marL="0" marR="0" indent="0" algn="l">
              <a:lnSpc>
                <a:spcPts val="984"/>
              </a:lnSpc>
              <a:spcAft>
                <a:spcPts val="0"/>
              </a:spcAft>
              <a:defRPr/>
            </a:lvl1pPr>
          </a:lstStyle>
          <a:p>
            <a:pPr marL="0" marR="0" indent="0" algn="l">
              <a:lnSpc>
                <a:spcPts val="1400"/>
              </a:lnSpc>
              <a:spcAft>
                <a:spcPts val="0"/>
              </a:spcAft>
            </a:pPr>
            <a:r>
              <a:rPr lang="en-US" sz="1266" spc="-218">
                <a:solidFill>
                  <a:srgbClr val="000000"/>
                </a:solidFill>
                <a:latin typeface="Courier New" panose="22635452340000000000" pitchFamily="3"/>
              </a:rPr>
              <a:t>00 10000 100 1000 11</a:t>
            </a:r>
          </a:p>
        </p:txBody>
      </p:sp>
      <p:sp>
        <p:nvSpPr>
          <p:cNvPr id="29" name="Text Placeholder 28"/>
          <p:cNvSpPr>
            <a:spLocks noGrp="1"/>
          </p:cNvSpPr>
          <p:nvPr>
            <p:ph type="body" idx="10"/>
          </p:nvPr>
        </p:nvSpPr>
        <p:spPr>
          <a:xfrm>
            <a:off x="2991676" y="3474095"/>
            <a:ext cx="2011315" cy="107156"/>
          </a:xfrm>
          <a:prstGeom prst="rect">
            <a:avLst/>
          </a:prstGeom>
          <a:noFill/>
          <a:ln w="0" cmpd="sng">
            <a:noFill/>
            <a:prstDash val="solid"/>
          </a:ln>
        </p:spPr>
        <p:txBody>
          <a:bodyPr lIns="0" tIns="0" rIns="0" bIns="0" anchor="t"/>
          <a:lstStyle>
            <a:lvl1pPr marL="0" marR="0" indent="0" algn="l">
              <a:lnSpc>
                <a:spcPts val="984"/>
              </a:lnSpc>
              <a:spcAft>
                <a:spcPts val="0"/>
              </a:spcAft>
              <a:defRPr/>
            </a:lvl1pPr>
          </a:lstStyle>
          <a:p>
            <a:pPr marL="0" marR="0" indent="0" algn="l">
              <a:lnSpc>
                <a:spcPts val="1400"/>
              </a:lnSpc>
              <a:spcAft>
                <a:spcPts val="0"/>
              </a:spcAft>
            </a:pPr>
            <a:r>
              <a:rPr lang="en-US" sz="1266" spc="-221">
                <a:solidFill>
                  <a:srgbClr val="000000"/>
                </a:solidFill>
                <a:latin typeface="Courier New" panose="22635452340000000000" pitchFamily="3"/>
              </a:rPr>
              <a:t>10000 1000 10 1000 1</a:t>
            </a:r>
          </a:p>
        </p:txBody>
      </p:sp>
      <p:sp>
        <p:nvSpPr>
          <p:cNvPr id="30" name="Text Placeholder 29"/>
          <p:cNvSpPr>
            <a:spLocks noGrp="1"/>
          </p:cNvSpPr>
          <p:nvPr>
            <p:ph type="body" idx="10"/>
          </p:nvPr>
        </p:nvSpPr>
        <p:spPr>
          <a:xfrm>
            <a:off x="5611326" y="3591967"/>
            <a:ext cx="2345840" cy="786259"/>
          </a:xfrm>
          <a:prstGeom prst="rect">
            <a:avLst/>
          </a:prstGeom>
          <a:noFill/>
          <a:ln w="0" cmpd="sng">
            <a:noFill/>
            <a:prstDash val="solid"/>
          </a:ln>
        </p:spPr>
        <p:txBody>
          <a:bodyPr lIns="0" tIns="0" rIns="0" bIns="0" anchor="t"/>
          <a:lstStyle>
            <a:lvl1pPr marL="0" marR="0" indent="0" algn="l">
              <a:lnSpc>
                <a:spcPct val="90239"/>
              </a:lnSpc>
              <a:spcBef>
                <a:spcPts val="0"/>
              </a:spcBef>
              <a:spcAft>
                <a:spcPts val="0"/>
              </a:spcAft>
              <a:defRPr/>
            </a:lvl1pPr>
          </a:lstStyle>
          <a:p>
            <a:pPr marL="0" marR="0" indent="0" algn="l">
              <a:lnSpc>
                <a:spcPct val="84479"/>
              </a:lnSpc>
              <a:spcAft>
                <a:spcPts val="0"/>
              </a:spcAft>
            </a:pPr>
            <a:r>
              <a:rPr lang="en-US" sz="1617" spc="0">
                <a:solidFill>
                  <a:srgbClr val="000000"/>
                </a:solidFill>
                <a:latin typeface="Palatino Linotype" panose="22635452340000000000" pitchFamily="1"/>
              </a:rPr>
              <a:t>We may agree to</a:t>
            </a:r>
          </a:p>
          <a:p>
            <a:pPr marL="0" marR="0" indent="0" algn="ctr">
              <a:lnSpc>
                <a:spcPct val="95999"/>
              </a:lnSpc>
              <a:spcBef>
                <a:spcPts val="0"/>
              </a:spcBef>
              <a:spcAft>
                <a:spcPts val="0"/>
              </a:spcAft>
            </a:pPr>
            <a:r>
              <a:rPr lang="en-US" sz="1617" spc="-21">
                <a:solidFill>
                  <a:srgbClr val="000000"/>
                </a:solidFill>
                <a:latin typeface="Palatino Linotype" panose="22635452340000000000" pitchFamily="1"/>
              </a:rPr>
              <a:t>interpret bits as an</a:t>
            </a:r>
          </a:p>
          <a:p>
            <a:pPr marL="0" marR="0" indent="0" algn="l">
              <a:lnSpc>
                <a:spcPct val="90239"/>
              </a:lnSpc>
              <a:spcBef>
                <a:spcPts val="0"/>
              </a:spcBef>
              <a:spcAft>
                <a:spcPts val="0"/>
              </a:spcAft>
            </a:pPr>
            <a:r>
              <a:rPr lang="en-US" sz="1617" spc="0">
                <a:solidFill>
                  <a:srgbClr val="000000"/>
                </a:solidFill>
                <a:latin typeface="Palatino Linotype" panose="22635452340000000000" pitchFamily="1"/>
              </a:rPr>
              <a:t>address (pointer)</a:t>
            </a:r>
          </a:p>
        </p:txBody>
      </p:sp>
      <p:sp>
        <p:nvSpPr>
          <p:cNvPr id="31" name="Text Placeholder 30"/>
          <p:cNvSpPr>
            <a:spLocks noGrp="1"/>
          </p:cNvSpPr>
          <p:nvPr>
            <p:ph type="body" idx="10"/>
          </p:nvPr>
        </p:nvSpPr>
        <p:spPr>
          <a:xfrm>
            <a:off x="2991676" y="4616202"/>
            <a:ext cx="2011315" cy="104924"/>
          </a:xfrm>
          <a:prstGeom prst="rect">
            <a:avLst/>
          </a:prstGeom>
          <a:noFill/>
          <a:ln w="0" cmpd="sng">
            <a:noFill/>
            <a:prstDash val="solid"/>
          </a:ln>
        </p:spPr>
        <p:txBody>
          <a:bodyPr lIns="0" tIns="0" rIns="0" bIns="0" anchor="t"/>
          <a:lstStyle>
            <a:lvl1pPr marL="0" marR="0" indent="0" algn="l">
              <a:lnSpc>
                <a:spcPts val="914"/>
              </a:lnSpc>
              <a:spcAft>
                <a:spcPts val="0"/>
              </a:spcAft>
              <a:defRPr/>
            </a:lvl1pPr>
          </a:lstStyle>
          <a:p>
            <a:pPr marL="0" marR="0" indent="0" algn="l">
              <a:lnSpc>
                <a:spcPts val="1300"/>
              </a:lnSpc>
              <a:spcAft>
                <a:spcPts val="0"/>
              </a:spcAft>
            </a:pPr>
            <a:r>
              <a:rPr lang="en-US" sz="1266" spc="-70">
                <a:solidFill>
                  <a:srgbClr val="000000"/>
                </a:solidFill>
                <a:latin typeface="Courier New" panose="22635452340000000000" pitchFamily="3"/>
              </a:rPr>
              <a:t>1111111111111111</a:t>
            </a:r>
          </a:p>
        </p:txBody>
      </p:sp>
      <p:sp>
        <p:nvSpPr>
          <p:cNvPr id="32" name="Text Placeholder 31"/>
          <p:cNvSpPr>
            <a:spLocks noGrp="1"/>
          </p:cNvSpPr>
          <p:nvPr>
            <p:ph type="body" idx="10"/>
          </p:nvPr>
        </p:nvSpPr>
        <p:spPr>
          <a:xfrm>
            <a:off x="2582745" y="2606130"/>
            <a:ext cx="200001" cy="2114996"/>
          </a:xfrm>
          <a:prstGeom prst="rect">
            <a:avLst/>
          </a:prstGeom>
          <a:noFill/>
          <a:ln w="0" cmpd="sng">
            <a:noFill/>
            <a:prstDash val="solid"/>
          </a:ln>
        </p:spPr>
        <p:txBody>
          <a:bodyPr lIns="0" tIns="0" rIns="0" bIns="0" anchor="t"/>
          <a:lstStyle>
            <a:lvl1pPr marL="0" marR="0" indent="0" algn="ctr">
              <a:lnSpc>
                <a:spcPts val="1617"/>
              </a:lnSpc>
              <a:spcBef>
                <a:spcPts val="759"/>
              </a:spcBef>
              <a:spcAft>
                <a:spcPts val="0"/>
              </a:spcAft>
              <a:defRPr/>
            </a:lvl1pPr>
          </a:lstStyle>
          <a:p>
            <a:pPr marL="0" marR="0" indent="0" algn="r">
              <a:lnSpc>
                <a:spcPts val="1700"/>
              </a:lnSpc>
              <a:spcAft>
                <a:spcPts val="0"/>
              </a:spcAft>
            </a:pPr>
            <a:r>
              <a:rPr lang="en-US" sz="1266" spc="0">
                <a:solidFill>
                  <a:srgbClr val="000000"/>
                </a:solidFill>
                <a:latin typeface="Palatino Linotype" panose="22635452340000000000" pitchFamily="1"/>
              </a:rPr>
              <a:t>0</a:t>
            </a:r>
          </a:p>
          <a:p>
            <a:pPr marL="0" marR="0" indent="0" algn="r">
              <a:lnSpc>
                <a:spcPts val="2300"/>
              </a:lnSpc>
              <a:spcBef>
                <a:spcPts val="1080"/>
              </a:spcBef>
              <a:spcAft>
                <a:spcPts val="0"/>
              </a:spcAft>
            </a:pPr>
            <a:r>
              <a:rPr lang="en-US" sz="1266" spc="0">
                <a:solidFill>
                  <a:srgbClr val="000000"/>
                </a:solidFill>
                <a:latin typeface="Palatino Linotype" panose="22635452340000000000" pitchFamily="1"/>
              </a:rPr>
              <a:t>2</a:t>
            </a:r>
          </a:p>
          <a:p>
            <a:pPr marL="0" marR="0" indent="0" algn="r">
              <a:lnSpc>
                <a:spcPts val="2300"/>
              </a:lnSpc>
              <a:spcBef>
                <a:spcPts val="1080"/>
              </a:spcBef>
              <a:spcAft>
                <a:spcPts val="0"/>
              </a:spcAft>
            </a:pPr>
            <a:r>
              <a:rPr lang="en-US" sz="1266" spc="0">
                <a:solidFill>
                  <a:srgbClr val="000000"/>
                </a:solidFill>
                <a:latin typeface="Palatino Linotype" panose="22635452340000000000" pitchFamily="1"/>
              </a:rPr>
              <a:t>4</a:t>
            </a:r>
          </a:p>
          <a:p>
            <a:pPr marL="0" marR="0" indent="0" algn="r">
              <a:lnSpc>
                <a:spcPts val="2300"/>
              </a:lnSpc>
              <a:spcBef>
                <a:spcPts val="1260"/>
              </a:spcBef>
              <a:spcAft>
                <a:spcPts val="0"/>
              </a:spcAft>
            </a:pPr>
            <a:r>
              <a:rPr lang="en-US" sz="1266" spc="0">
                <a:solidFill>
                  <a:srgbClr val="000000"/>
                </a:solidFill>
                <a:latin typeface="Palatino Linotype" panose="22635452340000000000" pitchFamily="1"/>
              </a:rPr>
              <a:t>6</a:t>
            </a:r>
          </a:p>
          <a:p>
            <a:pPr marL="0" marR="0" indent="0" algn="r">
              <a:lnSpc>
                <a:spcPts val="2300"/>
              </a:lnSpc>
              <a:spcBef>
                <a:spcPts val="1080"/>
              </a:spcBef>
              <a:spcAft>
                <a:spcPts val="0"/>
              </a:spcAft>
            </a:pPr>
            <a:r>
              <a:rPr lang="en-US" sz="1266" spc="0">
                <a:solidFill>
                  <a:srgbClr val="000000"/>
                </a:solidFill>
                <a:latin typeface="Palatino Linotype" panose="22635452340000000000" pitchFamily="1"/>
              </a:rPr>
              <a:t>8</a:t>
            </a:r>
          </a:p>
          <a:p>
            <a:pPr marL="0" marR="0" indent="0" algn="ctr">
              <a:lnSpc>
                <a:spcPts val="2300"/>
              </a:lnSpc>
              <a:spcBef>
                <a:spcPts val="1080"/>
              </a:spcBef>
              <a:spcAft>
                <a:spcPts val="0"/>
              </a:spcAft>
            </a:pPr>
            <a:r>
              <a:rPr lang="en-US" sz="1266" spc="-91">
                <a:solidFill>
                  <a:srgbClr val="000000"/>
                </a:solidFill>
                <a:latin typeface="Palatino Linotype" panose="22635452340000000000" pitchFamily="1"/>
              </a:rPr>
              <a:t>10</a:t>
            </a:r>
          </a:p>
          <a:p>
            <a:pPr marL="0" marR="0" indent="0" algn="ctr">
              <a:lnSpc>
                <a:spcPts val="2300"/>
              </a:lnSpc>
              <a:spcBef>
                <a:spcPts val="1260"/>
              </a:spcBef>
              <a:spcAft>
                <a:spcPts val="0"/>
              </a:spcAft>
            </a:pPr>
            <a:r>
              <a:rPr lang="en-US" sz="1266" spc="-91">
                <a:solidFill>
                  <a:srgbClr val="000000"/>
                </a:solidFill>
                <a:latin typeface="Palatino Linotype" panose="22635452340000000000" pitchFamily="1"/>
              </a:rPr>
              <a:t>12</a:t>
            </a:r>
          </a:p>
          <a:p>
            <a:pPr marL="0" marR="0" indent="0" algn="ctr">
              <a:lnSpc>
                <a:spcPts val="2300"/>
              </a:lnSpc>
              <a:spcBef>
                <a:spcPts val="1080"/>
              </a:spcBef>
              <a:spcAft>
                <a:spcPts val="0"/>
              </a:spcAft>
            </a:pPr>
            <a:r>
              <a:rPr lang="en-US" sz="1266" spc="-91">
                <a:solidFill>
                  <a:srgbClr val="000000"/>
                </a:solidFill>
                <a:latin typeface="Palatino Linotype" panose="22635452340000000000" pitchFamily="1"/>
              </a:rPr>
              <a:t>14</a:t>
            </a:r>
          </a:p>
        </p:txBody>
      </p:sp>
      <p:sp>
        <p:nvSpPr>
          <p:cNvPr id="33" name="Text Placeholder 32"/>
          <p:cNvSpPr>
            <a:spLocks noGrp="1"/>
          </p:cNvSpPr>
          <p:nvPr>
            <p:ph type="body" idx="10"/>
          </p:nvPr>
        </p:nvSpPr>
        <p:spPr>
          <a:xfrm>
            <a:off x="2985723" y="3758952"/>
            <a:ext cx="2017268" cy="107156"/>
          </a:xfrm>
          <a:prstGeom prst="rect">
            <a:avLst/>
          </a:prstGeom>
          <a:noFill/>
          <a:ln w="0" cmpd="sng">
            <a:noFill/>
            <a:prstDash val="solid"/>
          </a:ln>
        </p:spPr>
        <p:txBody>
          <a:bodyPr lIns="0" tIns="0" rIns="0" bIns="0" anchor="t"/>
          <a:lstStyle>
            <a:lvl1pPr marL="0" marR="0" indent="0" algn="l">
              <a:lnSpc>
                <a:spcPts val="984"/>
              </a:lnSpc>
              <a:spcAft>
                <a:spcPts val="0"/>
              </a:spcAft>
              <a:defRPr/>
            </a:lvl1pPr>
          </a:lstStyle>
          <a:p>
            <a:pPr marL="0" marR="0" indent="0" algn="l">
              <a:lnSpc>
                <a:spcPts val="1400"/>
              </a:lnSpc>
              <a:spcAft>
                <a:spcPts val="0"/>
              </a:spcAft>
            </a:pPr>
            <a:r>
              <a:rPr lang="en-US" sz="1266" spc="-70">
                <a:solidFill>
                  <a:srgbClr val="000000"/>
                </a:solidFill>
                <a:latin typeface="Courier New" panose="22635452340000000000" pitchFamily="3"/>
              </a:rPr>
              <a:t>0000000000000100</a:t>
            </a:r>
          </a:p>
        </p:txBody>
      </p:sp>
      <p:sp>
        <p:nvSpPr>
          <p:cNvPr id="34" name="Text Placeholder 33"/>
          <p:cNvSpPr>
            <a:spLocks noGrp="1"/>
          </p:cNvSpPr>
          <p:nvPr>
            <p:ph type="body" idx="10"/>
          </p:nvPr>
        </p:nvSpPr>
        <p:spPr>
          <a:xfrm>
            <a:off x="2991676" y="4046042"/>
            <a:ext cx="2011315" cy="107156"/>
          </a:xfrm>
          <a:prstGeom prst="rect">
            <a:avLst/>
          </a:prstGeom>
          <a:noFill/>
          <a:ln w="0" cmpd="sng">
            <a:noFill/>
            <a:prstDash val="solid"/>
          </a:ln>
        </p:spPr>
        <p:txBody>
          <a:bodyPr lIns="0" tIns="0" rIns="0" bIns="0" anchor="t"/>
          <a:lstStyle>
            <a:lvl1pPr marL="0" marR="0" indent="0" algn="l">
              <a:lnSpc>
                <a:spcPts val="984"/>
              </a:lnSpc>
              <a:spcAft>
                <a:spcPts val="0"/>
              </a:spcAft>
              <a:defRPr/>
            </a:lvl1pPr>
          </a:lstStyle>
          <a:p>
            <a:pPr marL="0" marR="0" indent="0" algn="l">
              <a:lnSpc>
                <a:spcPts val="1400"/>
              </a:lnSpc>
              <a:spcAft>
                <a:spcPts val="0"/>
              </a:spcAft>
            </a:pPr>
            <a:r>
              <a:rPr lang="en-US" sz="1266" spc="-250">
                <a:solidFill>
                  <a:srgbClr val="000000"/>
                </a:solidFill>
                <a:latin typeface="Courier New" panose="22635452340000000000" pitchFamily="3"/>
              </a:rPr>
              <a:t>100 10 10 11000 10 10</a:t>
            </a:r>
          </a:p>
        </p:txBody>
      </p:sp>
      <p:sp>
        <p:nvSpPr>
          <p:cNvPr id="35" name="Text Placeholder 34"/>
          <p:cNvSpPr>
            <a:spLocks noGrp="1"/>
          </p:cNvSpPr>
          <p:nvPr>
            <p:ph type="body" idx="10"/>
          </p:nvPr>
        </p:nvSpPr>
        <p:spPr>
          <a:xfrm>
            <a:off x="2991676" y="4331345"/>
            <a:ext cx="2011315" cy="107156"/>
          </a:xfrm>
          <a:prstGeom prst="rect">
            <a:avLst/>
          </a:prstGeom>
          <a:noFill/>
          <a:ln w="0" cmpd="sng">
            <a:noFill/>
            <a:prstDash val="solid"/>
          </a:ln>
        </p:spPr>
        <p:txBody>
          <a:bodyPr lIns="0" tIns="0" rIns="0" bIns="0" anchor="t"/>
          <a:lstStyle>
            <a:lvl1pPr marL="0" marR="0" indent="0" algn="l">
              <a:lnSpc>
                <a:spcPts val="984"/>
              </a:lnSpc>
              <a:spcAft>
                <a:spcPts val="0"/>
              </a:spcAft>
              <a:defRPr/>
            </a:lvl1pPr>
          </a:lstStyle>
          <a:p>
            <a:pPr marL="0" marR="0" indent="0" algn="l">
              <a:lnSpc>
                <a:spcPts val="1400"/>
              </a:lnSpc>
              <a:spcAft>
                <a:spcPts val="0"/>
              </a:spcAft>
            </a:pPr>
            <a:r>
              <a:rPr lang="en-US" sz="1266" spc="-70">
                <a:solidFill>
                  <a:srgbClr val="000000"/>
                </a:solidFill>
                <a:latin typeface="Courier New" panose="22635452340000000000" pitchFamily="3"/>
              </a:rPr>
              <a:t>1000000111000001</a:t>
            </a:r>
          </a:p>
        </p:txBody>
      </p:sp>
      <p:sp>
        <p:nvSpPr>
          <p:cNvPr id="36" name="Text Placeholder 35"/>
          <p:cNvSpPr>
            <a:spLocks noGrp="1"/>
          </p:cNvSpPr>
          <p:nvPr>
            <p:ph type="body" idx="10"/>
          </p:nvPr>
        </p:nvSpPr>
        <p:spPr>
          <a:xfrm>
            <a:off x="9494075" y="279946"/>
            <a:ext cx="1764291" cy="4775150"/>
          </a:xfrm>
          <a:prstGeom prst="rect">
            <a:avLst/>
          </a:prstGeom>
          <a:noFill/>
          <a:ln w="0" cmpd="sng">
            <a:noFill/>
            <a:prstDash val="solid"/>
          </a:ln>
        </p:spPr>
        <p:txBody>
          <a:bodyPr lIns="0" tIns="640080" rIns="0" bIns="0" anchor="t"/>
          <a:lstStyle>
            <a:lvl1pPr marL="0" marR="0" indent="0" algn="l">
              <a:lnSpc>
                <a:spcPct val="95999"/>
              </a:lnSpc>
              <a:spcBef>
                <a:spcPts val="0"/>
              </a:spcBef>
              <a:spcAft>
                <a:spcPts val="24173"/>
              </a:spcAft>
              <a:defRPr/>
            </a:lvl1pPr>
          </a:lstStyle>
          <a:p>
            <a:pPr marL="0" marR="0" indent="0" algn="l">
              <a:lnSpc>
                <a:spcPct val="95999"/>
              </a:lnSpc>
              <a:spcAft>
                <a:spcPts val="0"/>
              </a:spcAft>
            </a:pPr>
            <a:r>
              <a:rPr lang="en-US" sz="1617" spc="0">
                <a:solidFill>
                  <a:srgbClr val="000000"/>
                </a:solidFill>
                <a:latin typeface="Palatino Linotype" panose="22635452340000000000" pitchFamily="1"/>
              </a:rPr>
              <a:t>ASCII table:</a:t>
            </a:r>
          </a:p>
          <a:p>
            <a:pPr marL="0" marR="0" indent="0" algn="ctr">
              <a:lnSpc>
                <a:spcPct val="106559"/>
              </a:lnSpc>
              <a:spcBef>
                <a:spcPts val="900"/>
              </a:spcBef>
              <a:spcAft>
                <a:spcPts val="0"/>
              </a:spcAft>
            </a:pPr>
            <a:r>
              <a:rPr lang="en-US" sz="1617" spc="-25">
                <a:solidFill>
                  <a:srgbClr val="000000"/>
                </a:solidFill>
                <a:latin typeface="Palatino Linotype" panose="22635452340000000000" pitchFamily="1"/>
              </a:rPr>
              <a:t>agreement for</a:t>
            </a:r>
          </a:p>
          <a:p>
            <a:pPr marL="0" marR="0" indent="0" algn="l">
              <a:lnSpc>
                <a:spcPct val="95999"/>
              </a:lnSpc>
              <a:spcBef>
                <a:spcPts val="0"/>
              </a:spcBef>
              <a:spcAft>
                <a:spcPts val="0"/>
              </a:spcAft>
            </a:pPr>
            <a:r>
              <a:rPr lang="en-US" sz="1617" spc="0">
                <a:solidFill>
                  <a:srgbClr val="000000"/>
                </a:solidFill>
                <a:latin typeface="Palatino Linotype" panose="22635452340000000000" pitchFamily="1"/>
              </a:rPr>
              <a:t>the meaning</a:t>
            </a:r>
          </a:p>
          <a:p>
            <a:pPr marL="0" marR="0" indent="0" algn="l">
              <a:lnSpc>
                <a:spcPct val="95999"/>
              </a:lnSpc>
              <a:spcBef>
                <a:spcPts val="0"/>
              </a:spcBef>
              <a:spcAft>
                <a:spcPts val="34380"/>
              </a:spcAft>
            </a:pPr>
            <a:r>
              <a:rPr lang="en-US" sz="1617" spc="0">
                <a:solidFill>
                  <a:srgbClr val="000000"/>
                </a:solidFill>
                <a:latin typeface="Palatino Linotype" panose="22635452340000000000" pitchFamily="1"/>
              </a:rPr>
              <a:t>of bits</a:t>
            </a:r>
          </a:p>
        </p:txBody>
      </p:sp>
    </p:spTree>
    <p:extLst>
      <p:ext uri="{BB962C8B-B14F-4D97-AF65-F5344CB8AC3E}">
        <p14:creationId xmlns:p14="http://schemas.microsoft.com/office/powerpoint/2010/main" val="4111904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1_1_">
    <p:spTree>
      <p:nvGrpSpPr>
        <p:cNvPr id="1" name=""/>
        <p:cNvGrpSpPr/>
        <p:nvPr/>
      </p:nvGrpSpPr>
      <p:grpSpPr>
        <a:xfrm>
          <a:off x="0" y="0"/>
          <a:ext cx="0" cy="0"/>
          <a:chOff x="0" y="0"/>
          <a:chExt cx="0" cy="0"/>
        </a:xfrm>
      </p:grpSpPr>
      <p:sp>
        <p:nvSpPr>
          <p:cNvPr id="42" name="Text Placeholder 41"/>
          <p:cNvSpPr>
            <a:spLocks noGrp="1"/>
          </p:cNvSpPr>
          <p:nvPr>
            <p:ph type="body" idx="10"/>
          </p:nvPr>
        </p:nvSpPr>
        <p:spPr>
          <a:xfrm>
            <a:off x="1000003" y="280839"/>
            <a:ext cx="4559537" cy="925562"/>
          </a:xfrm>
          <a:prstGeom prst="rect">
            <a:avLst/>
          </a:prstGeom>
          <a:noFill/>
          <a:ln w="0" cmpd="sng">
            <a:noFill/>
            <a:prstDash val="solid"/>
          </a:ln>
        </p:spPr>
        <p:txBody>
          <a:bodyPr lIns="0" tIns="160020" rIns="0" bIns="0" anchor="t"/>
          <a:lstStyle>
            <a:lvl1pPr marL="0" marR="0" indent="0" algn="ctr">
              <a:lnSpc>
                <a:spcPct val="117119"/>
              </a:lnSpc>
              <a:spcAft>
                <a:spcPts val="2151"/>
              </a:spcAft>
              <a:defRPr/>
            </a:lvl1pPr>
          </a:lstStyle>
          <a:p>
            <a:pPr marL="0" marR="0" indent="0" algn="ctr">
              <a:lnSpc>
                <a:spcPct val="117119"/>
              </a:lnSpc>
              <a:spcAft>
                <a:spcPts val="3060"/>
              </a:spcAft>
            </a:pPr>
            <a:r>
              <a:rPr lang="en-US" sz="2426" b="1" spc="-25">
                <a:solidFill>
                  <a:srgbClr val="000080"/>
                </a:solidFill>
                <a:latin typeface="Palatino Linotype" panose="22635452340000000000" pitchFamily="1"/>
              </a:rPr>
              <a:t>Digital Data Must Be ...</a:t>
            </a:r>
          </a:p>
        </p:txBody>
      </p:sp>
      <p:sp>
        <p:nvSpPr>
          <p:cNvPr id="43" name="Text Placeholder 42"/>
          <p:cNvSpPr>
            <a:spLocks noGrp="1"/>
          </p:cNvSpPr>
          <p:nvPr>
            <p:ph type="body" idx="10"/>
          </p:nvPr>
        </p:nvSpPr>
        <p:spPr>
          <a:xfrm>
            <a:off x="1128575" y="1206401"/>
            <a:ext cx="7071449" cy="810369"/>
          </a:xfrm>
          <a:prstGeom prst="rect">
            <a:avLst/>
          </a:prstGeom>
          <a:noFill/>
          <a:ln w="0" cmpd="sng">
            <a:noFill/>
            <a:prstDash val="solid"/>
          </a:ln>
        </p:spPr>
        <p:txBody>
          <a:bodyPr lIns="0" tIns="0" rIns="0" bIns="0" anchor="t"/>
          <a:lstStyle>
            <a:lvl1pPr marL="0" marR="0" indent="257166" algn="l">
              <a:lnSpc>
                <a:spcPct val="95999"/>
              </a:lnSpc>
              <a:spcAft>
                <a:spcPts val="3037"/>
              </a:spcAft>
              <a:buFont typeface="Symbol"/>
              <a:buChar char="·"/>
              <a:tabLst>
                <a:tab pos="5263417" algn="r"/>
              </a:tabLst>
              <a:defRPr/>
            </a:lvl1pPr>
          </a:lstStyle>
          <a:p>
            <a:pPr marL="0" marR="0" indent="365760" algn="l">
              <a:lnSpc>
                <a:spcPct val="95999"/>
              </a:lnSpc>
              <a:spcAft>
                <a:spcPts val="4320"/>
              </a:spcAft>
              <a:buFont typeface="Symbol"/>
              <a:buChar char="·"/>
              <a:tabLst>
                <a:tab pos="7486015" algn="r"/>
              </a:tabLst>
            </a:pPr>
            <a:r>
              <a:rPr lang="en-US" sz="2215" spc="0">
                <a:solidFill>
                  <a:srgbClr val="0000FF"/>
                </a:solidFill>
                <a:latin typeface="Palatino Linotype" panose="22635452340000000000" pitchFamily="1"/>
              </a:rPr>
              <a:t>Encoded</a:t>
            </a:r>
            <a:r>
              <a:rPr lang="en-US" sz="2215" spc="0">
                <a:solidFill>
                  <a:srgbClr val="000000"/>
                </a:solidFill>
                <a:latin typeface="Palatino Linotype" panose="22635452340000000000" pitchFamily="1"/>
              </a:rPr>
              <a:t> (e.g. 01001001 &lt;-&gt;	)</a:t>
            </a:r>
          </a:p>
        </p:txBody>
      </p:sp>
      <p:sp>
        <p:nvSpPr>
          <p:cNvPr id="44" name="Text Placeholder 43"/>
          <p:cNvSpPr>
            <a:spLocks noGrp="1"/>
          </p:cNvSpPr>
          <p:nvPr>
            <p:ph type="body" idx="10"/>
          </p:nvPr>
        </p:nvSpPr>
        <p:spPr>
          <a:xfrm>
            <a:off x="1128575" y="2016770"/>
            <a:ext cx="7071449" cy="3868787"/>
          </a:xfrm>
          <a:prstGeom prst="rect">
            <a:avLst/>
          </a:prstGeom>
          <a:noFill/>
          <a:ln w="0" cmpd="sng">
            <a:noFill/>
            <a:prstDash val="solid"/>
          </a:ln>
        </p:spPr>
        <p:txBody>
          <a:bodyPr lIns="0" tIns="45720" rIns="0" bIns="0" anchor="t"/>
          <a:lstStyle>
            <a:lvl1pPr marL="289312" marR="0" indent="289312" algn="l">
              <a:lnSpc>
                <a:spcPct val="119999"/>
              </a:lnSpc>
              <a:spcBef>
                <a:spcPts val="759"/>
              </a:spcBef>
              <a:spcAft>
                <a:spcPts val="253"/>
              </a:spcAft>
              <a:buFont typeface="Symbol"/>
              <a:buChar char="·"/>
              <a:defRPr/>
            </a:lvl1pPr>
          </a:lstStyle>
          <a:p>
            <a:pPr marL="0" marR="0" indent="365760" algn="l">
              <a:lnSpc>
                <a:spcPct val="105599"/>
              </a:lnSpc>
              <a:spcAft>
                <a:spcPts val="0"/>
              </a:spcAft>
              <a:buFont typeface="Symbol"/>
              <a:buChar char="·"/>
            </a:pPr>
            <a:r>
              <a:rPr lang="en-US" sz="2215" spc="0">
                <a:solidFill>
                  <a:srgbClr val="FF0000"/>
                </a:solidFill>
                <a:latin typeface="Palatino Linotype" panose="22635452340000000000" pitchFamily="1"/>
              </a:rPr>
              <a:t>Arranged</a:t>
            </a:r>
          </a:p>
          <a:p>
            <a:pPr marL="365760" marR="0" indent="0" algn="l">
              <a:lnSpc>
                <a:spcPct val="95999"/>
              </a:lnSpc>
              <a:spcBef>
                <a:spcPts val="0"/>
              </a:spcBef>
              <a:spcAft>
                <a:spcPts val="0"/>
              </a:spcAft>
            </a:pPr>
            <a:r>
              <a:rPr lang="en-US" sz="2039" spc="7">
                <a:solidFill>
                  <a:srgbClr val="000000"/>
                </a:solidFill>
                <a:latin typeface="Palatino Linotype" panose="22635452340000000000" pitchFamily="1"/>
              </a:rPr>
              <a:t>- </a:t>
            </a:r>
            <a:r>
              <a:rPr lang="en-US" sz="1652" spc="7">
                <a:solidFill>
                  <a:srgbClr val="000000"/>
                </a:solidFill>
                <a:latin typeface="Palatino Linotype" panose="22635452340000000000" pitchFamily="1"/>
              </a:rPr>
              <a:t>Stored in an orderly way in memory / disk</a:t>
            </a:r>
          </a:p>
          <a:p>
            <a:pPr marL="0" marR="0" indent="365760" algn="l">
              <a:lnSpc>
                <a:spcPct val="95999"/>
              </a:lnSpc>
              <a:spcBef>
                <a:spcPts val="3960"/>
              </a:spcBef>
              <a:spcAft>
                <a:spcPts val="0"/>
              </a:spcAft>
              <a:buFont typeface="Symbol"/>
              <a:buChar char="·"/>
            </a:pPr>
            <a:r>
              <a:rPr lang="en-US" sz="2215" spc="0">
                <a:solidFill>
                  <a:srgbClr val="FF0000"/>
                </a:solidFill>
                <a:latin typeface="Palatino Linotype" panose="22635452340000000000" pitchFamily="1"/>
              </a:rPr>
              <a:t>Accessed</a:t>
            </a:r>
          </a:p>
          <a:p>
            <a:pPr marL="365760" marR="0" indent="0" algn="l">
              <a:lnSpc>
                <a:spcPct val="79679"/>
              </a:lnSpc>
              <a:spcBef>
                <a:spcPts val="900"/>
              </a:spcBef>
              <a:spcAft>
                <a:spcPts val="0"/>
              </a:spcAft>
            </a:pPr>
            <a:r>
              <a:rPr lang="en-US" sz="2039" spc="0">
                <a:solidFill>
                  <a:srgbClr val="000000"/>
                </a:solidFill>
                <a:latin typeface="Palatino Linotype" panose="22635452340000000000" pitchFamily="1"/>
              </a:rPr>
              <a:t>- </a:t>
            </a:r>
            <a:r>
              <a:rPr lang="en-US" sz="1652" spc="0">
                <a:solidFill>
                  <a:srgbClr val="000000"/>
                </a:solidFill>
                <a:latin typeface="Palatino Linotype" panose="22635452340000000000" pitchFamily="1"/>
              </a:rPr>
              <a:t>Insert new data</a:t>
            </a:r>
          </a:p>
          <a:p>
            <a:pPr marL="365760" marR="0" indent="0" algn="l">
              <a:lnSpc>
                <a:spcPct val="76799"/>
              </a:lnSpc>
              <a:spcBef>
                <a:spcPts val="720"/>
              </a:spcBef>
              <a:spcAft>
                <a:spcPts val="0"/>
              </a:spcAft>
            </a:pPr>
            <a:r>
              <a:rPr lang="en-US" sz="2039" spc="0">
                <a:solidFill>
                  <a:srgbClr val="000000"/>
                </a:solidFill>
                <a:latin typeface="Palatino Linotype" panose="22635452340000000000" pitchFamily="1"/>
              </a:rPr>
              <a:t>- </a:t>
            </a:r>
            <a:r>
              <a:rPr lang="en-US" sz="1652" spc="0">
                <a:solidFill>
                  <a:srgbClr val="000000"/>
                </a:solidFill>
                <a:latin typeface="Palatino Linotype" panose="22635452340000000000" pitchFamily="1"/>
              </a:rPr>
              <a:t>Remove old data</a:t>
            </a:r>
          </a:p>
          <a:p>
            <a:pPr marL="365760" marR="0" indent="0" algn="l">
              <a:lnSpc>
                <a:spcPct val="95999"/>
              </a:lnSpc>
              <a:spcBef>
                <a:spcPts val="0"/>
              </a:spcBef>
              <a:spcAft>
                <a:spcPts val="0"/>
              </a:spcAft>
            </a:pPr>
            <a:r>
              <a:rPr lang="en-US" sz="2039" spc="0">
                <a:solidFill>
                  <a:srgbClr val="000000"/>
                </a:solidFill>
                <a:latin typeface="Palatino Linotype" panose="22635452340000000000" pitchFamily="1"/>
              </a:rPr>
              <a:t>- </a:t>
            </a:r>
            <a:r>
              <a:rPr lang="en-US" sz="1652" spc="0">
                <a:solidFill>
                  <a:srgbClr val="000000"/>
                </a:solidFill>
                <a:latin typeface="Palatino Linotype" panose="22635452340000000000" pitchFamily="1"/>
              </a:rPr>
              <a:t>Find data matching some condition</a:t>
            </a:r>
          </a:p>
          <a:p>
            <a:pPr marL="0" marR="0" indent="365760" algn="l">
              <a:lnSpc>
                <a:spcPct val="95999"/>
              </a:lnSpc>
              <a:spcBef>
                <a:spcPts val="4500"/>
              </a:spcBef>
              <a:spcAft>
                <a:spcPts val="0"/>
              </a:spcAft>
              <a:buFont typeface="Symbol"/>
              <a:buChar char="·"/>
            </a:pPr>
            <a:r>
              <a:rPr lang="en-US" sz="2215" spc="0">
                <a:solidFill>
                  <a:srgbClr val="0000FF"/>
                </a:solidFill>
                <a:latin typeface="Palatino Linotype" panose="22635452340000000000" pitchFamily="1"/>
              </a:rPr>
              <a:t>Processed</a:t>
            </a:r>
          </a:p>
          <a:p>
            <a:pPr marL="411480" marR="0" indent="411480" algn="l">
              <a:lnSpc>
                <a:spcPct val="119999"/>
              </a:lnSpc>
              <a:spcBef>
                <a:spcPts val="1080"/>
              </a:spcBef>
              <a:spcAft>
                <a:spcPts val="360"/>
              </a:spcAft>
              <a:buFont typeface="Symbol"/>
              <a:buChar char="·"/>
            </a:pPr>
            <a:r>
              <a:rPr lang="en-US" sz="1652" spc="-21">
                <a:solidFill>
                  <a:srgbClr val="000000"/>
                </a:solidFill>
                <a:latin typeface="Palatino Linotype" panose="22635452340000000000" pitchFamily="1"/>
              </a:rPr>
              <a:t>Algorithms: shortest path, minimum cut, FFT, ...</a:t>
            </a:r>
          </a:p>
        </p:txBody>
      </p:sp>
      <p:sp>
        <p:nvSpPr>
          <p:cNvPr id="47" name="Text Placeholder 46"/>
          <p:cNvSpPr>
            <a:spLocks noGrp="1"/>
          </p:cNvSpPr>
          <p:nvPr>
            <p:ph type="body" idx="10"/>
          </p:nvPr>
        </p:nvSpPr>
        <p:spPr>
          <a:xfrm>
            <a:off x="8257167" y="2939207"/>
            <a:ext cx="2060125" cy="772864"/>
          </a:xfrm>
          <a:prstGeom prst="rect">
            <a:avLst/>
          </a:prstGeom>
          <a:noFill/>
          <a:ln w="0" cmpd="sng">
            <a:noFill/>
            <a:prstDash val="solid"/>
          </a:ln>
        </p:spPr>
        <p:txBody>
          <a:bodyPr lIns="0" tIns="0" rIns="0" bIns="0" anchor="t"/>
          <a:lstStyle>
            <a:lvl1pPr marL="0" marR="0" indent="0" algn="l">
              <a:lnSpc>
                <a:spcPct val="98879"/>
              </a:lnSpc>
              <a:spcBef>
                <a:spcPts val="759"/>
              </a:spcBef>
              <a:spcAft>
                <a:spcPts val="0"/>
              </a:spcAft>
              <a:defRPr/>
            </a:lvl1pPr>
          </a:lstStyle>
          <a:p>
            <a:pPr marL="0" marR="0" indent="0" algn="ctr">
              <a:lnSpc>
                <a:spcPts val="4200"/>
              </a:lnSpc>
              <a:spcAft>
                <a:spcPts val="0"/>
              </a:spcAft>
            </a:pPr>
            <a:r>
              <a:rPr lang="en-US" sz="2180" spc="-32">
                <a:solidFill>
                  <a:srgbClr val="000000"/>
                </a:solidFill>
                <a:latin typeface="Palatino Linotype" panose="22635452340000000000" pitchFamily="1"/>
              </a:rPr>
              <a:t>The focus of</a:t>
            </a:r>
          </a:p>
          <a:p>
            <a:pPr marL="0" marR="0" indent="0" algn="l">
              <a:lnSpc>
                <a:spcPct val="98879"/>
              </a:lnSpc>
              <a:spcBef>
                <a:spcPts val="1080"/>
              </a:spcBef>
              <a:spcAft>
                <a:spcPts val="0"/>
              </a:spcAft>
            </a:pPr>
            <a:r>
              <a:rPr lang="en-US" sz="2180" spc="0">
                <a:solidFill>
                  <a:srgbClr val="000000"/>
                </a:solidFill>
                <a:latin typeface="Palatino Linotype" panose="22635452340000000000" pitchFamily="1"/>
              </a:rPr>
              <a:t>this class</a:t>
            </a:r>
          </a:p>
        </p:txBody>
      </p:sp>
    </p:spTree>
    <p:extLst>
      <p:ext uri="{BB962C8B-B14F-4D97-AF65-F5344CB8AC3E}">
        <p14:creationId xmlns:p14="http://schemas.microsoft.com/office/powerpoint/2010/main" val="36512307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2_1_">
    <p:spTree>
      <p:nvGrpSpPr>
        <p:cNvPr id="1" name=""/>
        <p:cNvGrpSpPr/>
        <p:nvPr/>
      </p:nvGrpSpPr>
      <p:grpSpPr>
        <a:xfrm>
          <a:off x="0" y="0"/>
          <a:ext cx="0" cy="0"/>
          <a:chOff x="0" y="0"/>
          <a:chExt cx="0" cy="0"/>
        </a:xfrm>
      </p:grpSpPr>
      <p:sp>
        <p:nvSpPr>
          <p:cNvPr id="50" name="Text Placeholder 49"/>
          <p:cNvSpPr>
            <a:spLocks noGrp="1"/>
          </p:cNvSpPr>
          <p:nvPr>
            <p:ph type="body" idx="10"/>
          </p:nvPr>
        </p:nvSpPr>
        <p:spPr>
          <a:xfrm>
            <a:off x="1522623" y="2307878"/>
            <a:ext cx="9023836" cy="1555552"/>
          </a:xfrm>
          <a:prstGeom prst="rect">
            <a:avLst/>
          </a:prstGeom>
          <a:noFill/>
          <a:ln w="0" cmpd="sng">
            <a:noFill/>
            <a:prstDash val="solid"/>
          </a:ln>
        </p:spPr>
        <p:txBody>
          <a:bodyPr lIns="0" tIns="137160" rIns="0" bIns="0" anchor="t"/>
          <a:lstStyle>
            <a:lvl1pPr marL="32146" marR="0" indent="0" algn="l">
              <a:lnSpc>
                <a:spcPct val="107519"/>
              </a:lnSpc>
              <a:spcBef>
                <a:spcPts val="0"/>
              </a:spcBef>
              <a:spcAft>
                <a:spcPts val="127"/>
              </a:spcAft>
              <a:defRPr/>
            </a:lvl1pPr>
          </a:lstStyle>
          <a:p>
            <a:pPr marL="0" marR="0" indent="0" algn="l">
              <a:lnSpc>
                <a:spcPct val="95999"/>
              </a:lnSpc>
              <a:spcAft>
                <a:spcPts val="0"/>
              </a:spcAft>
            </a:pPr>
            <a:r>
              <a:rPr lang="en-US" sz="2426" b="1" spc="0">
                <a:solidFill>
                  <a:srgbClr val="000080"/>
                </a:solidFill>
                <a:latin typeface="Palatino Linotype" panose="22635452340000000000" pitchFamily="1"/>
              </a:rPr>
              <a:t>Data Structures -&gt; Data StructurING</a:t>
            </a:r>
          </a:p>
          <a:p>
            <a:pPr marL="0" marR="0" indent="0" algn="ctr">
              <a:lnSpc>
                <a:spcPct val="110399"/>
              </a:lnSpc>
              <a:spcBef>
                <a:spcPts val="1980"/>
              </a:spcBef>
              <a:spcAft>
                <a:spcPts val="0"/>
              </a:spcAft>
            </a:pPr>
            <a:r>
              <a:rPr lang="en-US" sz="2180" spc="-32">
                <a:solidFill>
                  <a:srgbClr val="000000"/>
                </a:solidFill>
                <a:latin typeface="Palatino Linotype" panose="22635452340000000000" pitchFamily="1"/>
              </a:rPr>
              <a:t>How do we organize information so that we can find,</a:t>
            </a:r>
          </a:p>
          <a:p>
            <a:pPr marL="45720" marR="0" indent="0" algn="l">
              <a:lnSpc>
                <a:spcPct val="107519"/>
              </a:lnSpc>
              <a:spcBef>
                <a:spcPts val="0"/>
              </a:spcBef>
              <a:spcAft>
                <a:spcPts val="180"/>
              </a:spcAft>
            </a:pPr>
            <a:r>
              <a:rPr lang="en-US" sz="2180" spc="-14">
                <a:solidFill>
                  <a:srgbClr val="000000"/>
                </a:solidFill>
                <a:latin typeface="Palatino Linotype" panose="22635452340000000000" pitchFamily="1"/>
              </a:rPr>
              <a:t>update, add, and delete portions of it efficiently?</a:t>
            </a:r>
          </a:p>
        </p:txBody>
      </p:sp>
    </p:spTree>
    <p:extLst>
      <p:ext uri="{BB962C8B-B14F-4D97-AF65-F5344CB8AC3E}">
        <p14:creationId xmlns:p14="http://schemas.microsoft.com/office/powerpoint/2010/main" val="3412729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3_1_">
    <p:spTree>
      <p:nvGrpSpPr>
        <p:cNvPr id="1" name=""/>
        <p:cNvGrpSpPr/>
        <p:nvPr/>
      </p:nvGrpSpPr>
      <p:grpSpPr>
        <a:xfrm>
          <a:off x="0" y="0"/>
          <a:ext cx="0" cy="0"/>
          <a:chOff x="0" y="0"/>
          <a:chExt cx="0" cy="0"/>
        </a:xfrm>
      </p:grpSpPr>
      <p:sp>
        <p:nvSpPr>
          <p:cNvPr id="59" name="Text Placeholder 58"/>
          <p:cNvSpPr>
            <a:spLocks noGrp="1"/>
          </p:cNvSpPr>
          <p:nvPr>
            <p:ph type="body" idx="10"/>
          </p:nvPr>
        </p:nvSpPr>
        <p:spPr>
          <a:xfrm>
            <a:off x="797026" y="280839"/>
            <a:ext cx="10630983" cy="5618113"/>
          </a:xfrm>
          <a:prstGeom prst="rect">
            <a:avLst/>
          </a:prstGeom>
          <a:noFill/>
          <a:ln w="0" cmpd="sng">
            <a:noFill/>
            <a:prstDash val="solid"/>
          </a:ln>
        </p:spPr>
        <p:txBody>
          <a:bodyPr lIns="0" tIns="68580" rIns="0" bIns="0" anchor="t"/>
          <a:lstStyle>
            <a:lvl1pPr marL="482186" marR="0" indent="0" algn="l">
              <a:lnSpc>
                <a:spcPct val="108479"/>
              </a:lnSpc>
              <a:spcBef>
                <a:spcPts val="0"/>
              </a:spcBef>
              <a:spcAft>
                <a:spcPts val="0"/>
              </a:spcAft>
              <a:buFont typeface="Palatino Linotype"/>
              <a:buAutoNum type="arabicPeriod"/>
              <a:defRPr/>
            </a:lvl1pPr>
          </a:lstStyle>
          <a:p>
            <a:pPr marL="0" marR="0" indent="0" algn="l">
              <a:lnSpc>
                <a:spcPts val="5100"/>
              </a:lnSpc>
              <a:spcAft>
                <a:spcPts val="0"/>
              </a:spcAft>
            </a:pPr>
            <a:r>
              <a:rPr lang="en-US" sz="2426" b="1" spc="0">
                <a:solidFill>
                  <a:srgbClr val="000080"/>
                </a:solidFill>
                <a:latin typeface="Palatino Linotype" panose="22635452340000000000" pitchFamily="1"/>
              </a:rPr>
              <a:t>Data Structure Example Applications</a:t>
            </a:r>
          </a:p>
          <a:p>
            <a:pPr marL="320040" marR="0" indent="411480" algn="l">
              <a:lnSpc>
                <a:spcPts val="4500"/>
              </a:lnSpc>
              <a:spcBef>
                <a:spcPts val="2700"/>
              </a:spcBef>
              <a:spcAft>
                <a:spcPts val="0"/>
              </a:spcAft>
              <a:buFont typeface="Palatino Linotype"/>
              <a:buAutoNum type="arabicPeriod"/>
            </a:pPr>
            <a:r>
              <a:rPr lang="en-US" sz="2180" spc="14">
                <a:solidFill>
                  <a:srgbClr val="000000"/>
                </a:solidFill>
                <a:latin typeface="Palatino Linotype" panose="22635452340000000000" pitchFamily="1"/>
              </a:rPr>
              <a:t>How does Google quickly find web pages that contain a</a:t>
            </a:r>
          </a:p>
          <a:p>
            <a:pPr marL="685800" marR="0" indent="0" algn="l">
              <a:lnSpc>
                <a:spcPts val="3700"/>
              </a:lnSpc>
              <a:spcBef>
                <a:spcPts val="0"/>
              </a:spcBef>
              <a:spcAft>
                <a:spcPts val="0"/>
              </a:spcAft>
            </a:pPr>
            <a:r>
              <a:rPr lang="en-US" sz="2180" spc="0">
                <a:solidFill>
                  <a:srgbClr val="000000"/>
                </a:solidFill>
                <a:latin typeface="Palatino Linotype" panose="22635452340000000000" pitchFamily="1"/>
              </a:rPr>
              <a:t>search term?</a:t>
            </a:r>
          </a:p>
          <a:p>
            <a:pPr marL="320040" marR="0" indent="411480" algn="l">
              <a:lnSpc>
                <a:spcPts val="4600"/>
              </a:lnSpc>
              <a:spcBef>
                <a:spcPts val="2520"/>
              </a:spcBef>
              <a:spcAft>
                <a:spcPts val="0"/>
              </a:spcAft>
              <a:buFont typeface="Palatino Linotype"/>
              <a:buAutoNum type="arabicPeriod"/>
            </a:pPr>
            <a:r>
              <a:rPr lang="en-US" sz="2180" spc="-35">
                <a:solidFill>
                  <a:srgbClr val="000000"/>
                </a:solidFill>
                <a:latin typeface="Palatino Linotype" panose="22635452340000000000" pitchFamily="1"/>
              </a:rPr>
              <a:t>What’s the fastest way to broadcast a message to a network</a:t>
            </a:r>
          </a:p>
          <a:p>
            <a:pPr marL="685800" marR="0" indent="0" algn="l">
              <a:lnSpc>
                <a:spcPts val="4500"/>
              </a:lnSpc>
              <a:spcBef>
                <a:spcPts val="0"/>
              </a:spcBef>
              <a:spcAft>
                <a:spcPts val="0"/>
              </a:spcAft>
            </a:pPr>
            <a:r>
              <a:rPr lang="en-US" sz="2180" spc="0">
                <a:solidFill>
                  <a:srgbClr val="000000"/>
                </a:solidFill>
                <a:latin typeface="Palatino Linotype" panose="22635452340000000000" pitchFamily="1"/>
              </a:rPr>
              <a:t>of computers?</a:t>
            </a:r>
          </a:p>
          <a:p>
            <a:pPr marL="320040" marR="0" indent="411480" algn="l">
              <a:lnSpc>
                <a:spcPts val="4600"/>
              </a:lnSpc>
              <a:spcBef>
                <a:spcPts val="1980"/>
              </a:spcBef>
              <a:spcAft>
                <a:spcPts val="0"/>
              </a:spcAft>
              <a:buFont typeface="Palatino Linotype"/>
              <a:buAutoNum type="arabicPeriod"/>
            </a:pPr>
            <a:r>
              <a:rPr lang="en-US" sz="2180" spc="-4">
                <a:solidFill>
                  <a:srgbClr val="000000"/>
                </a:solidFill>
                <a:latin typeface="Palatino Linotype" panose="22635452340000000000" pitchFamily="1"/>
              </a:rPr>
              <a:t>How can a subsequence of DNA be quickly found within</a:t>
            </a:r>
          </a:p>
          <a:p>
            <a:pPr marL="685800" marR="0" indent="0" algn="l">
              <a:lnSpc>
                <a:spcPts val="4500"/>
              </a:lnSpc>
              <a:spcBef>
                <a:spcPts val="0"/>
              </a:spcBef>
              <a:spcAft>
                <a:spcPts val="0"/>
              </a:spcAft>
            </a:pPr>
            <a:r>
              <a:rPr lang="en-US" sz="2180" spc="0">
                <a:solidFill>
                  <a:srgbClr val="000000"/>
                </a:solidFill>
                <a:latin typeface="Palatino Linotype" panose="22635452340000000000" pitchFamily="1"/>
              </a:rPr>
              <a:t>the genome?</a:t>
            </a:r>
          </a:p>
          <a:p>
            <a:pPr marL="320040" marR="0" indent="411480" algn="l">
              <a:lnSpc>
                <a:spcPts val="4600"/>
              </a:lnSpc>
              <a:spcBef>
                <a:spcPts val="1980"/>
              </a:spcBef>
              <a:spcAft>
                <a:spcPts val="0"/>
              </a:spcAft>
              <a:buFont typeface="Palatino Linotype"/>
              <a:buAutoNum type="arabicPeriod"/>
            </a:pPr>
            <a:r>
              <a:rPr lang="en-US" sz="2180" spc="21">
                <a:solidFill>
                  <a:srgbClr val="000000"/>
                </a:solidFill>
                <a:latin typeface="Palatino Linotype" panose="22635452340000000000" pitchFamily="1"/>
              </a:rPr>
              <a:t>How does your operating system track which memory</a:t>
            </a:r>
          </a:p>
          <a:p>
            <a:pPr marL="685800" marR="0" indent="0" algn="l">
              <a:lnSpc>
                <a:spcPts val="4200"/>
              </a:lnSpc>
              <a:spcBef>
                <a:spcPts val="0"/>
              </a:spcBef>
              <a:spcAft>
                <a:spcPts val="0"/>
              </a:spcAft>
            </a:pPr>
            <a:r>
              <a:rPr lang="en-US" sz="2180" spc="0">
                <a:solidFill>
                  <a:srgbClr val="000000"/>
                </a:solidFill>
                <a:latin typeface="Palatino Linotype" panose="22635452340000000000" pitchFamily="1"/>
              </a:rPr>
              <a:t>(disk or RAM) is free?</a:t>
            </a:r>
          </a:p>
          <a:p>
            <a:pPr marL="320040" marR="0" indent="411480" algn="l">
              <a:lnSpc>
                <a:spcPts val="4600"/>
              </a:lnSpc>
              <a:spcBef>
                <a:spcPts val="2160"/>
              </a:spcBef>
              <a:spcAft>
                <a:spcPts val="0"/>
              </a:spcAft>
              <a:buFont typeface="Palatino Linotype"/>
              <a:buAutoNum type="arabicPeriod"/>
            </a:pPr>
            <a:r>
              <a:rPr lang="en-US" sz="2180" spc="21">
                <a:solidFill>
                  <a:srgbClr val="000000"/>
                </a:solidFill>
                <a:latin typeface="Palatino Linotype" panose="22635452340000000000" pitchFamily="1"/>
              </a:rPr>
              <a:t>In the game Half-Life, how can the computer determine</a:t>
            </a:r>
          </a:p>
          <a:p>
            <a:pPr marL="685800" marR="0" indent="0" algn="l">
              <a:lnSpc>
                <a:spcPct val="108479"/>
              </a:lnSpc>
              <a:spcBef>
                <a:spcPts val="0"/>
              </a:spcBef>
              <a:spcAft>
                <a:spcPts val="0"/>
              </a:spcAft>
            </a:pPr>
            <a:r>
              <a:rPr lang="en-US" sz="2180" spc="-14">
                <a:solidFill>
                  <a:srgbClr val="000000"/>
                </a:solidFill>
                <a:latin typeface="Palatino Linotype" panose="22635452340000000000" pitchFamily="1"/>
              </a:rPr>
              <a:t>which parts of the scene are visible?</a:t>
            </a:r>
          </a:p>
        </p:txBody>
      </p:sp>
    </p:spTree>
    <p:extLst>
      <p:ext uri="{BB962C8B-B14F-4D97-AF65-F5344CB8AC3E}">
        <p14:creationId xmlns:p14="http://schemas.microsoft.com/office/powerpoint/2010/main" val="1577426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cSld name="4_1_">
    <p:spTree>
      <p:nvGrpSpPr>
        <p:cNvPr id="1" name=""/>
        <p:cNvGrpSpPr/>
        <p:nvPr/>
      </p:nvGrpSpPr>
      <p:grpSpPr>
        <a:xfrm>
          <a:off x="0" y="0"/>
          <a:ext cx="0" cy="0"/>
          <a:chOff x="0" y="0"/>
          <a:chExt cx="0" cy="0"/>
        </a:xfrm>
      </p:grpSpPr>
      <p:sp>
        <p:nvSpPr>
          <p:cNvPr id="62" name="Text Placeholder 61"/>
          <p:cNvSpPr>
            <a:spLocks noGrp="1"/>
          </p:cNvSpPr>
          <p:nvPr>
            <p:ph type="body" idx="10"/>
          </p:nvPr>
        </p:nvSpPr>
        <p:spPr>
          <a:xfrm>
            <a:off x="794050" y="281285"/>
            <a:ext cx="9500027" cy="5485507"/>
          </a:xfrm>
          <a:prstGeom prst="rect">
            <a:avLst/>
          </a:prstGeom>
          <a:noFill/>
          <a:ln w="0" cmpd="sng">
            <a:noFill/>
            <a:prstDash val="solid"/>
          </a:ln>
        </p:spPr>
        <p:txBody>
          <a:bodyPr lIns="0" tIns="160020" rIns="0" bIns="0" anchor="t"/>
          <a:lstStyle>
            <a:lvl1pPr marL="546477" marR="0" indent="257166" algn="l">
              <a:lnSpc>
                <a:spcPct val="117119"/>
              </a:lnSpc>
              <a:spcBef>
                <a:spcPts val="0"/>
              </a:spcBef>
              <a:spcAft>
                <a:spcPts val="380"/>
              </a:spcAft>
              <a:buFont typeface="Symbol"/>
              <a:buChar char="·"/>
              <a:defRPr/>
            </a:lvl1pPr>
          </a:lstStyle>
          <a:p>
            <a:pPr marL="0" marR="0" indent="0" algn="l">
              <a:lnSpc>
                <a:spcPct val="117119"/>
              </a:lnSpc>
              <a:spcAft>
                <a:spcPts val="0"/>
              </a:spcAft>
            </a:pPr>
            <a:r>
              <a:rPr lang="en-US" sz="2426" b="1" spc="0">
                <a:solidFill>
                  <a:srgbClr val="000080"/>
                </a:solidFill>
                <a:latin typeface="Palatino Linotype" panose="22635452340000000000" pitchFamily="1"/>
              </a:rPr>
              <a:t>What is a Data Structure Anyway?</a:t>
            </a:r>
          </a:p>
          <a:p>
            <a:pPr marL="320040" marR="0" indent="411480" algn="l">
              <a:lnSpc>
                <a:spcPct val="117119"/>
              </a:lnSpc>
              <a:spcBef>
                <a:spcPts val="3420"/>
              </a:spcBef>
              <a:spcAft>
                <a:spcPts val="0"/>
              </a:spcAft>
              <a:buFont typeface="Symbol"/>
              <a:buChar char="·"/>
            </a:pPr>
            <a:r>
              <a:rPr lang="en-US" sz="2180" spc="0">
                <a:solidFill>
                  <a:srgbClr val="000000"/>
                </a:solidFill>
                <a:latin typeface="Palatino Linotype" panose="22635452340000000000" pitchFamily="1"/>
              </a:rPr>
              <a:t>It’s an agreement about:</a:t>
            </a:r>
          </a:p>
          <a:p>
            <a:pPr marL="777240" marR="0" indent="365760" algn="l">
              <a:lnSpc>
                <a:spcPct val="117119"/>
              </a:lnSpc>
              <a:spcBef>
                <a:spcPts val="900"/>
              </a:spcBef>
              <a:spcAft>
                <a:spcPts val="0"/>
              </a:spcAft>
              <a:buFont typeface="Symbol"/>
              <a:buChar char="·"/>
            </a:pPr>
            <a:r>
              <a:rPr lang="en-US" sz="1898" spc="-14">
                <a:solidFill>
                  <a:srgbClr val="000000"/>
                </a:solidFill>
                <a:latin typeface="Palatino Linotype" panose="22635452340000000000" pitchFamily="1"/>
              </a:rPr>
              <a:t>how to store a collection of objects in memory,</a:t>
            </a:r>
          </a:p>
          <a:p>
            <a:pPr marL="777240" marR="0" indent="365760" algn="l">
              <a:lnSpc>
                <a:spcPct val="113279"/>
              </a:lnSpc>
              <a:spcBef>
                <a:spcPts val="0"/>
              </a:spcBef>
              <a:spcAft>
                <a:spcPts val="0"/>
              </a:spcAft>
              <a:buFont typeface="Symbol"/>
              <a:buChar char="·"/>
            </a:pPr>
            <a:r>
              <a:rPr lang="en-US" sz="1898" spc="-7">
                <a:solidFill>
                  <a:srgbClr val="000000"/>
                </a:solidFill>
                <a:latin typeface="Palatino Linotype" panose="22635452340000000000" pitchFamily="1"/>
              </a:rPr>
              <a:t>what operations we can perform on that data,</a:t>
            </a:r>
          </a:p>
          <a:p>
            <a:pPr marL="777240" marR="0" indent="365760" algn="l">
              <a:lnSpc>
                <a:spcPct val="113279"/>
              </a:lnSpc>
              <a:spcBef>
                <a:spcPts val="0"/>
              </a:spcBef>
              <a:spcAft>
                <a:spcPts val="0"/>
              </a:spcAft>
              <a:buFont typeface="Symbol"/>
              <a:buChar char="·"/>
            </a:pPr>
            <a:r>
              <a:rPr lang="en-US" sz="1898" spc="-7">
                <a:solidFill>
                  <a:srgbClr val="000000"/>
                </a:solidFill>
                <a:latin typeface="Palatino Linotype" panose="22635452340000000000" pitchFamily="1"/>
              </a:rPr>
              <a:t>the algorithms for those operations, and</a:t>
            </a:r>
          </a:p>
          <a:p>
            <a:pPr marL="777240" marR="0" indent="365760" algn="l">
              <a:lnSpc>
                <a:spcPct val="117119"/>
              </a:lnSpc>
              <a:spcBef>
                <a:spcPts val="0"/>
              </a:spcBef>
              <a:spcAft>
                <a:spcPts val="0"/>
              </a:spcAft>
              <a:buFont typeface="Symbol"/>
              <a:buChar char="·"/>
            </a:pPr>
            <a:r>
              <a:rPr lang="en-US" sz="1898" spc="-14">
                <a:solidFill>
                  <a:srgbClr val="000000"/>
                </a:solidFill>
                <a:latin typeface="Palatino Linotype" panose="22635452340000000000" pitchFamily="1"/>
              </a:rPr>
              <a:t>how time and space efficient those algorithms are.</a:t>
            </a:r>
          </a:p>
          <a:p>
            <a:pPr marL="320040" marR="0" indent="411480" algn="l">
              <a:lnSpc>
                <a:spcPct val="95999"/>
              </a:lnSpc>
              <a:spcBef>
                <a:spcPts val="4140"/>
              </a:spcBef>
              <a:spcAft>
                <a:spcPts val="0"/>
              </a:spcAft>
              <a:buFont typeface="Symbol"/>
              <a:buChar char="·"/>
            </a:pPr>
            <a:r>
              <a:rPr lang="en-US" sz="2180" spc="0">
                <a:solidFill>
                  <a:srgbClr val="000000"/>
                </a:solidFill>
                <a:latin typeface="Palatino Linotype" panose="22635452340000000000" pitchFamily="1"/>
              </a:rPr>
              <a:t>Ex. </a:t>
            </a:r>
            <a:r>
              <a:rPr lang="en-US" sz="1934" spc="-70">
                <a:solidFill>
                  <a:srgbClr val="000000"/>
                </a:solidFill>
                <a:latin typeface="Courier New" panose="22635452340000000000" pitchFamily="3"/>
              </a:rPr>
              <a:t>vector</a:t>
            </a:r>
            <a:r>
              <a:rPr lang="en-US" sz="2180" spc="0">
                <a:solidFill>
                  <a:srgbClr val="000000"/>
                </a:solidFill>
                <a:latin typeface="Palatino Linotype" panose="22635452340000000000" pitchFamily="1"/>
              </a:rPr>
              <a:t> in C++:</a:t>
            </a:r>
          </a:p>
          <a:p>
            <a:pPr marL="777240" marR="0" indent="365760" algn="l">
              <a:lnSpc>
                <a:spcPct val="115199"/>
              </a:lnSpc>
              <a:spcBef>
                <a:spcPts val="1260"/>
              </a:spcBef>
              <a:spcAft>
                <a:spcPts val="0"/>
              </a:spcAft>
              <a:buFont typeface="Symbol"/>
              <a:buChar char="·"/>
            </a:pPr>
            <a:r>
              <a:rPr lang="en-US" sz="1898" spc="-7">
                <a:solidFill>
                  <a:srgbClr val="000000"/>
                </a:solidFill>
                <a:latin typeface="Palatino Linotype" panose="22635452340000000000" pitchFamily="1"/>
              </a:rPr>
              <a:t>Stores objects sequentially in memory</a:t>
            </a:r>
          </a:p>
          <a:p>
            <a:pPr marL="777240" marR="0" indent="411480" algn="l">
              <a:lnSpc>
                <a:spcPct val="110399"/>
              </a:lnSpc>
              <a:spcBef>
                <a:spcPts val="0"/>
              </a:spcBef>
              <a:spcAft>
                <a:spcPts val="0"/>
              </a:spcAft>
              <a:buFont typeface="Symbol"/>
              <a:buChar char="·"/>
            </a:pPr>
            <a:r>
              <a:rPr lang="en-US" sz="1898" spc="-7">
                <a:solidFill>
                  <a:srgbClr val="000000"/>
                </a:solidFill>
                <a:latin typeface="Palatino Linotype" panose="22635452340000000000" pitchFamily="1"/>
              </a:rPr>
              <a:t>Can access, change, insert or delete objects</a:t>
            </a:r>
          </a:p>
          <a:p>
            <a:pPr marL="777240" marR="0" indent="365760" algn="l">
              <a:lnSpc>
                <a:spcPct val="110399"/>
              </a:lnSpc>
              <a:spcBef>
                <a:spcPts val="0"/>
              </a:spcBef>
              <a:spcAft>
                <a:spcPts val="0"/>
              </a:spcAft>
              <a:buFont typeface="Symbol"/>
              <a:buChar char="·"/>
            </a:pPr>
            <a:r>
              <a:rPr lang="en-US" sz="1898" spc="-7">
                <a:solidFill>
                  <a:srgbClr val="000000"/>
                </a:solidFill>
                <a:latin typeface="Palatino Linotype" panose="22635452340000000000" pitchFamily="1"/>
              </a:rPr>
              <a:t>Algorithms for insert &amp; delete will shift items as needed</a:t>
            </a:r>
          </a:p>
          <a:p>
            <a:pPr marL="777240" marR="0" indent="365760" algn="l">
              <a:lnSpc>
                <a:spcPct val="117119"/>
              </a:lnSpc>
              <a:spcBef>
                <a:spcPts val="0"/>
              </a:spcBef>
              <a:spcAft>
                <a:spcPts val="540"/>
              </a:spcAft>
              <a:buFont typeface="Symbol"/>
              <a:buChar char="·"/>
            </a:pPr>
            <a:r>
              <a:rPr lang="en-US" sz="1898" spc="14">
                <a:solidFill>
                  <a:srgbClr val="000000"/>
                </a:solidFill>
                <a:latin typeface="Palatino Linotype" panose="22635452340000000000" pitchFamily="1"/>
              </a:rPr>
              <a:t>Space: O(n), Access/change = O(1), Insert/delete = O(n)</a:t>
            </a:r>
          </a:p>
        </p:txBody>
      </p:sp>
    </p:spTree>
    <p:extLst>
      <p:ext uri="{BB962C8B-B14F-4D97-AF65-F5344CB8AC3E}">
        <p14:creationId xmlns:p14="http://schemas.microsoft.com/office/powerpoint/2010/main" val="23591473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F02F1D-43AA-43D6-B0C6-A5A55CB9E5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xmlns="" id="{A2FB19EE-6260-4571-B559-0C1E0EE61B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xmlns="" id="{641F5D27-8A4B-4F9A-AD87-2348EC41E755}"/>
              </a:ext>
            </a:extLst>
          </p:cNvPr>
          <p:cNvSpPr>
            <a:spLocks noGrp="1"/>
          </p:cNvSpPr>
          <p:nvPr>
            <p:ph type="dt" sz="half" idx="10"/>
          </p:nvPr>
        </p:nvSpPr>
        <p:spPr/>
        <p:txBody>
          <a:bodyPr/>
          <a:lstStyle/>
          <a:p>
            <a:fld id="{65E05CEB-67A4-4D91-88EB-EE1FA6553930}" type="datetimeFigureOut">
              <a:rPr lang="en-PK" smtClean="0"/>
              <a:t>21/08/2025</a:t>
            </a:fld>
            <a:endParaRPr lang="en-PK"/>
          </a:p>
        </p:txBody>
      </p:sp>
      <p:sp>
        <p:nvSpPr>
          <p:cNvPr id="5" name="Footer Placeholder 4">
            <a:extLst>
              <a:ext uri="{FF2B5EF4-FFF2-40B4-BE49-F238E27FC236}">
                <a16:creationId xmlns:a16="http://schemas.microsoft.com/office/drawing/2014/main" xmlns="" id="{784E7321-660A-441D-8490-13E1AE8CC89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xmlns="" id="{EAC3999D-DDEF-4D4F-B9DA-87095EAB3123}"/>
              </a:ext>
            </a:extLst>
          </p:cNvPr>
          <p:cNvSpPr>
            <a:spLocks noGrp="1"/>
          </p:cNvSpPr>
          <p:nvPr>
            <p:ph type="sldNum" sz="quarter" idx="12"/>
          </p:nvPr>
        </p:nvSpPr>
        <p:spPr/>
        <p:txBody>
          <a:bodyPr/>
          <a:lstStyle/>
          <a:p>
            <a:fld id="{46EB9CF0-2862-410B-979E-91A634226AD9}" type="slidenum">
              <a:rPr lang="en-PK" smtClean="0"/>
              <a:t>‹#›</a:t>
            </a:fld>
            <a:endParaRPr lang="en-PK"/>
          </a:p>
        </p:txBody>
      </p:sp>
    </p:spTree>
    <p:extLst>
      <p:ext uri="{BB962C8B-B14F-4D97-AF65-F5344CB8AC3E}">
        <p14:creationId xmlns:p14="http://schemas.microsoft.com/office/powerpoint/2010/main" val="282469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9017F7C-E41C-491E-8529-B2A3CE0B5D0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xmlns="" id="{38F5EBF0-1A15-4649-8C63-36C7B8D3D0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xmlns="" id="{09C5F6C4-599B-4771-BB5D-46EA670E2ED1}"/>
              </a:ext>
            </a:extLst>
          </p:cNvPr>
          <p:cNvSpPr>
            <a:spLocks noGrp="1"/>
          </p:cNvSpPr>
          <p:nvPr>
            <p:ph type="dt" sz="half" idx="10"/>
          </p:nvPr>
        </p:nvSpPr>
        <p:spPr/>
        <p:txBody>
          <a:bodyPr/>
          <a:lstStyle/>
          <a:p>
            <a:fld id="{65E05CEB-67A4-4D91-88EB-EE1FA6553930}" type="datetimeFigureOut">
              <a:rPr lang="en-PK" smtClean="0"/>
              <a:t>21/08/2025</a:t>
            </a:fld>
            <a:endParaRPr lang="en-PK"/>
          </a:p>
        </p:txBody>
      </p:sp>
      <p:sp>
        <p:nvSpPr>
          <p:cNvPr id="5" name="Footer Placeholder 4">
            <a:extLst>
              <a:ext uri="{FF2B5EF4-FFF2-40B4-BE49-F238E27FC236}">
                <a16:creationId xmlns:a16="http://schemas.microsoft.com/office/drawing/2014/main" xmlns="" id="{C7A7D050-75FA-4217-95AF-B4CD30F7169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xmlns="" id="{29AF3B9A-327F-427A-BA48-41CD393AF14B}"/>
              </a:ext>
            </a:extLst>
          </p:cNvPr>
          <p:cNvSpPr>
            <a:spLocks noGrp="1"/>
          </p:cNvSpPr>
          <p:nvPr>
            <p:ph type="sldNum" sz="quarter" idx="12"/>
          </p:nvPr>
        </p:nvSpPr>
        <p:spPr/>
        <p:txBody>
          <a:bodyPr/>
          <a:lstStyle/>
          <a:p>
            <a:fld id="{46EB9CF0-2862-410B-979E-91A634226AD9}" type="slidenum">
              <a:rPr lang="en-PK" smtClean="0"/>
              <a:t>‹#›</a:t>
            </a:fld>
            <a:endParaRPr lang="en-PK"/>
          </a:p>
        </p:txBody>
      </p:sp>
    </p:spTree>
    <p:extLst>
      <p:ext uri="{BB962C8B-B14F-4D97-AF65-F5344CB8AC3E}">
        <p14:creationId xmlns:p14="http://schemas.microsoft.com/office/powerpoint/2010/main" val="8263695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4C029E-F811-48DE-849D-4C2AAA88E8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xmlns="" id="{D80BD21A-3A4C-4597-8BFF-B9BB79C263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4D53C62D-F424-4964-8CA9-A260256E6FF4}"/>
              </a:ext>
            </a:extLst>
          </p:cNvPr>
          <p:cNvSpPr>
            <a:spLocks noGrp="1"/>
          </p:cNvSpPr>
          <p:nvPr>
            <p:ph type="dt" sz="half" idx="10"/>
          </p:nvPr>
        </p:nvSpPr>
        <p:spPr/>
        <p:txBody>
          <a:bodyPr/>
          <a:lstStyle/>
          <a:p>
            <a:fld id="{65E05CEB-67A4-4D91-88EB-EE1FA6553930}" type="datetimeFigureOut">
              <a:rPr lang="en-PK" smtClean="0"/>
              <a:t>21/08/2025</a:t>
            </a:fld>
            <a:endParaRPr lang="en-PK"/>
          </a:p>
        </p:txBody>
      </p:sp>
      <p:sp>
        <p:nvSpPr>
          <p:cNvPr id="5" name="Footer Placeholder 4">
            <a:extLst>
              <a:ext uri="{FF2B5EF4-FFF2-40B4-BE49-F238E27FC236}">
                <a16:creationId xmlns:a16="http://schemas.microsoft.com/office/drawing/2014/main" xmlns="" id="{69BE9808-3AA0-4C12-AC18-9051BBAF307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xmlns="" id="{74F93262-623E-492D-AAFA-58FB197A70A9}"/>
              </a:ext>
            </a:extLst>
          </p:cNvPr>
          <p:cNvSpPr>
            <a:spLocks noGrp="1"/>
          </p:cNvSpPr>
          <p:nvPr>
            <p:ph type="sldNum" sz="quarter" idx="12"/>
          </p:nvPr>
        </p:nvSpPr>
        <p:spPr/>
        <p:txBody>
          <a:bodyPr/>
          <a:lstStyle/>
          <a:p>
            <a:fld id="{46EB9CF0-2862-410B-979E-91A634226AD9}" type="slidenum">
              <a:rPr lang="en-PK" smtClean="0"/>
              <a:t>‹#›</a:t>
            </a:fld>
            <a:endParaRPr lang="en-PK"/>
          </a:p>
        </p:txBody>
      </p:sp>
    </p:spTree>
    <p:extLst>
      <p:ext uri="{BB962C8B-B14F-4D97-AF65-F5344CB8AC3E}">
        <p14:creationId xmlns:p14="http://schemas.microsoft.com/office/powerpoint/2010/main" val="17286327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D01C87-CC5E-441F-9413-2329B5090838}"/>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xmlns="" id="{DF316EC0-E582-408A-AE64-B97A945603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xmlns="" id="{CB7497F2-D8A2-4BA4-B938-4131A6CB77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xmlns="" id="{CDE0ACA3-B428-4C2F-B4AB-FFAD55FC5A4D}"/>
              </a:ext>
            </a:extLst>
          </p:cNvPr>
          <p:cNvSpPr>
            <a:spLocks noGrp="1"/>
          </p:cNvSpPr>
          <p:nvPr>
            <p:ph type="dt" sz="half" idx="10"/>
          </p:nvPr>
        </p:nvSpPr>
        <p:spPr/>
        <p:txBody>
          <a:bodyPr/>
          <a:lstStyle/>
          <a:p>
            <a:fld id="{65E05CEB-67A4-4D91-88EB-EE1FA6553930}" type="datetimeFigureOut">
              <a:rPr lang="en-PK" smtClean="0"/>
              <a:t>21/08/2025</a:t>
            </a:fld>
            <a:endParaRPr lang="en-PK"/>
          </a:p>
        </p:txBody>
      </p:sp>
      <p:sp>
        <p:nvSpPr>
          <p:cNvPr id="6" name="Footer Placeholder 5">
            <a:extLst>
              <a:ext uri="{FF2B5EF4-FFF2-40B4-BE49-F238E27FC236}">
                <a16:creationId xmlns:a16="http://schemas.microsoft.com/office/drawing/2014/main" xmlns="" id="{31E0594F-461A-432F-AFFA-933DE0C367CD}"/>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xmlns="" id="{B75D243B-DB33-4291-8C79-79C368433F48}"/>
              </a:ext>
            </a:extLst>
          </p:cNvPr>
          <p:cNvSpPr>
            <a:spLocks noGrp="1"/>
          </p:cNvSpPr>
          <p:nvPr>
            <p:ph type="sldNum" sz="quarter" idx="12"/>
          </p:nvPr>
        </p:nvSpPr>
        <p:spPr/>
        <p:txBody>
          <a:bodyPr/>
          <a:lstStyle/>
          <a:p>
            <a:fld id="{46EB9CF0-2862-410B-979E-91A634226AD9}" type="slidenum">
              <a:rPr lang="en-PK" smtClean="0"/>
              <a:t>‹#›</a:t>
            </a:fld>
            <a:endParaRPr lang="en-PK"/>
          </a:p>
        </p:txBody>
      </p:sp>
    </p:spTree>
    <p:extLst>
      <p:ext uri="{BB962C8B-B14F-4D97-AF65-F5344CB8AC3E}">
        <p14:creationId xmlns:p14="http://schemas.microsoft.com/office/powerpoint/2010/main" val="3194971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CF3C57-1813-48E7-A403-4BBCE1E5ED03}"/>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xmlns="" id="{06E13094-9A06-4AF8-BA86-A96BAA24B1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E1D66CF-9611-415E-A0EE-6C04CDB29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xmlns="" id="{313F4F46-D830-4230-BC09-96F6601C34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460245C7-964A-40D9-BAAF-1E71A16855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xmlns="" id="{6CFC14FC-879F-4DA0-B1C2-D801CE30092A}"/>
              </a:ext>
            </a:extLst>
          </p:cNvPr>
          <p:cNvSpPr>
            <a:spLocks noGrp="1"/>
          </p:cNvSpPr>
          <p:nvPr>
            <p:ph type="dt" sz="half" idx="10"/>
          </p:nvPr>
        </p:nvSpPr>
        <p:spPr/>
        <p:txBody>
          <a:bodyPr/>
          <a:lstStyle/>
          <a:p>
            <a:fld id="{65E05CEB-67A4-4D91-88EB-EE1FA6553930}" type="datetimeFigureOut">
              <a:rPr lang="en-PK" smtClean="0"/>
              <a:t>21/08/2025</a:t>
            </a:fld>
            <a:endParaRPr lang="en-PK"/>
          </a:p>
        </p:txBody>
      </p:sp>
      <p:sp>
        <p:nvSpPr>
          <p:cNvPr id="8" name="Footer Placeholder 7">
            <a:extLst>
              <a:ext uri="{FF2B5EF4-FFF2-40B4-BE49-F238E27FC236}">
                <a16:creationId xmlns:a16="http://schemas.microsoft.com/office/drawing/2014/main" xmlns="" id="{79469822-4B05-40EB-AC17-B6D476911902}"/>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xmlns="" id="{62732921-254D-46E5-9D73-6738A91D08E2}"/>
              </a:ext>
            </a:extLst>
          </p:cNvPr>
          <p:cNvSpPr>
            <a:spLocks noGrp="1"/>
          </p:cNvSpPr>
          <p:nvPr>
            <p:ph type="sldNum" sz="quarter" idx="12"/>
          </p:nvPr>
        </p:nvSpPr>
        <p:spPr/>
        <p:txBody>
          <a:bodyPr/>
          <a:lstStyle/>
          <a:p>
            <a:fld id="{46EB9CF0-2862-410B-979E-91A634226AD9}" type="slidenum">
              <a:rPr lang="en-PK" smtClean="0"/>
              <a:t>‹#›</a:t>
            </a:fld>
            <a:endParaRPr lang="en-PK"/>
          </a:p>
        </p:txBody>
      </p:sp>
    </p:spTree>
    <p:extLst>
      <p:ext uri="{BB962C8B-B14F-4D97-AF65-F5344CB8AC3E}">
        <p14:creationId xmlns:p14="http://schemas.microsoft.com/office/powerpoint/2010/main" val="18493098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435AB2-5BEF-45F5-AD41-8E444538D48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xmlns="" id="{5B9A6DEC-039F-401D-B025-F47CB022122D}"/>
              </a:ext>
            </a:extLst>
          </p:cNvPr>
          <p:cNvSpPr>
            <a:spLocks noGrp="1"/>
          </p:cNvSpPr>
          <p:nvPr>
            <p:ph type="dt" sz="half" idx="10"/>
          </p:nvPr>
        </p:nvSpPr>
        <p:spPr/>
        <p:txBody>
          <a:bodyPr/>
          <a:lstStyle/>
          <a:p>
            <a:fld id="{65E05CEB-67A4-4D91-88EB-EE1FA6553930}" type="datetimeFigureOut">
              <a:rPr lang="en-PK" smtClean="0"/>
              <a:t>21/08/2025</a:t>
            </a:fld>
            <a:endParaRPr lang="en-PK"/>
          </a:p>
        </p:txBody>
      </p:sp>
      <p:sp>
        <p:nvSpPr>
          <p:cNvPr id="4" name="Footer Placeholder 3">
            <a:extLst>
              <a:ext uri="{FF2B5EF4-FFF2-40B4-BE49-F238E27FC236}">
                <a16:creationId xmlns:a16="http://schemas.microsoft.com/office/drawing/2014/main" xmlns="" id="{ECDEF696-3DDB-45B9-9444-18FFD98BFEC0}"/>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xmlns="" id="{54041433-089B-4729-976C-8CE8308533A4}"/>
              </a:ext>
            </a:extLst>
          </p:cNvPr>
          <p:cNvSpPr>
            <a:spLocks noGrp="1"/>
          </p:cNvSpPr>
          <p:nvPr>
            <p:ph type="sldNum" sz="quarter" idx="12"/>
          </p:nvPr>
        </p:nvSpPr>
        <p:spPr/>
        <p:txBody>
          <a:bodyPr/>
          <a:lstStyle/>
          <a:p>
            <a:fld id="{46EB9CF0-2862-410B-979E-91A634226AD9}" type="slidenum">
              <a:rPr lang="en-PK" smtClean="0"/>
              <a:t>‹#›</a:t>
            </a:fld>
            <a:endParaRPr lang="en-PK"/>
          </a:p>
        </p:txBody>
      </p:sp>
    </p:spTree>
    <p:extLst>
      <p:ext uri="{BB962C8B-B14F-4D97-AF65-F5344CB8AC3E}">
        <p14:creationId xmlns:p14="http://schemas.microsoft.com/office/powerpoint/2010/main" val="15890327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F9557F59-07EE-4140-8FDD-C7B464B0D458}"/>
              </a:ext>
            </a:extLst>
          </p:cNvPr>
          <p:cNvSpPr>
            <a:spLocks noGrp="1"/>
          </p:cNvSpPr>
          <p:nvPr>
            <p:ph type="dt" sz="half" idx="10"/>
          </p:nvPr>
        </p:nvSpPr>
        <p:spPr/>
        <p:txBody>
          <a:bodyPr/>
          <a:lstStyle/>
          <a:p>
            <a:fld id="{65E05CEB-67A4-4D91-88EB-EE1FA6553930}" type="datetimeFigureOut">
              <a:rPr lang="en-PK" smtClean="0"/>
              <a:t>21/08/2025</a:t>
            </a:fld>
            <a:endParaRPr lang="en-PK"/>
          </a:p>
        </p:txBody>
      </p:sp>
      <p:sp>
        <p:nvSpPr>
          <p:cNvPr id="3" name="Footer Placeholder 2">
            <a:extLst>
              <a:ext uri="{FF2B5EF4-FFF2-40B4-BE49-F238E27FC236}">
                <a16:creationId xmlns:a16="http://schemas.microsoft.com/office/drawing/2014/main" xmlns="" id="{307B6FAD-4D34-4EB3-8C38-8714A8644A21}"/>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xmlns="" id="{2533BD75-5E4C-4CBF-B5F6-17C8E7839582}"/>
              </a:ext>
            </a:extLst>
          </p:cNvPr>
          <p:cNvSpPr>
            <a:spLocks noGrp="1"/>
          </p:cNvSpPr>
          <p:nvPr>
            <p:ph type="sldNum" sz="quarter" idx="12"/>
          </p:nvPr>
        </p:nvSpPr>
        <p:spPr/>
        <p:txBody>
          <a:bodyPr/>
          <a:lstStyle/>
          <a:p>
            <a:fld id="{46EB9CF0-2862-410B-979E-91A634226AD9}" type="slidenum">
              <a:rPr lang="en-PK" smtClean="0"/>
              <a:t>‹#›</a:t>
            </a:fld>
            <a:endParaRPr lang="en-PK"/>
          </a:p>
        </p:txBody>
      </p:sp>
    </p:spTree>
    <p:extLst>
      <p:ext uri="{BB962C8B-B14F-4D97-AF65-F5344CB8AC3E}">
        <p14:creationId xmlns:p14="http://schemas.microsoft.com/office/powerpoint/2010/main" val="24254958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DCD446-9B3F-4A93-A331-EC77A0F28B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xmlns="" id="{448C1296-B08C-452B-951B-63F7E12E05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xmlns="" id="{290FBE79-89FF-48CE-A356-67B274D59A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5F4DF52-46B7-40D8-BD33-C8FABC304D03}"/>
              </a:ext>
            </a:extLst>
          </p:cNvPr>
          <p:cNvSpPr>
            <a:spLocks noGrp="1"/>
          </p:cNvSpPr>
          <p:nvPr>
            <p:ph type="dt" sz="half" idx="10"/>
          </p:nvPr>
        </p:nvSpPr>
        <p:spPr/>
        <p:txBody>
          <a:bodyPr/>
          <a:lstStyle/>
          <a:p>
            <a:fld id="{65E05CEB-67A4-4D91-88EB-EE1FA6553930}" type="datetimeFigureOut">
              <a:rPr lang="en-PK" smtClean="0"/>
              <a:t>21/08/2025</a:t>
            </a:fld>
            <a:endParaRPr lang="en-PK"/>
          </a:p>
        </p:txBody>
      </p:sp>
      <p:sp>
        <p:nvSpPr>
          <p:cNvPr id="6" name="Footer Placeholder 5">
            <a:extLst>
              <a:ext uri="{FF2B5EF4-FFF2-40B4-BE49-F238E27FC236}">
                <a16:creationId xmlns:a16="http://schemas.microsoft.com/office/drawing/2014/main" xmlns="" id="{34099852-C605-4B57-AF6B-DF6E9493EB41}"/>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xmlns="" id="{01CF4EF6-4B1D-4B2F-9888-52AB5AC4EF28}"/>
              </a:ext>
            </a:extLst>
          </p:cNvPr>
          <p:cNvSpPr>
            <a:spLocks noGrp="1"/>
          </p:cNvSpPr>
          <p:nvPr>
            <p:ph type="sldNum" sz="quarter" idx="12"/>
          </p:nvPr>
        </p:nvSpPr>
        <p:spPr/>
        <p:txBody>
          <a:bodyPr/>
          <a:lstStyle/>
          <a:p>
            <a:fld id="{46EB9CF0-2862-410B-979E-91A634226AD9}" type="slidenum">
              <a:rPr lang="en-PK" smtClean="0"/>
              <a:t>‹#›</a:t>
            </a:fld>
            <a:endParaRPr lang="en-PK"/>
          </a:p>
        </p:txBody>
      </p:sp>
    </p:spTree>
    <p:extLst>
      <p:ext uri="{BB962C8B-B14F-4D97-AF65-F5344CB8AC3E}">
        <p14:creationId xmlns:p14="http://schemas.microsoft.com/office/powerpoint/2010/main" val="35824852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93B43D-C220-437B-B562-47FA8EB5B2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xmlns="" id="{EB18841C-3931-4A95-B182-325AD597A0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xmlns="" id="{F777ADD6-23E8-4153-A77C-8D71553463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61F1251-681D-4C3B-A80C-B0E60E5803C6}"/>
              </a:ext>
            </a:extLst>
          </p:cNvPr>
          <p:cNvSpPr>
            <a:spLocks noGrp="1"/>
          </p:cNvSpPr>
          <p:nvPr>
            <p:ph type="dt" sz="half" idx="10"/>
          </p:nvPr>
        </p:nvSpPr>
        <p:spPr/>
        <p:txBody>
          <a:bodyPr/>
          <a:lstStyle/>
          <a:p>
            <a:fld id="{65E05CEB-67A4-4D91-88EB-EE1FA6553930}" type="datetimeFigureOut">
              <a:rPr lang="en-PK" smtClean="0"/>
              <a:t>21/08/2025</a:t>
            </a:fld>
            <a:endParaRPr lang="en-PK"/>
          </a:p>
        </p:txBody>
      </p:sp>
      <p:sp>
        <p:nvSpPr>
          <p:cNvPr id="6" name="Footer Placeholder 5">
            <a:extLst>
              <a:ext uri="{FF2B5EF4-FFF2-40B4-BE49-F238E27FC236}">
                <a16:creationId xmlns:a16="http://schemas.microsoft.com/office/drawing/2014/main" xmlns="" id="{7D66A3F9-A332-4EF1-A411-03B66BA17A61}"/>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xmlns="" id="{96F42D55-A6B5-417D-A372-FD4EEA3345BB}"/>
              </a:ext>
            </a:extLst>
          </p:cNvPr>
          <p:cNvSpPr>
            <a:spLocks noGrp="1"/>
          </p:cNvSpPr>
          <p:nvPr>
            <p:ph type="sldNum" sz="quarter" idx="12"/>
          </p:nvPr>
        </p:nvSpPr>
        <p:spPr/>
        <p:txBody>
          <a:bodyPr/>
          <a:lstStyle/>
          <a:p>
            <a:fld id="{46EB9CF0-2862-410B-979E-91A634226AD9}" type="slidenum">
              <a:rPr lang="en-PK" smtClean="0"/>
              <a:t>‹#›</a:t>
            </a:fld>
            <a:endParaRPr lang="en-PK"/>
          </a:p>
        </p:txBody>
      </p:sp>
    </p:spTree>
    <p:extLst>
      <p:ext uri="{BB962C8B-B14F-4D97-AF65-F5344CB8AC3E}">
        <p14:creationId xmlns:p14="http://schemas.microsoft.com/office/powerpoint/2010/main" val="25259855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545DA3-CD03-44EA-939E-C423063A0272}"/>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xmlns="" id="{49F6D1B4-86D7-4ADA-ACCE-B075496D1C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xmlns="" id="{9EFE1FB1-B706-4D48-AC78-214419F5CE6C}"/>
              </a:ext>
            </a:extLst>
          </p:cNvPr>
          <p:cNvSpPr>
            <a:spLocks noGrp="1"/>
          </p:cNvSpPr>
          <p:nvPr>
            <p:ph type="dt" sz="half" idx="10"/>
          </p:nvPr>
        </p:nvSpPr>
        <p:spPr/>
        <p:txBody>
          <a:bodyPr/>
          <a:lstStyle/>
          <a:p>
            <a:fld id="{65E05CEB-67A4-4D91-88EB-EE1FA6553930}" type="datetimeFigureOut">
              <a:rPr lang="en-PK" smtClean="0"/>
              <a:t>21/08/2025</a:t>
            </a:fld>
            <a:endParaRPr lang="en-PK"/>
          </a:p>
        </p:txBody>
      </p:sp>
      <p:sp>
        <p:nvSpPr>
          <p:cNvPr id="5" name="Footer Placeholder 4">
            <a:extLst>
              <a:ext uri="{FF2B5EF4-FFF2-40B4-BE49-F238E27FC236}">
                <a16:creationId xmlns:a16="http://schemas.microsoft.com/office/drawing/2014/main" xmlns="" id="{C7718AC4-9012-4AD3-8413-94233954CFB4}"/>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xmlns="" id="{5EB64290-BB52-4CC6-A6C0-D16674EB448F}"/>
              </a:ext>
            </a:extLst>
          </p:cNvPr>
          <p:cNvSpPr>
            <a:spLocks noGrp="1"/>
          </p:cNvSpPr>
          <p:nvPr>
            <p:ph type="sldNum" sz="quarter" idx="12"/>
          </p:nvPr>
        </p:nvSpPr>
        <p:spPr/>
        <p:txBody>
          <a:bodyPr/>
          <a:lstStyle/>
          <a:p>
            <a:fld id="{46EB9CF0-2862-410B-979E-91A634226AD9}" type="slidenum">
              <a:rPr lang="en-PK" smtClean="0"/>
              <a:t>‹#›</a:t>
            </a:fld>
            <a:endParaRPr lang="en-PK"/>
          </a:p>
        </p:txBody>
      </p:sp>
    </p:spTree>
    <p:extLst>
      <p:ext uri="{BB962C8B-B14F-4D97-AF65-F5344CB8AC3E}">
        <p14:creationId xmlns:p14="http://schemas.microsoft.com/office/powerpoint/2010/main" val="154109266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E6DD99B4-3827-44BB-9C18-6CDD3911BC9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xmlns="" id="{CE19E350-3BA3-486D-B145-0877550BD2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xmlns="" id="{42230E47-8C4F-45D7-860C-167C43331980}"/>
              </a:ext>
            </a:extLst>
          </p:cNvPr>
          <p:cNvSpPr>
            <a:spLocks noGrp="1"/>
          </p:cNvSpPr>
          <p:nvPr>
            <p:ph type="dt" sz="half" idx="10"/>
          </p:nvPr>
        </p:nvSpPr>
        <p:spPr/>
        <p:txBody>
          <a:bodyPr/>
          <a:lstStyle/>
          <a:p>
            <a:fld id="{65E05CEB-67A4-4D91-88EB-EE1FA6553930}" type="datetimeFigureOut">
              <a:rPr lang="en-PK" smtClean="0"/>
              <a:t>21/08/2025</a:t>
            </a:fld>
            <a:endParaRPr lang="en-PK"/>
          </a:p>
        </p:txBody>
      </p:sp>
      <p:sp>
        <p:nvSpPr>
          <p:cNvPr id="5" name="Footer Placeholder 4">
            <a:extLst>
              <a:ext uri="{FF2B5EF4-FFF2-40B4-BE49-F238E27FC236}">
                <a16:creationId xmlns:a16="http://schemas.microsoft.com/office/drawing/2014/main" xmlns="" id="{FD12DCF1-8C5C-4A93-A27C-E3C21893BED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xmlns="" id="{D36D801E-2C27-4070-A550-1ECFC1A1506C}"/>
              </a:ext>
            </a:extLst>
          </p:cNvPr>
          <p:cNvSpPr>
            <a:spLocks noGrp="1"/>
          </p:cNvSpPr>
          <p:nvPr>
            <p:ph type="sldNum" sz="quarter" idx="12"/>
          </p:nvPr>
        </p:nvSpPr>
        <p:spPr/>
        <p:txBody>
          <a:bodyPr/>
          <a:lstStyle/>
          <a:p>
            <a:fld id="{46EB9CF0-2862-410B-979E-91A634226AD9}" type="slidenum">
              <a:rPr lang="en-PK" smtClean="0"/>
              <a:t>‹#›</a:t>
            </a:fld>
            <a:endParaRPr lang="en-PK"/>
          </a:p>
        </p:txBody>
      </p:sp>
    </p:spTree>
    <p:extLst>
      <p:ext uri="{BB962C8B-B14F-4D97-AF65-F5344CB8AC3E}">
        <p14:creationId xmlns:p14="http://schemas.microsoft.com/office/powerpoint/2010/main" val="3423073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E88BAA3-F51F-43B7-98CF-540F19C875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xmlns="" id="{3BE544A7-1CFA-49D8-903C-DE96A77EEE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xmlns="" id="{1BC7ACC7-4888-44DA-AF9D-6B06B20ADB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B571AF-1B03-43DE-BB93-1E3FCDF9F58F}" type="datetimeFigureOut">
              <a:rPr lang="en-PK" smtClean="0"/>
              <a:t>21/08/2025</a:t>
            </a:fld>
            <a:endParaRPr lang="en-PK"/>
          </a:p>
        </p:txBody>
      </p:sp>
      <p:sp>
        <p:nvSpPr>
          <p:cNvPr id="5" name="Footer Placeholder 4">
            <a:extLst>
              <a:ext uri="{FF2B5EF4-FFF2-40B4-BE49-F238E27FC236}">
                <a16:creationId xmlns:a16="http://schemas.microsoft.com/office/drawing/2014/main" xmlns="" id="{68182AAD-52F1-4F7D-8C57-30D4EC1B21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xmlns="" id="{573DFDFC-09EF-4838-A8F2-C5651D2C42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835088-93A1-48A3-93BC-81BA3F61C33A}" type="slidenum">
              <a:rPr lang="en-PK" smtClean="0"/>
              <a:t>‹#›</a:t>
            </a:fld>
            <a:endParaRPr lang="en-PK"/>
          </a:p>
        </p:txBody>
      </p:sp>
    </p:spTree>
    <p:extLst>
      <p:ext uri="{BB962C8B-B14F-4D97-AF65-F5344CB8AC3E}">
        <p14:creationId xmlns:p14="http://schemas.microsoft.com/office/powerpoint/2010/main" val="3543801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89A2068C-951E-48CE-8AF1-0F12DD8E97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xmlns="" id="{71123869-68B3-4CE4-89A2-8DA25E4118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xmlns="" id="{6A381CF9-9BF7-40C1-8FB7-3808252C9A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E05CEB-67A4-4D91-88EB-EE1FA6553930}" type="datetimeFigureOut">
              <a:rPr lang="en-PK" smtClean="0"/>
              <a:t>21/08/2025</a:t>
            </a:fld>
            <a:endParaRPr lang="en-PK"/>
          </a:p>
        </p:txBody>
      </p:sp>
      <p:sp>
        <p:nvSpPr>
          <p:cNvPr id="5" name="Footer Placeholder 4">
            <a:extLst>
              <a:ext uri="{FF2B5EF4-FFF2-40B4-BE49-F238E27FC236}">
                <a16:creationId xmlns:a16="http://schemas.microsoft.com/office/drawing/2014/main" xmlns="" id="{8A4D5AFC-8663-4575-BBC1-019EEF2AF4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xmlns="" id="{0AE25130-669C-49B9-887B-654C33D6B9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EB9CF0-2862-410B-979E-91A634226AD9}" type="slidenum">
              <a:rPr lang="en-PK" smtClean="0"/>
              <a:t>‹#›</a:t>
            </a:fld>
            <a:endParaRPr lang="en-PK"/>
          </a:p>
        </p:txBody>
      </p:sp>
    </p:spTree>
    <p:extLst>
      <p:ext uri="{BB962C8B-B14F-4D97-AF65-F5344CB8AC3E}">
        <p14:creationId xmlns:p14="http://schemas.microsoft.com/office/powerpoint/2010/main" val="4353556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00000000-0008-0000-0000-0000030000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66036" y="1612924"/>
            <a:ext cx="3153974" cy="3115872"/>
          </a:xfrm>
          <a:prstGeom prst="rect">
            <a:avLst/>
          </a:prstGeom>
        </p:spPr>
      </p:pic>
      <p:sp>
        <p:nvSpPr>
          <p:cNvPr id="2" name="Title 1">
            <a:extLst>
              <a:ext uri="{FF2B5EF4-FFF2-40B4-BE49-F238E27FC236}">
                <a16:creationId xmlns:a16="http://schemas.microsoft.com/office/drawing/2014/main" xmlns="" id="{5CCB1E92-F2F2-4D13-AC0E-D86FD23FEC11}"/>
              </a:ext>
            </a:extLst>
          </p:cNvPr>
          <p:cNvSpPr>
            <a:spLocks noGrp="1"/>
          </p:cNvSpPr>
          <p:nvPr>
            <p:ph type="title"/>
          </p:nvPr>
        </p:nvSpPr>
        <p:spPr>
          <a:xfrm>
            <a:off x="-152400" y="178633"/>
            <a:ext cx="12636500" cy="1325563"/>
          </a:xfrm>
        </p:spPr>
        <p:txBody>
          <a:bodyPr>
            <a:normAutofit fontScale="90000"/>
          </a:bodyPr>
          <a:lstStyle/>
          <a:p>
            <a:pPr algn="ctr"/>
            <a:r>
              <a:rPr lang="en-US" sz="4800" b="1" dirty="0">
                <a:solidFill>
                  <a:schemeClr val="accent2">
                    <a:lumMod val="75000"/>
                  </a:schemeClr>
                </a:solidFill>
                <a:latin typeface="Arial Rounded MT Bold" panose="020F0704030504030204" pitchFamily="34" charset="0"/>
              </a:rPr>
              <a:t>DATA STRUCTURE ALGORITHMS AND APPLICATIONS</a:t>
            </a:r>
            <a:endParaRPr lang="en-PK" sz="4800" b="1" dirty="0">
              <a:solidFill>
                <a:schemeClr val="accent2">
                  <a:lumMod val="75000"/>
                </a:schemeClr>
              </a:solidFill>
              <a:latin typeface="Arial Rounded MT Bold" panose="020F0704030504030204" pitchFamily="34" charset="0"/>
            </a:endParaRPr>
          </a:p>
        </p:txBody>
      </p:sp>
      <p:sp>
        <p:nvSpPr>
          <p:cNvPr id="4" name="TextBox 3">
            <a:extLst>
              <a:ext uri="{FF2B5EF4-FFF2-40B4-BE49-F238E27FC236}">
                <a16:creationId xmlns:a16="http://schemas.microsoft.com/office/drawing/2014/main" xmlns="" id="{189C7551-E25F-4754-A622-CC701D0F2260}"/>
              </a:ext>
            </a:extLst>
          </p:cNvPr>
          <p:cNvSpPr txBox="1"/>
          <p:nvPr/>
        </p:nvSpPr>
        <p:spPr>
          <a:xfrm>
            <a:off x="3243704" y="1403906"/>
            <a:ext cx="5096780" cy="523220"/>
          </a:xfrm>
          <a:prstGeom prst="rect">
            <a:avLst/>
          </a:prstGeom>
          <a:noFill/>
        </p:spPr>
        <p:txBody>
          <a:bodyPr wrap="none" rtlCol="0">
            <a:spAutoFit/>
          </a:bodyPr>
          <a:lstStyle/>
          <a:p>
            <a:r>
              <a:rPr lang="en-US" sz="2800" b="1" i="1" dirty="0"/>
              <a:t>Department of Computer Science</a:t>
            </a:r>
            <a:endParaRPr lang="en-PK" sz="2800" b="1" i="1" dirty="0"/>
          </a:p>
        </p:txBody>
      </p:sp>
      <p:sp>
        <p:nvSpPr>
          <p:cNvPr id="5" name="TextBox 4">
            <a:extLst>
              <a:ext uri="{FF2B5EF4-FFF2-40B4-BE49-F238E27FC236}">
                <a16:creationId xmlns:a16="http://schemas.microsoft.com/office/drawing/2014/main" xmlns="" id="{2512BA24-C357-4F74-AFA4-7F6EA4A180ED}"/>
              </a:ext>
            </a:extLst>
          </p:cNvPr>
          <p:cNvSpPr txBox="1"/>
          <p:nvPr/>
        </p:nvSpPr>
        <p:spPr>
          <a:xfrm>
            <a:off x="210790" y="5374460"/>
            <a:ext cx="12100560" cy="584775"/>
          </a:xfrm>
          <a:prstGeom prst="rect">
            <a:avLst/>
          </a:prstGeom>
          <a:noFill/>
        </p:spPr>
        <p:txBody>
          <a:bodyPr wrap="square" rtlCol="0">
            <a:spAutoFit/>
          </a:bodyPr>
          <a:lstStyle/>
          <a:p>
            <a:pPr algn="ctr"/>
            <a:r>
              <a:rPr lang="en-US" sz="3200" b="1" i="1" dirty="0">
                <a:solidFill>
                  <a:schemeClr val="accent1">
                    <a:lumMod val="75000"/>
                  </a:schemeClr>
                </a:solidFill>
              </a:rPr>
              <a:t>Thar Institute of Engineering, Science &amp; Technology, </a:t>
            </a:r>
            <a:r>
              <a:rPr lang="en-US" sz="3200" b="1" i="1" dirty="0" err="1">
                <a:solidFill>
                  <a:schemeClr val="accent1">
                    <a:lumMod val="75000"/>
                  </a:schemeClr>
                </a:solidFill>
              </a:rPr>
              <a:t>Tharparkar</a:t>
            </a:r>
            <a:endParaRPr lang="en-PK" sz="3200" b="1" i="1" dirty="0">
              <a:solidFill>
                <a:schemeClr val="accent1">
                  <a:lumMod val="75000"/>
                </a:schemeClr>
              </a:solidFill>
            </a:endParaRPr>
          </a:p>
        </p:txBody>
      </p:sp>
      <p:sp>
        <p:nvSpPr>
          <p:cNvPr id="6" name="TextBox 5">
            <a:extLst>
              <a:ext uri="{FF2B5EF4-FFF2-40B4-BE49-F238E27FC236}">
                <a16:creationId xmlns:a16="http://schemas.microsoft.com/office/drawing/2014/main" xmlns="" id="{3B03164E-02AD-4CDB-8DC7-1FD7AED7EA95}"/>
              </a:ext>
            </a:extLst>
          </p:cNvPr>
          <p:cNvSpPr txBox="1"/>
          <p:nvPr/>
        </p:nvSpPr>
        <p:spPr>
          <a:xfrm>
            <a:off x="5610192" y="4555105"/>
            <a:ext cx="2587055" cy="369332"/>
          </a:xfrm>
          <a:prstGeom prst="rect">
            <a:avLst/>
          </a:prstGeom>
          <a:noFill/>
        </p:spPr>
        <p:txBody>
          <a:bodyPr wrap="none" rtlCol="0">
            <a:spAutoFit/>
          </a:bodyPr>
          <a:lstStyle/>
          <a:p>
            <a:r>
              <a:rPr lang="en-US" b="1" dirty="0"/>
              <a:t>Engr. Abdul Hafeez Babar</a:t>
            </a:r>
            <a:endParaRPr lang="en-PK" b="1" dirty="0"/>
          </a:p>
        </p:txBody>
      </p:sp>
      <p:sp>
        <p:nvSpPr>
          <p:cNvPr id="7" name="TextBox 6">
            <a:extLst>
              <a:ext uri="{FF2B5EF4-FFF2-40B4-BE49-F238E27FC236}">
                <a16:creationId xmlns:a16="http://schemas.microsoft.com/office/drawing/2014/main" xmlns="" id="{E5ACB2C0-AA27-424B-9A27-1BB25FB341C6}"/>
              </a:ext>
            </a:extLst>
          </p:cNvPr>
          <p:cNvSpPr txBox="1"/>
          <p:nvPr/>
        </p:nvSpPr>
        <p:spPr>
          <a:xfrm>
            <a:off x="3995938" y="4521756"/>
            <a:ext cx="1551771" cy="400110"/>
          </a:xfrm>
          <a:prstGeom prst="rect">
            <a:avLst/>
          </a:prstGeom>
          <a:noFill/>
        </p:spPr>
        <p:txBody>
          <a:bodyPr wrap="none" rtlCol="0">
            <a:spAutoFit/>
          </a:bodyPr>
          <a:lstStyle/>
          <a:p>
            <a:r>
              <a:rPr lang="en-US" sz="2000" b="1" dirty="0">
                <a:solidFill>
                  <a:schemeClr val="accent3">
                    <a:lumMod val="75000"/>
                  </a:schemeClr>
                </a:solidFill>
              </a:rPr>
              <a:t>Prepared By:</a:t>
            </a:r>
            <a:endParaRPr lang="en-PK" sz="2000" b="1" dirty="0">
              <a:solidFill>
                <a:schemeClr val="accent3">
                  <a:lumMod val="75000"/>
                </a:schemeClr>
              </a:solidFill>
            </a:endParaRPr>
          </a:p>
        </p:txBody>
      </p:sp>
      <p:sp>
        <p:nvSpPr>
          <p:cNvPr id="3" name="TextBox 2">
            <a:extLst>
              <a:ext uri="{FF2B5EF4-FFF2-40B4-BE49-F238E27FC236}">
                <a16:creationId xmlns:a16="http://schemas.microsoft.com/office/drawing/2014/main" xmlns="" id="{D01D3379-0BEA-4705-87CA-2AB55C41B58E}"/>
              </a:ext>
            </a:extLst>
          </p:cNvPr>
          <p:cNvSpPr txBox="1"/>
          <p:nvPr/>
        </p:nvSpPr>
        <p:spPr>
          <a:xfrm>
            <a:off x="5610192" y="4869307"/>
            <a:ext cx="2971198" cy="369332"/>
          </a:xfrm>
          <a:prstGeom prst="rect">
            <a:avLst/>
          </a:prstGeom>
          <a:noFill/>
        </p:spPr>
        <p:txBody>
          <a:bodyPr wrap="none" rtlCol="0">
            <a:spAutoFit/>
          </a:bodyPr>
          <a:lstStyle/>
          <a:p>
            <a:r>
              <a:rPr lang="en-US" b="1" dirty="0">
                <a:solidFill>
                  <a:schemeClr val="accent1"/>
                </a:solidFill>
              </a:rPr>
              <a:t>hafeezbabar@neduet.edu.pk</a:t>
            </a:r>
            <a:endParaRPr lang="en-PK" b="1" dirty="0">
              <a:solidFill>
                <a:schemeClr val="accent1"/>
              </a:solidFill>
            </a:endParaRPr>
          </a:p>
        </p:txBody>
      </p:sp>
      <p:sp>
        <p:nvSpPr>
          <p:cNvPr id="10" name="TextBox 9">
            <a:extLst>
              <a:ext uri="{FF2B5EF4-FFF2-40B4-BE49-F238E27FC236}">
                <a16:creationId xmlns:a16="http://schemas.microsoft.com/office/drawing/2014/main" xmlns="" id="{15D177BC-4C15-94A5-3949-33BB3385AA0D}"/>
              </a:ext>
            </a:extLst>
          </p:cNvPr>
          <p:cNvSpPr txBox="1"/>
          <p:nvPr/>
        </p:nvSpPr>
        <p:spPr>
          <a:xfrm>
            <a:off x="-440088" y="6176691"/>
            <a:ext cx="12100560" cy="342466"/>
          </a:xfrm>
          <a:prstGeom prst="rect">
            <a:avLst/>
          </a:prstGeom>
          <a:noFill/>
        </p:spPr>
        <p:txBody>
          <a:bodyPr wrap="square">
            <a:spAutoFit/>
          </a:bodyPr>
          <a:lstStyle/>
          <a:p>
            <a:pPr marL="2286000" marR="0" indent="457200">
              <a:lnSpc>
                <a:spcPct val="107000"/>
              </a:lnSpc>
              <a:spcBef>
                <a:spcPts val="0"/>
              </a:spcBef>
              <a:spcAft>
                <a:spcPts val="800"/>
              </a:spcAft>
            </a:pPr>
            <a:r>
              <a:rPr lang="en-PK" sz="1600" b="1" dirty="0">
                <a:effectLst/>
                <a:latin typeface="Arial" panose="020B0604020202020204" pitchFamily="34" charset="0"/>
                <a:ea typeface="Times New Roman" panose="02020603050405020304" pitchFamily="18" charset="0"/>
                <a:cs typeface="Times New Roman" panose="02020603050405020304" pitchFamily="18" charset="0"/>
              </a:rPr>
              <a:t>A Constituent college of NED university of engineering &amp; Technology Karachi</a:t>
            </a:r>
            <a:endParaRPr lang="en-PK" sz="28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78146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xmlns="" id="{93C4F5CF-67C5-473E-A7B5-CED65948FAEE}"/>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pic>
        <p:nvPicPr>
          <p:cNvPr id="7" name="Picture 6">
            <a:extLst>
              <a:ext uri="{FF2B5EF4-FFF2-40B4-BE49-F238E27FC236}">
                <a16:creationId xmlns:a16="http://schemas.microsoft.com/office/drawing/2014/main" xmlns="" id="{DAD5ECF9-A10D-A378-D359-66F9EC1024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8" name="TextBox 7">
            <a:extLst>
              <a:ext uri="{FF2B5EF4-FFF2-40B4-BE49-F238E27FC236}">
                <a16:creationId xmlns:a16="http://schemas.microsoft.com/office/drawing/2014/main" xmlns="" id="{44C1ED1E-7590-A247-C1F9-A850C356CBFF}"/>
              </a:ext>
            </a:extLst>
          </p:cNvPr>
          <p:cNvSpPr txBox="1"/>
          <p:nvPr/>
        </p:nvSpPr>
        <p:spPr>
          <a:xfrm>
            <a:off x="245745" y="132601"/>
            <a:ext cx="2384564" cy="584775"/>
          </a:xfrm>
          <a:prstGeom prst="rect">
            <a:avLst/>
          </a:prstGeom>
          <a:noFill/>
        </p:spPr>
        <p:txBody>
          <a:bodyPr wrap="none" rtlCol="0">
            <a:spAutoFit/>
          </a:bodyPr>
          <a:lstStyle/>
          <a:p>
            <a:r>
              <a:rPr lang="en-US" sz="2400" b="1" dirty="0">
                <a:solidFill>
                  <a:schemeClr val="accent1">
                    <a:lumMod val="50000"/>
                  </a:schemeClr>
                </a:solidFill>
              </a:rPr>
              <a:t>Course </a:t>
            </a:r>
            <a:r>
              <a:rPr lang="en-US" sz="3200" b="1" dirty="0">
                <a:solidFill>
                  <a:schemeClr val="accent1">
                    <a:lumMod val="50000"/>
                  </a:schemeClr>
                </a:solidFill>
              </a:rPr>
              <a:t>Details</a:t>
            </a:r>
            <a:r>
              <a:rPr lang="en-US" sz="2400" b="1" dirty="0">
                <a:solidFill>
                  <a:schemeClr val="accent1">
                    <a:lumMod val="50000"/>
                  </a:schemeClr>
                </a:solidFill>
              </a:rPr>
              <a:t>:</a:t>
            </a:r>
            <a:endParaRPr lang="en-PK" sz="2400" b="1" dirty="0">
              <a:solidFill>
                <a:schemeClr val="accent1">
                  <a:lumMod val="50000"/>
                </a:schemeClr>
              </a:solidFill>
            </a:endParaRPr>
          </a:p>
        </p:txBody>
      </p:sp>
      <p:sp>
        <p:nvSpPr>
          <p:cNvPr id="11" name="object 4">
            <a:extLst>
              <a:ext uri="{FF2B5EF4-FFF2-40B4-BE49-F238E27FC236}">
                <a16:creationId xmlns:a16="http://schemas.microsoft.com/office/drawing/2014/main" xmlns="" id="{8BE1130C-E005-190B-630A-D522B37590D8}"/>
              </a:ext>
            </a:extLst>
          </p:cNvPr>
          <p:cNvSpPr txBox="1"/>
          <p:nvPr/>
        </p:nvSpPr>
        <p:spPr>
          <a:xfrm>
            <a:off x="508635" y="1153860"/>
            <a:ext cx="3663315" cy="2064668"/>
          </a:xfrm>
          <a:prstGeom prst="rect">
            <a:avLst/>
          </a:prstGeom>
        </p:spPr>
        <p:txBody>
          <a:bodyPr vert="horz" wrap="square" lIns="0" tIns="12700" rIns="0" bIns="0" rtlCol="0">
            <a:spAutoFit/>
          </a:bodyPr>
          <a:lstStyle/>
          <a:p>
            <a:pPr marL="305435" indent="-292735">
              <a:lnSpc>
                <a:spcPts val="4060"/>
              </a:lnSpc>
              <a:spcBef>
                <a:spcPts val="100"/>
              </a:spcBef>
              <a:buClr>
                <a:srgbClr val="9E4DA1"/>
              </a:buClr>
              <a:buFontTx/>
              <a:buChar char="•"/>
              <a:tabLst>
                <a:tab pos="305435" algn="l"/>
              </a:tabLst>
            </a:pPr>
            <a:r>
              <a:rPr sz="2800" spc="-90" dirty="0">
                <a:solidFill>
                  <a:srgbClr val="0000CA"/>
                </a:solidFill>
                <a:cs typeface="Calibri"/>
              </a:rPr>
              <a:t>Course</a:t>
            </a:r>
            <a:r>
              <a:rPr sz="2800" spc="200" dirty="0">
                <a:solidFill>
                  <a:srgbClr val="0000CA"/>
                </a:solidFill>
                <a:cs typeface="Calibri"/>
              </a:rPr>
              <a:t> </a:t>
            </a:r>
            <a:r>
              <a:rPr sz="2800" spc="-55" dirty="0">
                <a:solidFill>
                  <a:prstClr val="black"/>
                </a:solidFill>
                <a:cs typeface="Calibri"/>
              </a:rPr>
              <a:t>Title:</a:t>
            </a:r>
            <a:endParaRPr lang="en-US" sz="2800" spc="-55" dirty="0">
              <a:solidFill>
                <a:prstClr val="black"/>
              </a:solidFill>
              <a:cs typeface="Calibri"/>
            </a:endParaRPr>
          </a:p>
          <a:p>
            <a:pPr marL="305435" indent="-292735">
              <a:lnSpc>
                <a:spcPts val="4060"/>
              </a:lnSpc>
              <a:spcBef>
                <a:spcPts val="100"/>
              </a:spcBef>
              <a:buClr>
                <a:srgbClr val="9E4DA1"/>
              </a:buClr>
              <a:buFontTx/>
              <a:buChar char="•"/>
              <a:tabLst>
                <a:tab pos="305435" algn="l"/>
              </a:tabLst>
            </a:pPr>
            <a:r>
              <a:rPr lang="en-US" sz="2800" spc="-90" dirty="0">
                <a:solidFill>
                  <a:srgbClr val="0000CA"/>
                </a:solidFill>
                <a:cs typeface="Calibri"/>
              </a:rPr>
              <a:t>Course</a:t>
            </a:r>
            <a:r>
              <a:rPr lang="en-US" sz="2800" spc="200" dirty="0">
                <a:solidFill>
                  <a:srgbClr val="0000CA"/>
                </a:solidFill>
                <a:cs typeface="Calibri"/>
              </a:rPr>
              <a:t> </a:t>
            </a:r>
            <a:r>
              <a:rPr lang="en-US" sz="2800" spc="-55" dirty="0">
                <a:solidFill>
                  <a:prstClr val="black"/>
                </a:solidFill>
                <a:cs typeface="Calibri"/>
              </a:rPr>
              <a:t>Code:</a:t>
            </a:r>
          </a:p>
          <a:p>
            <a:pPr marL="305435" indent="-292735">
              <a:lnSpc>
                <a:spcPts val="3700"/>
              </a:lnSpc>
              <a:buClr>
                <a:srgbClr val="9E4DA1"/>
              </a:buClr>
              <a:buFontTx/>
              <a:buChar char="•"/>
              <a:tabLst>
                <a:tab pos="306070" algn="l"/>
              </a:tabLst>
            </a:pPr>
            <a:r>
              <a:rPr sz="2800" spc="-35" dirty="0">
                <a:solidFill>
                  <a:srgbClr val="0000CA"/>
                </a:solidFill>
                <a:cs typeface="Calibri"/>
              </a:rPr>
              <a:t>Credit</a:t>
            </a:r>
            <a:r>
              <a:rPr sz="2800" spc="180" dirty="0">
                <a:solidFill>
                  <a:srgbClr val="0000CA"/>
                </a:solidFill>
                <a:cs typeface="Calibri"/>
              </a:rPr>
              <a:t> </a:t>
            </a:r>
            <a:r>
              <a:rPr sz="2800" spc="-40" dirty="0">
                <a:solidFill>
                  <a:prstClr val="black"/>
                </a:solidFill>
                <a:cs typeface="Calibri"/>
              </a:rPr>
              <a:t>Hours:</a:t>
            </a:r>
            <a:endParaRPr sz="2800" dirty="0">
              <a:solidFill>
                <a:prstClr val="black"/>
              </a:solidFill>
              <a:cs typeface="Calibri"/>
            </a:endParaRPr>
          </a:p>
          <a:p>
            <a:pPr marL="305435" indent="-292735">
              <a:lnSpc>
                <a:spcPts val="3960"/>
              </a:lnSpc>
              <a:buClr>
                <a:srgbClr val="9E4DA1"/>
              </a:buClr>
              <a:buFontTx/>
              <a:buChar char="•"/>
              <a:tabLst>
                <a:tab pos="306070" algn="l"/>
              </a:tabLst>
            </a:pPr>
            <a:r>
              <a:rPr sz="2800" spc="-40" dirty="0">
                <a:solidFill>
                  <a:srgbClr val="0000CA"/>
                </a:solidFill>
                <a:cs typeface="Calibri"/>
              </a:rPr>
              <a:t>Course</a:t>
            </a:r>
            <a:r>
              <a:rPr sz="2800" spc="140" dirty="0">
                <a:solidFill>
                  <a:srgbClr val="0000CA"/>
                </a:solidFill>
                <a:cs typeface="Calibri"/>
              </a:rPr>
              <a:t> </a:t>
            </a:r>
            <a:r>
              <a:rPr sz="2800" spc="-20" dirty="0">
                <a:solidFill>
                  <a:prstClr val="black"/>
                </a:solidFill>
                <a:cs typeface="Calibri"/>
              </a:rPr>
              <a:t>Objectives:</a:t>
            </a:r>
            <a:endParaRPr sz="2800" dirty="0">
              <a:solidFill>
                <a:prstClr val="black"/>
              </a:solidFill>
              <a:cs typeface="Calibri"/>
            </a:endParaRPr>
          </a:p>
        </p:txBody>
      </p:sp>
      <p:sp>
        <p:nvSpPr>
          <p:cNvPr id="12" name="object 5">
            <a:extLst>
              <a:ext uri="{FF2B5EF4-FFF2-40B4-BE49-F238E27FC236}">
                <a16:creationId xmlns:a16="http://schemas.microsoft.com/office/drawing/2014/main" xmlns="" id="{E881CC3F-DB50-7F4F-5D7D-391594C00BA9}"/>
              </a:ext>
            </a:extLst>
          </p:cNvPr>
          <p:cNvSpPr txBox="1"/>
          <p:nvPr/>
        </p:nvSpPr>
        <p:spPr>
          <a:xfrm>
            <a:off x="4427325" y="1153860"/>
            <a:ext cx="7256039" cy="1579150"/>
          </a:xfrm>
          <a:prstGeom prst="rect">
            <a:avLst/>
          </a:prstGeom>
        </p:spPr>
        <p:txBody>
          <a:bodyPr vert="horz" wrap="square" lIns="0" tIns="12700" rIns="0" bIns="0" rtlCol="0">
            <a:spAutoFit/>
          </a:bodyPr>
          <a:lstStyle/>
          <a:p>
            <a:pPr marL="12700">
              <a:lnSpc>
                <a:spcPts val="4060"/>
              </a:lnSpc>
              <a:spcBef>
                <a:spcPts val="100"/>
              </a:spcBef>
            </a:pPr>
            <a:r>
              <a:rPr sz="2800" spc="-90" dirty="0">
                <a:solidFill>
                  <a:prstClr val="black"/>
                </a:solidFill>
                <a:cs typeface="Calibri"/>
              </a:rPr>
              <a:t>Data</a:t>
            </a:r>
            <a:r>
              <a:rPr sz="2800" spc="90" dirty="0">
                <a:solidFill>
                  <a:prstClr val="black"/>
                </a:solidFill>
                <a:cs typeface="Calibri"/>
              </a:rPr>
              <a:t> </a:t>
            </a:r>
            <a:r>
              <a:rPr sz="2800" spc="-70" dirty="0">
                <a:solidFill>
                  <a:prstClr val="black"/>
                </a:solidFill>
                <a:cs typeface="Calibri"/>
              </a:rPr>
              <a:t>Structures</a:t>
            </a:r>
            <a:r>
              <a:rPr lang="en-US" sz="2800" spc="-70" dirty="0">
                <a:solidFill>
                  <a:prstClr val="black"/>
                </a:solidFill>
                <a:cs typeface="Calibri"/>
              </a:rPr>
              <a:t> Algorithms &amp; Applications</a:t>
            </a:r>
          </a:p>
          <a:p>
            <a:pPr marL="12700">
              <a:lnSpc>
                <a:spcPts val="4060"/>
              </a:lnSpc>
              <a:spcBef>
                <a:spcPts val="100"/>
              </a:spcBef>
            </a:pPr>
            <a:r>
              <a:rPr lang="en-US" sz="2800" dirty="0">
                <a:solidFill>
                  <a:prstClr val="black"/>
                </a:solidFill>
                <a:cs typeface="Calibri"/>
              </a:rPr>
              <a:t>CT-157</a:t>
            </a:r>
          </a:p>
          <a:p>
            <a:pPr marL="12700">
              <a:lnSpc>
                <a:spcPts val="4060"/>
              </a:lnSpc>
              <a:spcBef>
                <a:spcPts val="100"/>
              </a:spcBef>
            </a:pPr>
            <a:r>
              <a:rPr sz="2800" dirty="0">
                <a:solidFill>
                  <a:prstClr val="black"/>
                </a:solidFill>
                <a:cs typeface="Calibri"/>
              </a:rPr>
              <a:t>3 </a:t>
            </a:r>
            <a:r>
              <a:rPr sz="2800" spc="-20" dirty="0">
                <a:solidFill>
                  <a:prstClr val="black"/>
                </a:solidFill>
                <a:cs typeface="Calibri"/>
              </a:rPr>
              <a:t>+</a:t>
            </a:r>
            <a:r>
              <a:rPr sz="2800" spc="65" dirty="0">
                <a:solidFill>
                  <a:prstClr val="black"/>
                </a:solidFill>
                <a:cs typeface="Calibri"/>
              </a:rPr>
              <a:t> </a:t>
            </a:r>
            <a:r>
              <a:rPr sz="2800" spc="-20" dirty="0">
                <a:solidFill>
                  <a:prstClr val="black"/>
                </a:solidFill>
                <a:cs typeface="Calibri"/>
              </a:rPr>
              <a:t>1</a:t>
            </a:r>
            <a:endParaRPr sz="2800" dirty="0">
              <a:solidFill>
                <a:prstClr val="black"/>
              </a:solidFill>
              <a:cs typeface="Calibri"/>
            </a:endParaRPr>
          </a:p>
        </p:txBody>
      </p:sp>
      <p:sp>
        <p:nvSpPr>
          <p:cNvPr id="13" name="object 6">
            <a:extLst>
              <a:ext uri="{FF2B5EF4-FFF2-40B4-BE49-F238E27FC236}">
                <a16:creationId xmlns:a16="http://schemas.microsoft.com/office/drawing/2014/main" xmlns="" id="{D3B7517F-2FCD-C7B5-D21C-CE663F3EA1B4}"/>
              </a:ext>
            </a:extLst>
          </p:cNvPr>
          <p:cNvSpPr txBox="1"/>
          <p:nvPr/>
        </p:nvSpPr>
        <p:spPr>
          <a:xfrm>
            <a:off x="245745" y="3581974"/>
            <a:ext cx="11213064" cy="1310743"/>
          </a:xfrm>
          <a:prstGeom prst="rect">
            <a:avLst/>
          </a:prstGeom>
        </p:spPr>
        <p:txBody>
          <a:bodyPr vert="horz" wrap="square" lIns="0" tIns="43815" rIns="0" bIns="0" rtlCol="0">
            <a:spAutoFit/>
          </a:bodyPr>
          <a:lstStyle/>
          <a:p>
            <a:pPr marL="584200" marR="5080" indent="-571500" algn="just">
              <a:lnSpc>
                <a:spcPct val="94500"/>
              </a:lnSpc>
              <a:spcBef>
                <a:spcPts val="345"/>
              </a:spcBef>
              <a:buFont typeface="Arial" panose="020B0604020202020204" pitchFamily="34" charset="0"/>
              <a:buChar char="•"/>
            </a:pPr>
            <a:endParaRPr lang="en-US" sz="2800" spc="-135" dirty="0">
              <a:solidFill>
                <a:prstClr val="black"/>
              </a:solidFill>
              <a:cs typeface="Calibri"/>
            </a:endParaRPr>
          </a:p>
          <a:p>
            <a:pPr marL="584200" marR="5080" indent="-571500" algn="just">
              <a:lnSpc>
                <a:spcPct val="94500"/>
              </a:lnSpc>
              <a:spcBef>
                <a:spcPts val="345"/>
              </a:spcBef>
              <a:buFont typeface="Arial" panose="020B0604020202020204" pitchFamily="34" charset="0"/>
              <a:buChar char="•"/>
            </a:pPr>
            <a:r>
              <a:rPr sz="2800" spc="-135" dirty="0">
                <a:solidFill>
                  <a:prstClr val="black"/>
                </a:solidFill>
                <a:cs typeface="Calibri"/>
              </a:rPr>
              <a:t>The </a:t>
            </a:r>
            <a:r>
              <a:rPr sz="2800" spc="-140" dirty="0">
                <a:solidFill>
                  <a:prstClr val="black"/>
                </a:solidFill>
                <a:cs typeface="Calibri"/>
              </a:rPr>
              <a:t>course </a:t>
            </a:r>
            <a:r>
              <a:rPr sz="2800" spc="-75" dirty="0">
                <a:solidFill>
                  <a:prstClr val="black"/>
                </a:solidFill>
                <a:cs typeface="Calibri"/>
              </a:rPr>
              <a:t>is </a:t>
            </a:r>
            <a:r>
              <a:rPr sz="2800" spc="-110" dirty="0">
                <a:solidFill>
                  <a:prstClr val="black"/>
                </a:solidFill>
                <a:cs typeface="Calibri"/>
              </a:rPr>
              <a:t>designed </a:t>
            </a:r>
            <a:r>
              <a:rPr sz="2800" spc="-135" dirty="0">
                <a:solidFill>
                  <a:prstClr val="black"/>
                </a:solidFill>
                <a:cs typeface="Calibri"/>
              </a:rPr>
              <a:t>to </a:t>
            </a:r>
            <a:r>
              <a:rPr sz="2800" spc="-125" dirty="0">
                <a:solidFill>
                  <a:prstClr val="black"/>
                </a:solidFill>
                <a:cs typeface="Calibri"/>
              </a:rPr>
              <a:t>teach </a:t>
            </a:r>
            <a:r>
              <a:rPr sz="2800" spc="-120" dirty="0">
                <a:solidFill>
                  <a:prstClr val="black"/>
                </a:solidFill>
                <a:cs typeface="Calibri"/>
              </a:rPr>
              <a:t>students  </a:t>
            </a:r>
            <a:r>
              <a:rPr sz="2800" spc="-114" dirty="0">
                <a:solidFill>
                  <a:prstClr val="black"/>
                </a:solidFill>
                <a:cs typeface="Calibri"/>
              </a:rPr>
              <a:t>structures and </a:t>
            </a:r>
            <a:r>
              <a:rPr sz="2800" spc="-130" dirty="0">
                <a:solidFill>
                  <a:prstClr val="black"/>
                </a:solidFill>
                <a:cs typeface="Calibri"/>
              </a:rPr>
              <a:t>schemes, which </a:t>
            </a:r>
            <a:r>
              <a:rPr sz="2800" spc="-100" dirty="0">
                <a:solidFill>
                  <a:prstClr val="black"/>
                </a:solidFill>
                <a:cs typeface="Calibri"/>
              </a:rPr>
              <a:t>allow </a:t>
            </a:r>
            <a:r>
              <a:rPr sz="2800" spc="-145" dirty="0">
                <a:solidFill>
                  <a:prstClr val="black"/>
                </a:solidFill>
                <a:cs typeface="Calibri"/>
              </a:rPr>
              <a:t>them </a:t>
            </a:r>
            <a:r>
              <a:rPr sz="2800" spc="-135" dirty="0">
                <a:solidFill>
                  <a:prstClr val="black"/>
                </a:solidFill>
                <a:cs typeface="Calibri"/>
              </a:rPr>
              <a:t>to  </a:t>
            </a:r>
            <a:r>
              <a:rPr sz="2800" spc="-150" dirty="0">
                <a:solidFill>
                  <a:prstClr val="black"/>
                </a:solidFill>
                <a:cs typeface="Calibri"/>
              </a:rPr>
              <a:t>write </a:t>
            </a:r>
            <a:r>
              <a:rPr sz="2800" spc="-170" dirty="0">
                <a:solidFill>
                  <a:prstClr val="black"/>
                </a:solidFill>
                <a:cs typeface="Calibri"/>
              </a:rPr>
              <a:t>programs </a:t>
            </a:r>
            <a:r>
              <a:rPr sz="2800" spc="-150" dirty="0">
                <a:solidFill>
                  <a:prstClr val="black"/>
                </a:solidFill>
                <a:cs typeface="Calibri"/>
              </a:rPr>
              <a:t>to </a:t>
            </a:r>
            <a:r>
              <a:rPr sz="2800" spc="-130" dirty="0">
                <a:solidFill>
                  <a:prstClr val="black"/>
                </a:solidFill>
                <a:cs typeface="Calibri"/>
              </a:rPr>
              <a:t>efficiently </a:t>
            </a:r>
            <a:r>
              <a:rPr sz="2800" spc="-140" dirty="0">
                <a:solidFill>
                  <a:prstClr val="black"/>
                </a:solidFill>
                <a:cs typeface="Calibri"/>
              </a:rPr>
              <a:t>manipulate,  store, </a:t>
            </a:r>
            <a:r>
              <a:rPr sz="2800" spc="-155" dirty="0">
                <a:solidFill>
                  <a:prstClr val="black"/>
                </a:solidFill>
                <a:cs typeface="Calibri"/>
              </a:rPr>
              <a:t>and </a:t>
            </a:r>
            <a:r>
              <a:rPr sz="2800" spc="-140" dirty="0">
                <a:solidFill>
                  <a:prstClr val="black"/>
                </a:solidFill>
                <a:cs typeface="Calibri"/>
              </a:rPr>
              <a:t>retrieve</a:t>
            </a:r>
            <a:r>
              <a:rPr sz="2800" spc="-75" dirty="0">
                <a:solidFill>
                  <a:prstClr val="black"/>
                </a:solidFill>
                <a:cs typeface="Calibri"/>
              </a:rPr>
              <a:t> </a:t>
            </a:r>
            <a:r>
              <a:rPr sz="2800" spc="-145" dirty="0">
                <a:solidFill>
                  <a:prstClr val="black"/>
                </a:solidFill>
                <a:cs typeface="Calibri"/>
              </a:rPr>
              <a:t>data.</a:t>
            </a:r>
            <a:endParaRPr sz="2800" dirty="0">
              <a:solidFill>
                <a:prstClr val="black"/>
              </a:solidFill>
              <a:cs typeface="Calibri"/>
            </a:endParaRPr>
          </a:p>
        </p:txBody>
      </p:sp>
    </p:spTree>
    <p:extLst>
      <p:ext uri="{BB962C8B-B14F-4D97-AF65-F5344CB8AC3E}">
        <p14:creationId xmlns:p14="http://schemas.microsoft.com/office/powerpoint/2010/main" val="3024200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xmlns="" id="{93C4F5CF-67C5-473E-A7B5-CED65948FAEE}"/>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pic>
        <p:nvPicPr>
          <p:cNvPr id="7" name="Picture 6">
            <a:extLst>
              <a:ext uri="{FF2B5EF4-FFF2-40B4-BE49-F238E27FC236}">
                <a16:creationId xmlns:a16="http://schemas.microsoft.com/office/drawing/2014/main" xmlns="" id="{DAD5ECF9-A10D-A378-D359-66F9EC1024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8" name="TextBox 7">
            <a:extLst>
              <a:ext uri="{FF2B5EF4-FFF2-40B4-BE49-F238E27FC236}">
                <a16:creationId xmlns:a16="http://schemas.microsoft.com/office/drawing/2014/main" xmlns="" id="{44C1ED1E-7590-A247-C1F9-A850C356CBFF}"/>
              </a:ext>
            </a:extLst>
          </p:cNvPr>
          <p:cNvSpPr txBox="1"/>
          <p:nvPr/>
        </p:nvSpPr>
        <p:spPr>
          <a:xfrm>
            <a:off x="233045" y="347914"/>
            <a:ext cx="3181512" cy="584775"/>
          </a:xfrm>
          <a:prstGeom prst="rect">
            <a:avLst/>
          </a:prstGeom>
          <a:noFill/>
        </p:spPr>
        <p:txBody>
          <a:bodyPr wrap="none" rtlCol="0">
            <a:spAutoFit/>
          </a:bodyPr>
          <a:lstStyle/>
          <a:p>
            <a:r>
              <a:rPr lang="en-US" sz="3200" b="1" dirty="0">
                <a:solidFill>
                  <a:schemeClr val="accent1">
                    <a:lumMod val="50000"/>
                  </a:schemeClr>
                </a:solidFill>
              </a:rPr>
              <a:t>Course Objective:</a:t>
            </a:r>
          </a:p>
        </p:txBody>
      </p:sp>
      <p:sp>
        <p:nvSpPr>
          <p:cNvPr id="6" name="TextBox 5">
            <a:extLst>
              <a:ext uri="{FF2B5EF4-FFF2-40B4-BE49-F238E27FC236}">
                <a16:creationId xmlns:a16="http://schemas.microsoft.com/office/drawing/2014/main" xmlns="" id="{F2005247-F732-1438-8D0B-AD4D1B336433}"/>
              </a:ext>
            </a:extLst>
          </p:cNvPr>
          <p:cNvSpPr txBox="1"/>
          <p:nvPr/>
        </p:nvSpPr>
        <p:spPr>
          <a:xfrm>
            <a:off x="444500" y="1044026"/>
            <a:ext cx="11036300" cy="5236498"/>
          </a:xfrm>
          <a:prstGeom prst="rect">
            <a:avLst/>
          </a:prstGeom>
          <a:noFill/>
        </p:spPr>
        <p:txBody>
          <a:bodyPr wrap="square">
            <a:spAutoFit/>
          </a:bodyPr>
          <a:lstStyle/>
          <a:p>
            <a:pPr marL="294640" marR="10160" indent="-282575" algn="just">
              <a:lnSpc>
                <a:spcPct val="200000"/>
              </a:lnSpc>
              <a:spcBef>
                <a:spcPts val="85"/>
              </a:spcBef>
              <a:buClr>
                <a:srgbClr val="9F4DA2"/>
              </a:buClr>
              <a:buFont typeface="Georgia"/>
              <a:buChar char="•"/>
              <a:tabLst>
                <a:tab pos="295275" algn="l"/>
              </a:tabLst>
            </a:pPr>
            <a:r>
              <a:rPr lang="en-US" sz="2400" spc="-120" dirty="0">
                <a:latin typeface="Calibri"/>
                <a:cs typeface="Calibri"/>
              </a:rPr>
              <a:t>To </a:t>
            </a:r>
            <a:r>
              <a:rPr lang="en-US" sz="2400" spc="-5" dirty="0">
                <a:solidFill>
                  <a:srgbClr val="0000CB"/>
                </a:solidFill>
                <a:latin typeface="Calibri"/>
                <a:cs typeface="Calibri"/>
              </a:rPr>
              <a:t>extend </a:t>
            </a:r>
            <a:r>
              <a:rPr lang="en-US" sz="2400" spc="15" dirty="0">
                <a:latin typeface="Calibri"/>
                <a:cs typeface="Calibri"/>
              </a:rPr>
              <a:t>and </a:t>
            </a:r>
            <a:r>
              <a:rPr lang="en-US" sz="2400" spc="10" dirty="0">
                <a:solidFill>
                  <a:srgbClr val="0000CB"/>
                </a:solidFill>
                <a:latin typeface="Calibri"/>
                <a:cs typeface="Calibri"/>
              </a:rPr>
              <a:t>deepen </a:t>
            </a:r>
            <a:r>
              <a:rPr lang="en-US" sz="2400" spc="10" dirty="0">
                <a:latin typeface="Calibri"/>
                <a:cs typeface="Calibri"/>
              </a:rPr>
              <a:t>the </a:t>
            </a:r>
            <a:r>
              <a:rPr lang="en-US" sz="2400" dirty="0">
                <a:latin typeface="Calibri"/>
                <a:cs typeface="Calibri"/>
              </a:rPr>
              <a:t>student's </a:t>
            </a:r>
            <a:r>
              <a:rPr lang="en-US" sz="2400" spc="5" dirty="0">
                <a:latin typeface="Calibri"/>
                <a:cs typeface="Calibri"/>
              </a:rPr>
              <a:t>knowledge </a:t>
            </a:r>
            <a:r>
              <a:rPr lang="en-US" sz="2400" spc="10" dirty="0">
                <a:latin typeface="Calibri"/>
                <a:cs typeface="Calibri"/>
              </a:rPr>
              <a:t>and </a:t>
            </a:r>
            <a:r>
              <a:rPr lang="en-US" sz="2400" spc="705" dirty="0">
                <a:latin typeface="Calibri"/>
                <a:cs typeface="Calibri"/>
              </a:rPr>
              <a:t> </a:t>
            </a:r>
            <a:r>
              <a:rPr lang="en-US" sz="2400" dirty="0">
                <a:latin typeface="Calibri"/>
                <a:cs typeface="Calibri"/>
              </a:rPr>
              <a:t>understanding </a:t>
            </a:r>
            <a:r>
              <a:rPr lang="en-US" sz="2400" spc="10" dirty="0">
                <a:latin typeface="Calibri"/>
                <a:cs typeface="Calibri"/>
              </a:rPr>
              <a:t>of </a:t>
            </a:r>
            <a:r>
              <a:rPr lang="en-US" sz="2400" spc="5" dirty="0">
                <a:latin typeface="Calibri"/>
                <a:cs typeface="Calibri"/>
              </a:rPr>
              <a:t>algorithms </a:t>
            </a:r>
            <a:r>
              <a:rPr lang="en-US" sz="2400" spc="15" dirty="0">
                <a:latin typeface="Calibri"/>
                <a:cs typeface="Calibri"/>
              </a:rPr>
              <a:t>and </a:t>
            </a:r>
            <a:r>
              <a:rPr lang="en-US" sz="2400" spc="-10" dirty="0">
                <a:latin typeface="Calibri"/>
                <a:cs typeface="Calibri"/>
              </a:rPr>
              <a:t>data</a:t>
            </a:r>
            <a:r>
              <a:rPr lang="en-US" sz="2400" spc="95" dirty="0">
                <a:latin typeface="Calibri"/>
                <a:cs typeface="Calibri"/>
              </a:rPr>
              <a:t> </a:t>
            </a:r>
            <a:r>
              <a:rPr lang="en-US" sz="2400" spc="-5" dirty="0">
                <a:latin typeface="Calibri"/>
                <a:cs typeface="Calibri"/>
              </a:rPr>
              <a:t>structures.</a:t>
            </a:r>
            <a:endParaRPr lang="en-US" sz="2400" dirty="0">
              <a:latin typeface="Calibri"/>
              <a:cs typeface="Calibri"/>
            </a:endParaRPr>
          </a:p>
          <a:p>
            <a:pPr marL="294640" marR="5080" indent="-282575" algn="just">
              <a:lnSpc>
                <a:spcPct val="200000"/>
              </a:lnSpc>
              <a:spcBef>
                <a:spcPts val="330"/>
              </a:spcBef>
              <a:buClr>
                <a:srgbClr val="9F4DA2"/>
              </a:buClr>
              <a:buFont typeface="Georgia"/>
              <a:buChar char="•"/>
              <a:tabLst>
                <a:tab pos="295275" algn="l"/>
              </a:tabLst>
            </a:pPr>
            <a:r>
              <a:rPr lang="en-US" sz="2400" spc="-120" dirty="0">
                <a:latin typeface="Calibri"/>
                <a:cs typeface="Calibri"/>
              </a:rPr>
              <a:t>To </a:t>
            </a:r>
            <a:r>
              <a:rPr lang="en-US" sz="2400" spc="-5" dirty="0">
                <a:solidFill>
                  <a:srgbClr val="0000CB"/>
                </a:solidFill>
                <a:latin typeface="Calibri"/>
                <a:cs typeface="Calibri"/>
              </a:rPr>
              <a:t>examine </a:t>
            </a:r>
            <a:r>
              <a:rPr lang="en-US" sz="2400" dirty="0">
                <a:latin typeface="Calibri"/>
                <a:cs typeface="Calibri"/>
              </a:rPr>
              <a:t>previously studied </a:t>
            </a:r>
            <a:r>
              <a:rPr lang="en-US" sz="2400" spc="5" dirty="0">
                <a:latin typeface="Calibri"/>
                <a:cs typeface="Calibri"/>
              </a:rPr>
              <a:t>algorithms </a:t>
            </a:r>
            <a:r>
              <a:rPr lang="en-US" sz="2400" spc="15" dirty="0">
                <a:latin typeface="Calibri"/>
                <a:cs typeface="Calibri"/>
              </a:rPr>
              <a:t>and </a:t>
            </a:r>
            <a:r>
              <a:rPr lang="en-US" sz="2400" spc="-5" dirty="0">
                <a:latin typeface="Calibri"/>
                <a:cs typeface="Calibri"/>
              </a:rPr>
              <a:t>data  </a:t>
            </a:r>
            <a:r>
              <a:rPr lang="en-US" sz="2400" dirty="0">
                <a:latin typeface="Calibri"/>
                <a:cs typeface="Calibri"/>
              </a:rPr>
              <a:t>structures more rigorously </a:t>
            </a:r>
            <a:r>
              <a:rPr lang="en-US" sz="2400" spc="15" dirty="0">
                <a:latin typeface="Calibri"/>
                <a:cs typeface="Calibri"/>
              </a:rPr>
              <a:t>and </a:t>
            </a:r>
            <a:r>
              <a:rPr lang="en-US" sz="2400" dirty="0">
                <a:solidFill>
                  <a:srgbClr val="0000CB"/>
                </a:solidFill>
                <a:latin typeface="Calibri"/>
                <a:cs typeface="Calibri"/>
              </a:rPr>
              <a:t>introduce </a:t>
            </a:r>
            <a:r>
              <a:rPr lang="en-US" sz="2400" spc="10" dirty="0">
                <a:latin typeface="Calibri"/>
                <a:cs typeface="Calibri"/>
              </a:rPr>
              <a:t>the  </a:t>
            </a:r>
            <a:r>
              <a:rPr lang="en-US" sz="2400" dirty="0">
                <a:latin typeface="Calibri"/>
                <a:cs typeface="Calibri"/>
              </a:rPr>
              <a:t>students </a:t>
            </a:r>
            <a:r>
              <a:rPr lang="en-US" sz="2400" spc="-5" dirty="0">
                <a:latin typeface="Calibri"/>
                <a:cs typeface="Calibri"/>
              </a:rPr>
              <a:t>to </a:t>
            </a:r>
            <a:r>
              <a:rPr lang="en-US" sz="2400" spc="5" dirty="0">
                <a:latin typeface="Calibri"/>
                <a:cs typeface="Calibri"/>
              </a:rPr>
              <a:t>"new" algorithms </a:t>
            </a:r>
            <a:r>
              <a:rPr lang="en-US" sz="2400" spc="15" dirty="0">
                <a:latin typeface="Calibri"/>
                <a:cs typeface="Calibri"/>
              </a:rPr>
              <a:t>and </a:t>
            </a:r>
            <a:r>
              <a:rPr lang="en-US" sz="2400" spc="-5" dirty="0">
                <a:latin typeface="Calibri"/>
                <a:cs typeface="Calibri"/>
              </a:rPr>
              <a:t>data</a:t>
            </a:r>
            <a:r>
              <a:rPr lang="en-US" sz="2400" spc="105" dirty="0">
                <a:latin typeface="Calibri"/>
                <a:cs typeface="Calibri"/>
              </a:rPr>
              <a:t> </a:t>
            </a:r>
            <a:r>
              <a:rPr lang="en-US" sz="2400" spc="-5" dirty="0">
                <a:latin typeface="Calibri"/>
                <a:cs typeface="Calibri"/>
              </a:rPr>
              <a:t>structures.</a:t>
            </a:r>
            <a:endParaRPr lang="en-US" sz="2400" dirty="0">
              <a:latin typeface="Calibri"/>
              <a:cs typeface="Calibri"/>
            </a:endParaRPr>
          </a:p>
          <a:p>
            <a:pPr marL="294640" marR="5715" indent="-282575" algn="just">
              <a:lnSpc>
                <a:spcPct val="200000"/>
              </a:lnSpc>
              <a:spcBef>
                <a:spcPts val="330"/>
              </a:spcBef>
              <a:buClr>
                <a:srgbClr val="9F4DA2"/>
              </a:buClr>
              <a:buFont typeface="Georgia"/>
              <a:buChar char="•"/>
              <a:tabLst>
                <a:tab pos="295275" algn="l"/>
              </a:tabLst>
            </a:pPr>
            <a:r>
              <a:rPr lang="en-US" sz="2400" spc="5" dirty="0">
                <a:latin typeface="Calibri"/>
                <a:cs typeface="Calibri"/>
              </a:rPr>
              <a:t>It </a:t>
            </a:r>
            <a:r>
              <a:rPr lang="en-US" sz="2400" spc="-5" dirty="0">
                <a:solidFill>
                  <a:srgbClr val="0000CB"/>
                </a:solidFill>
                <a:latin typeface="Calibri"/>
                <a:cs typeface="Calibri"/>
              </a:rPr>
              <a:t>focuses </a:t>
            </a:r>
            <a:r>
              <a:rPr lang="en-US" sz="2400" spc="10" dirty="0">
                <a:latin typeface="Calibri"/>
                <a:cs typeface="Calibri"/>
              </a:rPr>
              <a:t>the </a:t>
            </a:r>
            <a:r>
              <a:rPr lang="en-US" sz="2400" dirty="0">
                <a:latin typeface="Calibri"/>
                <a:cs typeface="Calibri"/>
              </a:rPr>
              <a:t>student's </a:t>
            </a:r>
            <a:r>
              <a:rPr lang="en-US" sz="2400" spc="-5" dirty="0">
                <a:latin typeface="Calibri"/>
                <a:cs typeface="Calibri"/>
              </a:rPr>
              <a:t>attention </a:t>
            </a:r>
            <a:r>
              <a:rPr lang="en-US" sz="2400" spc="20" dirty="0">
                <a:latin typeface="Calibri"/>
                <a:cs typeface="Calibri"/>
              </a:rPr>
              <a:t>on </a:t>
            </a:r>
            <a:r>
              <a:rPr lang="en-US" sz="2400" spc="10" dirty="0">
                <a:latin typeface="Calibri"/>
                <a:cs typeface="Calibri"/>
              </a:rPr>
              <a:t>the </a:t>
            </a:r>
            <a:r>
              <a:rPr lang="en-US" sz="2400" spc="5" dirty="0">
                <a:latin typeface="Calibri"/>
                <a:cs typeface="Calibri"/>
              </a:rPr>
              <a:t>design of  </a:t>
            </a:r>
            <a:r>
              <a:rPr lang="en-US" sz="2400" spc="-5" dirty="0">
                <a:latin typeface="Calibri"/>
                <a:cs typeface="Calibri"/>
              </a:rPr>
              <a:t>program </a:t>
            </a:r>
            <a:r>
              <a:rPr lang="en-US" sz="2400" dirty="0">
                <a:latin typeface="Calibri"/>
                <a:cs typeface="Calibri"/>
              </a:rPr>
              <a:t>structures </a:t>
            </a:r>
            <a:r>
              <a:rPr lang="en-US" sz="2400" spc="5" dirty="0">
                <a:latin typeface="Calibri"/>
                <a:cs typeface="Calibri"/>
              </a:rPr>
              <a:t>that </a:t>
            </a:r>
            <a:r>
              <a:rPr lang="en-US" sz="2400" dirty="0">
                <a:latin typeface="Calibri"/>
                <a:cs typeface="Calibri"/>
              </a:rPr>
              <a:t>are </a:t>
            </a:r>
            <a:r>
              <a:rPr lang="en-US" sz="2400" dirty="0">
                <a:solidFill>
                  <a:srgbClr val="0000CB"/>
                </a:solidFill>
                <a:latin typeface="Calibri"/>
                <a:cs typeface="Calibri"/>
              </a:rPr>
              <a:t>correct</a:t>
            </a:r>
            <a:r>
              <a:rPr lang="en-US" sz="2400" dirty="0">
                <a:latin typeface="Calibri"/>
                <a:cs typeface="Calibri"/>
              </a:rPr>
              <a:t>, </a:t>
            </a:r>
            <a:r>
              <a:rPr lang="en-US" sz="2400" spc="-5" dirty="0">
                <a:solidFill>
                  <a:srgbClr val="0000CB"/>
                </a:solidFill>
                <a:latin typeface="Calibri"/>
                <a:cs typeface="Calibri"/>
              </a:rPr>
              <a:t>efficient </a:t>
            </a:r>
            <a:r>
              <a:rPr lang="en-US" sz="2400" spc="5" dirty="0">
                <a:latin typeface="Calibri"/>
                <a:cs typeface="Calibri"/>
              </a:rPr>
              <a:t>in </a:t>
            </a:r>
            <a:r>
              <a:rPr lang="en-US" sz="2400" spc="5" dirty="0">
                <a:solidFill>
                  <a:srgbClr val="0000CB"/>
                </a:solidFill>
                <a:latin typeface="Calibri"/>
                <a:cs typeface="Calibri"/>
              </a:rPr>
              <a:t>both  </a:t>
            </a:r>
            <a:r>
              <a:rPr lang="en-US" sz="2400" spc="10" dirty="0">
                <a:solidFill>
                  <a:srgbClr val="0000CB"/>
                </a:solidFill>
                <a:latin typeface="Calibri"/>
                <a:cs typeface="Calibri"/>
              </a:rPr>
              <a:t>time </a:t>
            </a:r>
            <a:r>
              <a:rPr lang="en-US" sz="2400" spc="15" dirty="0">
                <a:solidFill>
                  <a:srgbClr val="0000CB"/>
                </a:solidFill>
                <a:latin typeface="Calibri"/>
                <a:cs typeface="Calibri"/>
              </a:rPr>
              <a:t>and </a:t>
            </a:r>
            <a:r>
              <a:rPr lang="en-US" sz="2400" spc="10" dirty="0">
                <a:solidFill>
                  <a:srgbClr val="0000CB"/>
                </a:solidFill>
                <a:latin typeface="Calibri"/>
                <a:cs typeface="Calibri"/>
              </a:rPr>
              <a:t>space </a:t>
            </a:r>
            <a:r>
              <a:rPr lang="en-US" sz="2400" dirty="0">
                <a:solidFill>
                  <a:srgbClr val="0000CB"/>
                </a:solidFill>
                <a:latin typeface="Calibri"/>
                <a:cs typeface="Calibri"/>
              </a:rPr>
              <a:t>utilization</a:t>
            </a:r>
            <a:r>
              <a:rPr lang="en-US" sz="2400" dirty="0">
                <a:latin typeface="Calibri"/>
                <a:cs typeface="Calibri"/>
              </a:rPr>
              <a:t>, </a:t>
            </a:r>
            <a:r>
              <a:rPr lang="en-US" sz="2400" spc="20" dirty="0">
                <a:latin typeface="Calibri"/>
                <a:cs typeface="Calibri"/>
              </a:rPr>
              <a:t>and </a:t>
            </a:r>
            <a:r>
              <a:rPr lang="en-US" sz="2400" spc="5" dirty="0">
                <a:latin typeface="Calibri"/>
                <a:cs typeface="Calibri"/>
              </a:rPr>
              <a:t>defined </a:t>
            </a:r>
            <a:r>
              <a:rPr lang="en-US" sz="2400" dirty="0">
                <a:latin typeface="Calibri"/>
                <a:cs typeface="Calibri"/>
              </a:rPr>
              <a:t>in terms </a:t>
            </a:r>
            <a:r>
              <a:rPr lang="en-US" sz="2400" spc="5" dirty="0">
                <a:latin typeface="Calibri"/>
                <a:cs typeface="Calibri"/>
              </a:rPr>
              <a:t>of  </a:t>
            </a:r>
            <a:r>
              <a:rPr lang="en-US" sz="2400" dirty="0">
                <a:latin typeface="Calibri"/>
                <a:cs typeface="Calibri"/>
              </a:rPr>
              <a:t>appropriate</a:t>
            </a:r>
            <a:r>
              <a:rPr lang="en-US" sz="2400" spc="25" dirty="0">
                <a:latin typeface="Calibri"/>
                <a:cs typeface="Calibri"/>
              </a:rPr>
              <a:t> </a:t>
            </a:r>
            <a:r>
              <a:rPr lang="en-US" sz="2400" dirty="0">
                <a:solidFill>
                  <a:srgbClr val="0000CB"/>
                </a:solidFill>
                <a:latin typeface="Calibri"/>
                <a:cs typeface="Calibri"/>
              </a:rPr>
              <a:t>abstractions</a:t>
            </a:r>
            <a:r>
              <a:rPr lang="en-US" sz="2400" dirty="0">
                <a:latin typeface="Calibri"/>
                <a:cs typeface="Calibri"/>
              </a:rPr>
              <a:t>.</a:t>
            </a:r>
          </a:p>
        </p:txBody>
      </p:sp>
    </p:spTree>
    <p:extLst>
      <p:ext uri="{BB962C8B-B14F-4D97-AF65-F5344CB8AC3E}">
        <p14:creationId xmlns:p14="http://schemas.microsoft.com/office/powerpoint/2010/main" val="4073010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xmlns="" id="{93C4F5CF-67C5-473E-A7B5-CED65948FAEE}"/>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pic>
        <p:nvPicPr>
          <p:cNvPr id="7" name="Picture 6">
            <a:extLst>
              <a:ext uri="{FF2B5EF4-FFF2-40B4-BE49-F238E27FC236}">
                <a16:creationId xmlns:a16="http://schemas.microsoft.com/office/drawing/2014/main" xmlns="" id="{DAD5ECF9-A10D-A378-D359-66F9EC1024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8" name="TextBox 7">
            <a:extLst>
              <a:ext uri="{FF2B5EF4-FFF2-40B4-BE49-F238E27FC236}">
                <a16:creationId xmlns:a16="http://schemas.microsoft.com/office/drawing/2014/main" xmlns="" id="{44C1ED1E-7590-A247-C1F9-A850C356CBFF}"/>
              </a:ext>
            </a:extLst>
          </p:cNvPr>
          <p:cNvSpPr txBox="1"/>
          <p:nvPr/>
        </p:nvSpPr>
        <p:spPr>
          <a:xfrm>
            <a:off x="233045" y="259544"/>
            <a:ext cx="2510431" cy="584775"/>
          </a:xfrm>
          <a:prstGeom prst="rect">
            <a:avLst/>
          </a:prstGeom>
          <a:noFill/>
        </p:spPr>
        <p:txBody>
          <a:bodyPr wrap="none" rtlCol="0">
            <a:spAutoFit/>
          </a:bodyPr>
          <a:lstStyle/>
          <a:p>
            <a:r>
              <a:rPr lang="en-US" sz="3200" b="1" dirty="0">
                <a:solidFill>
                  <a:schemeClr val="accent1">
                    <a:lumMod val="50000"/>
                  </a:schemeClr>
                </a:solidFill>
              </a:rPr>
              <a:t>Course Goals:</a:t>
            </a:r>
          </a:p>
        </p:txBody>
      </p:sp>
      <p:sp>
        <p:nvSpPr>
          <p:cNvPr id="2" name="object 21">
            <a:extLst>
              <a:ext uri="{FF2B5EF4-FFF2-40B4-BE49-F238E27FC236}">
                <a16:creationId xmlns:a16="http://schemas.microsoft.com/office/drawing/2014/main" xmlns="" id="{0A979F73-5ACA-C7BA-FA54-6010957AE383}"/>
              </a:ext>
            </a:extLst>
          </p:cNvPr>
          <p:cNvSpPr txBox="1"/>
          <p:nvPr/>
        </p:nvSpPr>
        <p:spPr>
          <a:xfrm>
            <a:off x="233045" y="1049502"/>
            <a:ext cx="11844262" cy="4964179"/>
          </a:xfrm>
          <a:prstGeom prst="rect">
            <a:avLst/>
          </a:prstGeom>
        </p:spPr>
        <p:txBody>
          <a:bodyPr vert="horz" wrap="square" lIns="0" tIns="62230" rIns="0" bIns="0" rtlCol="0">
            <a:spAutoFit/>
          </a:bodyPr>
          <a:lstStyle/>
          <a:p>
            <a:pPr marL="294640" marR="5080" indent="-282575" algn="just">
              <a:spcBef>
                <a:spcPts val="490"/>
              </a:spcBef>
              <a:buClr>
                <a:srgbClr val="9F4DA2"/>
              </a:buClr>
              <a:buFont typeface="Georgia"/>
              <a:buChar char="•"/>
              <a:tabLst>
                <a:tab pos="294640" algn="l"/>
                <a:tab pos="295275" algn="l"/>
              </a:tabLst>
            </a:pPr>
            <a:r>
              <a:rPr sz="2850" b="1" spc="5" dirty="0">
                <a:cs typeface="Calibri"/>
              </a:rPr>
              <a:t>Upon </a:t>
            </a:r>
            <a:r>
              <a:rPr sz="2850" b="1" dirty="0">
                <a:cs typeface="Calibri"/>
              </a:rPr>
              <a:t>completion </a:t>
            </a:r>
            <a:r>
              <a:rPr sz="2850" b="1" spc="5" dirty="0">
                <a:cs typeface="Calibri"/>
              </a:rPr>
              <a:t>of </a:t>
            </a:r>
            <a:r>
              <a:rPr sz="2850" b="1" dirty="0">
                <a:cs typeface="Calibri"/>
              </a:rPr>
              <a:t>this </a:t>
            </a:r>
            <a:r>
              <a:rPr sz="2850" b="1" spc="-10" dirty="0">
                <a:cs typeface="Calibri"/>
              </a:rPr>
              <a:t>course, </a:t>
            </a:r>
            <a:r>
              <a:rPr sz="2850" b="1" spc="10" dirty="0">
                <a:cs typeface="Calibri"/>
              </a:rPr>
              <a:t>a </a:t>
            </a:r>
            <a:r>
              <a:rPr sz="2850" b="1" spc="-5" dirty="0">
                <a:cs typeface="Calibri"/>
              </a:rPr>
              <a:t>successful student will  </a:t>
            </a:r>
            <a:r>
              <a:rPr sz="2850" b="1" spc="5" dirty="0">
                <a:cs typeface="Calibri"/>
              </a:rPr>
              <a:t>be able</a:t>
            </a:r>
            <a:r>
              <a:rPr sz="2850" b="1" spc="-25" dirty="0">
                <a:cs typeface="Calibri"/>
              </a:rPr>
              <a:t> </a:t>
            </a:r>
            <a:r>
              <a:rPr sz="2850" b="1" spc="-10" dirty="0">
                <a:cs typeface="Calibri"/>
              </a:rPr>
              <a:t>to:</a:t>
            </a:r>
            <a:endParaRPr lang="en-US" sz="2850" b="1" spc="-10" dirty="0">
              <a:cs typeface="Calibri"/>
            </a:endParaRPr>
          </a:p>
          <a:p>
            <a:pPr marL="751840" marR="5080" lvl="1" indent="-282575" algn="just">
              <a:spcBef>
                <a:spcPts val="490"/>
              </a:spcBef>
              <a:buClr>
                <a:srgbClr val="9F4DA2"/>
              </a:buClr>
              <a:buFont typeface="Georgia"/>
              <a:buChar char="•"/>
              <a:tabLst>
                <a:tab pos="294640" algn="l"/>
                <a:tab pos="295275" algn="l"/>
              </a:tabLst>
            </a:pPr>
            <a:r>
              <a:rPr sz="2650" spc="-10" dirty="0">
                <a:cs typeface="Calibri"/>
              </a:rPr>
              <a:t>Desc</a:t>
            </a:r>
            <a:r>
              <a:rPr sz="2650" dirty="0">
                <a:cs typeface="Calibri"/>
              </a:rPr>
              <a:t>r</a:t>
            </a:r>
            <a:r>
              <a:rPr sz="2650" spc="-10" dirty="0">
                <a:cs typeface="Calibri"/>
              </a:rPr>
              <a:t>ib</a:t>
            </a:r>
            <a:r>
              <a:rPr sz="2650" spc="-5" dirty="0">
                <a:cs typeface="Calibri"/>
              </a:rPr>
              <a:t>e</a:t>
            </a:r>
            <a:r>
              <a:rPr sz="2650" dirty="0">
                <a:cs typeface="Calibri"/>
              </a:rPr>
              <a:t>	</a:t>
            </a:r>
            <a:r>
              <a:rPr sz="2650" spc="-10" dirty="0">
                <a:cs typeface="Calibri"/>
              </a:rPr>
              <a:t>th</a:t>
            </a:r>
            <a:r>
              <a:rPr sz="2650" spc="-5" dirty="0">
                <a:cs typeface="Calibri"/>
              </a:rPr>
              <a:t>e</a:t>
            </a:r>
            <a:r>
              <a:rPr sz="2650" dirty="0">
                <a:cs typeface="Calibri"/>
              </a:rPr>
              <a:t>	</a:t>
            </a:r>
            <a:r>
              <a:rPr sz="2650" b="1" spc="-35" dirty="0">
                <a:cs typeface="Calibri"/>
              </a:rPr>
              <a:t>s</a:t>
            </a:r>
            <a:r>
              <a:rPr sz="2650" b="1" spc="-10" dirty="0">
                <a:cs typeface="Calibri"/>
              </a:rPr>
              <a:t>t</a:t>
            </a:r>
            <a:r>
              <a:rPr sz="2650" b="1" spc="-45" dirty="0">
                <a:cs typeface="Calibri"/>
              </a:rPr>
              <a:t>r</a:t>
            </a:r>
            <a:r>
              <a:rPr sz="2650" b="1" spc="-10" dirty="0">
                <a:cs typeface="Calibri"/>
              </a:rPr>
              <a:t>en</a:t>
            </a:r>
            <a:r>
              <a:rPr sz="2650" b="1" spc="-45" dirty="0">
                <a:cs typeface="Calibri"/>
              </a:rPr>
              <a:t>g</a:t>
            </a:r>
            <a:r>
              <a:rPr sz="2650" b="1" spc="-10" dirty="0">
                <a:cs typeface="Calibri"/>
              </a:rPr>
              <a:t>th</a:t>
            </a:r>
            <a:r>
              <a:rPr sz="2650" b="1" spc="-5" dirty="0">
                <a:cs typeface="Calibri"/>
              </a:rPr>
              <a:t>s</a:t>
            </a:r>
            <a:r>
              <a:rPr sz="2650" dirty="0">
                <a:cs typeface="Calibri"/>
              </a:rPr>
              <a:t>	</a:t>
            </a:r>
            <a:r>
              <a:rPr sz="2650" spc="-5" dirty="0">
                <a:cs typeface="Calibri"/>
              </a:rPr>
              <a:t>and</a:t>
            </a:r>
            <a:r>
              <a:rPr sz="2650" dirty="0">
                <a:cs typeface="Calibri"/>
              </a:rPr>
              <a:t>	</a:t>
            </a:r>
            <a:r>
              <a:rPr sz="2650" b="1" spc="-10" dirty="0">
                <a:cs typeface="Calibri"/>
              </a:rPr>
              <a:t>l</a:t>
            </a:r>
            <a:r>
              <a:rPr sz="2650" b="1" spc="-20" dirty="0">
                <a:cs typeface="Calibri"/>
              </a:rPr>
              <a:t>i</a:t>
            </a:r>
            <a:r>
              <a:rPr sz="2650" b="1" spc="-10" dirty="0">
                <a:cs typeface="Calibri"/>
              </a:rPr>
              <a:t>m</a:t>
            </a:r>
            <a:r>
              <a:rPr sz="2650" b="1" spc="-20" dirty="0">
                <a:cs typeface="Calibri"/>
              </a:rPr>
              <a:t>i</a:t>
            </a:r>
            <a:r>
              <a:rPr sz="2650" b="1" spc="-50" dirty="0">
                <a:cs typeface="Calibri"/>
              </a:rPr>
              <a:t>t</a:t>
            </a:r>
            <a:r>
              <a:rPr sz="2650" b="1" spc="-30" dirty="0">
                <a:cs typeface="Calibri"/>
              </a:rPr>
              <a:t>a</a:t>
            </a:r>
            <a:r>
              <a:rPr sz="2650" b="1" spc="-10" dirty="0">
                <a:cs typeface="Calibri"/>
              </a:rPr>
              <a:t>tion</a:t>
            </a:r>
            <a:r>
              <a:rPr sz="2650" b="1" spc="-5" dirty="0">
                <a:cs typeface="Calibri"/>
              </a:rPr>
              <a:t>s</a:t>
            </a:r>
            <a:r>
              <a:rPr sz="2650" dirty="0">
                <a:cs typeface="Calibri"/>
              </a:rPr>
              <a:t>	</a:t>
            </a:r>
            <a:r>
              <a:rPr sz="2650" spc="-15" dirty="0">
                <a:cs typeface="Calibri"/>
              </a:rPr>
              <a:t>o</a:t>
            </a:r>
            <a:r>
              <a:rPr sz="2650" spc="-5" dirty="0">
                <a:cs typeface="Calibri"/>
              </a:rPr>
              <a:t>f</a:t>
            </a:r>
            <a:r>
              <a:rPr sz="2650" dirty="0">
                <a:cs typeface="Calibri"/>
              </a:rPr>
              <a:t>	</a:t>
            </a:r>
            <a:r>
              <a:rPr sz="2650" spc="-20" dirty="0">
                <a:cs typeface="Calibri"/>
              </a:rPr>
              <a:t>l</a:t>
            </a:r>
            <a:r>
              <a:rPr sz="2650" spc="-10" dirty="0">
                <a:cs typeface="Calibri"/>
              </a:rPr>
              <a:t>inea</a:t>
            </a:r>
            <a:r>
              <a:rPr sz="2650" spc="-5" dirty="0">
                <a:cs typeface="Calibri"/>
              </a:rPr>
              <a:t>r</a:t>
            </a:r>
            <a:r>
              <a:rPr sz="2650" dirty="0">
                <a:cs typeface="Calibri"/>
              </a:rPr>
              <a:t>	</a:t>
            </a:r>
            <a:r>
              <a:rPr sz="2650" spc="-10" dirty="0">
                <a:cs typeface="Calibri"/>
              </a:rPr>
              <a:t>d</a:t>
            </a:r>
            <a:r>
              <a:rPr sz="2650" spc="-35" dirty="0">
                <a:cs typeface="Calibri"/>
              </a:rPr>
              <a:t>a</a:t>
            </a:r>
            <a:r>
              <a:rPr sz="2650" spc="-50" dirty="0">
                <a:cs typeface="Calibri"/>
              </a:rPr>
              <a:t>t</a:t>
            </a:r>
            <a:r>
              <a:rPr sz="2650" spc="-5" dirty="0">
                <a:cs typeface="Calibri"/>
              </a:rPr>
              <a:t>a  </a:t>
            </a:r>
            <a:r>
              <a:rPr sz="2650" spc="-15" dirty="0">
                <a:cs typeface="Calibri"/>
              </a:rPr>
              <a:t>structures, trees,</a:t>
            </a:r>
            <a:r>
              <a:rPr sz="2650" spc="-5" dirty="0">
                <a:cs typeface="Calibri"/>
              </a:rPr>
              <a:t> </a:t>
            </a:r>
            <a:r>
              <a:rPr sz="2650" spc="-15" dirty="0">
                <a:cs typeface="Calibri"/>
              </a:rPr>
              <a:t>graphs</a:t>
            </a:r>
            <a:endParaRPr lang="en-US" sz="2650" dirty="0">
              <a:cs typeface="Calibri"/>
            </a:endParaRPr>
          </a:p>
          <a:p>
            <a:pPr marL="751840" marR="5080" lvl="1" indent="-282575" algn="just">
              <a:spcBef>
                <a:spcPts val="490"/>
              </a:spcBef>
              <a:buClr>
                <a:srgbClr val="9F4DA2"/>
              </a:buClr>
              <a:buFont typeface="Georgia"/>
              <a:buChar char="•"/>
              <a:tabLst>
                <a:tab pos="294640" algn="l"/>
                <a:tab pos="295275" algn="l"/>
              </a:tabLst>
            </a:pPr>
            <a:r>
              <a:rPr sz="2650" spc="-5" dirty="0">
                <a:cs typeface="Calibri"/>
              </a:rPr>
              <a:t>Select </a:t>
            </a:r>
            <a:r>
              <a:rPr sz="2650" b="1" spc="-15" dirty="0">
                <a:cs typeface="Calibri"/>
              </a:rPr>
              <a:t>appropriate </a:t>
            </a:r>
            <a:r>
              <a:rPr sz="2650" b="1" spc="-20" dirty="0">
                <a:cs typeface="Calibri"/>
              </a:rPr>
              <a:t>data </a:t>
            </a:r>
            <a:r>
              <a:rPr sz="2650" b="1" spc="-15" dirty="0">
                <a:cs typeface="Calibri"/>
              </a:rPr>
              <a:t>structures </a:t>
            </a:r>
            <a:r>
              <a:rPr sz="2650" spc="-25" dirty="0">
                <a:cs typeface="Calibri"/>
              </a:rPr>
              <a:t>for </a:t>
            </a:r>
            <a:r>
              <a:rPr sz="2650" spc="-5" dirty="0">
                <a:cs typeface="Calibri"/>
              </a:rPr>
              <a:t>a </a:t>
            </a:r>
            <a:r>
              <a:rPr sz="2650" spc="-10" dirty="0">
                <a:cs typeface="Calibri"/>
              </a:rPr>
              <a:t>speciﬁed</a:t>
            </a:r>
            <a:r>
              <a:rPr sz="2650" spc="20" dirty="0">
                <a:cs typeface="Calibri"/>
              </a:rPr>
              <a:t> </a:t>
            </a:r>
            <a:r>
              <a:rPr sz="2650" spc="-15" dirty="0">
                <a:cs typeface="Calibri"/>
              </a:rPr>
              <a:t>proble</a:t>
            </a:r>
            <a:r>
              <a:rPr lang="en-US" sz="2650" spc="-15" dirty="0">
                <a:cs typeface="Calibri"/>
              </a:rPr>
              <a:t>m</a:t>
            </a:r>
            <a:endParaRPr lang="en-US" sz="2650" dirty="0">
              <a:cs typeface="Calibri"/>
            </a:endParaRPr>
          </a:p>
          <a:p>
            <a:pPr marL="751840" marR="5080" lvl="1" indent="-282575" algn="just">
              <a:spcBef>
                <a:spcPts val="490"/>
              </a:spcBef>
              <a:buClr>
                <a:srgbClr val="9F4DA2"/>
              </a:buClr>
              <a:buFont typeface="Georgia"/>
              <a:buChar char="•"/>
              <a:tabLst>
                <a:tab pos="294640" algn="l"/>
                <a:tab pos="295275" algn="l"/>
              </a:tabLst>
            </a:pPr>
            <a:r>
              <a:rPr lang="en-US" sz="2650" b="1" spc="-10" dirty="0">
                <a:cs typeface="Calibri"/>
              </a:rPr>
              <a:t>Compa</a:t>
            </a:r>
            <a:r>
              <a:rPr lang="en-US" sz="2650" b="1" spc="-40" dirty="0">
                <a:cs typeface="Calibri"/>
              </a:rPr>
              <a:t>r</a:t>
            </a:r>
            <a:r>
              <a:rPr lang="en-US" sz="2650" b="1" spc="-5" dirty="0">
                <a:cs typeface="Calibri"/>
              </a:rPr>
              <a:t>e</a:t>
            </a:r>
            <a:r>
              <a:rPr lang="en-US" sz="2650" dirty="0">
                <a:cs typeface="Calibri"/>
              </a:rPr>
              <a:t>	</a:t>
            </a:r>
            <a:r>
              <a:rPr lang="en-US" sz="2650" spc="-20" dirty="0">
                <a:cs typeface="Calibri"/>
              </a:rPr>
              <a:t>a</a:t>
            </a:r>
            <a:r>
              <a:rPr lang="en-US" sz="2650" spc="-10" dirty="0">
                <a:cs typeface="Calibri"/>
              </a:rPr>
              <a:t>n</a:t>
            </a:r>
            <a:r>
              <a:rPr lang="en-US" sz="2650" spc="-5" dirty="0">
                <a:cs typeface="Calibri"/>
              </a:rPr>
              <a:t>d</a:t>
            </a:r>
            <a:r>
              <a:rPr lang="en-US" sz="2650" dirty="0">
                <a:cs typeface="Calibri"/>
              </a:rPr>
              <a:t>	</a:t>
            </a:r>
            <a:r>
              <a:rPr lang="en-US" sz="2650" b="1" spc="-30" dirty="0">
                <a:cs typeface="Calibri"/>
              </a:rPr>
              <a:t>c</a:t>
            </a:r>
            <a:r>
              <a:rPr lang="en-US" sz="2650" b="1" spc="-10" dirty="0">
                <a:cs typeface="Calibri"/>
              </a:rPr>
              <a:t>o</a:t>
            </a:r>
            <a:r>
              <a:rPr lang="en-US" sz="2650" b="1" spc="-45" dirty="0">
                <a:cs typeface="Calibri"/>
              </a:rPr>
              <a:t>n</a:t>
            </a:r>
            <a:r>
              <a:rPr lang="en-US" sz="2650" b="1" spc="-10" dirty="0">
                <a:cs typeface="Calibri"/>
              </a:rPr>
              <a:t>t</a:t>
            </a:r>
            <a:r>
              <a:rPr lang="en-US" sz="2650" b="1" spc="-60" dirty="0">
                <a:cs typeface="Calibri"/>
              </a:rPr>
              <a:t>r</a:t>
            </a:r>
            <a:r>
              <a:rPr lang="en-US" sz="2650" b="1" spc="-5" dirty="0">
                <a:cs typeface="Calibri"/>
              </a:rPr>
              <a:t>a</a:t>
            </a:r>
            <a:r>
              <a:rPr lang="en-US" sz="2650" b="1" spc="-35" dirty="0">
                <a:cs typeface="Calibri"/>
              </a:rPr>
              <a:t>s</a:t>
            </a:r>
            <a:r>
              <a:rPr lang="en-US" sz="2650" b="1" spc="-5" dirty="0">
                <a:cs typeface="Calibri"/>
              </a:rPr>
              <a:t>t</a:t>
            </a:r>
            <a:r>
              <a:rPr lang="en-US" sz="2650" dirty="0">
                <a:cs typeface="Calibri"/>
              </a:rPr>
              <a:t>	</a:t>
            </a:r>
            <a:r>
              <a:rPr lang="en-US" sz="2650" spc="-10" dirty="0">
                <a:cs typeface="Calibri"/>
              </a:rPr>
              <a:t>th</a:t>
            </a:r>
            <a:r>
              <a:rPr lang="en-US" sz="2650" spc="-5" dirty="0">
                <a:cs typeface="Calibri"/>
              </a:rPr>
              <a:t>e</a:t>
            </a:r>
            <a:r>
              <a:rPr lang="en-US" sz="2650" dirty="0">
                <a:cs typeface="Calibri"/>
              </a:rPr>
              <a:t>	</a:t>
            </a:r>
            <a:r>
              <a:rPr lang="en-US" sz="2650" spc="-10" dirty="0">
                <a:cs typeface="Calibri"/>
              </a:rPr>
              <a:t>bas</a:t>
            </a:r>
            <a:r>
              <a:rPr lang="en-US" sz="2650" spc="-20" dirty="0">
                <a:cs typeface="Calibri"/>
              </a:rPr>
              <a:t>i</a:t>
            </a:r>
            <a:r>
              <a:rPr lang="en-US" sz="2650" spc="-5" dirty="0">
                <a:cs typeface="Calibri"/>
              </a:rPr>
              <a:t>c</a:t>
            </a:r>
            <a:r>
              <a:rPr lang="en-US" sz="2650" dirty="0">
                <a:cs typeface="Calibri"/>
              </a:rPr>
              <a:t>	</a:t>
            </a:r>
            <a:r>
              <a:rPr lang="en-US" sz="2650" spc="-10" dirty="0">
                <a:cs typeface="Calibri"/>
              </a:rPr>
              <a:t>d</a:t>
            </a:r>
            <a:r>
              <a:rPr lang="en-US" sz="2650" spc="-35" dirty="0">
                <a:cs typeface="Calibri"/>
              </a:rPr>
              <a:t>at</a:t>
            </a:r>
            <a:r>
              <a:rPr lang="en-US" sz="2650" spc="-5" dirty="0">
                <a:cs typeface="Calibri"/>
              </a:rPr>
              <a:t>a</a:t>
            </a:r>
            <a:r>
              <a:rPr lang="en-US" sz="2650" dirty="0">
                <a:cs typeface="Calibri"/>
              </a:rPr>
              <a:t>	</a:t>
            </a:r>
            <a:r>
              <a:rPr lang="en-US" sz="2650" spc="-50" dirty="0">
                <a:cs typeface="Calibri"/>
              </a:rPr>
              <a:t>s</a:t>
            </a:r>
            <a:r>
              <a:rPr lang="en-US" sz="2650" spc="-10" dirty="0">
                <a:cs typeface="Calibri"/>
              </a:rPr>
              <a:t>truc</a:t>
            </a:r>
            <a:r>
              <a:rPr lang="en-US" sz="2650" spc="-30" dirty="0">
                <a:cs typeface="Calibri"/>
              </a:rPr>
              <a:t>t</a:t>
            </a:r>
            <a:r>
              <a:rPr lang="en-US" sz="2650" spc="-10" dirty="0">
                <a:cs typeface="Calibri"/>
              </a:rPr>
              <a:t>u</a:t>
            </a:r>
            <a:r>
              <a:rPr lang="en-US" sz="2650" spc="-45" dirty="0">
                <a:cs typeface="Calibri"/>
              </a:rPr>
              <a:t>r</a:t>
            </a:r>
            <a:r>
              <a:rPr lang="en-US" sz="2650" spc="-10" dirty="0">
                <a:cs typeface="Calibri"/>
              </a:rPr>
              <a:t>e</a:t>
            </a:r>
            <a:r>
              <a:rPr lang="en-US" sz="2650" spc="-5" dirty="0">
                <a:cs typeface="Calibri"/>
              </a:rPr>
              <a:t>s</a:t>
            </a:r>
            <a:r>
              <a:rPr lang="en-US" sz="2650" dirty="0">
                <a:cs typeface="Calibri"/>
              </a:rPr>
              <a:t>	</a:t>
            </a:r>
            <a:r>
              <a:rPr lang="en-US" sz="2650" spc="-10" dirty="0">
                <a:cs typeface="Calibri"/>
              </a:rPr>
              <a:t>use</a:t>
            </a:r>
            <a:r>
              <a:rPr lang="en-US" sz="2650" spc="-5" dirty="0">
                <a:cs typeface="Calibri"/>
              </a:rPr>
              <a:t>d</a:t>
            </a:r>
            <a:r>
              <a:rPr lang="en-US" sz="2650" dirty="0">
                <a:cs typeface="Calibri"/>
              </a:rPr>
              <a:t>	</a:t>
            </a:r>
            <a:r>
              <a:rPr lang="en-US" sz="2650" spc="-10" dirty="0">
                <a:cs typeface="Calibri"/>
              </a:rPr>
              <a:t>in  </a:t>
            </a:r>
            <a:r>
              <a:rPr lang="en-US" sz="2650" spc="-15" dirty="0">
                <a:cs typeface="Calibri"/>
              </a:rPr>
              <a:t>Computer </a:t>
            </a:r>
            <a:r>
              <a:rPr lang="en-US" sz="2650" spc="-5" dirty="0">
                <a:cs typeface="Calibri"/>
              </a:rPr>
              <a:t>Science: </a:t>
            </a:r>
            <a:r>
              <a:rPr lang="en-US" sz="2650" spc="-10" dirty="0">
                <a:cs typeface="Calibri"/>
              </a:rPr>
              <a:t>lists, </a:t>
            </a:r>
            <a:r>
              <a:rPr lang="en-US" sz="2650" spc="-15" dirty="0">
                <a:cs typeface="Calibri"/>
              </a:rPr>
              <a:t>stacks, </a:t>
            </a:r>
            <a:r>
              <a:rPr lang="en-US" sz="2650" spc="-10" dirty="0">
                <a:cs typeface="Calibri"/>
              </a:rPr>
              <a:t>queues, </a:t>
            </a:r>
            <a:r>
              <a:rPr lang="en-US" sz="2650" spc="-15" dirty="0">
                <a:cs typeface="Calibri"/>
              </a:rPr>
              <a:t>trees </a:t>
            </a:r>
            <a:r>
              <a:rPr lang="en-US" sz="2650" spc="-5" dirty="0">
                <a:cs typeface="Calibri"/>
              </a:rPr>
              <a:t>and</a:t>
            </a:r>
            <a:r>
              <a:rPr lang="en-US" sz="2650" spc="-40" dirty="0">
                <a:cs typeface="Calibri"/>
              </a:rPr>
              <a:t> </a:t>
            </a:r>
            <a:r>
              <a:rPr lang="en-US" sz="2650" spc="-15" dirty="0">
                <a:cs typeface="Calibri"/>
              </a:rPr>
              <a:t>graphs</a:t>
            </a:r>
            <a:endParaRPr lang="en-US" sz="2650" dirty="0">
              <a:cs typeface="Calibri"/>
            </a:endParaRPr>
          </a:p>
          <a:p>
            <a:pPr marL="751840" marR="5080" lvl="1" indent="-282575" algn="just">
              <a:spcBef>
                <a:spcPts val="490"/>
              </a:spcBef>
              <a:buClr>
                <a:srgbClr val="9F4DA2"/>
              </a:buClr>
              <a:buFont typeface="Georgia"/>
              <a:buChar char="•"/>
              <a:tabLst>
                <a:tab pos="294640" algn="l"/>
                <a:tab pos="295275" algn="l"/>
              </a:tabLst>
            </a:pPr>
            <a:r>
              <a:rPr sz="2650" spc="-10" dirty="0">
                <a:cs typeface="Calibri"/>
              </a:rPr>
              <a:t>Describe classic </a:t>
            </a:r>
            <a:r>
              <a:rPr sz="2650" b="1" spc="-10" dirty="0">
                <a:cs typeface="Calibri"/>
              </a:rPr>
              <a:t>sorting</a:t>
            </a:r>
            <a:r>
              <a:rPr sz="2650" b="1" spc="-20" dirty="0">
                <a:cs typeface="Calibri"/>
              </a:rPr>
              <a:t> </a:t>
            </a:r>
            <a:r>
              <a:rPr sz="2650" b="1" spc="-10" dirty="0">
                <a:cs typeface="Calibri"/>
              </a:rPr>
              <a:t>techniques</a:t>
            </a:r>
            <a:endParaRPr lang="en-US" sz="2650" b="1" dirty="0">
              <a:cs typeface="Calibri"/>
            </a:endParaRPr>
          </a:p>
          <a:p>
            <a:pPr marL="751840" marR="5080" lvl="1" indent="-282575" algn="just">
              <a:spcBef>
                <a:spcPts val="490"/>
              </a:spcBef>
              <a:buClr>
                <a:srgbClr val="9F4DA2"/>
              </a:buClr>
              <a:buFont typeface="Georgia"/>
              <a:buChar char="•"/>
              <a:tabLst>
                <a:tab pos="294640" algn="l"/>
                <a:tab pos="295275" algn="l"/>
              </a:tabLst>
            </a:pPr>
            <a:r>
              <a:rPr sz="2650" spc="-20" dirty="0">
                <a:cs typeface="Calibri"/>
              </a:rPr>
              <a:t>Recognize	</a:t>
            </a:r>
            <a:r>
              <a:rPr sz="2650" b="1" spc="-10" dirty="0">
                <a:cs typeface="Calibri"/>
              </a:rPr>
              <a:t>when	</a:t>
            </a:r>
            <a:r>
              <a:rPr sz="2650" b="1" spc="-5" dirty="0">
                <a:cs typeface="Calibri"/>
              </a:rPr>
              <a:t>and	</a:t>
            </a:r>
            <a:r>
              <a:rPr sz="2650" b="1" spc="-15" dirty="0">
                <a:cs typeface="Calibri"/>
              </a:rPr>
              <a:t>how	</a:t>
            </a:r>
            <a:r>
              <a:rPr sz="2650" b="1" spc="-20" dirty="0">
                <a:cs typeface="Calibri"/>
              </a:rPr>
              <a:t>to		</a:t>
            </a:r>
            <a:r>
              <a:rPr sz="2650" b="1" spc="-10" dirty="0">
                <a:cs typeface="Calibri"/>
              </a:rPr>
              <a:t>use</a:t>
            </a:r>
            <a:r>
              <a:rPr sz="2650" spc="-10" dirty="0">
                <a:cs typeface="Calibri"/>
              </a:rPr>
              <a:t>	the	</a:t>
            </a:r>
            <a:r>
              <a:rPr sz="2650" spc="-15" dirty="0">
                <a:cs typeface="Calibri"/>
              </a:rPr>
              <a:t>following		</a:t>
            </a:r>
            <a:r>
              <a:rPr sz="2650" spc="-25" dirty="0">
                <a:cs typeface="Calibri"/>
              </a:rPr>
              <a:t>data  </a:t>
            </a:r>
            <a:r>
              <a:rPr sz="2650" spc="-35" dirty="0">
                <a:cs typeface="Calibri"/>
              </a:rPr>
              <a:t>s</a:t>
            </a:r>
            <a:r>
              <a:rPr sz="2650" spc="-10" dirty="0">
                <a:cs typeface="Calibri"/>
              </a:rPr>
              <a:t>tructu</a:t>
            </a:r>
            <a:r>
              <a:rPr sz="2650" spc="-45" dirty="0">
                <a:cs typeface="Calibri"/>
              </a:rPr>
              <a:t>r</a:t>
            </a:r>
            <a:r>
              <a:rPr sz="2650" spc="-10" dirty="0">
                <a:cs typeface="Calibri"/>
              </a:rPr>
              <a:t>e</a:t>
            </a:r>
            <a:r>
              <a:rPr sz="2650" spc="-20" dirty="0">
                <a:cs typeface="Calibri"/>
              </a:rPr>
              <a:t>s</a:t>
            </a:r>
            <a:r>
              <a:rPr sz="2650" spc="-5" dirty="0">
                <a:cs typeface="Calibri"/>
              </a:rPr>
              <a:t>:</a:t>
            </a:r>
            <a:r>
              <a:rPr sz="2650" dirty="0">
                <a:cs typeface="Calibri"/>
              </a:rPr>
              <a:t>	</a:t>
            </a:r>
            <a:r>
              <a:rPr sz="2650" spc="-5" dirty="0">
                <a:cs typeface="Calibri"/>
              </a:rPr>
              <a:t>ar</a:t>
            </a:r>
            <a:r>
              <a:rPr sz="2650" spc="-50" dirty="0">
                <a:cs typeface="Calibri"/>
              </a:rPr>
              <a:t>r</a:t>
            </a:r>
            <a:r>
              <a:rPr sz="2650" spc="-60" dirty="0">
                <a:cs typeface="Calibri"/>
              </a:rPr>
              <a:t>a</a:t>
            </a:r>
            <a:r>
              <a:rPr sz="2650" spc="-30" dirty="0">
                <a:cs typeface="Calibri"/>
              </a:rPr>
              <a:t>y</a:t>
            </a:r>
            <a:r>
              <a:rPr sz="2650" spc="-10" dirty="0">
                <a:cs typeface="Calibri"/>
              </a:rPr>
              <a:t>s</a:t>
            </a:r>
            <a:r>
              <a:rPr sz="2650" spc="-5" dirty="0">
                <a:cs typeface="Calibri"/>
              </a:rPr>
              <a:t>,</a:t>
            </a:r>
            <a:r>
              <a:rPr sz="2650" dirty="0">
                <a:cs typeface="Calibri"/>
              </a:rPr>
              <a:t>	</a:t>
            </a:r>
            <a:r>
              <a:rPr sz="2650" spc="-10" dirty="0">
                <a:cs typeface="Calibri"/>
              </a:rPr>
              <a:t>li</a:t>
            </a:r>
            <a:r>
              <a:rPr sz="2650" spc="-20" dirty="0">
                <a:cs typeface="Calibri"/>
              </a:rPr>
              <a:t>n</a:t>
            </a:r>
            <a:r>
              <a:rPr sz="2650" spc="-90" dirty="0">
                <a:cs typeface="Calibri"/>
              </a:rPr>
              <a:t>k</a:t>
            </a:r>
            <a:r>
              <a:rPr sz="2650" spc="-10" dirty="0">
                <a:cs typeface="Calibri"/>
              </a:rPr>
              <a:t>e</a:t>
            </a:r>
            <a:r>
              <a:rPr sz="2650" spc="-5" dirty="0">
                <a:cs typeface="Calibri"/>
              </a:rPr>
              <a:t>d</a:t>
            </a:r>
            <a:r>
              <a:rPr sz="2650" dirty="0">
                <a:cs typeface="Calibri"/>
              </a:rPr>
              <a:t>	</a:t>
            </a:r>
            <a:r>
              <a:rPr sz="2650" spc="-10" dirty="0">
                <a:cs typeface="Calibri"/>
              </a:rPr>
              <a:t>li</a:t>
            </a:r>
            <a:r>
              <a:rPr sz="2650" spc="-40" dirty="0">
                <a:cs typeface="Calibri"/>
              </a:rPr>
              <a:t>s</a:t>
            </a:r>
            <a:r>
              <a:rPr sz="2650" spc="-10" dirty="0">
                <a:cs typeface="Calibri"/>
              </a:rPr>
              <a:t>ts</a:t>
            </a:r>
            <a:r>
              <a:rPr sz="2650" spc="-5" dirty="0">
                <a:cs typeface="Calibri"/>
              </a:rPr>
              <a:t>,</a:t>
            </a:r>
            <a:r>
              <a:rPr sz="2650" dirty="0">
                <a:cs typeface="Calibri"/>
              </a:rPr>
              <a:t>	</a:t>
            </a:r>
            <a:r>
              <a:rPr sz="2650" spc="-50" dirty="0">
                <a:cs typeface="Calibri"/>
              </a:rPr>
              <a:t>s</a:t>
            </a:r>
            <a:r>
              <a:rPr sz="2650" spc="-35" dirty="0">
                <a:cs typeface="Calibri"/>
              </a:rPr>
              <a:t>t</a:t>
            </a:r>
            <a:r>
              <a:rPr sz="2650" spc="-20" dirty="0">
                <a:cs typeface="Calibri"/>
              </a:rPr>
              <a:t>a</a:t>
            </a:r>
            <a:r>
              <a:rPr sz="2650" spc="-10" dirty="0">
                <a:cs typeface="Calibri"/>
              </a:rPr>
              <a:t>c</a:t>
            </a:r>
            <a:r>
              <a:rPr sz="2650" spc="-40" dirty="0">
                <a:cs typeface="Calibri"/>
              </a:rPr>
              <a:t>k</a:t>
            </a:r>
            <a:r>
              <a:rPr sz="2650" spc="-10" dirty="0">
                <a:cs typeface="Calibri"/>
              </a:rPr>
              <a:t>s</a:t>
            </a:r>
            <a:r>
              <a:rPr sz="2650" spc="-5" dirty="0">
                <a:cs typeface="Calibri"/>
              </a:rPr>
              <a:t>,</a:t>
            </a:r>
            <a:r>
              <a:rPr sz="2650" dirty="0">
                <a:cs typeface="Calibri"/>
              </a:rPr>
              <a:t>	</a:t>
            </a:r>
            <a:r>
              <a:rPr sz="2650" spc="-10" dirty="0">
                <a:cs typeface="Calibri"/>
              </a:rPr>
              <a:t>queue</a:t>
            </a:r>
            <a:r>
              <a:rPr sz="2650" spc="-5" dirty="0">
                <a:cs typeface="Calibri"/>
              </a:rPr>
              <a:t>s</a:t>
            </a:r>
            <a:r>
              <a:rPr sz="2650" dirty="0">
                <a:cs typeface="Calibri"/>
              </a:rPr>
              <a:t>	</a:t>
            </a:r>
            <a:r>
              <a:rPr sz="2650" spc="-5" dirty="0">
                <a:cs typeface="Calibri"/>
              </a:rPr>
              <a:t>and</a:t>
            </a:r>
            <a:r>
              <a:rPr sz="2650" dirty="0">
                <a:cs typeface="Calibri"/>
              </a:rPr>
              <a:t>	</a:t>
            </a:r>
            <a:r>
              <a:rPr sz="2650" spc="-10" dirty="0">
                <a:cs typeface="Calibri"/>
              </a:rPr>
              <a:t>bina</a:t>
            </a:r>
            <a:r>
              <a:rPr sz="2650" dirty="0">
                <a:cs typeface="Calibri"/>
              </a:rPr>
              <a:t>r</a:t>
            </a:r>
            <a:r>
              <a:rPr sz="2650" spc="-5" dirty="0">
                <a:cs typeface="Calibri"/>
              </a:rPr>
              <a:t>y  </a:t>
            </a:r>
            <a:r>
              <a:rPr sz="2650" spc="-15" dirty="0">
                <a:cs typeface="Calibri"/>
              </a:rPr>
              <a:t>trees.</a:t>
            </a:r>
            <a:endParaRPr lang="en-US" sz="2650" dirty="0">
              <a:cs typeface="Calibri"/>
            </a:endParaRPr>
          </a:p>
          <a:p>
            <a:pPr marL="751840" marR="5080" lvl="1" indent="-282575" algn="just">
              <a:spcBef>
                <a:spcPts val="490"/>
              </a:spcBef>
              <a:buClr>
                <a:srgbClr val="9F4DA2"/>
              </a:buClr>
              <a:buFont typeface="Georgia"/>
              <a:buChar char="•"/>
              <a:tabLst>
                <a:tab pos="294640" algn="l"/>
                <a:tab pos="295275" algn="l"/>
              </a:tabLst>
            </a:pPr>
            <a:r>
              <a:rPr sz="2650" spc="-10" dirty="0">
                <a:cs typeface="Calibri"/>
              </a:rPr>
              <a:t>Ide</a:t>
            </a:r>
            <a:r>
              <a:rPr sz="2650" spc="-40" dirty="0">
                <a:cs typeface="Calibri"/>
              </a:rPr>
              <a:t>n</a:t>
            </a:r>
            <a:r>
              <a:rPr sz="2650" spc="-10" dirty="0">
                <a:cs typeface="Calibri"/>
              </a:rPr>
              <a:t>ti</a:t>
            </a:r>
            <a:r>
              <a:rPr sz="2650" spc="5" dirty="0">
                <a:cs typeface="Calibri"/>
              </a:rPr>
              <a:t>f</a:t>
            </a:r>
            <a:r>
              <a:rPr sz="2650" spc="-5" dirty="0">
                <a:cs typeface="Calibri"/>
              </a:rPr>
              <a:t>y</a:t>
            </a:r>
            <a:r>
              <a:rPr sz="2650" dirty="0">
                <a:cs typeface="Calibri"/>
              </a:rPr>
              <a:t>	</a:t>
            </a:r>
            <a:r>
              <a:rPr sz="2650" spc="-5" dirty="0">
                <a:cs typeface="Calibri"/>
              </a:rPr>
              <a:t>and</a:t>
            </a:r>
            <a:r>
              <a:rPr sz="2650" dirty="0">
                <a:cs typeface="Calibri"/>
              </a:rPr>
              <a:t>	</a:t>
            </a:r>
            <a:r>
              <a:rPr sz="2650" spc="-10" dirty="0">
                <a:cs typeface="Calibri"/>
              </a:rPr>
              <a:t>impleme</a:t>
            </a:r>
            <a:r>
              <a:rPr sz="2650" spc="-25" dirty="0">
                <a:cs typeface="Calibri"/>
              </a:rPr>
              <a:t>n</a:t>
            </a:r>
            <a:r>
              <a:rPr sz="2650" spc="-5" dirty="0">
                <a:cs typeface="Calibri"/>
              </a:rPr>
              <a:t>t</a:t>
            </a:r>
            <a:r>
              <a:rPr sz="2650" dirty="0">
                <a:cs typeface="Calibri"/>
              </a:rPr>
              <a:t>	</a:t>
            </a:r>
            <a:r>
              <a:rPr sz="2650" spc="-10" dirty="0">
                <a:cs typeface="Calibri"/>
              </a:rPr>
              <a:t>th</a:t>
            </a:r>
            <a:r>
              <a:rPr sz="2650" spc="-5" dirty="0">
                <a:cs typeface="Calibri"/>
              </a:rPr>
              <a:t>e</a:t>
            </a:r>
            <a:r>
              <a:rPr sz="2650" dirty="0">
                <a:cs typeface="Calibri"/>
              </a:rPr>
              <a:t>	</a:t>
            </a:r>
            <a:r>
              <a:rPr sz="2650" spc="-10" dirty="0">
                <a:cs typeface="Calibri"/>
              </a:rPr>
              <a:t>basi</a:t>
            </a:r>
            <a:r>
              <a:rPr sz="2650" spc="-5" dirty="0">
                <a:cs typeface="Calibri"/>
              </a:rPr>
              <a:t>c</a:t>
            </a:r>
            <a:r>
              <a:rPr sz="2650" dirty="0">
                <a:cs typeface="Calibri"/>
              </a:rPr>
              <a:t>	</a:t>
            </a:r>
            <a:r>
              <a:rPr sz="2650" spc="-30" dirty="0">
                <a:cs typeface="Calibri"/>
              </a:rPr>
              <a:t>o</a:t>
            </a:r>
            <a:r>
              <a:rPr sz="2650" spc="-10" dirty="0">
                <a:cs typeface="Calibri"/>
              </a:rPr>
              <a:t>pe</a:t>
            </a:r>
            <a:r>
              <a:rPr sz="2650" spc="-50" dirty="0">
                <a:cs typeface="Calibri"/>
              </a:rPr>
              <a:t>r</a:t>
            </a:r>
            <a:r>
              <a:rPr sz="2650" spc="-30" dirty="0">
                <a:cs typeface="Calibri"/>
              </a:rPr>
              <a:t>a</a:t>
            </a:r>
            <a:r>
              <a:rPr sz="2650" spc="-10" dirty="0">
                <a:cs typeface="Calibri"/>
              </a:rPr>
              <a:t>tion</a:t>
            </a:r>
            <a:r>
              <a:rPr sz="2650" spc="-5" dirty="0">
                <a:cs typeface="Calibri"/>
              </a:rPr>
              <a:t>s</a:t>
            </a:r>
            <a:r>
              <a:rPr sz="2650" dirty="0">
                <a:cs typeface="Calibri"/>
              </a:rPr>
              <a:t>	</a:t>
            </a:r>
            <a:r>
              <a:rPr sz="2650" spc="-60" dirty="0">
                <a:cs typeface="Calibri"/>
              </a:rPr>
              <a:t>f</a:t>
            </a:r>
            <a:r>
              <a:rPr sz="2650" spc="-10" dirty="0">
                <a:cs typeface="Calibri"/>
              </a:rPr>
              <a:t>or  manipulating </a:t>
            </a:r>
            <a:r>
              <a:rPr sz="2650" spc="-5" dirty="0">
                <a:cs typeface="Calibri"/>
              </a:rPr>
              <a:t>each </a:t>
            </a:r>
            <a:r>
              <a:rPr sz="2650" spc="-10" dirty="0">
                <a:cs typeface="Calibri"/>
              </a:rPr>
              <a:t>type </a:t>
            </a:r>
            <a:r>
              <a:rPr sz="2650" spc="-5" dirty="0">
                <a:cs typeface="Calibri"/>
              </a:rPr>
              <a:t>of </a:t>
            </a:r>
            <a:r>
              <a:rPr sz="2650" spc="-20" dirty="0">
                <a:cs typeface="Calibri"/>
              </a:rPr>
              <a:t>data</a:t>
            </a:r>
            <a:r>
              <a:rPr sz="2650" spc="-40" dirty="0">
                <a:cs typeface="Calibri"/>
              </a:rPr>
              <a:t> </a:t>
            </a:r>
            <a:r>
              <a:rPr sz="2650" spc="-15" dirty="0">
                <a:cs typeface="Calibri"/>
              </a:rPr>
              <a:t>structure</a:t>
            </a:r>
            <a:endParaRPr sz="2650" dirty="0">
              <a:cs typeface="Calibri"/>
            </a:endParaRPr>
          </a:p>
        </p:txBody>
      </p:sp>
    </p:spTree>
    <p:extLst>
      <p:ext uri="{BB962C8B-B14F-4D97-AF65-F5344CB8AC3E}">
        <p14:creationId xmlns:p14="http://schemas.microsoft.com/office/powerpoint/2010/main" val="343236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xmlns="" id="{93C4F5CF-67C5-473E-A7B5-CED65948FAEE}"/>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pic>
        <p:nvPicPr>
          <p:cNvPr id="7" name="Picture 6">
            <a:extLst>
              <a:ext uri="{FF2B5EF4-FFF2-40B4-BE49-F238E27FC236}">
                <a16:creationId xmlns:a16="http://schemas.microsoft.com/office/drawing/2014/main" xmlns="" id="{DAD5ECF9-A10D-A378-D359-66F9EC1024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8" name="TextBox 7">
            <a:extLst>
              <a:ext uri="{FF2B5EF4-FFF2-40B4-BE49-F238E27FC236}">
                <a16:creationId xmlns:a16="http://schemas.microsoft.com/office/drawing/2014/main" xmlns="" id="{44C1ED1E-7590-A247-C1F9-A850C356CBFF}"/>
              </a:ext>
            </a:extLst>
          </p:cNvPr>
          <p:cNvSpPr txBox="1"/>
          <p:nvPr/>
        </p:nvSpPr>
        <p:spPr>
          <a:xfrm>
            <a:off x="233045" y="259544"/>
            <a:ext cx="3819315" cy="584775"/>
          </a:xfrm>
          <a:prstGeom prst="rect">
            <a:avLst/>
          </a:prstGeom>
          <a:noFill/>
        </p:spPr>
        <p:txBody>
          <a:bodyPr wrap="none" rtlCol="0">
            <a:spAutoFit/>
          </a:bodyPr>
          <a:lstStyle/>
          <a:p>
            <a:r>
              <a:rPr lang="en-US" sz="3200" b="1" dirty="0">
                <a:solidFill>
                  <a:schemeClr val="accent1">
                    <a:lumMod val="50000"/>
                  </a:schemeClr>
                </a:solidFill>
              </a:rPr>
              <a:t>Course Goals</a:t>
            </a:r>
            <a:r>
              <a:rPr lang="en-US" sz="2000" b="1" dirty="0">
                <a:solidFill>
                  <a:schemeClr val="accent1">
                    <a:lumMod val="50000"/>
                  </a:schemeClr>
                </a:solidFill>
              </a:rPr>
              <a:t>(Continue…)</a:t>
            </a:r>
            <a:r>
              <a:rPr lang="en-US" sz="3200" b="1" dirty="0">
                <a:solidFill>
                  <a:schemeClr val="accent1">
                    <a:lumMod val="50000"/>
                  </a:schemeClr>
                </a:solidFill>
              </a:rPr>
              <a:t>:</a:t>
            </a:r>
          </a:p>
        </p:txBody>
      </p:sp>
      <p:sp>
        <p:nvSpPr>
          <p:cNvPr id="2" name="object 21">
            <a:extLst>
              <a:ext uri="{FF2B5EF4-FFF2-40B4-BE49-F238E27FC236}">
                <a16:creationId xmlns:a16="http://schemas.microsoft.com/office/drawing/2014/main" xmlns="" id="{0A979F73-5ACA-C7BA-FA54-6010957AE383}"/>
              </a:ext>
            </a:extLst>
          </p:cNvPr>
          <p:cNvSpPr txBox="1"/>
          <p:nvPr/>
        </p:nvSpPr>
        <p:spPr>
          <a:xfrm>
            <a:off x="233045" y="1049502"/>
            <a:ext cx="11844262" cy="5324150"/>
          </a:xfrm>
          <a:prstGeom prst="rect">
            <a:avLst/>
          </a:prstGeom>
        </p:spPr>
        <p:txBody>
          <a:bodyPr vert="horz" wrap="square" lIns="0" tIns="62230" rIns="0" bIns="0" rtlCol="0">
            <a:spAutoFit/>
          </a:bodyPr>
          <a:lstStyle/>
          <a:p>
            <a:pPr marL="294640" marR="5080" indent="-282575" algn="just">
              <a:lnSpc>
                <a:spcPct val="150000"/>
              </a:lnSpc>
              <a:spcBef>
                <a:spcPts val="490"/>
              </a:spcBef>
              <a:buClr>
                <a:srgbClr val="9F4DA2"/>
              </a:buClr>
              <a:buFont typeface="Georgia"/>
              <a:buChar char="•"/>
              <a:tabLst>
                <a:tab pos="294640" algn="l"/>
                <a:tab pos="295275" algn="l"/>
              </a:tabLst>
            </a:pPr>
            <a:r>
              <a:rPr sz="2850" b="1" spc="5" dirty="0">
                <a:cs typeface="Calibri"/>
              </a:rPr>
              <a:t>Upon </a:t>
            </a:r>
            <a:r>
              <a:rPr sz="2850" b="1" dirty="0">
                <a:cs typeface="Calibri"/>
              </a:rPr>
              <a:t>completion </a:t>
            </a:r>
            <a:r>
              <a:rPr sz="2850" b="1" spc="5" dirty="0">
                <a:cs typeface="Calibri"/>
              </a:rPr>
              <a:t>of </a:t>
            </a:r>
            <a:r>
              <a:rPr sz="2850" b="1" dirty="0">
                <a:cs typeface="Calibri"/>
              </a:rPr>
              <a:t>this </a:t>
            </a:r>
            <a:r>
              <a:rPr sz="2850" b="1" spc="-10" dirty="0">
                <a:cs typeface="Calibri"/>
              </a:rPr>
              <a:t>course, </a:t>
            </a:r>
            <a:r>
              <a:rPr sz="2850" b="1" spc="10" dirty="0">
                <a:cs typeface="Calibri"/>
              </a:rPr>
              <a:t>a </a:t>
            </a:r>
            <a:r>
              <a:rPr sz="2850" b="1" spc="-5" dirty="0">
                <a:cs typeface="Calibri"/>
              </a:rPr>
              <a:t>successful student will  </a:t>
            </a:r>
            <a:r>
              <a:rPr sz="2850" b="1" spc="5" dirty="0">
                <a:cs typeface="Calibri"/>
              </a:rPr>
              <a:t>be able</a:t>
            </a:r>
            <a:r>
              <a:rPr sz="2850" b="1" spc="-25" dirty="0">
                <a:cs typeface="Calibri"/>
              </a:rPr>
              <a:t> </a:t>
            </a:r>
            <a:r>
              <a:rPr sz="2850" b="1" spc="-10" dirty="0">
                <a:cs typeface="Calibri"/>
              </a:rPr>
              <a:t>to:</a:t>
            </a:r>
            <a:endParaRPr lang="en-PK" sz="2850" b="1" spc="-10" dirty="0">
              <a:cs typeface="Calibri"/>
            </a:endParaRPr>
          </a:p>
          <a:p>
            <a:pPr marL="751840" marR="5080" lvl="1" indent="-282575" algn="just">
              <a:lnSpc>
                <a:spcPct val="150000"/>
              </a:lnSpc>
              <a:spcBef>
                <a:spcPts val="490"/>
              </a:spcBef>
              <a:buClr>
                <a:srgbClr val="9F4DA2"/>
              </a:buClr>
              <a:buFont typeface="Georgia"/>
              <a:buChar char="•"/>
              <a:tabLst>
                <a:tab pos="294640" algn="l"/>
                <a:tab pos="295275" algn="l"/>
              </a:tabLst>
            </a:pPr>
            <a:r>
              <a:rPr lang="en-US" sz="2650" dirty="0">
                <a:cs typeface="Calibri"/>
              </a:rPr>
              <a:t>Perform </a:t>
            </a:r>
            <a:r>
              <a:rPr lang="en-US" sz="2650" b="1" dirty="0">
                <a:cs typeface="Calibri"/>
              </a:rPr>
              <a:t>sequential searching, binary searching and hashing  algorithms</a:t>
            </a:r>
            <a:r>
              <a:rPr lang="en-US" sz="2650" dirty="0">
                <a:cs typeface="Calibri"/>
              </a:rPr>
              <a:t>.</a:t>
            </a:r>
          </a:p>
          <a:p>
            <a:pPr marL="751840" marR="5080" lvl="1" indent="-282575" algn="just">
              <a:lnSpc>
                <a:spcPct val="150000"/>
              </a:lnSpc>
              <a:spcBef>
                <a:spcPts val="490"/>
              </a:spcBef>
              <a:buClr>
                <a:srgbClr val="9F4DA2"/>
              </a:buClr>
              <a:buFont typeface="Georgia"/>
              <a:buChar char="•"/>
              <a:tabLst>
                <a:tab pos="294640" algn="l"/>
                <a:tab pos="295275" algn="l"/>
              </a:tabLst>
            </a:pPr>
            <a:r>
              <a:rPr lang="en-US" sz="2650" dirty="0">
                <a:cs typeface="Calibri"/>
              </a:rPr>
              <a:t>Apply	various	</a:t>
            </a:r>
            <a:r>
              <a:rPr lang="en-US" sz="2650" b="1" dirty="0">
                <a:cs typeface="Calibri"/>
              </a:rPr>
              <a:t>sorting	algorithms</a:t>
            </a:r>
            <a:r>
              <a:rPr lang="en-US" sz="2650" dirty="0">
                <a:cs typeface="Calibri"/>
              </a:rPr>
              <a:t>	including	bubble,</a:t>
            </a:r>
          </a:p>
          <a:p>
            <a:pPr marL="751840" marR="5080" lvl="1" indent="-282575" algn="just">
              <a:lnSpc>
                <a:spcPct val="150000"/>
              </a:lnSpc>
              <a:spcBef>
                <a:spcPts val="490"/>
              </a:spcBef>
              <a:buClr>
                <a:srgbClr val="9F4DA2"/>
              </a:buClr>
              <a:buFont typeface="Georgia"/>
              <a:buChar char="•"/>
              <a:tabLst>
                <a:tab pos="294640" algn="l"/>
                <a:tab pos="295275" algn="l"/>
              </a:tabLst>
            </a:pPr>
            <a:r>
              <a:rPr lang="en-US" sz="2650" dirty="0">
                <a:cs typeface="Calibri"/>
              </a:rPr>
              <a:t>insertion, selection and quick sort.</a:t>
            </a:r>
          </a:p>
          <a:p>
            <a:pPr marL="751840" marR="5080" lvl="1" indent="-282575" algn="just">
              <a:lnSpc>
                <a:spcPct val="150000"/>
              </a:lnSpc>
              <a:spcBef>
                <a:spcPts val="490"/>
              </a:spcBef>
              <a:buClr>
                <a:srgbClr val="9F4DA2"/>
              </a:buClr>
              <a:buFont typeface="Georgia"/>
              <a:buChar char="•"/>
              <a:tabLst>
                <a:tab pos="294640" algn="l"/>
                <a:tab pos="295275" algn="l"/>
              </a:tabLst>
            </a:pPr>
            <a:r>
              <a:rPr lang="en-US" sz="2650" dirty="0">
                <a:cs typeface="Calibri"/>
              </a:rPr>
              <a:t>Understand	</a:t>
            </a:r>
            <a:r>
              <a:rPr lang="en-US" sz="2650" b="1" dirty="0">
                <a:cs typeface="Calibri"/>
              </a:rPr>
              <a:t>recursion</a:t>
            </a:r>
            <a:r>
              <a:rPr lang="en-US" sz="2650" dirty="0">
                <a:cs typeface="Calibri"/>
              </a:rPr>
              <a:t>	and	be	able	to	give	examples	of	its  use</a:t>
            </a:r>
          </a:p>
          <a:p>
            <a:pPr marL="751840" marR="5080" lvl="1" indent="-282575" algn="just">
              <a:lnSpc>
                <a:spcPct val="150000"/>
              </a:lnSpc>
              <a:spcBef>
                <a:spcPts val="490"/>
              </a:spcBef>
              <a:buClr>
                <a:srgbClr val="9F4DA2"/>
              </a:buClr>
              <a:buFont typeface="Georgia"/>
              <a:buChar char="•"/>
              <a:tabLst>
                <a:tab pos="294640" algn="l"/>
                <a:tab pos="295275" algn="l"/>
              </a:tabLst>
            </a:pPr>
            <a:r>
              <a:rPr lang="en-US" sz="2650" b="1" dirty="0">
                <a:cs typeface="Calibri"/>
              </a:rPr>
              <a:t>Use dynamic data structures</a:t>
            </a:r>
          </a:p>
          <a:p>
            <a:pPr marL="751840" marR="5080" lvl="1" indent="-282575" algn="just">
              <a:lnSpc>
                <a:spcPct val="150000"/>
              </a:lnSpc>
              <a:spcBef>
                <a:spcPts val="490"/>
              </a:spcBef>
              <a:buClr>
                <a:srgbClr val="9F4DA2"/>
              </a:buClr>
              <a:buFont typeface="Georgia"/>
              <a:buChar char="•"/>
              <a:tabLst>
                <a:tab pos="294640" algn="l"/>
                <a:tab pos="295275" algn="l"/>
              </a:tabLst>
            </a:pPr>
            <a:endParaRPr lang="en-US" sz="2650" dirty="0">
              <a:cs typeface="Calibri"/>
            </a:endParaRPr>
          </a:p>
        </p:txBody>
      </p:sp>
    </p:spTree>
    <p:extLst>
      <p:ext uri="{BB962C8B-B14F-4D97-AF65-F5344CB8AC3E}">
        <p14:creationId xmlns:p14="http://schemas.microsoft.com/office/powerpoint/2010/main" val="594885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CA3E9AB8-5876-460F-B59F-2657F195C2DC}"/>
              </a:ext>
            </a:extLst>
          </p:cNvPr>
          <p:cNvSpPr txBox="1"/>
          <p:nvPr/>
        </p:nvSpPr>
        <p:spPr>
          <a:xfrm>
            <a:off x="245745" y="132601"/>
            <a:ext cx="3750066" cy="830997"/>
          </a:xfrm>
          <a:prstGeom prst="rect">
            <a:avLst/>
          </a:prstGeom>
          <a:noFill/>
        </p:spPr>
        <p:txBody>
          <a:bodyPr wrap="none" rtlCol="0">
            <a:spAutoFit/>
          </a:bodyPr>
          <a:lstStyle/>
          <a:p>
            <a:r>
              <a:rPr lang="en-US" sz="2400" b="1" dirty="0">
                <a:solidFill>
                  <a:schemeClr val="accent1">
                    <a:lumMod val="50000"/>
                  </a:schemeClr>
                </a:solidFill>
              </a:rPr>
              <a:t>Course Learning Outcomes: </a:t>
            </a:r>
          </a:p>
          <a:p>
            <a:r>
              <a:rPr lang="en-US" sz="2400" b="1" dirty="0">
                <a:solidFill>
                  <a:schemeClr val="accent1">
                    <a:lumMod val="50000"/>
                  </a:schemeClr>
                </a:solidFill>
              </a:rPr>
              <a:t>		</a:t>
            </a:r>
            <a:endParaRPr lang="en-PK" sz="2400" b="1" dirty="0">
              <a:solidFill>
                <a:schemeClr val="accent1">
                  <a:lumMod val="50000"/>
                </a:schemeClr>
              </a:solidFill>
            </a:endParaRPr>
          </a:p>
        </p:txBody>
      </p:sp>
      <p:graphicFrame>
        <p:nvGraphicFramePr>
          <p:cNvPr id="2" name="Table 4">
            <a:extLst>
              <a:ext uri="{FF2B5EF4-FFF2-40B4-BE49-F238E27FC236}">
                <a16:creationId xmlns:a16="http://schemas.microsoft.com/office/drawing/2014/main" xmlns="" id="{5BD39027-5EEF-4D6D-B05D-DE04C588E144}"/>
              </a:ext>
            </a:extLst>
          </p:cNvPr>
          <p:cNvGraphicFramePr>
            <a:graphicFrameLocks noGrp="1"/>
          </p:cNvGraphicFramePr>
          <p:nvPr>
            <p:extLst>
              <p:ext uri="{D42A27DB-BD31-4B8C-83A1-F6EECF244321}">
                <p14:modId xmlns:p14="http://schemas.microsoft.com/office/powerpoint/2010/main" val="1323409961"/>
              </p:ext>
            </p:extLst>
          </p:nvPr>
        </p:nvGraphicFramePr>
        <p:xfrm>
          <a:off x="472440" y="922990"/>
          <a:ext cx="11247120" cy="2068890"/>
        </p:xfrm>
        <a:graphic>
          <a:graphicData uri="http://schemas.openxmlformats.org/drawingml/2006/table">
            <a:tbl>
              <a:tblPr firstRow="1" bandRow="1">
                <a:tableStyleId>{F2DE63D5-997A-4646-A377-4702673A728D}</a:tableStyleId>
              </a:tblPr>
              <a:tblGrid>
                <a:gridCol w="726440">
                  <a:extLst>
                    <a:ext uri="{9D8B030D-6E8A-4147-A177-3AD203B41FA5}">
                      <a16:colId xmlns:a16="http://schemas.microsoft.com/office/drawing/2014/main" xmlns="" val="2326080979"/>
                    </a:ext>
                  </a:extLst>
                </a:gridCol>
                <a:gridCol w="6583680">
                  <a:extLst>
                    <a:ext uri="{9D8B030D-6E8A-4147-A177-3AD203B41FA5}">
                      <a16:colId xmlns:a16="http://schemas.microsoft.com/office/drawing/2014/main" xmlns="" val="2788368814"/>
                    </a:ext>
                  </a:extLst>
                </a:gridCol>
                <a:gridCol w="2844800">
                  <a:extLst>
                    <a:ext uri="{9D8B030D-6E8A-4147-A177-3AD203B41FA5}">
                      <a16:colId xmlns:a16="http://schemas.microsoft.com/office/drawing/2014/main" xmlns="" val="3357119363"/>
                    </a:ext>
                  </a:extLst>
                </a:gridCol>
                <a:gridCol w="1092200">
                  <a:extLst>
                    <a:ext uri="{9D8B030D-6E8A-4147-A177-3AD203B41FA5}">
                      <a16:colId xmlns:a16="http://schemas.microsoft.com/office/drawing/2014/main" xmlns="" val="1242613532"/>
                    </a:ext>
                  </a:extLst>
                </a:gridCol>
              </a:tblGrid>
              <a:tr h="148664">
                <a:tc>
                  <a:txBody>
                    <a:bodyPr/>
                    <a:lstStyle/>
                    <a:p>
                      <a:pPr algn="ctr"/>
                      <a:r>
                        <a:rPr lang="en-US" dirty="0"/>
                        <a:t>CLOs</a:t>
                      </a:r>
                      <a:endParaRPr lang="en-PK" dirty="0"/>
                    </a:p>
                  </a:txBody>
                  <a:tcPr/>
                </a:tc>
                <a:tc>
                  <a:txBody>
                    <a:bodyPr/>
                    <a:lstStyle/>
                    <a:p>
                      <a:pPr algn="ctr"/>
                      <a:r>
                        <a:rPr lang="en-US" dirty="0"/>
                        <a:t>Description</a:t>
                      </a:r>
                      <a:endParaRPr lang="en-PK" dirty="0"/>
                    </a:p>
                  </a:txBody>
                  <a:tcPr/>
                </a:tc>
                <a:tc>
                  <a:txBody>
                    <a:bodyPr/>
                    <a:lstStyle/>
                    <a:p>
                      <a:pPr algn="ctr"/>
                      <a:r>
                        <a:rPr lang="en-US" dirty="0"/>
                        <a:t>Taxonomy Level</a:t>
                      </a:r>
                      <a:endParaRPr lang="en-PK" dirty="0"/>
                    </a:p>
                  </a:txBody>
                  <a:tcPr/>
                </a:tc>
                <a:tc>
                  <a:txBody>
                    <a:bodyPr/>
                    <a:lstStyle/>
                    <a:p>
                      <a:pPr algn="ctr"/>
                      <a:r>
                        <a:rPr lang="en-US" dirty="0"/>
                        <a:t>PLO</a:t>
                      </a:r>
                      <a:endParaRPr lang="en-PK" dirty="0"/>
                    </a:p>
                  </a:txBody>
                  <a:tcPr/>
                </a:tc>
                <a:extLst>
                  <a:ext uri="{0D108BD9-81ED-4DB2-BD59-A6C34878D82A}">
                    <a16:rowId xmlns:a16="http://schemas.microsoft.com/office/drawing/2014/main" xmlns="" val="91669533"/>
                  </a:ext>
                </a:extLst>
              </a:tr>
              <a:tr h="476540">
                <a:tc>
                  <a:txBody>
                    <a:bodyPr/>
                    <a:lstStyle/>
                    <a:p>
                      <a:pPr algn="ctr"/>
                      <a:r>
                        <a:rPr lang="en-US" dirty="0"/>
                        <a:t>1</a:t>
                      </a:r>
                      <a:endParaRPr lang="en-PK" dirty="0"/>
                    </a:p>
                  </a:txBody>
                  <a:tcPr/>
                </a:tc>
                <a:tc>
                  <a:txBody>
                    <a:bodyPr/>
                    <a:lstStyle/>
                    <a:p>
                      <a:pPr algn="l"/>
                      <a:r>
                        <a:rPr lang="en-US" dirty="0"/>
                        <a:t>Comprehend various data structures and their algorithms and their use in simple applications</a:t>
                      </a:r>
                      <a:endParaRPr lang="en-PK" dirty="0"/>
                    </a:p>
                  </a:txBody>
                  <a:tcPr/>
                </a:tc>
                <a:tc>
                  <a:txBody>
                    <a:bodyPr/>
                    <a:lstStyle/>
                    <a:p>
                      <a:pPr algn="ctr"/>
                      <a:r>
                        <a:rPr lang="en-US" dirty="0"/>
                        <a:t>C2</a:t>
                      </a:r>
                      <a:endParaRPr lang="en-PK" dirty="0"/>
                    </a:p>
                  </a:txBody>
                  <a:tcPr/>
                </a:tc>
                <a:tc>
                  <a:txBody>
                    <a:bodyPr/>
                    <a:lstStyle/>
                    <a:p>
                      <a:pPr algn="ctr"/>
                      <a:r>
                        <a:rPr lang="en-US" dirty="0"/>
                        <a:t>1</a:t>
                      </a:r>
                      <a:endParaRPr lang="en-PK" dirty="0"/>
                    </a:p>
                  </a:txBody>
                  <a:tcPr/>
                </a:tc>
                <a:extLst>
                  <a:ext uri="{0D108BD9-81ED-4DB2-BD59-A6C34878D82A}">
                    <a16:rowId xmlns:a16="http://schemas.microsoft.com/office/drawing/2014/main" xmlns="" val="2061058686"/>
                  </a:ext>
                </a:extLst>
              </a:tr>
              <a:tr h="586510">
                <a:tc>
                  <a:txBody>
                    <a:bodyPr/>
                    <a:lstStyle/>
                    <a:p>
                      <a:pPr algn="ctr"/>
                      <a:r>
                        <a:rPr lang="en-US" dirty="0"/>
                        <a:t>2</a:t>
                      </a:r>
                      <a:endParaRPr lang="en-PK" dirty="0"/>
                    </a:p>
                  </a:txBody>
                  <a:tcPr/>
                </a:tc>
                <a:tc>
                  <a:txBody>
                    <a:bodyPr/>
                    <a:lstStyle/>
                    <a:p>
                      <a:pPr algn="l"/>
                      <a:r>
                        <a:rPr lang="en-US" dirty="0"/>
                        <a:t>Analyze simple algorithms and determine their complexities</a:t>
                      </a:r>
                      <a:endParaRPr lang="en-PK" dirty="0"/>
                    </a:p>
                  </a:txBody>
                  <a:tcPr/>
                </a:tc>
                <a:tc>
                  <a:txBody>
                    <a:bodyPr/>
                    <a:lstStyle/>
                    <a:p>
                      <a:pPr algn="ctr"/>
                      <a:r>
                        <a:rPr lang="en-US" dirty="0"/>
                        <a:t>C4</a:t>
                      </a:r>
                      <a:endParaRPr lang="en-PK" dirty="0"/>
                    </a:p>
                  </a:txBody>
                  <a:tcPr/>
                </a:tc>
                <a:tc>
                  <a:txBody>
                    <a:bodyPr/>
                    <a:lstStyle/>
                    <a:p>
                      <a:pPr algn="ctr"/>
                      <a:r>
                        <a:rPr lang="en-US" dirty="0"/>
                        <a:t>3</a:t>
                      </a:r>
                      <a:endParaRPr lang="en-PK" dirty="0"/>
                    </a:p>
                  </a:txBody>
                  <a:tcPr/>
                </a:tc>
                <a:extLst>
                  <a:ext uri="{0D108BD9-81ED-4DB2-BD59-A6C34878D82A}">
                    <a16:rowId xmlns:a16="http://schemas.microsoft.com/office/drawing/2014/main" xmlns="" val="1131681397"/>
                  </a:ext>
                </a:extLst>
              </a:tr>
              <a:tr h="476540">
                <a:tc>
                  <a:txBody>
                    <a:bodyPr/>
                    <a:lstStyle/>
                    <a:p>
                      <a:pPr algn="ctr"/>
                      <a:r>
                        <a:rPr lang="en-US" dirty="0"/>
                        <a:t>3</a:t>
                      </a:r>
                      <a:endParaRPr lang="en-PK" dirty="0"/>
                    </a:p>
                  </a:txBody>
                  <a:tcPr/>
                </a:tc>
                <a:tc>
                  <a:txBody>
                    <a:bodyPr/>
                    <a:lstStyle/>
                    <a:p>
                      <a:pPr algn="l"/>
                      <a:r>
                        <a:rPr lang="en-US" dirty="0"/>
                        <a:t>Apply the knowledge of data structures to other application domains</a:t>
                      </a:r>
                      <a:endParaRPr lang="en-PK" dirty="0"/>
                    </a:p>
                  </a:txBody>
                  <a:tcPr/>
                </a:tc>
                <a:tc>
                  <a:txBody>
                    <a:bodyPr/>
                    <a:lstStyle/>
                    <a:p>
                      <a:pPr algn="ctr"/>
                      <a:r>
                        <a:rPr lang="en-US" dirty="0"/>
                        <a:t>C3</a:t>
                      </a:r>
                      <a:endParaRPr lang="en-PK" dirty="0"/>
                    </a:p>
                  </a:txBody>
                  <a:tcPr/>
                </a:tc>
                <a:tc>
                  <a:txBody>
                    <a:bodyPr/>
                    <a:lstStyle/>
                    <a:p>
                      <a:pPr algn="ctr"/>
                      <a:r>
                        <a:rPr lang="en-US" dirty="0"/>
                        <a:t>2</a:t>
                      </a:r>
                      <a:endParaRPr lang="en-PK" dirty="0"/>
                    </a:p>
                  </a:txBody>
                  <a:tcPr/>
                </a:tc>
                <a:extLst>
                  <a:ext uri="{0D108BD9-81ED-4DB2-BD59-A6C34878D82A}">
                    <a16:rowId xmlns:a16="http://schemas.microsoft.com/office/drawing/2014/main" xmlns="" val="4106697774"/>
                  </a:ext>
                </a:extLst>
              </a:tr>
            </a:tbl>
          </a:graphicData>
        </a:graphic>
      </p:graphicFrame>
      <p:sp>
        <p:nvSpPr>
          <p:cNvPr id="5" name="TextBox 4">
            <a:extLst>
              <a:ext uri="{FF2B5EF4-FFF2-40B4-BE49-F238E27FC236}">
                <a16:creationId xmlns:a16="http://schemas.microsoft.com/office/drawing/2014/main" xmlns="" id="{A1D24135-F006-40B5-B249-99670132A5B1}"/>
              </a:ext>
            </a:extLst>
          </p:cNvPr>
          <p:cNvSpPr txBox="1"/>
          <p:nvPr/>
        </p:nvSpPr>
        <p:spPr>
          <a:xfrm>
            <a:off x="245745" y="2892656"/>
            <a:ext cx="4683718" cy="461665"/>
          </a:xfrm>
          <a:prstGeom prst="rect">
            <a:avLst/>
          </a:prstGeom>
          <a:noFill/>
        </p:spPr>
        <p:txBody>
          <a:bodyPr wrap="none" rtlCol="0">
            <a:spAutoFit/>
          </a:bodyPr>
          <a:lstStyle/>
          <a:p>
            <a:r>
              <a:rPr lang="en-US" sz="2400" b="1" dirty="0">
                <a:solidFill>
                  <a:schemeClr val="accent1">
                    <a:lumMod val="50000"/>
                  </a:schemeClr>
                </a:solidFill>
              </a:rPr>
              <a:t>Program Learning Outcomes (PLOs)</a:t>
            </a:r>
            <a:endParaRPr lang="en-PK" sz="2400" b="1" dirty="0">
              <a:solidFill>
                <a:schemeClr val="accent1">
                  <a:lumMod val="50000"/>
                </a:schemeClr>
              </a:solidFill>
            </a:endParaRPr>
          </a:p>
        </p:txBody>
      </p:sp>
      <p:sp>
        <p:nvSpPr>
          <p:cNvPr id="9" name="TextBox 8">
            <a:extLst>
              <a:ext uri="{FF2B5EF4-FFF2-40B4-BE49-F238E27FC236}">
                <a16:creationId xmlns:a16="http://schemas.microsoft.com/office/drawing/2014/main" xmlns="" id="{572F58BB-6FDF-4863-8403-A4845495EAEE}"/>
              </a:ext>
            </a:extLst>
          </p:cNvPr>
          <p:cNvSpPr txBox="1"/>
          <p:nvPr/>
        </p:nvSpPr>
        <p:spPr>
          <a:xfrm>
            <a:off x="472440" y="3429000"/>
            <a:ext cx="8874760" cy="369332"/>
          </a:xfrm>
          <a:prstGeom prst="rect">
            <a:avLst/>
          </a:prstGeom>
          <a:noFill/>
        </p:spPr>
        <p:txBody>
          <a:bodyPr wrap="square">
            <a:spAutoFit/>
          </a:bodyPr>
          <a:lstStyle/>
          <a:p>
            <a:r>
              <a:rPr lang="en-US" dirty="0"/>
              <a:t>The course is designed so that students will achieve the following PLOs:</a:t>
            </a:r>
            <a:endParaRPr lang="en-PK" dirty="0"/>
          </a:p>
        </p:txBody>
      </p:sp>
      <p:graphicFrame>
        <p:nvGraphicFramePr>
          <p:cNvPr id="10" name="Table 10">
            <a:extLst>
              <a:ext uri="{FF2B5EF4-FFF2-40B4-BE49-F238E27FC236}">
                <a16:creationId xmlns:a16="http://schemas.microsoft.com/office/drawing/2014/main" xmlns="" id="{8B18ABF7-1B8B-474D-B657-D7A1B9CE69AD}"/>
              </a:ext>
            </a:extLst>
          </p:cNvPr>
          <p:cNvGraphicFramePr>
            <a:graphicFrameLocks noGrp="1"/>
          </p:cNvGraphicFramePr>
          <p:nvPr>
            <p:extLst>
              <p:ext uri="{D42A27DB-BD31-4B8C-83A1-F6EECF244321}">
                <p14:modId xmlns:p14="http://schemas.microsoft.com/office/powerpoint/2010/main" val="4201331052"/>
              </p:ext>
            </p:extLst>
          </p:nvPr>
        </p:nvGraphicFramePr>
        <p:xfrm>
          <a:off x="1676400" y="3798332"/>
          <a:ext cx="8763000" cy="3059668"/>
        </p:xfrm>
        <a:graphic>
          <a:graphicData uri="http://schemas.openxmlformats.org/drawingml/2006/table">
            <a:tbl>
              <a:tblPr firstRow="1" bandRow="1">
                <a:tableStyleId>{1FECB4D8-DB02-4DC6-A0A2-4F2EBAE1DC90}</a:tableStyleId>
              </a:tblPr>
              <a:tblGrid>
                <a:gridCol w="266700">
                  <a:extLst>
                    <a:ext uri="{9D8B030D-6E8A-4147-A177-3AD203B41FA5}">
                      <a16:colId xmlns:a16="http://schemas.microsoft.com/office/drawing/2014/main" xmlns="" val="2885152125"/>
                    </a:ext>
                  </a:extLst>
                </a:gridCol>
                <a:gridCol w="3378889">
                  <a:extLst>
                    <a:ext uri="{9D8B030D-6E8A-4147-A177-3AD203B41FA5}">
                      <a16:colId xmlns:a16="http://schemas.microsoft.com/office/drawing/2014/main" xmlns="" val="3696347663"/>
                    </a:ext>
                  </a:extLst>
                </a:gridCol>
                <a:gridCol w="849128">
                  <a:extLst>
                    <a:ext uri="{9D8B030D-6E8A-4147-A177-3AD203B41FA5}">
                      <a16:colId xmlns:a16="http://schemas.microsoft.com/office/drawing/2014/main" xmlns="" val="1794136349"/>
                    </a:ext>
                  </a:extLst>
                </a:gridCol>
                <a:gridCol w="4268283">
                  <a:extLst>
                    <a:ext uri="{9D8B030D-6E8A-4147-A177-3AD203B41FA5}">
                      <a16:colId xmlns:a16="http://schemas.microsoft.com/office/drawing/2014/main" xmlns="" val="3934874722"/>
                    </a:ext>
                  </a:extLst>
                </a:gridCol>
              </a:tblGrid>
              <a:tr h="398925">
                <a:tc>
                  <a:txBody>
                    <a:bodyPr/>
                    <a:lstStyle/>
                    <a:p>
                      <a:r>
                        <a:rPr lang="en-US" b="0" dirty="0">
                          <a:solidFill>
                            <a:schemeClr val="bg2">
                              <a:lumMod val="10000"/>
                            </a:schemeClr>
                          </a:solidFill>
                        </a:rPr>
                        <a:t>1</a:t>
                      </a:r>
                      <a:endParaRPr lang="en-PK" b="0" dirty="0">
                        <a:solidFill>
                          <a:schemeClr val="bg2">
                            <a:lumMod val="10000"/>
                          </a:schemeClr>
                        </a:solidFill>
                      </a:endParaRPr>
                    </a:p>
                  </a:txBody>
                  <a:tcPr/>
                </a:tc>
                <a:tc>
                  <a:txBody>
                    <a:bodyPr/>
                    <a:lstStyle/>
                    <a:p>
                      <a:r>
                        <a:rPr lang="en-US" b="0" dirty="0">
                          <a:solidFill>
                            <a:schemeClr val="bg2">
                              <a:lumMod val="10000"/>
                            </a:schemeClr>
                          </a:solidFill>
                          <a:highlight>
                            <a:srgbClr val="FFFF00"/>
                          </a:highlight>
                        </a:rPr>
                        <a:t>Academic Education</a:t>
                      </a:r>
                      <a:endParaRPr lang="en-PK" b="0" dirty="0">
                        <a:solidFill>
                          <a:schemeClr val="bg2">
                            <a:lumMod val="10000"/>
                          </a:schemeClr>
                        </a:solidFill>
                        <a:highlight>
                          <a:srgbClr val="FFFF00"/>
                        </a:highlight>
                      </a:endParaRPr>
                    </a:p>
                  </a:txBody>
                  <a:tcPr/>
                </a:tc>
                <a:tc>
                  <a:txBody>
                    <a:bodyPr/>
                    <a:lstStyle/>
                    <a:p>
                      <a:r>
                        <a:rPr lang="en-US" b="0" dirty="0">
                          <a:solidFill>
                            <a:schemeClr val="bg2">
                              <a:lumMod val="10000"/>
                            </a:schemeClr>
                          </a:solidFill>
                        </a:rPr>
                        <a:t>6</a:t>
                      </a:r>
                      <a:endParaRPr lang="en-PK" b="0" dirty="0">
                        <a:solidFill>
                          <a:schemeClr val="bg2">
                            <a:lumMod val="10000"/>
                          </a:schemeClr>
                        </a:solidFill>
                      </a:endParaRPr>
                    </a:p>
                  </a:txBody>
                  <a:tcPr/>
                </a:tc>
                <a:tc>
                  <a:txBody>
                    <a:bodyPr/>
                    <a:lstStyle/>
                    <a:p>
                      <a:r>
                        <a:rPr lang="en-US" b="0" dirty="0">
                          <a:solidFill>
                            <a:schemeClr val="bg2">
                              <a:lumMod val="10000"/>
                            </a:schemeClr>
                          </a:solidFill>
                        </a:rPr>
                        <a:t>Individual and Team Work</a:t>
                      </a:r>
                      <a:endParaRPr lang="en-PK" b="0" dirty="0">
                        <a:solidFill>
                          <a:schemeClr val="bg2">
                            <a:lumMod val="10000"/>
                          </a:schemeClr>
                        </a:solidFill>
                      </a:endParaRPr>
                    </a:p>
                  </a:txBody>
                  <a:tcPr/>
                </a:tc>
                <a:extLst>
                  <a:ext uri="{0D108BD9-81ED-4DB2-BD59-A6C34878D82A}">
                    <a16:rowId xmlns:a16="http://schemas.microsoft.com/office/drawing/2014/main" xmlns="" val="2805548614"/>
                  </a:ext>
                </a:extLst>
              </a:tr>
              <a:tr h="651695">
                <a:tc>
                  <a:txBody>
                    <a:bodyPr/>
                    <a:lstStyle/>
                    <a:p>
                      <a:r>
                        <a:rPr lang="en-US" dirty="0"/>
                        <a:t>2</a:t>
                      </a:r>
                      <a:endParaRPr lang="en-PK" dirty="0"/>
                    </a:p>
                  </a:txBody>
                  <a:tcPr/>
                </a:tc>
                <a:tc>
                  <a:txBody>
                    <a:bodyPr/>
                    <a:lstStyle/>
                    <a:p>
                      <a:r>
                        <a:rPr lang="en-US" dirty="0">
                          <a:highlight>
                            <a:srgbClr val="FFFF00"/>
                          </a:highlight>
                        </a:rPr>
                        <a:t>Knowledge for Solving Computing Problems</a:t>
                      </a:r>
                      <a:endParaRPr lang="en-PK" dirty="0">
                        <a:highlight>
                          <a:srgbClr val="FFFF00"/>
                        </a:highlight>
                      </a:endParaRPr>
                    </a:p>
                  </a:txBody>
                  <a:tcPr/>
                </a:tc>
                <a:tc>
                  <a:txBody>
                    <a:bodyPr/>
                    <a:lstStyle/>
                    <a:p>
                      <a:r>
                        <a:rPr lang="en-US" dirty="0"/>
                        <a:t>7</a:t>
                      </a:r>
                      <a:endParaRPr lang="en-PK" dirty="0"/>
                    </a:p>
                  </a:txBody>
                  <a:tcPr/>
                </a:tc>
                <a:tc>
                  <a:txBody>
                    <a:bodyPr/>
                    <a:lstStyle/>
                    <a:p>
                      <a:r>
                        <a:rPr lang="en-US" dirty="0"/>
                        <a:t>Communication</a:t>
                      </a:r>
                      <a:endParaRPr lang="en-PK" dirty="0"/>
                    </a:p>
                  </a:txBody>
                  <a:tcPr/>
                </a:tc>
                <a:extLst>
                  <a:ext uri="{0D108BD9-81ED-4DB2-BD59-A6C34878D82A}">
                    <a16:rowId xmlns:a16="http://schemas.microsoft.com/office/drawing/2014/main" xmlns="" val="3928776465"/>
                  </a:ext>
                </a:extLst>
              </a:tr>
              <a:tr h="612559">
                <a:tc>
                  <a:txBody>
                    <a:bodyPr/>
                    <a:lstStyle/>
                    <a:p>
                      <a:r>
                        <a:rPr lang="en-US" dirty="0"/>
                        <a:t>3</a:t>
                      </a:r>
                      <a:endParaRPr lang="en-PK" dirty="0"/>
                    </a:p>
                  </a:txBody>
                  <a:tcPr/>
                </a:tc>
                <a:tc>
                  <a:txBody>
                    <a:bodyPr/>
                    <a:lstStyle/>
                    <a:p>
                      <a:r>
                        <a:rPr lang="en-US" dirty="0">
                          <a:highlight>
                            <a:srgbClr val="FFFF00"/>
                          </a:highlight>
                        </a:rPr>
                        <a:t>Problem Analysis</a:t>
                      </a:r>
                      <a:endParaRPr lang="en-PK" dirty="0">
                        <a:highlight>
                          <a:srgbClr val="FFFF00"/>
                        </a:highlight>
                      </a:endParaRPr>
                    </a:p>
                  </a:txBody>
                  <a:tcPr/>
                </a:tc>
                <a:tc>
                  <a:txBody>
                    <a:bodyPr/>
                    <a:lstStyle/>
                    <a:p>
                      <a:r>
                        <a:rPr lang="en-US" dirty="0"/>
                        <a:t>8</a:t>
                      </a:r>
                      <a:endParaRPr lang="en-PK" dirty="0"/>
                    </a:p>
                  </a:txBody>
                  <a:tcPr/>
                </a:tc>
                <a:tc>
                  <a:txBody>
                    <a:bodyPr/>
                    <a:lstStyle/>
                    <a:p>
                      <a:r>
                        <a:rPr lang="en-US" dirty="0"/>
                        <a:t>Computing Professionalism and Society</a:t>
                      </a:r>
                      <a:endParaRPr lang="en-PK" dirty="0"/>
                    </a:p>
                  </a:txBody>
                  <a:tcPr/>
                </a:tc>
                <a:extLst>
                  <a:ext uri="{0D108BD9-81ED-4DB2-BD59-A6C34878D82A}">
                    <a16:rowId xmlns:a16="http://schemas.microsoft.com/office/drawing/2014/main" xmlns="" val="1160955036"/>
                  </a:ext>
                </a:extLst>
              </a:tr>
              <a:tr h="651695">
                <a:tc>
                  <a:txBody>
                    <a:bodyPr/>
                    <a:lstStyle/>
                    <a:p>
                      <a:r>
                        <a:rPr lang="en-US" dirty="0"/>
                        <a:t>4</a:t>
                      </a:r>
                      <a:endParaRPr lang="en-PK" dirty="0"/>
                    </a:p>
                  </a:txBody>
                  <a:tcPr/>
                </a:tc>
                <a:tc>
                  <a:txBody>
                    <a:bodyPr/>
                    <a:lstStyle/>
                    <a:p>
                      <a:r>
                        <a:rPr lang="en-US" dirty="0"/>
                        <a:t>Design / Development of solutions</a:t>
                      </a:r>
                      <a:endParaRPr lang="en-PK" dirty="0"/>
                    </a:p>
                  </a:txBody>
                  <a:tcPr/>
                </a:tc>
                <a:tc>
                  <a:txBody>
                    <a:bodyPr/>
                    <a:lstStyle/>
                    <a:p>
                      <a:r>
                        <a:rPr lang="en-US" dirty="0"/>
                        <a:t>9</a:t>
                      </a:r>
                      <a:endParaRPr lang="en-PK" dirty="0"/>
                    </a:p>
                  </a:txBody>
                  <a:tcPr/>
                </a:tc>
                <a:tc>
                  <a:txBody>
                    <a:bodyPr/>
                    <a:lstStyle/>
                    <a:p>
                      <a:r>
                        <a:rPr lang="en-US" dirty="0"/>
                        <a:t>Ethics</a:t>
                      </a:r>
                      <a:endParaRPr lang="en-PK" dirty="0"/>
                    </a:p>
                  </a:txBody>
                  <a:tcPr/>
                </a:tc>
                <a:extLst>
                  <a:ext uri="{0D108BD9-81ED-4DB2-BD59-A6C34878D82A}">
                    <a16:rowId xmlns:a16="http://schemas.microsoft.com/office/drawing/2014/main" xmlns="" val="3988390234"/>
                  </a:ext>
                </a:extLst>
              </a:tr>
              <a:tr h="372397">
                <a:tc>
                  <a:txBody>
                    <a:bodyPr/>
                    <a:lstStyle/>
                    <a:p>
                      <a:r>
                        <a:rPr lang="en-US" dirty="0"/>
                        <a:t>5</a:t>
                      </a:r>
                      <a:endParaRPr lang="en-PK" dirty="0"/>
                    </a:p>
                  </a:txBody>
                  <a:tcPr/>
                </a:tc>
                <a:tc>
                  <a:txBody>
                    <a:bodyPr/>
                    <a:lstStyle/>
                    <a:p>
                      <a:r>
                        <a:rPr lang="en-US" dirty="0"/>
                        <a:t>Modern Tool Usage</a:t>
                      </a:r>
                      <a:endParaRPr lang="en-PK" dirty="0"/>
                    </a:p>
                  </a:txBody>
                  <a:tcPr/>
                </a:tc>
                <a:tc>
                  <a:txBody>
                    <a:bodyPr/>
                    <a:lstStyle/>
                    <a:p>
                      <a:r>
                        <a:rPr lang="en-US" dirty="0"/>
                        <a:t>10</a:t>
                      </a:r>
                      <a:endParaRPr lang="en-PK" dirty="0"/>
                    </a:p>
                  </a:txBody>
                  <a:tcPr/>
                </a:tc>
                <a:tc>
                  <a:txBody>
                    <a:bodyPr/>
                    <a:lstStyle/>
                    <a:p>
                      <a:r>
                        <a:rPr lang="en-US" dirty="0"/>
                        <a:t>Lifelong Learning</a:t>
                      </a:r>
                      <a:endParaRPr lang="en-PK" dirty="0"/>
                    </a:p>
                  </a:txBody>
                  <a:tcPr/>
                </a:tc>
                <a:extLst>
                  <a:ext uri="{0D108BD9-81ED-4DB2-BD59-A6C34878D82A}">
                    <a16:rowId xmlns:a16="http://schemas.microsoft.com/office/drawing/2014/main" xmlns="" val="3635288845"/>
                  </a:ext>
                </a:extLst>
              </a:tr>
              <a:tr h="372397">
                <a:tc>
                  <a:txBody>
                    <a:bodyPr/>
                    <a:lstStyle/>
                    <a:p>
                      <a:r>
                        <a:rPr lang="en-US" dirty="0"/>
                        <a:t>6</a:t>
                      </a:r>
                      <a:endParaRPr lang="en-PK" dirty="0"/>
                    </a:p>
                  </a:txBody>
                  <a:tcPr/>
                </a:tc>
                <a:tc>
                  <a:txBody>
                    <a:bodyPr/>
                    <a:lstStyle/>
                    <a:p>
                      <a:endParaRPr lang="en-PK" dirty="0"/>
                    </a:p>
                  </a:txBody>
                  <a:tcPr/>
                </a:tc>
                <a:tc>
                  <a:txBody>
                    <a:bodyPr/>
                    <a:lstStyle/>
                    <a:p>
                      <a:endParaRPr lang="en-PK" dirty="0"/>
                    </a:p>
                  </a:txBody>
                  <a:tcPr/>
                </a:tc>
                <a:tc>
                  <a:txBody>
                    <a:bodyPr/>
                    <a:lstStyle/>
                    <a:p>
                      <a:endParaRPr lang="en-PK" dirty="0"/>
                    </a:p>
                  </a:txBody>
                  <a:tcPr/>
                </a:tc>
                <a:extLst>
                  <a:ext uri="{0D108BD9-81ED-4DB2-BD59-A6C34878D82A}">
                    <a16:rowId xmlns:a16="http://schemas.microsoft.com/office/drawing/2014/main" xmlns="" val="3317740452"/>
                  </a:ext>
                </a:extLst>
              </a:tr>
            </a:tbl>
          </a:graphicData>
        </a:graphic>
      </p:graphicFrame>
      <p:sp>
        <p:nvSpPr>
          <p:cNvPr id="3" name="Footer Placeholder 2">
            <a:extLst>
              <a:ext uri="{FF2B5EF4-FFF2-40B4-BE49-F238E27FC236}">
                <a16:creationId xmlns:a16="http://schemas.microsoft.com/office/drawing/2014/main" xmlns="" id="{93C4F5CF-67C5-473E-A7B5-CED65948FAEE}"/>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
        <p:nvSpPr>
          <p:cNvPr id="6" name="Slide Number Placeholder 5">
            <a:extLst>
              <a:ext uri="{FF2B5EF4-FFF2-40B4-BE49-F238E27FC236}">
                <a16:creationId xmlns:a16="http://schemas.microsoft.com/office/drawing/2014/main" xmlns="" id="{B1ABB887-87DF-4D31-A1AD-0F660646638D}"/>
              </a:ext>
            </a:extLst>
          </p:cNvPr>
          <p:cNvSpPr>
            <a:spLocks noGrp="1"/>
          </p:cNvSpPr>
          <p:nvPr>
            <p:ph type="sldNum" sz="quarter" idx="12"/>
          </p:nvPr>
        </p:nvSpPr>
        <p:spPr/>
        <p:txBody>
          <a:bodyPr/>
          <a:lstStyle/>
          <a:p>
            <a:fld id="{859554BC-CEC8-48EC-A95B-3A2781EBB6A0}" type="slidenum">
              <a:rPr lang="en-PK" smtClean="0"/>
              <a:t>6</a:t>
            </a:fld>
            <a:endParaRPr lang="en-PK"/>
          </a:p>
        </p:txBody>
      </p:sp>
      <p:pic>
        <p:nvPicPr>
          <p:cNvPr id="7" name="Picture 6">
            <a:extLst>
              <a:ext uri="{FF2B5EF4-FFF2-40B4-BE49-F238E27FC236}">
                <a16:creationId xmlns:a16="http://schemas.microsoft.com/office/drawing/2014/main" xmlns="" id="{DAD5ECF9-A10D-A378-D359-66F9EC1024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Tree>
    <p:extLst>
      <p:ext uri="{BB962C8B-B14F-4D97-AF65-F5344CB8AC3E}">
        <p14:creationId xmlns:p14="http://schemas.microsoft.com/office/powerpoint/2010/main" val="2631243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485CA3-FAA5-4493-A0A2-A598BE9DC177}"/>
              </a:ext>
            </a:extLst>
          </p:cNvPr>
          <p:cNvSpPr>
            <a:spLocks noGrp="1"/>
          </p:cNvSpPr>
          <p:nvPr>
            <p:ph type="title"/>
          </p:nvPr>
        </p:nvSpPr>
        <p:spPr>
          <a:xfrm>
            <a:off x="350520" y="161925"/>
            <a:ext cx="10515600" cy="589915"/>
          </a:xfrm>
        </p:spPr>
        <p:txBody>
          <a:bodyPr>
            <a:normAutofit/>
          </a:bodyPr>
          <a:lstStyle/>
          <a:p>
            <a:r>
              <a:rPr lang="en-US" sz="2400" b="1" dirty="0">
                <a:solidFill>
                  <a:schemeClr val="accent1">
                    <a:lumMod val="50000"/>
                  </a:schemeClr>
                </a:solidFill>
                <a:latin typeface="+mn-lt"/>
              </a:rPr>
              <a:t>Course Outlines:</a:t>
            </a:r>
            <a:endParaRPr lang="en-PK" sz="2400" b="1" dirty="0">
              <a:solidFill>
                <a:schemeClr val="accent1">
                  <a:lumMod val="50000"/>
                </a:schemeClr>
              </a:solidFill>
              <a:latin typeface="+mn-lt"/>
            </a:endParaRPr>
          </a:p>
        </p:txBody>
      </p:sp>
      <p:sp>
        <p:nvSpPr>
          <p:cNvPr id="3" name="Content Placeholder 2">
            <a:extLst>
              <a:ext uri="{FF2B5EF4-FFF2-40B4-BE49-F238E27FC236}">
                <a16:creationId xmlns:a16="http://schemas.microsoft.com/office/drawing/2014/main" xmlns="" id="{F97B80C6-EF8F-42DB-A01A-49239D268139}"/>
              </a:ext>
            </a:extLst>
          </p:cNvPr>
          <p:cNvSpPr>
            <a:spLocks noGrp="1"/>
          </p:cNvSpPr>
          <p:nvPr>
            <p:ph idx="1"/>
          </p:nvPr>
        </p:nvSpPr>
        <p:spPr>
          <a:xfrm>
            <a:off x="634999" y="924903"/>
            <a:ext cx="10515600" cy="6704157"/>
          </a:xfrm>
        </p:spPr>
        <p:txBody>
          <a:bodyPr>
            <a:noAutofit/>
          </a:bodyPr>
          <a:lstStyle/>
          <a:p>
            <a:pPr marL="0">
              <a:lnSpc>
                <a:spcPct val="100000"/>
              </a:lnSpc>
              <a:spcBef>
                <a:spcPts val="0"/>
              </a:spcBef>
              <a:spcAft>
                <a:spcPts val="800"/>
              </a:spcAft>
            </a:pPr>
            <a:r>
              <a:rPr lang="en-PK" sz="2400" dirty="0">
                <a:effectLst/>
                <a:latin typeface="Calibri" panose="020F0502020204030204" pitchFamily="34" charset="0"/>
                <a:ea typeface="Calibri" panose="020F0502020204030204" pitchFamily="34" charset="0"/>
                <a:cs typeface="Arial" panose="020B0604020202020204" pitchFamily="34" charset="0"/>
              </a:rPr>
              <a:t>Abstract Data Types, </a:t>
            </a:r>
            <a:r>
              <a:rPr lang="en-US" sz="2400" dirty="0">
                <a:effectLst/>
                <a:latin typeface="Calibri" panose="020F0502020204030204" pitchFamily="34" charset="0"/>
                <a:ea typeface="Calibri" panose="020F0502020204030204" pitchFamily="34" charset="0"/>
                <a:cs typeface="Arial" panose="020B0604020202020204" pitchFamily="34" charset="0"/>
              </a:rPr>
              <a:t>                   	                                                       </a:t>
            </a:r>
            <a:endParaRPr lang="en-PK" sz="24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0000"/>
              </a:lnSpc>
              <a:spcBef>
                <a:spcPts val="0"/>
              </a:spcBef>
              <a:spcAft>
                <a:spcPts val="800"/>
              </a:spcAft>
            </a:pPr>
            <a:r>
              <a:rPr lang="en-PK" sz="2400" dirty="0">
                <a:effectLst/>
                <a:latin typeface="Calibri" panose="020F0502020204030204" pitchFamily="34" charset="0"/>
                <a:ea typeface="Calibri" panose="020F0502020204030204" pitchFamily="34" charset="0"/>
                <a:cs typeface="Arial" panose="020B0604020202020204" pitchFamily="34" charset="0"/>
              </a:rPr>
              <a:t>Complexity analysis,</a:t>
            </a:r>
            <a:r>
              <a:rPr lang="en-US" sz="2400" dirty="0">
                <a:effectLst/>
                <a:latin typeface="Calibri" panose="020F0502020204030204" pitchFamily="34" charset="0"/>
                <a:ea typeface="Calibri" panose="020F0502020204030204" pitchFamily="34" charset="0"/>
                <a:cs typeface="Arial" panose="020B0604020202020204" pitchFamily="34" charset="0"/>
              </a:rPr>
              <a:t>                  	            </a:t>
            </a:r>
            <a:endParaRPr lang="en-PK" sz="24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0000"/>
              </a:lnSpc>
              <a:spcBef>
                <a:spcPts val="0"/>
              </a:spcBef>
              <a:spcAft>
                <a:spcPts val="800"/>
              </a:spcAft>
            </a:pPr>
            <a:r>
              <a:rPr lang="en-PK" sz="2400" dirty="0">
                <a:effectLst/>
                <a:latin typeface="Calibri" panose="020F0502020204030204" pitchFamily="34" charset="0"/>
                <a:ea typeface="Calibri" panose="020F0502020204030204" pitchFamily="34" charset="0"/>
                <a:cs typeface="Arial" panose="020B0604020202020204" pitchFamily="34" charset="0"/>
              </a:rPr>
              <a:t> Big O notation, </a:t>
            </a:r>
            <a:r>
              <a:rPr lang="en-US" sz="2400" dirty="0">
                <a:effectLst/>
                <a:latin typeface="Calibri" panose="020F0502020204030204" pitchFamily="34" charset="0"/>
                <a:ea typeface="Calibri" panose="020F0502020204030204" pitchFamily="34" charset="0"/>
                <a:cs typeface="Arial" panose="020B0604020202020204" pitchFamily="34" charset="0"/>
              </a:rPr>
              <a:t>		</a:t>
            </a:r>
            <a:endParaRPr lang="en-PK" sz="24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0000"/>
              </a:lnSpc>
              <a:spcBef>
                <a:spcPts val="0"/>
              </a:spcBef>
              <a:spcAft>
                <a:spcPts val="800"/>
              </a:spcAft>
            </a:pPr>
            <a:r>
              <a:rPr lang="en-PK" sz="2400" dirty="0">
                <a:effectLst/>
                <a:latin typeface="Calibri" panose="020F0502020204030204" pitchFamily="34" charset="0"/>
                <a:ea typeface="Calibri" panose="020F0502020204030204" pitchFamily="34" charset="0"/>
                <a:cs typeface="Arial" panose="020B0604020202020204" pitchFamily="34" charset="0"/>
              </a:rPr>
              <a:t>Stacks (Linked lists and array implementation)</a:t>
            </a:r>
          </a:p>
          <a:p>
            <a:pPr marL="0" marR="0">
              <a:lnSpc>
                <a:spcPct val="100000"/>
              </a:lnSpc>
              <a:spcBef>
                <a:spcPts val="0"/>
              </a:spcBef>
              <a:spcAft>
                <a:spcPts val="800"/>
              </a:spcAft>
            </a:pPr>
            <a:r>
              <a:rPr lang="en-PK" sz="2400" dirty="0">
                <a:effectLst/>
                <a:latin typeface="Calibri" panose="020F0502020204030204" pitchFamily="34" charset="0"/>
                <a:ea typeface="Calibri" panose="020F0502020204030204" pitchFamily="34" charset="0"/>
                <a:cs typeface="Arial" panose="020B0604020202020204" pitchFamily="34" charset="0"/>
              </a:rPr>
              <a:t>Recursion and </a:t>
            </a:r>
            <a:r>
              <a:rPr lang="en-PK" sz="2400" dirty="0" err="1">
                <a:effectLst/>
                <a:latin typeface="Calibri" panose="020F0502020204030204" pitchFamily="34" charset="0"/>
                <a:ea typeface="Calibri" panose="020F0502020204030204" pitchFamily="34" charset="0"/>
                <a:cs typeface="Arial" panose="020B0604020202020204" pitchFamily="34" charset="0"/>
              </a:rPr>
              <a:t>analyzing</a:t>
            </a:r>
            <a:r>
              <a:rPr lang="en-PK" sz="2400" dirty="0">
                <a:effectLst/>
                <a:latin typeface="Calibri" panose="020F0502020204030204" pitchFamily="34" charset="0"/>
                <a:ea typeface="Calibri" panose="020F0502020204030204" pitchFamily="34" charset="0"/>
                <a:cs typeface="Arial" panose="020B0604020202020204" pitchFamily="34" charset="0"/>
              </a:rPr>
              <a:t> recursive algorithms</a:t>
            </a:r>
          </a:p>
          <a:p>
            <a:pPr marL="0" marR="0">
              <a:lnSpc>
                <a:spcPct val="100000"/>
              </a:lnSpc>
              <a:spcBef>
                <a:spcPts val="0"/>
              </a:spcBef>
              <a:spcAft>
                <a:spcPts val="800"/>
              </a:spcAft>
            </a:pPr>
            <a:r>
              <a:rPr lang="en-PK" sz="2400" dirty="0">
                <a:effectLst/>
                <a:latin typeface="Calibri" panose="020F0502020204030204" pitchFamily="34" charset="0"/>
                <a:ea typeface="Calibri" panose="020F0502020204030204" pitchFamily="34" charset="0"/>
                <a:cs typeface="Arial" panose="020B0604020202020204" pitchFamily="34" charset="0"/>
              </a:rPr>
              <a:t> divide and conquer algorithms,</a:t>
            </a:r>
          </a:p>
          <a:p>
            <a:pPr marL="0" marR="0">
              <a:lnSpc>
                <a:spcPct val="100000"/>
              </a:lnSpc>
              <a:spcBef>
                <a:spcPts val="0"/>
              </a:spcBef>
              <a:spcAft>
                <a:spcPts val="800"/>
              </a:spcAft>
            </a:pPr>
            <a:r>
              <a:rPr lang="en-PK" sz="2400" dirty="0">
                <a:effectLst/>
                <a:latin typeface="Calibri" panose="020F0502020204030204" pitchFamily="34" charset="0"/>
                <a:ea typeface="Calibri" panose="020F0502020204030204" pitchFamily="34" charset="0"/>
                <a:cs typeface="Arial" panose="020B0604020202020204" pitchFamily="34" charset="0"/>
              </a:rPr>
              <a:t> sorting algorithms (Selection, insertion, merge, </a:t>
            </a:r>
            <a:r>
              <a:rPr lang="en-US" sz="2400" dirty="0">
                <a:effectLst/>
                <a:latin typeface="Calibri" panose="020F0502020204030204" pitchFamily="34" charset="0"/>
                <a:ea typeface="Calibri" panose="020F0502020204030204" pitchFamily="34" charset="0"/>
                <a:cs typeface="Arial" panose="020B0604020202020204" pitchFamily="34" charset="0"/>
              </a:rPr>
              <a:t>  </a:t>
            </a:r>
            <a:r>
              <a:rPr lang="en-PK" sz="2400" dirty="0">
                <a:effectLst/>
                <a:latin typeface="Calibri" panose="020F0502020204030204" pitchFamily="34" charset="0"/>
                <a:ea typeface="Calibri" panose="020F0502020204030204" pitchFamily="34" charset="0"/>
                <a:cs typeface="Arial" panose="020B0604020202020204" pitchFamily="34" charset="0"/>
              </a:rPr>
              <a:t>quick,</a:t>
            </a:r>
            <a:r>
              <a:rPr lang="en-US" sz="2400" dirty="0">
                <a:latin typeface="Calibri" panose="020F0502020204030204" pitchFamily="34" charset="0"/>
                <a:ea typeface="Calibri" panose="020F0502020204030204" pitchFamily="34" charset="0"/>
                <a:cs typeface="Arial" panose="020B0604020202020204" pitchFamily="34" charset="0"/>
              </a:rPr>
              <a:t> </a:t>
            </a:r>
            <a:r>
              <a:rPr lang="en-PK" sz="2400" dirty="0">
                <a:effectLst/>
                <a:latin typeface="Calibri" panose="020F0502020204030204" pitchFamily="34" charset="0"/>
                <a:ea typeface="Calibri" panose="020F0502020204030204" pitchFamily="34" charset="0"/>
                <a:cs typeface="Arial" panose="020B0604020202020204" pitchFamily="34" charset="0"/>
              </a:rPr>
              <a:t>bubble, heap, r</a:t>
            </a:r>
            <a:r>
              <a:rPr lang="en-US" sz="2400" dirty="0">
                <a:effectLst/>
                <a:latin typeface="Calibri" panose="020F0502020204030204" pitchFamily="34" charset="0"/>
                <a:ea typeface="Calibri" panose="020F0502020204030204" pitchFamily="34" charset="0"/>
                <a:cs typeface="Arial" panose="020B0604020202020204" pitchFamily="34" charset="0"/>
              </a:rPr>
              <a:t>a</a:t>
            </a:r>
            <a:r>
              <a:rPr lang="en-PK" sz="2400" dirty="0">
                <a:effectLst/>
                <a:latin typeface="Calibri" panose="020F0502020204030204" pitchFamily="34" charset="0"/>
                <a:ea typeface="Calibri" panose="020F0502020204030204" pitchFamily="34" charset="0"/>
                <a:cs typeface="Arial" panose="020B0604020202020204" pitchFamily="34" charset="0"/>
              </a:rPr>
              <a:t>dix),</a:t>
            </a:r>
          </a:p>
          <a:p>
            <a:pPr marL="0" marR="0">
              <a:lnSpc>
                <a:spcPct val="100000"/>
              </a:lnSpc>
              <a:spcBef>
                <a:spcPts val="0"/>
              </a:spcBef>
              <a:spcAft>
                <a:spcPts val="800"/>
              </a:spcAft>
            </a:pPr>
            <a:r>
              <a:rPr lang="en-PK" sz="2400" dirty="0">
                <a:effectLst/>
                <a:latin typeface="Calibri" panose="020F0502020204030204" pitchFamily="34" charset="0"/>
                <a:ea typeface="Calibri" panose="020F0502020204030204" pitchFamily="34" charset="0"/>
                <a:cs typeface="Arial" panose="020B0604020202020204" pitchFamily="34" charset="0"/>
              </a:rPr>
              <a:t> Queue,</a:t>
            </a:r>
            <a:r>
              <a:rPr lang="en-US" sz="2400" dirty="0">
                <a:effectLst/>
                <a:latin typeface="Calibri" panose="020F0502020204030204" pitchFamily="34" charset="0"/>
                <a:ea typeface="Calibri" panose="020F0502020204030204" pitchFamily="34" charset="0"/>
                <a:cs typeface="Arial" panose="020B0604020202020204" pitchFamily="34" charset="0"/>
              </a:rPr>
              <a:t>				</a:t>
            </a:r>
            <a:endParaRPr lang="en-PK" sz="24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0000"/>
              </a:lnSpc>
              <a:spcBef>
                <a:spcPts val="0"/>
              </a:spcBef>
              <a:spcAft>
                <a:spcPts val="800"/>
              </a:spcAft>
            </a:pPr>
            <a:r>
              <a:rPr lang="en-PK" sz="2400" dirty="0">
                <a:effectLst/>
                <a:latin typeface="Calibri" panose="020F0502020204030204" pitchFamily="34" charset="0"/>
                <a:ea typeface="Calibri" panose="020F0502020204030204" pitchFamily="34" charset="0"/>
                <a:cs typeface="Arial" panose="020B0604020202020204" pitchFamily="34" charset="0"/>
              </a:rPr>
              <a:t> Deque,</a:t>
            </a:r>
            <a:r>
              <a:rPr lang="en-US" sz="2400" dirty="0">
                <a:effectLst/>
                <a:latin typeface="Calibri" panose="020F0502020204030204" pitchFamily="34" charset="0"/>
                <a:ea typeface="Calibri" panose="020F0502020204030204" pitchFamily="34" charset="0"/>
                <a:cs typeface="Arial" panose="020B0604020202020204" pitchFamily="34" charset="0"/>
              </a:rPr>
              <a:t>				</a:t>
            </a:r>
            <a:endParaRPr lang="en-PK" sz="24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0000"/>
              </a:lnSpc>
              <a:spcBef>
                <a:spcPts val="0"/>
              </a:spcBef>
              <a:spcAft>
                <a:spcPts val="800"/>
              </a:spcAft>
            </a:pPr>
            <a:r>
              <a:rPr lang="en-PK" sz="2400" dirty="0">
                <a:effectLst/>
                <a:latin typeface="Calibri" panose="020F0502020204030204" pitchFamily="34" charset="0"/>
                <a:ea typeface="Calibri" panose="020F0502020204030204" pitchFamily="34" charset="0"/>
                <a:cs typeface="Arial" panose="020B0604020202020204" pitchFamily="34" charset="0"/>
              </a:rPr>
              <a:t> priority queues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indent="-342900">
              <a:lnSpc>
                <a:spcPct val="107000"/>
              </a:lnSpc>
              <a:spcBef>
                <a:spcPts val="0"/>
              </a:spcBef>
              <a:spcAft>
                <a:spcPts val="800"/>
              </a:spcAft>
              <a:buFont typeface="Arial" panose="020B0604020202020204" pitchFamily="34" charset="0"/>
              <a:buChar char="•"/>
            </a:pPr>
            <a:r>
              <a:rPr lang="en-PK" sz="2400" dirty="0">
                <a:effectLst/>
                <a:latin typeface="Calibri" panose="020F0502020204030204" pitchFamily="34" charset="0"/>
                <a:ea typeface="Calibri" panose="020F0502020204030204" pitchFamily="34" charset="0"/>
                <a:cs typeface="Arial" panose="020B0604020202020204" pitchFamily="34" charset="0"/>
              </a:rPr>
              <a:t>linked lists and its various types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indent="-342900">
              <a:lnSpc>
                <a:spcPct val="107000"/>
              </a:lnSpc>
              <a:spcBef>
                <a:spcPts val="0"/>
              </a:spcBef>
              <a:spcAft>
                <a:spcPts val="800"/>
              </a:spcAft>
              <a:buFont typeface="Arial" panose="020B0604020202020204" pitchFamily="34" charset="0"/>
              <a:buChar char="•"/>
            </a:pPr>
            <a:r>
              <a:rPr lang="en-PK" sz="2400" dirty="0">
                <a:effectLst/>
                <a:latin typeface="Calibri" panose="020F0502020204030204" pitchFamily="34" charset="0"/>
                <a:ea typeface="Calibri" panose="020F0502020204030204" pitchFamily="34" charset="0"/>
                <a:cs typeface="Arial" panose="020B0604020202020204" pitchFamily="34" charset="0"/>
              </a:rPr>
              <a:t>searching and sorting in arrays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0000"/>
              </a:lnSpc>
              <a:spcBef>
                <a:spcPts val="0"/>
              </a:spcBef>
              <a:spcAft>
                <a:spcPts val="800"/>
              </a:spcAft>
            </a:pPr>
            <a:r>
              <a:rPr lang="en-US" sz="2400" dirty="0">
                <a:effectLst/>
                <a:latin typeface="Calibri" panose="020F0502020204030204" pitchFamily="34" charset="0"/>
                <a:ea typeface="Calibri" panose="020F0502020204030204" pitchFamily="34" charset="0"/>
                <a:cs typeface="Arial" panose="020B0604020202020204" pitchFamily="34" charset="0"/>
              </a:rPr>
              <a:t>	</a:t>
            </a:r>
            <a:endParaRPr lang="en-PK" sz="24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4" name="Picture 3">
            <a:extLst>
              <a:ext uri="{FF2B5EF4-FFF2-40B4-BE49-F238E27FC236}">
                <a16:creationId xmlns:a16="http://schemas.microsoft.com/office/drawing/2014/main" xmlns="" id="{E2C64B7C-E1FF-042D-059A-F9D5E2A95C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6" name="Footer Placeholder 2">
            <a:extLst>
              <a:ext uri="{FF2B5EF4-FFF2-40B4-BE49-F238E27FC236}">
                <a16:creationId xmlns:a16="http://schemas.microsoft.com/office/drawing/2014/main" xmlns="" id="{762806C9-8388-B814-7863-4CDEBD89D12D}"/>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2826899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485CA3-FAA5-4493-A0A2-A598BE9DC177}"/>
              </a:ext>
            </a:extLst>
          </p:cNvPr>
          <p:cNvSpPr>
            <a:spLocks noGrp="1"/>
          </p:cNvSpPr>
          <p:nvPr>
            <p:ph type="title"/>
          </p:nvPr>
        </p:nvSpPr>
        <p:spPr>
          <a:xfrm>
            <a:off x="350520" y="161925"/>
            <a:ext cx="10515600" cy="589915"/>
          </a:xfrm>
        </p:spPr>
        <p:txBody>
          <a:bodyPr>
            <a:normAutofit/>
          </a:bodyPr>
          <a:lstStyle/>
          <a:p>
            <a:r>
              <a:rPr lang="en-US" sz="2400" b="1" dirty="0">
                <a:solidFill>
                  <a:schemeClr val="accent1">
                    <a:lumMod val="50000"/>
                  </a:schemeClr>
                </a:solidFill>
                <a:latin typeface="+mn-lt"/>
              </a:rPr>
              <a:t>Course Outlines</a:t>
            </a:r>
            <a:r>
              <a:rPr lang="en-US" sz="1800" b="1" dirty="0">
                <a:solidFill>
                  <a:schemeClr val="accent1">
                    <a:lumMod val="50000"/>
                  </a:schemeClr>
                </a:solidFill>
                <a:latin typeface="+mn-lt"/>
              </a:rPr>
              <a:t>(Continue…)</a:t>
            </a:r>
            <a:r>
              <a:rPr lang="en-US" sz="2400" b="1" dirty="0">
                <a:solidFill>
                  <a:schemeClr val="accent1">
                    <a:lumMod val="50000"/>
                  </a:schemeClr>
                </a:solidFill>
                <a:latin typeface="+mn-lt"/>
              </a:rPr>
              <a:t>:</a:t>
            </a:r>
            <a:endParaRPr lang="en-PK" sz="2400" b="1" dirty="0">
              <a:solidFill>
                <a:schemeClr val="accent1">
                  <a:lumMod val="50000"/>
                </a:schemeClr>
              </a:solidFill>
              <a:latin typeface="+mn-lt"/>
            </a:endParaRPr>
          </a:p>
        </p:txBody>
      </p:sp>
      <p:pic>
        <p:nvPicPr>
          <p:cNvPr id="4" name="Picture 3">
            <a:extLst>
              <a:ext uri="{FF2B5EF4-FFF2-40B4-BE49-F238E27FC236}">
                <a16:creationId xmlns:a16="http://schemas.microsoft.com/office/drawing/2014/main" xmlns="" id="{E2C64B7C-E1FF-042D-059A-F9D5E2A95C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6" name="Footer Placeholder 2">
            <a:extLst>
              <a:ext uri="{FF2B5EF4-FFF2-40B4-BE49-F238E27FC236}">
                <a16:creationId xmlns:a16="http://schemas.microsoft.com/office/drawing/2014/main" xmlns="" id="{762806C9-8388-B814-7863-4CDEBD89D12D}"/>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
        <p:nvSpPr>
          <p:cNvPr id="10" name="TextBox 9">
            <a:extLst>
              <a:ext uri="{FF2B5EF4-FFF2-40B4-BE49-F238E27FC236}">
                <a16:creationId xmlns:a16="http://schemas.microsoft.com/office/drawing/2014/main" xmlns="" id="{F07EEB56-9A6B-797F-0442-5BFB11FB4E0B}"/>
              </a:ext>
            </a:extLst>
          </p:cNvPr>
          <p:cNvSpPr txBox="1"/>
          <p:nvPr/>
        </p:nvSpPr>
        <p:spPr>
          <a:xfrm>
            <a:off x="742950" y="935229"/>
            <a:ext cx="6159500" cy="4781181"/>
          </a:xfrm>
          <a:prstGeom prst="rect">
            <a:avLst/>
          </a:prstGeom>
          <a:noFill/>
        </p:spPr>
        <p:txBody>
          <a:bodyPr wrap="square">
            <a:spAutoFit/>
          </a:bodyPr>
          <a:lstStyle/>
          <a:p>
            <a:pPr marL="342900" marR="0" indent="-342900">
              <a:spcBef>
                <a:spcPts val="0"/>
              </a:spcBef>
              <a:spcAft>
                <a:spcPts val="800"/>
              </a:spcAft>
              <a:buFont typeface="Arial" panose="020B0604020202020204" pitchFamily="34" charset="0"/>
              <a:buChar char="•"/>
            </a:pPr>
            <a:r>
              <a:rPr lang="en-PK" sz="2400" dirty="0">
                <a:effectLst/>
                <a:latin typeface="Calibri" panose="020F0502020204030204" pitchFamily="34" charset="0"/>
                <a:ea typeface="Calibri" panose="020F0502020204030204" pitchFamily="34" charset="0"/>
                <a:cs typeface="Arial" panose="020B0604020202020204" pitchFamily="34" charset="0"/>
              </a:rPr>
              <a:t>hashing and indexing</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indent="-342900">
              <a:spcBef>
                <a:spcPts val="0"/>
              </a:spcBef>
              <a:spcAft>
                <a:spcPts val="800"/>
              </a:spcAft>
              <a:buFont typeface="Arial" panose="020B0604020202020204" pitchFamily="34" charset="0"/>
              <a:buChar char="•"/>
            </a:pPr>
            <a:r>
              <a:rPr lang="en-PK" sz="2400" dirty="0">
                <a:effectLst/>
                <a:latin typeface="Calibri" panose="020F0502020204030204" pitchFamily="34" charset="0"/>
                <a:ea typeface="Calibri" panose="020F0502020204030204" pitchFamily="34" charset="0"/>
                <a:cs typeface="Arial" panose="020B0604020202020204" pitchFamily="34" charset="0"/>
              </a:rPr>
              <a:t>trees and tree traversals</a:t>
            </a:r>
          </a:p>
          <a:p>
            <a:pPr marL="342900" indent="-342900">
              <a:buFont typeface="Arial" panose="020B0604020202020204" pitchFamily="34" charset="0"/>
              <a:buChar char="•"/>
            </a:pPr>
            <a:r>
              <a:rPr lang="en-PK" sz="2400" dirty="0">
                <a:effectLst/>
                <a:latin typeface="Calibri" panose="020F0502020204030204" pitchFamily="34" charset="0"/>
                <a:ea typeface="Calibri" panose="020F0502020204030204" pitchFamily="34" charset="0"/>
                <a:cs typeface="Arial" panose="020B0604020202020204" pitchFamily="34" charset="0"/>
              </a:rPr>
              <a:t>binary search trees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indent="-342900">
              <a:buFont typeface="Arial" panose="020B0604020202020204" pitchFamily="34" charset="0"/>
              <a:buChar char="•"/>
            </a:pPr>
            <a:r>
              <a:rPr lang="en-PK" sz="2400" dirty="0">
                <a:effectLst/>
                <a:latin typeface="Calibri" panose="020F0502020204030204" pitchFamily="34" charset="0"/>
                <a:ea typeface="Calibri" panose="020F0502020204030204" pitchFamily="34" charset="0"/>
                <a:cs typeface="Arial" panose="020B0604020202020204" pitchFamily="34" charset="0"/>
              </a:rPr>
              <a:t> heaps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indent="-342900">
              <a:buFont typeface="Arial" panose="020B0604020202020204" pitchFamily="34" charset="0"/>
              <a:buChar char="•"/>
            </a:pPr>
            <a:r>
              <a:rPr lang="en-US" sz="2400" dirty="0">
                <a:effectLst/>
                <a:latin typeface="Calibri" panose="020F0502020204030204" pitchFamily="34" charset="0"/>
                <a:ea typeface="Calibri" panose="020F0502020204030204" pitchFamily="34" charset="0"/>
                <a:cs typeface="Arial" panose="020B0604020202020204" pitchFamily="34" charset="0"/>
              </a:rPr>
              <a:t>G</a:t>
            </a:r>
            <a:r>
              <a:rPr lang="en-PK" sz="2400" dirty="0" err="1">
                <a:effectLst/>
                <a:latin typeface="Calibri" panose="020F0502020204030204" pitchFamily="34" charset="0"/>
                <a:ea typeface="Calibri" panose="020F0502020204030204" pitchFamily="34" charset="0"/>
                <a:cs typeface="Arial" panose="020B0604020202020204" pitchFamily="34" charset="0"/>
              </a:rPr>
              <a:t>raphs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indent="-342900">
              <a:buFont typeface="Arial" panose="020B0604020202020204" pitchFamily="34" charset="0"/>
              <a:buChar char="•"/>
            </a:pPr>
            <a:r>
              <a:rPr lang="en-PK" sz="2400" dirty="0">
                <a:effectLst/>
                <a:latin typeface="Calibri" panose="020F0502020204030204" pitchFamily="34" charset="0"/>
                <a:ea typeface="Calibri" panose="020F0502020204030204" pitchFamily="34" charset="0"/>
                <a:cs typeface="Arial" panose="020B0604020202020204" pitchFamily="34" charset="0"/>
              </a:rPr>
              <a:t>breadth first and depth first traversal</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indent="-342900">
              <a:buFont typeface="Arial" panose="020B0604020202020204" pitchFamily="34" charset="0"/>
              <a:buChar char="•"/>
            </a:pPr>
            <a:r>
              <a:rPr lang="en-PK" sz="2400" dirty="0">
                <a:effectLst/>
                <a:latin typeface="Calibri" panose="020F0502020204030204" pitchFamily="34" charset="0"/>
                <a:ea typeface="Calibri" panose="020F0502020204030204" pitchFamily="34" charset="0"/>
                <a:cs typeface="Arial" panose="020B0604020202020204" pitchFamily="34" charset="0"/>
              </a:rPr>
              <a:t>shortest path</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indent="-342900">
              <a:buFont typeface="Arial" panose="020B0604020202020204" pitchFamily="34" charset="0"/>
              <a:buChar char="•"/>
            </a:pPr>
            <a:r>
              <a:rPr lang="en-PK" sz="2400" dirty="0">
                <a:effectLst/>
                <a:latin typeface="Calibri" panose="020F0502020204030204" pitchFamily="34" charset="0"/>
                <a:ea typeface="Calibri" panose="020F0502020204030204" pitchFamily="34" charset="0"/>
                <a:cs typeface="Arial" panose="020B0604020202020204" pitchFamily="34" charset="0"/>
              </a:rPr>
              <a:t>adjacency matrix</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indent="-342900">
              <a:buFont typeface="Arial" panose="020B0604020202020204" pitchFamily="34" charset="0"/>
              <a:buChar char="•"/>
            </a:pPr>
            <a:r>
              <a:rPr lang="en-US" sz="2400" dirty="0">
                <a:latin typeface="Calibri" panose="020F0502020204030204" pitchFamily="34" charset="0"/>
                <a:cs typeface="Arial" panose="020B0604020202020204" pitchFamily="34" charset="0"/>
              </a:rPr>
              <a:t>Infix to Prefix conversion</a:t>
            </a:r>
          </a:p>
          <a:p>
            <a:pPr marL="342900" indent="-342900">
              <a:buFont typeface="Arial" panose="020B0604020202020204" pitchFamily="34" charset="0"/>
              <a:buChar char="•"/>
            </a:pPr>
            <a:r>
              <a:rPr lang="en-US" sz="2400" dirty="0">
                <a:latin typeface="Calibri" panose="020F0502020204030204" pitchFamily="34" charset="0"/>
                <a:cs typeface="Arial" panose="020B0604020202020204" pitchFamily="34" charset="0"/>
              </a:rPr>
              <a:t>Evaluation of Postfix conversion</a:t>
            </a:r>
          </a:p>
          <a:p>
            <a:pPr marL="342900" indent="-342900">
              <a:buFont typeface="Arial" panose="020B0604020202020204" pitchFamily="34" charset="0"/>
              <a:buChar char="•"/>
            </a:pPr>
            <a:r>
              <a:rPr lang="en-US" sz="2400" dirty="0">
                <a:latin typeface="Calibri" panose="020F0502020204030204" pitchFamily="34" charset="0"/>
                <a:cs typeface="Arial" panose="020B0604020202020204" pitchFamily="34" charset="0"/>
              </a:rPr>
              <a:t>Hashing</a:t>
            </a:r>
          </a:p>
          <a:p>
            <a:pPr marL="342900" indent="-342900">
              <a:buFont typeface="Arial" panose="020B0604020202020204" pitchFamily="34" charset="0"/>
              <a:buChar char="•"/>
            </a:pPr>
            <a:r>
              <a:rPr lang="en-US" sz="2400" dirty="0">
                <a:latin typeface="Calibri" panose="020F0502020204030204" pitchFamily="34" charset="0"/>
                <a:cs typeface="Arial" panose="020B0604020202020204" pitchFamily="34" charset="0"/>
              </a:rPr>
              <a:t>Files</a:t>
            </a:r>
          </a:p>
        </p:txBody>
      </p:sp>
    </p:spTree>
    <p:extLst>
      <p:ext uri="{BB962C8B-B14F-4D97-AF65-F5344CB8AC3E}">
        <p14:creationId xmlns:p14="http://schemas.microsoft.com/office/powerpoint/2010/main" val="2145938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A286E4-8B5D-4DD9-949F-5C4F6222EDFA}"/>
              </a:ext>
            </a:extLst>
          </p:cNvPr>
          <p:cNvSpPr>
            <a:spLocks noGrp="1"/>
          </p:cNvSpPr>
          <p:nvPr>
            <p:ph type="title"/>
          </p:nvPr>
        </p:nvSpPr>
        <p:spPr>
          <a:xfrm>
            <a:off x="457200" y="561975"/>
            <a:ext cx="10515600" cy="585788"/>
          </a:xfrm>
        </p:spPr>
        <p:txBody>
          <a:bodyPr>
            <a:normAutofit/>
          </a:bodyPr>
          <a:lstStyle/>
          <a:p>
            <a:r>
              <a:rPr lang="en-US" sz="3200" b="1" dirty="0">
                <a:solidFill>
                  <a:schemeClr val="accent1">
                    <a:lumMod val="50000"/>
                  </a:schemeClr>
                </a:solidFill>
                <a:latin typeface="+mn-lt"/>
              </a:rPr>
              <a:t>Recommended Course Books:</a:t>
            </a:r>
            <a:endParaRPr lang="en-PK" sz="3200" b="1" dirty="0">
              <a:solidFill>
                <a:schemeClr val="accent1">
                  <a:lumMod val="50000"/>
                </a:schemeClr>
              </a:solidFill>
              <a:latin typeface="+mn-lt"/>
            </a:endParaRPr>
          </a:p>
        </p:txBody>
      </p:sp>
      <p:sp>
        <p:nvSpPr>
          <p:cNvPr id="3" name="Content Placeholder 2">
            <a:extLst>
              <a:ext uri="{FF2B5EF4-FFF2-40B4-BE49-F238E27FC236}">
                <a16:creationId xmlns:a16="http://schemas.microsoft.com/office/drawing/2014/main" xmlns="" id="{AB2D60C4-0279-4F57-83A1-8EEDED384C0E}"/>
              </a:ext>
            </a:extLst>
          </p:cNvPr>
          <p:cNvSpPr>
            <a:spLocks noGrp="1"/>
          </p:cNvSpPr>
          <p:nvPr>
            <p:ph idx="1"/>
          </p:nvPr>
        </p:nvSpPr>
        <p:spPr>
          <a:xfrm>
            <a:off x="812800" y="1147763"/>
            <a:ext cx="11125200" cy="4470400"/>
          </a:xfrm>
        </p:spPr>
        <p:txBody>
          <a:bodyPr>
            <a:normAutofit/>
          </a:bodyPr>
          <a:lstStyle/>
          <a:p>
            <a:pPr algn="just">
              <a:lnSpc>
                <a:spcPct val="210000"/>
              </a:lnSpc>
            </a:pPr>
            <a:r>
              <a:rPr lang="en-US" sz="2400" dirty="0"/>
              <a:t>A Common-Sense Guide to Data Structures and Algorithms: Level Up Your Core Programming Skills”, Jay </a:t>
            </a:r>
            <a:r>
              <a:rPr lang="en-US" sz="2400" dirty="0" err="1"/>
              <a:t>Wengrow</a:t>
            </a:r>
            <a:r>
              <a:rPr lang="en-US" sz="2400" dirty="0"/>
              <a:t>, Pragmatic Bookshelf, 1st Edition, 2017.</a:t>
            </a:r>
          </a:p>
          <a:p>
            <a:pPr algn="just">
              <a:lnSpc>
                <a:spcPct val="210000"/>
              </a:lnSpc>
            </a:pPr>
            <a:r>
              <a:rPr lang="en-US" sz="2400" dirty="0"/>
              <a:t>“Data Structures with C”, Seymour </a:t>
            </a:r>
            <a:r>
              <a:rPr lang="en-US" sz="2400" dirty="0" err="1"/>
              <a:t>Lipschutz</a:t>
            </a:r>
            <a:r>
              <a:rPr lang="en-US" sz="2400" dirty="0"/>
              <a:t>, McGraw-Hill, 2011.</a:t>
            </a:r>
          </a:p>
          <a:p>
            <a:pPr algn="just">
              <a:lnSpc>
                <a:spcPct val="210000"/>
              </a:lnSpc>
            </a:pPr>
            <a:r>
              <a:rPr lang="en-US" sz="2400" dirty="0"/>
              <a:t>“Data Structures and Algorithms”, Alfred V. </a:t>
            </a:r>
            <a:r>
              <a:rPr lang="en-US" sz="2400" dirty="0" err="1"/>
              <a:t>Aho</a:t>
            </a:r>
            <a:r>
              <a:rPr lang="en-US" sz="2400" dirty="0"/>
              <a:t>, John E. Hopcroft and Jeffrey D. Ullman, Pearson Education Inc., Fourth Impression, 2010</a:t>
            </a:r>
            <a:endParaRPr lang="en-PK" sz="2400" dirty="0"/>
          </a:p>
        </p:txBody>
      </p:sp>
      <p:pic>
        <p:nvPicPr>
          <p:cNvPr id="4" name="Picture 3">
            <a:extLst>
              <a:ext uri="{FF2B5EF4-FFF2-40B4-BE49-F238E27FC236}">
                <a16:creationId xmlns:a16="http://schemas.microsoft.com/office/drawing/2014/main" xmlns="" id="{65E01187-A8B9-0585-82EC-BAD7184AB3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5" name="Footer Placeholder 2">
            <a:extLst>
              <a:ext uri="{FF2B5EF4-FFF2-40B4-BE49-F238E27FC236}">
                <a16:creationId xmlns:a16="http://schemas.microsoft.com/office/drawing/2014/main" xmlns="" id="{EDFDBC0C-9062-6A47-3C6C-992F23F9162A}"/>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2088622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2FD73A4-5CA5-41B7-8F70-E59108E27026}"/>
              </a:ext>
            </a:extLst>
          </p:cNvPr>
          <p:cNvSpPr>
            <a:spLocks noGrp="1"/>
          </p:cNvSpPr>
          <p:nvPr>
            <p:ph idx="1"/>
          </p:nvPr>
        </p:nvSpPr>
        <p:spPr>
          <a:xfrm>
            <a:off x="476250" y="1397000"/>
            <a:ext cx="11563350" cy="4351338"/>
          </a:xfrm>
        </p:spPr>
        <p:txBody>
          <a:bodyPr>
            <a:normAutofit lnSpcReduction="10000"/>
          </a:bodyPr>
          <a:lstStyle/>
          <a:p>
            <a:r>
              <a:rPr lang="en-US" dirty="0"/>
              <a:t>There will be </a:t>
            </a:r>
          </a:p>
          <a:p>
            <a:pPr marL="0" indent="0">
              <a:buNone/>
            </a:pPr>
            <a:r>
              <a:rPr lang="en-US" dirty="0"/>
              <a:t>– one written exam at the end of the course </a:t>
            </a:r>
          </a:p>
          <a:p>
            <a:pPr marL="0" indent="0">
              <a:buNone/>
            </a:pPr>
            <a:r>
              <a:rPr lang="en-US" dirty="0"/>
              <a:t>– one midterm exam around the middle of the course</a:t>
            </a:r>
          </a:p>
          <a:p>
            <a:pPr marL="0" indent="0">
              <a:buNone/>
            </a:pPr>
            <a:r>
              <a:rPr lang="en-US" dirty="0"/>
              <a:t> – assignments / Sessional Tests / Projects</a:t>
            </a:r>
          </a:p>
          <a:p>
            <a:pPr marL="0" indent="0">
              <a:buNone/>
            </a:pPr>
            <a:r>
              <a:rPr lang="en-US" dirty="0"/>
              <a:t>• To pass the course, one has to pass the written exam. </a:t>
            </a:r>
          </a:p>
          <a:p>
            <a:pPr marL="0" indent="0">
              <a:buNone/>
            </a:pPr>
            <a:r>
              <a:rPr lang="en-US" dirty="0"/>
              <a:t>• Students who do not submit exercises and do not take part in the midterm (or fail the midterm) will be marked on the final exam alone. </a:t>
            </a:r>
          </a:p>
          <a:p>
            <a:pPr marL="0" indent="0">
              <a:buNone/>
            </a:pPr>
            <a:r>
              <a:rPr lang="en-US" dirty="0"/>
              <a:t>• For students who submit all assignments, and take part in the midterm, the final mark will be a weighted average 60% exam mark + 20% midterm + 20% assignment mark/Sessional Marks</a:t>
            </a:r>
            <a:endParaRPr lang="en-PK" dirty="0"/>
          </a:p>
        </p:txBody>
      </p:sp>
      <p:sp>
        <p:nvSpPr>
          <p:cNvPr id="2" name="Title 1">
            <a:extLst>
              <a:ext uri="{FF2B5EF4-FFF2-40B4-BE49-F238E27FC236}">
                <a16:creationId xmlns:a16="http://schemas.microsoft.com/office/drawing/2014/main" xmlns="" id="{D9FA7F75-378F-43FD-8215-AFF3D668BB5A}"/>
              </a:ext>
            </a:extLst>
          </p:cNvPr>
          <p:cNvSpPr>
            <a:spLocks noGrp="1"/>
          </p:cNvSpPr>
          <p:nvPr>
            <p:ph type="title"/>
          </p:nvPr>
        </p:nvSpPr>
        <p:spPr>
          <a:xfrm>
            <a:off x="476250" y="447674"/>
            <a:ext cx="10515600" cy="661988"/>
          </a:xfrm>
        </p:spPr>
        <p:txBody>
          <a:bodyPr>
            <a:normAutofit/>
          </a:bodyPr>
          <a:lstStyle/>
          <a:p>
            <a:r>
              <a:rPr lang="en-US" sz="2800" b="1" dirty="0">
                <a:solidFill>
                  <a:schemeClr val="accent1">
                    <a:lumMod val="50000"/>
                  </a:schemeClr>
                </a:solidFill>
                <a:latin typeface="+mn-lt"/>
              </a:rPr>
              <a:t>Assignments / Sessional Marks, Midterm Exam, Final Exam</a:t>
            </a:r>
            <a:endParaRPr lang="en-PK" sz="2800" b="1" dirty="0">
              <a:solidFill>
                <a:schemeClr val="accent1">
                  <a:lumMod val="50000"/>
                </a:schemeClr>
              </a:solidFill>
              <a:latin typeface="+mn-lt"/>
            </a:endParaRPr>
          </a:p>
        </p:txBody>
      </p:sp>
      <p:pic>
        <p:nvPicPr>
          <p:cNvPr id="4" name="Picture 3">
            <a:extLst>
              <a:ext uri="{FF2B5EF4-FFF2-40B4-BE49-F238E27FC236}">
                <a16:creationId xmlns:a16="http://schemas.microsoft.com/office/drawing/2014/main" xmlns="" id="{72DD6EA2-BF4E-90F9-E128-6C34351778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5" name="Footer Placeholder 2">
            <a:extLst>
              <a:ext uri="{FF2B5EF4-FFF2-40B4-BE49-F238E27FC236}">
                <a16:creationId xmlns:a16="http://schemas.microsoft.com/office/drawing/2014/main" xmlns="" id="{5EF16BC6-5100-6454-57E9-35896012B26F}"/>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2395731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FB379AA-6565-4001-88E3-A42CFEB8EFF0}"/>
              </a:ext>
            </a:extLst>
          </p:cNvPr>
          <p:cNvSpPr>
            <a:spLocks noGrp="1"/>
          </p:cNvSpPr>
          <p:nvPr>
            <p:ph idx="1"/>
          </p:nvPr>
        </p:nvSpPr>
        <p:spPr>
          <a:xfrm>
            <a:off x="731912" y="932689"/>
            <a:ext cx="11256887" cy="5430011"/>
          </a:xfrm>
        </p:spPr>
        <p:txBody>
          <a:bodyPr>
            <a:normAutofit/>
          </a:bodyPr>
          <a:lstStyle/>
          <a:p>
            <a:pPr algn="just">
              <a:lnSpc>
                <a:spcPct val="100000"/>
              </a:lnSpc>
            </a:pPr>
            <a:r>
              <a:rPr lang="en-US" dirty="0"/>
              <a:t>The assignments are a crucial part of the course.</a:t>
            </a:r>
          </a:p>
          <a:p>
            <a:pPr algn="just">
              <a:lnSpc>
                <a:spcPct val="100000"/>
              </a:lnSpc>
            </a:pPr>
            <a:r>
              <a:rPr lang="en-US" dirty="0"/>
              <a:t>The schedule for the publication and the handing in of the assignments will be announced in coming lectures.</a:t>
            </a:r>
          </a:p>
          <a:p>
            <a:pPr algn="just">
              <a:lnSpc>
                <a:spcPct val="100000"/>
              </a:lnSpc>
            </a:pPr>
            <a:r>
              <a:rPr lang="en-US" dirty="0"/>
              <a:t>A number of assignments include programming tasks. It is strongly recommended that you implement and run all programming exercises.</a:t>
            </a:r>
          </a:p>
          <a:p>
            <a:pPr algn="just">
              <a:lnSpc>
                <a:spcPct val="100000"/>
              </a:lnSpc>
            </a:pPr>
            <a:r>
              <a:rPr lang="en-US" dirty="0"/>
              <a:t>Assignments will be marked. The assignment mark will count towards the course marks.</a:t>
            </a:r>
          </a:p>
          <a:p>
            <a:pPr algn="just">
              <a:lnSpc>
                <a:spcPct val="100000"/>
              </a:lnSpc>
            </a:pPr>
            <a:r>
              <a:rPr lang="en-US" dirty="0"/>
              <a:t>Any attempt at plagiarism (copying from the web or copying from other students) leads to a 0 mark for all assignments.</a:t>
            </a:r>
            <a:endParaRPr lang="en-PK" dirty="0"/>
          </a:p>
        </p:txBody>
      </p:sp>
      <p:sp>
        <p:nvSpPr>
          <p:cNvPr id="2" name="Title 1">
            <a:extLst>
              <a:ext uri="{FF2B5EF4-FFF2-40B4-BE49-F238E27FC236}">
                <a16:creationId xmlns:a16="http://schemas.microsoft.com/office/drawing/2014/main" xmlns="" id="{E42181A3-B790-4AB1-9C43-BB792B998BD7}"/>
              </a:ext>
            </a:extLst>
          </p:cNvPr>
          <p:cNvSpPr>
            <a:spLocks noGrp="1"/>
          </p:cNvSpPr>
          <p:nvPr>
            <p:ph type="title"/>
          </p:nvPr>
        </p:nvSpPr>
        <p:spPr>
          <a:xfrm>
            <a:off x="219075" y="87312"/>
            <a:ext cx="10515600" cy="785813"/>
          </a:xfrm>
        </p:spPr>
        <p:txBody>
          <a:bodyPr>
            <a:normAutofit/>
          </a:bodyPr>
          <a:lstStyle/>
          <a:p>
            <a:r>
              <a:rPr lang="en-US" sz="3200" b="1" dirty="0">
                <a:solidFill>
                  <a:schemeClr val="accent1">
                    <a:lumMod val="50000"/>
                  </a:schemeClr>
                </a:solidFill>
                <a:latin typeface="+mn-lt"/>
              </a:rPr>
              <a:t>Assignments:</a:t>
            </a:r>
            <a:endParaRPr lang="en-PK" sz="3200" b="1" dirty="0">
              <a:solidFill>
                <a:schemeClr val="accent1">
                  <a:lumMod val="50000"/>
                </a:schemeClr>
              </a:solidFill>
              <a:latin typeface="+mn-lt"/>
            </a:endParaRPr>
          </a:p>
        </p:txBody>
      </p:sp>
      <p:pic>
        <p:nvPicPr>
          <p:cNvPr id="4" name="Picture 3">
            <a:extLst>
              <a:ext uri="{FF2B5EF4-FFF2-40B4-BE49-F238E27FC236}">
                <a16:creationId xmlns:a16="http://schemas.microsoft.com/office/drawing/2014/main" xmlns="" id="{61E2F88B-333B-3751-6C4A-92409E6AB8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5" name="Footer Placeholder 2">
            <a:extLst>
              <a:ext uri="{FF2B5EF4-FFF2-40B4-BE49-F238E27FC236}">
                <a16:creationId xmlns:a16="http://schemas.microsoft.com/office/drawing/2014/main" xmlns="" id="{12DC16F3-4854-1600-07FB-5DB69D1963C3}"/>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1830944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6F4D68FC-2DB2-40EF-B3EE-DAA71F722ED8}"/>
              </a:ext>
            </a:extLst>
          </p:cNvPr>
          <p:cNvSpPr txBox="1"/>
          <p:nvPr/>
        </p:nvSpPr>
        <p:spPr>
          <a:xfrm rot="19408936">
            <a:off x="4749059" y="2726141"/>
            <a:ext cx="3434138" cy="769441"/>
          </a:xfrm>
          <a:prstGeom prst="rect">
            <a:avLst/>
          </a:prstGeom>
          <a:noFill/>
        </p:spPr>
        <p:txBody>
          <a:bodyPr wrap="square" rtlCol="0">
            <a:spAutoFit/>
          </a:bodyPr>
          <a:lstStyle/>
          <a:p>
            <a:r>
              <a:rPr lang="en-US" sz="4400" b="1" dirty="0">
                <a:solidFill>
                  <a:schemeClr val="accent2">
                    <a:lumMod val="75000"/>
                  </a:schemeClr>
                </a:solidFill>
              </a:rPr>
              <a:t>Best of Luck</a:t>
            </a:r>
            <a:endParaRPr lang="en-PK" sz="4400" b="1" dirty="0">
              <a:solidFill>
                <a:schemeClr val="accent2">
                  <a:lumMod val="75000"/>
                </a:schemeClr>
              </a:solidFill>
            </a:endParaRPr>
          </a:p>
        </p:txBody>
      </p:sp>
      <p:sp>
        <p:nvSpPr>
          <p:cNvPr id="5" name="TextBox 4">
            <a:extLst>
              <a:ext uri="{FF2B5EF4-FFF2-40B4-BE49-F238E27FC236}">
                <a16:creationId xmlns:a16="http://schemas.microsoft.com/office/drawing/2014/main" xmlns="" id="{90914AC7-FA23-4F2B-BEF0-3EE9FFAD8E1B}"/>
              </a:ext>
            </a:extLst>
          </p:cNvPr>
          <p:cNvSpPr txBox="1"/>
          <p:nvPr/>
        </p:nvSpPr>
        <p:spPr>
          <a:xfrm>
            <a:off x="1333501" y="4305300"/>
            <a:ext cx="2460776" cy="707886"/>
          </a:xfrm>
          <a:prstGeom prst="rect">
            <a:avLst/>
          </a:prstGeom>
          <a:noFill/>
        </p:spPr>
        <p:txBody>
          <a:bodyPr wrap="square" rtlCol="0">
            <a:spAutoFit/>
          </a:bodyPr>
          <a:lstStyle/>
          <a:p>
            <a:r>
              <a:rPr lang="en-US" sz="4000" b="1" dirty="0"/>
              <a:t>Let’s Start</a:t>
            </a:r>
            <a:endParaRPr lang="en-PK" sz="4000" b="1" dirty="0"/>
          </a:p>
        </p:txBody>
      </p:sp>
      <p:sp>
        <p:nvSpPr>
          <p:cNvPr id="6" name="Smiley Face 5">
            <a:extLst>
              <a:ext uri="{FF2B5EF4-FFF2-40B4-BE49-F238E27FC236}">
                <a16:creationId xmlns:a16="http://schemas.microsoft.com/office/drawing/2014/main" xmlns="" id="{1F8061DF-4BD3-4B22-881C-B625AE3C23BE}"/>
              </a:ext>
            </a:extLst>
          </p:cNvPr>
          <p:cNvSpPr/>
          <p:nvPr/>
        </p:nvSpPr>
        <p:spPr>
          <a:xfrm>
            <a:off x="3524212" y="4895851"/>
            <a:ext cx="571538" cy="609600"/>
          </a:xfrm>
          <a:prstGeom prst="smileyFac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PK" dirty="0"/>
          </a:p>
        </p:txBody>
      </p:sp>
      <p:sp>
        <p:nvSpPr>
          <p:cNvPr id="7" name="Smiley Face 6">
            <a:extLst>
              <a:ext uri="{FF2B5EF4-FFF2-40B4-BE49-F238E27FC236}">
                <a16:creationId xmlns:a16="http://schemas.microsoft.com/office/drawing/2014/main" xmlns="" id="{9C71FE5E-C8D4-485F-906A-18E79738F979}"/>
              </a:ext>
            </a:extLst>
          </p:cNvPr>
          <p:cNvSpPr/>
          <p:nvPr/>
        </p:nvSpPr>
        <p:spPr>
          <a:xfrm>
            <a:off x="917728" y="3895725"/>
            <a:ext cx="533400" cy="571500"/>
          </a:xfrm>
          <a:prstGeom prst="smileyFac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PK" dirty="0"/>
          </a:p>
        </p:txBody>
      </p:sp>
      <p:sp>
        <p:nvSpPr>
          <p:cNvPr id="13" name="TextBox 12">
            <a:extLst>
              <a:ext uri="{FF2B5EF4-FFF2-40B4-BE49-F238E27FC236}">
                <a16:creationId xmlns:a16="http://schemas.microsoft.com/office/drawing/2014/main" xmlns="" id="{7F7E39A7-DDDD-4C8E-B914-629A57C21B5E}"/>
              </a:ext>
            </a:extLst>
          </p:cNvPr>
          <p:cNvSpPr txBox="1"/>
          <p:nvPr/>
        </p:nvSpPr>
        <p:spPr>
          <a:xfrm rot="1635765">
            <a:off x="4568665" y="2900724"/>
            <a:ext cx="3625142" cy="769441"/>
          </a:xfrm>
          <a:prstGeom prst="rect">
            <a:avLst/>
          </a:prstGeom>
          <a:noFill/>
        </p:spPr>
        <p:txBody>
          <a:bodyPr wrap="square" rtlCol="0">
            <a:spAutoFit/>
          </a:bodyPr>
          <a:lstStyle/>
          <a:p>
            <a:r>
              <a:rPr lang="en-US" sz="4400" b="1" dirty="0"/>
              <a:t>Best        Luck</a:t>
            </a:r>
            <a:endParaRPr lang="en-PK" sz="4400" b="1" dirty="0"/>
          </a:p>
        </p:txBody>
      </p:sp>
      <p:sp>
        <p:nvSpPr>
          <p:cNvPr id="14" name="TextBox 13">
            <a:extLst>
              <a:ext uri="{FF2B5EF4-FFF2-40B4-BE49-F238E27FC236}">
                <a16:creationId xmlns:a16="http://schemas.microsoft.com/office/drawing/2014/main" xmlns="" id="{4ACE2FB5-89AC-4E31-B7FF-851051898A07}"/>
              </a:ext>
            </a:extLst>
          </p:cNvPr>
          <p:cNvSpPr txBox="1"/>
          <p:nvPr/>
        </p:nvSpPr>
        <p:spPr>
          <a:xfrm rot="5183563">
            <a:off x="4473889" y="3044278"/>
            <a:ext cx="3625142" cy="769441"/>
          </a:xfrm>
          <a:prstGeom prst="rect">
            <a:avLst/>
          </a:prstGeom>
          <a:noFill/>
        </p:spPr>
        <p:txBody>
          <a:bodyPr wrap="square" rtlCol="0">
            <a:spAutoFit/>
          </a:bodyPr>
          <a:lstStyle/>
          <a:p>
            <a:r>
              <a:rPr lang="en-US" sz="4400" b="1" dirty="0">
                <a:solidFill>
                  <a:srgbClr val="FFC000"/>
                </a:solidFill>
              </a:rPr>
              <a:t>Best        Luck</a:t>
            </a:r>
            <a:endParaRPr lang="en-PK" sz="4400" b="1" dirty="0">
              <a:solidFill>
                <a:srgbClr val="FFC000"/>
              </a:solidFill>
            </a:endParaRPr>
          </a:p>
        </p:txBody>
      </p:sp>
      <p:pic>
        <p:nvPicPr>
          <p:cNvPr id="2" name="Picture 1">
            <a:extLst>
              <a:ext uri="{FF2B5EF4-FFF2-40B4-BE49-F238E27FC236}">
                <a16:creationId xmlns:a16="http://schemas.microsoft.com/office/drawing/2014/main" xmlns="" id="{901C6E52-7268-8883-7215-0495142B6AF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3" name="Footer Placeholder 2">
            <a:extLst>
              <a:ext uri="{FF2B5EF4-FFF2-40B4-BE49-F238E27FC236}">
                <a16:creationId xmlns:a16="http://schemas.microsoft.com/office/drawing/2014/main" xmlns="" id="{1BDFA39A-4F2A-93C4-DD52-14C644BE7E5C}"/>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1116225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idx="10"/>
          </p:nvPr>
        </p:nvSpPr>
        <p:spPr>
          <a:xfrm>
            <a:off x="2265752" y="844302"/>
            <a:ext cx="7755404" cy="5051348"/>
          </a:xfrm>
          <a:prstGeom prst="rect">
            <a:avLst/>
          </a:prstGeom>
          <a:solidFill>
            <a:srgbClr val="FEFEFE"/>
          </a:solidFill>
          <a:ln w="0" cmpd="sng">
            <a:noFill/>
            <a:prstDash val="solid"/>
          </a:ln>
        </p:spPr>
        <p:txBody>
          <a:bodyPr vert="horz" lIns="0" tIns="0" rIns="0" bIns="0" rtlCol="0" anchor="t">
            <a:normAutofit/>
          </a:bodyPr>
          <a:lstStyle/>
          <a:p>
            <a:pPr algn="l"/>
            <a:r>
              <a:rPr lang="en-US" sz="100"/>
              <a:t> </a:t>
            </a:r>
          </a:p>
        </p:txBody>
      </p:sp>
      <p:pic>
        <p:nvPicPr>
          <p:cNvPr id="10" name="Image.jpg"/>
          <p:cNvPicPr/>
          <p:nvPr/>
        </p:nvPicPr>
        <p:blipFill>
          <a:blip r:embed="rId3"/>
          <a:stretch>
            <a:fillRect/>
          </a:stretch>
        </p:blipFill>
        <p:spPr>
          <a:xfrm>
            <a:off x="2350083" y="996465"/>
            <a:ext cx="7586765" cy="4747022"/>
          </a:xfrm>
          <a:prstGeom prst="rect">
            <a:avLst/>
          </a:prstGeom>
        </p:spPr>
      </p:pic>
      <p:sp>
        <p:nvSpPr>
          <p:cNvPr id="11" name="Text Placeholder 10"/>
          <p:cNvSpPr>
            <a:spLocks noGrp="1"/>
          </p:cNvSpPr>
          <p:nvPr>
            <p:ph type="body" idx="10"/>
          </p:nvPr>
        </p:nvSpPr>
        <p:spPr>
          <a:xfrm>
            <a:off x="5331142" y="2617237"/>
            <a:ext cx="4051849" cy="187320"/>
          </a:xfrm>
          <a:prstGeom prst="rect">
            <a:avLst/>
          </a:prstGeom>
          <a:noFill/>
          <a:ln w="0" cmpd="sng">
            <a:noFill/>
            <a:prstDash val="solid"/>
          </a:ln>
        </p:spPr>
        <p:txBody>
          <a:bodyPr vert="horz" lIns="0" tIns="0" rIns="0" bIns="0" rtlCol="0" anchor="t">
            <a:normAutofit/>
          </a:bodyPr>
          <a:lstStyle/>
          <a:p>
            <a:pPr marL="0" indent="0">
              <a:lnSpc>
                <a:spcPts val="1406"/>
              </a:lnSpc>
              <a:buNone/>
              <a:tabLst>
                <a:tab pos="3803912" algn="r"/>
              </a:tabLst>
            </a:pPr>
            <a:r>
              <a:rPr lang="en-US" sz="1800" spc="-49" dirty="0">
                <a:solidFill>
                  <a:srgbClr val="060307"/>
                </a:solidFill>
                <a:latin typeface="Palatino Linotype" panose="22635452340000000000" pitchFamily="1"/>
              </a:rPr>
              <a:t>Music</a:t>
            </a:r>
            <a:r>
              <a:rPr lang="en-US" sz="1512" spc="-49" dirty="0">
                <a:solidFill>
                  <a:srgbClr val="060307"/>
                </a:solidFill>
                <a:latin typeface="Palatino Linotype" panose="22635452340000000000" pitchFamily="1"/>
              </a:rPr>
              <a:t>	</a:t>
            </a:r>
            <a:r>
              <a:rPr lang="en-US" sz="1800" dirty="0">
                <a:solidFill>
                  <a:srgbClr val="060307"/>
                </a:solidFill>
                <a:latin typeface="Palatino Linotype" panose="22635452340000000000" pitchFamily="1"/>
              </a:rPr>
              <a:t>Photos</a:t>
            </a:r>
          </a:p>
        </p:txBody>
      </p:sp>
      <p:sp>
        <p:nvSpPr>
          <p:cNvPr id="12" name="Text Placeholder 11"/>
          <p:cNvSpPr>
            <a:spLocks noGrp="1"/>
          </p:cNvSpPr>
          <p:nvPr>
            <p:ph type="body" idx="10"/>
          </p:nvPr>
        </p:nvSpPr>
        <p:spPr>
          <a:xfrm>
            <a:off x="4566679" y="3868341"/>
            <a:ext cx="625971" cy="452289"/>
          </a:xfrm>
          <a:prstGeom prst="rect">
            <a:avLst/>
          </a:prstGeom>
          <a:noFill/>
          <a:ln w="0" cmpd="sng">
            <a:noFill/>
            <a:prstDash val="solid"/>
          </a:ln>
        </p:spPr>
        <p:txBody>
          <a:bodyPr vert="horz" lIns="0" tIns="0" rIns="0" bIns="0" rtlCol="0" anchor="t">
            <a:normAutofit/>
          </a:bodyPr>
          <a:lstStyle/>
          <a:p>
            <a:pPr marL="0" indent="0" algn="ctr">
              <a:lnSpc>
                <a:spcPts val="1406"/>
              </a:lnSpc>
              <a:buNone/>
            </a:pPr>
            <a:r>
              <a:rPr lang="en-US" sz="1512" spc="-42" dirty="0">
                <a:solidFill>
                  <a:srgbClr val="060307"/>
                </a:solidFill>
                <a:latin typeface="Palatino Linotype" panose="22635452340000000000" pitchFamily="1"/>
              </a:rPr>
              <a:t>Protein</a:t>
            </a:r>
          </a:p>
          <a:p>
            <a:pPr marL="0" indent="0" algn="ctr">
              <a:lnSpc>
                <a:spcPct val="98879"/>
              </a:lnSpc>
              <a:spcBef>
                <a:spcPts val="0"/>
              </a:spcBef>
              <a:buNone/>
            </a:pPr>
            <a:r>
              <a:rPr lang="en-US" sz="1512" spc="-28" dirty="0">
                <a:solidFill>
                  <a:srgbClr val="060307"/>
                </a:solidFill>
                <a:latin typeface="Palatino Linotype" panose="22635452340000000000" pitchFamily="1"/>
              </a:rPr>
              <a:t>Shapes</a:t>
            </a:r>
          </a:p>
        </p:txBody>
      </p:sp>
      <p:sp>
        <p:nvSpPr>
          <p:cNvPr id="13" name="Text Placeholder 12"/>
          <p:cNvSpPr>
            <a:spLocks noGrp="1"/>
          </p:cNvSpPr>
          <p:nvPr>
            <p:ph type="body" idx="10"/>
          </p:nvPr>
        </p:nvSpPr>
        <p:spPr>
          <a:xfrm>
            <a:off x="3322793" y="4620443"/>
            <a:ext cx="4172396" cy="589359"/>
          </a:xfrm>
          <a:prstGeom prst="rect">
            <a:avLst/>
          </a:prstGeom>
          <a:noFill/>
          <a:ln w="0" cmpd="sng">
            <a:noFill/>
            <a:prstDash val="solid"/>
          </a:ln>
        </p:spPr>
        <p:txBody>
          <a:bodyPr vert="horz" lIns="0" tIns="0" rIns="0" bIns="0" rtlCol="0" anchor="t">
            <a:noAutofit/>
          </a:bodyPr>
          <a:lstStyle/>
          <a:p>
            <a:pPr marL="0" indent="0" algn="just">
              <a:lnSpc>
                <a:spcPts val="914"/>
              </a:lnSpc>
            </a:pPr>
            <a:r>
              <a:rPr lang="en-US" sz="1000" spc="-21" dirty="0" err="1">
                <a:solidFill>
                  <a:srgbClr val="060307"/>
                </a:solidFill>
                <a:latin typeface="Courier New" panose="22635452340000000000" pitchFamily="3"/>
              </a:rPr>
              <a:t>gatcttttta</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tttaaacgat</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ctctttatta</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gatctcttat</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taggatcatg</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atcctctgtg</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gataagtgat</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tattcacatg</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gcagatcata</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taattaagga</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ggatcgtttg</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ttgtgagtga</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ccggtgatcg</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tattgcgtat</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aagctgggat</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ctaaatggca</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tgttatgcac</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agtcactcgg</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cagaatcaag</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gttgttatgt</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ggatatctac</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tggttttacc</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ctgcttttaa</a:t>
            </a:r>
            <a:r>
              <a:rPr lang="en-US" sz="1000" spc="-21" dirty="0">
                <a:solidFill>
                  <a:srgbClr val="060307"/>
                </a:solidFill>
                <a:latin typeface="Courier New" panose="22635452340000000000" pitchFamily="3"/>
              </a:rPr>
              <a:t> </a:t>
            </a:r>
            <a:r>
              <a:rPr lang="en-US" sz="1000" spc="-21" dirty="0" err="1">
                <a:solidFill>
                  <a:srgbClr val="060307"/>
                </a:solidFill>
                <a:latin typeface="Courier New" panose="22635452340000000000" pitchFamily="3"/>
              </a:rPr>
              <a:t>gcatagttat</a:t>
            </a:r>
            <a:r>
              <a:rPr lang="en-US" sz="1000" spc="-21" dirty="0">
                <a:solidFill>
                  <a:srgbClr val="060307"/>
                </a:solidFill>
                <a:latin typeface="Courier New" panose="22635452340000000000" pitchFamily="3"/>
              </a:rPr>
              <a:t> </a:t>
            </a:r>
            <a:r>
              <a:rPr lang="en-US" sz="1000" spc="-11" dirty="0" err="1">
                <a:solidFill>
                  <a:srgbClr val="060307"/>
                </a:solidFill>
                <a:latin typeface="Courier New" panose="22635452340000000000" pitchFamily="3"/>
              </a:rPr>
              <a:t>acacattcgt</a:t>
            </a:r>
            <a:r>
              <a:rPr lang="en-US" sz="1000" spc="-11" dirty="0">
                <a:solidFill>
                  <a:srgbClr val="060307"/>
                </a:solidFill>
                <a:latin typeface="Courier New" panose="22635452340000000000" pitchFamily="3"/>
              </a:rPr>
              <a:t> </a:t>
            </a:r>
            <a:r>
              <a:rPr lang="en-US" sz="1000" spc="-11" dirty="0" err="1">
                <a:solidFill>
                  <a:srgbClr val="060307"/>
                </a:solidFill>
                <a:latin typeface="Courier New" panose="22635452340000000000" pitchFamily="3"/>
              </a:rPr>
              <a:t>tcgcgcgatc</a:t>
            </a:r>
            <a:r>
              <a:rPr lang="en-US" sz="1000" spc="-11" dirty="0">
                <a:solidFill>
                  <a:srgbClr val="060307"/>
                </a:solidFill>
                <a:latin typeface="Courier New" panose="22635452340000000000" pitchFamily="3"/>
              </a:rPr>
              <a:t> </a:t>
            </a:r>
            <a:r>
              <a:rPr lang="en-US" sz="1000" spc="-11" dirty="0" err="1">
                <a:solidFill>
                  <a:srgbClr val="060307"/>
                </a:solidFill>
                <a:latin typeface="Courier New" panose="22635452340000000000" pitchFamily="3"/>
              </a:rPr>
              <a:t>tttgagctaa</a:t>
            </a:r>
            <a:r>
              <a:rPr lang="en-US" sz="1000" spc="-11" dirty="0">
                <a:solidFill>
                  <a:srgbClr val="060307"/>
                </a:solidFill>
                <a:latin typeface="Courier New" panose="22635452340000000000" pitchFamily="3"/>
              </a:rPr>
              <a:t> </a:t>
            </a:r>
            <a:r>
              <a:rPr lang="en-US" sz="1000" spc="-11" dirty="0" err="1">
                <a:solidFill>
                  <a:srgbClr val="060307"/>
                </a:solidFill>
                <a:latin typeface="Courier New" panose="22635452340000000000" pitchFamily="3"/>
              </a:rPr>
              <a:t>ttagagtaaa</a:t>
            </a:r>
            <a:r>
              <a:rPr lang="en-US" sz="1000" spc="-11" dirty="0">
                <a:solidFill>
                  <a:srgbClr val="060307"/>
                </a:solidFill>
                <a:latin typeface="Courier New" panose="22635452340000000000" pitchFamily="3"/>
              </a:rPr>
              <a:t> </a:t>
            </a:r>
            <a:r>
              <a:rPr lang="en-US" sz="1000" spc="-11" dirty="0" err="1">
                <a:solidFill>
                  <a:srgbClr val="060307"/>
                </a:solidFill>
                <a:latin typeface="Courier New" panose="22635452340000000000" pitchFamily="3"/>
              </a:rPr>
              <a:t>ttaatccaat</a:t>
            </a:r>
            <a:r>
              <a:rPr lang="en-US" sz="1000" spc="-11" dirty="0">
                <a:solidFill>
                  <a:srgbClr val="060307"/>
                </a:solidFill>
                <a:latin typeface="Courier New" panose="22635452340000000000" pitchFamily="3"/>
              </a:rPr>
              <a:t> </a:t>
            </a:r>
            <a:r>
              <a:rPr lang="en-US" sz="1000" spc="-11" dirty="0" err="1">
                <a:solidFill>
                  <a:srgbClr val="060307"/>
                </a:solidFill>
                <a:latin typeface="Courier New" panose="22635452340000000000" pitchFamily="3"/>
              </a:rPr>
              <a:t>ctttgaccca</a:t>
            </a:r>
            <a:endParaRPr lang="en-US" sz="1000" spc="-11" dirty="0">
              <a:solidFill>
                <a:srgbClr val="060307"/>
              </a:solidFill>
              <a:latin typeface="Courier New" panose="22635452340000000000" pitchFamily="3"/>
            </a:endParaRPr>
          </a:p>
        </p:txBody>
      </p:sp>
      <p:sp>
        <p:nvSpPr>
          <p:cNvPr id="14" name="Text Placeholder 13"/>
          <p:cNvSpPr>
            <a:spLocks noGrp="1"/>
          </p:cNvSpPr>
          <p:nvPr>
            <p:ph type="body" idx="10"/>
          </p:nvPr>
        </p:nvSpPr>
        <p:spPr>
          <a:xfrm>
            <a:off x="3445316" y="5409429"/>
            <a:ext cx="5423892" cy="156270"/>
          </a:xfrm>
          <a:prstGeom prst="rect">
            <a:avLst/>
          </a:prstGeom>
          <a:noFill/>
          <a:ln w="0" cmpd="sng">
            <a:noFill/>
            <a:prstDash val="solid"/>
          </a:ln>
        </p:spPr>
        <p:txBody>
          <a:bodyPr vert="horz" lIns="0" tIns="0" rIns="0" bIns="0" rtlCol="0" anchor="t">
            <a:normAutofit fontScale="25000" lnSpcReduction="20000"/>
          </a:bodyPr>
          <a:lstStyle/>
          <a:p>
            <a:pPr marL="0" indent="0" algn="ctr">
              <a:lnSpc>
                <a:spcPts val="1406"/>
              </a:lnSpc>
            </a:pPr>
            <a:r>
              <a:rPr lang="en-US" sz="1687" spc="-14" dirty="0">
                <a:solidFill>
                  <a:srgbClr val="060307"/>
                </a:solidFill>
                <a:latin typeface="Gill Sans MT" panose="22635452340000000000" pitchFamily="2"/>
              </a:rPr>
              <a:t>0010101001010101010100100100101010000010010010100....</a:t>
            </a:r>
          </a:p>
        </p:txBody>
      </p:sp>
      <p:sp>
        <p:nvSpPr>
          <p:cNvPr id="15" name="Text Placeholder 14"/>
          <p:cNvSpPr>
            <a:spLocks noGrp="1"/>
          </p:cNvSpPr>
          <p:nvPr>
            <p:ph type="body" idx="10"/>
          </p:nvPr>
        </p:nvSpPr>
        <p:spPr>
          <a:xfrm>
            <a:off x="2121284" y="525066"/>
            <a:ext cx="1797993" cy="319236"/>
          </a:xfrm>
          <a:prstGeom prst="rect">
            <a:avLst/>
          </a:prstGeom>
          <a:noFill/>
          <a:ln w="0" cmpd="sng">
            <a:noFill/>
            <a:prstDash val="solid"/>
          </a:ln>
        </p:spPr>
        <p:txBody>
          <a:bodyPr vert="horz" lIns="0" tIns="0" rIns="0" bIns="0" rtlCol="0" anchor="t">
            <a:normAutofit/>
          </a:bodyPr>
          <a:lstStyle/>
          <a:p>
            <a:pPr marL="0" indent="0" algn="ctr">
              <a:lnSpc>
                <a:spcPct val="72959"/>
              </a:lnSpc>
              <a:buNone/>
            </a:pPr>
            <a:r>
              <a:rPr lang="en-US" sz="2426" b="1" spc="-32" dirty="0">
                <a:solidFill>
                  <a:srgbClr val="010383"/>
                </a:solidFill>
                <a:latin typeface="Palatino Linotype" panose="22635452340000000000" pitchFamily="1"/>
              </a:rPr>
              <a:t>Digital Data</a:t>
            </a:r>
          </a:p>
        </p:txBody>
      </p:sp>
      <p:sp>
        <p:nvSpPr>
          <p:cNvPr id="16" name="Text Placeholder 15"/>
          <p:cNvSpPr>
            <a:spLocks noGrp="1"/>
          </p:cNvSpPr>
          <p:nvPr>
            <p:ph type="body" idx="10"/>
          </p:nvPr>
        </p:nvSpPr>
        <p:spPr>
          <a:xfrm>
            <a:off x="3322793" y="3194325"/>
            <a:ext cx="632222" cy="141536"/>
          </a:xfrm>
          <a:prstGeom prst="rect">
            <a:avLst/>
          </a:prstGeom>
          <a:noFill/>
          <a:ln w="0" cmpd="sng">
            <a:noFill/>
            <a:prstDash val="solid"/>
          </a:ln>
        </p:spPr>
        <p:txBody>
          <a:bodyPr vert="horz" lIns="0" tIns="0" rIns="0" bIns="0" rtlCol="0" anchor="t">
            <a:normAutofit fontScale="25000" lnSpcReduction="20000"/>
          </a:bodyPr>
          <a:lstStyle/>
          <a:p>
            <a:pPr marL="0" indent="0" algn="ctr">
              <a:lnSpc>
                <a:spcPts val="1266"/>
              </a:lnSpc>
              <a:buNone/>
            </a:pPr>
            <a:r>
              <a:rPr lang="en-US" sz="5600" spc="-46" dirty="0">
                <a:solidFill>
                  <a:srgbClr val="060307"/>
                </a:solidFill>
                <a:latin typeface="Palatino Linotype" panose="22635452340000000000" pitchFamily="1"/>
              </a:rPr>
              <a:t>Movies</a:t>
            </a:r>
            <a:endParaRPr lang="en-US" sz="1512" spc="-46" dirty="0">
              <a:solidFill>
                <a:srgbClr val="060307"/>
              </a:solidFill>
              <a:latin typeface="Palatino Linotype" panose="22635452340000000000" pitchFamily="1"/>
            </a:endParaRPr>
          </a:p>
        </p:txBody>
      </p:sp>
      <p:sp>
        <p:nvSpPr>
          <p:cNvPr id="17" name="Text Placeholder 16"/>
          <p:cNvSpPr>
            <a:spLocks noGrp="1"/>
          </p:cNvSpPr>
          <p:nvPr>
            <p:ph type="body" idx="10"/>
          </p:nvPr>
        </p:nvSpPr>
        <p:spPr>
          <a:xfrm>
            <a:off x="2333364" y="4423320"/>
            <a:ext cx="465237" cy="294679"/>
          </a:xfrm>
          <a:prstGeom prst="rect">
            <a:avLst/>
          </a:prstGeom>
          <a:noFill/>
          <a:ln w="0" cmpd="sng">
            <a:noFill/>
            <a:prstDash val="solid"/>
          </a:ln>
        </p:spPr>
        <p:txBody>
          <a:bodyPr vert="horz" lIns="0" tIns="0" rIns="0" bIns="0" rtlCol="0" anchor="t">
            <a:normAutofit/>
          </a:bodyPr>
          <a:lstStyle/>
          <a:p>
            <a:pPr marL="0" indent="0" algn="ctr">
              <a:lnSpc>
                <a:spcPts val="1336"/>
              </a:lnSpc>
              <a:buNone/>
            </a:pPr>
            <a:r>
              <a:rPr lang="en-US" sz="1512" spc="-53" dirty="0">
                <a:solidFill>
                  <a:srgbClr val="060307"/>
                </a:solidFill>
                <a:latin typeface="Palatino Linotype" panose="22635452340000000000" pitchFamily="1"/>
              </a:rPr>
              <a:t>DNA</a:t>
            </a:r>
          </a:p>
        </p:txBody>
      </p:sp>
      <p:sp>
        <p:nvSpPr>
          <p:cNvPr id="18" name="Text Placeholder 17"/>
          <p:cNvSpPr>
            <a:spLocks noGrp="1"/>
          </p:cNvSpPr>
          <p:nvPr>
            <p:ph type="body" idx="10"/>
          </p:nvPr>
        </p:nvSpPr>
        <p:spPr>
          <a:xfrm>
            <a:off x="8537211" y="4522886"/>
            <a:ext cx="479971" cy="195114"/>
          </a:xfrm>
          <a:prstGeom prst="rect">
            <a:avLst/>
          </a:prstGeom>
          <a:noFill/>
          <a:ln w="0" cmpd="sng">
            <a:noFill/>
            <a:prstDash val="solid"/>
          </a:ln>
        </p:spPr>
        <p:txBody>
          <a:bodyPr vert="horz" lIns="0" tIns="0" rIns="0" bIns="0" rtlCol="0" anchor="t">
            <a:normAutofit/>
          </a:bodyPr>
          <a:lstStyle/>
          <a:p>
            <a:pPr marL="0" indent="0" algn="ctr">
              <a:lnSpc>
                <a:spcPct val="71999"/>
              </a:lnSpc>
              <a:buNone/>
            </a:pPr>
            <a:r>
              <a:rPr lang="en-US" sz="1600" spc="-49" dirty="0">
                <a:solidFill>
                  <a:srgbClr val="060307"/>
                </a:solidFill>
                <a:latin typeface="Palatino Linotype" panose="22635452340000000000" pitchFamily="1"/>
              </a:rPr>
              <a:t>Maps</a:t>
            </a:r>
            <a:endParaRPr lang="en-US" sz="1512" spc="-49" dirty="0">
              <a:solidFill>
                <a:srgbClr val="060307"/>
              </a:solidFill>
              <a:latin typeface="Palatino Linotype" panose="22635452340000000000" pitchFamily="1"/>
            </a:endParaRPr>
          </a:p>
        </p:txBody>
      </p:sp>
    </p:spTree>
    <p:extLst>
      <p:ext uri="{BB962C8B-B14F-4D97-AF65-F5344CB8AC3E}">
        <p14:creationId xmlns:p14="http://schemas.microsoft.com/office/powerpoint/2010/main" val="12745680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jpg"/>
          <p:cNvPicPr/>
          <p:nvPr/>
        </p:nvPicPr>
        <p:blipFill>
          <a:blip r:embed="rId2"/>
          <a:stretch>
            <a:fillRect/>
          </a:stretch>
        </p:blipFill>
        <p:spPr>
          <a:xfrm>
            <a:off x="2125749" y="948597"/>
            <a:ext cx="6444109" cy="3856468"/>
          </a:xfrm>
          <a:prstGeom prst="rect">
            <a:avLst/>
          </a:prstGeom>
        </p:spPr>
      </p:pic>
      <p:sp>
        <p:nvSpPr>
          <p:cNvPr id="23" name="Text Placeholder 22"/>
          <p:cNvSpPr>
            <a:spLocks noGrp="1"/>
          </p:cNvSpPr>
          <p:nvPr>
            <p:ph type="body" idx="10"/>
          </p:nvPr>
        </p:nvSpPr>
        <p:spPr>
          <a:xfrm>
            <a:off x="2161915" y="1243682"/>
            <a:ext cx="3992463" cy="319236"/>
          </a:xfrm>
          <a:prstGeom prst="rect">
            <a:avLst/>
          </a:prstGeom>
          <a:noFill/>
          <a:ln w="0" cmpd="sng">
            <a:noFill/>
            <a:prstDash val="solid"/>
          </a:ln>
        </p:spPr>
        <p:txBody>
          <a:bodyPr vert="horz" lIns="0" tIns="0" rIns="0" bIns="0" rtlCol="0" anchor="t">
            <a:normAutofit/>
          </a:bodyPr>
          <a:lstStyle/>
          <a:p>
            <a:pPr>
              <a:buNone/>
            </a:pPr>
            <a:r>
              <a:rPr lang="en-US" sz="2461" b="1" spc="-28" dirty="0">
                <a:solidFill>
                  <a:srgbClr val="000080"/>
                </a:solidFill>
                <a:latin typeface="Palatino Linotype" panose="22635452340000000000" pitchFamily="1"/>
              </a:rPr>
              <a:t>RAM = Symbols + Pointers</a:t>
            </a:r>
          </a:p>
        </p:txBody>
      </p:sp>
      <p:sp>
        <p:nvSpPr>
          <p:cNvPr id="24" name="Text Placeholder 23"/>
          <p:cNvSpPr>
            <a:spLocks noGrp="1"/>
          </p:cNvSpPr>
          <p:nvPr>
            <p:ph type="body" idx="10"/>
          </p:nvPr>
        </p:nvSpPr>
        <p:spPr>
          <a:xfrm>
            <a:off x="2125749" y="1691506"/>
            <a:ext cx="1710482" cy="227261"/>
          </a:xfrm>
          <a:prstGeom prst="rect">
            <a:avLst/>
          </a:prstGeom>
          <a:noFill/>
          <a:ln w="0" cmpd="sng">
            <a:noFill/>
            <a:prstDash val="solid"/>
          </a:ln>
        </p:spPr>
        <p:txBody>
          <a:bodyPr vert="horz" lIns="0" tIns="0" rIns="0" bIns="0" rtlCol="0" anchor="t">
            <a:normAutofit/>
          </a:bodyPr>
          <a:lstStyle/>
          <a:p>
            <a:pPr>
              <a:lnSpc>
                <a:spcPct val="78719"/>
              </a:lnSpc>
              <a:buNone/>
            </a:pPr>
            <a:r>
              <a:rPr lang="en-US" sz="1617" spc="-28" dirty="0">
                <a:solidFill>
                  <a:srgbClr val="000000"/>
                </a:solidFill>
                <a:latin typeface="Palatino Linotype" panose="22635452340000000000" pitchFamily="1"/>
              </a:rPr>
              <a:t>(for our purposes)</a:t>
            </a:r>
          </a:p>
        </p:txBody>
      </p:sp>
      <p:sp>
        <p:nvSpPr>
          <p:cNvPr id="25" name="Text Placeholder 24"/>
          <p:cNvSpPr>
            <a:spLocks noGrp="1"/>
          </p:cNvSpPr>
          <p:nvPr>
            <p:ph type="body" idx="10"/>
          </p:nvPr>
        </p:nvSpPr>
        <p:spPr>
          <a:xfrm>
            <a:off x="4082244" y="2342257"/>
            <a:ext cx="880914" cy="122337"/>
          </a:xfrm>
          <a:prstGeom prst="rect">
            <a:avLst/>
          </a:prstGeom>
          <a:noFill/>
          <a:ln w="0" cmpd="sng">
            <a:noFill/>
            <a:prstDash val="solid"/>
          </a:ln>
        </p:spPr>
        <p:txBody>
          <a:bodyPr vert="horz" lIns="0" tIns="0" rIns="0" bIns="0" rtlCol="0" anchor="t">
            <a:normAutofit fontScale="25000" lnSpcReduction="20000"/>
          </a:bodyPr>
          <a:lstStyle/>
          <a:p>
            <a:pPr>
              <a:lnSpc>
                <a:spcPts val="1125"/>
              </a:lnSpc>
            </a:pPr>
            <a:r>
              <a:rPr lang="en-US" sz="1266" spc="-53">
                <a:solidFill>
                  <a:srgbClr val="000000"/>
                </a:solidFill>
                <a:latin typeface="Palatino Linotype" panose="22635452340000000000" pitchFamily="1"/>
              </a:rPr>
              <a:t>16-bit words</a:t>
            </a:r>
          </a:p>
        </p:txBody>
      </p:sp>
      <p:sp>
        <p:nvSpPr>
          <p:cNvPr id="26" name="Text Placeholder 25"/>
          <p:cNvSpPr>
            <a:spLocks noGrp="1"/>
          </p:cNvSpPr>
          <p:nvPr>
            <p:ph type="body" idx="10"/>
          </p:nvPr>
        </p:nvSpPr>
        <p:spPr>
          <a:xfrm>
            <a:off x="3763007" y="2616845"/>
            <a:ext cx="1513136" cy="107156"/>
          </a:xfrm>
          <a:prstGeom prst="rect">
            <a:avLst/>
          </a:prstGeom>
          <a:noFill/>
          <a:ln w="0" cmpd="sng">
            <a:noFill/>
            <a:prstDash val="solid"/>
          </a:ln>
        </p:spPr>
        <p:txBody>
          <a:bodyPr vert="horz" lIns="0" tIns="0" rIns="0" bIns="0" rtlCol="0" anchor="t">
            <a:normAutofit fontScale="25000" lnSpcReduction="20000"/>
          </a:bodyPr>
          <a:lstStyle/>
          <a:p>
            <a:pPr algn="l">
              <a:lnSpc>
                <a:spcPts val="984"/>
              </a:lnSpc>
              <a:buNone/>
            </a:pPr>
            <a:r>
              <a:rPr lang="en-US" sz="1266" spc="-70" dirty="0">
                <a:solidFill>
                  <a:srgbClr val="000000"/>
                </a:solidFill>
                <a:latin typeface="Courier New" panose="22635452340000000000" pitchFamily="3"/>
              </a:rPr>
              <a:t>0100101001111011</a:t>
            </a:r>
          </a:p>
        </p:txBody>
      </p:sp>
      <p:sp>
        <p:nvSpPr>
          <p:cNvPr id="27" name="Text Placeholder 26"/>
          <p:cNvSpPr>
            <a:spLocks noGrp="1"/>
          </p:cNvSpPr>
          <p:nvPr>
            <p:ph type="body" idx="10"/>
          </p:nvPr>
        </p:nvSpPr>
        <p:spPr>
          <a:xfrm>
            <a:off x="3763007" y="2901702"/>
            <a:ext cx="1513136" cy="107156"/>
          </a:xfrm>
          <a:prstGeom prst="rect">
            <a:avLst/>
          </a:prstGeom>
          <a:noFill/>
          <a:ln w="0" cmpd="sng">
            <a:noFill/>
            <a:prstDash val="solid"/>
          </a:ln>
        </p:spPr>
        <p:txBody>
          <a:bodyPr vert="horz" lIns="0" tIns="0" rIns="0" bIns="0" rtlCol="0" anchor="t">
            <a:normAutofit fontScale="25000" lnSpcReduction="20000"/>
          </a:bodyPr>
          <a:lstStyle/>
          <a:p>
            <a:pPr algn="l">
              <a:lnSpc>
                <a:spcPts val="984"/>
              </a:lnSpc>
              <a:buNone/>
            </a:pPr>
            <a:r>
              <a:rPr lang="en-US" sz="1266" spc="-151" dirty="0">
                <a:solidFill>
                  <a:srgbClr val="000000"/>
                </a:solidFill>
                <a:latin typeface="Courier New" panose="22635452340000000000" pitchFamily="3"/>
              </a:rPr>
              <a:t>01101110 10 100000</a:t>
            </a:r>
          </a:p>
        </p:txBody>
      </p:sp>
      <p:sp>
        <p:nvSpPr>
          <p:cNvPr id="28" name="Text Placeholder 27"/>
          <p:cNvSpPr>
            <a:spLocks noGrp="1"/>
          </p:cNvSpPr>
          <p:nvPr>
            <p:ph type="body" idx="10"/>
          </p:nvPr>
        </p:nvSpPr>
        <p:spPr>
          <a:xfrm>
            <a:off x="3763007" y="3188792"/>
            <a:ext cx="1513136" cy="107156"/>
          </a:xfrm>
          <a:prstGeom prst="rect">
            <a:avLst/>
          </a:prstGeom>
          <a:noFill/>
          <a:ln w="0" cmpd="sng">
            <a:noFill/>
            <a:prstDash val="solid"/>
          </a:ln>
        </p:spPr>
        <p:txBody>
          <a:bodyPr vert="horz" lIns="0" tIns="0" rIns="0" bIns="0" rtlCol="0" anchor="t">
            <a:normAutofit fontScale="25000" lnSpcReduction="20000"/>
          </a:bodyPr>
          <a:lstStyle/>
          <a:p>
            <a:pPr algn="l">
              <a:lnSpc>
                <a:spcPts val="984"/>
              </a:lnSpc>
              <a:buNone/>
            </a:pPr>
            <a:r>
              <a:rPr lang="en-US" sz="1266" spc="-218" dirty="0">
                <a:solidFill>
                  <a:srgbClr val="000000"/>
                </a:solidFill>
                <a:latin typeface="Courier New" panose="22635452340000000000" pitchFamily="3"/>
              </a:rPr>
              <a:t>00 10000 100 1000 11</a:t>
            </a:r>
          </a:p>
        </p:txBody>
      </p:sp>
      <p:sp>
        <p:nvSpPr>
          <p:cNvPr id="29" name="Text Placeholder 28"/>
          <p:cNvSpPr>
            <a:spLocks noGrp="1"/>
          </p:cNvSpPr>
          <p:nvPr>
            <p:ph type="body" idx="10"/>
          </p:nvPr>
        </p:nvSpPr>
        <p:spPr>
          <a:xfrm>
            <a:off x="3767472" y="3474095"/>
            <a:ext cx="1508671" cy="107156"/>
          </a:xfrm>
          <a:prstGeom prst="rect">
            <a:avLst/>
          </a:prstGeom>
          <a:noFill/>
          <a:ln w="0" cmpd="sng">
            <a:noFill/>
            <a:prstDash val="solid"/>
          </a:ln>
        </p:spPr>
        <p:txBody>
          <a:bodyPr vert="horz" lIns="0" tIns="0" rIns="0" bIns="0" rtlCol="0" anchor="t">
            <a:normAutofit fontScale="25000" lnSpcReduction="20000"/>
          </a:bodyPr>
          <a:lstStyle/>
          <a:p>
            <a:pPr algn="l">
              <a:lnSpc>
                <a:spcPts val="984"/>
              </a:lnSpc>
              <a:buNone/>
            </a:pPr>
            <a:r>
              <a:rPr lang="en-US" sz="1266" spc="-221" dirty="0">
                <a:solidFill>
                  <a:srgbClr val="000000"/>
                </a:solidFill>
                <a:latin typeface="Courier New" panose="22635452340000000000" pitchFamily="3"/>
              </a:rPr>
              <a:t>10000 1000 10 1000 1</a:t>
            </a:r>
          </a:p>
        </p:txBody>
      </p:sp>
      <p:sp>
        <p:nvSpPr>
          <p:cNvPr id="30" name="Text Placeholder 29"/>
          <p:cNvSpPr>
            <a:spLocks noGrp="1"/>
          </p:cNvSpPr>
          <p:nvPr>
            <p:ph type="body" idx="10"/>
          </p:nvPr>
        </p:nvSpPr>
        <p:spPr>
          <a:xfrm>
            <a:off x="5732450" y="3591967"/>
            <a:ext cx="1759595" cy="786259"/>
          </a:xfrm>
          <a:prstGeom prst="rect">
            <a:avLst/>
          </a:prstGeom>
          <a:noFill/>
          <a:ln w="0" cmpd="sng">
            <a:noFill/>
            <a:prstDash val="solid"/>
          </a:ln>
        </p:spPr>
        <p:txBody>
          <a:bodyPr vert="horz" lIns="0" tIns="0" rIns="0" bIns="0" rtlCol="0" anchor="t">
            <a:normAutofit/>
          </a:bodyPr>
          <a:lstStyle/>
          <a:p>
            <a:pPr algn="l">
              <a:lnSpc>
                <a:spcPct val="84479"/>
              </a:lnSpc>
              <a:buNone/>
            </a:pPr>
            <a:r>
              <a:rPr lang="en-US" sz="1617" dirty="0">
                <a:solidFill>
                  <a:srgbClr val="000000"/>
                </a:solidFill>
                <a:latin typeface="Palatino Linotype" panose="22635452340000000000" pitchFamily="1"/>
              </a:rPr>
              <a:t>We may agree to</a:t>
            </a:r>
          </a:p>
          <a:p>
            <a:pPr>
              <a:lnSpc>
                <a:spcPct val="95999"/>
              </a:lnSpc>
              <a:spcBef>
                <a:spcPts val="0"/>
              </a:spcBef>
              <a:buNone/>
            </a:pPr>
            <a:r>
              <a:rPr lang="en-US" sz="1617" spc="-21" dirty="0">
                <a:solidFill>
                  <a:srgbClr val="000000"/>
                </a:solidFill>
                <a:latin typeface="Palatino Linotype" panose="22635452340000000000" pitchFamily="1"/>
              </a:rPr>
              <a:t>interpret bits as an</a:t>
            </a:r>
          </a:p>
          <a:p>
            <a:pPr algn="l">
              <a:lnSpc>
                <a:spcPct val="90239"/>
              </a:lnSpc>
              <a:spcBef>
                <a:spcPts val="0"/>
              </a:spcBef>
              <a:buNone/>
            </a:pPr>
            <a:r>
              <a:rPr lang="en-US" sz="1617" dirty="0">
                <a:solidFill>
                  <a:srgbClr val="000000"/>
                </a:solidFill>
                <a:latin typeface="Palatino Linotype" panose="22635452340000000000" pitchFamily="1"/>
              </a:rPr>
              <a:t>address (pointer)</a:t>
            </a:r>
          </a:p>
        </p:txBody>
      </p:sp>
      <p:sp>
        <p:nvSpPr>
          <p:cNvPr id="31" name="Text Placeholder 30"/>
          <p:cNvSpPr>
            <a:spLocks noGrp="1"/>
          </p:cNvSpPr>
          <p:nvPr>
            <p:ph type="body" idx="10"/>
          </p:nvPr>
        </p:nvSpPr>
        <p:spPr>
          <a:xfrm>
            <a:off x="3767472" y="4616202"/>
            <a:ext cx="1508671" cy="104924"/>
          </a:xfrm>
          <a:prstGeom prst="rect">
            <a:avLst/>
          </a:prstGeom>
          <a:noFill/>
          <a:ln w="0" cmpd="sng">
            <a:noFill/>
            <a:prstDash val="solid"/>
          </a:ln>
        </p:spPr>
        <p:txBody>
          <a:bodyPr vert="horz" lIns="0" tIns="0" rIns="0" bIns="0" rtlCol="0" anchor="t">
            <a:normAutofit fontScale="25000" lnSpcReduction="20000"/>
          </a:bodyPr>
          <a:lstStyle/>
          <a:p>
            <a:pPr algn="l">
              <a:lnSpc>
                <a:spcPts val="914"/>
              </a:lnSpc>
              <a:buNone/>
            </a:pPr>
            <a:r>
              <a:rPr lang="en-US" sz="1266" spc="-70" dirty="0">
                <a:solidFill>
                  <a:srgbClr val="000000"/>
                </a:solidFill>
                <a:latin typeface="Courier New" panose="22635452340000000000" pitchFamily="3"/>
              </a:rPr>
              <a:t>1111111111111111</a:t>
            </a:r>
          </a:p>
        </p:txBody>
      </p:sp>
      <p:sp>
        <p:nvSpPr>
          <p:cNvPr id="32" name="Text Placeholder 31"/>
          <p:cNvSpPr>
            <a:spLocks noGrp="1"/>
          </p:cNvSpPr>
          <p:nvPr>
            <p:ph type="body" idx="10"/>
          </p:nvPr>
        </p:nvSpPr>
        <p:spPr>
          <a:xfrm>
            <a:off x="3421224" y="2529841"/>
            <a:ext cx="227261" cy="2246263"/>
          </a:xfrm>
          <a:prstGeom prst="rect">
            <a:avLst/>
          </a:prstGeom>
          <a:noFill/>
          <a:ln w="0" cmpd="sng">
            <a:noFill/>
            <a:prstDash val="solid"/>
          </a:ln>
        </p:spPr>
        <p:txBody>
          <a:bodyPr vert="horz" lIns="0" tIns="0" rIns="0" bIns="0" rtlCol="0" anchor="t">
            <a:normAutofit fontScale="25000" lnSpcReduction="20000"/>
          </a:bodyPr>
          <a:lstStyle/>
          <a:p>
            <a:pPr algn="r">
              <a:lnSpc>
                <a:spcPts val="1195"/>
              </a:lnSpc>
              <a:buNone/>
            </a:pPr>
            <a:r>
              <a:rPr lang="en-US" sz="1266" dirty="0">
                <a:solidFill>
                  <a:srgbClr val="000000"/>
                </a:solidFill>
                <a:latin typeface="Palatino Linotype" panose="22635452340000000000" pitchFamily="1"/>
              </a:rPr>
              <a:t>0</a:t>
            </a:r>
          </a:p>
          <a:p>
            <a:pPr algn="r">
              <a:lnSpc>
                <a:spcPts val="1617"/>
              </a:lnSpc>
              <a:spcBef>
                <a:spcPts val="759"/>
              </a:spcBef>
              <a:buNone/>
            </a:pPr>
            <a:r>
              <a:rPr lang="en-US" sz="1266" dirty="0">
                <a:solidFill>
                  <a:srgbClr val="000000"/>
                </a:solidFill>
                <a:latin typeface="Palatino Linotype" panose="22635452340000000000" pitchFamily="1"/>
              </a:rPr>
              <a:t>2</a:t>
            </a:r>
          </a:p>
          <a:p>
            <a:pPr algn="r">
              <a:lnSpc>
                <a:spcPts val="1617"/>
              </a:lnSpc>
              <a:spcBef>
                <a:spcPts val="759"/>
              </a:spcBef>
              <a:buNone/>
            </a:pPr>
            <a:r>
              <a:rPr lang="en-US" sz="1266" dirty="0">
                <a:solidFill>
                  <a:srgbClr val="000000"/>
                </a:solidFill>
                <a:latin typeface="Palatino Linotype" panose="22635452340000000000" pitchFamily="1"/>
              </a:rPr>
              <a:t>4</a:t>
            </a:r>
          </a:p>
          <a:p>
            <a:pPr algn="r">
              <a:lnSpc>
                <a:spcPts val="1617"/>
              </a:lnSpc>
              <a:spcBef>
                <a:spcPts val="886"/>
              </a:spcBef>
              <a:buNone/>
            </a:pPr>
            <a:r>
              <a:rPr lang="en-US" sz="1266" dirty="0">
                <a:solidFill>
                  <a:srgbClr val="000000"/>
                </a:solidFill>
                <a:latin typeface="Palatino Linotype" panose="22635452340000000000" pitchFamily="1"/>
              </a:rPr>
              <a:t>6</a:t>
            </a:r>
          </a:p>
          <a:p>
            <a:pPr algn="r">
              <a:lnSpc>
                <a:spcPts val="1617"/>
              </a:lnSpc>
              <a:spcBef>
                <a:spcPts val="759"/>
              </a:spcBef>
              <a:buNone/>
            </a:pPr>
            <a:r>
              <a:rPr lang="en-US" sz="1266" dirty="0">
                <a:solidFill>
                  <a:srgbClr val="000000"/>
                </a:solidFill>
                <a:latin typeface="Palatino Linotype" panose="22635452340000000000" pitchFamily="1"/>
              </a:rPr>
              <a:t>8</a:t>
            </a:r>
          </a:p>
          <a:p>
            <a:pPr>
              <a:lnSpc>
                <a:spcPts val="1617"/>
              </a:lnSpc>
              <a:spcBef>
                <a:spcPts val="759"/>
              </a:spcBef>
              <a:buNone/>
            </a:pPr>
            <a:r>
              <a:rPr lang="en-US" sz="1266" spc="-91" dirty="0">
                <a:solidFill>
                  <a:srgbClr val="000000"/>
                </a:solidFill>
                <a:latin typeface="Palatino Linotype" panose="22635452340000000000" pitchFamily="1"/>
              </a:rPr>
              <a:t>10</a:t>
            </a:r>
          </a:p>
          <a:p>
            <a:pPr>
              <a:lnSpc>
                <a:spcPts val="1617"/>
              </a:lnSpc>
              <a:spcBef>
                <a:spcPts val="886"/>
              </a:spcBef>
              <a:buNone/>
            </a:pPr>
            <a:r>
              <a:rPr lang="en-US" sz="1266" spc="-91" dirty="0">
                <a:solidFill>
                  <a:srgbClr val="000000"/>
                </a:solidFill>
                <a:latin typeface="Palatino Linotype" panose="22635452340000000000" pitchFamily="1"/>
              </a:rPr>
              <a:t>12</a:t>
            </a:r>
          </a:p>
          <a:p>
            <a:pPr>
              <a:lnSpc>
                <a:spcPts val="1617"/>
              </a:lnSpc>
              <a:spcBef>
                <a:spcPts val="759"/>
              </a:spcBef>
              <a:buNone/>
            </a:pPr>
            <a:r>
              <a:rPr lang="en-US" sz="1266" spc="-91" dirty="0">
                <a:solidFill>
                  <a:srgbClr val="000000"/>
                </a:solidFill>
                <a:latin typeface="Palatino Linotype" panose="22635452340000000000" pitchFamily="1"/>
              </a:rPr>
              <a:t>14</a:t>
            </a:r>
          </a:p>
        </p:txBody>
      </p:sp>
      <p:sp>
        <p:nvSpPr>
          <p:cNvPr id="33" name="Text Placeholder 32"/>
          <p:cNvSpPr>
            <a:spLocks noGrp="1"/>
          </p:cNvSpPr>
          <p:nvPr>
            <p:ph type="body" idx="10"/>
          </p:nvPr>
        </p:nvSpPr>
        <p:spPr>
          <a:xfrm>
            <a:off x="3763007" y="3758952"/>
            <a:ext cx="1513136" cy="107156"/>
          </a:xfrm>
          <a:prstGeom prst="rect">
            <a:avLst/>
          </a:prstGeom>
          <a:noFill/>
          <a:ln w="0" cmpd="sng">
            <a:noFill/>
            <a:prstDash val="solid"/>
          </a:ln>
        </p:spPr>
        <p:txBody>
          <a:bodyPr vert="horz" lIns="0" tIns="0" rIns="0" bIns="0" rtlCol="0" anchor="t">
            <a:normAutofit fontScale="25000" lnSpcReduction="20000"/>
          </a:bodyPr>
          <a:lstStyle/>
          <a:p>
            <a:pPr algn="l">
              <a:lnSpc>
                <a:spcPts val="984"/>
              </a:lnSpc>
              <a:buNone/>
            </a:pPr>
            <a:r>
              <a:rPr lang="en-US" sz="1266" spc="-70" dirty="0">
                <a:solidFill>
                  <a:srgbClr val="000000"/>
                </a:solidFill>
                <a:latin typeface="Courier New" panose="22635452340000000000" pitchFamily="3"/>
              </a:rPr>
              <a:t>0000000000000100</a:t>
            </a:r>
          </a:p>
        </p:txBody>
      </p:sp>
      <p:sp>
        <p:nvSpPr>
          <p:cNvPr id="34" name="Text Placeholder 33"/>
          <p:cNvSpPr>
            <a:spLocks noGrp="1"/>
          </p:cNvSpPr>
          <p:nvPr>
            <p:ph type="body" idx="10"/>
          </p:nvPr>
        </p:nvSpPr>
        <p:spPr>
          <a:xfrm>
            <a:off x="3767472" y="4046042"/>
            <a:ext cx="1508671" cy="107156"/>
          </a:xfrm>
          <a:prstGeom prst="rect">
            <a:avLst/>
          </a:prstGeom>
          <a:noFill/>
          <a:ln w="0" cmpd="sng">
            <a:noFill/>
            <a:prstDash val="solid"/>
          </a:ln>
        </p:spPr>
        <p:txBody>
          <a:bodyPr vert="horz" lIns="0" tIns="0" rIns="0" bIns="0" rtlCol="0" anchor="t">
            <a:normAutofit fontScale="25000" lnSpcReduction="20000"/>
          </a:bodyPr>
          <a:lstStyle/>
          <a:p>
            <a:pPr algn="l">
              <a:lnSpc>
                <a:spcPts val="984"/>
              </a:lnSpc>
              <a:buNone/>
            </a:pPr>
            <a:r>
              <a:rPr lang="en-US" sz="1266" spc="-250" dirty="0">
                <a:solidFill>
                  <a:srgbClr val="000000"/>
                </a:solidFill>
                <a:latin typeface="Courier New" panose="22635452340000000000" pitchFamily="3"/>
              </a:rPr>
              <a:t>100 10 10 11000 10 10</a:t>
            </a:r>
          </a:p>
        </p:txBody>
      </p:sp>
      <p:sp>
        <p:nvSpPr>
          <p:cNvPr id="35" name="Text Placeholder 34"/>
          <p:cNvSpPr>
            <a:spLocks noGrp="1"/>
          </p:cNvSpPr>
          <p:nvPr>
            <p:ph type="body" idx="10"/>
          </p:nvPr>
        </p:nvSpPr>
        <p:spPr>
          <a:xfrm>
            <a:off x="3767472" y="4331345"/>
            <a:ext cx="1508671" cy="107156"/>
          </a:xfrm>
          <a:prstGeom prst="rect">
            <a:avLst/>
          </a:prstGeom>
          <a:noFill/>
          <a:ln w="0" cmpd="sng">
            <a:noFill/>
            <a:prstDash val="solid"/>
          </a:ln>
        </p:spPr>
        <p:txBody>
          <a:bodyPr vert="horz" lIns="0" tIns="0" rIns="0" bIns="0" rtlCol="0" anchor="t">
            <a:normAutofit fontScale="25000" lnSpcReduction="20000"/>
          </a:bodyPr>
          <a:lstStyle/>
          <a:p>
            <a:pPr algn="l">
              <a:lnSpc>
                <a:spcPts val="984"/>
              </a:lnSpc>
              <a:buNone/>
            </a:pPr>
            <a:r>
              <a:rPr lang="en-US" sz="1266" spc="-70" dirty="0">
                <a:solidFill>
                  <a:srgbClr val="000000"/>
                </a:solidFill>
                <a:latin typeface="Courier New" panose="22635452340000000000" pitchFamily="3"/>
              </a:rPr>
              <a:t>1000000111000001</a:t>
            </a:r>
          </a:p>
        </p:txBody>
      </p:sp>
      <p:sp>
        <p:nvSpPr>
          <p:cNvPr id="36" name="Text Placeholder 35"/>
          <p:cNvSpPr>
            <a:spLocks noGrp="1"/>
          </p:cNvSpPr>
          <p:nvPr>
            <p:ph type="body" idx="10"/>
          </p:nvPr>
        </p:nvSpPr>
        <p:spPr>
          <a:xfrm>
            <a:off x="8644867" y="279946"/>
            <a:ext cx="1323380" cy="4775150"/>
          </a:xfrm>
          <a:prstGeom prst="rect">
            <a:avLst/>
          </a:prstGeom>
          <a:noFill/>
          <a:ln w="0" cmpd="sng">
            <a:noFill/>
            <a:prstDash val="solid"/>
          </a:ln>
        </p:spPr>
        <p:txBody>
          <a:bodyPr vert="horz" lIns="0" tIns="450056" rIns="0" bIns="0" rtlCol="0" anchor="t">
            <a:normAutofit/>
          </a:bodyPr>
          <a:lstStyle/>
          <a:p>
            <a:pPr algn="l">
              <a:lnSpc>
                <a:spcPct val="95999"/>
              </a:lnSpc>
              <a:buNone/>
            </a:pPr>
            <a:r>
              <a:rPr lang="en-US" sz="1617" dirty="0">
                <a:solidFill>
                  <a:srgbClr val="000000"/>
                </a:solidFill>
                <a:latin typeface="Palatino Linotype" panose="22635452340000000000" pitchFamily="1"/>
              </a:rPr>
              <a:t>ASCII table:</a:t>
            </a:r>
          </a:p>
          <a:p>
            <a:pPr algn="l">
              <a:lnSpc>
                <a:spcPct val="95999"/>
              </a:lnSpc>
              <a:buNone/>
            </a:pPr>
            <a:r>
              <a:rPr lang="en-US" sz="1617" spc="-25" dirty="0">
                <a:solidFill>
                  <a:srgbClr val="000000"/>
                </a:solidFill>
                <a:latin typeface="Palatino Linotype" panose="22635452340000000000" pitchFamily="1"/>
              </a:rPr>
              <a:t>agreement for</a:t>
            </a:r>
          </a:p>
          <a:p>
            <a:pPr algn="l">
              <a:lnSpc>
                <a:spcPct val="95999"/>
              </a:lnSpc>
              <a:spcBef>
                <a:spcPts val="0"/>
              </a:spcBef>
              <a:buNone/>
            </a:pPr>
            <a:r>
              <a:rPr lang="en-US" sz="1617" dirty="0">
                <a:solidFill>
                  <a:srgbClr val="000000"/>
                </a:solidFill>
                <a:latin typeface="Palatino Linotype" panose="22635452340000000000" pitchFamily="1"/>
              </a:rPr>
              <a:t>the meaning</a:t>
            </a:r>
          </a:p>
          <a:p>
            <a:pPr algn="l">
              <a:lnSpc>
                <a:spcPct val="95999"/>
              </a:lnSpc>
              <a:spcBef>
                <a:spcPts val="0"/>
              </a:spcBef>
              <a:spcAft>
                <a:spcPts val="24173"/>
              </a:spcAft>
              <a:buNone/>
            </a:pPr>
            <a:r>
              <a:rPr lang="en-US" sz="1617" dirty="0">
                <a:solidFill>
                  <a:srgbClr val="000000"/>
                </a:solidFill>
                <a:latin typeface="Palatino Linotype" panose="22635452340000000000" pitchFamily="1"/>
              </a:rPr>
              <a:t>of bits</a:t>
            </a:r>
          </a:p>
        </p:txBody>
      </p:sp>
      <p:graphicFrame>
        <p:nvGraphicFramePr>
          <p:cNvPr id="39" name="table 39"/>
          <p:cNvGraphicFramePr>
            <a:graphicFrameLocks noGrp="1"/>
          </p:cNvGraphicFramePr>
          <p:nvPr/>
        </p:nvGraphicFramePr>
        <p:xfrm>
          <a:off x="2610184" y="5055096"/>
          <a:ext cx="7358063" cy="2400300"/>
        </p:xfrm>
        <a:graphic>
          <a:graphicData uri="http://schemas.openxmlformats.org/drawingml/2006/table">
            <a:tbl>
              <a:tblPr/>
              <a:tblGrid>
                <a:gridCol w="3256211">
                  <a:extLst>
                    <a:ext uri="{9D8B030D-6E8A-4147-A177-3AD203B41FA5}">
                      <a16:colId xmlns:a16="http://schemas.microsoft.com/office/drawing/2014/main" xmlns="" val="20000"/>
                    </a:ext>
                  </a:extLst>
                </a:gridCol>
                <a:gridCol w="4101852">
                  <a:extLst>
                    <a:ext uri="{9D8B030D-6E8A-4147-A177-3AD203B41FA5}">
                      <a16:colId xmlns:a16="http://schemas.microsoft.com/office/drawing/2014/main" xmlns="" val="20001"/>
                    </a:ext>
                  </a:extLst>
                </a:gridCol>
              </a:tblGrid>
              <a:tr h="1169789">
                <a:tc>
                  <a:txBody>
                    <a:bodyPr/>
                    <a:lstStyle/>
                    <a:p>
                      <a:pPr marL="0" marR="0" indent="0" algn="l">
                        <a:lnSpc>
                          <a:spcPct val="95999"/>
                        </a:lnSpc>
                        <a:spcBef>
                          <a:spcPts val="0"/>
                        </a:spcBef>
                        <a:spcAft>
                          <a:spcPts val="0"/>
                        </a:spcAft>
                      </a:pPr>
                      <a:r>
                        <a:rPr lang="en-US" sz="1600" spc="0" dirty="0">
                          <a:solidFill>
                            <a:srgbClr val="000000"/>
                          </a:solidFill>
                          <a:latin typeface="Palatino Linotype" panose="22635452340000000000" pitchFamily="1"/>
                        </a:rPr>
                        <a:t>Physically, RAM is</a:t>
                      </a:r>
                    </a:p>
                    <a:p>
                      <a:pPr marL="0" marR="0" indent="0" algn="l">
                        <a:lnSpc>
                          <a:spcPct val="95999"/>
                        </a:lnSpc>
                        <a:spcBef>
                          <a:spcPts val="0"/>
                        </a:spcBef>
                        <a:spcAft>
                          <a:spcPts val="0"/>
                        </a:spcAft>
                      </a:pPr>
                      <a:r>
                        <a:rPr lang="en-US" sz="1600" spc="0" dirty="0">
                          <a:solidFill>
                            <a:srgbClr val="000000"/>
                          </a:solidFill>
                          <a:latin typeface="Palatino Linotype" panose="22635452340000000000" pitchFamily="1"/>
                        </a:rPr>
                        <a:t>a random accessible</a:t>
                      </a:r>
                    </a:p>
                    <a:p>
                      <a:pPr marL="0" marR="0" indent="0" algn="l">
                        <a:lnSpc>
                          <a:spcPct val="119039"/>
                        </a:lnSpc>
                        <a:spcBef>
                          <a:spcPts val="720"/>
                        </a:spcBef>
                        <a:spcAft>
                          <a:spcPts val="0"/>
                        </a:spcAft>
                      </a:pPr>
                      <a:r>
                        <a:rPr lang="en-US" sz="1600" spc="0" dirty="0">
                          <a:solidFill>
                            <a:srgbClr val="000000"/>
                          </a:solidFill>
                          <a:latin typeface="Palatino Linotype" panose="22635452340000000000" pitchFamily="1"/>
                        </a:rPr>
                        <a:t>array of bits.</a:t>
                      </a:r>
                    </a:p>
                  </a:txBody>
                  <a:tcPr marL="0" marR="0" marT="0" marB="0">
                    <a:lnL w="0" cmpd="sng">
                      <a:noFill/>
                      <a:prstDash val="solid"/>
                    </a:lnL>
                    <a:lnR w="0" cmpd="sng">
                      <a:noFill/>
                      <a:prstDash val="solid"/>
                    </a:lnR>
                    <a:lnT w="0" cmpd="sng">
                      <a:noFill/>
                      <a:prstDash val="solid"/>
                    </a:lnT>
                    <a:lnB w="0" cmpd="sng">
                      <a:noFill/>
                      <a:prstDash val="solid"/>
                    </a:lnB>
                  </a:tcPr>
                </a:tc>
                <a:tc>
                  <a:txBody>
                    <a:bodyPr/>
                    <a:lstStyle/>
                    <a:p>
                      <a:pPr marL="1946275" marR="0" indent="0" algn="l">
                        <a:lnSpc>
                          <a:spcPts val="3100"/>
                        </a:lnSpc>
                        <a:spcBef>
                          <a:spcPts val="720"/>
                        </a:spcBef>
                        <a:spcAft>
                          <a:spcPts val="0"/>
                        </a:spcAft>
                      </a:pPr>
                      <a:r>
                        <a:rPr lang="en-US" sz="1600" spc="0" dirty="0">
                          <a:solidFill>
                            <a:srgbClr val="000000"/>
                          </a:solidFill>
                          <a:latin typeface="Palatino Linotype" panose="22635452340000000000" pitchFamily="1"/>
                        </a:rPr>
                        <a:t>=&gt; We can store and</a:t>
                      </a:r>
                    </a:p>
                    <a:p>
                      <a:pPr marL="1946275" marR="0" indent="0" algn="l">
                        <a:lnSpc>
                          <a:spcPts val="3300"/>
                        </a:lnSpc>
                        <a:spcBef>
                          <a:spcPts val="900"/>
                        </a:spcBef>
                        <a:spcAft>
                          <a:spcPts val="0"/>
                        </a:spcAft>
                      </a:pPr>
                      <a:r>
                        <a:rPr lang="en-US" sz="1600" spc="0" dirty="0">
                          <a:solidFill>
                            <a:srgbClr val="000000"/>
                          </a:solidFill>
                          <a:latin typeface="Palatino Linotype" panose="22635452340000000000" pitchFamily="1"/>
                        </a:rPr>
                        <a:t>manipulate arbitrary</a:t>
                      </a:r>
                    </a:p>
                    <a:p>
                      <a:pPr marL="1946275" marR="0" indent="0" algn="l">
                        <a:lnSpc>
                          <a:spcPts val="3100"/>
                        </a:lnSpc>
                        <a:spcBef>
                          <a:spcPts val="0"/>
                        </a:spcBef>
                        <a:spcAft>
                          <a:spcPts val="0"/>
                        </a:spcAft>
                      </a:pPr>
                      <a:r>
                        <a:rPr lang="en-US" sz="1600" spc="0" dirty="0">
                          <a:solidFill>
                            <a:srgbClr val="000000"/>
                          </a:solidFill>
                          <a:latin typeface="Palatino Linotype" panose="22635452340000000000" pitchFamily="1"/>
                        </a:rPr>
                        <a:t>symbols (like letters) and</a:t>
                      </a:r>
                    </a:p>
                    <a:p>
                      <a:pPr marL="1946275" marR="0" indent="0" algn="l">
                        <a:lnSpc>
                          <a:spcPts val="2700"/>
                        </a:lnSpc>
                        <a:spcBef>
                          <a:spcPts val="0"/>
                        </a:spcBef>
                        <a:spcAft>
                          <a:spcPts val="0"/>
                        </a:spcAft>
                      </a:pPr>
                      <a:r>
                        <a:rPr lang="en-US" sz="1600" spc="0" dirty="0">
                          <a:solidFill>
                            <a:srgbClr val="000000"/>
                          </a:solidFill>
                          <a:latin typeface="Palatino Linotype" panose="22635452340000000000" pitchFamily="1"/>
                        </a:rPr>
                        <a:t>associations between them.</a:t>
                      </a:r>
                    </a:p>
                  </a:txBody>
                  <a:tcPr marL="0" marR="0" marT="0" marB="0">
                    <a:lnL w="0" cmpd="sng">
                      <a:noFill/>
                      <a:prstDash val="solid"/>
                    </a:lnL>
                    <a:lnR w="0" cmpd="sng">
                      <a:noFill/>
                      <a:prstDash val="solid"/>
                    </a:lnR>
                    <a:lnT w="0" cmpd="sng">
                      <a:noFill/>
                      <a:prstDash val="solid"/>
                    </a:lnT>
                    <a:lnB w="0" cmpd="sng">
                      <a:noFill/>
                      <a:prstDash val="solid"/>
                    </a:lnB>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37163312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 Placeholder 41"/>
          <p:cNvSpPr>
            <a:spLocks noGrp="1"/>
          </p:cNvSpPr>
          <p:nvPr>
            <p:ph type="body" idx="10"/>
          </p:nvPr>
        </p:nvSpPr>
        <p:spPr>
          <a:xfrm>
            <a:off x="1602023" y="686023"/>
            <a:ext cx="3420070" cy="925562"/>
          </a:xfrm>
          <a:prstGeom prst="rect">
            <a:avLst/>
          </a:prstGeom>
          <a:noFill/>
          <a:ln w="0" cmpd="sng">
            <a:noFill/>
            <a:prstDash val="solid"/>
          </a:ln>
        </p:spPr>
        <p:txBody>
          <a:bodyPr vert="horz" lIns="0" tIns="112514" rIns="0" bIns="0" rtlCol="0" anchor="t">
            <a:normAutofit/>
          </a:bodyPr>
          <a:lstStyle/>
          <a:p>
            <a:pPr>
              <a:buNone/>
            </a:pPr>
            <a:r>
              <a:rPr lang="en-US" sz="2426" b="1" spc="-25" dirty="0">
                <a:solidFill>
                  <a:srgbClr val="000080"/>
                </a:solidFill>
                <a:latin typeface="Palatino Linotype" panose="22635452340000000000" pitchFamily="1"/>
              </a:rPr>
              <a:t>Digital Data Must Be ...</a:t>
            </a:r>
          </a:p>
        </p:txBody>
      </p:sp>
      <p:sp>
        <p:nvSpPr>
          <p:cNvPr id="43" name="Text Placeholder 42"/>
          <p:cNvSpPr>
            <a:spLocks noGrp="1"/>
          </p:cNvSpPr>
          <p:nvPr>
            <p:ph type="body" idx="10"/>
          </p:nvPr>
        </p:nvSpPr>
        <p:spPr>
          <a:xfrm>
            <a:off x="2369976" y="1469761"/>
            <a:ext cx="6784414" cy="810369"/>
          </a:xfrm>
          <a:prstGeom prst="rect">
            <a:avLst/>
          </a:prstGeom>
          <a:noFill/>
          <a:ln w="0" cmpd="sng">
            <a:noFill/>
            <a:prstDash val="solid"/>
          </a:ln>
        </p:spPr>
        <p:txBody>
          <a:bodyPr vert="horz" lIns="0" tIns="0" rIns="0" bIns="0" rtlCol="0" anchor="t">
            <a:normAutofit/>
          </a:bodyPr>
          <a:lstStyle/>
          <a:p>
            <a:pPr algn="l">
              <a:lnSpc>
                <a:spcPct val="95999"/>
              </a:lnSpc>
              <a:spcAft>
                <a:spcPts val="3037"/>
              </a:spcAft>
              <a:buNone/>
              <a:tabLst>
                <a:tab pos="5263417" algn="r"/>
              </a:tabLst>
            </a:pPr>
            <a:r>
              <a:rPr lang="en-US" sz="2400" dirty="0">
                <a:solidFill>
                  <a:srgbClr val="0000FF"/>
                </a:solidFill>
                <a:latin typeface="Palatino Linotype" panose="22635452340000000000" pitchFamily="1"/>
              </a:rPr>
              <a:t>Encoded</a:t>
            </a:r>
            <a:r>
              <a:rPr lang="en-US" sz="2215" dirty="0">
                <a:solidFill>
                  <a:srgbClr val="000000"/>
                </a:solidFill>
                <a:latin typeface="Palatino Linotype" panose="22635452340000000000" pitchFamily="1"/>
              </a:rPr>
              <a:t> (e.g. 01001001 &lt;-&gt;	)</a:t>
            </a:r>
          </a:p>
        </p:txBody>
      </p:sp>
      <p:sp>
        <p:nvSpPr>
          <p:cNvPr id="44" name="Text Placeholder 43"/>
          <p:cNvSpPr>
            <a:spLocks noGrp="1"/>
          </p:cNvSpPr>
          <p:nvPr>
            <p:ph type="body" idx="10"/>
          </p:nvPr>
        </p:nvSpPr>
        <p:spPr>
          <a:xfrm>
            <a:off x="2369975" y="2016770"/>
            <a:ext cx="6784415" cy="3868787"/>
          </a:xfrm>
          <a:prstGeom prst="rect">
            <a:avLst/>
          </a:prstGeom>
          <a:noFill/>
          <a:ln w="0" cmpd="sng">
            <a:noFill/>
            <a:prstDash val="solid"/>
          </a:ln>
        </p:spPr>
        <p:txBody>
          <a:bodyPr vert="horz" lIns="0" tIns="32147" rIns="0" bIns="0" rtlCol="0" anchor="t">
            <a:normAutofit lnSpcReduction="10000"/>
          </a:bodyPr>
          <a:lstStyle/>
          <a:p>
            <a:pPr algn="l">
              <a:lnSpc>
                <a:spcPct val="105599"/>
              </a:lnSpc>
              <a:spcAft>
                <a:spcPts val="0"/>
              </a:spcAft>
              <a:buNone/>
            </a:pPr>
            <a:r>
              <a:rPr lang="en-US" sz="2400" dirty="0">
                <a:solidFill>
                  <a:srgbClr val="FF0000"/>
                </a:solidFill>
                <a:latin typeface="Palatino Linotype" panose="22635452340000000000" pitchFamily="1"/>
              </a:rPr>
              <a:t>Arranged</a:t>
            </a:r>
          </a:p>
          <a:p>
            <a:pPr marL="257166" algn="l">
              <a:lnSpc>
                <a:spcPct val="95999"/>
              </a:lnSpc>
              <a:spcBef>
                <a:spcPts val="0"/>
              </a:spcBef>
              <a:spcAft>
                <a:spcPts val="0"/>
              </a:spcAft>
              <a:buNone/>
            </a:pPr>
            <a:r>
              <a:rPr lang="en-US" sz="2039" spc="7" dirty="0">
                <a:solidFill>
                  <a:srgbClr val="000000"/>
                </a:solidFill>
                <a:latin typeface="Palatino Linotype" panose="22635452340000000000" pitchFamily="1"/>
              </a:rPr>
              <a:t>- </a:t>
            </a:r>
            <a:r>
              <a:rPr lang="en-US" sz="2400" spc="7" dirty="0">
                <a:solidFill>
                  <a:srgbClr val="000000"/>
                </a:solidFill>
                <a:latin typeface="Palatino Linotype" panose="22635452340000000000" pitchFamily="1"/>
              </a:rPr>
              <a:t>Stored in an orderly way in memory / disk</a:t>
            </a:r>
            <a:endParaRPr lang="en-US" sz="1800" spc="7" dirty="0">
              <a:solidFill>
                <a:srgbClr val="000000"/>
              </a:solidFill>
              <a:latin typeface="Palatino Linotype" panose="22635452340000000000" pitchFamily="1"/>
            </a:endParaRPr>
          </a:p>
          <a:p>
            <a:pPr algn="l">
              <a:lnSpc>
                <a:spcPct val="95999"/>
              </a:lnSpc>
              <a:spcBef>
                <a:spcPts val="2784"/>
              </a:spcBef>
              <a:spcAft>
                <a:spcPts val="0"/>
              </a:spcAft>
              <a:buNone/>
            </a:pPr>
            <a:r>
              <a:rPr lang="en-US" sz="2400" dirty="0">
                <a:solidFill>
                  <a:srgbClr val="FF0000"/>
                </a:solidFill>
                <a:latin typeface="Palatino Linotype" panose="22635452340000000000" pitchFamily="1"/>
              </a:rPr>
              <a:t>Accessed</a:t>
            </a:r>
          </a:p>
          <a:p>
            <a:pPr marL="257166" algn="l">
              <a:lnSpc>
                <a:spcPct val="79679"/>
              </a:lnSpc>
              <a:spcBef>
                <a:spcPts val="633"/>
              </a:spcBef>
              <a:spcAft>
                <a:spcPts val="0"/>
              </a:spcAft>
              <a:buNone/>
            </a:pPr>
            <a:r>
              <a:rPr lang="en-US" dirty="0">
                <a:solidFill>
                  <a:srgbClr val="000000"/>
                </a:solidFill>
                <a:latin typeface="Palatino Linotype" panose="22635452340000000000" pitchFamily="1"/>
              </a:rPr>
              <a:t>- </a:t>
            </a:r>
            <a:r>
              <a:rPr lang="en-US" sz="2400" dirty="0">
                <a:solidFill>
                  <a:srgbClr val="000000"/>
                </a:solidFill>
                <a:latin typeface="Palatino Linotype" panose="22635452340000000000" pitchFamily="1"/>
              </a:rPr>
              <a:t>Insert new data</a:t>
            </a:r>
          </a:p>
          <a:p>
            <a:pPr marL="257166" algn="l">
              <a:lnSpc>
                <a:spcPct val="76799"/>
              </a:lnSpc>
              <a:spcBef>
                <a:spcPts val="506"/>
              </a:spcBef>
              <a:spcAft>
                <a:spcPts val="0"/>
              </a:spcAft>
              <a:buNone/>
            </a:pPr>
            <a:r>
              <a:rPr lang="en-US" sz="3200" dirty="0">
                <a:solidFill>
                  <a:srgbClr val="000000"/>
                </a:solidFill>
                <a:latin typeface="Palatino Linotype" panose="22635452340000000000" pitchFamily="1"/>
              </a:rPr>
              <a:t>- </a:t>
            </a:r>
            <a:r>
              <a:rPr lang="en-US" sz="2400" dirty="0">
                <a:solidFill>
                  <a:srgbClr val="000000"/>
                </a:solidFill>
                <a:latin typeface="Palatino Linotype" panose="22635452340000000000" pitchFamily="1"/>
              </a:rPr>
              <a:t>Remove old data</a:t>
            </a:r>
          </a:p>
          <a:p>
            <a:pPr marL="257166" algn="l">
              <a:lnSpc>
                <a:spcPct val="95999"/>
              </a:lnSpc>
              <a:spcBef>
                <a:spcPts val="0"/>
              </a:spcBef>
              <a:spcAft>
                <a:spcPts val="0"/>
              </a:spcAft>
              <a:buNone/>
            </a:pPr>
            <a:r>
              <a:rPr lang="en-US" sz="3200" dirty="0">
                <a:solidFill>
                  <a:srgbClr val="000000"/>
                </a:solidFill>
                <a:latin typeface="Palatino Linotype" panose="22635452340000000000" pitchFamily="1"/>
              </a:rPr>
              <a:t>- </a:t>
            </a:r>
            <a:r>
              <a:rPr lang="en-US" sz="2400" dirty="0">
                <a:solidFill>
                  <a:srgbClr val="000000"/>
                </a:solidFill>
                <a:latin typeface="Palatino Linotype" panose="22635452340000000000" pitchFamily="1"/>
              </a:rPr>
              <a:t>Find data matching some condition</a:t>
            </a:r>
            <a:endParaRPr lang="en-US" sz="2000" dirty="0">
              <a:solidFill>
                <a:srgbClr val="000000"/>
              </a:solidFill>
              <a:latin typeface="Palatino Linotype" panose="22635452340000000000" pitchFamily="1"/>
            </a:endParaRPr>
          </a:p>
          <a:p>
            <a:pPr algn="l">
              <a:lnSpc>
                <a:spcPct val="95999"/>
              </a:lnSpc>
              <a:spcBef>
                <a:spcPts val="3164"/>
              </a:spcBef>
              <a:spcAft>
                <a:spcPts val="0"/>
              </a:spcAft>
              <a:buNone/>
            </a:pPr>
            <a:r>
              <a:rPr lang="en-US" sz="2400" dirty="0">
                <a:solidFill>
                  <a:srgbClr val="0000FF"/>
                </a:solidFill>
                <a:latin typeface="Palatino Linotype" panose="22635452340000000000" pitchFamily="1"/>
              </a:rPr>
              <a:t>Processed</a:t>
            </a:r>
          </a:p>
          <a:p>
            <a:pPr marL="289312" algn="l">
              <a:lnSpc>
                <a:spcPct val="119999"/>
              </a:lnSpc>
              <a:spcBef>
                <a:spcPts val="759"/>
              </a:spcBef>
              <a:spcAft>
                <a:spcPts val="253"/>
              </a:spcAft>
              <a:buNone/>
            </a:pPr>
            <a:r>
              <a:rPr lang="en-US" sz="2000" spc="-21" dirty="0">
                <a:solidFill>
                  <a:srgbClr val="000000"/>
                </a:solidFill>
                <a:latin typeface="Palatino Linotype" panose="22635452340000000000" pitchFamily="1"/>
              </a:rPr>
              <a:t>Algorithms: shortest path, minimum cut, FFT, ...</a:t>
            </a:r>
          </a:p>
        </p:txBody>
      </p:sp>
      <p:pic>
        <p:nvPicPr>
          <p:cNvPr id="46" name="Image.jpg"/>
          <p:cNvPicPr/>
          <p:nvPr/>
        </p:nvPicPr>
        <p:blipFill>
          <a:blip r:embed="rId2"/>
          <a:stretch>
            <a:fillRect/>
          </a:stretch>
        </p:blipFill>
        <p:spPr>
          <a:xfrm>
            <a:off x="6096000" y="1469525"/>
            <a:ext cx="1371600" cy="310753"/>
          </a:xfrm>
          <a:prstGeom prst="rect">
            <a:avLst/>
          </a:prstGeom>
        </p:spPr>
      </p:pic>
      <p:sp>
        <p:nvSpPr>
          <p:cNvPr id="47" name="Text Placeholder 46"/>
          <p:cNvSpPr>
            <a:spLocks noGrp="1"/>
          </p:cNvSpPr>
          <p:nvPr>
            <p:ph type="body" idx="10"/>
          </p:nvPr>
        </p:nvSpPr>
        <p:spPr>
          <a:xfrm>
            <a:off x="8912028" y="2897643"/>
            <a:ext cx="1545282" cy="772864"/>
          </a:xfrm>
          <a:prstGeom prst="rect">
            <a:avLst/>
          </a:prstGeom>
          <a:noFill/>
          <a:ln w="0" cmpd="sng">
            <a:noFill/>
            <a:prstDash val="solid"/>
          </a:ln>
        </p:spPr>
        <p:txBody>
          <a:bodyPr vert="horz" lIns="0" tIns="0" rIns="0" bIns="0" rtlCol="0" anchor="t">
            <a:normAutofit fontScale="92500" lnSpcReduction="10000"/>
          </a:bodyPr>
          <a:lstStyle/>
          <a:p>
            <a:pPr>
              <a:lnSpc>
                <a:spcPts val="2953"/>
              </a:lnSpc>
              <a:spcAft>
                <a:spcPts val="0"/>
              </a:spcAft>
              <a:buNone/>
            </a:pPr>
            <a:r>
              <a:rPr lang="en-US" sz="2180" spc="-32" dirty="0">
                <a:solidFill>
                  <a:srgbClr val="000000"/>
                </a:solidFill>
                <a:latin typeface="Palatino Linotype" panose="22635452340000000000" pitchFamily="1"/>
              </a:rPr>
              <a:t>The focus of</a:t>
            </a:r>
          </a:p>
          <a:p>
            <a:pPr algn="l">
              <a:lnSpc>
                <a:spcPct val="98879"/>
              </a:lnSpc>
              <a:spcBef>
                <a:spcPts val="759"/>
              </a:spcBef>
              <a:spcAft>
                <a:spcPts val="0"/>
              </a:spcAft>
              <a:buNone/>
            </a:pPr>
            <a:r>
              <a:rPr lang="en-US" sz="2180" dirty="0">
                <a:solidFill>
                  <a:srgbClr val="000000"/>
                </a:solidFill>
                <a:latin typeface="Palatino Linotype" panose="22635452340000000000" pitchFamily="1"/>
              </a:rPr>
              <a:t>this class</a:t>
            </a:r>
          </a:p>
        </p:txBody>
      </p:sp>
    </p:spTree>
    <p:extLst>
      <p:ext uri="{BB962C8B-B14F-4D97-AF65-F5344CB8AC3E}">
        <p14:creationId xmlns:p14="http://schemas.microsoft.com/office/powerpoint/2010/main" val="12948590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 Placeholder 49"/>
          <p:cNvSpPr>
            <a:spLocks noGrp="1"/>
          </p:cNvSpPr>
          <p:nvPr>
            <p:ph type="body" idx="10"/>
          </p:nvPr>
        </p:nvSpPr>
        <p:spPr>
          <a:xfrm>
            <a:off x="1720052" y="2307877"/>
            <a:ext cx="9772293" cy="1640667"/>
          </a:xfrm>
          <a:prstGeom prst="rect">
            <a:avLst/>
          </a:prstGeom>
          <a:noFill/>
          <a:ln w="0" cmpd="sng">
            <a:noFill/>
            <a:prstDash val="solid"/>
          </a:ln>
        </p:spPr>
        <p:txBody>
          <a:bodyPr vert="horz" lIns="0" tIns="96441" rIns="0" bIns="0" rtlCol="0" anchor="t">
            <a:normAutofit/>
          </a:bodyPr>
          <a:lstStyle/>
          <a:p>
            <a:pPr marL="0" algn="ctr">
              <a:lnSpc>
                <a:spcPct val="95999"/>
              </a:lnSpc>
              <a:spcAft>
                <a:spcPts val="0"/>
              </a:spcAft>
              <a:buNone/>
            </a:pPr>
            <a:r>
              <a:rPr lang="en-US" b="1" dirty="0">
                <a:solidFill>
                  <a:srgbClr val="000080"/>
                </a:solidFill>
                <a:latin typeface="Palatino Linotype" panose="22635452340000000000" pitchFamily="1"/>
              </a:rPr>
              <a:t>Data Structures -&gt; Data Structuring</a:t>
            </a:r>
          </a:p>
          <a:p>
            <a:pPr marL="0" algn="ctr">
              <a:lnSpc>
                <a:spcPct val="110399"/>
              </a:lnSpc>
              <a:spcBef>
                <a:spcPts val="1392"/>
              </a:spcBef>
              <a:spcAft>
                <a:spcPts val="0"/>
              </a:spcAft>
              <a:buNone/>
            </a:pPr>
            <a:r>
              <a:rPr lang="en-US" sz="2400" spc="-32" dirty="0">
                <a:solidFill>
                  <a:srgbClr val="000000"/>
                </a:solidFill>
                <a:latin typeface="Palatino Linotype" panose="22635452340000000000" pitchFamily="1"/>
              </a:rPr>
              <a:t>How do we </a:t>
            </a:r>
            <a:r>
              <a:rPr lang="en-US" sz="2400" spc="-32" dirty="0">
                <a:solidFill>
                  <a:srgbClr val="FF0000"/>
                </a:solidFill>
                <a:latin typeface="Palatino Linotype" panose="22635452340000000000" pitchFamily="1"/>
              </a:rPr>
              <a:t>organize</a:t>
            </a:r>
            <a:r>
              <a:rPr lang="en-US" sz="2400" spc="-32" dirty="0">
                <a:solidFill>
                  <a:srgbClr val="000000"/>
                </a:solidFill>
                <a:latin typeface="Palatino Linotype" panose="22635452340000000000" pitchFamily="1"/>
              </a:rPr>
              <a:t> information so that we can </a:t>
            </a:r>
            <a:r>
              <a:rPr lang="en-US" sz="2400" spc="-32" dirty="0">
                <a:solidFill>
                  <a:srgbClr val="FF0000"/>
                </a:solidFill>
                <a:latin typeface="Palatino Linotype" panose="22635452340000000000" pitchFamily="1"/>
              </a:rPr>
              <a:t>find</a:t>
            </a:r>
            <a:r>
              <a:rPr lang="en-US" sz="2400" spc="-32" dirty="0">
                <a:solidFill>
                  <a:srgbClr val="000000"/>
                </a:solidFill>
                <a:latin typeface="Palatino Linotype" panose="22635452340000000000" pitchFamily="1"/>
              </a:rPr>
              <a:t>, </a:t>
            </a:r>
            <a:r>
              <a:rPr lang="en-US" sz="2400" spc="-14" dirty="0">
                <a:solidFill>
                  <a:srgbClr val="000000"/>
                </a:solidFill>
                <a:latin typeface="Palatino Linotype" panose="22635452340000000000" pitchFamily="1"/>
              </a:rPr>
              <a:t>update, add, and delete </a:t>
            </a:r>
            <a:r>
              <a:rPr lang="en-US" sz="2400" spc="-14" dirty="0">
                <a:solidFill>
                  <a:srgbClr val="FF0000"/>
                </a:solidFill>
                <a:latin typeface="Palatino Linotype" panose="22635452340000000000" pitchFamily="1"/>
              </a:rPr>
              <a:t>portions</a:t>
            </a:r>
            <a:r>
              <a:rPr lang="en-US" sz="2400" spc="-14" dirty="0">
                <a:solidFill>
                  <a:srgbClr val="000000"/>
                </a:solidFill>
                <a:latin typeface="Palatino Linotype" panose="22635452340000000000" pitchFamily="1"/>
              </a:rPr>
              <a:t> of it efficiently?</a:t>
            </a:r>
          </a:p>
        </p:txBody>
      </p:sp>
    </p:spTree>
    <p:extLst>
      <p:ext uri="{BB962C8B-B14F-4D97-AF65-F5344CB8AC3E}">
        <p14:creationId xmlns:p14="http://schemas.microsoft.com/office/powerpoint/2010/main" val="5031050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 Placeholder 58"/>
          <p:cNvSpPr>
            <a:spLocks noGrp="1"/>
          </p:cNvSpPr>
          <p:nvPr>
            <p:ph type="body" idx="10"/>
          </p:nvPr>
        </p:nvSpPr>
        <p:spPr>
          <a:xfrm>
            <a:off x="2131824" y="653478"/>
            <a:ext cx="9526776" cy="5612240"/>
          </a:xfrm>
          <a:prstGeom prst="rect">
            <a:avLst/>
          </a:prstGeom>
          <a:noFill/>
          <a:ln w="0" cmpd="sng">
            <a:noFill/>
            <a:prstDash val="solid"/>
          </a:ln>
        </p:spPr>
        <p:txBody>
          <a:bodyPr vert="horz" lIns="0" tIns="48220" rIns="0" bIns="0" rtlCol="0" anchor="t">
            <a:normAutofit fontScale="32500" lnSpcReduction="20000"/>
          </a:bodyPr>
          <a:lstStyle/>
          <a:p>
            <a:pPr marL="0">
              <a:lnSpc>
                <a:spcPts val="3586"/>
              </a:lnSpc>
              <a:buNone/>
            </a:pPr>
            <a:r>
              <a:rPr lang="en-US" sz="8000" b="1" dirty="0">
                <a:solidFill>
                  <a:srgbClr val="000080"/>
                </a:solidFill>
                <a:latin typeface="Palatino Linotype" panose="22635452340000000000" pitchFamily="1"/>
              </a:rPr>
              <a:t>Data Structure Example Applications</a:t>
            </a:r>
          </a:p>
          <a:p>
            <a:pPr marL="225020" indent="289312">
              <a:lnSpc>
                <a:spcPts val="3164"/>
              </a:lnSpc>
              <a:spcBef>
                <a:spcPts val="1898"/>
              </a:spcBef>
            </a:pPr>
            <a:r>
              <a:rPr lang="en-US" sz="7400" dirty="0">
                <a:solidFill>
                  <a:srgbClr val="000000"/>
                </a:solidFill>
                <a:latin typeface="Palatino Linotype" panose="22635452340000000000" pitchFamily="1"/>
              </a:rPr>
              <a:t>How does </a:t>
            </a:r>
            <a:r>
              <a:rPr lang="en-US" sz="7400" dirty="0">
                <a:solidFill>
                  <a:srgbClr val="FF0000"/>
                </a:solidFill>
                <a:latin typeface="Palatino Linotype" panose="22635452340000000000" pitchFamily="1"/>
              </a:rPr>
              <a:t>Google </a:t>
            </a:r>
            <a:r>
              <a:rPr lang="en-US" sz="7400" dirty="0">
                <a:solidFill>
                  <a:srgbClr val="000000"/>
                </a:solidFill>
                <a:latin typeface="Palatino Linotype" panose="22635452340000000000" pitchFamily="1"/>
              </a:rPr>
              <a:t>quickly find </a:t>
            </a:r>
            <a:r>
              <a:rPr lang="en-US" sz="7400" dirty="0">
                <a:solidFill>
                  <a:srgbClr val="FF0000"/>
                </a:solidFill>
                <a:latin typeface="Palatino Linotype" panose="22635452340000000000" pitchFamily="1"/>
              </a:rPr>
              <a:t>web pages </a:t>
            </a:r>
            <a:r>
              <a:rPr lang="en-US" sz="7400" dirty="0">
                <a:solidFill>
                  <a:srgbClr val="000000"/>
                </a:solidFill>
                <a:latin typeface="Palatino Linotype" panose="22635452340000000000" pitchFamily="1"/>
              </a:rPr>
              <a:t>that contain a</a:t>
            </a:r>
          </a:p>
          <a:p>
            <a:pPr>
              <a:lnSpc>
                <a:spcPts val="2601"/>
              </a:lnSpc>
              <a:buNone/>
            </a:pPr>
            <a:r>
              <a:rPr lang="en-US" sz="7400" dirty="0">
                <a:solidFill>
                  <a:srgbClr val="000000"/>
                </a:solidFill>
                <a:latin typeface="Palatino Linotype" panose="22635452340000000000" pitchFamily="1"/>
              </a:rPr>
              <a:t>search term?</a:t>
            </a:r>
          </a:p>
          <a:p>
            <a:pPr marL="225020" indent="289312">
              <a:lnSpc>
                <a:spcPts val="3234"/>
              </a:lnSpc>
              <a:spcBef>
                <a:spcPts val="1772"/>
              </a:spcBef>
            </a:pPr>
            <a:r>
              <a:rPr lang="en-US" sz="7400" dirty="0">
                <a:solidFill>
                  <a:srgbClr val="000000"/>
                </a:solidFill>
                <a:latin typeface="Palatino Linotype" panose="22635452340000000000" pitchFamily="1"/>
              </a:rPr>
              <a:t>What’s the fastest way to </a:t>
            </a:r>
            <a:r>
              <a:rPr lang="en-US" sz="7400" dirty="0">
                <a:solidFill>
                  <a:srgbClr val="FF0000"/>
                </a:solidFill>
                <a:latin typeface="Palatino Linotype" panose="22635452340000000000" pitchFamily="1"/>
              </a:rPr>
              <a:t>broadcast a message </a:t>
            </a:r>
            <a:r>
              <a:rPr lang="en-US" sz="7400" dirty="0">
                <a:solidFill>
                  <a:srgbClr val="000000"/>
                </a:solidFill>
                <a:latin typeface="Palatino Linotype" panose="22635452340000000000" pitchFamily="1"/>
              </a:rPr>
              <a:t>to a network</a:t>
            </a:r>
          </a:p>
          <a:p>
            <a:pPr>
              <a:lnSpc>
                <a:spcPts val="3164"/>
              </a:lnSpc>
              <a:buNone/>
            </a:pPr>
            <a:r>
              <a:rPr lang="en-US" sz="7400" dirty="0">
                <a:solidFill>
                  <a:srgbClr val="000000"/>
                </a:solidFill>
                <a:latin typeface="Palatino Linotype" panose="22635452340000000000" pitchFamily="1"/>
              </a:rPr>
              <a:t>of computers?</a:t>
            </a:r>
          </a:p>
          <a:p>
            <a:pPr marL="225020" indent="289312">
              <a:lnSpc>
                <a:spcPts val="3234"/>
              </a:lnSpc>
              <a:spcBef>
                <a:spcPts val="1392"/>
              </a:spcBef>
            </a:pPr>
            <a:r>
              <a:rPr lang="en-US" sz="7400" dirty="0">
                <a:solidFill>
                  <a:srgbClr val="000000"/>
                </a:solidFill>
                <a:latin typeface="Palatino Linotype" panose="22635452340000000000" pitchFamily="1"/>
              </a:rPr>
              <a:t>How can a </a:t>
            </a:r>
            <a:r>
              <a:rPr lang="en-US" sz="7400" dirty="0">
                <a:solidFill>
                  <a:srgbClr val="FF0000"/>
                </a:solidFill>
                <a:latin typeface="Palatino Linotype" panose="22635452340000000000" pitchFamily="1"/>
              </a:rPr>
              <a:t>subsequence of DNA </a:t>
            </a:r>
            <a:r>
              <a:rPr lang="en-US" sz="7400" dirty="0">
                <a:solidFill>
                  <a:srgbClr val="000000"/>
                </a:solidFill>
                <a:latin typeface="Palatino Linotype" panose="22635452340000000000" pitchFamily="1"/>
              </a:rPr>
              <a:t>be quickly found within</a:t>
            </a:r>
          </a:p>
          <a:p>
            <a:pPr>
              <a:lnSpc>
                <a:spcPts val="3164"/>
              </a:lnSpc>
              <a:buNone/>
            </a:pPr>
            <a:r>
              <a:rPr lang="en-US" sz="7400" dirty="0">
                <a:solidFill>
                  <a:srgbClr val="000000"/>
                </a:solidFill>
                <a:latin typeface="Palatino Linotype" panose="22635452340000000000" pitchFamily="1"/>
              </a:rPr>
              <a:t>the genome?</a:t>
            </a:r>
          </a:p>
          <a:p>
            <a:pPr marL="225020" indent="289312">
              <a:lnSpc>
                <a:spcPts val="3234"/>
              </a:lnSpc>
              <a:spcBef>
                <a:spcPts val="1392"/>
              </a:spcBef>
            </a:pPr>
            <a:r>
              <a:rPr lang="en-US" sz="7400" dirty="0">
                <a:solidFill>
                  <a:srgbClr val="000000"/>
                </a:solidFill>
                <a:latin typeface="Palatino Linotype" panose="22635452340000000000" pitchFamily="1"/>
              </a:rPr>
              <a:t>How does your </a:t>
            </a:r>
            <a:r>
              <a:rPr lang="en-US" sz="7400" dirty="0">
                <a:solidFill>
                  <a:srgbClr val="FF0000"/>
                </a:solidFill>
                <a:latin typeface="Palatino Linotype" panose="22635452340000000000" pitchFamily="1"/>
              </a:rPr>
              <a:t>operating system track </a:t>
            </a:r>
            <a:r>
              <a:rPr lang="en-US" sz="7400" dirty="0">
                <a:solidFill>
                  <a:srgbClr val="000000"/>
                </a:solidFill>
                <a:latin typeface="Palatino Linotype" panose="22635452340000000000" pitchFamily="1"/>
              </a:rPr>
              <a:t>which memory</a:t>
            </a:r>
          </a:p>
          <a:p>
            <a:pPr>
              <a:lnSpc>
                <a:spcPts val="2953"/>
              </a:lnSpc>
              <a:buNone/>
            </a:pPr>
            <a:r>
              <a:rPr lang="en-US" sz="7400" dirty="0">
                <a:solidFill>
                  <a:srgbClr val="000000"/>
                </a:solidFill>
                <a:latin typeface="Palatino Linotype" panose="22635452340000000000" pitchFamily="1"/>
              </a:rPr>
              <a:t>(disk or </a:t>
            </a:r>
            <a:r>
              <a:rPr lang="en-US" sz="7400" dirty="0">
                <a:solidFill>
                  <a:srgbClr val="FF0000"/>
                </a:solidFill>
                <a:latin typeface="Palatino Linotype" panose="22635452340000000000" pitchFamily="1"/>
              </a:rPr>
              <a:t>RAM</a:t>
            </a:r>
            <a:r>
              <a:rPr lang="en-US" sz="7400" dirty="0">
                <a:solidFill>
                  <a:srgbClr val="000000"/>
                </a:solidFill>
                <a:latin typeface="Palatino Linotype" panose="22635452340000000000" pitchFamily="1"/>
              </a:rPr>
              <a:t>) is free</a:t>
            </a:r>
            <a:r>
              <a:rPr lang="en-US" sz="7400" dirty="0" smtClean="0">
                <a:solidFill>
                  <a:srgbClr val="000000"/>
                </a:solidFill>
                <a:latin typeface="Palatino Linotype" panose="22635452340000000000" pitchFamily="1"/>
              </a:rPr>
              <a:t>?</a:t>
            </a:r>
            <a:endParaRPr lang="en-US" sz="7400" dirty="0">
              <a:solidFill>
                <a:srgbClr val="000000"/>
              </a:solidFill>
              <a:latin typeface="Palatino Linotype" panose="22635452340000000000" pitchFamily="1"/>
            </a:endParaRPr>
          </a:p>
        </p:txBody>
      </p:sp>
    </p:spTree>
    <p:extLst>
      <p:ext uri="{BB962C8B-B14F-4D97-AF65-F5344CB8AC3E}">
        <p14:creationId xmlns:p14="http://schemas.microsoft.com/office/powerpoint/2010/main" val="23653595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 Placeholder 61"/>
          <p:cNvSpPr>
            <a:spLocks noGrp="1"/>
          </p:cNvSpPr>
          <p:nvPr>
            <p:ph type="body" idx="10"/>
          </p:nvPr>
        </p:nvSpPr>
        <p:spPr>
          <a:xfrm>
            <a:off x="2224452" y="766123"/>
            <a:ext cx="8665221" cy="5489204"/>
          </a:xfrm>
          <a:prstGeom prst="rect">
            <a:avLst/>
          </a:prstGeom>
          <a:noFill/>
          <a:ln w="0" cmpd="sng">
            <a:noFill/>
            <a:prstDash val="solid"/>
          </a:ln>
        </p:spPr>
        <p:txBody>
          <a:bodyPr vert="horz" lIns="0" tIns="112514" rIns="0" bIns="0" rtlCol="0" anchor="t">
            <a:normAutofit/>
          </a:bodyPr>
          <a:lstStyle/>
          <a:p>
            <a:pPr marL="0" indent="0">
              <a:spcAft>
                <a:spcPts val="0"/>
              </a:spcAft>
              <a:buNone/>
            </a:pPr>
            <a:r>
              <a:rPr lang="en-US" sz="2426" b="1" dirty="0">
                <a:solidFill>
                  <a:srgbClr val="000080"/>
                </a:solidFill>
                <a:latin typeface="Palatino Linotype" panose="22635452340000000000" pitchFamily="1"/>
              </a:rPr>
              <a:t>What is a Data Structure Anyway?</a:t>
            </a:r>
          </a:p>
          <a:p>
            <a:pPr marL="225020" indent="0">
              <a:spcBef>
                <a:spcPts val="2405"/>
              </a:spcBef>
              <a:spcAft>
                <a:spcPts val="0"/>
              </a:spcAft>
              <a:buNone/>
            </a:pPr>
            <a:r>
              <a:rPr lang="en-US" sz="2180" dirty="0">
                <a:solidFill>
                  <a:srgbClr val="000000"/>
                </a:solidFill>
                <a:latin typeface="Palatino Linotype" panose="22635452340000000000" pitchFamily="1"/>
              </a:rPr>
              <a:t>It’s an agreement about:</a:t>
            </a:r>
          </a:p>
          <a:p>
            <a:pPr>
              <a:spcBef>
                <a:spcPts val="633"/>
              </a:spcBef>
              <a:spcAft>
                <a:spcPts val="0"/>
              </a:spcAft>
            </a:pPr>
            <a:r>
              <a:rPr lang="en-US" sz="2400" spc="-14" dirty="0">
                <a:solidFill>
                  <a:srgbClr val="000000"/>
                </a:solidFill>
                <a:latin typeface="Palatino Linotype" panose="22635452340000000000" pitchFamily="1"/>
              </a:rPr>
              <a:t>how to </a:t>
            </a:r>
            <a:r>
              <a:rPr lang="en-US" sz="2400" spc="-14" dirty="0">
                <a:solidFill>
                  <a:srgbClr val="FF0000"/>
                </a:solidFill>
                <a:latin typeface="Palatino Linotype" panose="22635452340000000000" pitchFamily="1"/>
              </a:rPr>
              <a:t>store</a:t>
            </a:r>
            <a:r>
              <a:rPr lang="en-US" sz="2400" spc="-14" dirty="0">
                <a:solidFill>
                  <a:srgbClr val="000000"/>
                </a:solidFill>
                <a:latin typeface="Palatino Linotype" panose="22635452340000000000" pitchFamily="1"/>
              </a:rPr>
              <a:t> a collection of objects in memory,</a:t>
            </a:r>
          </a:p>
          <a:p>
            <a:pPr>
              <a:lnSpc>
                <a:spcPct val="113279"/>
              </a:lnSpc>
              <a:spcAft>
                <a:spcPts val="0"/>
              </a:spcAft>
            </a:pPr>
            <a:r>
              <a:rPr lang="en-US" sz="2400" spc="-7" dirty="0">
                <a:solidFill>
                  <a:srgbClr val="000000"/>
                </a:solidFill>
                <a:latin typeface="Palatino Linotype" panose="22635452340000000000" pitchFamily="1"/>
              </a:rPr>
              <a:t>what </a:t>
            </a:r>
            <a:r>
              <a:rPr lang="en-US" sz="2400" spc="-7" dirty="0">
                <a:solidFill>
                  <a:srgbClr val="FF0000"/>
                </a:solidFill>
                <a:latin typeface="Palatino Linotype" panose="22635452340000000000" pitchFamily="1"/>
              </a:rPr>
              <a:t>operations</a:t>
            </a:r>
            <a:r>
              <a:rPr lang="en-US" sz="2400" spc="-7" dirty="0">
                <a:solidFill>
                  <a:srgbClr val="000000"/>
                </a:solidFill>
                <a:latin typeface="Palatino Linotype" panose="22635452340000000000" pitchFamily="1"/>
              </a:rPr>
              <a:t> we can </a:t>
            </a:r>
            <a:r>
              <a:rPr lang="en-US" sz="2400" spc="-7" dirty="0">
                <a:solidFill>
                  <a:srgbClr val="FF0000"/>
                </a:solidFill>
                <a:latin typeface="Palatino Linotype" panose="22635452340000000000" pitchFamily="1"/>
              </a:rPr>
              <a:t>perform</a:t>
            </a:r>
            <a:r>
              <a:rPr lang="en-US" sz="2400" spc="-7" dirty="0">
                <a:solidFill>
                  <a:srgbClr val="000000"/>
                </a:solidFill>
                <a:latin typeface="Palatino Linotype" panose="22635452340000000000" pitchFamily="1"/>
              </a:rPr>
              <a:t> on that data,</a:t>
            </a:r>
          </a:p>
          <a:p>
            <a:pPr>
              <a:lnSpc>
                <a:spcPct val="113279"/>
              </a:lnSpc>
              <a:spcAft>
                <a:spcPts val="0"/>
              </a:spcAft>
            </a:pPr>
            <a:r>
              <a:rPr lang="en-US" sz="2400" spc="-7" dirty="0">
                <a:solidFill>
                  <a:srgbClr val="000000"/>
                </a:solidFill>
                <a:latin typeface="Palatino Linotype" panose="22635452340000000000" pitchFamily="1"/>
              </a:rPr>
              <a:t>the </a:t>
            </a:r>
            <a:r>
              <a:rPr lang="en-US" sz="2400" spc="-7" dirty="0">
                <a:solidFill>
                  <a:srgbClr val="FF0000"/>
                </a:solidFill>
                <a:latin typeface="Palatino Linotype" panose="22635452340000000000" pitchFamily="1"/>
              </a:rPr>
              <a:t>algorithms</a:t>
            </a:r>
            <a:r>
              <a:rPr lang="en-US" sz="2400" spc="-7" dirty="0">
                <a:solidFill>
                  <a:srgbClr val="000000"/>
                </a:solidFill>
                <a:latin typeface="Palatino Linotype" panose="22635452340000000000" pitchFamily="1"/>
              </a:rPr>
              <a:t> for those operations, and</a:t>
            </a:r>
          </a:p>
          <a:p>
            <a:pPr>
              <a:spcAft>
                <a:spcPts val="0"/>
              </a:spcAft>
            </a:pPr>
            <a:r>
              <a:rPr lang="en-US" sz="2400" spc="-14" dirty="0">
                <a:solidFill>
                  <a:srgbClr val="000000"/>
                </a:solidFill>
                <a:latin typeface="Palatino Linotype" panose="22635452340000000000" pitchFamily="1"/>
              </a:rPr>
              <a:t>how </a:t>
            </a:r>
            <a:r>
              <a:rPr lang="en-US" sz="2400" spc="-14" dirty="0">
                <a:solidFill>
                  <a:srgbClr val="FF0000"/>
                </a:solidFill>
                <a:latin typeface="Palatino Linotype" panose="22635452340000000000" pitchFamily="1"/>
              </a:rPr>
              <a:t>time and space efficient </a:t>
            </a:r>
            <a:r>
              <a:rPr lang="en-US" sz="2400" spc="-14" dirty="0">
                <a:solidFill>
                  <a:srgbClr val="000000"/>
                </a:solidFill>
                <a:latin typeface="Palatino Linotype" panose="22635452340000000000" pitchFamily="1"/>
              </a:rPr>
              <a:t>those algorithms are</a:t>
            </a:r>
            <a:r>
              <a:rPr lang="en-US" sz="2400" spc="-14" dirty="0" smtClean="0">
                <a:solidFill>
                  <a:srgbClr val="000000"/>
                </a:solidFill>
                <a:latin typeface="Palatino Linotype" panose="22635452340000000000" pitchFamily="1"/>
              </a:rPr>
              <a:t>.</a:t>
            </a:r>
            <a:endParaRPr lang="en-US" sz="2400" spc="-14" dirty="0">
              <a:solidFill>
                <a:srgbClr val="000000"/>
              </a:solidFill>
              <a:latin typeface="Palatino Linotype" panose="22635452340000000000" pitchFamily="1"/>
            </a:endParaRPr>
          </a:p>
        </p:txBody>
      </p:sp>
    </p:spTree>
    <p:extLst>
      <p:ext uri="{BB962C8B-B14F-4D97-AF65-F5344CB8AC3E}">
        <p14:creationId xmlns:p14="http://schemas.microsoft.com/office/powerpoint/2010/main" val="28518385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 Placeholder 61"/>
          <p:cNvSpPr>
            <a:spLocks noGrp="1"/>
          </p:cNvSpPr>
          <p:nvPr>
            <p:ph type="body" idx="10"/>
          </p:nvPr>
        </p:nvSpPr>
        <p:spPr>
          <a:xfrm>
            <a:off x="738552" y="454395"/>
            <a:ext cx="11013566" cy="6185396"/>
          </a:xfrm>
          <a:prstGeom prst="rect">
            <a:avLst/>
          </a:prstGeom>
          <a:noFill/>
          <a:ln w="0" cmpd="sng">
            <a:noFill/>
            <a:prstDash val="solid"/>
          </a:ln>
        </p:spPr>
        <p:txBody>
          <a:bodyPr vert="horz" lIns="0" tIns="112514" rIns="0" bIns="0" rtlCol="0" anchor="t">
            <a:normAutofit fontScale="92500" lnSpcReduction="20000"/>
          </a:bodyPr>
          <a:lstStyle/>
          <a:p>
            <a:pPr marL="0" indent="0">
              <a:spcAft>
                <a:spcPts val="0"/>
              </a:spcAft>
              <a:buNone/>
            </a:pPr>
            <a:r>
              <a:rPr lang="en-US" sz="2426" b="1" dirty="0" smtClean="0">
                <a:solidFill>
                  <a:srgbClr val="000080"/>
                </a:solidFill>
                <a:latin typeface="Palatino Linotype" panose="22635452340000000000" pitchFamily="1"/>
              </a:rPr>
              <a:t>Why To learn  </a:t>
            </a:r>
            <a:r>
              <a:rPr lang="en-US" sz="2426" b="1" dirty="0">
                <a:solidFill>
                  <a:srgbClr val="000080"/>
                </a:solidFill>
                <a:latin typeface="Palatino Linotype" panose="22635452340000000000" pitchFamily="1"/>
              </a:rPr>
              <a:t>Data Structure </a:t>
            </a:r>
            <a:r>
              <a:rPr lang="en-US" sz="2426" b="1" dirty="0" smtClean="0">
                <a:solidFill>
                  <a:srgbClr val="000080"/>
                </a:solidFill>
                <a:latin typeface="Palatino Linotype" panose="22635452340000000000" pitchFamily="1"/>
              </a:rPr>
              <a:t>&amp; Algorithms?</a:t>
            </a:r>
            <a:endParaRPr lang="en-US" sz="2426" b="1" dirty="0">
              <a:solidFill>
                <a:srgbClr val="000080"/>
              </a:solidFill>
              <a:latin typeface="Palatino Linotype" panose="22635452340000000000" pitchFamily="1"/>
            </a:endParaRPr>
          </a:p>
          <a:p>
            <a:pPr marL="225020" indent="0" algn="just">
              <a:spcBef>
                <a:spcPts val="2405"/>
              </a:spcBef>
              <a:spcAft>
                <a:spcPts val="0"/>
              </a:spcAft>
              <a:buNone/>
            </a:pPr>
            <a:r>
              <a:rPr lang="en-GB" sz="2400" dirty="0"/>
              <a:t>As applications are </a:t>
            </a:r>
            <a:r>
              <a:rPr lang="en-GB" sz="2400" dirty="0">
                <a:solidFill>
                  <a:srgbClr val="FF0000"/>
                </a:solidFill>
              </a:rPr>
              <a:t>getting complex </a:t>
            </a:r>
            <a:r>
              <a:rPr lang="en-GB" sz="2400" dirty="0"/>
              <a:t>and </a:t>
            </a:r>
            <a:r>
              <a:rPr lang="en-GB" sz="2400" dirty="0">
                <a:solidFill>
                  <a:srgbClr val="FF0000"/>
                </a:solidFill>
              </a:rPr>
              <a:t>data rich</a:t>
            </a:r>
            <a:r>
              <a:rPr lang="en-GB" sz="2400" dirty="0"/>
              <a:t>, there are three common </a:t>
            </a:r>
            <a:r>
              <a:rPr lang="en-GB" sz="2400" dirty="0" smtClean="0"/>
              <a:t>problems that </a:t>
            </a:r>
            <a:r>
              <a:rPr lang="en-GB" sz="2400" dirty="0"/>
              <a:t>applications face now-a-days.</a:t>
            </a:r>
            <a:r>
              <a:rPr lang="en-GB" sz="2400" dirty="0"/>
              <a:t> </a:t>
            </a:r>
            <a:br>
              <a:rPr lang="en-GB" sz="2400" dirty="0"/>
            </a:br>
            <a:endParaRPr lang="en-GB" sz="2400" dirty="0" smtClean="0"/>
          </a:p>
          <a:p>
            <a:pPr marL="225020" indent="0" algn="just">
              <a:spcBef>
                <a:spcPts val="2405"/>
              </a:spcBef>
              <a:spcAft>
                <a:spcPts val="0"/>
              </a:spcAft>
              <a:buNone/>
            </a:pPr>
            <a:r>
              <a:rPr lang="en-GB" sz="2400" b="1" dirty="0" smtClean="0">
                <a:solidFill>
                  <a:srgbClr val="FF0000"/>
                </a:solidFill>
              </a:rPr>
              <a:t>Data </a:t>
            </a:r>
            <a:r>
              <a:rPr lang="en-GB" sz="2400" b="1" dirty="0">
                <a:solidFill>
                  <a:srgbClr val="FF0000"/>
                </a:solidFill>
              </a:rPr>
              <a:t>Search </a:t>
            </a:r>
            <a:r>
              <a:rPr lang="en-GB" sz="2400" dirty="0"/>
              <a:t>- Consider an inventory of 1 million(10 ) items of a store. If the</a:t>
            </a:r>
            <a:br>
              <a:rPr lang="en-GB" sz="2400" dirty="0"/>
            </a:br>
            <a:r>
              <a:rPr lang="en-GB" sz="2400" dirty="0"/>
              <a:t>application is to search an item, it has to search an item in 1 million(10 ) items</a:t>
            </a:r>
            <a:br>
              <a:rPr lang="en-GB" sz="2400" dirty="0"/>
            </a:br>
            <a:r>
              <a:rPr lang="en-GB" sz="2400" dirty="0"/>
              <a:t>every time slowing down the search. As data grows, search will become slower</a:t>
            </a:r>
            <a:r>
              <a:rPr lang="en-GB" sz="2400" dirty="0" smtClean="0"/>
              <a:t>.</a:t>
            </a:r>
          </a:p>
          <a:p>
            <a:pPr marL="225020" indent="0">
              <a:spcBef>
                <a:spcPts val="2405"/>
              </a:spcBef>
              <a:spcAft>
                <a:spcPts val="0"/>
              </a:spcAft>
              <a:buNone/>
            </a:pPr>
            <a:r>
              <a:rPr lang="en-GB" sz="2400" b="1" dirty="0">
                <a:solidFill>
                  <a:srgbClr val="FF0000"/>
                </a:solidFill>
              </a:rPr>
              <a:t>Processor speed </a:t>
            </a:r>
            <a:r>
              <a:rPr lang="en-GB" sz="2400" dirty="0"/>
              <a:t>- Processor speed although being very high, falls limited if the</a:t>
            </a:r>
            <a:br>
              <a:rPr lang="en-GB" sz="2400" dirty="0"/>
            </a:br>
            <a:r>
              <a:rPr lang="en-GB" sz="2400" dirty="0"/>
              <a:t>data grows to billion records </a:t>
            </a:r>
            <a:br>
              <a:rPr lang="en-GB" sz="2400" dirty="0"/>
            </a:br>
            <a:r>
              <a:rPr lang="en-GB" sz="2400" dirty="0"/>
              <a:t> </a:t>
            </a:r>
            <a:endParaRPr lang="en-GB" sz="2400" dirty="0" smtClean="0"/>
          </a:p>
          <a:p>
            <a:pPr marL="225020" indent="0">
              <a:spcBef>
                <a:spcPts val="2405"/>
              </a:spcBef>
              <a:spcAft>
                <a:spcPts val="0"/>
              </a:spcAft>
              <a:buNone/>
            </a:pPr>
            <a:r>
              <a:rPr lang="en-GB" sz="2400" b="1" dirty="0">
                <a:solidFill>
                  <a:srgbClr val="FF0000"/>
                </a:solidFill>
              </a:rPr>
              <a:t>Multiple requests </a:t>
            </a:r>
            <a:r>
              <a:rPr lang="en-GB" sz="2400" dirty="0"/>
              <a:t>- </a:t>
            </a:r>
            <a:r>
              <a:rPr lang="en-GB" sz="2400" dirty="0"/>
              <a:t>As thousands of users can search data simultaneously on a</a:t>
            </a:r>
            <a:br>
              <a:rPr lang="en-GB" sz="2400" dirty="0"/>
            </a:br>
            <a:r>
              <a:rPr lang="en-GB" sz="2400" dirty="0"/>
              <a:t>web server, even the fast server fails while searching the data </a:t>
            </a:r>
            <a:br>
              <a:rPr lang="en-GB" sz="2400" dirty="0"/>
            </a:br>
            <a:r>
              <a:rPr lang="en-GB" sz="2400" dirty="0"/>
              <a:t/>
            </a:r>
            <a:br>
              <a:rPr lang="en-GB" sz="2400" dirty="0"/>
            </a:br>
            <a:endParaRPr lang="en-US" sz="2400" dirty="0"/>
          </a:p>
        </p:txBody>
      </p:sp>
    </p:spTree>
    <p:extLst>
      <p:ext uri="{BB962C8B-B14F-4D97-AF65-F5344CB8AC3E}">
        <p14:creationId xmlns:p14="http://schemas.microsoft.com/office/powerpoint/2010/main" val="17261836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8196D62F-D456-CBCB-7F1D-C8D2241F42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3" name="Footer Placeholder 2">
            <a:extLst>
              <a:ext uri="{FF2B5EF4-FFF2-40B4-BE49-F238E27FC236}">
                <a16:creationId xmlns:a16="http://schemas.microsoft.com/office/drawing/2014/main" xmlns="" id="{F65DA259-B767-5196-B618-22675CD410C7}"/>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
        <p:nvSpPr>
          <p:cNvPr id="7" name="TextBox 6">
            <a:extLst>
              <a:ext uri="{FF2B5EF4-FFF2-40B4-BE49-F238E27FC236}">
                <a16:creationId xmlns:a16="http://schemas.microsoft.com/office/drawing/2014/main" xmlns="" id="{190696C8-4398-965A-DF33-C21B7CA14FF7}"/>
              </a:ext>
            </a:extLst>
          </p:cNvPr>
          <p:cNvSpPr txBox="1"/>
          <p:nvPr/>
        </p:nvSpPr>
        <p:spPr>
          <a:xfrm>
            <a:off x="438150" y="173956"/>
            <a:ext cx="6159500" cy="584775"/>
          </a:xfrm>
          <a:prstGeom prst="rect">
            <a:avLst/>
          </a:prstGeom>
          <a:noFill/>
        </p:spPr>
        <p:txBody>
          <a:bodyPr wrap="square">
            <a:spAutoFit/>
          </a:bodyPr>
          <a:lstStyle/>
          <a:p>
            <a:r>
              <a:rPr lang="en-US" sz="3200" b="1" dirty="0"/>
              <a:t>What is it all about?</a:t>
            </a:r>
            <a:endParaRPr lang="en-PK" sz="3200" b="1" dirty="0"/>
          </a:p>
        </p:txBody>
      </p:sp>
      <p:sp>
        <p:nvSpPr>
          <p:cNvPr id="9" name="TextBox 8">
            <a:extLst>
              <a:ext uri="{FF2B5EF4-FFF2-40B4-BE49-F238E27FC236}">
                <a16:creationId xmlns:a16="http://schemas.microsoft.com/office/drawing/2014/main" xmlns="" id="{0E1862E8-A79E-3F61-7FE4-2D804F2FC5B7}"/>
              </a:ext>
            </a:extLst>
          </p:cNvPr>
          <p:cNvSpPr txBox="1"/>
          <p:nvPr/>
        </p:nvSpPr>
        <p:spPr>
          <a:xfrm>
            <a:off x="1387475" y="675615"/>
            <a:ext cx="9417050" cy="5757602"/>
          </a:xfrm>
          <a:prstGeom prst="rect">
            <a:avLst/>
          </a:prstGeom>
          <a:noFill/>
        </p:spPr>
        <p:txBody>
          <a:bodyPr wrap="square">
            <a:spAutoFit/>
          </a:bodyPr>
          <a:lstStyle/>
          <a:p>
            <a:pPr marL="294640" indent="-282575">
              <a:lnSpc>
                <a:spcPct val="150000"/>
              </a:lnSpc>
              <a:spcBef>
                <a:spcPts val="130"/>
              </a:spcBef>
              <a:buClr>
                <a:srgbClr val="9F4DA2"/>
              </a:buClr>
              <a:buFont typeface="Georgia"/>
              <a:buChar char="•"/>
              <a:tabLst>
                <a:tab pos="295275" algn="l"/>
              </a:tabLst>
            </a:pPr>
            <a:r>
              <a:rPr lang="en-US" sz="2800" b="1" spc="5" dirty="0">
                <a:latin typeface="Calibri"/>
                <a:cs typeface="Calibri"/>
              </a:rPr>
              <a:t>Solving</a:t>
            </a:r>
            <a:r>
              <a:rPr lang="en-US" sz="2800" b="1" spc="10" dirty="0">
                <a:latin typeface="Calibri"/>
                <a:cs typeface="Calibri"/>
              </a:rPr>
              <a:t> </a:t>
            </a:r>
            <a:r>
              <a:rPr lang="en-US" sz="2800" b="1" dirty="0">
                <a:latin typeface="Calibri"/>
                <a:cs typeface="Calibri"/>
              </a:rPr>
              <a:t>problems</a:t>
            </a:r>
          </a:p>
          <a:p>
            <a:pPr marL="687705" indent="-342900">
              <a:lnSpc>
                <a:spcPct val="150000"/>
              </a:lnSpc>
              <a:spcBef>
                <a:spcPts val="45"/>
              </a:spcBef>
              <a:buFont typeface="Arial" panose="020B0604020202020204" pitchFamily="34" charset="0"/>
              <a:buChar char="•"/>
            </a:pPr>
            <a:r>
              <a:rPr lang="en-US" sz="2400" spc="-10" dirty="0">
                <a:latin typeface="Calibri"/>
                <a:cs typeface="Calibri"/>
              </a:rPr>
              <a:t>Get me </a:t>
            </a:r>
            <a:r>
              <a:rPr lang="en-US" sz="2400" spc="-20" dirty="0">
                <a:latin typeface="Calibri"/>
                <a:cs typeface="Calibri"/>
              </a:rPr>
              <a:t>from </a:t>
            </a:r>
            <a:r>
              <a:rPr lang="en-US" sz="2400" spc="-10" dirty="0">
                <a:latin typeface="Calibri"/>
                <a:cs typeface="Calibri"/>
              </a:rPr>
              <a:t>home </a:t>
            </a:r>
            <a:r>
              <a:rPr lang="en-US" sz="2400" spc="-20" dirty="0">
                <a:latin typeface="Calibri"/>
                <a:cs typeface="Calibri"/>
              </a:rPr>
              <a:t>to</a:t>
            </a:r>
            <a:r>
              <a:rPr lang="en-US" sz="2400" spc="-35" dirty="0">
                <a:latin typeface="Calibri"/>
                <a:cs typeface="Calibri"/>
              </a:rPr>
              <a:t> </a:t>
            </a:r>
            <a:r>
              <a:rPr lang="en-US" sz="2400" spc="-15" dirty="0">
                <a:latin typeface="Calibri"/>
                <a:cs typeface="Calibri"/>
              </a:rPr>
              <a:t>work</a:t>
            </a:r>
            <a:endParaRPr lang="en-US" sz="2400" dirty="0">
              <a:latin typeface="Calibri"/>
              <a:cs typeface="Calibri"/>
            </a:endParaRPr>
          </a:p>
          <a:p>
            <a:pPr marL="687705" indent="-342900">
              <a:lnSpc>
                <a:spcPct val="150000"/>
              </a:lnSpc>
              <a:spcBef>
                <a:spcPts val="5"/>
              </a:spcBef>
              <a:buFont typeface="Arial" panose="020B0604020202020204" pitchFamily="34" charset="0"/>
              <a:buChar char="•"/>
            </a:pPr>
            <a:r>
              <a:rPr lang="en-US" sz="2400" spc="-10" dirty="0">
                <a:latin typeface="Calibri"/>
                <a:cs typeface="Calibri"/>
              </a:rPr>
              <a:t>Balance </a:t>
            </a:r>
            <a:r>
              <a:rPr lang="en-US" sz="2400" spc="-35" dirty="0">
                <a:latin typeface="Calibri"/>
                <a:cs typeface="Calibri"/>
              </a:rPr>
              <a:t>my</a:t>
            </a:r>
            <a:r>
              <a:rPr lang="en-US" sz="2400" spc="-25" dirty="0">
                <a:latin typeface="Calibri"/>
                <a:cs typeface="Calibri"/>
              </a:rPr>
              <a:t> </a:t>
            </a:r>
            <a:r>
              <a:rPr lang="en-US" sz="2400" spc="-10" dirty="0">
                <a:latin typeface="Calibri"/>
                <a:cs typeface="Calibri"/>
              </a:rPr>
              <a:t>checkbook</a:t>
            </a:r>
            <a:endParaRPr lang="en-US" sz="2400" dirty="0">
              <a:latin typeface="Calibri"/>
              <a:cs typeface="Calibri"/>
            </a:endParaRPr>
          </a:p>
          <a:p>
            <a:pPr marL="687705" indent="-342900">
              <a:lnSpc>
                <a:spcPct val="150000"/>
              </a:lnSpc>
              <a:spcBef>
                <a:spcPts val="10"/>
              </a:spcBef>
              <a:buFont typeface="Arial" panose="020B0604020202020204" pitchFamily="34" charset="0"/>
              <a:buChar char="•"/>
            </a:pPr>
            <a:r>
              <a:rPr lang="en-US" sz="2400" spc="-15" dirty="0">
                <a:latin typeface="Calibri"/>
                <a:cs typeface="Calibri"/>
              </a:rPr>
              <a:t>Simulate </a:t>
            </a:r>
            <a:r>
              <a:rPr lang="en-US" sz="2400" spc="-5" dirty="0">
                <a:latin typeface="Calibri"/>
                <a:cs typeface="Calibri"/>
              </a:rPr>
              <a:t>a jet</a:t>
            </a:r>
            <a:r>
              <a:rPr lang="en-US" sz="2400" spc="-50" dirty="0">
                <a:latin typeface="Calibri"/>
                <a:cs typeface="Calibri"/>
              </a:rPr>
              <a:t> </a:t>
            </a:r>
            <a:r>
              <a:rPr lang="en-US" sz="2400" spc="-10" dirty="0">
                <a:latin typeface="Calibri"/>
                <a:cs typeface="Calibri"/>
              </a:rPr>
              <a:t>engine</a:t>
            </a:r>
            <a:endParaRPr lang="en-US" sz="2400" dirty="0">
              <a:latin typeface="Calibri"/>
              <a:cs typeface="Calibri"/>
            </a:endParaRPr>
          </a:p>
          <a:p>
            <a:pPr marL="687705" indent="-342900">
              <a:lnSpc>
                <a:spcPct val="150000"/>
              </a:lnSpc>
              <a:spcBef>
                <a:spcPts val="5"/>
              </a:spcBef>
              <a:buFont typeface="Arial" panose="020B0604020202020204" pitchFamily="34" charset="0"/>
              <a:buChar char="•"/>
            </a:pPr>
            <a:r>
              <a:rPr lang="en-US" sz="2400" spc="-20" dirty="0">
                <a:latin typeface="Calibri"/>
                <a:cs typeface="Calibri"/>
              </a:rPr>
              <a:t>Arrange Telephone Directory</a:t>
            </a:r>
            <a:endParaRPr lang="en-US" sz="2400" dirty="0">
              <a:latin typeface="Calibri"/>
              <a:cs typeface="Calibri"/>
            </a:endParaRPr>
          </a:p>
          <a:p>
            <a:pPr marL="294640" indent="-282575">
              <a:lnSpc>
                <a:spcPct val="150000"/>
              </a:lnSpc>
              <a:buClr>
                <a:srgbClr val="9F4DA2"/>
              </a:buClr>
              <a:buFont typeface="Georgia"/>
              <a:buChar char="•"/>
              <a:tabLst>
                <a:tab pos="295275" algn="l"/>
              </a:tabLst>
            </a:pPr>
            <a:r>
              <a:rPr lang="en-US" sz="2800" b="1" spc="5" dirty="0">
                <a:latin typeface="Calibri"/>
                <a:cs typeface="Calibri"/>
              </a:rPr>
              <a:t>Using </a:t>
            </a:r>
            <a:r>
              <a:rPr lang="en-US" sz="2800" b="1" spc="10" dirty="0">
                <a:latin typeface="Calibri"/>
                <a:cs typeface="Calibri"/>
              </a:rPr>
              <a:t>a </a:t>
            </a:r>
            <a:r>
              <a:rPr lang="en-US" sz="2800" b="1" dirty="0">
                <a:latin typeface="Calibri"/>
                <a:cs typeface="Calibri"/>
              </a:rPr>
              <a:t>computer </a:t>
            </a:r>
            <a:r>
              <a:rPr lang="en-US" sz="2800" b="1" spc="-5" dirty="0">
                <a:latin typeface="Calibri"/>
                <a:cs typeface="Calibri"/>
              </a:rPr>
              <a:t>to </a:t>
            </a:r>
            <a:r>
              <a:rPr lang="en-US" sz="2800" b="1" spc="5" dirty="0">
                <a:latin typeface="Calibri"/>
                <a:cs typeface="Calibri"/>
              </a:rPr>
              <a:t>help </a:t>
            </a:r>
            <a:r>
              <a:rPr lang="en-US" sz="2800" b="1" dirty="0">
                <a:latin typeface="Calibri"/>
                <a:cs typeface="Calibri"/>
              </a:rPr>
              <a:t>solve</a:t>
            </a:r>
            <a:r>
              <a:rPr lang="en-US" sz="2800" b="1" spc="105" dirty="0">
                <a:latin typeface="Calibri"/>
                <a:cs typeface="Calibri"/>
              </a:rPr>
              <a:t> </a:t>
            </a:r>
            <a:r>
              <a:rPr lang="en-US" sz="2800" b="1" dirty="0">
                <a:latin typeface="Calibri"/>
                <a:cs typeface="Calibri"/>
              </a:rPr>
              <a:t>problems</a:t>
            </a:r>
          </a:p>
          <a:p>
            <a:pPr marL="687705" indent="-342900">
              <a:lnSpc>
                <a:spcPct val="150000"/>
              </a:lnSpc>
              <a:spcBef>
                <a:spcPts val="45"/>
              </a:spcBef>
              <a:buFont typeface="Arial" panose="020B0604020202020204" pitchFamily="34" charset="0"/>
              <a:buChar char="•"/>
            </a:pPr>
            <a:r>
              <a:rPr lang="en-US" sz="2400" spc="-10" dirty="0">
                <a:latin typeface="Calibri"/>
                <a:cs typeface="Calibri"/>
              </a:rPr>
              <a:t>Designing </a:t>
            </a:r>
            <a:r>
              <a:rPr lang="en-US" sz="2400" spc="-20" dirty="0">
                <a:latin typeface="Calibri"/>
                <a:cs typeface="Calibri"/>
              </a:rPr>
              <a:t>programs </a:t>
            </a:r>
            <a:r>
              <a:rPr lang="en-US" sz="2400" spc="-15" dirty="0">
                <a:latin typeface="Calibri"/>
                <a:cs typeface="Calibri"/>
              </a:rPr>
              <a:t>(architecture,</a:t>
            </a:r>
            <a:r>
              <a:rPr lang="en-US" sz="2400" spc="-25" dirty="0">
                <a:latin typeface="Calibri"/>
                <a:cs typeface="Calibri"/>
              </a:rPr>
              <a:t> </a:t>
            </a:r>
            <a:r>
              <a:rPr lang="en-US" sz="2400" spc="-10" dirty="0">
                <a:latin typeface="Calibri"/>
                <a:cs typeface="Calibri"/>
              </a:rPr>
              <a:t>algorithms)</a:t>
            </a:r>
            <a:endParaRPr lang="en-US" sz="2400" dirty="0">
              <a:latin typeface="Calibri"/>
              <a:cs typeface="Calibri"/>
            </a:endParaRPr>
          </a:p>
          <a:p>
            <a:pPr marL="687705" indent="-342900">
              <a:lnSpc>
                <a:spcPct val="150000"/>
              </a:lnSpc>
              <a:spcBef>
                <a:spcPts val="10"/>
              </a:spcBef>
              <a:buFont typeface="Arial" panose="020B0604020202020204" pitchFamily="34" charset="0"/>
              <a:buChar char="•"/>
            </a:pPr>
            <a:r>
              <a:rPr lang="en-US" sz="2400" spc="-20" dirty="0">
                <a:latin typeface="Calibri"/>
                <a:cs typeface="Calibri"/>
              </a:rPr>
              <a:t>Writing</a:t>
            </a:r>
            <a:r>
              <a:rPr lang="en-US" sz="2400" spc="-30" dirty="0">
                <a:latin typeface="Calibri"/>
                <a:cs typeface="Calibri"/>
              </a:rPr>
              <a:t> </a:t>
            </a:r>
            <a:r>
              <a:rPr lang="en-US" sz="2400" spc="-20" dirty="0">
                <a:latin typeface="Calibri"/>
                <a:cs typeface="Calibri"/>
              </a:rPr>
              <a:t>programs</a:t>
            </a:r>
            <a:endParaRPr lang="en-US" sz="2400" dirty="0">
              <a:latin typeface="Calibri"/>
              <a:cs typeface="Calibri"/>
            </a:endParaRPr>
          </a:p>
          <a:p>
            <a:pPr marL="687705" indent="-342900">
              <a:lnSpc>
                <a:spcPct val="150000"/>
              </a:lnSpc>
              <a:spcBef>
                <a:spcPts val="10"/>
              </a:spcBef>
              <a:buFont typeface="Arial" panose="020B0604020202020204" pitchFamily="34" charset="0"/>
              <a:buChar char="•"/>
            </a:pPr>
            <a:r>
              <a:rPr lang="en-US" sz="2400" spc="-20" dirty="0">
                <a:latin typeface="Calibri"/>
                <a:cs typeface="Calibri"/>
              </a:rPr>
              <a:t>Verifying</a:t>
            </a:r>
            <a:r>
              <a:rPr lang="en-US" sz="2400" spc="-5" dirty="0">
                <a:latin typeface="Calibri"/>
                <a:cs typeface="Calibri"/>
              </a:rPr>
              <a:t> </a:t>
            </a:r>
            <a:r>
              <a:rPr lang="en-US" sz="2400" spc="-20" dirty="0">
                <a:latin typeface="Calibri"/>
                <a:cs typeface="Calibri"/>
              </a:rPr>
              <a:t>programs</a:t>
            </a:r>
            <a:endParaRPr lang="en-US" sz="2400" dirty="0">
              <a:latin typeface="Calibri"/>
              <a:cs typeface="Calibri"/>
            </a:endParaRPr>
          </a:p>
          <a:p>
            <a:pPr marL="687705" indent="-342900">
              <a:lnSpc>
                <a:spcPct val="150000"/>
              </a:lnSpc>
              <a:spcBef>
                <a:spcPts val="5"/>
              </a:spcBef>
              <a:buFont typeface="Arial" panose="020B0604020202020204" pitchFamily="34" charset="0"/>
              <a:buChar char="•"/>
            </a:pPr>
            <a:r>
              <a:rPr lang="en-US" sz="2400" spc="-10" dirty="0">
                <a:latin typeface="Calibri"/>
                <a:cs typeface="Calibri"/>
              </a:rPr>
              <a:t>Documenting</a:t>
            </a:r>
            <a:r>
              <a:rPr lang="en-US" sz="2400" spc="-25" dirty="0">
                <a:latin typeface="Calibri"/>
                <a:cs typeface="Calibri"/>
              </a:rPr>
              <a:t> </a:t>
            </a:r>
            <a:r>
              <a:rPr lang="en-US" sz="2400" spc="-20" dirty="0">
                <a:latin typeface="Calibri"/>
                <a:cs typeface="Calibri"/>
              </a:rPr>
              <a:t>programs</a:t>
            </a:r>
            <a:endParaRPr lang="en-US" sz="2400" dirty="0">
              <a:latin typeface="Calibri"/>
              <a:cs typeface="Calibri"/>
            </a:endParaRPr>
          </a:p>
        </p:txBody>
      </p:sp>
    </p:spTree>
    <p:extLst>
      <p:ext uri="{BB962C8B-B14F-4D97-AF65-F5344CB8AC3E}">
        <p14:creationId xmlns:p14="http://schemas.microsoft.com/office/powerpoint/2010/main" val="14831533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919064C9-CB39-4E9B-A953-3D622E5EE63D}"/>
              </a:ext>
            </a:extLst>
          </p:cNvPr>
          <p:cNvSpPr txBox="1"/>
          <p:nvPr/>
        </p:nvSpPr>
        <p:spPr>
          <a:xfrm>
            <a:off x="427738" y="901607"/>
            <a:ext cx="11884764" cy="545085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b="1" dirty="0"/>
              <a:t>Data</a:t>
            </a:r>
          </a:p>
          <a:p>
            <a:pPr marL="742950" lvl="1" indent="-285750">
              <a:lnSpc>
                <a:spcPct val="150000"/>
              </a:lnSpc>
              <a:buFont typeface="Arial" panose="020B0604020202020204" pitchFamily="34" charset="0"/>
              <a:buChar char="•"/>
            </a:pPr>
            <a:r>
              <a:rPr lang="en-US" b="0" i="0" dirty="0">
                <a:solidFill>
                  <a:srgbClr val="333333"/>
                </a:solidFill>
                <a:effectLst/>
              </a:rPr>
              <a:t>Data is unorganized raw facts that need processing without which it is seemingly random and useless to humans.</a:t>
            </a:r>
            <a:endParaRPr lang="en-US" b="1" dirty="0"/>
          </a:p>
          <a:p>
            <a:pPr marL="285750" indent="-285750">
              <a:lnSpc>
                <a:spcPct val="150000"/>
              </a:lnSpc>
              <a:buFont typeface="Arial" panose="020B0604020202020204" pitchFamily="34" charset="0"/>
              <a:buChar char="•"/>
            </a:pPr>
            <a:r>
              <a:rPr lang="en-US" b="1" dirty="0"/>
              <a:t>Information</a:t>
            </a:r>
          </a:p>
          <a:p>
            <a:pPr marL="742950" lvl="1" indent="-285750">
              <a:lnSpc>
                <a:spcPct val="150000"/>
              </a:lnSpc>
              <a:buFont typeface="Arial" panose="020B0604020202020204" pitchFamily="34" charset="0"/>
              <a:buChar char="•"/>
            </a:pPr>
            <a:r>
              <a:rPr lang="en-US" b="0" i="0" dirty="0">
                <a:solidFill>
                  <a:srgbClr val="333333"/>
                </a:solidFill>
                <a:effectLst/>
              </a:rPr>
              <a:t>Information is a processed, organized data presented in a given context and is useful to humans.</a:t>
            </a:r>
            <a:endParaRPr lang="en-US" b="1" dirty="0"/>
          </a:p>
          <a:p>
            <a:pPr marL="285750" indent="-285750">
              <a:lnSpc>
                <a:spcPct val="150000"/>
              </a:lnSpc>
              <a:buFont typeface="Arial" panose="020B0604020202020204" pitchFamily="34" charset="0"/>
              <a:buChar char="•"/>
            </a:pPr>
            <a:r>
              <a:rPr lang="en-US" b="1" dirty="0"/>
              <a:t>Data item</a:t>
            </a:r>
          </a:p>
          <a:p>
            <a:pPr marL="742950" lvl="1" indent="-285750">
              <a:lnSpc>
                <a:spcPct val="150000"/>
              </a:lnSpc>
              <a:buFont typeface="Arial" panose="020B0604020202020204" pitchFamily="34" charset="0"/>
              <a:buChar char="•"/>
            </a:pPr>
            <a:r>
              <a:rPr lang="en-US" b="0" i="0" dirty="0">
                <a:solidFill>
                  <a:srgbClr val="000000"/>
                </a:solidFill>
                <a:effectLst/>
              </a:rPr>
              <a:t>Data item refers to single unit of values. It holds one value at a time.</a:t>
            </a:r>
            <a:endParaRPr lang="en-US" b="1" dirty="0"/>
          </a:p>
          <a:p>
            <a:pPr marL="285750" indent="-285750">
              <a:lnSpc>
                <a:spcPct val="150000"/>
              </a:lnSpc>
              <a:buFont typeface="Arial" panose="020B0604020202020204" pitchFamily="34" charset="0"/>
              <a:buChar char="•"/>
            </a:pPr>
            <a:r>
              <a:rPr lang="en-US" b="1" dirty="0"/>
              <a:t>Collection</a:t>
            </a:r>
          </a:p>
          <a:p>
            <a:pPr marL="742950" lvl="1" indent="-285750">
              <a:lnSpc>
                <a:spcPct val="150000"/>
              </a:lnSpc>
              <a:buFont typeface="Arial" panose="020B0604020202020204" pitchFamily="34" charset="0"/>
              <a:buChar char="•"/>
            </a:pPr>
            <a:r>
              <a:rPr lang="en-US" dirty="0"/>
              <a:t>Collection is array of data, they can hold multiple value.</a:t>
            </a:r>
            <a:endParaRPr lang="en-US" b="1" dirty="0"/>
          </a:p>
          <a:p>
            <a:pPr marL="285750" indent="-285750">
              <a:lnSpc>
                <a:spcPct val="150000"/>
              </a:lnSpc>
              <a:buFont typeface="Arial" panose="020B0604020202020204" pitchFamily="34" charset="0"/>
              <a:buChar char="•"/>
            </a:pPr>
            <a:r>
              <a:rPr lang="en-US" b="1" dirty="0"/>
              <a:t>Entity</a:t>
            </a:r>
          </a:p>
          <a:p>
            <a:pPr marL="742950" lvl="1" indent="-285750">
              <a:lnSpc>
                <a:spcPct val="150000"/>
              </a:lnSpc>
              <a:buFont typeface="Arial" panose="020B0604020202020204" pitchFamily="34" charset="0"/>
              <a:buChar char="•"/>
            </a:pPr>
            <a:r>
              <a:rPr lang="en-US" b="0" i="0" dirty="0">
                <a:solidFill>
                  <a:srgbClr val="000000"/>
                </a:solidFill>
                <a:effectLst/>
              </a:rPr>
              <a:t>An entity is that which contains certain attributes or properties, which may be assigned values</a:t>
            </a:r>
            <a:endParaRPr lang="en-US" b="1" dirty="0"/>
          </a:p>
          <a:p>
            <a:pPr marL="285750" indent="-285750">
              <a:lnSpc>
                <a:spcPct val="150000"/>
              </a:lnSpc>
              <a:buFont typeface="Arial" panose="020B0604020202020204" pitchFamily="34" charset="0"/>
              <a:buChar char="•"/>
            </a:pPr>
            <a:r>
              <a:rPr lang="en-US" b="1" dirty="0"/>
              <a:t>Field </a:t>
            </a:r>
          </a:p>
          <a:p>
            <a:pPr marL="742950" lvl="1" indent="-285750">
              <a:lnSpc>
                <a:spcPct val="150000"/>
              </a:lnSpc>
              <a:buFont typeface="Arial" panose="020B0604020202020204" pitchFamily="34" charset="0"/>
              <a:buChar char="•"/>
              <a:defRPr/>
            </a:pPr>
            <a:r>
              <a:rPr lang="en-US" dirty="0">
                <a:effectLst/>
                <a:ea typeface="Calibri" panose="020F0502020204030204" pitchFamily="34" charset="0"/>
                <a:cs typeface="Arial" panose="020B0604020202020204" pitchFamily="34" charset="0"/>
              </a:rPr>
              <a:t>Field is a single elementary unity of information representing an attribute of an entity.</a:t>
            </a:r>
            <a:endParaRPr lang="en-US" b="1" dirty="0"/>
          </a:p>
          <a:p>
            <a:pPr marL="285750" indent="-285750">
              <a:lnSpc>
                <a:spcPct val="150000"/>
              </a:lnSpc>
              <a:buFont typeface="Arial" panose="020B0604020202020204" pitchFamily="34" charset="0"/>
              <a:buChar char="•"/>
            </a:pPr>
            <a:endParaRPr lang="en-US" b="1" dirty="0"/>
          </a:p>
        </p:txBody>
      </p:sp>
      <p:sp>
        <p:nvSpPr>
          <p:cNvPr id="4" name="TextBox 3">
            <a:extLst>
              <a:ext uri="{FF2B5EF4-FFF2-40B4-BE49-F238E27FC236}">
                <a16:creationId xmlns:a16="http://schemas.microsoft.com/office/drawing/2014/main" xmlns="" id="{FA5693DA-9D65-48CE-A640-626F724503BB}"/>
              </a:ext>
            </a:extLst>
          </p:cNvPr>
          <p:cNvSpPr txBox="1"/>
          <p:nvPr/>
        </p:nvSpPr>
        <p:spPr>
          <a:xfrm>
            <a:off x="0" y="89067"/>
            <a:ext cx="3886200" cy="461665"/>
          </a:xfrm>
          <a:prstGeom prst="rect">
            <a:avLst/>
          </a:prstGeom>
          <a:noFill/>
        </p:spPr>
        <p:txBody>
          <a:bodyPr wrap="square" rtlCol="0">
            <a:spAutoFit/>
          </a:bodyPr>
          <a:lstStyle/>
          <a:p>
            <a:r>
              <a:rPr lang="en-US" sz="2400" b="1" dirty="0">
                <a:solidFill>
                  <a:schemeClr val="accent1">
                    <a:lumMod val="50000"/>
                  </a:schemeClr>
                </a:solidFill>
              </a:rPr>
              <a:t>Basic Terminologies</a:t>
            </a:r>
            <a:endParaRPr lang="en-PK" sz="2400" b="1" dirty="0">
              <a:solidFill>
                <a:schemeClr val="accent1">
                  <a:lumMod val="50000"/>
                </a:schemeClr>
              </a:solidFill>
            </a:endParaRPr>
          </a:p>
        </p:txBody>
      </p:sp>
      <p:pic>
        <p:nvPicPr>
          <p:cNvPr id="2" name="Picture 1">
            <a:extLst>
              <a:ext uri="{FF2B5EF4-FFF2-40B4-BE49-F238E27FC236}">
                <a16:creationId xmlns:a16="http://schemas.microsoft.com/office/drawing/2014/main" xmlns="" id="{8196D62F-D456-CBCB-7F1D-C8D2241F42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3" name="Footer Placeholder 2">
            <a:extLst>
              <a:ext uri="{FF2B5EF4-FFF2-40B4-BE49-F238E27FC236}">
                <a16:creationId xmlns:a16="http://schemas.microsoft.com/office/drawing/2014/main" xmlns="" id="{F65DA259-B767-5196-B618-22675CD410C7}"/>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3890596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 calcmode="lin" valueType="num">
                                      <p:cBhvr additive="base">
                                        <p:cTn id="1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anim calcmode="lin" valueType="num">
                                      <p:cBhvr additive="base">
                                        <p:cTn id="1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anim calcmode="lin" valueType="num">
                                      <p:cBhvr additive="base">
                                        <p:cTn id="25"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anim calcmode="lin" valueType="num">
                                      <p:cBhvr additive="base">
                                        <p:cTn id="3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11" end="11"/>
                                            </p:txEl>
                                          </p:spTgt>
                                        </p:tgtEl>
                                        <p:attrNameLst>
                                          <p:attrName>style.visibility</p:attrName>
                                        </p:attrNameLst>
                                      </p:cBhvr>
                                      <p:to>
                                        <p:strVal val="visible"/>
                                      </p:to>
                                    </p:set>
                                    <p:anim calcmode="lin" valueType="num">
                                      <p:cBhvr additive="base">
                                        <p:cTn id="37"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BF35706E-BC55-4E95-A795-C0E9194415F9}"/>
              </a:ext>
            </a:extLst>
          </p:cNvPr>
          <p:cNvSpPr txBox="1"/>
          <p:nvPr/>
        </p:nvSpPr>
        <p:spPr>
          <a:xfrm>
            <a:off x="1049964" y="649731"/>
            <a:ext cx="11142035" cy="565071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t>Record</a:t>
            </a:r>
          </a:p>
          <a:p>
            <a:pPr marL="742950" lvl="1" indent="-285750">
              <a:lnSpc>
                <a:spcPct val="150000"/>
              </a:lnSpc>
              <a:buFont typeface="Arial" panose="020B0604020202020204" pitchFamily="34" charset="0"/>
              <a:buChar char="•"/>
            </a:pPr>
            <a:r>
              <a:rPr lang="en-US" dirty="0">
                <a:effectLst/>
                <a:ea typeface="Calibri" panose="020F0502020204030204" pitchFamily="34" charset="0"/>
                <a:cs typeface="Arial" panose="020B0604020202020204" pitchFamily="34" charset="0"/>
              </a:rPr>
              <a:t>Record is a collection of field values of a given entity</a:t>
            </a:r>
            <a:r>
              <a:rPr lang="en-US" b="1" dirty="0">
                <a:effectLst/>
                <a:ea typeface="Calibri" panose="020F0502020204030204" pitchFamily="34" charset="0"/>
                <a:cs typeface="Arial" panose="020B0604020202020204" pitchFamily="34" charset="0"/>
              </a:rPr>
              <a:t>.</a:t>
            </a:r>
            <a:endParaRPr lang="en-US" b="1" dirty="0"/>
          </a:p>
          <a:p>
            <a:pPr marL="285750" indent="-285750">
              <a:lnSpc>
                <a:spcPct val="150000"/>
              </a:lnSpc>
              <a:buFont typeface="Arial" panose="020B0604020202020204" pitchFamily="34" charset="0"/>
              <a:buChar char="•"/>
            </a:pPr>
            <a:r>
              <a:rPr lang="en-US" b="1" dirty="0"/>
              <a:t>File</a:t>
            </a:r>
          </a:p>
          <a:p>
            <a:pPr marL="742950" lvl="1" indent="-285750">
              <a:lnSpc>
                <a:spcPct val="150000"/>
              </a:lnSpc>
              <a:spcAft>
                <a:spcPts val="800"/>
              </a:spcAft>
              <a:buFont typeface="Arial" panose="020B0604020202020204" pitchFamily="34" charset="0"/>
              <a:buChar char="•"/>
            </a:pPr>
            <a:r>
              <a:rPr lang="en-US" dirty="0">
                <a:effectLst/>
                <a:ea typeface="Calibri" panose="020F0502020204030204" pitchFamily="34" charset="0"/>
                <a:cs typeface="Arial" panose="020B0604020202020204" pitchFamily="34" charset="0"/>
              </a:rPr>
              <a:t>File is a collection of records of the entities in a given entity set.</a:t>
            </a:r>
          </a:p>
          <a:p>
            <a:pPr marL="285750" marR="0" indent="-285750">
              <a:lnSpc>
                <a:spcPct val="150000"/>
              </a:lnSpc>
              <a:spcBef>
                <a:spcPts val="0"/>
              </a:spcBef>
              <a:spcAft>
                <a:spcPts val="800"/>
              </a:spcAft>
              <a:buFont typeface="Arial" panose="020B0604020202020204" pitchFamily="34" charset="0"/>
              <a:buChar char="•"/>
            </a:pPr>
            <a:r>
              <a:rPr lang="en-US" sz="1800" b="1" dirty="0">
                <a:effectLst/>
                <a:ea typeface="Calibri" panose="020F0502020204030204" pitchFamily="34" charset="0"/>
                <a:cs typeface="Arial" panose="020B0604020202020204" pitchFamily="34" charset="0"/>
              </a:rPr>
              <a:t>Database</a:t>
            </a:r>
            <a:endParaRPr lang="en-US" sz="1800" dirty="0">
              <a:effectLst/>
              <a:ea typeface="Calibri" panose="020F0502020204030204" pitchFamily="34" charset="0"/>
              <a:cs typeface="Arial" panose="020B0604020202020204" pitchFamily="34" charset="0"/>
            </a:endParaRPr>
          </a:p>
          <a:p>
            <a:pPr marL="742950" lvl="1" indent="-285750">
              <a:lnSpc>
                <a:spcPct val="150000"/>
              </a:lnSpc>
              <a:spcAft>
                <a:spcPts val="800"/>
              </a:spcAft>
              <a:buFont typeface="Arial" panose="020B0604020202020204" pitchFamily="34" charset="0"/>
              <a:buChar char="•"/>
            </a:pPr>
            <a:r>
              <a:rPr lang="en-US" dirty="0">
                <a:effectLst/>
                <a:ea typeface="Calibri" panose="020F0502020204030204" pitchFamily="34" charset="0"/>
                <a:cs typeface="Arial" panose="020B0604020202020204" pitchFamily="34" charset="0"/>
              </a:rPr>
              <a:t>A database is a collection of information that is organized so that it can be easily accessed, managed and updated.</a:t>
            </a:r>
          </a:p>
          <a:p>
            <a:pPr marL="285750" marR="0" indent="-285750">
              <a:lnSpc>
                <a:spcPct val="150000"/>
              </a:lnSpc>
              <a:spcBef>
                <a:spcPts val="0"/>
              </a:spcBef>
              <a:spcAft>
                <a:spcPts val="800"/>
              </a:spcAft>
              <a:buFont typeface="Arial" panose="020B0604020202020204" pitchFamily="34" charset="0"/>
              <a:buChar char="•"/>
            </a:pPr>
            <a:r>
              <a:rPr lang="en-US" b="1" dirty="0"/>
              <a:t>Data ware House</a:t>
            </a:r>
          </a:p>
          <a:p>
            <a:pPr marL="742950" lvl="1" indent="-285750">
              <a:lnSpc>
                <a:spcPct val="150000"/>
              </a:lnSpc>
              <a:spcAft>
                <a:spcPts val="800"/>
              </a:spcAft>
              <a:buFont typeface="Arial" panose="020B0604020202020204" pitchFamily="34" charset="0"/>
              <a:buChar char="•"/>
            </a:pPr>
            <a:r>
              <a:rPr lang="en-US" dirty="0">
                <a:ea typeface="Calibri" panose="020F0502020204030204" pitchFamily="34" charset="0"/>
                <a:cs typeface="Arial" panose="020B0604020202020204" pitchFamily="34" charset="0"/>
              </a:rPr>
              <a:t>Data warehouse is an information system that stores historical and commutative data from single or multiple sources</a:t>
            </a:r>
            <a:r>
              <a:rPr lang="en-US" b="1" i="0" dirty="0">
                <a:solidFill>
                  <a:srgbClr val="222222"/>
                </a:solidFill>
                <a:effectLst/>
                <a:latin typeface="Source Sans Pro" panose="020B0503030403020204" pitchFamily="34" charset="0"/>
              </a:rPr>
              <a:t>.</a:t>
            </a:r>
            <a:endParaRPr lang="en-US" b="1" dirty="0"/>
          </a:p>
          <a:p>
            <a:pPr marL="285750" marR="0" indent="-285750">
              <a:lnSpc>
                <a:spcPct val="150000"/>
              </a:lnSpc>
              <a:spcBef>
                <a:spcPts val="0"/>
              </a:spcBef>
              <a:spcAft>
                <a:spcPts val="800"/>
              </a:spcAft>
              <a:buFont typeface="Arial" panose="020B0604020202020204" pitchFamily="34" charset="0"/>
              <a:buChar char="•"/>
            </a:pPr>
            <a:r>
              <a:rPr lang="en-US" b="1" dirty="0"/>
              <a:t>Big Data</a:t>
            </a:r>
          </a:p>
          <a:p>
            <a:pPr marL="742950" lvl="1" indent="-285750">
              <a:lnSpc>
                <a:spcPct val="150000"/>
              </a:lnSpc>
              <a:spcAft>
                <a:spcPts val="800"/>
              </a:spcAft>
              <a:buFont typeface="Arial" panose="020B0604020202020204" pitchFamily="34" charset="0"/>
              <a:buChar char="•"/>
            </a:pPr>
            <a:r>
              <a:rPr lang="en-US" dirty="0">
                <a:ea typeface="Calibri" panose="020F0502020204030204" pitchFamily="34" charset="0"/>
                <a:cs typeface="Arial" panose="020B0604020202020204" pitchFamily="34" charset="0"/>
              </a:rPr>
              <a:t>Big Data is a collection of data that is huge in volume, yet growing exponentially with time.</a:t>
            </a:r>
          </a:p>
        </p:txBody>
      </p:sp>
      <p:pic>
        <p:nvPicPr>
          <p:cNvPr id="2" name="Picture 1">
            <a:extLst>
              <a:ext uri="{FF2B5EF4-FFF2-40B4-BE49-F238E27FC236}">
                <a16:creationId xmlns:a16="http://schemas.microsoft.com/office/drawing/2014/main" xmlns="" id="{52F7D531-71AA-210D-647B-1DC53BC737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3" name="Footer Placeholder 2">
            <a:extLst>
              <a:ext uri="{FF2B5EF4-FFF2-40B4-BE49-F238E27FC236}">
                <a16:creationId xmlns:a16="http://schemas.microsoft.com/office/drawing/2014/main" xmlns="" id="{E0CD9740-8882-9C47-799D-AD71637DC0F3}"/>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
        <p:nvSpPr>
          <p:cNvPr id="6" name="TextBox 5">
            <a:extLst>
              <a:ext uri="{FF2B5EF4-FFF2-40B4-BE49-F238E27FC236}">
                <a16:creationId xmlns:a16="http://schemas.microsoft.com/office/drawing/2014/main" xmlns="" id="{C91BBE88-6C3C-000B-2919-9A1ECCD06C99}"/>
              </a:ext>
            </a:extLst>
          </p:cNvPr>
          <p:cNvSpPr txBox="1"/>
          <p:nvPr/>
        </p:nvSpPr>
        <p:spPr>
          <a:xfrm>
            <a:off x="0" y="89067"/>
            <a:ext cx="3886200" cy="461665"/>
          </a:xfrm>
          <a:prstGeom prst="rect">
            <a:avLst/>
          </a:prstGeom>
          <a:noFill/>
        </p:spPr>
        <p:txBody>
          <a:bodyPr wrap="square" rtlCol="0">
            <a:spAutoFit/>
          </a:bodyPr>
          <a:lstStyle/>
          <a:p>
            <a:r>
              <a:rPr lang="en-US" sz="2400" b="1" dirty="0">
                <a:solidFill>
                  <a:schemeClr val="accent1">
                    <a:lumMod val="50000"/>
                  </a:schemeClr>
                </a:solidFill>
              </a:rPr>
              <a:t>Basic Terminologies</a:t>
            </a:r>
            <a:r>
              <a:rPr lang="en-US" sz="1600" b="1" dirty="0">
                <a:solidFill>
                  <a:schemeClr val="accent1">
                    <a:lumMod val="50000"/>
                  </a:schemeClr>
                </a:solidFill>
              </a:rPr>
              <a:t> (Continue…)</a:t>
            </a:r>
            <a:endParaRPr lang="en-PK" sz="2400" b="1" dirty="0">
              <a:solidFill>
                <a:schemeClr val="accent1">
                  <a:lumMod val="50000"/>
                </a:schemeClr>
              </a:solidFill>
            </a:endParaRPr>
          </a:p>
        </p:txBody>
      </p:sp>
    </p:spTree>
    <p:extLst>
      <p:ext uri="{BB962C8B-B14F-4D97-AF65-F5344CB8AC3E}">
        <p14:creationId xmlns:p14="http://schemas.microsoft.com/office/powerpoint/2010/main" val="4241864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 calcmode="lin" valueType="num">
                                      <p:cBhvr additive="base">
                                        <p:cTn id="1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anim calcmode="lin" valueType="num">
                                      <p:cBhvr additive="base">
                                        <p:cTn id="19"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7" end="7"/>
                                            </p:txEl>
                                          </p:spTgt>
                                        </p:tgtEl>
                                        <p:attrNameLst>
                                          <p:attrName>style.visibility</p:attrName>
                                        </p:attrNameLst>
                                      </p:cBhvr>
                                      <p:to>
                                        <p:strVal val="visible"/>
                                      </p:to>
                                    </p:set>
                                    <p:anim calcmode="lin" valueType="num">
                                      <p:cBhvr additive="base">
                                        <p:cTn id="25"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9" end="9"/>
                                            </p:txEl>
                                          </p:spTgt>
                                        </p:tgtEl>
                                        <p:attrNameLst>
                                          <p:attrName>style.visibility</p:attrName>
                                        </p:attrNameLst>
                                      </p:cBhvr>
                                      <p:to>
                                        <p:strVal val="visible"/>
                                      </p:to>
                                    </p:set>
                                    <p:anim calcmode="lin" valueType="num">
                                      <p:cBhvr additive="base">
                                        <p:cTn id="31"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BF35706E-BC55-4E95-A795-C0E9194415F9}"/>
              </a:ext>
            </a:extLst>
          </p:cNvPr>
          <p:cNvSpPr txBox="1"/>
          <p:nvPr/>
        </p:nvSpPr>
        <p:spPr>
          <a:xfrm>
            <a:off x="1049964" y="649731"/>
            <a:ext cx="11142035" cy="6994864"/>
          </a:xfrm>
          <a:prstGeom prst="rect">
            <a:avLst/>
          </a:prstGeom>
          <a:noFill/>
        </p:spPr>
        <p:txBody>
          <a:bodyPr wrap="square">
            <a:spAutoFit/>
          </a:bodyPr>
          <a:lstStyle/>
          <a:p>
            <a:pPr marL="285750" indent="-285750">
              <a:lnSpc>
                <a:spcPct val="150000"/>
              </a:lnSpc>
              <a:spcAft>
                <a:spcPts val="800"/>
              </a:spcAft>
              <a:buFont typeface="Arial" panose="020B0604020202020204" pitchFamily="34" charset="0"/>
              <a:buChar char="•"/>
            </a:pPr>
            <a:r>
              <a:rPr lang="en-US" b="1" dirty="0"/>
              <a:t>Keys (primary, foreign key, </a:t>
            </a:r>
            <a:r>
              <a:rPr lang="en-US" b="1" dirty="0" err="1"/>
              <a:t>etc</a:t>
            </a:r>
            <a:r>
              <a:rPr lang="en-US" b="1" dirty="0"/>
              <a:t>)</a:t>
            </a:r>
          </a:p>
          <a:p>
            <a:pPr marL="742950" lvl="1" indent="-285750">
              <a:lnSpc>
                <a:spcPct val="150000"/>
              </a:lnSpc>
              <a:spcAft>
                <a:spcPts val="800"/>
              </a:spcAft>
              <a:buFont typeface="Arial" panose="020B0604020202020204" pitchFamily="34" charset="0"/>
              <a:buChar char="•"/>
            </a:pPr>
            <a:r>
              <a:rPr lang="en-US" b="1" dirty="0"/>
              <a:t>Primary key: </a:t>
            </a:r>
            <a:r>
              <a:rPr lang="en-US" b="0" i="0" dirty="0">
                <a:effectLst/>
                <a:latin typeface="urw-din"/>
              </a:rPr>
              <a:t>A primary key is used to ensure data in the specific column is unique</a:t>
            </a:r>
          </a:p>
          <a:p>
            <a:pPr marL="742950" lvl="1" indent="-285750">
              <a:lnSpc>
                <a:spcPct val="150000"/>
              </a:lnSpc>
              <a:spcAft>
                <a:spcPts val="800"/>
              </a:spcAft>
              <a:buFont typeface="Arial" panose="020B0604020202020204" pitchFamily="34" charset="0"/>
              <a:buChar char="•"/>
            </a:pPr>
            <a:r>
              <a:rPr lang="en-US" b="1" dirty="0">
                <a:latin typeface="urw-din"/>
              </a:rPr>
              <a:t>Foreign Key: </a:t>
            </a:r>
            <a:r>
              <a:rPr lang="en-US" b="0" i="0" dirty="0">
                <a:effectLst/>
                <a:latin typeface="urw-din"/>
              </a:rPr>
              <a:t>A foreign key is a column or group of columns in a relational database table that provides a link between data in two tables.</a:t>
            </a:r>
            <a:endParaRPr lang="en-US" b="1" dirty="0"/>
          </a:p>
          <a:p>
            <a:pPr marL="285750" indent="-285750">
              <a:lnSpc>
                <a:spcPct val="150000"/>
              </a:lnSpc>
              <a:spcAft>
                <a:spcPts val="800"/>
              </a:spcAft>
              <a:buFont typeface="Arial" panose="020B0604020202020204" pitchFamily="34" charset="0"/>
              <a:buChar char="•"/>
            </a:pPr>
            <a:r>
              <a:rPr lang="en-US" b="1" dirty="0"/>
              <a:t>Data structure</a:t>
            </a:r>
          </a:p>
          <a:p>
            <a:pPr marL="742950" lvl="1" indent="-285750">
              <a:lnSpc>
                <a:spcPct val="150000"/>
              </a:lnSpc>
              <a:spcAft>
                <a:spcPts val="800"/>
              </a:spcAft>
              <a:buFont typeface="Arial" panose="020B0604020202020204" pitchFamily="34" charset="0"/>
              <a:buChar char="•"/>
            </a:pPr>
            <a:r>
              <a:rPr lang="en-US" b="0" i="0" dirty="0">
                <a:effectLst/>
                <a:latin typeface="urw-din"/>
              </a:rPr>
              <a:t>A </a:t>
            </a:r>
            <a:r>
              <a:rPr lang="en-US" i="0" dirty="0">
                <a:effectLst/>
                <a:latin typeface="urw-din"/>
              </a:rPr>
              <a:t>data structure </a:t>
            </a:r>
            <a:r>
              <a:rPr lang="en-US" b="0" i="0" dirty="0">
                <a:effectLst/>
                <a:latin typeface="urw-din"/>
              </a:rPr>
              <a:t>is a particular way of organizing data in a computer so that it can be used effectively.</a:t>
            </a:r>
            <a:endParaRPr lang="en-US" b="1" dirty="0"/>
          </a:p>
          <a:p>
            <a:pPr marL="285750" indent="-285750">
              <a:lnSpc>
                <a:spcPct val="150000"/>
              </a:lnSpc>
              <a:spcAft>
                <a:spcPts val="800"/>
              </a:spcAft>
              <a:buFont typeface="Arial" panose="020B0604020202020204" pitchFamily="34" charset="0"/>
              <a:buChar char="•"/>
            </a:pPr>
            <a:r>
              <a:rPr lang="en-US" b="1" dirty="0"/>
              <a:t>Algorithm</a:t>
            </a:r>
          </a:p>
          <a:p>
            <a:pPr marL="742950" lvl="1" indent="-285750">
              <a:lnSpc>
                <a:spcPct val="150000"/>
              </a:lnSpc>
              <a:spcAft>
                <a:spcPts val="800"/>
              </a:spcAft>
              <a:buFont typeface="Arial" panose="020B0604020202020204" pitchFamily="34" charset="0"/>
              <a:buChar char="•"/>
            </a:pPr>
            <a:r>
              <a:rPr lang="en-US" b="0" i="0" dirty="0">
                <a:effectLst/>
                <a:latin typeface="Open Sans"/>
              </a:rPr>
              <a:t>An algorithm is a set of instructions designed to perform a specific task.</a:t>
            </a:r>
            <a:endParaRPr lang="en-US" b="1" dirty="0"/>
          </a:p>
          <a:p>
            <a:pPr marL="285750" indent="-285750">
              <a:lnSpc>
                <a:spcPct val="150000"/>
              </a:lnSpc>
              <a:spcAft>
                <a:spcPts val="800"/>
              </a:spcAft>
              <a:buFont typeface="Arial" panose="020B0604020202020204" pitchFamily="34" charset="0"/>
              <a:buChar char="•"/>
            </a:pPr>
            <a:r>
              <a:rPr lang="en-US" b="1" dirty="0"/>
              <a:t>Program</a:t>
            </a:r>
          </a:p>
          <a:p>
            <a:pPr marL="742950" lvl="1" indent="-285750">
              <a:lnSpc>
                <a:spcPct val="150000"/>
              </a:lnSpc>
              <a:spcAft>
                <a:spcPts val="800"/>
              </a:spcAft>
              <a:buFont typeface="Arial" panose="020B0604020202020204" pitchFamily="34" charset="0"/>
              <a:buChar char="•"/>
            </a:pPr>
            <a:r>
              <a:rPr lang="en-US" dirty="0"/>
              <a:t>Implementation of an algorithm in some programming language.</a:t>
            </a:r>
            <a:endParaRPr lang="en-PK" dirty="0"/>
          </a:p>
          <a:p>
            <a:pPr marL="285750" indent="-285750">
              <a:lnSpc>
                <a:spcPct val="150000"/>
              </a:lnSpc>
              <a:spcAft>
                <a:spcPts val="800"/>
              </a:spcAft>
              <a:buFont typeface="Arial" panose="020B0604020202020204" pitchFamily="34" charset="0"/>
              <a:buChar char="•"/>
            </a:pPr>
            <a:endParaRPr lang="en-US" b="1" dirty="0"/>
          </a:p>
          <a:p>
            <a:pPr>
              <a:lnSpc>
                <a:spcPct val="150000"/>
              </a:lnSpc>
            </a:pPr>
            <a:endParaRPr lang="en-US" b="1" dirty="0"/>
          </a:p>
          <a:p>
            <a:pPr marL="285750" indent="-285750">
              <a:lnSpc>
                <a:spcPct val="150000"/>
              </a:lnSpc>
              <a:spcAft>
                <a:spcPts val="800"/>
              </a:spcAft>
              <a:buFont typeface="Arial" panose="020B0604020202020204" pitchFamily="34" charset="0"/>
              <a:buChar char="•"/>
            </a:pPr>
            <a:endParaRPr lang="en-US" b="1" dirty="0"/>
          </a:p>
          <a:p>
            <a:pPr marL="285750" indent="-285750">
              <a:lnSpc>
                <a:spcPct val="150000"/>
              </a:lnSpc>
              <a:spcAft>
                <a:spcPts val="800"/>
              </a:spcAft>
              <a:buFont typeface="Arial" panose="020B0604020202020204" pitchFamily="34" charset="0"/>
              <a:buChar char="•"/>
            </a:pPr>
            <a:endParaRPr lang="en-US" b="1" dirty="0"/>
          </a:p>
        </p:txBody>
      </p:sp>
      <p:pic>
        <p:nvPicPr>
          <p:cNvPr id="2" name="Picture 1">
            <a:extLst>
              <a:ext uri="{FF2B5EF4-FFF2-40B4-BE49-F238E27FC236}">
                <a16:creationId xmlns:a16="http://schemas.microsoft.com/office/drawing/2014/main" xmlns="" id="{5F36A349-1E60-6AD3-9C59-0314087EF9F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3" name="Footer Placeholder 2">
            <a:extLst>
              <a:ext uri="{FF2B5EF4-FFF2-40B4-BE49-F238E27FC236}">
                <a16:creationId xmlns:a16="http://schemas.microsoft.com/office/drawing/2014/main" xmlns="" id="{30F95772-11AD-2E5A-0262-F96C50168EAF}"/>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
        <p:nvSpPr>
          <p:cNvPr id="4" name="TextBox 3">
            <a:extLst>
              <a:ext uri="{FF2B5EF4-FFF2-40B4-BE49-F238E27FC236}">
                <a16:creationId xmlns:a16="http://schemas.microsoft.com/office/drawing/2014/main" xmlns="" id="{01C22EF1-5D7C-5D0B-2FC5-DD4DCF0CB8B1}"/>
              </a:ext>
            </a:extLst>
          </p:cNvPr>
          <p:cNvSpPr txBox="1"/>
          <p:nvPr/>
        </p:nvSpPr>
        <p:spPr>
          <a:xfrm>
            <a:off x="0" y="89067"/>
            <a:ext cx="3886200" cy="461665"/>
          </a:xfrm>
          <a:prstGeom prst="rect">
            <a:avLst/>
          </a:prstGeom>
          <a:noFill/>
        </p:spPr>
        <p:txBody>
          <a:bodyPr wrap="square" rtlCol="0">
            <a:spAutoFit/>
          </a:bodyPr>
          <a:lstStyle/>
          <a:p>
            <a:r>
              <a:rPr lang="en-US" sz="2400" b="1" dirty="0">
                <a:solidFill>
                  <a:schemeClr val="accent1">
                    <a:lumMod val="50000"/>
                  </a:schemeClr>
                </a:solidFill>
              </a:rPr>
              <a:t>Basic Terminologies</a:t>
            </a:r>
            <a:r>
              <a:rPr lang="en-US" sz="1600" b="1" dirty="0">
                <a:solidFill>
                  <a:schemeClr val="accent1">
                    <a:lumMod val="50000"/>
                  </a:schemeClr>
                </a:solidFill>
              </a:rPr>
              <a:t> (Continue…)</a:t>
            </a:r>
            <a:endParaRPr lang="en-PK" sz="2400" b="1" dirty="0">
              <a:solidFill>
                <a:schemeClr val="accent1">
                  <a:lumMod val="50000"/>
                </a:schemeClr>
              </a:solidFill>
            </a:endParaRPr>
          </a:p>
        </p:txBody>
      </p:sp>
    </p:spTree>
    <p:extLst>
      <p:ext uri="{BB962C8B-B14F-4D97-AF65-F5344CB8AC3E}">
        <p14:creationId xmlns:p14="http://schemas.microsoft.com/office/powerpoint/2010/main" val="1112358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 calcmode="lin" valueType="num">
                                      <p:cBhvr additive="base">
                                        <p:cTn id="19"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anim calcmode="lin" valueType="num">
                                      <p:cBhvr additive="base">
                                        <p:cTn id="25"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8" end="8"/>
                                            </p:txEl>
                                          </p:spTgt>
                                        </p:tgtEl>
                                        <p:attrNameLst>
                                          <p:attrName>style.visibility</p:attrName>
                                        </p:attrNameLst>
                                      </p:cBhvr>
                                      <p:to>
                                        <p:strVal val="visible"/>
                                      </p:to>
                                    </p:set>
                                    <p:anim calcmode="lin" valueType="num">
                                      <p:cBhvr additive="base">
                                        <p:cTn id="31"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7D9DA5-16C7-4994-AB83-264A460E3BC6}"/>
              </a:ext>
            </a:extLst>
          </p:cNvPr>
          <p:cNvSpPr>
            <a:spLocks noGrp="1"/>
          </p:cNvSpPr>
          <p:nvPr>
            <p:ph type="title"/>
          </p:nvPr>
        </p:nvSpPr>
        <p:spPr>
          <a:xfrm>
            <a:off x="165100" y="254125"/>
            <a:ext cx="10515600" cy="766763"/>
          </a:xfrm>
        </p:spPr>
        <p:txBody>
          <a:bodyPr>
            <a:normAutofit/>
          </a:bodyPr>
          <a:lstStyle/>
          <a:p>
            <a:r>
              <a:rPr lang="en-US" sz="2800" b="1" dirty="0">
                <a:solidFill>
                  <a:schemeClr val="accent1">
                    <a:lumMod val="50000"/>
                  </a:schemeClr>
                </a:solidFill>
                <a:latin typeface="+mn-lt"/>
              </a:rPr>
              <a:t>Data Structure  </a:t>
            </a:r>
            <a:endParaRPr lang="en-PK" sz="2800" b="1" dirty="0">
              <a:solidFill>
                <a:schemeClr val="accent1">
                  <a:lumMod val="50000"/>
                </a:schemeClr>
              </a:solidFill>
              <a:latin typeface="+mn-lt"/>
            </a:endParaRPr>
          </a:p>
        </p:txBody>
      </p:sp>
      <p:pic>
        <p:nvPicPr>
          <p:cNvPr id="3" name="Picture 2">
            <a:extLst>
              <a:ext uri="{FF2B5EF4-FFF2-40B4-BE49-F238E27FC236}">
                <a16:creationId xmlns:a16="http://schemas.microsoft.com/office/drawing/2014/main" xmlns="" id="{9329FBBB-299B-64C7-BA1D-92361F4CC6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5" name="Footer Placeholder 2">
            <a:extLst>
              <a:ext uri="{FF2B5EF4-FFF2-40B4-BE49-F238E27FC236}">
                <a16:creationId xmlns:a16="http://schemas.microsoft.com/office/drawing/2014/main" xmlns="" id="{D2DCA2EF-9485-FE5D-F51F-77C22C994E54}"/>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pic>
        <p:nvPicPr>
          <p:cNvPr id="8" name="object 2">
            <a:extLst>
              <a:ext uri="{FF2B5EF4-FFF2-40B4-BE49-F238E27FC236}">
                <a16:creationId xmlns:a16="http://schemas.microsoft.com/office/drawing/2014/main" xmlns="" id="{E1C965CC-A63C-6D3B-40F3-1391219BDC56}"/>
              </a:ext>
            </a:extLst>
          </p:cNvPr>
          <p:cNvPicPr/>
          <p:nvPr/>
        </p:nvPicPr>
        <p:blipFill>
          <a:blip r:embed="rId3" cstate="print"/>
          <a:stretch>
            <a:fillRect/>
          </a:stretch>
        </p:blipFill>
        <p:spPr>
          <a:xfrm>
            <a:off x="7078113" y="4316899"/>
            <a:ext cx="3026952" cy="1761862"/>
          </a:xfrm>
          <a:prstGeom prst="rect">
            <a:avLst/>
          </a:prstGeom>
        </p:spPr>
      </p:pic>
      <p:pic>
        <p:nvPicPr>
          <p:cNvPr id="9" name="object 3">
            <a:extLst>
              <a:ext uri="{FF2B5EF4-FFF2-40B4-BE49-F238E27FC236}">
                <a16:creationId xmlns:a16="http://schemas.microsoft.com/office/drawing/2014/main" xmlns="" id="{9BBB024C-23D4-E591-B471-E811BFD33EF0}"/>
              </a:ext>
            </a:extLst>
          </p:cNvPr>
          <p:cNvPicPr/>
          <p:nvPr/>
        </p:nvPicPr>
        <p:blipFill>
          <a:blip r:embed="rId4" cstate="print"/>
          <a:stretch>
            <a:fillRect/>
          </a:stretch>
        </p:blipFill>
        <p:spPr>
          <a:xfrm>
            <a:off x="6405987" y="932689"/>
            <a:ext cx="3914004" cy="2871409"/>
          </a:xfrm>
          <a:prstGeom prst="rect">
            <a:avLst/>
          </a:prstGeom>
        </p:spPr>
      </p:pic>
      <p:sp>
        <p:nvSpPr>
          <p:cNvPr id="12" name="object 6">
            <a:extLst>
              <a:ext uri="{FF2B5EF4-FFF2-40B4-BE49-F238E27FC236}">
                <a16:creationId xmlns:a16="http://schemas.microsoft.com/office/drawing/2014/main" xmlns="" id="{5699B2AF-85A4-0E32-5FDC-A559BEF9D8E1}"/>
              </a:ext>
            </a:extLst>
          </p:cNvPr>
          <p:cNvSpPr txBox="1"/>
          <p:nvPr/>
        </p:nvSpPr>
        <p:spPr>
          <a:xfrm>
            <a:off x="581026" y="1380679"/>
            <a:ext cx="5824962" cy="3740150"/>
          </a:xfrm>
          <a:prstGeom prst="rect">
            <a:avLst/>
          </a:prstGeom>
        </p:spPr>
        <p:txBody>
          <a:bodyPr vert="horz" wrap="square" lIns="0" tIns="58419" rIns="0" bIns="0" rtlCol="0">
            <a:spAutoFit/>
          </a:bodyPr>
          <a:lstStyle/>
          <a:p>
            <a:pPr marL="306070" indent="-294005">
              <a:lnSpc>
                <a:spcPct val="100000"/>
              </a:lnSpc>
              <a:spcBef>
                <a:spcPts val="459"/>
              </a:spcBef>
              <a:buClr>
                <a:srgbClr val="9E4DA1"/>
              </a:buClr>
              <a:buChar char="•"/>
              <a:tabLst>
                <a:tab pos="306705" algn="l"/>
              </a:tabLst>
            </a:pPr>
            <a:r>
              <a:rPr sz="3150" b="1" spc="-45" dirty="0">
                <a:latin typeface="Calibri"/>
                <a:cs typeface="Calibri"/>
              </a:rPr>
              <a:t>Example:library</a:t>
            </a:r>
            <a:endParaRPr sz="3150" b="1" dirty="0">
              <a:latin typeface="Calibri"/>
              <a:cs typeface="Calibri"/>
            </a:endParaRPr>
          </a:p>
          <a:p>
            <a:pPr marL="629920" lvl="1" indent="-285750">
              <a:lnSpc>
                <a:spcPts val="3429"/>
              </a:lnSpc>
              <a:spcBef>
                <a:spcPts val="335"/>
              </a:spcBef>
              <a:buChar char="•"/>
              <a:tabLst>
                <a:tab pos="629920" algn="l"/>
                <a:tab pos="630555" algn="l"/>
                <a:tab pos="1082675" algn="l"/>
                <a:tab pos="2841625" algn="l"/>
                <a:tab pos="3371215" algn="l"/>
              </a:tabLst>
            </a:pPr>
            <a:r>
              <a:rPr sz="2900" spc="-25" dirty="0">
                <a:latin typeface="Calibri"/>
                <a:cs typeface="Calibri"/>
              </a:rPr>
              <a:t>is	</a:t>
            </a:r>
            <a:r>
              <a:rPr sz="2900" spc="-55" dirty="0">
                <a:latin typeface="Calibri"/>
                <a:cs typeface="Calibri"/>
              </a:rPr>
              <a:t>composed	</a:t>
            </a:r>
            <a:r>
              <a:rPr sz="2900" spc="-40" dirty="0">
                <a:latin typeface="Calibri"/>
                <a:cs typeface="Calibri"/>
              </a:rPr>
              <a:t>of	</a:t>
            </a:r>
            <a:r>
              <a:rPr sz="2900" spc="-60" dirty="0">
                <a:latin typeface="Calibri"/>
                <a:cs typeface="Calibri"/>
              </a:rPr>
              <a:t>elements</a:t>
            </a:r>
            <a:endParaRPr sz="2900" dirty="0">
              <a:latin typeface="Calibri"/>
              <a:cs typeface="Calibri"/>
            </a:endParaRPr>
          </a:p>
          <a:p>
            <a:pPr marL="629285">
              <a:lnSpc>
                <a:spcPts val="3490"/>
              </a:lnSpc>
            </a:pPr>
            <a:r>
              <a:rPr sz="2950" spc="-70" dirty="0">
                <a:latin typeface="Calibri"/>
                <a:cs typeface="Calibri"/>
              </a:rPr>
              <a:t>(books)</a:t>
            </a:r>
            <a:endParaRPr sz="2950" dirty="0">
              <a:latin typeface="Calibri"/>
              <a:cs typeface="Calibri"/>
            </a:endParaRPr>
          </a:p>
          <a:p>
            <a:pPr marL="628015" marR="6985" lvl="1" indent="-283845" algn="just">
              <a:lnSpc>
                <a:spcPct val="99000"/>
              </a:lnSpc>
              <a:spcBef>
                <a:spcPts val="315"/>
              </a:spcBef>
              <a:buChar char="•"/>
              <a:tabLst>
                <a:tab pos="629920" algn="l"/>
              </a:tabLst>
            </a:pPr>
            <a:r>
              <a:rPr sz="2900" spc="-45" dirty="0">
                <a:latin typeface="Calibri"/>
                <a:cs typeface="Calibri"/>
              </a:rPr>
              <a:t>Accessing a </a:t>
            </a:r>
            <a:r>
              <a:rPr sz="2900" spc="-40" dirty="0">
                <a:latin typeface="Calibri"/>
                <a:cs typeface="Calibri"/>
              </a:rPr>
              <a:t>particular </a:t>
            </a:r>
            <a:r>
              <a:rPr sz="2900" spc="-50" dirty="0">
                <a:latin typeface="Calibri"/>
                <a:cs typeface="Calibri"/>
              </a:rPr>
              <a:t>book  </a:t>
            </a:r>
            <a:r>
              <a:rPr sz="2900" spc="-55" dirty="0">
                <a:latin typeface="Calibri"/>
                <a:cs typeface="Calibri"/>
              </a:rPr>
              <a:t>requires </a:t>
            </a:r>
            <a:r>
              <a:rPr sz="2900" spc="-50" dirty="0">
                <a:latin typeface="Calibri"/>
                <a:cs typeface="Calibri"/>
              </a:rPr>
              <a:t>knowledge </a:t>
            </a:r>
            <a:r>
              <a:rPr sz="2900" spc="-40" dirty="0">
                <a:latin typeface="Calibri"/>
                <a:cs typeface="Calibri"/>
              </a:rPr>
              <a:t>of </a:t>
            </a:r>
            <a:r>
              <a:rPr sz="2900" spc="-45" dirty="0">
                <a:latin typeface="Calibri"/>
                <a:cs typeface="Calibri"/>
              </a:rPr>
              <a:t>the  </a:t>
            </a:r>
            <a:r>
              <a:rPr sz="2900" spc="-60" dirty="0">
                <a:latin typeface="Calibri"/>
                <a:cs typeface="Calibri"/>
              </a:rPr>
              <a:t>arrangement </a:t>
            </a:r>
            <a:r>
              <a:rPr sz="2900" spc="-40" dirty="0">
                <a:latin typeface="Calibri"/>
                <a:cs typeface="Calibri"/>
              </a:rPr>
              <a:t>of </a:t>
            </a:r>
            <a:r>
              <a:rPr sz="2900" spc="-45" dirty="0">
                <a:latin typeface="Calibri"/>
                <a:cs typeface="Calibri"/>
              </a:rPr>
              <a:t>the</a:t>
            </a:r>
            <a:r>
              <a:rPr sz="2900" spc="-120" dirty="0">
                <a:latin typeface="Calibri"/>
                <a:cs typeface="Calibri"/>
              </a:rPr>
              <a:t> </a:t>
            </a:r>
            <a:r>
              <a:rPr sz="2900" spc="-50" dirty="0">
                <a:latin typeface="Calibri"/>
                <a:cs typeface="Calibri"/>
              </a:rPr>
              <a:t>books</a:t>
            </a:r>
            <a:endParaRPr sz="2900" dirty="0">
              <a:latin typeface="Calibri"/>
              <a:cs typeface="Calibri"/>
            </a:endParaRPr>
          </a:p>
          <a:p>
            <a:pPr marL="629920" lvl="1" indent="-285115" algn="just">
              <a:lnSpc>
                <a:spcPts val="3400"/>
              </a:lnSpc>
              <a:spcBef>
                <a:spcPts val="335"/>
              </a:spcBef>
              <a:buChar char="•"/>
              <a:tabLst>
                <a:tab pos="630555" algn="l"/>
              </a:tabLst>
            </a:pPr>
            <a:r>
              <a:rPr sz="2850" spc="-30" dirty="0">
                <a:latin typeface="Calibri"/>
                <a:cs typeface="Calibri"/>
              </a:rPr>
              <a:t>Users </a:t>
            </a:r>
            <a:r>
              <a:rPr sz="2850" spc="-25" dirty="0">
                <a:latin typeface="Calibri"/>
                <a:cs typeface="Calibri"/>
              </a:rPr>
              <a:t>access </a:t>
            </a:r>
            <a:r>
              <a:rPr sz="2850" spc="-35" dirty="0">
                <a:latin typeface="Calibri"/>
                <a:cs typeface="Calibri"/>
              </a:rPr>
              <a:t>books</a:t>
            </a:r>
            <a:r>
              <a:rPr sz="2850" spc="120" dirty="0">
                <a:latin typeface="Calibri"/>
                <a:cs typeface="Calibri"/>
              </a:rPr>
              <a:t> </a:t>
            </a:r>
            <a:r>
              <a:rPr sz="2850" spc="-20" dirty="0">
                <a:latin typeface="Calibri"/>
                <a:cs typeface="Calibri"/>
              </a:rPr>
              <a:t>only</a:t>
            </a:r>
            <a:endParaRPr sz="2850" dirty="0">
              <a:latin typeface="Calibri"/>
              <a:cs typeface="Calibri"/>
            </a:endParaRPr>
          </a:p>
          <a:p>
            <a:pPr marL="629285" algn="just">
              <a:lnSpc>
                <a:spcPts val="3460"/>
              </a:lnSpc>
            </a:pPr>
            <a:r>
              <a:rPr sz="2900" spc="-45" dirty="0">
                <a:latin typeface="Calibri"/>
                <a:cs typeface="Calibri"/>
              </a:rPr>
              <a:t>through the</a:t>
            </a:r>
            <a:r>
              <a:rPr sz="2900" spc="200" dirty="0">
                <a:latin typeface="Calibri"/>
                <a:cs typeface="Calibri"/>
              </a:rPr>
              <a:t> </a:t>
            </a:r>
            <a:r>
              <a:rPr sz="2900" spc="-40" dirty="0">
                <a:latin typeface="Calibri"/>
                <a:cs typeface="Calibri"/>
              </a:rPr>
              <a:t>librarian</a:t>
            </a:r>
            <a:endParaRPr sz="2900" dirty="0">
              <a:latin typeface="Calibri"/>
              <a:cs typeface="Calibri"/>
            </a:endParaRPr>
          </a:p>
        </p:txBody>
      </p:sp>
    </p:spTree>
    <p:extLst>
      <p:ext uri="{BB962C8B-B14F-4D97-AF65-F5344CB8AC3E}">
        <p14:creationId xmlns:p14="http://schemas.microsoft.com/office/powerpoint/2010/main" val="26831131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7D9DA5-16C7-4994-AB83-264A460E3BC6}"/>
              </a:ext>
            </a:extLst>
          </p:cNvPr>
          <p:cNvSpPr>
            <a:spLocks noGrp="1"/>
          </p:cNvSpPr>
          <p:nvPr>
            <p:ph type="title"/>
          </p:nvPr>
        </p:nvSpPr>
        <p:spPr>
          <a:xfrm>
            <a:off x="581025" y="333375"/>
            <a:ext cx="10515600" cy="766763"/>
          </a:xfrm>
        </p:spPr>
        <p:txBody>
          <a:bodyPr>
            <a:normAutofit/>
          </a:bodyPr>
          <a:lstStyle/>
          <a:p>
            <a:r>
              <a:rPr lang="en-US" sz="2800" b="1" dirty="0">
                <a:solidFill>
                  <a:schemeClr val="accent1">
                    <a:lumMod val="50000"/>
                  </a:schemeClr>
                </a:solidFill>
                <a:latin typeface="+mn-lt"/>
              </a:rPr>
              <a:t>Data Structure</a:t>
            </a:r>
            <a:endParaRPr lang="en-PK" sz="2800" b="1" dirty="0">
              <a:solidFill>
                <a:schemeClr val="accent1">
                  <a:lumMod val="50000"/>
                </a:schemeClr>
              </a:solidFill>
              <a:latin typeface="+mn-lt"/>
            </a:endParaRPr>
          </a:p>
        </p:txBody>
      </p:sp>
      <p:sp>
        <p:nvSpPr>
          <p:cNvPr id="4" name="TextBox 3">
            <a:extLst>
              <a:ext uri="{FF2B5EF4-FFF2-40B4-BE49-F238E27FC236}">
                <a16:creationId xmlns:a16="http://schemas.microsoft.com/office/drawing/2014/main" xmlns="" id="{0D56E76A-90D2-4B11-8B35-252CA67E579A}"/>
              </a:ext>
            </a:extLst>
          </p:cNvPr>
          <p:cNvSpPr txBox="1"/>
          <p:nvPr/>
        </p:nvSpPr>
        <p:spPr>
          <a:xfrm>
            <a:off x="1504950" y="1100138"/>
            <a:ext cx="6974217" cy="1754326"/>
          </a:xfrm>
          <a:prstGeom prst="rect">
            <a:avLst/>
          </a:prstGeom>
          <a:noFill/>
        </p:spPr>
        <p:txBody>
          <a:bodyPr wrap="none" rtlCol="0">
            <a:spAutoFit/>
          </a:bodyPr>
          <a:lstStyle/>
          <a:p>
            <a:pPr marL="285750" indent="-285750" algn="just">
              <a:buFont typeface="Arial" panose="020B0604020202020204" pitchFamily="34" charset="0"/>
              <a:buChar char="•"/>
            </a:pPr>
            <a:r>
              <a:rPr lang="en-PK" sz="1800" dirty="0">
                <a:solidFill>
                  <a:srgbClr val="000000"/>
                </a:solidFill>
                <a:effectLst/>
                <a:ea typeface="Calibri" panose="020F0502020204030204" pitchFamily="34" charset="0"/>
                <a:cs typeface="Arial" panose="020B0604020202020204" pitchFamily="34" charset="0"/>
              </a:rPr>
              <a:t>is a systematic way to organize data in order to use it efficiently.</a:t>
            </a:r>
            <a:endParaRPr lang="en-US" sz="1800" dirty="0">
              <a:solidFill>
                <a:srgbClr val="000000"/>
              </a:solidFill>
              <a:effectLst/>
              <a:ea typeface="Calibri" panose="020F0502020204030204" pitchFamily="34" charset="0"/>
              <a:cs typeface="Arial" panose="020B0604020202020204" pitchFamily="34" charset="0"/>
            </a:endParaRPr>
          </a:p>
          <a:p>
            <a:pPr marL="285750" indent="-285750" algn="just">
              <a:buFont typeface="Arial" panose="020B0604020202020204" pitchFamily="34" charset="0"/>
              <a:buChar char="•"/>
            </a:pPr>
            <a:r>
              <a:rPr lang="en-US" dirty="0">
                <a:solidFill>
                  <a:srgbClr val="000000"/>
                </a:solidFill>
                <a:ea typeface="Calibri" panose="020F0502020204030204" pitchFamily="34" charset="0"/>
                <a:cs typeface="Arial" panose="020B0604020202020204" pitchFamily="34" charset="0"/>
              </a:rPr>
              <a:t>the logical or mathematical model of a particular organization of data</a:t>
            </a:r>
          </a:p>
          <a:p>
            <a:pPr marL="285750" indent="-285750" algn="just">
              <a:buFont typeface="Arial" panose="020B0604020202020204" pitchFamily="34" charset="0"/>
              <a:buChar char="•"/>
            </a:pPr>
            <a:r>
              <a:rPr lang="en-US" dirty="0">
                <a:solidFill>
                  <a:srgbClr val="000000"/>
                </a:solidFill>
                <a:ea typeface="Calibri" panose="020F0502020204030204" pitchFamily="34" charset="0"/>
                <a:cs typeface="Arial" panose="020B0604020202020204" pitchFamily="34" charset="0"/>
              </a:rPr>
              <a:t>.</a:t>
            </a:r>
          </a:p>
          <a:p>
            <a:pPr marL="285750" indent="-285750" algn="just">
              <a:buFont typeface="Arial" panose="020B0604020202020204" pitchFamily="34" charset="0"/>
              <a:buChar char="•"/>
            </a:pPr>
            <a:r>
              <a:rPr lang="en-US" sz="1800" dirty="0">
                <a:solidFill>
                  <a:srgbClr val="000000"/>
                </a:solidFill>
                <a:effectLst/>
                <a:ea typeface="Calibri" panose="020F0502020204030204" pitchFamily="34" charset="0"/>
                <a:cs typeface="Arial" panose="020B0604020202020204" pitchFamily="34" charset="0"/>
              </a:rPr>
              <a:t>.</a:t>
            </a:r>
          </a:p>
          <a:p>
            <a:pPr marL="285750" indent="-285750" algn="just">
              <a:buFont typeface="Arial" panose="020B0604020202020204" pitchFamily="34" charset="0"/>
              <a:buChar char="•"/>
            </a:pPr>
            <a:r>
              <a:rPr lang="en-US" dirty="0">
                <a:solidFill>
                  <a:srgbClr val="000000"/>
                </a:solidFill>
                <a:ea typeface="Calibri" panose="020F0502020204030204" pitchFamily="34" charset="0"/>
                <a:cs typeface="Arial" panose="020B0604020202020204" pitchFamily="34" charset="0"/>
              </a:rPr>
              <a:t>and so on</a:t>
            </a:r>
            <a:endParaRPr lang="en-PK" sz="1800" dirty="0">
              <a:effectLst/>
              <a:ea typeface="Calibri" panose="020F0502020204030204" pitchFamily="34" charset="0"/>
              <a:cs typeface="Arial" panose="020B0604020202020204" pitchFamily="34" charset="0"/>
            </a:endParaRPr>
          </a:p>
          <a:p>
            <a:pPr algn="just"/>
            <a:endParaRPr lang="en-PK" dirty="0"/>
          </a:p>
        </p:txBody>
      </p:sp>
      <p:sp>
        <p:nvSpPr>
          <p:cNvPr id="6" name="TextBox 5">
            <a:extLst>
              <a:ext uri="{FF2B5EF4-FFF2-40B4-BE49-F238E27FC236}">
                <a16:creationId xmlns:a16="http://schemas.microsoft.com/office/drawing/2014/main" xmlns="" id="{1F850B6B-DD26-4027-ADCC-44A3CC533BFD}"/>
              </a:ext>
            </a:extLst>
          </p:cNvPr>
          <p:cNvSpPr txBox="1"/>
          <p:nvPr/>
        </p:nvSpPr>
        <p:spPr>
          <a:xfrm>
            <a:off x="581025" y="3105834"/>
            <a:ext cx="583429" cy="646331"/>
          </a:xfrm>
          <a:prstGeom prst="rect">
            <a:avLst/>
          </a:prstGeom>
          <a:noFill/>
        </p:spPr>
        <p:txBody>
          <a:bodyPr wrap="none" rtlCol="0">
            <a:spAutoFit/>
          </a:bodyPr>
          <a:lstStyle/>
          <a:p>
            <a:r>
              <a:rPr lang="en-US" b="1" dirty="0"/>
              <a:t>E.g. </a:t>
            </a:r>
          </a:p>
          <a:p>
            <a:endParaRPr lang="en-PK" b="1" dirty="0"/>
          </a:p>
        </p:txBody>
      </p:sp>
      <p:sp>
        <p:nvSpPr>
          <p:cNvPr id="7" name="TextBox 6">
            <a:extLst>
              <a:ext uri="{FF2B5EF4-FFF2-40B4-BE49-F238E27FC236}">
                <a16:creationId xmlns:a16="http://schemas.microsoft.com/office/drawing/2014/main" xmlns="" id="{A61003E0-DCE2-4757-AE42-629AA2DCF3F2}"/>
              </a:ext>
            </a:extLst>
          </p:cNvPr>
          <p:cNvSpPr txBox="1"/>
          <p:nvPr/>
        </p:nvSpPr>
        <p:spPr>
          <a:xfrm>
            <a:off x="1157721" y="3752165"/>
            <a:ext cx="2071336" cy="2031325"/>
          </a:xfrm>
          <a:prstGeom prst="rect">
            <a:avLst/>
          </a:prstGeom>
          <a:noFill/>
        </p:spPr>
        <p:txBody>
          <a:bodyPr wrap="none" rtlCol="0">
            <a:spAutoFit/>
          </a:bodyPr>
          <a:lstStyle/>
          <a:p>
            <a:pPr marL="285750" indent="-285750">
              <a:buFont typeface="Arial" panose="020B0604020202020204" pitchFamily="34" charset="0"/>
              <a:buChar char="•"/>
            </a:pPr>
            <a:r>
              <a:rPr lang="en-US" dirty="0"/>
              <a:t>Arrays</a:t>
            </a:r>
          </a:p>
          <a:p>
            <a:pPr marL="285750" indent="-285750">
              <a:buFont typeface="Arial" panose="020B0604020202020204" pitchFamily="34" charset="0"/>
              <a:buChar char="•"/>
            </a:pPr>
            <a:r>
              <a:rPr lang="en-US" dirty="0"/>
              <a:t>Linked List</a:t>
            </a:r>
          </a:p>
          <a:p>
            <a:pPr marL="285750" indent="-285750">
              <a:buFont typeface="Arial" panose="020B0604020202020204" pitchFamily="34" charset="0"/>
              <a:buChar char="•"/>
            </a:pPr>
            <a:r>
              <a:rPr lang="en-US" dirty="0"/>
              <a:t>Trees</a:t>
            </a:r>
          </a:p>
          <a:p>
            <a:pPr marL="285750" indent="-285750">
              <a:buFont typeface="Arial" panose="020B0604020202020204" pitchFamily="34" charset="0"/>
              <a:buChar char="•"/>
            </a:pPr>
            <a:r>
              <a:rPr lang="en-US" dirty="0"/>
              <a:t>Stack</a:t>
            </a:r>
          </a:p>
          <a:p>
            <a:pPr marL="285750" indent="-285750">
              <a:buFont typeface="Arial" panose="020B0604020202020204" pitchFamily="34" charset="0"/>
              <a:buChar char="•"/>
            </a:pPr>
            <a:r>
              <a:rPr lang="en-US" dirty="0"/>
              <a:t>Queue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Describe little bit</a:t>
            </a:r>
          </a:p>
        </p:txBody>
      </p:sp>
      <p:pic>
        <p:nvPicPr>
          <p:cNvPr id="3" name="Picture 2">
            <a:extLst>
              <a:ext uri="{FF2B5EF4-FFF2-40B4-BE49-F238E27FC236}">
                <a16:creationId xmlns:a16="http://schemas.microsoft.com/office/drawing/2014/main" xmlns="" id="{9329FBBB-299B-64C7-BA1D-92361F4CC6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5" name="Footer Placeholder 2">
            <a:extLst>
              <a:ext uri="{FF2B5EF4-FFF2-40B4-BE49-F238E27FC236}">
                <a16:creationId xmlns:a16="http://schemas.microsoft.com/office/drawing/2014/main" xmlns="" id="{D2DCA2EF-9485-FE5D-F51F-77C22C994E54}"/>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2425995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1000"/>
                                        <p:tgtEl>
                                          <p:spTgt spid="7">
                                            <p:txEl>
                                              <p:pRg st="0" end="0"/>
                                            </p:txEl>
                                          </p:spTgt>
                                        </p:tgtEl>
                                      </p:cBhvr>
                                    </p:animEffect>
                                    <p:anim calcmode="lin" valueType="num">
                                      <p:cBhvr>
                                        <p:cTn id="20"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fade">
                                      <p:cBhvr>
                                        <p:cTn id="24" dur="1000"/>
                                        <p:tgtEl>
                                          <p:spTgt spid="7">
                                            <p:txEl>
                                              <p:pRg st="1" end="1"/>
                                            </p:txEl>
                                          </p:spTgt>
                                        </p:tgtEl>
                                      </p:cBhvr>
                                    </p:animEffect>
                                    <p:anim calcmode="lin" valueType="num">
                                      <p:cBhvr>
                                        <p:cTn id="2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7">
                                            <p:txEl>
                                              <p:pRg st="2" end="2"/>
                                            </p:txEl>
                                          </p:spTgt>
                                        </p:tgtEl>
                                        <p:attrNameLst>
                                          <p:attrName>style.visibility</p:attrName>
                                        </p:attrNameLst>
                                      </p:cBhvr>
                                      <p:to>
                                        <p:strVal val="visible"/>
                                      </p:to>
                                    </p:set>
                                    <p:animEffect transition="in" filter="fade">
                                      <p:cBhvr>
                                        <p:cTn id="29" dur="1000"/>
                                        <p:tgtEl>
                                          <p:spTgt spid="7">
                                            <p:txEl>
                                              <p:pRg st="2" end="2"/>
                                            </p:txEl>
                                          </p:spTgt>
                                        </p:tgtEl>
                                      </p:cBhvr>
                                    </p:animEffect>
                                    <p:anim calcmode="lin" valueType="num">
                                      <p:cBhvr>
                                        <p:cTn id="3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2" end="2"/>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7">
                                            <p:txEl>
                                              <p:pRg st="3" end="3"/>
                                            </p:txEl>
                                          </p:spTgt>
                                        </p:tgtEl>
                                        <p:attrNameLst>
                                          <p:attrName>style.visibility</p:attrName>
                                        </p:attrNameLst>
                                      </p:cBhvr>
                                      <p:to>
                                        <p:strVal val="visible"/>
                                      </p:to>
                                    </p:set>
                                    <p:animEffect transition="in" filter="fade">
                                      <p:cBhvr>
                                        <p:cTn id="34" dur="1000"/>
                                        <p:tgtEl>
                                          <p:spTgt spid="7">
                                            <p:txEl>
                                              <p:pRg st="3" end="3"/>
                                            </p:txEl>
                                          </p:spTgt>
                                        </p:tgtEl>
                                      </p:cBhvr>
                                    </p:animEffect>
                                    <p:anim calcmode="lin" valueType="num">
                                      <p:cBhvr>
                                        <p:cTn id="3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7">
                                            <p:txEl>
                                              <p:pRg st="4" end="4"/>
                                            </p:txEl>
                                          </p:spTgt>
                                        </p:tgtEl>
                                        <p:attrNameLst>
                                          <p:attrName>style.visibility</p:attrName>
                                        </p:attrNameLst>
                                      </p:cBhvr>
                                      <p:to>
                                        <p:strVal val="visible"/>
                                      </p:to>
                                    </p:set>
                                    <p:animEffect transition="in" filter="fade">
                                      <p:cBhvr>
                                        <p:cTn id="39" dur="1000"/>
                                        <p:tgtEl>
                                          <p:spTgt spid="7">
                                            <p:txEl>
                                              <p:pRg st="4" end="4"/>
                                            </p:txEl>
                                          </p:spTgt>
                                        </p:tgtEl>
                                      </p:cBhvr>
                                    </p:animEffect>
                                    <p:anim calcmode="lin" valueType="num">
                                      <p:cBhvr>
                                        <p:cTn id="40"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4" end="4"/>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6" descr="Public Relations, MUET, SZAB Campus Khairpur Mir's - College &amp; University |  Facebook - 9,847 Photos">
            <a:extLst>
              <a:ext uri="{FF2B5EF4-FFF2-40B4-BE49-F238E27FC236}">
                <a16:creationId xmlns:a16="http://schemas.microsoft.com/office/drawing/2014/main" xmlns="" id="{6116C718-3846-4624-B6B5-8DD7C401EE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661" y="5042142"/>
            <a:ext cx="1655637" cy="1655637"/>
          </a:xfrm>
          <a:prstGeom prst="rect">
            <a:avLst/>
          </a:prstGeom>
          <a:noFill/>
          <a:effectLst>
            <a:outerShdw dir="600000" algn="ctr" rotWithShape="0">
              <a:srgbClr val="000000">
                <a:alpha val="25000"/>
              </a:srgbClr>
            </a:outerShdw>
            <a:reflection stA="55000" endPos="65000" dist="50800" dir="5400000" sy="-100000" algn="bl" rotWithShape="0"/>
            <a:softEdge rad="10668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xmlns="" id="{7BB4D5F8-F6E8-4C65-8DB4-17E2EB438D11}"/>
              </a:ext>
            </a:extLst>
          </p:cNvPr>
          <p:cNvSpPr>
            <a:spLocks noGrp="1"/>
          </p:cNvSpPr>
          <p:nvPr>
            <p:ph type="title"/>
          </p:nvPr>
        </p:nvSpPr>
        <p:spPr>
          <a:xfrm>
            <a:off x="383627" y="279091"/>
            <a:ext cx="10515600" cy="692205"/>
          </a:xfrm>
        </p:spPr>
        <p:txBody>
          <a:bodyPr>
            <a:normAutofit/>
          </a:bodyPr>
          <a:lstStyle/>
          <a:p>
            <a:r>
              <a:rPr lang="en-US" sz="2400" b="1" dirty="0">
                <a:solidFill>
                  <a:schemeClr val="accent1">
                    <a:lumMod val="50000"/>
                  </a:schemeClr>
                </a:solidFill>
                <a:latin typeface="+mn-lt"/>
              </a:rPr>
              <a:t>Classification of Data Structures</a:t>
            </a:r>
            <a:endParaRPr lang="en-PK" sz="2400" b="1" dirty="0">
              <a:solidFill>
                <a:schemeClr val="accent1">
                  <a:lumMod val="50000"/>
                </a:schemeClr>
              </a:solidFill>
              <a:latin typeface="+mn-lt"/>
            </a:endParaRPr>
          </a:p>
        </p:txBody>
      </p:sp>
      <p:sp>
        <p:nvSpPr>
          <p:cNvPr id="3" name="TextBox 2">
            <a:extLst>
              <a:ext uri="{FF2B5EF4-FFF2-40B4-BE49-F238E27FC236}">
                <a16:creationId xmlns:a16="http://schemas.microsoft.com/office/drawing/2014/main" xmlns="" id="{C7E7519F-1A9C-4F8C-A65D-4FAB64617D9A}"/>
              </a:ext>
            </a:extLst>
          </p:cNvPr>
          <p:cNvSpPr txBox="1"/>
          <p:nvPr/>
        </p:nvSpPr>
        <p:spPr>
          <a:xfrm>
            <a:off x="5348177" y="1477926"/>
            <a:ext cx="1575560" cy="369332"/>
          </a:xfrm>
          <a:prstGeom prst="rect">
            <a:avLst/>
          </a:prstGeom>
          <a:noFill/>
        </p:spPr>
        <p:txBody>
          <a:bodyPr wrap="none" rtlCol="0">
            <a:spAutoFit/>
          </a:bodyPr>
          <a:lstStyle/>
          <a:p>
            <a:r>
              <a:rPr lang="en-US" b="1" dirty="0"/>
              <a:t>Data Structure</a:t>
            </a:r>
            <a:endParaRPr lang="en-PK" b="1" dirty="0"/>
          </a:p>
        </p:txBody>
      </p:sp>
      <p:graphicFrame>
        <p:nvGraphicFramePr>
          <p:cNvPr id="4" name="Table 5">
            <a:extLst>
              <a:ext uri="{FF2B5EF4-FFF2-40B4-BE49-F238E27FC236}">
                <a16:creationId xmlns:a16="http://schemas.microsoft.com/office/drawing/2014/main" xmlns="" id="{2DA5C52C-AF53-48D6-A92C-6C7EB85FBEFA}"/>
              </a:ext>
            </a:extLst>
          </p:cNvPr>
          <p:cNvGraphicFramePr>
            <a:graphicFrameLocks noGrp="1"/>
          </p:cNvGraphicFramePr>
          <p:nvPr/>
        </p:nvGraphicFramePr>
        <p:xfrm>
          <a:off x="2051978" y="2288516"/>
          <a:ext cx="8128000" cy="365760"/>
        </p:xfrm>
        <a:graphic>
          <a:graphicData uri="http://schemas.openxmlformats.org/drawingml/2006/table">
            <a:tbl>
              <a:tblPr firstRow="1" bandRow="1">
                <a:tableStyleId>{16D9F66E-5EB9-4882-86FB-DCBF35E3C3E4}</a:tableStyleId>
              </a:tblPr>
              <a:tblGrid>
                <a:gridCol w="4064000">
                  <a:extLst>
                    <a:ext uri="{9D8B030D-6E8A-4147-A177-3AD203B41FA5}">
                      <a16:colId xmlns:a16="http://schemas.microsoft.com/office/drawing/2014/main" xmlns="" val="301088280"/>
                    </a:ext>
                  </a:extLst>
                </a:gridCol>
                <a:gridCol w="4064000">
                  <a:extLst>
                    <a:ext uri="{9D8B030D-6E8A-4147-A177-3AD203B41FA5}">
                      <a16:colId xmlns:a16="http://schemas.microsoft.com/office/drawing/2014/main" xmlns="" val="781361000"/>
                    </a:ext>
                  </a:extLst>
                </a:gridCol>
              </a:tblGrid>
              <a:tr h="252665">
                <a:tc>
                  <a:txBody>
                    <a:bodyPr/>
                    <a:lstStyle/>
                    <a:p>
                      <a:pPr algn="ctr"/>
                      <a:r>
                        <a:rPr lang="en-US" b="1" dirty="0"/>
                        <a:t>Primitive Data Structure</a:t>
                      </a:r>
                      <a:endParaRPr lang="en-PK"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Non-Primitive Data Structure</a:t>
                      </a:r>
                      <a:endParaRPr lang="en-PK" b="1" dirty="0"/>
                    </a:p>
                  </a:txBody>
                  <a:tcPr/>
                </a:tc>
                <a:extLst>
                  <a:ext uri="{0D108BD9-81ED-4DB2-BD59-A6C34878D82A}">
                    <a16:rowId xmlns:a16="http://schemas.microsoft.com/office/drawing/2014/main" xmlns="" val="823412771"/>
                  </a:ext>
                </a:extLst>
              </a:tr>
            </a:tbl>
          </a:graphicData>
        </a:graphic>
      </p:graphicFrame>
      <p:cxnSp>
        <p:nvCxnSpPr>
          <p:cNvPr id="10" name="Straight Arrow Connector 9">
            <a:extLst>
              <a:ext uri="{FF2B5EF4-FFF2-40B4-BE49-F238E27FC236}">
                <a16:creationId xmlns:a16="http://schemas.microsoft.com/office/drawing/2014/main" xmlns="" id="{3197F51D-EF92-40B4-95E1-72767F39EAC1}"/>
              </a:ext>
            </a:extLst>
          </p:cNvPr>
          <p:cNvCxnSpPr>
            <a:stCxn id="3" idx="2"/>
          </p:cNvCxnSpPr>
          <p:nvPr/>
        </p:nvCxnSpPr>
        <p:spPr>
          <a:xfrm>
            <a:off x="6135957" y="1847258"/>
            <a:ext cx="0" cy="32178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aphicFrame>
        <p:nvGraphicFramePr>
          <p:cNvPr id="11" name="Table 11">
            <a:extLst>
              <a:ext uri="{FF2B5EF4-FFF2-40B4-BE49-F238E27FC236}">
                <a16:creationId xmlns:a16="http://schemas.microsoft.com/office/drawing/2014/main" xmlns="" id="{4E169841-F20D-4674-8582-1607539A4921}"/>
              </a:ext>
            </a:extLst>
          </p:cNvPr>
          <p:cNvGraphicFramePr>
            <a:graphicFrameLocks noGrp="1"/>
          </p:cNvGraphicFramePr>
          <p:nvPr/>
        </p:nvGraphicFramePr>
        <p:xfrm>
          <a:off x="543442" y="3429000"/>
          <a:ext cx="4677144" cy="365760"/>
        </p:xfrm>
        <a:graphic>
          <a:graphicData uri="http://schemas.openxmlformats.org/drawingml/2006/table">
            <a:tbl>
              <a:tblPr firstRow="1" bandRow="1"/>
              <a:tblGrid>
                <a:gridCol w="1169286">
                  <a:extLst>
                    <a:ext uri="{9D8B030D-6E8A-4147-A177-3AD203B41FA5}">
                      <a16:colId xmlns:a16="http://schemas.microsoft.com/office/drawing/2014/main" xmlns="" val="1157679931"/>
                    </a:ext>
                  </a:extLst>
                </a:gridCol>
                <a:gridCol w="1169286">
                  <a:extLst>
                    <a:ext uri="{9D8B030D-6E8A-4147-A177-3AD203B41FA5}">
                      <a16:colId xmlns:a16="http://schemas.microsoft.com/office/drawing/2014/main" xmlns="" val="721032470"/>
                    </a:ext>
                  </a:extLst>
                </a:gridCol>
                <a:gridCol w="1169286">
                  <a:extLst>
                    <a:ext uri="{9D8B030D-6E8A-4147-A177-3AD203B41FA5}">
                      <a16:colId xmlns:a16="http://schemas.microsoft.com/office/drawing/2014/main" xmlns="" val="115211788"/>
                    </a:ext>
                  </a:extLst>
                </a:gridCol>
                <a:gridCol w="1169286">
                  <a:extLst>
                    <a:ext uri="{9D8B030D-6E8A-4147-A177-3AD203B41FA5}">
                      <a16:colId xmlns:a16="http://schemas.microsoft.com/office/drawing/2014/main" xmlns="" val="973190738"/>
                    </a:ext>
                  </a:extLst>
                </a:gridCol>
              </a:tblGrid>
              <a:tr h="365760">
                <a:tc>
                  <a:txBody>
                    <a:bodyPr/>
                    <a:lstStyle/>
                    <a:p>
                      <a:pPr algn="ctr"/>
                      <a:r>
                        <a:rPr lang="en-US" b="1" dirty="0"/>
                        <a:t>Integer</a:t>
                      </a:r>
                      <a:endParaRPr lang="en-PK" b="1" dirty="0"/>
                    </a:p>
                  </a:txBody>
                  <a:tcPr/>
                </a:tc>
                <a:tc>
                  <a:txBody>
                    <a:bodyPr/>
                    <a:lstStyle/>
                    <a:p>
                      <a:pPr algn="ctr"/>
                      <a:r>
                        <a:rPr lang="en-US" b="1" dirty="0"/>
                        <a:t>Real</a:t>
                      </a:r>
                      <a:endParaRPr lang="en-PK" b="1" dirty="0"/>
                    </a:p>
                  </a:txBody>
                  <a:tcPr/>
                </a:tc>
                <a:tc>
                  <a:txBody>
                    <a:bodyPr/>
                    <a:lstStyle/>
                    <a:p>
                      <a:pPr algn="ctr"/>
                      <a:r>
                        <a:rPr lang="en-US" b="1" dirty="0"/>
                        <a:t>Character</a:t>
                      </a:r>
                      <a:endParaRPr lang="en-PK" b="1" dirty="0"/>
                    </a:p>
                  </a:txBody>
                  <a:tcPr/>
                </a:tc>
                <a:tc>
                  <a:txBody>
                    <a:bodyPr/>
                    <a:lstStyle/>
                    <a:p>
                      <a:pPr algn="ctr"/>
                      <a:r>
                        <a:rPr lang="en-US" b="1" dirty="0"/>
                        <a:t>Boolean</a:t>
                      </a:r>
                      <a:endParaRPr lang="en-PK" b="1" dirty="0"/>
                    </a:p>
                  </a:txBody>
                  <a:tcPr/>
                </a:tc>
                <a:extLst>
                  <a:ext uri="{0D108BD9-81ED-4DB2-BD59-A6C34878D82A}">
                    <a16:rowId xmlns:a16="http://schemas.microsoft.com/office/drawing/2014/main" xmlns="" val="3659689770"/>
                  </a:ext>
                </a:extLst>
              </a:tr>
            </a:tbl>
          </a:graphicData>
        </a:graphic>
      </p:graphicFrame>
      <p:graphicFrame>
        <p:nvGraphicFramePr>
          <p:cNvPr id="12" name="Table 12">
            <a:extLst>
              <a:ext uri="{FF2B5EF4-FFF2-40B4-BE49-F238E27FC236}">
                <a16:creationId xmlns:a16="http://schemas.microsoft.com/office/drawing/2014/main" xmlns="" id="{17A53F8C-5D62-4E68-97ED-DB91AEE31267}"/>
              </a:ext>
            </a:extLst>
          </p:cNvPr>
          <p:cNvGraphicFramePr>
            <a:graphicFrameLocks noGrp="1"/>
          </p:cNvGraphicFramePr>
          <p:nvPr/>
        </p:nvGraphicFramePr>
        <p:xfrm>
          <a:off x="5996763" y="3423920"/>
          <a:ext cx="5911702" cy="370840"/>
        </p:xfrm>
        <a:graphic>
          <a:graphicData uri="http://schemas.openxmlformats.org/drawingml/2006/table">
            <a:tbl>
              <a:tblPr firstRow="1" bandRow="1"/>
              <a:tblGrid>
                <a:gridCol w="2955851">
                  <a:extLst>
                    <a:ext uri="{9D8B030D-6E8A-4147-A177-3AD203B41FA5}">
                      <a16:colId xmlns:a16="http://schemas.microsoft.com/office/drawing/2014/main" xmlns="" val="583618410"/>
                    </a:ext>
                  </a:extLst>
                </a:gridCol>
                <a:gridCol w="2955851">
                  <a:extLst>
                    <a:ext uri="{9D8B030D-6E8A-4147-A177-3AD203B41FA5}">
                      <a16:colId xmlns:a16="http://schemas.microsoft.com/office/drawing/2014/main" xmlns="" val="1063630079"/>
                    </a:ext>
                  </a:extLst>
                </a:gridCol>
              </a:tblGrid>
              <a:tr h="370840">
                <a:tc>
                  <a:txBody>
                    <a:bodyPr/>
                    <a:lstStyle/>
                    <a:p>
                      <a:r>
                        <a:rPr lang="en-US" b="1" dirty="0"/>
                        <a:t>Linear Data Structure</a:t>
                      </a:r>
                      <a:endParaRPr lang="en-PK" b="1" dirty="0"/>
                    </a:p>
                  </a:txBody>
                  <a:tcPr/>
                </a:tc>
                <a:tc>
                  <a:txBody>
                    <a:bodyPr/>
                    <a:lstStyle/>
                    <a:p>
                      <a:r>
                        <a:rPr lang="en-US" b="1" dirty="0"/>
                        <a:t>Non-Linear Data Structure</a:t>
                      </a:r>
                      <a:endParaRPr lang="en-PK" b="1" dirty="0"/>
                    </a:p>
                  </a:txBody>
                  <a:tcPr/>
                </a:tc>
                <a:extLst>
                  <a:ext uri="{0D108BD9-81ED-4DB2-BD59-A6C34878D82A}">
                    <a16:rowId xmlns:a16="http://schemas.microsoft.com/office/drawing/2014/main" xmlns="" val="3133315497"/>
                  </a:ext>
                </a:extLst>
              </a:tr>
            </a:tbl>
          </a:graphicData>
        </a:graphic>
      </p:graphicFrame>
      <p:cxnSp>
        <p:nvCxnSpPr>
          <p:cNvPr id="15" name="Straight Arrow Connector 14">
            <a:extLst>
              <a:ext uri="{FF2B5EF4-FFF2-40B4-BE49-F238E27FC236}">
                <a16:creationId xmlns:a16="http://schemas.microsoft.com/office/drawing/2014/main" xmlns="" id="{EE7571A8-7995-4A60-A610-C1EB0B1C643A}"/>
              </a:ext>
            </a:extLst>
          </p:cNvPr>
          <p:cNvCxnSpPr/>
          <p:nvPr/>
        </p:nvCxnSpPr>
        <p:spPr>
          <a:xfrm>
            <a:off x="6128867" y="2637614"/>
            <a:ext cx="0" cy="32178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Connector: Elbow 16">
            <a:extLst>
              <a:ext uri="{FF2B5EF4-FFF2-40B4-BE49-F238E27FC236}">
                <a16:creationId xmlns:a16="http://schemas.microsoft.com/office/drawing/2014/main" xmlns="" id="{679EEBE3-236F-453B-92B5-D3A4C8FDE54F}"/>
              </a:ext>
            </a:extLst>
          </p:cNvPr>
          <p:cNvCxnSpPr>
            <a:cxnSpLocks/>
            <a:endCxn id="12" idx="0"/>
          </p:cNvCxnSpPr>
          <p:nvPr/>
        </p:nvCxnSpPr>
        <p:spPr>
          <a:xfrm flipV="1">
            <a:off x="2354079" y="3423920"/>
            <a:ext cx="6598535" cy="6352"/>
          </a:xfrm>
          <a:prstGeom prst="bentConnector4">
            <a:avLst>
              <a:gd name="adj1" fmla="val 4560"/>
              <a:gd name="adj2" fmla="val 7381423"/>
            </a:avLst>
          </a:prstGeom>
        </p:spPr>
        <p:style>
          <a:lnRef idx="3">
            <a:schemeClr val="dk1"/>
          </a:lnRef>
          <a:fillRef idx="0">
            <a:schemeClr val="dk1"/>
          </a:fillRef>
          <a:effectRef idx="2">
            <a:schemeClr val="dk1"/>
          </a:effectRef>
          <a:fontRef idx="minor">
            <a:schemeClr val="tx1"/>
          </a:fontRef>
        </p:style>
      </p:cxnSp>
      <p:graphicFrame>
        <p:nvGraphicFramePr>
          <p:cNvPr id="21" name="Table 21">
            <a:extLst>
              <a:ext uri="{FF2B5EF4-FFF2-40B4-BE49-F238E27FC236}">
                <a16:creationId xmlns:a16="http://schemas.microsoft.com/office/drawing/2014/main" xmlns="" id="{752A65FA-81A8-41F1-B746-27DA6B800F24}"/>
              </a:ext>
            </a:extLst>
          </p:cNvPr>
          <p:cNvGraphicFramePr>
            <a:graphicFrameLocks noGrp="1"/>
          </p:cNvGraphicFramePr>
          <p:nvPr/>
        </p:nvGraphicFramePr>
        <p:xfrm>
          <a:off x="6525016" y="4365220"/>
          <a:ext cx="1477925" cy="1483360"/>
        </p:xfrm>
        <a:graphic>
          <a:graphicData uri="http://schemas.openxmlformats.org/drawingml/2006/table">
            <a:tbl>
              <a:tblPr firstRow="1" bandRow="1"/>
              <a:tblGrid>
                <a:gridCol w="1477925">
                  <a:extLst>
                    <a:ext uri="{9D8B030D-6E8A-4147-A177-3AD203B41FA5}">
                      <a16:colId xmlns:a16="http://schemas.microsoft.com/office/drawing/2014/main" xmlns="" val="979328527"/>
                    </a:ext>
                  </a:extLst>
                </a:gridCol>
              </a:tblGrid>
              <a:tr h="370840">
                <a:tc>
                  <a:txBody>
                    <a:bodyPr/>
                    <a:lstStyle/>
                    <a:p>
                      <a:r>
                        <a:rPr lang="en-US" b="1" dirty="0"/>
                        <a:t>Arrays</a:t>
                      </a:r>
                      <a:endParaRPr lang="en-PK" b="1" dirty="0"/>
                    </a:p>
                  </a:txBody>
                  <a:tcPr/>
                </a:tc>
                <a:extLst>
                  <a:ext uri="{0D108BD9-81ED-4DB2-BD59-A6C34878D82A}">
                    <a16:rowId xmlns:a16="http://schemas.microsoft.com/office/drawing/2014/main" xmlns="" val="1165048008"/>
                  </a:ext>
                </a:extLst>
              </a:tr>
              <a:tr h="370840">
                <a:tc>
                  <a:txBody>
                    <a:bodyPr/>
                    <a:lstStyle/>
                    <a:p>
                      <a:r>
                        <a:rPr lang="en-US" b="1" dirty="0"/>
                        <a:t>Linked List</a:t>
                      </a:r>
                      <a:endParaRPr lang="en-PK" b="1" dirty="0"/>
                    </a:p>
                  </a:txBody>
                  <a:tcPr/>
                </a:tc>
                <a:extLst>
                  <a:ext uri="{0D108BD9-81ED-4DB2-BD59-A6C34878D82A}">
                    <a16:rowId xmlns:a16="http://schemas.microsoft.com/office/drawing/2014/main" xmlns="" val="2006709006"/>
                  </a:ext>
                </a:extLst>
              </a:tr>
              <a:tr h="370840">
                <a:tc>
                  <a:txBody>
                    <a:bodyPr/>
                    <a:lstStyle/>
                    <a:p>
                      <a:r>
                        <a:rPr lang="en-US" b="1" dirty="0"/>
                        <a:t>Stacks</a:t>
                      </a:r>
                      <a:endParaRPr lang="en-PK" b="1" dirty="0"/>
                    </a:p>
                  </a:txBody>
                  <a:tcPr/>
                </a:tc>
                <a:extLst>
                  <a:ext uri="{0D108BD9-81ED-4DB2-BD59-A6C34878D82A}">
                    <a16:rowId xmlns:a16="http://schemas.microsoft.com/office/drawing/2014/main" xmlns="" val="510613443"/>
                  </a:ext>
                </a:extLst>
              </a:tr>
              <a:tr h="370840">
                <a:tc>
                  <a:txBody>
                    <a:bodyPr/>
                    <a:lstStyle/>
                    <a:p>
                      <a:r>
                        <a:rPr lang="en-US" b="1" dirty="0"/>
                        <a:t>Queues</a:t>
                      </a:r>
                      <a:endParaRPr lang="en-PK" b="1" dirty="0"/>
                    </a:p>
                  </a:txBody>
                  <a:tcPr/>
                </a:tc>
                <a:extLst>
                  <a:ext uri="{0D108BD9-81ED-4DB2-BD59-A6C34878D82A}">
                    <a16:rowId xmlns:a16="http://schemas.microsoft.com/office/drawing/2014/main" xmlns="" val="521426238"/>
                  </a:ext>
                </a:extLst>
              </a:tr>
            </a:tbl>
          </a:graphicData>
        </a:graphic>
      </p:graphicFrame>
      <p:graphicFrame>
        <p:nvGraphicFramePr>
          <p:cNvPr id="22" name="Table 22">
            <a:extLst>
              <a:ext uri="{FF2B5EF4-FFF2-40B4-BE49-F238E27FC236}">
                <a16:creationId xmlns:a16="http://schemas.microsoft.com/office/drawing/2014/main" xmlns="" id="{C616369C-68C0-4197-82CB-7CD2FE1DC1A9}"/>
              </a:ext>
            </a:extLst>
          </p:cNvPr>
          <p:cNvGraphicFramePr>
            <a:graphicFrameLocks noGrp="1"/>
          </p:cNvGraphicFramePr>
          <p:nvPr/>
        </p:nvGraphicFramePr>
        <p:xfrm>
          <a:off x="10179978" y="4549010"/>
          <a:ext cx="1008912" cy="741680"/>
        </p:xfrm>
        <a:graphic>
          <a:graphicData uri="http://schemas.openxmlformats.org/drawingml/2006/table">
            <a:tbl>
              <a:tblPr firstRow="1" bandRow="1"/>
              <a:tblGrid>
                <a:gridCol w="1008912">
                  <a:extLst>
                    <a:ext uri="{9D8B030D-6E8A-4147-A177-3AD203B41FA5}">
                      <a16:colId xmlns:a16="http://schemas.microsoft.com/office/drawing/2014/main" xmlns="" val="2386331268"/>
                    </a:ext>
                  </a:extLst>
                </a:gridCol>
              </a:tblGrid>
              <a:tr h="370840">
                <a:tc>
                  <a:txBody>
                    <a:bodyPr/>
                    <a:lstStyle/>
                    <a:p>
                      <a:r>
                        <a:rPr lang="en-US" b="1" dirty="0"/>
                        <a:t>Trees</a:t>
                      </a:r>
                      <a:endParaRPr lang="en-PK" b="1" dirty="0"/>
                    </a:p>
                  </a:txBody>
                  <a:tcPr/>
                </a:tc>
                <a:extLst>
                  <a:ext uri="{0D108BD9-81ED-4DB2-BD59-A6C34878D82A}">
                    <a16:rowId xmlns:a16="http://schemas.microsoft.com/office/drawing/2014/main" xmlns="" val="1246020140"/>
                  </a:ext>
                </a:extLst>
              </a:tr>
              <a:tr h="370840">
                <a:tc>
                  <a:txBody>
                    <a:bodyPr/>
                    <a:lstStyle/>
                    <a:p>
                      <a:r>
                        <a:rPr lang="en-US" b="1" dirty="0"/>
                        <a:t>Graphs</a:t>
                      </a:r>
                      <a:endParaRPr lang="en-PK" b="1" dirty="0"/>
                    </a:p>
                  </a:txBody>
                  <a:tcPr/>
                </a:tc>
                <a:extLst>
                  <a:ext uri="{0D108BD9-81ED-4DB2-BD59-A6C34878D82A}">
                    <a16:rowId xmlns:a16="http://schemas.microsoft.com/office/drawing/2014/main" xmlns="" val="2751897290"/>
                  </a:ext>
                </a:extLst>
              </a:tr>
            </a:tbl>
          </a:graphicData>
        </a:graphic>
      </p:graphicFrame>
      <p:cxnSp>
        <p:nvCxnSpPr>
          <p:cNvPr id="28" name="Connector: Elbow 27">
            <a:extLst>
              <a:ext uri="{FF2B5EF4-FFF2-40B4-BE49-F238E27FC236}">
                <a16:creationId xmlns:a16="http://schemas.microsoft.com/office/drawing/2014/main" xmlns="" id="{D6EA2239-DA9A-403B-A7CF-F5559AC6E866}"/>
              </a:ext>
            </a:extLst>
          </p:cNvPr>
          <p:cNvCxnSpPr>
            <a:cxnSpLocks/>
          </p:cNvCxnSpPr>
          <p:nvPr/>
        </p:nvCxnSpPr>
        <p:spPr>
          <a:xfrm rot="16200000" flipH="1">
            <a:off x="5379375" y="4564042"/>
            <a:ext cx="1908575" cy="382708"/>
          </a:xfrm>
          <a:prstGeom prst="bentConnector3">
            <a:avLst>
              <a:gd name="adj1" fmla="val 100138"/>
            </a:avLst>
          </a:prstGeom>
          <a:ln>
            <a:tailEnd type="triangle"/>
          </a:ln>
        </p:spPr>
        <p:style>
          <a:lnRef idx="3">
            <a:schemeClr val="dk1"/>
          </a:lnRef>
          <a:fillRef idx="0">
            <a:schemeClr val="dk1"/>
          </a:fillRef>
          <a:effectRef idx="2">
            <a:schemeClr val="dk1"/>
          </a:effectRef>
          <a:fontRef idx="minor">
            <a:schemeClr val="tx1"/>
          </a:fontRef>
        </p:style>
      </p:cxnSp>
      <p:cxnSp>
        <p:nvCxnSpPr>
          <p:cNvPr id="34" name="Connector: Elbow 33">
            <a:extLst>
              <a:ext uri="{FF2B5EF4-FFF2-40B4-BE49-F238E27FC236}">
                <a16:creationId xmlns:a16="http://schemas.microsoft.com/office/drawing/2014/main" xmlns="" id="{79CA2282-FEF7-4028-92F1-C40AD7AE3C7F}"/>
              </a:ext>
            </a:extLst>
          </p:cNvPr>
          <p:cNvCxnSpPr>
            <a:cxnSpLocks/>
          </p:cNvCxnSpPr>
          <p:nvPr/>
        </p:nvCxnSpPr>
        <p:spPr>
          <a:xfrm rot="16200000" flipH="1">
            <a:off x="9143069" y="4082269"/>
            <a:ext cx="1323517" cy="725748"/>
          </a:xfrm>
          <a:prstGeom prst="bentConnector3">
            <a:avLst>
              <a:gd name="adj1" fmla="val 99808"/>
            </a:avLst>
          </a:prstGeom>
          <a:ln>
            <a:tailEnd type="triangle"/>
          </a:ln>
        </p:spPr>
        <p:style>
          <a:lnRef idx="3">
            <a:schemeClr val="dk1"/>
          </a:lnRef>
          <a:fillRef idx="0">
            <a:schemeClr val="dk1"/>
          </a:fillRef>
          <a:effectRef idx="2">
            <a:schemeClr val="dk1"/>
          </a:effectRef>
          <a:fontRef idx="minor">
            <a:schemeClr val="tx1"/>
          </a:fontRef>
        </p:style>
      </p:cxnSp>
      <p:cxnSp>
        <p:nvCxnSpPr>
          <p:cNvPr id="38" name="Connector: Elbow 37">
            <a:extLst>
              <a:ext uri="{FF2B5EF4-FFF2-40B4-BE49-F238E27FC236}">
                <a16:creationId xmlns:a16="http://schemas.microsoft.com/office/drawing/2014/main" xmlns="" id="{C418948E-CF1F-481C-BA0F-B32062EC654E}"/>
              </a:ext>
            </a:extLst>
          </p:cNvPr>
          <p:cNvCxnSpPr>
            <a:cxnSpLocks/>
          </p:cNvCxnSpPr>
          <p:nvPr/>
        </p:nvCxnSpPr>
        <p:spPr>
          <a:xfrm flipV="1">
            <a:off x="6142308" y="5303390"/>
            <a:ext cx="382707" cy="172377"/>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45" name="Connector: Elbow 44">
            <a:extLst>
              <a:ext uri="{FF2B5EF4-FFF2-40B4-BE49-F238E27FC236}">
                <a16:creationId xmlns:a16="http://schemas.microsoft.com/office/drawing/2014/main" xmlns="" id="{DA8F4736-8283-4192-A47F-C7BD32413AA8}"/>
              </a:ext>
            </a:extLst>
          </p:cNvPr>
          <p:cNvCxnSpPr>
            <a:cxnSpLocks/>
          </p:cNvCxnSpPr>
          <p:nvPr/>
        </p:nvCxnSpPr>
        <p:spPr>
          <a:xfrm flipV="1">
            <a:off x="6135217" y="4530753"/>
            <a:ext cx="382707" cy="172377"/>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46" name="Connector: Elbow 45">
            <a:extLst>
              <a:ext uri="{FF2B5EF4-FFF2-40B4-BE49-F238E27FC236}">
                <a16:creationId xmlns:a16="http://schemas.microsoft.com/office/drawing/2014/main" xmlns="" id="{B53EEB0F-B5A8-45EB-8009-F8784AD9E767}"/>
              </a:ext>
            </a:extLst>
          </p:cNvPr>
          <p:cNvCxnSpPr>
            <a:cxnSpLocks/>
          </p:cNvCxnSpPr>
          <p:nvPr/>
        </p:nvCxnSpPr>
        <p:spPr>
          <a:xfrm flipV="1">
            <a:off x="6135218" y="4881628"/>
            <a:ext cx="382707" cy="172377"/>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47" name="Connector: Elbow 46">
            <a:extLst>
              <a:ext uri="{FF2B5EF4-FFF2-40B4-BE49-F238E27FC236}">
                <a16:creationId xmlns:a16="http://schemas.microsoft.com/office/drawing/2014/main" xmlns="" id="{04A8C31C-6917-4DB9-8C69-A84D4F3A8B63}"/>
              </a:ext>
            </a:extLst>
          </p:cNvPr>
          <p:cNvCxnSpPr>
            <a:cxnSpLocks/>
          </p:cNvCxnSpPr>
          <p:nvPr/>
        </p:nvCxnSpPr>
        <p:spPr>
          <a:xfrm flipV="1">
            <a:off x="9452586" y="4703130"/>
            <a:ext cx="716759" cy="95697"/>
          </a:xfrm>
          <a:prstGeom prst="bentConnector3">
            <a:avLst>
              <a:gd name="adj1" fmla="val 47034"/>
            </a:avLst>
          </a:prstGeom>
          <a:ln>
            <a:tailEnd type="triangle"/>
          </a:ln>
        </p:spPr>
        <p:style>
          <a:lnRef idx="3">
            <a:schemeClr val="dk1"/>
          </a:lnRef>
          <a:fillRef idx="0">
            <a:schemeClr val="dk1"/>
          </a:fillRef>
          <a:effectRef idx="2">
            <a:schemeClr val="dk1"/>
          </a:effectRef>
          <a:fontRef idx="minor">
            <a:schemeClr val="tx1"/>
          </a:fontRef>
        </p:style>
      </p:cxnSp>
      <p:sp>
        <p:nvSpPr>
          <p:cNvPr id="52" name="TextBox 51">
            <a:extLst>
              <a:ext uri="{FF2B5EF4-FFF2-40B4-BE49-F238E27FC236}">
                <a16:creationId xmlns:a16="http://schemas.microsoft.com/office/drawing/2014/main" xmlns="" id="{598D40A3-FC75-4EDC-AB9E-A0CECCF12353}"/>
              </a:ext>
            </a:extLst>
          </p:cNvPr>
          <p:cNvSpPr txBox="1"/>
          <p:nvPr/>
        </p:nvSpPr>
        <p:spPr>
          <a:xfrm>
            <a:off x="4398236" y="6134525"/>
            <a:ext cx="3835537" cy="369332"/>
          </a:xfrm>
          <a:prstGeom prst="rect">
            <a:avLst/>
          </a:prstGeom>
          <a:noFill/>
        </p:spPr>
        <p:txBody>
          <a:bodyPr wrap="none" rtlCol="0">
            <a:spAutoFit/>
          </a:bodyPr>
          <a:lstStyle/>
          <a:p>
            <a:r>
              <a:rPr lang="en-US" b="1" dirty="0"/>
              <a:t>Fig. 1. Classification of Data Structures</a:t>
            </a:r>
            <a:endParaRPr lang="en-PK" b="1" dirty="0"/>
          </a:p>
        </p:txBody>
      </p:sp>
      <p:sp>
        <p:nvSpPr>
          <p:cNvPr id="24" name="Footer Placeholder 2">
            <a:extLst>
              <a:ext uri="{FF2B5EF4-FFF2-40B4-BE49-F238E27FC236}">
                <a16:creationId xmlns:a16="http://schemas.microsoft.com/office/drawing/2014/main" xmlns="" id="{CE262B98-CD7F-471C-8262-A52011B7EBE5}"/>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(MUET-SZAB)                                                                                                                                                                                                             hafeez.babar@muetkhp.edu.pk</a:t>
            </a:r>
            <a:endParaRPr lang="en-PK" b="1" dirty="0">
              <a:solidFill>
                <a:schemeClr val="accent1"/>
              </a:solidFill>
            </a:endParaRPr>
          </a:p>
        </p:txBody>
      </p:sp>
      <p:pic>
        <p:nvPicPr>
          <p:cNvPr id="6" name="Picture 5">
            <a:extLst>
              <a:ext uri="{FF2B5EF4-FFF2-40B4-BE49-F238E27FC236}">
                <a16:creationId xmlns:a16="http://schemas.microsoft.com/office/drawing/2014/main" xmlns="" id="{ABE52336-CF28-74B5-20F6-B8785D3AC3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Tree>
    <p:extLst>
      <p:ext uri="{BB962C8B-B14F-4D97-AF65-F5344CB8AC3E}">
        <p14:creationId xmlns:p14="http://schemas.microsoft.com/office/powerpoint/2010/main" val="36492871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B4D5F8-F6E8-4C65-8DB4-17E2EB438D11}"/>
              </a:ext>
            </a:extLst>
          </p:cNvPr>
          <p:cNvSpPr>
            <a:spLocks noGrp="1"/>
          </p:cNvSpPr>
          <p:nvPr>
            <p:ph type="title"/>
          </p:nvPr>
        </p:nvSpPr>
        <p:spPr>
          <a:xfrm>
            <a:off x="383627" y="279091"/>
            <a:ext cx="10515600" cy="692205"/>
          </a:xfrm>
        </p:spPr>
        <p:txBody>
          <a:bodyPr>
            <a:normAutofit/>
          </a:bodyPr>
          <a:lstStyle/>
          <a:p>
            <a:r>
              <a:rPr lang="en-US" sz="2400" b="1" dirty="0">
                <a:solidFill>
                  <a:schemeClr val="accent1">
                    <a:lumMod val="50000"/>
                  </a:schemeClr>
                </a:solidFill>
                <a:latin typeface="+mn-lt"/>
              </a:rPr>
              <a:t>Classification of Data Structures</a:t>
            </a:r>
            <a:endParaRPr lang="en-PK" sz="2400" b="1" dirty="0">
              <a:solidFill>
                <a:schemeClr val="accent1">
                  <a:lumMod val="50000"/>
                </a:schemeClr>
              </a:solidFill>
              <a:latin typeface="+mn-lt"/>
            </a:endParaRPr>
          </a:p>
        </p:txBody>
      </p:sp>
      <p:pic>
        <p:nvPicPr>
          <p:cNvPr id="1026" name="Picture 2" descr="Primitive vs non-primitive data structure">
            <a:extLst>
              <a:ext uri="{FF2B5EF4-FFF2-40B4-BE49-F238E27FC236}">
                <a16:creationId xmlns:a16="http://schemas.microsoft.com/office/drawing/2014/main" xmlns="" id="{91D26437-AA34-4EE3-A250-ED69B11A58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6994" y="849504"/>
            <a:ext cx="8317287" cy="478244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xmlns="" id="{A587BBC0-CA7B-7054-6949-EDCB4AD3D9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4" name="Footer Placeholder 2">
            <a:extLst>
              <a:ext uri="{FF2B5EF4-FFF2-40B4-BE49-F238E27FC236}">
                <a16:creationId xmlns:a16="http://schemas.microsoft.com/office/drawing/2014/main" xmlns="" id="{786727E6-F845-0B79-8CA6-CF5034798482}"/>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
        <p:nvSpPr>
          <p:cNvPr id="5" name="TextBox 4">
            <a:extLst>
              <a:ext uri="{FF2B5EF4-FFF2-40B4-BE49-F238E27FC236}">
                <a16:creationId xmlns:a16="http://schemas.microsoft.com/office/drawing/2014/main" xmlns="" id="{F214E867-86C7-8A99-6E10-C5AABA1E5D26}"/>
              </a:ext>
            </a:extLst>
          </p:cNvPr>
          <p:cNvSpPr txBox="1"/>
          <p:nvPr/>
        </p:nvSpPr>
        <p:spPr>
          <a:xfrm>
            <a:off x="4398236" y="6134525"/>
            <a:ext cx="3835537" cy="369332"/>
          </a:xfrm>
          <a:prstGeom prst="rect">
            <a:avLst/>
          </a:prstGeom>
          <a:noFill/>
        </p:spPr>
        <p:txBody>
          <a:bodyPr wrap="none" rtlCol="0">
            <a:spAutoFit/>
          </a:bodyPr>
          <a:lstStyle/>
          <a:p>
            <a:r>
              <a:rPr lang="en-US" b="1" dirty="0"/>
              <a:t>Fig.2.  Classification of Data Structures</a:t>
            </a:r>
            <a:endParaRPr lang="en-PK" b="1" dirty="0"/>
          </a:p>
        </p:txBody>
      </p:sp>
    </p:spTree>
    <p:extLst>
      <p:ext uri="{BB962C8B-B14F-4D97-AF65-F5344CB8AC3E}">
        <p14:creationId xmlns:p14="http://schemas.microsoft.com/office/powerpoint/2010/main" val="1065053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B86FAE-F4CB-49EE-B878-FCA8E7DC4868}"/>
              </a:ext>
            </a:extLst>
          </p:cNvPr>
          <p:cNvSpPr>
            <a:spLocks noGrp="1"/>
          </p:cNvSpPr>
          <p:nvPr>
            <p:ph type="title"/>
          </p:nvPr>
        </p:nvSpPr>
        <p:spPr>
          <a:xfrm>
            <a:off x="369849" y="11964"/>
            <a:ext cx="4893527" cy="1009651"/>
          </a:xfrm>
        </p:spPr>
        <p:txBody>
          <a:bodyPr>
            <a:normAutofit/>
          </a:bodyPr>
          <a:lstStyle/>
          <a:p>
            <a:r>
              <a:rPr lang="en-US" sz="2400" b="1" dirty="0">
                <a:solidFill>
                  <a:schemeClr val="accent1">
                    <a:lumMod val="50000"/>
                  </a:schemeClr>
                </a:solidFill>
                <a:latin typeface="+mn-lt"/>
              </a:rPr>
              <a:t>Why </a:t>
            </a:r>
            <a:r>
              <a:rPr lang="en-US" sz="2400" b="1" i="0" dirty="0">
                <a:solidFill>
                  <a:schemeClr val="accent1">
                    <a:lumMod val="50000"/>
                  </a:schemeClr>
                </a:solidFill>
                <a:effectLst/>
                <a:latin typeface="+mn-lt"/>
              </a:rPr>
              <a:t>Data Structures are needed?</a:t>
            </a:r>
            <a:endParaRPr lang="en-PK" sz="2400" b="1" dirty="0">
              <a:solidFill>
                <a:schemeClr val="accent1">
                  <a:lumMod val="50000"/>
                </a:schemeClr>
              </a:solidFill>
              <a:latin typeface="+mn-lt"/>
            </a:endParaRPr>
          </a:p>
        </p:txBody>
      </p:sp>
      <p:sp>
        <p:nvSpPr>
          <p:cNvPr id="3" name="Content Placeholder 2">
            <a:extLst>
              <a:ext uri="{FF2B5EF4-FFF2-40B4-BE49-F238E27FC236}">
                <a16:creationId xmlns:a16="http://schemas.microsoft.com/office/drawing/2014/main" xmlns="" id="{D9432A12-5DE8-4D7D-9829-127C070AD206}"/>
              </a:ext>
            </a:extLst>
          </p:cNvPr>
          <p:cNvSpPr>
            <a:spLocks noGrp="1"/>
          </p:cNvSpPr>
          <p:nvPr>
            <p:ph idx="1"/>
          </p:nvPr>
        </p:nvSpPr>
        <p:spPr>
          <a:xfrm>
            <a:off x="1087158" y="1022504"/>
            <a:ext cx="10515600" cy="4351338"/>
          </a:xfrm>
        </p:spPr>
        <p:txBody>
          <a:bodyPr>
            <a:normAutofit/>
          </a:bodyPr>
          <a:lstStyle/>
          <a:p>
            <a:pPr>
              <a:lnSpc>
                <a:spcPct val="200000"/>
              </a:lnSpc>
            </a:pPr>
            <a:r>
              <a:rPr lang="en-US" sz="1800" dirty="0"/>
              <a:t>Processing Speed</a:t>
            </a:r>
          </a:p>
          <a:p>
            <a:pPr>
              <a:lnSpc>
                <a:spcPct val="200000"/>
              </a:lnSpc>
            </a:pPr>
            <a:r>
              <a:rPr lang="en-US" sz="1800" dirty="0"/>
              <a:t>Data Search</a:t>
            </a:r>
          </a:p>
          <a:p>
            <a:pPr>
              <a:lnSpc>
                <a:spcPct val="200000"/>
              </a:lnSpc>
            </a:pPr>
            <a:r>
              <a:rPr lang="en-US" sz="1800" dirty="0"/>
              <a:t>Multiple Request</a:t>
            </a:r>
          </a:p>
          <a:p>
            <a:pPr>
              <a:lnSpc>
                <a:spcPct val="200000"/>
              </a:lnSpc>
            </a:pPr>
            <a:r>
              <a:rPr lang="en-US" sz="1800" dirty="0"/>
              <a:t>Efficient memory use</a:t>
            </a:r>
          </a:p>
          <a:p>
            <a:pPr>
              <a:lnSpc>
                <a:spcPct val="200000"/>
              </a:lnSpc>
            </a:pPr>
            <a:r>
              <a:rPr lang="en-US" sz="1800" dirty="0"/>
              <a:t>Reusability</a:t>
            </a:r>
          </a:p>
          <a:p>
            <a:pPr>
              <a:lnSpc>
                <a:spcPct val="200000"/>
              </a:lnSpc>
            </a:pPr>
            <a:r>
              <a:rPr lang="en-US" sz="1800" dirty="0"/>
              <a:t>Abstraction </a:t>
            </a:r>
            <a:endParaRPr lang="en-PK" sz="1800" dirty="0"/>
          </a:p>
        </p:txBody>
      </p:sp>
      <p:pic>
        <p:nvPicPr>
          <p:cNvPr id="8" name="Picture 6" descr="Public Relations, MUET, SZAB Campus Khairpur Mir's - College &amp; University |  Facebook - 9,847 Photos">
            <a:extLst>
              <a:ext uri="{FF2B5EF4-FFF2-40B4-BE49-F238E27FC236}">
                <a16:creationId xmlns:a16="http://schemas.microsoft.com/office/drawing/2014/main" xmlns="" id="{C6F24DE0-2978-42E5-AD06-5BC31F5290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8423" y="4837695"/>
            <a:ext cx="1276143" cy="1276143"/>
          </a:xfrm>
          <a:prstGeom prst="rect">
            <a:avLst/>
          </a:prstGeom>
          <a:noFill/>
          <a:effectLst>
            <a:outerShdw dir="600000" algn="ctr" rotWithShape="0">
              <a:srgbClr val="000000">
                <a:alpha val="25000"/>
              </a:srgbClr>
            </a:outerShdw>
            <a:reflection stA="55000" endPos="65000" dist="50800" dir="5400000" sy="-100000" algn="bl" rotWithShape="0"/>
            <a:softEdge rad="1066800"/>
          </a:effectLst>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xmlns="" id="{2FE0D1EC-7FF3-AF97-5490-A1ECEE3D53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5" name="Footer Placeholder 2">
            <a:extLst>
              <a:ext uri="{FF2B5EF4-FFF2-40B4-BE49-F238E27FC236}">
                <a16:creationId xmlns:a16="http://schemas.microsoft.com/office/drawing/2014/main" xmlns="" id="{AF769ADF-CB45-C6C2-D27C-95B9C0B45AAF}"/>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1966829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7F0276-A812-4589-AD99-214E799DA8B2}"/>
              </a:ext>
            </a:extLst>
          </p:cNvPr>
          <p:cNvSpPr>
            <a:spLocks noGrp="1"/>
          </p:cNvSpPr>
          <p:nvPr>
            <p:ph type="title"/>
          </p:nvPr>
        </p:nvSpPr>
        <p:spPr>
          <a:xfrm>
            <a:off x="336396" y="234176"/>
            <a:ext cx="10515600" cy="542112"/>
          </a:xfrm>
        </p:spPr>
        <p:txBody>
          <a:bodyPr>
            <a:normAutofit/>
          </a:bodyPr>
          <a:lstStyle/>
          <a:p>
            <a:r>
              <a:rPr lang="en-US" sz="2400" b="1" dirty="0">
                <a:solidFill>
                  <a:schemeClr val="accent1">
                    <a:lumMod val="50000"/>
                  </a:schemeClr>
                </a:solidFill>
                <a:latin typeface="+mn-lt"/>
              </a:rPr>
              <a:t>Data Structure : operations</a:t>
            </a:r>
            <a:endParaRPr lang="en-PK" sz="2400" b="1" dirty="0">
              <a:solidFill>
                <a:schemeClr val="accent1">
                  <a:lumMod val="50000"/>
                </a:schemeClr>
              </a:solidFill>
              <a:latin typeface="+mn-lt"/>
            </a:endParaRPr>
          </a:p>
        </p:txBody>
      </p:sp>
      <p:sp>
        <p:nvSpPr>
          <p:cNvPr id="4" name="TextBox 3">
            <a:extLst>
              <a:ext uri="{FF2B5EF4-FFF2-40B4-BE49-F238E27FC236}">
                <a16:creationId xmlns:a16="http://schemas.microsoft.com/office/drawing/2014/main" xmlns="" id="{82B77FC0-290A-43B2-9F17-A3F205BA7036}"/>
              </a:ext>
            </a:extLst>
          </p:cNvPr>
          <p:cNvSpPr txBox="1"/>
          <p:nvPr/>
        </p:nvSpPr>
        <p:spPr>
          <a:xfrm>
            <a:off x="1628573" y="775082"/>
            <a:ext cx="4147758" cy="4420890"/>
          </a:xfrm>
          <a:prstGeom prst="rect">
            <a:avLst/>
          </a:prstGeom>
          <a:noFill/>
        </p:spPr>
        <p:txBody>
          <a:bodyPr wrap="square" rtlCol="0">
            <a:spAutoFit/>
          </a:bodyPr>
          <a:lstStyle/>
          <a:p>
            <a:pPr marL="457200" indent="-457200">
              <a:lnSpc>
                <a:spcPct val="200000"/>
              </a:lnSpc>
              <a:buFont typeface="Arial" panose="020B0604020202020204" pitchFamily="34" charset="0"/>
              <a:buChar char="•"/>
            </a:pPr>
            <a:r>
              <a:rPr lang="en-US" sz="2400" dirty="0"/>
              <a:t>Traversing </a:t>
            </a:r>
          </a:p>
          <a:p>
            <a:pPr marL="457200" indent="-457200">
              <a:lnSpc>
                <a:spcPct val="200000"/>
              </a:lnSpc>
              <a:buFont typeface="Arial" panose="020B0604020202020204" pitchFamily="34" charset="0"/>
              <a:buChar char="•"/>
            </a:pPr>
            <a:r>
              <a:rPr lang="en-US" sz="2400" dirty="0"/>
              <a:t>Searching</a:t>
            </a:r>
          </a:p>
          <a:p>
            <a:pPr marL="457200" indent="-457200">
              <a:lnSpc>
                <a:spcPct val="200000"/>
              </a:lnSpc>
              <a:buFont typeface="Arial" panose="020B0604020202020204" pitchFamily="34" charset="0"/>
              <a:buChar char="•"/>
            </a:pPr>
            <a:r>
              <a:rPr lang="en-US" sz="2400" dirty="0"/>
              <a:t>Inserting</a:t>
            </a:r>
          </a:p>
          <a:p>
            <a:pPr marL="457200" indent="-457200">
              <a:lnSpc>
                <a:spcPct val="200000"/>
              </a:lnSpc>
              <a:buFont typeface="Arial" panose="020B0604020202020204" pitchFamily="34" charset="0"/>
              <a:buChar char="•"/>
            </a:pPr>
            <a:r>
              <a:rPr lang="en-US" sz="2400" dirty="0"/>
              <a:t>Deleting</a:t>
            </a:r>
          </a:p>
          <a:p>
            <a:pPr marL="457200" indent="-457200">
              <a:lnSpc>
                <a:spcPct val="200000"/>
              </a:lnSpc>
              <a:buFont typeface="Arial" panose="020B0604020202020204" pitchFamily="34" charset="0"/>
              <a:buChar char="•"/>
            </a:pPr>
            <a:r>
              <a:rPr lang="en-US" sz="2400" dirty="0"/>
              <a:t>Sorting</a:t>
            </a:r>
          </a:p>
          <a:p>
            <a:pPr marL="457200" indent="-457200">
              <a:lnSpc>
                <a:spcPct val="200000"/>
              </a:lnSpc>
              <a:buFont typeface="Arial" panose="020B0604020202020204" pitchFamily="34" charset="0"/>
              <a:buChar char="•"/>
            </a:pPr>
            <a:r>
              <a:rPr lang="en-US" sz="2400" dirty="0"/>
              <a:t>Merging</a:t>
            </a:r>
          </a:p>
        </p:txBody>
      </p:sp>
      <p:sp>
        <p:nvSpPr>
          <p:cNvPr id="6" name="TextBox 5">
            <a:extLst>
              <a:ext uri="{FF2B5EF4-FFF2-40B4-BE49-F238E27FC236}">
                <a16:creationId xmlns:a16="http://schemas.microsoft.com/office/drawing/2014/main" xmlns="" id="{D0740F2A-D011-489D-A877-500D09AC55F0}"/>
              </a:ext>
            </a:extLst>
          </p:cNvPr>
          <p:cNvSpPr txBox="1"/>
          <p:nvPr/>
        </p:nvSpPr>
        <p:spPr>
          <a:xfrm>
            <a:off x="5711232" y="786777"/>
            <a:ext cx="7091680" cy="1466235"/>
          </a:xfrm>
          <a:prstGeom prst="rect">
            <a:avLst/>
          </a:prstGeom>
          <a:noFill/>
        </p:spPr>
        <p:txBody>
          <a:bodyPr wrap="square" rtlCol="0">
            <a:spAutoFit/>
          </a:bodyPr>
          <a:lstStyle/>
          <a:p>
            <a:pPr marL="457200" indent="-457200">
              <a:lnSpc>
                <a:spcPct val="200000"/>
              </a:lnSpc>
              <a:buFont typeface="Arial" panose="020B0604020202020204" pitchFamily="34" charset="0"/>
              <a:buChar char="•"/>
            </a:pPr>
            <a:r>
              <a:rPr lang="en-US" sz="2400" dirty="0"/>
              <a:t>Copying </a:t>
            </a:r>
          </a:p>
          <a:p>
            <a:pPr marL="457200" indent="-457200">
              <a:lnSpc>
                <a:spcPct val="200000"/>
              </a:lnSpc>
              <a:buFont typeface="Arial" panose="020B0604020202020204" pitchFamily="34" charset="0"/>
              <a:buChar char="•"/>
            </a:pPr>
            <a:r>
              <a:rPr lang="en-US" sz="2400" dirty="0"/>
              <a:t>Concatenation</a:t>
            </a:r>
          </a:p>
        </p:txBody>
      </p:sp>
      <p:pic>
        <p:nvPicPr>
          <p:cNvPr id="3" name="Picture 2">
            <a:extLst>
              <a:ext uri="{FF2B5EF4-FFF2-40B4-BE49-F238E27FC236}">
                <a16:creationId xmlns:a16="http://schemas.microsoft.com/office/drawing/2014/main" xmlns="" id="{250C7702-DE59-70F1-2773-158D5F3D42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5" name="Footer Placeholder 2">
            <a:extLst>
              <a:ext uri="{FF2B5EF4-FFF2-40B4-BE49-F238E27FC236}">
                <a16:creationId xmlns:a16="http://schemas.microsoft.com/office/drawing/2014/main" xmlns="" id="{EFD4ACC0-4093-C431-5836-0A4DA70A26BC}"/>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402140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6">
                                            <p:txEl>
                                              <p:pRg st="0" end="0"/>
                                            </p:txEl>
                                          </p:spTgt>
                                        </p:tgtEl>
                                        <p:attrNameLst>
                                          <p:attrName>style.visibility</p:attrName>
                                        </p:attrNameLst>
                                      </p:cBhvr>
                                      <p:to>
                                        <p:strVal val="visible"/>
                                      </p:to>
                                    </p:set>
                                    <p:animEffect transition="in" filter="fade">
                                      <p:cBhvr>
                                        <p:cTn id="49" dur="1000"/>
                                        <p:tgtEl>
                                          <p:spTgt spid="6">
                                            <p:txEl>
                                              <p:pRg st="0" end="0"/>
                                            </p:txEl>
                                          </p:spTgt>
                                        </p:tgtEl>
                                      </p:cBhvr>
                                    </p:animEffect>
                                    <p:anim calcmode="lin" valueType="num">
                                      <p:cBhvr>
                                        <p:cTn id="50"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6">
                                            <p:txEl>
                                              <p:pRg st="1" end="1"/>
                                            </p:txEl>
                                          </p:spTgt>
                                        </p:tgtEl>
                                        <p:attrNameLst>
                                          <p:attrName>style.visibility</p:attrName>
                                        </p:attrNameLst>
                                      </p:cBhvr>
                                      <p:to>
                                        <p:strVal val="visible"/>
                                      </p:to>
                                    </p:set>
                                    <p:animEffect transition="in" filter="fade">
                                      <p:cBhvr>
                                        <p:cTn id="56" dur="1000"/>
                                        <p:tgtEl>
                                          <p:spTgt spid="6">
                                            <p:txEl>
                                              <p:pRg st="1" end="1"/>
                                            </p:txEl>
                                          </p:spTgt>
                                        </p:tgtEl>
                                      </p:cBhvr>
                                    </p:animEffect>
                                    <p:anim calcmode="lin" valueType="num">
                                      <p:cBhvr>
                                        <p:cTn id="57"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1B700DB3-2413-4957-9D37-B782696339DB}"/>
              </a:ext>
            </a:extLst>
          </p:cNvPr>
          <p:cNvSpPr txBox="1"/>
          <p:nvPr/>
        </p:nvSpPr>
        <p:spPr>
          <a:xfrm>
            <a:off x="492512" y="2863598"/>
            <a:ext cx="10902731" cy="3693319"/>
          </a:xfrm>
          <a:prstGeom prst="rect">
            <a:avLst/>
          </a:prstGeom>
          <a:noFill/>
        </p:spPr>
        <p:txBody>
          <a:bodyPr wrap="square" rtlCol="0">
            <a:spAutoFit/>
          </a:bodyPr>
          <a:lstStyle/>
          <a:p>
            <a:pPr marL="342900" indent="-342900">
              <a:buFont typeface="+mj-lt"/>
              <a:buAutoNum type="alphaLcParenR"/>
            </a:pPr>
            <a:r>
              <a:rPr lang="en-US" dirty="0"/>
              <a:t>Suppose the organization wants to announce a meeting through a mailing. Then one would traverse the file to obtain Name and Address for each number.</a:t>
            </a:r>
          </a:p>
          <a:p>
            <a:pPr marL="342900" indent="-342900">
              <a:buFont typeface="+mj-lt"/>
              <a:buAutoNum type="alphaLcParenR"/>
            </a:pPr>
            <a:r>
              <a:rPr lang="en-US" dirty="0"/>
              <a:t>Suppose one wants to find the names of all members living in a certain area. Again one would traverse the file to obtain the data.</a:t>
            </a:r>
          </a:p>
          <a:p>
            <a:pPr marL="342900" indent="-342900">
              <a:buFont typeface="+mj-lt"/>
              <a:buAutoNum type="alphaLcParenR"/>
            </a:pPr>
            <a:r>
              <a:rPr lang="en-US" dirty="0"/>
              <a:t>Suppose one wants to obtain address for a given number, then one would search file for the record containing number.</a:t>
            </a:r>
          </a:p>
          <a:p>
            <a:pPr marL="342900" indent="-342900">
              <a:buFont typeface="+mj-lt"/>
              <a:buAutoNum type="alphaLcParenR"/>
            </a:pPr>
            <a:r>
              <a:rPr lang="en-US" dirty="0"/>
              <a:t>Suppose a new position joins the organization. Then one would insert his or her record into the file.</a:t>
            </a:r>
          </a:p>
          <a:p>
            <a:pPr marL="342900" indent="-342900">
              <a:buFont typeface="+mj-lt"/>
              <a:buAutoNum type="alphaLcParenR"/>
            </a:pPr>
            <a:r>
              <a:rPr lang="en-US" dirty="0"/>
              <a:t>Suppose a members dies. Then one would delete his or her record from the file.</a:t>
            </a:r>
          </a:p>
          <a:p>
            <a:pPr marL="342900" indent="-342900">
              <a:buFont typeface="+mj-lt"/>
              <a:buAutoNum type="alphaLcParenR"/>
            </a:pPr>
            <a:r>
              <a:rPr lang="en-US" dirty="0"/>
              <a:t>Suppose a member has moved and has a new address and cell number. Given the name of the member, one would first need to search for the record in the file. Then one would perform the update. </a:t>
            </a:r>
            <a:r>
              <a:rPr lang="en-US" dirty="0" err="1"/>
              <a:t>i.e</a:t>
            </a:r>
            <a:r>
              <a:rPr lang="en-US" dirty="0"/>
              <a:t> change the items in the record with the new data.</a:t>
            </a:r>
          </a:p>
          <a:p>
            <a:pPr marL="342900" indent="-342900">
              <a:buFont typeface="+mj-lt"/>
              <a:buAutoNum type="alphaLcParenR"/>
            </a:pPr>
            <a:r>
              <a:rPr lang="en-US" dirty="0"/>
              <a:t>Suppose one wants to find the number of members 65 or older. Again one would traverse the file, counting such numbers.</a:t>
            </a:r>
            <a:endParaRPr lang="en-PK" dirty="0"/>
          </a:p>
        </p:txBody>
      </p:sp>
      <p:sp>
        <p:nvSpPr>
          <p:cNvPr id="7" name="Title 1">
            <a:extLst>
              <a:ext uri="{FF2B5EF4-FFF2-40B4-BE49-F238E27FC236}">
                <a16:creationId xmlns:a16="http://schemas.microsoft.com/office/drawing/2014/main" xmlns="" id="{873FFF2B-63B1-4E8D-BE1A-E99FF4EC7F87}"/>
              </a:ext>
            </a:extLst>
          </p:cNvPr>
          <p:cNvSpPr>
            <a:spLocks noGrp="1"/>
          </p:cNvSpPr>
          <p:nvPr>
            <p:ph type="title"/>
          </p:nvPr>
        </p:nvSpPr>
        <p:spPr>
          <a:xfrm>
            <a:off x="492512" y="301083"/>
            <a:ext cx="10515600" cy="731683"/>
          </a:xfrm>
        </p:spPr>
        <p:txBody>
          <a:bodyPr>
            <a:normAutofit/>
          </a:bodyPr>
          <a:lstStyle/>
          <a:p>
            <a:r>
              <a:rPr lang="en-US" sz="2400" b="1" dirty="0">
                <a:solidFill>
                  <a:schemeClr val="accent1">
                    <a:lumMod val="50000"/>
                  </a:schemeClr>
                </a:solidFill>
                <a:latin typeface="+mn-lt"/>
              </a:rPr>
              <a:t>Data Structure : operation</a:t>
            </a:r>
            <a:endParaRPr lang="en-PK" sz="2400" b="1" dirty="0">
              <a:solidFill>
                <a:schemeClr val="accent1">
                  <a:lumMod val="50000"/>
                </a:schemeClr>
              </a:solidFill>
              <a:latin typeface="+mn-lt"/>
            </a:endParaRPr>
          </a:p>
        </p:txBody>
      </p:sp>
      <p:sp>
        <p:nvSpPr>
          <p:cNvPr id="8" name="TextBox 7">
            <a:extLst>
              <a:ext uri="{FF2B5EF4-FFF2-40B4-BE49-F238E27FC236}">
                <a16:creationId xmlns:a16="http://schemas.microsoft.com/office/drawing/2014/main" xmlns="" id="{BCE7461A-A5DA-4509-AF27-0ECE15763074}"/>
              </a:ext>
            </a:extLst>
          </p:cNvPr>
          <p:cNvSpPr txBox="1"/>
          <p:nvPr/>
        </p:nvSpPr>
        <p:spPr>
          <a:xfrm>
            <a:off x="492512" y="1126711"/>
            <a:ext cx="1343253" cy="369332"/>
          </a:xfrm>
          <a:prstGeom prst="rect">
            <a:avLst/>
          </a:prstGeom>
          <a:noFill/>
        </p:spPr>
        <p:txBody>
          <a:bodyPr wrap="none" rtlCol="0">
            <a:spAutoFit/>
          </a:bodyPr>
          <a:lstStyle/>
          <a:p>
            <a:r>
              <a:rPr lang="en-US" b="1" dirty="0"/>
              <a:t>Example 1.6</a:t>
            </a:r>
            <a:endParaRPr lang="en-PK" b="1" dirty="0"/>
          </a:p>
        </p:txBody>
      </p:sp>
      <p:sp>
        <p:nvSpPr>
          <p:cNvPr id="2" name="TextBox 1">
            <a:extLst>
              <a:ext uri="{FF2B5EF4-FFF2-40B4-BE49-F238E27FC236}">
                <a16:creationId xmlns:a16="http://schemas.microsoft.com/office/drawing/2014/main" xmlns="" id="{95458C23-DE7F-4D7A-B43C-7C1AEFCE670F}"/>
              </a:ext>
            </a:extLst>
          </p:cNvPr>
          <p:cNvSpPr txBox="1"/>
          <p:nvPr/>
        </p:nvSpPr>
        <p:spPr>
          <a:xfrm>
            <a:off x="1143000" y="1841500"/>
            <a:ext cx="184731" cy="369332"/>
          </a:xfrm>
          <a:prstGeom prst="rect">
            <a:avLst/>
          </a:prstGeom>
          <a:noFill/>
        </p:spPr>
        <p:txBody>
          <a:bodyPr wrap="none" rtlCol="0">
            <a:spAutoFit/>
          </a:bodyPr>
          <a:lstStyle/>
          <a:p>
            <a:endParaRPr lang="en-PK" dirty="0"/>
          </a:p>
        </p:txBody>
      </p:sp>
      <p:sp>
        <p:nvSpPr>
          <p:cNvPr id="3" name="TextBox 2">
            <a:extLst>
              <a:ext uri="{FF2B5EF4-FFF2-40B4-BE49-F238E27FC236}">
                <a16:creationId xmlns:a16="http://schemas.microsoft.com/office/drawing/2014/main" xmlns="" id="{6844DDF1-3141-4102-9453-122FB23026A5}"/>
              </a:ext>
            </a:extLst>
          </p:cNvPr>
          <p:cNvSpPr txBox="1"/>
          <p:nvPr/>
        </p:nvSpPr>
        <p:spPr>
          <a:xfrm>
            <a:off x="680720" y="1841500"/>
            <a:ext cx="10975377" cy="923330"/>
          </a:xfrm>
          <a:prstGeom prst="rect">
            <a:avLst/>
          </a:prstGeom>
          <a:noFill/>
        </p:spPr>
        <p:txBody>
          <a:bodyPr wrap="none" rtlCol="0">
            <a:spAutoFit/>
          </a:bodyPr>
          <a:lstStyle/>
          <a:p>
            <a:r>
              <a:rPr lang="en-US" b="1" dirty="0"/>
              <a:t>An organization contain a membership file in which each record contains the following data for a given members:</a:t>
            </a:r>
          </a:p>
          <a:p>
            <a:endParaRPr lang="en-US" b="1" dirty="0"/>
          </a:p>
          <a:p>
            <a:r>
              <a:rPr lang="en-US" dirty="0"/>
              <a:t>	</a:t>
            </a:r>
            <a:r>
              <a:rPr lang="en-US" i="1" dirty="0"/>
              <a:t>Name,	Address,		Cell Number,	Age,	Gender</a:t>
            </a:r>
            <a:endParaRPr lang="en-PK" i="1" dirty="0"/>
          </a:p>
        </p:txBody>
      </p:sp>
      <p:pic>
        <p:nvPicPr>
          <p:cNvPr id="5" name="Picture 4">
            <a:extLst>
              <a:ext uri="{FF2B5EF4-FFF2-40B4-BE49-F238E27FC236}">
                <a16:creationId xmlns:a16="http://schemas.microsoft.com/office/drawing/2014/main" xmlns="" id="{C44E2BDA-D5BB-60CF-6E23-F93B1476DB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6" name="Footer Placeholder 2">
            <a:extLst>
              <a:ext uri="{FF2B5EF4-FFF2-40B4-BE49-F238E27FC236}">
                <a16:creationId xmlns:a16="http://schemas.microsoft.com/office/drawing/2014/main" xmlns="" id="{724966E5-2BC9-72A5-AEC8-614BA2D232D1}"/>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1470378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Effect transition="in" filter="fade">
                                      <p:cBhvr>
                                        <p:cTn id="49" dur="1000"/>
                                        <p:tgtEl>
                                          <p:spTgt spid="4">
                                            <p:txEl>
                                              <p:pRg st="6" end="6"/>
                                            </p:txEl>
                                          </p:spTgt>
                                        </p:tgtEl>
                                      </p:cBhvr>
                                    </p:animEffect>
                                    <p:anim calcmode="lin" valueType="num">
                                      <p:cBhvr>
                                        <p:cTn id="5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F19998-7B52-4406-AA37-2BD80CC7B92B}"/>
              </a:ext>
            </a:extLst>
          </p:cNvPr>
          <p:cNvSpPr>
            <a:spLocks noGrp="1"/>
          </p:cNvSpPr>
          <p:nvPr>
            <p:ph type="title"/>
          </p:nvPr>
        </p:nvSpPr>
        <p:spPr>
          <a:xfrm>
            <a:off x="492235" y="253589"/>
            <a:ext cx="10515600" cy="555571"/>
          </a:xfrm>
        </p:spPr>
        <p:txBody>
          <a:bodyPr>
            <a:noAutofit/>
          </a:bodyPr>
          <a:lstStyle/>
          <a:p>
            <a:r>
              <a:rPr lang="en-US" sz="3600" b="1" dirty="0">
                <a:solidFill>
                  <a:schemeClr val="accent1">
                    <a:lumMod val="50000"/>
                  </a:schemeClr>
                </a:solidFill>
                <a:latin typeface="+mn-lt"/>
              </a:rPr>
              <a:t>Algorithm</a:t>
            </a:r>
            <a:endParaRPr lang="en-PK" sz="3600" b="1" dirty="0">
              <a:solidFill>
                <a:schemeClr val="accent1">
                  <a:lumMod val="50000"/>
                </a:schemeClr>
              </a:solidFill>
              <a:latin typeface="+mn-lt"/>
            </a:endParaRPr>
          </a:p>
        </p:txBody>
      </p:sp>
      <p:sp>
        <p:nvSpPr>
          <p:cNvPr id="3" name="Content Placeholder 2">
            <a:extLst>
              <a:ext uri="{FF2B5EF4-FFF2-40B4-BE49-F238E27FC236}">
                <a16:creationId xmlns:a16="http://schemas.microsoft.com/office/drawing/2014/main" xmlns="" id="{8193816C-58C2-43CE-AD86-F530EEFF4CB8}"/>
              </a:ext>
            </a:extLst>
          </p:cNvPr>
          <p:cNvSpPr>
            <a:spLocks noGrp="1"/>
          </p:cNvSpPr>
          <p:nvPr>
            <p:ph idx="1"/>
          </p:nvPr>
        </p:nvSpPr>
        <p:spPr>
          <a:xfrm>
            <a:off x="660400" y="919699"/>
            <a:ext cx="10515600" cy="1159313"/>
          </a:xfrm>
        </p:spPr>
        <p:txBody>
          <a:bodyPr>
            <a:normAutofit lnSpcReduction="10000"/>
          </a:bodyPr>
          <a:lstStyle/>
          <a:p>
            <a:r>
              <a:rPr lang="en-US" sz="1800" dirty="0">
                <a:effectLst/>
                <a:latin typeface="Calibri" panose="020F0502020204030204" pitchFamily="34" charset="0"/>
                <a:ea typeface="Calibri" panose="020F0502020204030204" pitchFamily="34" charset="0"/>
                <a:cs typeface="Arial" panose="020B0604020202020204" pitchFamily="34" charset="0"/>
              </a:rPr>
              <a:t>Algorithm is a step by step procedure, which defines a set of instruction to be executed in a certain order to get the desired output. </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r>
              <a:rPr lang="en-US" sz="1800" dirty="0">
                <a:effectLst/>
                <a:latin typeface="Calibri" panose="020F0502020204030204" pitchFamily="34" charset="0"/>
                <a:ea typeface="Calibri" panose="020F0502020204030204" pitchFamily="34" charset="0"/>
                <a:cs typeface="Arial" panose="020B0604020202020204" pitchFamily="34" charset="0"/>
              </a:rPr>
              <a:t>Algorithm are generally created independent of underlying languages, </a:t>
            </a:r>
            <a:r>
              <a:rPr lang="en-US" sz="1800" dirty="0" err="1">
                <a:effectLst/>
                <a:latin typeface="Calibri" panose="020F0502020204030204" pitchFamily="34" charset="0"/>
                <a:ea typeface="Calibri" panose="020F0502020204030204" pitchFamily="34" charset="0"/>
                <a:cs typeface="Arial" panose="020B0604020202020204" pitchFamily="34" charset="0"/>
              </a:rPr>
              <a:t>i.e</a:t>
            </a:r>
            <a:r>
              <a:rPr lang="en-US" sz="1800" dirty="0">
                <a:effectLst/>
                <a:latin typeface="Calibri" panose="020F0502020204030204" pitchFamily="34" charset="0"/>
                <a:ea typeface="Calibri" panose="020F0502020204030204" pitchFamily="34" charset="0"/>
                <a:cs typeface="Arial" panose="020B0604020202020204" pitchFamily="34" charset="0"/>
              </a:rPr>
              <a:t> algorithm can be implemented in more than one programming language.</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endParaRPr lang="en-PK" dirty="0"/>
          </a:p>
        </p:txBody>
      </p:sp>
      <p:sp>
        <p:nvSpPr>
          <p:cNvPr id="4" name="TextBox 3">
            <a:extLst>
              <a:ext uri="{FF2B5EF4-FFF2-40B4-BE49-F238E27FC236}">
                <a16:creationId xmlns:a16="http://schemas.microsoft.com/office/drawing/2014/main" xmlns="" id="{2CDEA0EB-9688-4942-869E-87D9A9EF80E3}"/>
              </a:ext>
            </a:extLst>
          </p:cNvPr>
          <p:cNvSpPr txBox="1"/>
          <p:nvPr/>
        </p:nvSpPr>
        <p:spPr>
          <a:xfrm>
            <a:off x="289035" y="2393732"/>
            <a:ext cx="3769360" cy="369332"/>
          </a:xfrm>
          <a:prstGeom prst="rect">
            <a:avLst/>
          </a:prstGeom>
          <a:noFill/>
        </p:spPr>
        <p:txBody>
          <a:bodyPr wrap="square" rtlCol="0">
            <a:spAutoFit/>
          </a:bodyPr>
          <a:lstStyle/>
          <a:p>
            <a:r>
              <a:rPr lang="en-US" sz="1800" b="1" dirty="0">
                <a:solidFill>
                  <a:schemeClr val="accent1">
                    <a:lumMod val="50000"/>
                  </a:schemeClr>
                </a:solidFill>
                <a:effectLst/>
                <a:latin typeface="Calibri" panose="020F0502020204030204" pitchFamily="34" charset="0"/>
                <a:ea typeface="Calibri" panose="020F0502020204030204" pitchFamily="34" charset="0"/>
                <a:cs typeface="Arial" panose="020B0604020202020204" pitchFamily="34" charset="0"/>
              </a:rPr>
              <a:t>Characteristics of an Algorithm:</a:t>
            </a:r>
            <a:endParaRPr lang="en-PK" b="1" dirty="0">
              <a:solidFill>
                <a:schemeClr val="accent1">
                  <a:lumMod val="50000"/>
                </a:schemeClr>
              </a:solidFill>
            </a:endParaRPr>
          </a:p>
        </p:txBody>
      </p:sp>
      <p:sp>
        <p:nvSpPr>
          <p:cNvPr id="5" name="TextBox 4">
            <a:extLst>
              <a:ext uri="{FF2B5EF4-FFF2-40B4-BE49-F238E27FC236}">
                <a16:creationId xmlns:a16="http://schemas.microsoft.com/office/drawing/2014/main" xmlns="" id="{C029E485-6882-4221-8ED1-BAEA0F9574DB}"/>
              </a:ext>
            </a:extLst>
          </p:cNvPr>
          <p:cNvSpPr txBox="1"/>
          <p:nvPr/>
        </p:nvSpPr>
        <p:spPr>
          <a:xfrm>
            <a:off x="1191741" y="2903196"/>
            <a:ext cx="11289862" cy="3573414"/>
          </a:xfrm>
          <a:prstGeom prst="rect">
            <a:avLst/>
          </a:prstGeom>
          <a:noFill/>
        </p:spPr>
        <p:txBody>
          <a:bodyPr wrap="square" rtlCol="0">
            <a:spAutoFit/>
          </a:bodyPr>
          <a:lstStyle/>
          <a:p>
            <a:pPr marL="285750" marR="0" indent="-285750">
              <a:lnSpc>
                <a:spcPct val="150000"/>
              </a:lnSpc>
              <a:spcBef>
                <a:spcPts val="0"/>
              </a:spcBef>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Arial" panose="020B0604020202020204" pitchFamily="34" charset="0"/>
              </a:rPr>
              <a:t>Unambiguous </a:t>
            </a:r>
          </a:p>
          <a:p>
            <a:pPr marL="285750" marR="0" indent="-285750">
              <a:lnSpc>
                <a:spcPct val="150000"/>
              </a:lnSpc>
              <a:spcBef>
                <a:spcPts val="0"/>
              </a:spcBef>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Arial" panose="020B0604020202020204" pitchFamily="34" charset="0"/>
              </a:rPr>
              <a:t>Input</a:t>
            </a:r>
          </a:p>
          <a:p>
            <a:pPr marL="285750" marR="0" indent="-285750">
              <a:lnSpc>
                <a:spcPct val="150000"/>
              </a:lnSpc>
              <a:spcBef>
                <a:spcPts val="0"/>
              </a:spcBef>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Arial" panose="020B0604020202020204" pitchFamily="34" charset="0"/>
              </a:rPr>
              <a:t>Output</a:t>
            </a:r>
          </a:p>
          <a:p>
            <a:pPr marL="285750" marR="0" indent="-285750">
              <a:lnSpc>
                <a:spcPct val="150000"/>
              </a:lnSpc>
              <a:spcBef>
                <a:spcPts val="0"/>
              </a:spcBef>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Arial" panose="020B0604020202020204" pitchFamily="34" charset="0"/>
              </a:rPr>
              <a:t>Finiteness</a:t>
            </a:r>
          </a:p>
          <a:p>
            <a:pPr marL="285750" marR="0" indent="-285750">
              <a:lnSpc>
                <a:spcPct val="150000"/>
              </a:lnSpc>
              <a:spcBef>
                <a:spcPts val="0"/>
              </a:spcBef>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Arial" panose="020B0604020202020204" pitchFamily="34" charset="0"/>
              </a:rPr>
              <a:t>Feasibility</a:t>
            </a:r>
          </a:p>
          <a:p>
            <a:pPr marL="285750" marR="0" indent="-285750">
              <a:lnSpc>
                <a:spcPct val="150000"/>
              </a:lnSpc>
              <a:spcBef>
                <a:spcPts val="0"/>
              </a:spcBef>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Arial" panose="020B0604020202020204" pitchFamily="34" charset="0"/>
              </a:rPr>
              <a:t>Independent</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285750" indent="-285750">
              <a:lnSpc>
                <a:spcPct val="150000"/>
              </a:lnSpc>
              <a:buFont typeface="Arial" panose="020B0604020202020204" pitchFamily="34" charset="0"/>
              <a:buChar char="•"/>
            </a:pPr>
            <a:endParaRPr lang="en-PK" dirty="0"/>
          </a:p>
        </p:txBody>
      </p:sp>
      <p:sp>
        <p:nvSpPr>
          <p:cNvPr id="6" name="TextBox 5">
            <a:extLst>
              <a:ext uri="{FF2B5EF4-FFF2-40B4-BE49-F238E27FC236}">
                <a16:creationId xmlns:a16="http://schemas.microsoft.com/office/drawing/2014/main" xmlns="" id="{0FC566AB-B8EC-4042-A8D9-1DFC88D718FA}"/>
              </a:ext>
            </a:extLst>
          </p:cNvPr>
          <p:cNvSpPr txBox="1"/>
          <p:nvPr/>
        </p:nvSpPr>
        <p:spPr>
          <a:xfrm>
            <a:off x="289034" y="6204353"/>
            <a:ext cx="10582165" cy="369332"/>
          </a:xfrm>
          <a:prstGeom prst="rect">
            <a:avLst/>
          </a:prstGeom>
          <a:noFill/>
        </p:spPr>
        <p:txBody>
          <a:bodyPr wrap="square" rtlCol="0">
            <a:spAutoFit/>
          </a:bodyPr>
          <a:lstStyle/>
          <a:p>
            <a:r>
              <a:rPr lang="en-US" b="1" dirty="0"/>
              <a:t>Sub algorithm: </a:t>
            </a:r>
            <a:r>
              <a:rPr lang="en-US" i="0" dirty="0">
                <a:solidFill>
                  <a:srgbClr val="202124"/>
                </a:solidFill>
                <a:effectLst/>
              </a:rPr>
              <a:t>A sub algorithm is just an algorithm that is used as a part of another algorithm.</a:t>
            </a:r>
            <a:endParaRPr lang="en-PK" dirty="0"/>
          </a:p>
        </p:txBody>
      </p:sp>
      <p:pic>
        <p:nvPicPr>
          <p:cNvPr id="7" name="Picture 6">
            <a:extLst>
              <a:ext uri="{FF2B5EF4-FFF2-40B4-BE49-F238E27FC236}">
                <a16:creationId xmlns:a16="http://schemas.microsoft.com/office/drawing/2014/main" xmlns="" id="{8D26275C-3658-EB23-32BC-E0EB94A2D5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8" name="Footer Placeholder 2">
            <a:extLst>
              <a:ext uri="{FF2B5EF4-FFF2-40B4-BE49-F238E27FC236}">
                <a16:creationId xmlns:a16="http://schemas.microsoft.com/office/drawing/2014/main" xmlns="" id="{C0E78366-8DC6-CB52-B3E3-FC5E3F485C04}"/>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3813306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anim calcmode="lin" valueType="num">
                                      <p:cBhvr>
                                        <p:cTn id="29" dur="1000" fill="hold"/>
                                        <p:tgtEl>
                                          <p:spTgt spid="5"/>
                                        </p:tgtEl>
                                        <p:attrNameLst>
                                          <p:attrName>ppt_x</p:attrName>
                                        </p:attrNameLst>
                                      </p:cBhvr>
                                      <p:tavLst>
                                        <p:tav tm="0">
                                          <p:val>
                                            <p:strVal val="#ppt_x"/>
                                          </p:val>
                                        </p:tav>
                                        <p:tav tm="100000">
                                          <p:val>
                                            <p:strVal val="#ppt_x"/>
                                          </p:val>
                                        </p:tav>
                                      </p:tavLst>
                                    </p:anim>
                                    <p:anim calcmode="lin" valueType="num">
                                      <p:cBhvr>
                                        <p:cTn id="3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animEffect transition="in" filter="fade">
                                      <p:cBhvr>
                                        <p:cTn id="35" dur="1000"/>
                                        <p:tgtEl>
                                          <p:spTgt spid="6">
                                            <p:txEl>
                                              <p:pRg st="0" end="0"/>
                                            </p:txEl>
                                          </p:spTgt>
                                        </p:tgtEl>
                                      </p:cBhvr>
                                    </p:animEffect>
                                    <p:anim calcmode="lin" valueType="num">
                                      <p:cBhvr>
                                        <p:cTn id="3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EEF91D0-298B-4500-8E09-F1DB3AF2FED7}"/>
              </a:ext>
            </a:extLst>
          </p:cNvPr>
          <p:cNvSpPr>
            <a:spLocks noGrp="1"/>
          </p:cNvSpPr>
          <p:nvPr>
            <p:ph idx="1"/>
          </p:nvPr>
        </p:nvSpPr>
        <p:spPr>
          <a:xfrm>
            <a:off x="577678" y="1302863"/>
            <a:ext cx="11036643" cy="3784343"/>
          </a:xfrm>
        </p:spPr>
        <p:txBody>
          <a:bodyPr>
            <a:normAutofit/>
          </a:bodyPr>
          <a:lstStyle/>
          <a:p>
            <a:pPr algn="just">
              <a:lnSpc>
                <a:spcPct val="150000"/>
              </a:lnSpc>
            </a:pPr>
            <a:r>
              <a:rPr lang="en-US" sz="2000" dirty="0">
                <a:effectLst/>
                <a:latin typeface="Calibri" panose="020F0502020204030204" pitchFamily="34" charset="0"/>
                <a:ea typeface="Calibri" panose="020F0502020204030204" pitchFamily="34" charset="0"/>
                <a:cs typeface="Arial" panose="020B0604020202020204" pitchFamily="34" charset="0"/>
              </a:rPr>
              <a:t>There are no well-defined standard for writing an algorithm. Rather , its problem and resource dependent. Algorithm are never written to support a particular programming code.</a:t>
            </a:r>
            <a:endParaRPr lang="en-PK" sz="20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50000"/>
              </a:lnSpc>
            </a:pPr>
            <a:r>
              <a:rPr lang="en-US" sz="2000" dirty="0">
                <a:effectLst/>
                <a:latin typeface="Calibri" panose="020F0502020204030204" pitchFamily="34" charset="0"/>
                <a:ea typeface="Calibri" panose="020F0502020204030204" pitchFamily="34" charset="0"/>
                <a:cs typeface="Arial" panose="020B0604020202020204" pitchFamily="34" charset="0"/>
              </a:rPr>
              <a:t>As we know that all programming languages share basic code constructs like loops (do, for, while ), flow control(if-else), etc. these common constructs can be used to write an algorithm.</a:t>
            </a:r>
            <a:endParaRPr lang="en-PK" sz="20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50000"/>
              </a:lnSpc>
            </a:pPr>
            <a:r>
              <a:rPr lang="en-US" sz="2000" dirty="0">
                <a:effectLst/>
                <a:latin typeface="Calibri" panose="020F0502020204030204" pitchFamily="34" charset="0"/>
                <a:ea typeface="Calibri" panose="020F0502020204030204" pitchFamily="34" charset="0"/>
                <a:cs typeface="Arial" panose="020B0604020202020204" pitchFamily="34" charset="0"/>
              </a:rPr>
              <a:t>We write algorithm in step-by-step manner. But it is not always the case.</a:t>
            </a:r>
            <a:endParaRPr lang="en-PK" sz="20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50000"/>
              </a:lnSpc>
            </a:pPr>
            <a:r>
              <a:rPr lang="en-US" sz="2000" dirty="0">
                <a:effectLst/>
                <a:latin typeface="Calibri" panose="020F0502020204030204" pitchFamily="34" charset="0"/>
                <a:ea typeface="Calibri" panose="020F0502020204030204" pitchFamily="34" charset="0"/>
                <a:cs typeface="Arial" panose="020B0604020202020204" pitchFamily="34" charset="0"/>
              </a:rPr>
              <a:t>Algorithm writing is a process and is executed after the problem domain is well defined. That is , we should know the problem domain, for which we designing a solution.</a:t>
            </a:r>
            <a:endParaRPr lang="en-PK"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 name="Title 1">
            <a:extLst>
              <a:ext uri="{FF2B5EF4-FFF2-40B4-BE49-F238E27FC236}">
                <a16:creationId xmlns:a16="http://schemas.microsoft.com/office/drawing/2014/main" xmlns="" id="{D6F3057A-A536-4985-BFD9-306805ECEE99}"/>
              </a:ext>
            </a:extLst>
          </p:cNvPr>
          <p:cNvSpPr>
            <a:spLocks noGrp="1"/>
          </p:cNvSpPr>
          <p:nvPr>
            <p:ph type="title"/>
          </p:nvPr>
        </p:nvSpPr>
        <p:spPr>
          <a:xfrm>
            <a:off x="220362" y="476475"/>
            <a:ext cx="10515600" cy="516796"/>
          </a:xfrm>
        </p:spPr>
        <p:txBody>
          <a:bodyPr>
            <a:normAutofit/>
          </a:bodyPr>
          <a:lstStyle/>
          <a:p>
            <a:r>
              <a:rPr lang="en-US" sz="2800" b="1" dirty="0">
                <a:solidFill>
                  <a:schemeClr val="accent1">
                    <a:lumMod val="50000"/>
                  </a:schemeClr>
                </a:solidFill>
                <a:effectLst/>
                <a:latin typeface="Calibri" panose="020F0502020204030204" pitchFamily="34" charset="0"/>
                <a:ea typeface="Calibri" panose="020F0502020204030204" pitchFamily="34" charset="0"/>
                <a:cs typeface="Arial" panose="020B0604020202020204" pitchFamily="34" charset="0"/>
              </a:rPr>
              <a:t>How to write an Algorithm?</a:t>
            </a:r>
            <a:endParaRPr lang="en-PK" sz="6000" b="1" dirty="0">
              <a:solidFill>
                <a:schemeClr val="accent1">
                  <a:lumMod val="50000"/>
                </a:schemeClr>
              </a:solidFill>
            </a:endParaRPr>
          </a:p>
        </p:txBody>
      </p:sp>
      <p:pic>
        <p:nvPicPr>
          <p:cNvPr id="4" name="Picture 3">
            <a:extLst>
              <a:ext uri="{FF2B5EF4-FFF2-40B4-BE49-F238E27FC236}">
                <a16:creationId xmlns:a16="http://schemas.microsoft.com/office/drawing/2014/main" xmlns="" id="{0DE14C38-8F9E-8D07-8F95-392156E4AC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5" name="Footer Placeholder 2">
            <a:extLst>
              <a:ext uri="{FF2B5EF4-FFF2-40B4-BE49-F238E27FC236}">
                <a16:creationId xmlns:a16="http://schemas.microsoft.com/office/drawing/2014/main" xmlns="" id="{C7A3D806-E898-6728-EEDD-52CB45952837}"/>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38964307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B500BA2-705D-4449-93F4-59CEA4EAEC20}"/>
              </a:ext>
            </a:extLst>
          </p:cNvPr>
          <p:cNvSpPr>
            <a:spLocks noGrp="1"/>
          </p:cNvSpPr>
          <p:nvPr>
            <p:ph idx="1"/>
          </p:nvPr>
        </p:nvSpPr>
        <p:spPr>
          <a:xfrm>
            <a:off x="748990" y="1045038"/>
            <a:ext cx="10515600" cy="5812961"/>
          </a:xfrm>
        </p:spPr>
        <p:txBody>
          <a:bodyPr>
            <a:normAutofit/>
          </a:bodyPr>
          <a:lstStyle/>
          <a:p>
            <a:pPr algn="just">
              <a:lnSpc>
                <a:spcPct val="200000"/>
              </a:lnSpc>
            </a:pPr>
            <a:r>
              <a:rPr lang="en-US" sz="1800" b="0" i="0" dirty="0">
                <a:solidFill>
                  <a:srgbClr val="3B3835"/>
                </a:solidFill>
                <a:effectLst/>
                <a:latin typeface="Calibri" panose="020F0502020204030204" pitchFamily="34" charset="0"/>
                <a:cs typeface="Calibri" panose="020F0502020204030204" pitchFamily="34" charset="0"/>
              </a:rPr>
              <a:t>Efficiency of an algorithm denotes the rate at which an algorithm solves a problem of size n. </a:t>
            </a:r>
          </a:p>
          <a:p>
            <a:pPr algn="just">
              <a:lnSpc>
                <a:spcPct val="200000"/>
              </a:lnSpc>
            </a:pPr>
            <a:r>
              <a:rPr lang="en-US" sz="1800" b="0" i="0" dirty="0">
                <a:solidFill>
                  <a:srgbClr val="3B3835"/>
                </a:solidFill>
                <a:effectLst/>
                <a:latin typeface="Calibri" panose="020F0502020204030204" pitchFamily="34" charset="0"/>
                <a:cs typeface="Calibri" panose="020F0502020204030204" pitchFamily="34" charset="0"/>
              </a:rPr>
              <a:t>It is measured by the amount of resources it uses, the time and the space.</a:t>
            </a:r>
          </a:p>
          <a:p>
            <a:pPr algn="just">
              <a:lnSpc>
                <a:spcPct val="200000"/>
              </a:lnSpc>
            </a:pPr>
            <a:r>
              <a:rPr lang="en-US" sz="1800" b="0" i="0" dirty="0">
                <a:solidFill>
                  <a:srgbClr val="3B3835"/>
                </a:solidFill>
                <a:effectLst/>
                <a:latin typeface="Calibri" panose="020F0502020204030204" pitchFamily="34" charset="0"/>
                <a:cs typeface="Calibri" panose="020F0502020204030204" pitchFamily="34" charset="0"/>
              </a:rPr>
              <a:t> The time refers to the number of steps the algorithm executes while the space refers to the number of unit memory storage it requires. </a:t>
            </a:r>
          </a:p>
          <a:p>
            <a:pPr algn="just">
              <a:lnSpc>
                <a:spcPct val="200000"/>
              </a:lnSpc>
            </a:pPr>
            <a:r>
              <a:rPr lang="en-US" sz="1800" b="0" i="0" dirty="0">
                <a:solidFill>
                  <a:srgbClr val="3B3835"/>
                </a:solidFill>
                <a:effectLst/>
                <a:latin typeface="Calibri" panose="020F0502020204030204" pitchFamily="34" charset="0"/>
                <a:cs typeface="Calibri" panose="020F0502020204030204" pitchFamily="34" charset="0"/>
              </a:rPr>
              <a:t>An algorithm’s complexity is measured by calculating the time taken and space required for performing the algorithm.</a:t>
            </a:r>
          </a:p>
          <a:p>
            <a:pPr algn="just">
              <a:lnSpc>
                <a:spcPct val="200000"/>
              </a:lnSpc>
            </a:pPr>
            <a:r>
              <a:rPr lang="en-US" sz="1800" b="0" i="0" dirty="0">
                <a:solidFill>
                  <a:srgbClr val="3B3835"/>
                </a:solidFill>
                <a:effectLst/>
                <a:latin typeface="Calibri" panose="020F0502020204030204" pitchFamily="34" charset="0"/>
                <a:cs typeface="Calibri" panose="020F0502020204030204" pitchFamily="34" charset="0"/>
              </a:rPr>
              <a:t>The input size, denoted by n, is one parameter , used to characterize the instance of the problem.</a:t>
            </a:r>
          </a:p>
          <a:p>
            <a:pPr algn="just">
              <a:lnSpc>
                <a:spcPct val="200000"/>
              </a:lnSpc>
            </a:pPr>
            <a:r>
              <a:rPr lang="en-US" sz="1800" b="0" i="0" dirty="0">
                <a:solidFill>
                  <a:srgbClr val="3B3835"/>
                </a:solidFill>
                <a:effectLst/>
                <a:latin typeface="Calibri" panose="020F0502020204030204" pitchFamily="34" charset="0"/>
                <a:cs typeface="Calibri" panose="020F0502020204030204" pitchFamily="34" charset="0"/>
              </a:rPr>
              <a:t>The input size n is the number of registers needed to hold the input (data segment size).</a:t>
            </a:r>
            <a:endParaRPr lang="en-PK" sz="1800" dirty="0">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xmlns="" id="{B290A81C-A34E-4D67-AD14-6715270EC010}"/>
              </a:ext>
            </a:extLst>
          </p:cNvPr>
          <p:cNvSpPr>
            <a:spLocks noGrp="1"/>
          </p:cNvSpPr>
          <p:nvPr>
            <p:ph type="title"/>
          </p:nvPr>
        </p:nvSpPr>
        <p:spPr>
          <a:xfrm>
            <a:off x="362910" y="359223"/>
            <a:ext cx="10515600" cy="464054"/>
          </a:xfrm>
        </p:spPr>
        <p:txBody>
          <a:bodyPr>
            <a:normAutofit/>
          </a:bodyPr>
          <a:lstStyle/>
          <a:p>
            <a:r>
              <a:rPr lang="en-US" sz="2400" b="1" i="0" dirty="0">
                <a:solidFill>
                  <a:schemeClr val="accent1">
                    <a:lumMod val="50000"/>
                  </a:schemeClr>
                </a:solidFill>
                <a:effectLst/>
                <a:latin typeface="+mn-lt"/>
              </a:rPr>
              <a:t>Efficiency of an algorithm</a:t>
            </a:r>
            <a:endParaRPr lang="en-PK" sz="2400" b="1" dirty="0">
              <a:solidFill>
                <a:schemeClr val="accent1">
                  <a:lumMod val="50000"/>
                </a:schemeClr>
              </a:solidFill>
              <a:latin typeface="+mn-lt"/>
            </a:endParaRPr>
          </a:p>
        </p:txBody>
      </p:sp>
      <p:pic>
        <p:nvPicPr>
          <p:cNvPr id="4" name="Picture 3">
            <a:extLst>
              <a:ext uri="{FF2B5EF4-FFF2-40B4-BE49-F238E27FC236}">
                <a16:creationId xmlns:a16="http://schemas.microsoft.com/office/drawing/2014/main" xmlns="" id="{D2DF9258-CD65-E7EC-3D20-3E30EFB68E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5" name="Footer Placeholder 2">
            <a:extLst>
              <a:ext uri="{FF2B5EF4-FFF2-40B4-BE49-F238E27FC236}">
                <a16:creationId xmlns:a16="http://schemas.microsoft.com/office/drawing/2014/main" xmlns="" id="{93E5C144-32AB-FD38-40B2-35751253ED9C}"/>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11062951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92573B8C-43F3-4DD9-923C-AF533764568D}"/>
              </a:ext>
            </a:extLst>
          </p:cNvPr>
          <p:cNvSpPr>
            <a:spLocks noGrp="1"/>
          </p:cNvSpPr>
          <p:nvPr>
            <p:ph type="title"/>
          </p:nvPr>
        </p:nvSpPr>
        <p:spPr>
          <a:xfrm>
            <a:off x="220362" y="164241"/>
            <a:ext cx="10515600" cy="516796"/>
          </a:xfrm>
        </p:spPr>
        <p:txBody>
          <a:bodyPr>
            <a:normAutofit/>
          </a:bodyPr>
          <a:lstStyle/>
          <a:p>
            <a:r>
              <a:rPr lang="en-US" sz="2800" b="1" dirty="0">
                <a:solidFill>
                  <a:schemeClr val="accent1">
                    <a:lumMod val="50000"/>
                  </a:schemeClr>
                </a:solidFill>
                <a:effectLst/>
                <a:latin typeface="Calibri" panose="020F0502020204030204" pitchFamily="34" charset="0"/>
                <a:ea typeface="Calibri" panose="020F0502020204030204" pitchFamily="34" charset="0"/>
                <a:cs typeface="Arial" panose="020B0604020202020204" pitchFamily="34" charset="0"/>
              </a:rPr>
              <a:t>How to write an Algorithm?</a:t>
            </a:r>
            <a:endParaRPr lang="en-PK" sz="6000" b="1" dirty="0">
              <a:solidFill>
                <a:schemeClr val="accent1">
                  <a:lumMod val="50000"/>
                </a:schemeClr>
              </a:solidFill>
            </a:endParaRPr>
          </a:p>
        </p:txBody>
      </p:sp>
      <p:sp>
        <p:nvSpPr>
          <p:cNvPr id="5" name="TextBox 4">
            <a:extLst>
              <a:ext uri="{FF2B5EF4-FFF2-40B4-BE49-F238E27FC236}">
                <a16:creationId xmlns:a16="http://schemas.microsoft.com/office/drawing/2014/main" xmlns="" id="{8849E335-A05A-4342-9086-912D47A3CEE9}"/>
              </a:ext>
            </a:extLst>
          </p:cNvPr>
          <p:cNvSpPr txBox="1"/>
          <p:nvPr/>
        </p:nvSpPr>
        <p:spPr>
          <a:xfrm>
            <a:off x="702431" y="1319682"/>
            <a:ext cx="1112420" cy="369332"/>
          </a:xfrm>
          <a:prstGeom prst="rect">
            <a:avLst/>
          </a:prstGeom>
          <a:noFill/>
        </p:spPr>
        <p:txBody>
          <a:bodyPr wrap="none" rtlCol="0">
            <a:spAutoFit/>
          </a:bodyPr>
          <a:lstStyle/>
          <a:p>
            <a:r>
              <a:rPr lang="en-US" b="1" dirty="0"/>
              <a:t>Example: </a:t>
            </a:r>
            <a:endParaRPr lang="en-PK" b="1" dirty="0"/>
          </a:p>
        </p:txBody>
      </p:sp>
      <p:sp>
        <p:nvSpPr>
          <p:cNvPr id="6" name="TextBox 5">
            <a:extLst>
              <a:ext uri="{FF2B5EF4-FFF2-40B4-BE49-F238E27FC236}">
                <a16:creationId xmlns:a16="http://schemas.microsoft.com/office/drawing/2014/main" xmlns="" id="{ACE0220A-42CD-4816-88C8-3C473503408A}"/>
              </a:ext>
            </a:extLst>
          </p:cNvPr>
          <p:cNvSpPr txBox="1"/>
          <p:nvPr/>
        </p:nvSpPr>
        <p:spPr>
          <a:xfrm>
            <a:off x="887939" y="1957860"/>
            <a:ext cx="3918840" cy="2769284"/>
          </a:xfrm>
          <a:prstGeom prst="rect">
            <a:avLst/>
          </a:prstGeom>
          <a:noFill/>
        </p:spPr>
        <p:txBody>
          <a:bodyPr wrap="square">
            <a:spAutoFit/>
          </a:bodyPr>
          <a:lstStyle/>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Step 1</a:t>
            </a:r>
            <a:r>
              <a:rPr lang="en-US" sz="1800" dirty="0">
                <a:effectLst/>
                <a:latin typeface="Calibri" panose="020F0502020204030204" pitchFamily="34" charset="0"/>
                <a:ea typeface="Calibri" panose="020F0502020204030204" pitchFamily="34" charset="0"/>
                <a:cs typeface="Arial" panose="020B0604020202020204" pitchFamily="34" charset="0"/>
              </a:rPr>
              <a:t>: Start</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Step 2:</a:t>
            </a:r>
            <a:r>
              <a:rPr lang="en-US" sz="1800" dirty="0">
                <a:effectLst/>
                <a:latin typeface="Calibri" panose="020F0502020204030204" pitchFamily="34" charset="0"/>
                <a:ea typeface="Calibri" panose="020F0502020204030204" pitchFamily="34" charset="0"/>
                <a:cs typeface="Arial" panose="020B0604020202020204" pitchFamily="34" charset="0"/>
              </a:rPr>
              <a:t> Declare the three integers a, b, c</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Step 3:</a:t>
            </a:r>
            <a:r>
              <a:rPr lang="en-US" sz="1800" dirty="0">
                <a:effectLst/>
                <a:latin typeface="Calibri" panose="020F0502020204030204" pitchFamily="34" charset="0"/>
                <a:ea typeface="Calibri" panose="020F0502020204030204" pitchFamily="34" charset="0"/>
                <a:cs typeface="Arial" panose="020B0604020202020204" pitchFamily="34" charset="0"/>
              </a:rPr>
              <a:t> define values of a and b</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Step 4:</a:t>
            </a:r>
            <a:r>
              <a:rPr lang="en-US" sz="1800" dirty="0">
                <a:effectLst/>
                <a:latin typeface="Calibri" panose="020F0502020204030204" pitchFamily="34" charset="0"/>
                <a:ea typeface="Calibri" panose="020F0502020204030204" pitchFamily="34" charset="0"/>
                <a:cs typeface="Arial" panose="020B0604020202020204" pitchFamily="34" charset="0"/>
              </a:rPr>
              <a:t> add values of a and b</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Step 5:</a:t>
            </a:r>
            <a:r>
              <a:rPr lang="en-US" sz="1800" dirty="0">
                <a:effectLst/>
                <a:latin typeface="Calibri" panose="020F0502020204030204" pitchFamily="34" charset="0"/>
                <a:ea typeface="Calibri" panose="020F0502020204030204" pitchFamily="34" charset="0"/>
                <a:cs typeface="Arial" panose="020B0604020202020204" pitchFamily="34" charset="0"/>
              </a:rPr>
              <a:t> store output of step 4 to c</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Step 6:</a:t>
            </a:r>
            <a:r>
              <a:rPr lang="en-US" sz="1800" dirty="0">
                <a:effectLst/>
                <a:latin typeface="Calibri" panose="020F0502020204030204" pitchFamily="34" charset="0"/>
                <a:ea typeface="Calibri" panose="020F0502020204030204" pitchFamily="34" charset="0"/>
                <a:cs typeface="Arial" panose="020B0604020202020204" pitchFamily="34" charset="0"/>
              </a:rPr>
              <a:t> print c</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Step 7:</a:t>
            </a:r>
            <a:r>
              <a:rPr lang="en-US" sz="1800" dirty="0">
                <a:effectLst/>
                <a:latin typeface="Calibri" panose="020F0502020204030204" pitchFamily="34" charset="0"/>
                <a:ea typeface="Calibri" panose="020F0502020204030204" pitchFamily="34" charset="0"/>
                <a:cs typeface="Arial" panose="020B0604020202020204" pitchFamily="34" charset="0"/>
              </a:rPr>
              <a:t> STOP / Exit</a:t>
            </a:r>
            <a:endParaRPr lang="en-PK"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xmlns="" id="{CE27C1F5-F10F-411E-A541-AEA63A12095C}"/>
              </a:ext>
            </a:extLst>
          </p:cNvPr>
          <p:cNvSpPr txBox="1"/>
          <p:nvPr/>
        </p:nvSpPr>
        <p:spPr>
          <a:xfrm>
            <a:off x="7169134" y="1319682"/>
            <a:ext cx="2205412" cy="369332"/>
          </a:xfrm>
          <a:prstGeom prst="rect">
            <a:avLst/>
          </a:prstGeom>
          <a:noFill/>
        </p:spPr>
        <p:txBody>
          <a:bodyPr wrap="none" rtlCol="0">
            <a:spAutoFit/>
          </a:bodyPr>
          <a:lstStyle/>
          <a:p>
            <a:r>
              <a:rPr lang="en-US" b="1" dirty="0"/>
              <a:t>Another Alternative: </a:t>
            </a:r>
            <a:endParaRPr lang="en-PK" b="1" dirty="0"/>
          </a:p>
        </p:txBody>
      </p:sp>
      <p:sp>
        <p:nvSpPr>
          <p:cNvPr id="11" name="TextBox 10">
            <a:extLst>
              <a:ext uri="{FF2B5EF4-FFF2-40B4-BE49-F238E27FC236}">
                <a16:creationId xmlns:a16="http://schemas.microsoft.com/office/drawing/2014/main" xmlns="" id="{EC0898E1-0C97-400B-9FD3-CEF2A555C45F}"/>
              </a:ext>
            </a:extLst>
          </p:cNvPr>
          <p:cNvSpPr txBox="1"/>
          <p:nvPr/>
        </p:nvSpPr>
        <p:spPr>
          <a:xfrm>
            <a:off x="6966121" y="2130855"/>
            <a:ext cx="6098058" cy="1971374"/>
          </a:xfrm>
          <a:prstGeom prst="rect">
            <a:avLst/>
          </a:prstGeom>
          <a:noFill/>
        </p:spPr>
        <p:txBody>
          <a:bodyPr wrap="square">
            <a:spAutoFit/>
          </a:bodyPr>
          <a:lstStyle/>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Step 1:</a:t>
            </a:r>
            <a:r>
              <a:rPr lang="en-US" sz="1800" dirty="0">
                <a:effectLst/>
                <a:latin typeface="Calibri" panose="020F0502020204030204" pitchFamily="34" charset="0"/>
                <a:ea typeface="Calibri" panose="020F0502020204030204" pitchFamily="34" charset="0"/>
                <a:cs typeface="Arial" panose="020B0604020202020204" pitchFamily="34" charset="0"/>
              </a:rPr>
              <a:t> Start Addition</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Step 2:</a:t>
            </a:r>
            <a:r>
              <a:rPr lang="en-US" sz="1800" dirty="0">
                <a:effectLst/>
                <a:latin typeface="Calibri" panose="020F0502020204030204" pitchFamily="34" charset="0"/>
                <a:ea typeface="Calibri" panose="020F0502020204030204" pitchFamily="34" charset="0"/>
                <a:cs typeface="Arial" panose="020B0604020202020204" pitchFamily="34" charset="0"/>
              </a:rPr>
              <a:t> get values of a and b</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Step 3:</a:t>
            </a:r>
            <a:r>
              <a:rPr lang="en-US" sz="1800" dirty="0">
                <a:effectLst/>
                <a:latin typeface="Calibri" panose="020F0502020204030204" pitchFamily="34" charset="0"/>
                <a:ea typeface="Calibri" panose="020F0502020204030204" pitchFamily="34" charset="0"/>
                <a:cs typeface="Arial" panose="020B0604020202020204" pitchFamily="34" charset="0"/>
              </a:rPr>
              <a:t> add a and b and put into c      </a:t>
            </a:r>
            <a:r>
              <a:rPr lang="en-US" sz="1800" dirty="0" err="1">
                <a:effectLst/>
                <a:latin typeface="Calibri" panose="020F0502020204030204" pitchFamily="34" charset="0"/>
                <a:ea typeface="Calibri" panose="020F0502020204030204" pitchFamily="34" charset="0"/>
                <a:cs typeface="Arial" panose="020B0604020202020204" pitchFamily="34" charset="0"/>
              </a:rPr>
              <a:t>c</a:t>
            </a:r>
            <a:r>
              <a:rPr lang="en-US" sz="1800" dirty="0">
                <a:effectLst/>
                <a:latin typeface="Calibri" panose="020F0502020204030204" pitchFamily="34" charset="0"/>
                <a:ea typeface="Calibri" panose="020F0502020204030204" pitchFamily="34" charset="0"/>
                <a:cs typeface="Arial" panose="020B0604020202020204" pitchFamily="34" charset="0"/>
              </a:rPr>
              <a:t>    &lt;-     a + b</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Step 4:</a:t>
            </a:r>
            <a:r>
              <a:rPr lang="en-US" sz="1800" dirty="0">
                <a:effectLst/>
                <a:latin typeface="Calibri" panose="020F0502020204030204" pitchFamily="34" charset="0"/>
                <a:ea typeface="Calibri" panose="020F0502020204030204" pitchFamily="34" charset="0"/>
                <a:cs typeface="Arial" panose="020B0604020202020204" pitchFamily="34" charset="0"/>
              </a:rPr>
              <a:t> display c</a:t>
            </a:r>
            <a:endParaRPr lang="en-PK"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Step 5:</a:t>
            </a:r>
            <a:r>
              <a:rPr lang="en-US" sz="1800" dirty="0">
                <a:effectLst/>
                <a:latin typeface="Calibri" panose="020F0502020204030204" pitchFamily="34" charset="0"/>
                <a:ea typeface="Calibri" panose="020F0502020204030204" pitchFamily="34" charset="0"/>
                <a:cs typeface="Arial" panose="020B0604020202020204" pitchFamily="34" charset="0"/>
              </a:rPr>
              <a:t> stop / exit</a:t>
            </a:r>
            <a:endParaRPr lang="en-PK"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3" name="TextBox 12">
            <a:extLst>
              <a:ext uri="{FF2B5EF4-FFF2-40B4-BE49-F238E27FC236}">
                <a16:creationId xmlns:a16="http://schemas.microsoft.com/office/drawing/2014/main" xmlns="" id="{2FB5BA0A-E54C-4484-8F4A-2EAC70E1A6A9}"/>
              </a:ext>
            </a:extLst>
          </p:cNvPr>
          <p:cNvSpPr txBox="1"/>
          <p:nvPr/>
        </p:nvSpPr>
        <p:spPr>
          <a:xfrm>
            <a:off x="702431" y="5628415"/>
            <a:ext cx="11380729" cy="375552"/>
          </a:xfrm>
          <a:prstGeom prst="rect">
            <a:avLst/>
          </a:prstGeom>
          <a:noFill/>
        </p:spPr>
        <p:txBody>
          <a:bodyPr wrap="square">
            <a:spAutoFit/>
          </a:bodyPr>
          <a:lstStyle/>
          <a:p>
            <a:pPr marL="285750" marR="0" indent="-285750">
              <a:lnSpc>
                <a:spcPct val="107000"/>
              </a:lnSpc>
              <a:spcBef>
                <a:spcPts val="0"/>
              </a:spcBef>
              <a:spcAft>
                <a:spcPts val="800"/>
              </a:spcAft>
              <a:buFont typeface="Arial" panose="020B0604020202020204" pitchFamily="34" charset="0"/>
              <a:buChar char="•"/>
            </a:pPr>
            <a:r>
              <a:rPr lang="en-US" sz="1800" b="1" i="1" dirty="0">
                <a:effectLst/>
                <a:latin typeface="Calibri" panose="020F0502020204030204" pitchFamily="34" charset="0"/>
                <a:ea typeface="Calibri" panose="020F0502020204030204" pitchFamily="34" charset="0"/>
                <a:cs typeface="Arial" panose="020B0604020202020204" pitchFamily="34" charset="0"/>
              </a:rPr>
              <a:t>We design an algorithm to get a solution of a given problem. A problem can be solved in more than one ways.</a:t>
            </a:r>
            <a:endParaRPr lang="en-PK" sz="1800" b="1" i="1"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4" name="Picture 13" descr="one problem many solutions">
            <a:extLst>
              <a:ext uri="{FF2B5EF4-FFF2-40B4-BE49-F238E27FC236}">
                <a16:creationId xmlns:a16="http://schemas.microsoft.com/office/drawing/2014/main" xmlns="" id="{0E20CB03-4541-4C17-A8E3-0BBA79CFA9D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633784" y="3334137"/>
            <a:ext cx="2233597" cy="2139906"/>
          </a:xfrm>
          <a:prstGeom prst="rect">
            <a:avLst/>
          </a:prstGeom>
          <a:noFill/>
          <a:ln>
            <a:noFill/>
          </a:ln>
        </p:spPr>
      </p:pic>
      <p:pic>
        <p:nvPicPr>
          <p:cNvPr id="3" name="Picture 2">
            <a:extLst>
              <a:ext uri="{FF2B5EF4-FFF2-40B4-BE49-F238E27FC236}">
                <a16:creationId xmlns:a16="http://schemas.microsoft.com/office/drawing/2014/main" xmlns="" id="{ED989E90-AD2F-88C3-1AD3-19119C078A4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7" name="Footer Placeholder 2">
            <a:extLst>
              <a:ext uri="{FF2B5EF4-FFF2-40B4-BE49-F238E27FC236}">
                <a16:creationId xmlns:a16="http://schemas.microsoft.com/office/drawing/2014/main" xmlns="" id="{6E5CF03C-03ED-7962-EFF1-C7E9C7992B1E}"/>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4033433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ppt_x</p:attrName>
                                        </p:attrNameLst>
                                      </p:cBhvr>
                                      <p:tavLst>
                                        <p:tav tm="0">
                                          <p:val>
                                            <p:strVal val="#ppt_x"/>
                                          </p:val>
                                        </p:tav>
                                        <p:tav tm="100000">
                                          <p:val>
                                            <p:strVal val="#ppt_x"/>
                                          </p:val>
                                        </p:tav>
                                      </p:tavLst>
                                    </p:anim>
                                    <p:anim calcmode="lin" valueType="num">
                                      <p:cBhvr>
                                        <p:cTn id="29" dur="1000" fill="hold"/>
                                        <p:tgtEl>
                                          <p:spTgt spid="13"/>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1000"/>
                                        <p:tgtEl>
                                          <p:spTgt spid="14"/>
                                        </p:tgtEl>
                                      </p:cBhvr>
                                    </p:animEffect>
                                    <p:anim calcmode="lin" valueType="num">
                                      <p:cBhvr>
                                        <p:cTn id="33" dur="1000" fill="hold"/>
                                        <p:tgtEl>
                                          <p:spTgt spid="14"/>
                                        </p:tgtEl>
                                        <p:attrNameLst>
                                          <p:attrName>ppt_x</p:attrName>
                                        </p:attrNameLst>
                                      </p:cBhvr>
                                      <p:tavLst>
                                        <p:tav tm="0">
                                          <p:val>
                                            <p:strVal val="#ppt_x"/>
                                          </p:val>
                                        </p:tav>
                                        <p:tav tm="100000">
                                          <p:val>
                                            <p:strVal val="#ppt_x"/>
                                          </p:val>
                                        </p:tav>
                                      </p:tavLst>
                                    </p:anim>
                                    <p:anim calcmode="lin" valueType="num">
                                      <p:cBhvr>
                                        <p:cTn id="3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p:bldP spid="11" grpId="0"/>
      <p:bldP spid="1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7C8B8B-7C1C-4F6C-B779-E4CB232E7E7C}"/>
              </a:ext>
            </a:extLst>
          </p:cNvPr>
          <p:cNvSpPr>
            <a:spLocks noGrp="1"/>
          </p:cNvSpPr>
          <p:nvPr>
            <p:ph type="title"/>
          </p:nvPr>
        </p:nvSpPr>
        <p:spPr>
          <a:xfrm>
            <a:off x="414454" y="449010"/>
            <a:ext cx="10515600" cy="464054"/>
          </a:xfrm>
        </p:spPr>
        <p:txBody>
          <a:bodyPr>
            <a:normAutofit fontScale="90000"/>
          </a:bodyPr>
          <a:lstStyle/>
          <a:p>
            <a:r>
              <a:rPr lang="en-US" sz="2800" b="1" dirty="0">
                <a:solidFill>
                  <a:schemeClr val="accent1">
                    <a:lumMod val="50000"/>
                  </a:schemeClr>
                </a:solidFill>
                <a:latin typeface="+mn-lt"/>
              </a:rPr>
              <a:t>Algorithm</a:t>
            </a:r>
            <a:endParaRPr lang="en-PK" sz="2800" b="1" dirty="0">
              <a:solidFill>
                <a:schemeClr val="accent1">
                  <a:lumMod val="50000"/>
                </a:schemeClr>
              </a:solidFill>
              <a:latin typeface="+mn-lt"/>
            </a:endParaRPr>
          </a:p>
        </p:txBody>
      </p:sp>
      <p:sp>
        <p:nvSpPr>
          <p:cNvPr id="3" name="Content Placeholder 2">
            <a:extLst>
              <a:ext uri="{FF2B5EF4-FFF2-40B4-BE49-F238E27FC236}">
                <a16:creationId xmlns:a16="http://schemas.microsoft.com/office/drawing/2014/main" xmlns="" id="{B85BE2DB-0F03-4612-8A70-3DCEEAE191B8}"/>
              </a:ext>
            </a:extLst>
          </p:cNvPr>
          <p:cNvSpPr>
            <a:spLocks noGrp="1"/>
          </p:cNvSpPr>
          <p:nvPr>
            <p:ph idx="1"/>
          </p:nvPr>
        </p:nvSpPr>
        <p:spPr>
          <a:xfrm>
            <a:off x="737839" y="1090770"/>
            <a:ext cx="10515600" cy="5431949"/>
          </a:xfrm>
        </p:spPr>
        <p:txBody>
          <a:bodyPr>
            <a:normAutofit/>
          </a:bodyPr>
          <a:lstStyle/>
          <a:p>
            <a:pPr algn="just">
              <a:lnSpc>
                <a:spcPct val="200000"/>
              </a:lnSpc>
            </a:pPr>
            <a:r>
              <a:rPr lang="en-US" sz="1800" dirty="0"/>
              <a:t>Problems involving numbers, strings, mathematical objects: </a:t>
            </a:r>
          </a:p>
          <a:p>
            <a:pPr algn="just">
              <a:lnSpc>
                <a:spcPct val="200000"/>
              </a:lnSpc>
            </a:pPr>
            <a:r>
              <a:rPr lang="en-US" sz="1800" dirty="0"/>
              <a:t>for two numbers, determine their sum, product, … </a:t>
            </a:r>
          </a:p>
          <a:p>
            <a:pPr algn="just">
              <a:lnSpc>
                <a:spcPct val="200000"/>
              </a:lnSpc>
            </a:pPr>
            <a:r>
              <a:rPr lang="en-US" sz="1800" dirty="0"/>
              <a:t>for two numbers, compute their greatest common divisor </a:t>
            </a:r>
          </a:p>
          <a:p>
            <a:pPr algn="just">
              <a:lnSpc>
                <a:spcPct val="200000"/>
              </a:lnSpc>
            </a:pPr>
            <a:r>
              <a:rPr lang="en-US" sz="1800" dirty="0"/>
              <a:t> for a sequence of strings, find an alphabetically sorted permutation of the sequence </a:t>
            </a:r>
          </a:p>
          <a:p>
            <a:pPr algn="just">
              <a:lnSpc>
                <a:spcPct val="200000"/>
              </a:lnSpc>
            </a:pPr>
            <a:r>
              <a:rPr lang="en-US" sz="1800" dirty="0"/>
              <a:t>for two arithmetic expressions, find out if they are equivalent</a:t>
            </a:r>
          </a:p>
          <a:p>
            <a:pPr algn="just">
              <a:lnSpc>
                <a:spcPct val="200000"/>
              </a:lnSpc>
            </a:pPr>
            <a:r>
              <a:rPr lang="en-US" sz="1800" dirty="0"/>
              <a:t>for a program in Java, create an equivalent program in byte code</a:t>
            </a:r>
          </a:p>
          <a:p>
            <a:pPr algn="just">
              <a:lnSpc>
                <a:spcPct val="200000"/>
              </a:lnSpc>
            </a:pPr>
            <a:r>
              <a:rPr lang="en-US" sz="1800" dirty="0"/>
              <a:t>on a map, find for a given house the closest bus stop We call instructions, recipes, for such problems algorithms </a:t>
            </a:r>
            <a:endParaRPr lang="en-PK" sz="1800" dirty="0"/>
          </a:p>
        </p:txBody>
      </p:sp>
      <p:pic>
        <p:nvPicPr>
          <p:cNvPr id="4" name="Picture 3">
            <a:extLst>
              <a:ext uri="{FF2B5EF4-FFF2-40B4-BE49-F238E27FC236}">
                <a16:creationId xmlns:a16="http://schemas.microsoft.com/office/drawing/2014/main" xmlns="" id="{AFF0420A-28F8-8C40-F3D4-F43B99F6D2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5" name="Footer Placeholder 2">
            <a:extLst>
              <a:ext uri="{FF2B5EF4-FFF2-40B4-BE49-F238E27FC236}">
                <a16:creationId xmlns:a16="http://schemas.microsoft.com/office/drawing/2014/main" xmlns="" id="{D2911485-37C0-AACD-38C5-B32E4E4B0642}"/>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15530160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44751F-4197-4520-A315-E865C1E6CD71}"/>
              </a:ext>
            </a:extLst>
          </p:cNvPr>
          <p:cNvSpPr>
            <a:spLocks noGrp="1"/>
          </p:cNvSpPr>
          <p:nvPr>
            <p:ph type="title"/>
          </p:nvPr>
        </p:nvSpPr>
        <p:spPr>
          <a:xfrm>
            <a:off x="320288" y="260505"/>
            <a:ext cx="10515600" cy="553264"/>
          </a:xfrm>
        </p:spPr>
        <p:txBody>
          <a:bodyPr>
            <a:normAutofit/>
          </a:bodyPr>
          <a:lstStyle/>
          <a:p>
            <a:r>
              <a:rPr lang="en-US" sz="2800" b="1" dirty="0">
                <a:solidFill>
                  <a:schemeClr val="accent1">
                    <a:lumMod val="50000"/>
                  </a:schemeClr>
                </a:solidFill>
                <a:latin typeface="+mn-lt"/>
              </a:rPr>
              <a:t>Pseudo Code</a:t>
            </a:r>
            <a:endParaRPr lang="en-PK" sz="2800" b="1" dirty="0">
              <a:solidFill>
                <a:schemeClr val="accent1">
                  <a:lumMod val="50000"/>
                </a:schemeClr>
              </a:solidFill>
              <a:latin typeface="+mn-lt"/>
            </a:endParaRPr>
          </a:p>
        </p:txBody>
      </p:sp>
      <p:sp>
        <p:nvSpPr>
          <p:cNvPr id="3" name="TextBox 2">
            <a:extLst>
              <a:ext uri="{FF2B5EF4-FFF2-40B4-BE49-F238E27FC236}">
                <a16:creationId xmlns:a16="http://schemas.microsoft.com/office/drawing/2014/main" xmlns="" id="{17D75C0A-3035-4B36-B580-E080718DCCEA}"/>
              </a:ext>
            </a:extLst>
          </p:cNvPr>
          <p:cNvSpPr txBox="1"/>
          <p:nvPr/>
        </p:nvSpPr>
        <p:spPr>
          <a:xfrm>
            <a:off x="571500" y="1164233"/>
            <a:ext cx="10058400" cy="4801314"/>
          </a:xfrm>
          <a:prstGeom prst="rect">
            <a:avLst/>
          </a:prstGeom>
          <a:noFill/>
        </p:spPr>
        <p:txBody>
          <a:bodyPr wrap="square" rtlCol="0">
            <a:spAutoFit/>
          </a:bodyPr>
          <a:lstStyle/>
          <a:p>
            <a:pPr marL="285750" indent="-285750" algn="just">
              <a:buFont typeface="Arial" panose="020B0604020202020204" pitchFamily="34" charset="0"/>
              <a:buChar char="•"/>
            </a:pPr>
            <a:r>
              <a:rPr lang="en-US" b="0" i="0" dirty="0">
                <a:effectLst/>
              </a:rPr>
              <a:t>Pseudocode is an informal way of programming description that does not require any strict programming language syntax or underlying technology considerations.</a:t>
            </a:r>
          </a:p>
          <a:p>
            <a:pPr marL="285750" indent="-285750" algn="just">
              <a:buFont typeface="Arial" panose="020B0604020202020204" pitchFamily="34" charset="0"/>
              <a:buChar char="•"/>
            </a:pPr>
            <a:endParaRPr lang="en-US" b="0" i="0" dirty="0">
              <a:effectLst/>
            </a:endParaRPr>
          </a:p>
          <a:p>
            <a:pPr marL="285750" indent="-285750" algn="just">
              <a:buFont typeface="Arial" panose="020B0604020202020204" pitchFamily="34" charset="0"/>
              <a:buChar char="•"/>
            </a:pPr>
            <a:r>
              <a:rPr lang="en-US" b="0" i="0" dirty="0">
                <a:effectLst/>
              </a:rPr>
              <a:t>It is used for creating an outline or a rough draft of a program. Pseudocode summarizes a program’s flow, but excludes underlying details.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0" i="0" dirty="0">
                <a:effectLst/>
              </a:rPr>
              <a:t>System designers write pseudocode to ensure that programmers understand a software project's requirements and align code accordingly.</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0" i="0" dirty="0">
                <a:effectLst/>
              </a:rPr>
              <a:t>Pseudocode is not an actual programming language. So it cannot be compiled into an executable program.</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0" i="0" dirty="0">
                <a:effectLst/>
              </a:rPr>
              <a:t>Pseudocode is understood by the programmers of all types.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0" i="0" dirty="0">
                <a:effectLst/>
              </a:rPr>
              <a:t>It enables the programmer to concentrate only on the algorithm part of the code development.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PK" dirty="0"/>
          </a:p>
        </p:txBody>
      </p:sp>
      <p:pic>
        <p:nvPicPr>
          <p:cNvPr id="4" name="Picture 3">
            <a:extLst>
              <a:ext uri="{FF2B5EF4-FFF2-40B4-BE49-F238E27FC236}">
                <a16:creationId xmlns:a16="http://schemas.microsoft.com/office/drawing/2014/main" xmlns="" id="{C9AE5B82-0613-C193-9D7B-C0D2A7D9D6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5" name="Footer Placeholder 2">
            <a:extLst>
              <a:ext uri="{FF2B5EF4-FFF2-40B4-BE49-F238E27FC236}">
                <a16:creationId xmlns:a16="http://schemas.microsoft.com/office/drawing/2014/main" xmlns="" id="{10364C8A-6EDF-264D-457D-608AAA584E46}"/>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10609862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114C62F5-3116-40CC-9802-7E7B3A4A8FE0}"/>
              </a:ext>
            </a:extLst>
          </p:cNvPr>
          <p:cNvSpPr>
            <a:spLocks noGrp="1"/>
          </p:cNvSpPr>
          <p:nvPr>
            <p:ph type="title"/>
          </p:nvPr>
        </p:nvSpPr>
        <p:spPr>
          <a:xfrm>
            <a:off x="320288" y="260505"/>
            <a:ext cx="10515600" cy="553264"/>
          </a:xfrm>
        </p:spPr>
        <p:txBody>
          <a:bodyPr>
            <a:normAutofit/>
          </a:bodyPr>
          <a:lstStyle/>
          <a:p>
            <a:r>
              <a:rPr lang="en-US" sz="2800" b="1" dirty="0">
                <a:solidFill>
                  <a:schemeClr val="accent1">
                    <a:lumMod val="50000"/>
                  </a:schemeClr>
                </a:solidFill>
                <a:latin typeface="+mn-lt"/>
              </a:rPr>
              <a:t>Pseudo Code</a:t>
            </a:r>
            <a:endParaRPr lang="en-PK" sz="2800" b="1" dirty="0">
              <a:solidFill>
                <a:schemeClr val="accent1">
                  <a:lumMod val="50000"/>
                </a:schemeClr>
              </a:solidFill>
              <a:latin typeface="+mn-lt"/>
            </a:endParaRPr>
          </a:p>
        </p:txBody>
      </p:sp>
      <p:pic>
        <p:nvPicPr>
          <p:cNvPr id="7" name="Picture 6">
            <a:extLst>
              <a:ext uri="{FF2B5EF4-FFF2-40B4-BE49-F238E27FC236}">
                <a16:creationId xmlns:a16="http://schemas.microsoft.com/office/drawing/2014/main" xmlns="" id="{FE2EEE7B-D4F0-431A-BB47-DAC7C0A21B0E}"/>
              </a:ext>
            </a:extLst>
          </p:cNvPr>
          <p:cNvPicPr>
            <a:picLocks noChangeAspect="1"/>
          </p:cNvPicPr>
          <p:nvPr/>
        </p:nvPicPr>
        <p:blipFill>
          <a:blip r:embed="rId2"/>
          <a:stretch>
            <a:fillRect/>
          </a:stretch>
        </p:blipFill>
        <p:spPr>
          <a:xfrm>
            <a:off x="6096000" y="1330894"/>
            <a:ext cx="5405431" cy="4774616"/>
          </a:xfrm>
          <a:prstGeom prst="rect">
            <a:avLst/>
          </a:prstGeom>
        </p:spPr>
      </p:pic>
      <p:sp>
        <p:nvSpPr>
          <p:cNvPr id="8" name="TextBox 7">
            <a:extLst>
              <a:ext uri="{FF2B5EF4-FFF2-40B4-BE49-F238E27FC236}">
                <a16:creationId xmlns:a16="http://schemas.microsoft.com/office/drawing/2014/main" xmlns="" id="{9F364722-3537-444C-B39F-D5E4224D5920}"/>
              </a:ext>
            </a:extLst>
          </p:cNvPr>
          <p:cNvSpPr txBox="1"/>
          <p:nvPr/>
        </p:nvSpPr>
        <p:spPr>
          <a:xfrm>
            <a:off x="8940799" y="915139"/>
            <a:ext cx="1241365" cy="400110"/>
          </a:xfrm>
          <a:prstGeom prst="rect">
            <a:avLst/>
          </a:prstGeom>
          <a:noFill/>
        </p:spPr>
        <p:txBody>
          <a:bodyPr wrap="none" rtlCol="0">
            <a:spAutoFit/>
          </a:bodyPr>
          <a:lstStyle/>
          <a:p>
            <a:r>
              <a:rPr lang="en-US" sz="2000" b="1" dirty="0"/>
              <a:t>Flowchart</a:t>
            </a:r>
            <a:endParaRPr lang="en-PK" sz="2000" b="1" dirty="0"/>
          </a:p>
        </p:txBody>
      </p:sp>
      <p:pic>
        <p:nvPicPr>
          <p:cNvPr id="10" name="Picture 9">
            <a:extLst>
              <a:ext uri="{FF2B5EF4-FFF2-40B4-BE49-F238E27FC236}">
                <a16:creationId xmlns:a16="http://schemas.microsoft.com/office/drawing/2014/main" xmlns="" id="{1C6F433C-D4AD-48B7-9BE5-22A1C2473F9E}"/>
              </a:ext>
            </a:extLst>
          </p:cNvPr>
          <p:cNvPicPr>
            <a:picLocks noChangeAspect="1"/>
          </p:cNvPicPr>
          <p:nvPr/>
        </p:nvPicPr>
        <p:blipFill>
          <a:blip r:embed="rId3"/>
          <a:stretch>
            <a:fillRect/>
          </a:stretch>
        </p:blipFill>
        <p:spPr>
          <a:xfrm>
            <a:off x="504534" y="2143938"/>
            <a:ext cx="4492334" cy="3159125"/>
          </a:xfrm>
          <a:prstGeom prst="rect">
            <a:avLst/>
          </a:prstGeom>
        </p:spPr>
      </p:pic>
      <p:sp>
        <p:nvSpPr>
          <p:cNvPr id="11" name="TextBox 10">
            <a:extLst>
              <a:ext uri="{FF2B5EF4-FFF2-40B4-BE49-F238E27FC236}">
                <a16:creationId xmlns:a16="http://schemas.microsoft.com/office/drawing/2014/main" xmlns="" id="{E85FD3D1-5E5E-4C15-9D7B-9A5BCD5BC5F3}"/>
              </a:ext>
            </a:extLst>
          </p:cNvPr>
          <p:cNvSpPr txBox="1"/>
          <p:nvPr/>
        </p:nvSpPr>
        <p:spPr>
          <a:xfrm>
            <a:off x="635000" y="1621719"/>
            <a:ext cx="2737031" cy="369332"/>
          </a:xfrm>
          <a:prstGeom prst="rect">
            <a:avLst/>
          </a:prstGeom>
          <a:noFill/>
        </p:spPr>
        <p:txBody>
          <a:bodyPr wrap="none" rtlCol="0">
            <a:spAutoFit/>
          </a:bodyPr>
          <a:lstStyle/>
          <a:p>
            <a:r>
              <a:rPr lang="en-US" b="1" dirty="0"/>
              <a:t>Find the sum of 5 numbers</a:t>
            </a:r>
            <a:endParaRPr lang="en-PK" b="1" dirty="0"/>
          </a:p>
        </p:txBody>
      </p:sp>
      <p:sp>
        <p:nvSpPr>
          <p:cNvPr id="12" name="TextBox 11">
            <a:extLst>
              <a:ext uri="{FF2B5EF4-FFF2-40B4-BE49-F238E27FC236}">
                <a16:creationId xmlns:a16="http://schemas.microsoft.com/office/drawing/2014/main" xmlns="" id="{DA148312-A3FD-4EB9-A60D-922B1FE8C136}"/>
              </a:ext>
            </a:extLst>
          </p:cNvPr>
          <p:cNvSpPr txBox="1"/>
          <p:nvPr/>
        </p:nvSpPr>
        <p:spPr>
          <a:xfrm>
            <a:off x="504534" y="1330894"/>
            <a:ext cx="1059521" cy="369332"/>
          </a:xfrm>
          <a:prstGeom prst="rect">
            <a:avLst/>
          </a:prstGeom>
          <a:noFill/>
        </p:spPr>
        <p:txBody>
          <a:bodyPr wrap="none" rtlCol="0">
            <a:spAutoFit/>
          </a:bodyPr>
          <a:lstStyle/>
          <a:p>
            <a:r>
              <a:rPr lang="en-US" b="1" dirty="0"/>
              <a:t>Example:</a:t>
            </a:r>
            <a:endParaRPr lang="en-PK" b="1" dirty="0"/>
          </a:p>
        </p:txBody>
      </p:sp>
      <p:pic>
        <p:nvPicPr>
          <p:cNvPr id="2" name="Picture 1">
            <a:extLst>
              <a:ext uri="{FF2B5EF4-FFF2-40B4-BE49-F238E27FC236}">
                <a16:creationId xmlns:a16="http://schemas.microsoft.com/office/drawing/2014/main" xmlns="" id="{D37F2931-DF77-CE7C-AA38-3BF6A249ED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3" name="Footer Placeholder 2">
            <a:extLst>
              <a:ext uri="{FF2B5EF4-FFF2-40B4-BE49-F238E27FC236}">
                <a16:creationId xmlns:a16="http://schemas.microsoft.com/office/drawing/2014/main" xmlns="" id="{63DF9A18-E46A-A482-6187-EAA929A441EE}"/>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35999475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F85538D3-4D71-4780-8BA3-E09095123D01}"/>
              </a:ext>
            </a:extLst>
          </p:cNvPr>
          <p:cNvSpPr>
            <a:spLocks noGrp="1"/>
          </p:cNvSpPr>
          <p:nvPr>
            <p:ph type="title"/>
          </p:nvPr>
        </p:nvSpPr>
        <p:spPr>
          <a:xfrm>
            <a:off x="320288" y="260505"/>
            <a:ext cx="10515600" cy="553264"/>
          </a:xfrm>
        </p:spPr>
        <p:txBody>
          <a:bodyPr>
            <a:normAutofit/>
          </a:bodyPr>
          <a:lstStyle/>
          <a:p>
            <a:r>
              <a:rPr lang="en-US" sz="2800" b="1" dirty="0">
                <a:solidFill>
                  <a:schemeClr val="accent1">
                    <a:lumMod val="50000"/>
                  </a:schemeClr>
                </a:solidFill>
                <a:latin typeface="+mn-lt"/>
              </a:rPr>
              <a:t>Control Structures in Pseudo Code</a:t>
            </a:r>
            <a:endParaRPr lang="en-PK" sz="2800" b="1" dirty="0">
              <a:solidFill>
                <a:schemeClr val="accent1">
                  <a:lumMod val="50000"/>
                </a:schemeClr>
              </a:solidFill>
              <a:latin typeface="+mn-lt"/>
            </a:endParaRPr>
          </a:p>
        </p:txBody>
      </p:sp>
      <p:pic>
        <p:nvPicPr>
          <p:cNvPr id="6" name="Picture 5">
            <a:extLst>
              <a:ext uri="{FF2B5EF4-FFF2-40B4-BE49-F238E27FC236}">
                <a16:creationId xmlns:a16="http://schemas.microsoft.com/office/drawing/2014/main" xmlns="" id="{215063FC-D3FF-4185-AFB9-9017B47E1C89}"/>
              </a:ext>
            </a:extLst>
          </p:cNvPr>
          <p:cNvPicPr>
            <a:picLocks noChangeAspect="1"/>
          </p:cNvPicPr>
          <p:nvPr/>
        </p:nvPicPr>
        <p:blipFill>
          <a:blip r:embed="rId2"/>
          <a:stretch>
            <a:fillRect/>
          </a:stretch>
        </p:blipFill>
        <p:spPr>
          <a:xfrm>
            <a:off x="8029188" y="940769"/>
            <a:ext cx="3362325" cy="4610100"/>
          </a:xfrm>
          <a:prstGeom prst="rect">
            <a:avLst/>
          </a:prstGeom>
        </p:spPr>
      </p:pic>
      <p:pic>
        <p:nvPicPr>
          <p:cNvPr id="8" name="Picture 7">
            <a:extLst>
              <a:ext uri="{FF2B5EF4-FFF2-40B4-BE49-F238E27FC236}">
                <a16:creationId xmlns:a16="http://schemas.microsoft.com/office/drawing/2014/main" xmlns="" id="{75966BD7-B7DD-4B87-BDDC-C6DE9C56605C}"/>
              </a:ext>
            </a:extLst>
          </p:cNvPr>
          <p:cNvPicPr>
            <a:picLocks noChangeAspect="1"/>
          </p:cNvPicPr>
          <p:nvPr/>
        </p:nvPicPr>
        <p:blipFill>
          <a:blip r:embed="rId3"/>
          <a:stretch>
            <a:fillRect/>
          </a:stretch>
        </p:blipFill>
        <p:spPr>
          <a:xfrm>
            <a:off x="218688" y="1377331"/>
            <a:ext cx="7286625" cy="3228975"/>
          </a:xfrm>
          <a:prstGeom prst="rect">
            <a:avLst/>
          </a:prstGeom>
        </p:spPr>
      </p:pic>
      <p:pic>
        <p:nvPicPr>
          <p:cNvPr id="2" name="Picture 1">
            <a:extLst>
              <a:ext uri="{FF2B5EF4-FFF2-40B4-BE49-F238E27FC236}">
                <a16:creationId xmlns:a16="http://schemas.microsoft.com/office/drawing/2014/main" xmlns="" id="{56FC6513-872A-0B03-459E-F7A6A279E47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3" name="Footer Placeholder 2">
            <a:extLst>
              <a:ext uri="{FF2B5EF4-FFF2-40B4-BE49-F238E27FC236}">
                <a16:creationId xmlns:a16="http://schemas.microsoft.com/office/drawing/2014/main" xmlns="" id="{602EE471-C027-2276-269C-2A089B547711}"/>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15829254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0726C2-5848-4F19-8E7C-F29F9956AE2E}"/>
              </a:ext>
            </a:extLst>
          </p:cNvPr>
          <p:cNvSpPr>
            <a:spLocks noGrp="1"/>
          </p:cNvSpPr>
          <p:nvPr>
            <p:ph type="title"/>
          </p:nvPr>
        </p:nvSpPr>
        <p:spPr>
          <a:xfrm>
            <a:off x="320040" y="355600"/>
            <a:ext cx="4747260" cy="571500"/>
          </a:xfrm>
        </p:spPr>
        <p:txBody>
          <a:bodyPr>
            <a:normAutofit/>
          </a:bodyPr>
          <a:lstStyle/>
          <a:p>
            <a:r>
              <a:rPr lang="en-US" sz="2800" b="1" dirty="0">
                <a:solidFill>
                  <a:schemeClr val="accent1">
                    <a:lumMod val="50000"/>
                  </a:schemeClr>
                </a:solidFill>
                <a:latin typeface="+mn-lt"/>
              </a:rPr>
              <a:t>Abstract Data Type (ADT)</a:t>
            </a:r>
            <a:endParaRPr lang="en-PK" sz="2800" b="1" dirty="0">
              <a:solidFill>
                <a:schemeClr val="accent1">
                  <a:lumMod val="50000"/>
                </a:schemeClr>
              </a:solidFill>
              <a:latin typeface="+mn-lt"/>
            </a:endParaRPr>
          </a:p>
        </p:txBody>
      </p:sp>
      <p:sp>
        <p:nvSpPr>
          <p:cNvPr id="3" name="Content Placeholder 2">
            <a:extLst>
              <a:ext uri="{FF2B5EF4-FFF2-40B4-BE49-F238E27FC236}">
                <a16:creationId xmlns:a16="http://schemas.microsoft.com/office/drawing/2014/main" xmlns="" id="{C380DB49-698C-4EDB-B951-55FE3DDDC0EB}"/>
              </a:ext>
            </a:extLst>
          </p:cNvPr>
          <p:cNvSpPr>
            <a:spLocks noGrp="1"/>
          </p:cNvSpPr>
          <p:nvPr>
            <p:ph idx="1"/>
          </p:nvPr>
        </p:nvSpPr>
        <p:spPr>
          <a:xfrm>
            <a:off x="838200" y="1380331"/>
            <a:ext cx="10515600" cy="2048669"/>
          </a:xfrm>
        </p:spPr>
        <p:txBody>
          <a:bodyPr>
            <a:normAutofit/>
          </a:bodyPr>
          <a:lstStyle/>
          <a:p>
            <a:r>
              <a:rPr lang="en-US" sz="1800" b="0" i="0" dirty="0">
                <a:solidFill>
                  <a:srgbClr val="242729"/>
                </a:solidFill>
                <a:effectLst/>
              </a:rPr>
              <a:t>Abstract Data Type(ADT) is a data type, where only behavior is defined but not implementation.</a:t>
            </a:r>
          </a:p>
          <a:p>
            <a:r>
              <a:rPr lang="en-US" sz="1800" dirty="0">
                <a:solidFill>
                  <a:srgbClr val="242729"/>
                </a:solidFill>
              </a:rPr>
              <a:t>Refers to Abstraction.</a:t>
            </a:r>
            <a:endParaRPr lang="en-US" sz="1800" dirty="0"/>
          </a:p>
        </p:txBody>
      </p:sp>
      <p:sp>
        <p:nvSpPr>
          <p:cNvPr id="4" name="TextBox 3">
            <a:extLst>
              <a:ext uri="{FF2B5EF4-FFF2-40B4-BE49-F238E27FC236}">
                <a16:creationId xmlns:a16="http://schemas.microsoft.com/office/drawing/2014/main" xmlns="" id="{241E634E-66E3-4AB6-B61F-9ECCEB33DFC7}"/>
              </a:ext>
            </a:extLst>
          </p:cNvPr>
          <p:cNvSpPr txBox="1"/>
          <p:nvPr/>
        </p:nvSpPr>
        <p:spPr>
          <a:xfrm>
            <a:off x="508000" y="2413000"/>
            <a:ext cx="9906000" cy="2585323"/>
          </a:xfrm>
          <a:prstGeom prst="rect">
            <a:avLst/>
          </a:prstGeom>
          <a:noFill/>
        </p:spPr>
        <p:txBody>
          <a:bodyPr wrap="square" rtlCol="0">
            <a:spAutoFit/>
          </a:bodyPr>
          <a:lstStyle/>
          <a:p>
            <a:r>
              <a:rPr lang="en-US" b="1" dirty="0"/>
              <a:t>Examples : </a:t>
            </a:r>
          </a:p>
          <a:p>
            <a:pPr marL="742950" lvl="1" indent="-285750">
              <a:buFont typeface="Arial" panose="020B0604020202020204" pitchFamily="34" charset="0"/>
              <a:buChar char="•"/>
            </a:pPr>
            <a:r>
              <a:rPr lang="en-US" dirty="0"/>
              <a:t>ARRAY</a:t>
            </a:r>
          </a:p>
          <a:p>
            <a:pPr marL="742950" lvl="1" indent="-285750">
              <a:buFont typeface="Arial" panose="020B0604020202020204" pitchFamily="34" charset="0"/>
              <a:buChar char="•"/>
            </a:pPr>
            <a:r>
              <a:rPr lang="en-US" dirty="0"/>
              <a:t>LIST</a:t>
            </a:r>
          </a:p>
          <a:p>
            <a:pPr marL="742950" lvl="1" indent="-285750">
              <a:buFont typeface="Arial" panose="020B0604020202020204" pitchFamily="34" charset="0"/>
              <a:buChar char="•"/>
            </a:pPr>
            <a:r>
              <a:rPr lang="en-US" dirty="0"/>
              <a:t>MAP</a:t>
            </a:r>
          </a:p>
          <a:p>
            <a:pPr marL="742950" lvl="1" indent="-285750">
              <a:buFont typeface="Arial" panose="020B0604020202020204" pitchFamily="34" charset="0"/>
              <a:buChar char="•"/>
            </a:pPr>
            <a:r>
              <a:rPr lang="en-US" dirty="0"/>
              <a:t>QUEUE</a:t>
            </a:r>
          </a:p>
          <a:p>
            <a:pPr marL="742950" lvl="1" indent="-285750">
              <a:buFont typeface="Arial" panose="020B0604020202020204" pitchFamily="34" charset="0"/>
              <a:buChar char="•"/>
            </a:pPr>
            <a:r>
              <a:rPr lang="en-US" dirty="0"/>
              <a:t>STACK</a:t>
            </a:r>
          </a:p>
          <a:p>
            <a:pPr marL="742950" lvl="1" indent="-285750">
              <a:buFont typeface="Arial" panose="020B0604020202020204" pitchFamily="34" charset="0"/>
              <a:buChar char="•"/>
            </a:pPr>
            <a:r>
              <a:rPr lang="en-US" dirty="0"/>
              <a:t>TABLE</a:t>
            </a:r>
          </a:p>
          <a:p>
            <a:pPr marL="742950" lvl="1" indent="-285750">
              <a:buFont typeface="Arial" panose="020B0604020202020204" pitchFamily="34" charset="0"/>
              <a:buChar char="•"/>
            </a:pPr>
            <a:r>
              <a:rPr lang="en-US" dirty="0"/>
              <a:t>TREE</a:t>
            </a:r>
          </a:p>
          <a:p>
            <a:pPr marL="742950" lvl="1" indent="-285750">
              <a:buFont typeface="Arial" panose="020B0604020202020204" pitchFamily="34" charset="0"/>
              <a:buChar char="•"/>
            </a:pPr>
            <a:r>
              <a:rPr lang="en-US" dirty="0"/>
              <a:t>VECTOR</a:t>
            </a:r>
            <a:endParaRPr lang="en-PK" dirty="0"/>
          </a:p>
        </p:txBody>
      </p:sp>
      <p:sp>
        <p:nvSpPr>
          <p:cNvPr id="5" name="TextBox 4">
            <a:extLst>
              <a:ext uri="{FF2B5EF4-FFF2-40B4-BE49-F238E27FC236}">
                <a16:creationId xmlns:a16="http://schemas.microsoft.com/office/drawing/2014/main" xmlns="" id="{669795BE-3A77-4E39-8CA2-79CD40BD4AC2}"/>
              </a:ext>
            </a:extLst>
          </p:cNvPr>
          <p:cNvSpPr txBox="1"/>
          <p:nvPr/>
        </p:nvSpPr>
        <p:spPr>
          <a:xfrm>
            <a:off x="508000" y="5613400"/>
            <a:ext cx="2141355" cy="369332"/>
          </a:xfrm>
          <a:prstGeom prst="rect">
            <a:avLst/>
          </a:prstGeom>
          <a:noFill/>
        </p:spPr>
        <p:txBody>
          <a:bodyPr wrap="none" rtlCol="0">
            <a:spAutoFit/>
          </a:bodyPr>
          <a:lstStyle/>
          <a:p>
            <a:r>
              <a:rPr lang="en-US" b="1" dirty="0"/>
              <a:t>Real Time Examples:</a:t>
            </a:r>
            <a:endParaRPr lang="en-PK" b="1" dirty="0"/>
          </a:p>
        </p:txBody>
      </p:sp>
      <p:pic>
        <p:nvPicPr>
          <p:cNvPr id="6" name="Picture 5">
            <a:extLst>
              <a:ext uri="{FF2B5EF4-FFF2-40B4-BE49-F238E27FC236}">
                <a16:creationId xmlns:a16="http://schemas.microsoft.com/office/drawing/2014/main" xmlns="" id="{B795D958-F124-A308-2521-1CCBA94337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7" name="Footer Placeholder 2">
            <a:extLst>
              <a:ext uri="{FF2B5EF4-FFF2-40B4-BE49-F238E27FC236}">
                <a16:creationId xmlns:a16="http://schemas.microsoft.com/office/drawing/2014/main" xmlns="" id="{E7E07A63-8E65-4549-533D-799896AA2D36}"/>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39946675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D2C09606-00D7-4F7A-A746-9CC0D72FF52C}"/>
              </a:ext>
            </a:extLst>
          </p:cNvPr>
          <p:cNvSpPr txBox="1">
            <a:spLocks/>
          </p:cNvSpPr>
          <p:nvPr/>
        </p:nvSpPr>
        <p:spPr>
          <a:xfrm>
            <a:off x="320040" y="355600"/>
            <a:ext cx="2738120" cy="461328"/>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chemeClr val="accent1">
                    <a:lumMod val="50000"/>
                  </a:schemeClr>
                </a:solidFill>
                <a:latin typeface="+mn-lt"/>
              </a:rPr>
              <a:t>Abstract Data Type</a:t>
            </a:r>
            <a:endParaRPr lang="en-PK" sz="2800" b="1" dirty="0">
              <a:solidFill>
                <a:schemeClr val="accent1">
                  <a:lumMod val="50000"/>
                </a:schemeClr>
              </a:solidFill>
              <a:latin typeface="+mn-lt"/>
            </a:endParaRPr>
          </a:p>
        </p:txBody>
      </p:sp>
      <p:sp>
        <p:nvSpPr>
          <p:cNvPr id="2" name="TextBox 1">
            <a:extLst>
              <a:ext uri="{FF2B5EF4-FFF2-40B4-BE49-F238E27FC236}">
                <a16:creationId xmlns:a16="http://schemas.microsoft.com/office/drawing/2014/main" xmlns="" id="{280CA052-DA0C-4398-BEAF-99030C4A94C2}"/>
              </a:ext>
            </a:extLst>
          </p:cNvPr>
          <p:cNvSpPr txBox="1"/>
          <p:nvPr/>
        </p:nvSpPr>
        <p:spPr>
          <a:xfrm>
            <a:off x="250135" y="799864"/>
            <a:ext cx="3157275" cy="369332"/>
          </a:xfrm>
          <a:prstGeom prst="rect">
            <a:avLst/>
          </a:prstGeom>
          <a:noFill/>
        </p:spPr>
        <p:txBody>
          <a:bodyPr wrap="none" rtlCol="0">
            <a:spAutoFit/>
          </a:bodyPr>
          <a:lstStyle/>
          <a:p>
            <a:r>
              <a:rPr lang="en-US" b="1" dirty="0"/>
              <a:t>Example: List Representations</a:t>
            </a:r>
            <a:endParaRPr lang="en-PK" b="1" dirty="0"/>
          </a:p>
        </p:txBody>
      </p:sp>
      <p:sp>
        <p:nvSpPr>
          <p:cNvPr id="3" name="Oval 2">
            <a:extLst>
              <a:ext uri="{FF2B5EF4-FFF2-40B4-BE49-F238E27FC236}">
                <a16:creationId xmlns:a16="http://schemas.microsoft.com/office/drawing/2014/main" xmlns="" id="{80D61C78-AEBB-403C-A63A-7EED02F5DE9D}"/>
              </a:ext>
            </a:extLst>
          </p:cNvPr>
          <p:cNvSpPr/>
          <p:nvPr/>
        </p:nvSpPr>
        <p:spPr>
          <a:xfrm>
            <a:off x="2162837" y="2640568"/>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3</a:t>
            </a:r>
            <a:endParaRPr lang="en-PK" dirty="0"/>
          </a:p>
        </p:txBody>
      </p:sp>
      <p:sp>
        <p:nvSpPr>
          <p:cNvPr id="6" name="Oval 5">
            <a:extLst>
              <a:ext uri="{FF2B5EF4-FFF2-40B4-BE49-F238E27FC236}">
                <a16:creationId xmlns:a16="http://schemas.microsoft.com/office/drawing/2014/main" xmlns="" id="{0AB0F39F-25A2-4CF4-98FA-1E844C643022}"/>
              </a:ext>
            </a:extLst>
          </p:cNvPr>
          <p:cNvSpPr/>
          <p:nvPr/>
        </p:nvSpPr>
        <p:spPr>
          <a:xfrm>
            <a:off x="1168400" y="2640568"/>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2</a:t>
            </a:r>
            <a:endParaRPr lang="en-PK" dirty="0"/>
          </a:p>
        </p:txBody>
      </p:sp>
      <p:sp>
        <p:nvSpPr>
          <p:cNvPr id="7" name="Oval 6">
            <a:extLst>
              <a:ext uri="{FF2B5EF4-FFF2-40B4-BE49-F238E27FC236}">
                <a16:creationId xmlns:a16="http://schemas.microsoft.com/office/drawing/2014/main" xmlns="" id="{4AE3A692-CA99-4BAF-A351-54086766A37A}"/>
              </a:ext>
            </a:extLst>
          </p:cNvPr>
          <p:cNvSpPr/>
          <p:nvPr/>
        </p:nvSpPr>
        <p:spPr>
          <a:xfrm>
            <a:off x="201282" y="2640568"/>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1</a:t>
            </a:r>
            <a:endParaRPr lang="en-PK" dirty="0"/>
          </a:p>
        </p:txBody>
      </p:sp>
      <p:sp>
        <p:nvSpPr>
          <p:cNvPr id="9" name="Oval 8">
            <a:extLst>
              <a:ext uri="{FF2B5EF4-FFF2-40B4-BE49-F238E27FC236}">
                <a16:creationId xmlns:a16="http://schemas.microsoft.com/office/drawing/2014/main" xmlns="" id="{8DE85D5E-2959-4FC3-ACF3-02CC27FB6F2B}"/>
              </a:ext>
            </a:extLst>
          </p:cNvPr>
          <p:cNvSpPr/>
          <p:nvPr/>
        </p:nvSpPr>
        <p:spPr>
          <a:xfrm>
            <a:off x="3147060" y="2640568"/>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4</a:t>
            </a:r>
            <a:endParaRPr lang="en-PK" dirty="0"/>
          </a:p>
        </p:txBody>
      </p:sp>
      <p:sp>
        <p:nvSpPr>
          <p:cNvPr id="10" name="Oval 9">
            <a:extLst>
              <a:ext uri="{FF2B5EF4-FFF2-40B4-BE49-F238E27FC236}">
                <a16:creationId xmlns:a16="http://schemas.microsoft.com/office/drawing/2014/main" xmlns="" id="{B472B69F-E07C-45FB-939A-E9FB59D2A394}"/>
              </a:ext>
            </a:extLst>
          </p:cNvPr>
          <p:cNvSpPr/>
          <p:nvPr/>
        </p:nvSpPr>
        <p:spPr>
          <a:xfrm>
            <a:off x="4524983" y="2640568"/>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9</a:t>
            </a:r>
            <a:endParaRPr lang="en-PK" dirty="0"/>
          </a:p>
        </p:txBody>
      </p:sp>
      <p:cxnSp>
        <p:nvCxnSpPr>
          <p:cNvPr id="11" name="Straight Arrow Connector 10">
            <a:extLst>
              <a:ext uri="{FF2B5EF4-FFF2-40B4-BE49-F238E27FC236}">
                <a16:creationId xmlns:a16="http://schemas.microsoft.com/office/drawing/2014/main" xmlns="" id="{4D7BC7A2-CFE5-4B41-B037-6C3A71A382DA}"/>
              </a:ext>
            </a:extLst>
          </p:cNvPr>
          <p:cNvCxnSpPr>
            <a:stCxn id="7" idx="6"/>
            <a:endCxn id="6" idx="2"/>
          </p:cNvCxnSpPr>
          <p:nvPr/>
        </p:nvCxnSpPr>
        <p:spPr>
          <a:xfrm>
            <a:off x="721982" y="2926318"/>
            <a:ext cx="44641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xmlns="" id="{FEC42924-22FA-449E-8BC0-81FB7532C68D}"/>
              </a:ext>
            </a:extLst>
          </p:cNvPr>
          <p:cNvCxnSpPr/>
          <p:nvPr/>
        </p:nvCxnSpPr>
        <p:spPr>
          <a:xfrm>
            <a:off x="1712582" y="2939018"/>
            <a:ext cx="44641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xmlns="" id="{968D79F4-1EB8-4B0E-A26D-D57F417019B6}"/>
              </a:ext>
            </a:extLst>
          </p:cNvPr>
          <p:cNvCxnSpPr/>
          <p:nvPr/>
        </p:nvCxnSpPr>
        <p:spPr>
          <a:xfrm>
            <a:off x="2690482" y="2913618"/>
            <a:ext cx="44641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xmlns="" id="{D8C18CF5-E967-4503-84AA-18C3382D051E}"/>
              </a:ext>
            </a:extLst>
          </p:cNvPr>
          <p:cNvCxnSpPr/>
          <p:nvPr/>
        </p:nvCxnSpPr>
        <p:spPr>
          <a:xfrm>
            <a:off x="3599857" y="2969736"/>
            <a:ext cx="446418" cy="0"/>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Arrow Connector 15">
            <a:extLst>
              <a:ext uri="{FF2B5EF4-FFF2-40B4-BE49-F238E27FC236}">
                <a16:creationId xmlns:a16="http://schemas.microsoft.com/office/drawing/2014/main" xmlns="" id="{DAD62825-4A92-4535-9461-4AC3AA93EE4C}"/>
              </a:ext>
            </a:extLst>
          </p:cNvPr>
          <p:cNvCxnSpPr/>
          <p:nvPr/>
        </p:nvCxnSpPr>
        <p:spPr>
          <a:xfrm>
            <a:off x="4046275" y="2969736"/>
            <a:ext cx="44641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 name="TextBox 16">
            <a:extLst>
              <a:ext uri="{FF2B5EF4-FFF2-40B4-BE49-F238E27FC236}">
                <a16:creationId xmlns:a16="http://schemas.microsoft.com/office/drawing/2014/main" xmlns="" id="{3EB63E66-80A4-4540-98FA-DD0B223CB1E3}"/>
              </a:ext>
            </a:extLst>
          </p:cNvPr>
          <p:cNvSpPr txBox="1"/>
          <p:nvPr/>
        </p:nvSpPr>
        <p:spPr>
          <a:xfrm>
            <a:off x="1420185" y="3355763"/>
            <a:ext cx="1491883" cy="369332"/>
          </a:xfrm>
          <a:prstGeom prst="rect">
            <a:avLst/>
          </a:prstGeom>
          <a:noFill/>
        </p:spPr>
        <p:txBody>
          <a:bodyPr wrap="none" rtlCol="0">
            <a:spAutoFit/>
          </a:bodyPr>
          <a:lstStyle/>
          <a:p>
            <a:r>
              <a:rPr lang="en-US" b="1" dirty="0"/>
              <a:t>(a) Linked List</a:t>
            </a:r>
            <a:endParaRPr lang="en-PK" b="1" dirty="0"/>
          </a:p>
        </p:txBody>
      </p:sp>
      <p:sp>
        <p:nvSpPr>
          <p:cNvPr id="18" name="Oval 17">
            <a:extLst>
              <a:ext uri="{FF2B5EF4-FFF2-40B4-BE49-F238E27FC236}">
                <a16:creationId xmlns:a16="http://schemas.microsoft.com/office/drawing/2014/main" xmlns="" id="{80A5B6A9-6A53-40B0-856F-1DBA3EED63EE}"/>
              </a:ext>
            </a:extLst>
          </p:cNvPr>
          <p:cNvSpPr/>
          <p:nvPr/>
        </p:nvSpPr>
        <p:spPr>
          <a:xfrm>
            <a:off x="2430132" y="4070350"/>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1</a:t>
            </a:r>
            <a:endParaRPr lang="en-PK" dirty="0"/>
          </a:p>
        </p:txBody>
      </p:sp>
      <p:sp>
        <p:nvSpPr>
          <p:cNvPr id="19" name="Oval 18">
            <a:extLst>
              <a:ext uri="{FF2B5EF4-FFF2-40B4-BE49-F238E27FC236}">
                <a16:creationId xmlns:a16="http://schemas.microsoft.com/office/drawing/2014/main" xmlns="" id="{852B3E01-0249-4839-8246-16D1708C9CF8}"/>
              </a:ext>
            </a:extLst>
          </p:cNvPr>
          <p:cNvSpPr/>
          <p:nvPr/>
        </p:nvSpPr>
        <p:spPr>
          <a:xfrm>
            <a:off x="3962536" y="5704362"/>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8</a:t>
            </a:r>
            <a:endParaRPr lang="en-PK" dirty="0"/>
          </a:p>
        </p:txBody>
      </p:sp>
      <p:sp>
        <p:nvSpPr>
          <p:cNvPr id="20" name="Oval 19">
            <a:extLst>
              <a:ext uri="{FF2B5EF4-FFF2-40B4-BE49-F238E27FC236}">
                <a16:creationId xmlns:a16="http://schemas.microsoft.com/office/drawing/2014/main" xmlns="" id="{765383DF-750F-4EF5-A9AA-F35E4DFE2A12}"/>
              </a:ext>
            </a:extLst>
          </p:cNvPr>
          <p:cNvSpPr/>
          <p:nvPr/>
        </p:nvSpPr>
        <p:spPr>
          <a:xfrm>
            <a:off x="945191" y="4789962"/>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2</a:t>
            </a:r>
            <a:endParaRPr lang="en-PK" dirty="0"/>
          </a:p>
        </p:txBody>
      </p:sp>
      <p:sp>
        <p:nvSpPr>
          <p:cNvPr id="21" name="Oval 20">
            <a:extLst>
              <a:ext uri="{FF2B5EF4-FFF2-40B4-BE49-F238E27FC236}">
                <a16:creationId xmlns:a16="http://schemas.microsoft.com/office/drawing/2014/main" xmlns="" id="{0FF4AFDF-598D-44AF-9C12-B0516B627359}"/>
              </a:ext>
            </a:extLst>
          </p:cNvPr>
          <p:cNvSpPr/>
          <p:nvPr/>
        </p:nvSpPr>
        <p:spPr>
          <a:xfrm>
            <a:off x="4617775" y="5704362"/>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9</a:t>
            </a:r>
            <a:endParaRPr lang="en-PK" dirty="0"/>
          </a:p>
        </p:txBody>
      </p:sp>
      <p:sp>
        <p:nvSpPr>
          <p:cNvPr id="23" name="Oval 22">
            <a:extLst>
              <a:ext uri="{FF2B5EF4-FFF2-40B4-BE49-F238E27FC236}">
                <a16:creationId xmlns:a16="http://schemas.microsoft.com/office/drawing/2014/main" xmlns="" id="{89A4AF08-A822-4B4B-9625-CFC25B6B8782}"/>
              </a:ext>
            </a:extLst>
          </p:cNvPr>
          <p:cNvSpPr/>
          <p:nvPr/>
        </p:nvSpPr>
        <p:spPr>
          <a:xfrm>
            <a:off x="3029682" y="5719947"/>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7</a:t>
            </a:r>
            <a:endParaRPr lang="en-PK" dirty="0"/>
          </a:p>
        </p:txBody>
      </p:sp>
      <p:sp>
        <p:nvSpPr>
          <p:cNvPr id="24" name="Oval 23">
            <a:extLst>
              <a:ext uri="{FF2B5EF4-FFF2-40B4-BE49-F238E27FC236}">
                <a16:creationId xmlns:a16="http://schemas.microsoft.com/office/drawing/2014/main" xmlns="" id="{2A7C3702-2DAF-4E8D-9A67-AA5E2596B10C}"/>
              </a:ext>
            </a:extLst>
          </p:cNvPr>
          <p:cNvSpPr/>
          <p:nvPr/>
        </p:nvSpPr>
        <p:spPr>
          <a:xfrm>
            <a:off x="188948" y="5719947"/>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3</a:t>
            </a:r>
            <a:endParaRPr lang="en-PK" dirty="0"/>
          </a:p>
        </p:txBody>
      </p:sp>
      <p:sp>
        <p:nvSpPr>
          <p:cNvPr id="25" name="Oval 24">
            <a:extLst>
              <a:ext uri="{FF2B5EF4-FFF2-40B4-BE49-F238E27FC236}">
                <a16:creationId xmlns:a16="http://schemas.microsoft.com/office/drawing/2014/main" xmlns="" id="{6907F8CC-5835-49C8-9375-1F8993D39EDE}"/>
              </a:ext>
            </a:extLst>
          </p:cNvPr>
          <p:cNvSpPr/>
          <p:nvPr/>
        </p:nvSpPr>
        <p:spPr>
          <a:xfrm>
            <a:off x="3953079" y="4641850"/>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6</a:t>
            </a:r>
            <a:endParaRPr lang="en-PK" dirty="0"/>
          </a:p>
        </p:txBody>
      </p:sp>
      <p:sp>
        <p:nvSpPr>
          <p:cNvPr id="26" name="Oval 25">
            <a:extLst>
              <a:ext uri="{FF2B5EF4-FFF2-40B4-BE49-F238E27FC236}">
                <a16:creationId xmlns:a16="http://schemas.microsoft.com/office/drawing/2014/main" xmlns="" id="{2EA07476-37EC-4F04-B30E-31761AFE0693}"/>
              </a:ext>
            </a:extLst>
          </p:cNvPr>
          <p:cNvSpPr/>
          <p:nvPr/>
        </p:nvSpPr>
        <p:spPr>
          <a:xfrm>
            <a:off x="982994" y="5719947"/>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4</a:t>
            </a:r>
            <a:endParaRPr lang="en-PK" dirty="0"/>
          </a:p>
        </p:txBody>
      </p:sp>
      <p:sp>
        <p:nvSpPr>
          <p:cNvPr id="27" name="Oval 26">
            <a:extLst>
              <a:ext uri="{FF2B5EF4-FFF2-40B4-BE49-F238E27FC236}">
                <a16:creationId xmlns:a16="http://schemas.microsoft.com/office/drawing/2014/main" xmlns="" id="{EB6F56EF-B1EC-4750-B030-975C29136D28}"/>
              </a:ext>
            </a:extLst>
          </p:cNvPr>
          <p:cNvSpPr/>
          <p:nvPr/>
        </p:nvSpPr>
        <p:spPr>
          <a:xfrm>
            <a:off x="2392991" y="4857748"/>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5</a:t>
            </a:r>
            <a:endParaRPr lang="en-PK" dirty="0"/>
          </a:p>
        </p:txBody>
      </p:sp>
      <p:cxnSp>
        <p:nvCxnSpPr>
          <p:cNvPr id="29" name="Straight Connector 28">
            <a:extLst>
              <a:ext uri="{FF2B5EF4-FFF2-40B4-BE49-F238E27FC236}">
                <a16:creationId xmlns:a16="http://schemas.microsoft.com/office/drawing/2014/main" xmlns="" id="{676EF082-DD5A-42BC-A4F3-DF0865763213}"/>
              </a:ext>
            </a:extLst>
          </p:cNvPr>
          <p:cNvCxnSpPr>
            <a:stCxn id="18" idx="4"/>
            <a:endCxn id="27" idx="0"/>
          </p:cNvCxnSpPr>
          <p:nvPr/>
        </p:nvCxnSpPr>
        <p:spPr>
          <a:xfrm flipH="1">
            <a:off x="2653341" y="4641850"/>
            <a:ext cx="37141" cy="21589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EAC84E98-1E71-412A-BA47-74CE73D431ED}"/>
              </a:ext>
            </a:extLst>
          </p:cNvPr>
          <p:cNvCxnSpPr>
            <a:stCxn id="18" idx="2"/>
            <a:endCxn id="20" idx="0"/>
          </p:cNvCxnSpPr>
          <p:nvPr/>
        </p:nvCxnSpPr>
        <p:spPr>
          <a:xfrm flipH="1">
            <a:off x="1205541" y="4356100"/>
            <a:ext cx="1224591" cy="4338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xmlns="" id="{FD35C685-9913-4C51-9134-512CDA71C8FB}"/>
              </a:ext>
            </a:extLst>
          </p:cNvPr>
          <p:cNvCxnSpPr>
            <a:stCxn id="18" idx="6"/>
            <a:endCxn id="25" idx="1"/>
          </p:cNvCxnSpPr>
          <p:nvPr/>
        </p:nvCxnSpPr>
        <p:spPr>
          <a:xfrm>
            <a:off x="2950832" y="4356100"/>
            <a:ext cx="1078502" cy="369444"/>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xmlns="" id="{9949EBEB-D31C-4507-8810-3E155EEAF657}"/>
              </a:ext>
            </a:extLst>
          </p:cNvPr>
          <p:cNvCxnSpPr>
            <a:stCxn id="25" idx="3"/>
            <a:endCxn id="23" idx="0"/>
          </p:cNvCxnSpPr>
          <p:nvPr/>
        </p:nvCxnSpPr>
        <p:spPr>
          <a:xfrm flipH="1">
            <a:off x="3290032" y="5129656"/>
            <a:ext cx="739302" cy="590291"/>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xmlns="" id="{C4F90215-FFB0-434A-AF52-64A4AEDECF89}"/>
              </a:ext>
            </a:extLst>
          </p:cNvPr>
          <p:cNvCxnSpPr>
            <a:stCxn id="25" idx="4"/>
            <a:endCxn id="19" idx="0"/>
          </p:cNvCxnSpPr>
          <p:nvPr/>
        </p:nvCxnSpPr>
        <p:spPr>
          <a:xfrm>
            <a:off x="4213429" y="5213350"/>
            <a:ext cx="9457" cy="491012"/>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xmlns="" id="{D6EF2E7D-6896-49A7-ADC3-BDF92BEB8685}"/>
              </a:ext>
            </a:extLst>
          </p:cNvPr>
          <p:cNvCxnSpPr>
            <a:stCxn id="25" idx="5"/>
            <a:endCxn id="21" idx="0"/>
          </p:cNvCxnSpPr>
          <p:nvPr/>
        </p:nvCxnSpPr>
        <p:spPr>
          <a:xfrm>
            <a:off x="4397524" y="5129656"/>
            <a:ext cx="480601" cy="574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xmlns="" id="{000E696E-BCAA-4549-823D-9C3DE6F17B5F}"/>
              </a:ext>
            </a:extLst>
          </p:cNvPr>
          <p:cNvCxnSpPr>
            <a:cxnSpLocks/>
            <a:stCxn id="20" idx="4"/>
            <a:endCxn id="26" idx="0"/>
          </p:cNvCxnSpPr>
          <p:nvPr/>
        </p:nvCxnSpPr>
        <p:spPr>
          <a:xfrm>
            <a:off x="1205541" y="5361462"/>
            <a:ext cx="37803" cy="358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xmlns="" id="{70282524-A4D3-4059-B360-32AF04E7848E}"/>
              </a:ext>
            </a:extLst>
          </p:cNvPr>
          <p:cNvCxnSpPr>
            <a:stCxn id="20" idx="3"/>
            <a:endCxn id="24" idx="0"/>
          </p:cNvCxnSpPr>
          <p:nvPr/>
        </p:nvCxnSpPr>
        <p:spPr>
          <a:xfrm flipH="1">
            <a:off x="449298" y="5277768"/>
            <a:ext cx="572148" cy="442179"/>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xmlns="" id="{ED368478-D674-499F-A850-558CF89093C7}"/>
              </a:ext>
            </a:extLst>
          </p:cNvPr>
          <p:cNvSpPr txBox="1"/>
          <p:nvPr/>
        </p:nvSpPr>
        <p:spPr>
          <a:xfrm>
            <a:off x="1911478" y="6154149"/>
            <a:ext cx="882293" cy="369332"/>
          </a:xfrm>
          <a:prstGeom prst="rect">
            <a:avLst/>
          </a:prstGeom>
          <a:noFill/>
        </p:spPr>
        <p:txBody>
          <a:bodyPr wrap="none" rtlCol="0">
            <a:spAutoFit/>
          </a:bodyPr>
          <a:lstStyle/>
          <a:p>
            <a:r>
              <a:rPr lang="en-US" b="1" dirty="0"/>
              <a:t>(c) Tree</a:t>
            </a:r>
            <a:endParaRPr lang="en-PK" b="1" dirty="0"/>
          </a:p>
        </p:txBody>
      </p:sp>
      <p:sp>
        <p:nvSpPr>
          <p:cNvPr id="46" name="Oval 45">
            <a:extLst>
              <a:ext uri="{FF2B5EF4-FFF2-40B4-BE49-F238E27FC236}">
                <a16:creationId xmlns:a16="http://schemas.microsoft.com/office/drawing/2014/main" xmlns="" id="{AC163A40-01AD-4026-84D4-613159061903}"/>
              </a:ext>
            </a:extLst>
          </p:cNvPr>
          <p:cNvSpPr/>
          <p:nvPr/>
        </p:nvSpPr>
        <p:spPr>
          <a:xfrm>
            <a:off x="9389137" y="773668"/>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3</a:t>
            </a:r>
            <a:endParaRPr lang="en-PK" dirty="0"/>
          </a:p>
        </p:txBody>
      </p:sp>
      <p:sp>
        <p:nvSpPr>
          <p:cNvPr id="47" name="Oval 46">
            <a:extLst>
              <a:ext uri="{FF2B5EF4-FFF2-40B4-BE49-F238E27FC236}">
                <a16:creationId xmlns:a16="http://schemas.microsoft.com/office/drawing/2014/main" xmlns="" id="{AB7FD34A-55C6-4C35-9594-CB6C9734E12F}"/>
              </a:ext>
            </a:extLst>
          </p:cNvPr>
          <p:cNvSpPr/>
          <p:nvPr/>
        </p:nvSpPr>
        <p:spPr>
          <a:xfrm>
            <a:off x="8394700" y="773668"/>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2</a:t>
            </a:r>
            <a:endParaRPr lang="en-PK" dirty="0"/>
          </a:p>
        </p:txBody>
      </p:sp>
      <p:sp>
        <p:nvSpPr>
          <p:cNvPr id="48" name="Oval 47">
            <a:extLst>
              <a:ext uri="{FF2B5EF4-FFF2-40B4-BE49-F238E27FC236}">
                <a16:creationId xmlns:a16="http://schemas.microsoft.com/office/drawing/2014/main" xmlns="" id="{41035ED5-FDB8-46A2-8E3A-A3DC77DCAF89}"/>
              </a:ext>
            </a:extLst>
          </p:cNvPr>
          <p:cNvSpPr/>
          <p:nvPr/>
        </p:nvSpPr>
        <p:spPr>
          <a:xfrm>
            <a:off x="7427582" y="773668"/>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1</a:t>
            </a:r>
            <a:endParaRPr lang="en-PK" dirty="0"/>
          </a:p>
        </p:txBody>
      </p:sp>
      <p:sp>
        <p:nvSpPr>
          <p:cNvPr id="49" name="Oval 48">
            <a:extLst>
              <a:ext uri="{FF2B5EF4-FFF2-40B4-BE49-F238E27FC236}">
                <a16:creationId xmlns:a16="http://schemas.microsoft.com/office/drawing/2014/main" xmlns="" id="{6FF948DA-2ED0-4FA7-96DB-DE3C70DBE8FA}"/>
              </a:ext>
            </a:extLst>
          </p:cNvPr>
          <p:cNvSpPr/>
          <p:nvPr/>
        </p:nvSpPr>
        <p:spPr>
          <a:xfrm>
            <a:off x="9643137" y="1726168"/>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6</a:t>
            </a:r>
            <a:endParaRPr lang="en-PK" dirty="0"/>
          </a:p>
        </p:txBody>
      </p:sp>
      <p:sp>
        <p:nvSpPr>
          <p:cNvPr id="50" name="Oval 49">
            <a:extLst>
              <a:ext uri="{FF2B5EF4-FFF2-40B4-BE49-F238E27FC236}">
                <a16:creationId xmlns:a16="http://schemas.microsoft.com/office/drawing/2014/main" xmlns="" id="{966C9DFD-D707-41D5-B8DA-47C28B2DDCBA}"/>
              </a:ext>
            </a:extLst>
          </p:cNvPr>
          <p:cNvSpPr/>
          <p:nvPr/>
        </p:nvSpPr>
        <p:spPr>
          <a:xfrm>
            <a:off x="8648700" y="1726168"/>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5</a:t>
            </a:r>
            <a:endParaRPr lang="en-PK" dirty="0"/>
          </a:p>
        </p:txBody>
      </p:sp>
      <p:sp>
        <p:nvSpPr>
          <p:cNvPr id="51" name="Oval 50">
            <a:extLst>
              <a:ext uri="{FF2B5EF4-FFF2-40B4-BE49-F238E27FC236}">
                <a16:creationId xmlns:a16="http://schemas.microsoft.com/office/drawing/2014/main" xmlns="" id="{1406F7DF-DF33-4467-9A65-FA1E316B4C60}"/>
              </a:ext>
            </a:extLst>
          </p:cNvPr>
          <p:cNvSpPr/>
          <p:nvPr/>
        </p:nvSpPr>
        <p:spPr>
          <a:xfrm>
            <a:off x="7681582" y="1726168"/>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4</a:t>
            </a:r>
            <a:endParaRPr lang="en-PK" dirty="0"/>
          </a:p>
        </p:txBody>
      </p:sp>
      <p:sp>
        <p:nvSpPr>
          <p:cNvPr id="52" name="Oval 51">
            <a:extLst>
              <a:ext uri="{FF2B5EF4-FFF2-40B4-BE49-F238E27FC236}">
                <a16:creationId xmlns:a16="http://schemas.microsoft.com/office/drawing/2014/main" xmlns="" id="{2C128597-7CED-4CA7-91A7-C3077F0BEA84}"/>
              </a:ext>
            </a:extLst>
          </p:cNvPr>
          <p:cNvSpPr/>
          <p:nvPr/>
        </p:nvSpPr>
        <p:spPr>
          <a:xfrm>
            <a:off x="10087637" y="2831068"/>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9</a:t>
            </a:r>
            <a:endParaRPr lang="en-PK" dirty="0"/>
          </a:p>
        </p:txBody>
      </p:sp>
      <p:sp>
        <p:nvSpPr>
          <p:cNvPr id="53" name="Oval 52">
            <a:extLst>
              <a:ext uri="{FF2B5EF4-FFF2-40B4-BE49-F238E27FC236}">
                <a16:creationId xmlns:a16="http://schemas.microsoft.com/office/drawing/2014/main" xmlns="" id="{20176817-3E5E-4C6B-8822-8E3012AB9125}"/>
              </a:ext>
            </a:extLst>
          </p:cNvPr>
          <p:cNvSpPr/>
          <p:nvPr/>
        </p:nvSpPr>
        <p:spPr>
          <a:xfrm>
            <a:off x="9093200" y="2831068"/>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8</a:t>
            </a:r>
            <a:endParaRPr lang="en-PK" dirty="0"/>
          </a:p>
        </p:txBody>
      </p:sp>
      <p:sp>
        <p:nvSpPr>
          <p:cNvPr id="54" name="Oval 53">
            <a:extLst>
              <a:ext uri="{FF2B5EF4-FFF2-40B4-BE49-F238E27FC236}">
                <a16:creationId xmlns:a16="http://schemas.microsoft.com/office/drawing/2014/main" xmlns="" id="{23BEA4B1-2ACE-4A80-BD97-7DC5A7177BF4}"/>
              </a:ext>
            </a:extLst>
          </p:cNvPr>
          <p:cNvSpPr/>
          <p:nvPr/>
        </p:nvSpPr>
        <p:spPr>
          <a:xfrm>
            <a:off x="8126082" y="2831068"/>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7</a:t>
            </a:r>
            <a:endParaRPr lang="en-PK" dirty="0"/>
          </a:p>
        </p:txBody>
      </p:sp>
      <p:cxnSp>
        <p:nvCxnSpPr>
          <p:cNvPr id="58" name="Straight Connector 57">
            <a:extLst>
              <a:ext uri="{FF2B5EF4-FFF2-40B4-BE49-F238E27FC236}">
                <a16:creationId xmlns:a16="http://schemas.microsoft.com/office/drawing/2014/main" xmlns="" id="{E666C1A6-556E-4427-A651-AAA1D1D226BA}"/>
              </a:ext>
            </a:extLst>
          </p:cNvPr>
          <p:cNvCxnSpPr>
            <a:stCxn id="48" idx="4"/>
            <a:endCxn id="51" idx="0"/>
          </p:cNvCxnSpPr>
          <p:nvPr/>
        </p:nvCxnSpPr>
        <p:spPr>
          <a:xfrm>
            <a:off x="7687932" y="1345168"/>
            <a:ext cx="254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xmlns="" id="{2A034DC1-D0F4-45A1-AA0D-DBA308F3E4DB}"/>
              </a:ext>
            </a:extLst>
          </p:cNvPr>
          <p:cNvCxnSpPr>
            <a:cxnSpLocks/>
            <a:stCxn id="47" idx="4"/>
            <a:endCxn id="50" idx="0"/>
          </p:cNvCxnSpPr>
          <p:nvPr/>
        </p:nvCxnSpPr>
        <p:spPr>
          <a:xfrm>
            <a:off x="8655050" y="1345168"/>
            <a:ext cx="254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xmlns="" id="{2664926D-E385-4179-96FE-46A3DE55E2C9}"/>
              </a:ext>
            </a:extLst>
          </p:cNvPr>
          <p:cNvCxnSpPr/>
          <p:nvPr/>
        </p:nvCxnSpPr>
        <p:spPr>
          <a:xfrm>
            <a:off x="9707232" y="1319768"/>
            <a:ext cx="254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xmlns="" id="{3D30D0B4-CC19-4CB9-9360-DC0467FFDB22}"/>
              </a:ext>
            </a:extLst>
          </p:cNvPr>
          <p:cNvCxnSpPr>
            <a:cxnSpLocks/>
            <a:endCxn id="54" idx="1"/>
          </p:cNvCxnSpPr>
          <p:nvPr/>
        </p:nvCxnSpPr>
        <p:spPr>
          <a:xfrm>
            <a:off x="7992732" y="2310368"/>
            <a:ext cx="209605" cy="604394"/>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xmlns="" id="{0E0DBB7C-6D61-4E57-A428-B35012AF1FE2}"/>
              </a:ext>
            </a:extLst>
          </p:cNvPr>
          <p:cNvCxnSpPr>
            <a:cxnSpLocks/>
          </p:cNvCxnSpPr>
          <p:nvPr/>
        </p:nvCxnSpPr>
        <p:spPr>
          <a:xfrm>
            <a:off x="8957932" y="2297668"/>
            <a:ext cx="236778"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xmlns="" id="{8A747ACC-5449-4F18-88DD-BB978D40A90F}"/>
              </a:ext>
            </a:extLst>
          </p:cNvPr>
          <p:cNvCxnSpPr>
            <a:cxnSpLocks/>
            <a:endCxn id="52" idx="0"/>
          </p:cNvCxnSpPr>
          <p:nvPr/>
        </p:nvCxnSpPr>
        <p:spPr>
          <a:xfrm>
            <a:off x="10012032" y="2284968"/>
            <a:ext cx="335955" cy="546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xmlns="" id="{D2E0C4BB-55E7-4DF3-9587-0FC66075E7BE}"/>
              </a:ext>
            </a:extLst>
          </p:cNvPr>
          <p:cNvCxnSpPr>
            <a:stCxn id="51" idx="6"/>
            <a:endCxn id="50" idx="2"/>
          </p:cNvCxnSpPr>
          <p:nvPr/>
        </p:nvCxnSpPr>
        <p:spPr>
          <a:xfrm>
            <a:off x="8202282" y="2011918"/>
            <a:ext cx="44641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xmlns="" id="{F57CAD81-E039-41D2-B13F-B5D171736EFA}"/>
              </a:ext>
            </a:extLst>
          </p:cNvPr>
          <p:cNvCxnSpPr>
            <a:stCxn id="50" idx="6"/>
            <a:endCxn id="49" idx="2"/>
          </p:cNvCxnSpPr>
          <p:nvPr/>
        </p:nvCxnSpPr>
        <p:spPr>
          <a:xfrm>
            <a:off x="9169400" y="2011918"/>
            <a:ext cx="4737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xmlns="" id="{85AEFB4F-1A20-459C-A6CC-DFB4DC08F229}"/>
              </a:ext>
            </a:extLst>
          </p:cNvPr>
          <p:cNvCxnSpPr>
            <a:stCxn id="48" idx="6"/>
            <a:endCxn id="47" idx="2"/>
          </p:cNvCxnSpPr>
          <p:nvPr/>
        </p:nvCxnSpPr>
        <p:spPr>
          <a:xfrm>
            <a:off x="7948282" y="1059418"/>
            <a:ext cx="44641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xmlns="" id="{FBD4E626-5174-418E-832A-FB53308B9A4E}"/>
              </a:ext>
            </a:extLst>
          </p:cNvPr>
          <p:cNvCxnSpPr>
            <a:stCxn id="47" idx="6"/>
            <a:endCxn id="46" idx="2"/>
          </p:cNvCxnSpPr>
          <p:nvPr/>
        </p:nvCxnSpPr>
        <p:spPr>
          <a:xfrm>
            <a:off x="8915400" y="1059418"/>
            <a:ext cx="4737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xmlns="" id="{70741F6F-8B1D-4828-A99F-6F7B7CEB7474}"/>
              </a:ext>
            </a:extLst>
          </p:cNvPr>
          <p:cNvCxnSpPr>
            <a:stCxn id="54" idx="6"/>
            <a:endCxn id="53" idx="2"/>
          </p:cNvCxnSpPr>
          <p:nvPr/>
        </p:nvCxnSpPr>
        <p:spPr>
          <a:xfrm>
            <a:off x="8646782" y="3116818"/>
            <a:ext cx="44641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xmlns="" id="{60CD1B2C-0E6C-4C1C-9987-EBDAA862BF0A}"/>
              </a:ext>
            </a:extLst>
          </p:cNvPr>
          <p:cNvCxnSpPr>
            <a:cxnSpLocks/>
            <a:endCxn id="52" idx="2"/>
          </p:cNvCxnSpPr>
          <p:nvPr/>
        </p:nvCxnSpPr>
        <p:spPr>
          <a:xfrm flipV="1">
            <a:off x="9613900" y="3116818"/>
            <a:ext cx="473737" cy="5318"/>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xmlns="" id="{7B58C1A8-8184-473F-A55F-4422406003FD}"/>
              </a:ext>
            </a:extLst>
          </p:cNvPr>
          <p:cNvSpPr txBox="1"/>
          <p:nvPr/>
        </p:nvSpPr>
        <p:spPr>
          <a:xfrm>
            <a:off x="8634082" y="3400504"/>
            <a:ext cx="1142749" cy="369332"/>
          </a:xfrm>
          <a:prstGeom prst="rect">
            <a:avLst/>
          </a:prstGeom>
          <a:noFill/>
        </p:spPr>
        <p:txBody>
          <a:bodyPr wrap="none" rtlCol="0">
            <a:spAutoFit/>
          </a:bodyPr>
          <a:lstStyle/>
          <a:p>
            <a:r>
              <a:rPr lang="en-US" b="1" dirty="0"/>
              <a:t>(b) Matrix</a:t>
            </a:r>
            <a:endParaRPr lang="en-PK" b="1" dirty="0"/>
          </a:p>
        </p:txBody>
      </p:sp>
      <p:sp>
        <p:nvSpPr>
          <p:cNvPr id="85" name="Oval 84">
            <a:extLst>
              <a:ext uri="{FF2B5EF4-FFF2-40B4-BE49-F238E27FC236}">
                <a16:creationId xmlns:a16="http://schemas.microsoft.com/office/drawing/2014/main" xmlns="" id="{B21D62B9-5E55-48B5-8AD7-EE07C750D196}"/>
              </a:ext>
            </a:extLst>
          </p:cNvPr>
          <p:cNvSpPr/>
          <p:nvPr/>
        </p:nvSpPr>
        <p:spPr>
          <a:xfrm>
            <a:off x="8881732" y="4006850"/>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1</a:t>
            </a:r>
            <a:endParaRPr lang="en-PK" dirty="0"/>
          </a:p>
        </p:txBody>
      </p:sp>
      <p:sp>
        <p:nvSpPr>
          <p:cNvPr id="86" name="Oval 85">
            <a:extLst>
              <a:ext uri="{FF2B5EF4-FFF2-40B4-BE49-F238E27FC236}">
                <a16:creationId xmlns:a16="http://schemas.microsoft.com/office/drawing/2014/main" xmlns="" id="{F51689AB-9D88-4FE7-91E2-A220EA36F1AB}"/>
              </a:ext>
            </a:extLst>
          </p:cNvPr>
          <p:cNvSpPr/>
          <p:nvPr/>
        </p:nvSpPr>
        <p:spPr>
          <a:xfrm>
            <a:off x="10414136" y="5640862"/>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8</a:t>
            </a:r>
            <a:endParaRPr lang="en-PK" dirty="0"/>
          </a:p>
        </p:txBody>
      </p:sp>
      <p:sp>
        <p:nvSpPr>
          <p:cNvPr id="87" name="Oval 86">
            <a:extLst>
              <a:ext uri="{FF2B5EF4-FFF2-40B4-BE49-F238E27FC236}">
                <a16:creationId xmlns:a16="http://schemas.microsoft.com/office/drawing/2014/main" xmlns="" id="{CF7BCF47-5C18-499B-B00B-3181D93D7349}"/>
              </a:ext>
            </a:extLst>
          </p:cNvPr>
          <p:cNvSpPr/>
          <p:nvPr/>
        </p:nvSpPr>
        <p:spPr>
          <a:xfrm>
            <a:off x="7396791" y="4726462"/>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2</a:t>
            </a:r>
            <a:endParaRPr lang="en-PK" dirty="0"/>
          </a:p>
        </p:txBody>
      </p:sp>
      <p:sp>
        <p:nvSpPr>
          <p:cNvPr id="88" name="Oval 87">
            <a:extLst>
              <a:ext uri="{FF2B5EF4-FFF2-40B4-BE49-F238E27FC236}">
                <a16:creationId xmlns:a16="http://schemas.microsoft.com/office/drawing/2014/main" xmlns="" id="{28692B80-5A34-4CC7-87B2-E6C27264C5E7}"/>
              </a:ext>
            </a:extLst>
          </p:cNvPr>
          <p:cNvSpPr/>
          <p:nvPr/>
        </p:nvSpPr>
        <p:spPr>
          <a:xfrm>
            <a:off x="11069375" y="5640862"/>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9</a:t>
            </a:r>
            <a:endParaRPr lang="en-PK" dirty="0"/>
          </a:p>
        </p:txBody>
      </p:sp>
      <p:sp>
        <p:nvSpPr>
          <p:cNvPr id="89" name="Oval 88">
            <a:extLst>
              <a:ext uri="{FF2B5EF4-FFF2-40B4-BE49-F238E27FC236}">
                <a16:creationId xmlns:a16="http://schemas.microsoft.com/office/drawing/2014/main" xmlns="" id="{F037BA55-BD83-4870-8CF2-0D92A051D976}"/>
              </a:ext>
            </a:extLst>
          </p:cNvPr>
          <p:cNvSpPr/>
          <p:nvPr/>
        </p:nvSpPr>
        <p:spPr>
          <a:xfrm>
            <a:off x="9481282" y="5656447"/>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7</a:t>
            </a:r>
            <a:endParaRPr lang="en-PK" dirty="0"/>
          </a:p>
        </p:txBody>
      </p:sp>
      <p:sp>
        <p:nvSpPr>
          <p:cNvPr id="90" name="Oval 89">
            <a:extLst>
              <a:ext uri="{FF2B5EF4-FFF2-40B4-BE49-F238E27FC236}">
                <a16:creationId xmlns:a16="http://schemas.microsoft.com/office/drawing/2014/main" xmlns="" id="{A742B85F-6B76-47BA-A20A-008116F747B3}"/>
              </a:ext>
            </a:extLst>
          </p:cNvPr>
          <p:cNvSpPr/>
          <p:nvPr/>
        </p:nvSpPr>
        <p:spPr>
          <a:xfrm>
            <a:off x="6640548" y="5656447"/>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3</a:t>
            </a:r>
            <a:endParaRPr lang="en-PK" dirty="0"/>
          </a:p>
        </p:txBody>
      </p:sp>
      <p:sp>
        <p:nvSpPr>
          <p:cNvPr id="91" name="Oval 90">
            <a:extLst>
              <a:ext uri="{FF2B5EF4-FFF2-40B4-BE49-F238E27FC236}">
                <a16:creationId xmlns:a16="http://schemas.microsoft.com/office/drawing/2014/main" xmlns="" id="{FBA06FC8-3A81-44AA-8128-37D83CE2BA08}"/>
              </a:ext>
            </a:extLst>
          </p:cNvPr>
          <p:cNvSpPr/>
          <p:nvPr/>
        </p:nvSpPr>
        <p:spPr>
          <a:xfrm>
            <a:off x="10404679" y="4578350"/>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6</a:t>
            </a:r>
            <a:endParaRPr lang="en-PK" dirty="0"/>
          </a:p>
        </p:txBody>
      </p:sp>
      <p:sp>
        <p:nvSpPr>
          <p:cNvPr id="92" name="Oval 91">
            <a:extLst>
              <a:ext uri="{FF2B5EF4-FFF2-40B4-BE49-F238E27FC236}">
                <a16:creationId xmlns:a16="http://schemas.microsoft.com/office/drawing/2014/main" xmlns="" id="{41533D39-1847-4A17-97B1-97AD113EF85A}"/>
              </a:ext>
            </a:extLst>
          </p:cNvPr>
          <p:cNvSpPr/>
          <p:nvPr/>
        </p:nvSpPr>
        <p:spPr>
          <a:xfrm>
            <a:off x="7434594" y="5656447"/>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4</a:t>
            </a:r>
            <a:endParaRPr lang="en-PK" dirty="0"/>
          </a:p>
        </p:txBody>
      </p:sp>
      <p:sp>
        <p:nvSpPr>
          <p:cNvPr id="93" name="Oval 92">
            <a:extLst>
              <a:ext uri="{FF2B5EF4-FFF2-40B4-BE49-F238E27FC236}">
                <a16:creationId xmlns:a16="http://schemas.microsoft.com/office/drawing/2014/main" xmlns="" id="{D621DAAD-D8E1-45CE-86DF-33652CB11674}"/>
              </a:ext>
            </a:extLst>
          </p:cNvPr>
          <p:cNvSpPr/>
          <p:nvPr/>
        </p:nvSpPr>
        <p:spPr>
          <a:xfrm>
            <a:off x="8844591" y="4794248"/>
            <a:ext cx="5207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5</a:t>
            </a:r>
            <a:endParaRPr lang="en-PK" dirty="0"/>
          </a:p>
        </p:txBody>
      </p:sp>
      <p:cxnSp>
        <p:nvCxnSpPr>
          <p:cNvPr id="94" name="Straight Connector 93">
            <a:extLst>
              <a:ext uri="{FF2B5EF4-FFF2-40B4-BE49-F238E27FC236}">
                <a16:creationId xmlns:a16="http://schemas.microsoft.com/office/drawing/2014/main" xmlns="" id="{11311A0D-F577-4C0C-A8B1-08C670BCBC97}"/>
              </a:ext>
            </a:extLst>
          </p:cNvPr>
          <p:cNvCxnSpPr>
            <a:stCxn id="85" idx="4"/>
            <a:endCxn id="93" idx="0"/>
          </p:cNvCxnSpPr>
          <p:nvPr/>
        </p:nvCxnSpPr>
        <p:spPr>
          <a:xfrm flipH="1">
            <a:off x="9104941" y="4578350"/>
            <a:ext cx="37141" cy="215898"/>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xmlns="" id="{D9CEBBD3-B0EE-43B7-B26D-FCCAD961CF37}"/>
              </a:ext>
            </a:extLst>
          </p:cNvPr>
          <p:cNvCxnSpPr>
            <a:stCxn id="85" idx="2"/>
            <a:endCxn id="87" idx="0"/>
          </p:cNvCxnSpPr>
          <p:nvPr/>
        </p:nvCxnSpPr>
        <p:spPr>
          <a:xfrm flipH="1">
            <a:off x="7657141" y="4292600"/>
            <a:ext cx="1224591" cy="433862"/>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xmlns="" id="{E60B08FB-696D-4931-BFD3-64BFC60ACCCC}"/>
              </a:ext>
            </a:extLst>
          </p:cNvPr>
          <p:cNvCxnSpPr>
            <a:stCxn id="85" idx="6"/>
            <a:endCxn id="91" idx="1"/>
          </p:cNvCxnSpPr>
          <p:nvPr/>
        </p:nvCxnSpPr>
        <p:spPr>
          <a:xfrm>
            <a:off x="9402432" y="4292600"/>
            <a:ext cx="1078502" cy="369444"/>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xmlns="" id="{C99401E5-BBE9-4ADA-9649-94D354BB764E}"/>
              </a:ext>
            </a:extLst>
          </p:cNvPr>
          <p:cNvCxnSpPr>
            <a:stCxn id="91" idx="3"/>
            <a:endCxn id="89" idx="0"/>
          </p:cNvCxnSpPr>
          <p:nvPr/>
        </p:nvCxnSpPr>
        <p:spPr>
          <a:xfrm flipH="1">
            <a:off x="9741632" y="5066156"/>
            <a:ext cx="739302" cy="590291"/>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xmlns="" id="{EB3139AB-00E8-4207-965C-E47563B91ABA}"/>
              </a:ext>
            </a:extLst>
          </p:cNvPr>
          <p:cNvCxnSpPr>
            <a:stCxn id="91" idx="4"/>
            <a:endCxn id="86" idx="0"/>
          </p:cNvCxnSpPr>
          <p:nvPr/>
        </p:nvCxnSpPr>
        <p:spPr>
          <a:xfrm>
            <a:off x="10665029" y="5149850"/>
            <a:ext cx="9457" cy="491012"/>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xmlns="" id="{0D493408-93C5-4DE7-9209-21E45BE2B14E}"/>
              </a:ext>
            </a:extLst>
          </p:cNvPr>
          <p:cNvCxnSpPr>
            <a:stCxn id="91" idx="5"/>
            <a:endCxn id="88" idx="0"/>
          </p:cNvCxnSpPr>
          <p:nvPr/>
        </p:nvCxnSpPr>
        <p:spPr>
          <a:xfrm>
            <a:off x="10849124" y="5066156"/>
            <a:ext cx="480601" cy="574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xmlns="" id="{C1B87F42-DC47-4044-AD60-5FF9F63FB599}"/>
              </a:ext>
            </a:extLst>
          </p:cNvPr>
          <p:cNvCxnSpPr>
            <a:cxnSpLocks/>
            <a:stCxn id="87" idx="4"/>
            <a:endCxn id="92" idx="0"/>
          </p:cNvCxnSpPr>
          <p:nvPr/>
        </p:nvCxnSpPr>
        <p:spPr>
          <a:xfrm>
            <a:off x="7657141" y="5297962"/>
            <a:ext cx="37803" cy="358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xmlns="" id="{0536AAC9-7D8B-4BF0-8ECE-D7A0798A1A87}"/>
              </a:ext>
            </a:extLst>
          </p:cNvPr>
          <p:cNvCxnSpPr>
            <a:stCxn id="87" idx="3"/>
            <a:endCxn id="90" idx="0"/>
          </p:cNvCxnSpPr>
          <p:nvPr/>
        </p:nvCxnSpPr>
        <p:spPr>
          <a:xfrm flipH="1">
            <a:off x="6900898" y="5214268"/>
            <a:ext cx="572148" cy="44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xmlns="" id="{C013B588-E26E-4C11-8240-7FAC3817B2E0}"/>
              </a:ext>
            </a:extLst>
          </p:cNvPr>
          <p:cNvCxnSpPr>
            <a:stCxn id="86" idx="6"/>
            <a:endCxn id="88" idx="2"/>
          </p:cNvCxnSpPr>
          <p:nvPr/>
        </p:nvCxnSpPr>
        <p:spPr>
          <a:xfrm>
            <a:off x="10934836" y="5926612"/>
            <a:ext cx="13453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xmlns="" id="{A8A65A25-A32C-4E39-BB45-AE8A0D8ABBFF}"/>
              </a:ext>
            </a:extLst>
          </p:cNvPr>
          <p:cNvCxnSpPr>
            <a:stCxn id="89" idx="6"/>
            <a:endCxn id="86" idx="2"/>
          </p:cNvCxnSpPr>
          <p:nvPr/>
        </p:nvCxnSpPr>
        <p:spPr>
          <a:xfrm flipV="1">
            <a:off x="10001982" y="5926612"/>
            <a:ext cx="412154" cy="155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xmlns="" id="{000A304E-89A2-414F-807F-679C0D54037E}"/>
              </a:ext>
            </a:extLst>
          </p:cNvPr>
          <p:cNvCxnSpPr>
            <a:stCxn id="92" idx="6"/>
            <a:endCxn id="89" idx="2"/>
          </p:cNvCxnSpPr>
          <p:nvPr/>
        </p:nvCxnSpPr>
        <p:spPr>
          <a:xfrm>
            <a:off x="7955294" y="5942197"/>
            <a:ext cx="15259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xmlns="" id="{513BA235-376D-46CC-BD92-4550567C8836}"/>
              </a:ext>
            </a:extLst>
          </p:cNvPr>
          <p:cNvCxnSpPr>
            <a:stCxn id="90" idx="6"/>
            <a:endCxn id="92" idx="2"/>
          </p:cNvCxnSpPr>
          <p:nvPr/>
        </p:nvCxnSpPr>
        <p:spPr>
          <a:xfrm>
            <a:off x="7161248" y="5942197"/>
            <a:ext cx="273346" cy="0"/>
          </a:xfrm>
          <a:prstGeom prst="line">
            <a:avLst/>
          </a:prstGeom>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xmlns="" id="{79264BB3-895C-443E-A752-4EB38C155EC2}"/>
              </a:ext>
            </a:extLst>
          </p:cNvPr>
          <p:cNvSpPr txBox="1"/>
          <p:nvPr/>
        </p:nvSpPr>
        <p:spPr>
          <a:xfrm>
            <a:off x="8191205" y="6210861"/>
            <a:ext cx="1090107" cy="369332"/>
          </a:xfrm>
          <a:prstGeom prst="rect">
            <a:avLst/>
          </a:prstGeom>
          <a:noFill/>
        </p:spPr>
        <p:txBody>
          <a:bodyPr wrap="none" rtlCol="0">
            <a:spAutoFit/>
          </a:bodyPr>
          <a:lstStyle/>
          <a:p>
            <a:r>
              <a:rPr lang="en-US" b="1" dirty="0"/>
              <a:t>(d) Graph</a:t>
            </a:r>
            <a:endParaRPr lang="en-PK" b="1" dirty="0"/>
          </a:p>
        </p:txBody>
      </p:sp>
      <p:sp>
        <p:nvSpPr>
          <p:cNvPr id="111" name="TextBox 110">
            <a:extLst>
              <a:ext uri="{FF2B5EF4-FFF2-40B4-BE49-F238E27FC236}">
                <a16:creationId xmlns:a16="http://schemas.microsoft.com/office/drawing/2014/main" xmlns="" id="{EF2D1CE7-90CF-4403-8CA1-A100B4ADF437}"/>
              </a:ext>
            </a:extLst>
          </p:cNvPr>
          <p:cNvSpPr txBox="1"/>
          <p:nvPr/>
        </p:nvSpPr>
        <p:spPr>
          <a:xfrm>
            <a:off x="320040" y="1345168"/>
            <a:ext cx="6818533" cy="369332"/>
          </a:xfrm>
          <a:prstGeom prst="rect">
            <a:avLst/>
          </a:prstGeom>
          <a:noFill/>
        </p:spPr>
        <p:txBody>
          <a:bodyPr wrap="none" rtlCol="0">
            <a:spAutoFit/>
          </a:bodyPr>
          <a:lstStyle/>
          <a:p>
            <a:r>
              <a:rPr lang="en-US" dirty="0"/>
              <a:t>Consider a List L consisting of data items </a:t>
            </a:r>
            <a:r>
              <a:rPr lang="en-US" dirty="0">
                <a:sym typeface="Wingdings" panose="05000000000000000000" pitchFamily="2" charset="2"/>
              </a:rPr>
              <a:t> 1,2,3,4,..9 as shown in Fig.</a:t>
            </a:r>
            <a:endParaRPr lang="en-PK" dirty="0"/>
          </a:p>
        </p:txBody>
      </p:sp>
      <p:pic>
        <p:nvPicPr>
          <p:cNvPr id="4" name="Picture 3">
            <a:extLst>
              <a:ext uri="{FF2B5EF4-FFF2-40B4-BE49-F238E27FC236}">
                <a16:creationId xmlns:a16="http://schemas.microsoft.com/office/drawing/2014/main" xmlns="" id="{F2994789-FDAF-202E-E9A2-D663BF9744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5" name="Footer Placeholder 2">
            <a:extLst>
              <a:ext uri="{FF2B5EF4-FFF2-40B4-BE49-F238E27FC236}">
                <a16:creationId xmlns:a16="http://schemas.microsoft.com/office/drawing/2014/main" xmlns="" id="{B5AEAC40-D98E-8F15-6F8C-6660D4771BBB}"/>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16377208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9B06832E-A525-4BEC-AC26-71A4B94BEBFA}"/>
              </a:ext>
            </a:extLst>
          </p:cNvPr>
          <p:cNvSpPr txBox="1">
            <a:spLocks/>
          </p:cNvSpPr>
          <p:nvPr/>
        </p:nvSpPr>
        <p:spPr>
          <a:xfrm>
            <a:off x="320039" y="355600"/>
            <a:ext cx="5556654" cy="461328"/>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chemeClr val="accent1">
                    <a:lumMod val="50000"/>
                  </a:schemeClr>
                </a:solidFill>
                <a:latin typeface="+mn-lt"/>
              </a:rPr>
              <a:t>Abstract Data Type Model</a:t>
            </a:r>
            <a:endParaRPr lang="en-PK" sz="2800" b="1" dirty="0">
              <a:solidFill>
                <a:schemeClr val="accent1">
                  <a:lumMod val="50000"/>
                </a:schemeClr>
              </a:solidFill>
              <a:latin typeface="+mn-lt"/>
            </a:endParaRPr>
          </a:p>
        </p:txBody>
      </p:sp>
      <p:pic>
        <p:nvPicPr>
          <p:cNvPr id="12" name="Picture 11">
            <a:extLst>
              <a:ext uri="{FF2B5EF4-FFF2-40B4-BE49-F238E27FC236}">
                <a16:creationId xmlns:a16="http://schemas.microsoft.com/office/drawing/2014/main" xmlns="" id="{E9CC4996-1E1C-421F-852A-9D8003E665DE}"/>
              </a:ext>
            </a:extLst>
          </p:cNvPr>
          <p:cNvPicPr>
            <a:picLocks noChangeAspect="1"/>
          </p:cNvPicPr>
          <p:nvPr/>
        </p:nvPicPr>
        <p:blipFill>
          <a:blip r:embed="rId3"/>
          <a:stretch>
            <a:fillRect/>
          </a:stretch>
        </p:blipFill>
        <p:spPr>
          <a:xfrm>
            <a:off x="2590800" y="816928"/>
            <a:ext cx="7010400" cy="4791075"/>
          </a:xfrm>
          <a:prstGeom prst="rect">
            <a:avLst/>
          </a:prstGeom>
        </p:spPr>
      </p:pic>
      <p:sp>
        <p:nvSpPr>
          <p:cNvPr id="13" name="TextBox 12">
            <a:extLst>
              <a:ext uri="{FF2B5EF4-FFF2-40B4-BE49-F238E27FC236}">
                <a16:creationId xmlns:a16="http://schemas.microsoft.com/office/drawing/2014/main" xmlns="" id="{3E8754DF-CF26-4EE8-B509-CC4488658C0C}"/>
              </a:ext>
            </a:extLst>
          </p:cNvPr>
          <p:cNvSpPr txBox="1"/>
          <p:nvPr/>
        </p:nvSpPr>
        <p:spPr>
          <a:xfrm>
            <a:off x="6096000" y="5887183"/>
            <a:ext cx="1318631" cy="307777"/>
          </a:xfrm>
          <a:prstGeom prst="rect">
            <a:avLst/>
          </a:prstGeom>
          <a:noFill/>
        </p:spPr>
        <p:txBody>
          <a:bodyPr wrap="none" rtlCol="0">
            <a:spAutoFit/>
          </a:bodyPr>
          <a:lstStyle/>
          <a:p>
            <a:r>
              <a:rPr lang="en-US" sz="1400" b="1" dirty="0"/>
              <a:t>Fig: ADT Model</a:t>
            </a:r>
            <a:endParaRPr lang="en-PK" sz="1400" b="1" dirty="0"/>
          </a:p>
        </p:txBody>
      </p:sp>
      <p:pic>
        <p:nvPicPr>
          <p:cNvPr id="2" name="Picture 1">
            <a:extLst>
              <a:ext uri="{FF2B5EF4-FFF2-40B4-BE49-F238E27FC236}">
                <a16:creationId xmlns:a16="http://schemas.microsoft.com/office/drawing/2014/main" xmlns="" id="{C1C91733-D479-0B07-B04F-0344F511259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7513" y="0"/>
            <a:ext cx="944094" cy="932689"/>
          </a:xfrm>
          <a:prstGeom prst="rect">
            <a:avLst/>
          </a:prstGeom>
        </p:spPr>
      </p:pic>
      <p:sp>
        <p:nvSpPr>
          <p:cNvPr id="3" name="Footer Placeholder 2">
            <a:extLst>
              <a:ext uri="{FF2B5EF4-FFF2-40B4-BE49-F238E27FC236}">
                <a16:creationId xmlns:a16="http://schemas.microsoft.com/office/drawing/2014/main" xmlns="" id="{6E1ECAF2-A232-9502-EE31-5BF9889B888B}"/>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(TIEST-</a:t>
            </a:r>
            <a:r>
              <a:rPr lang="en-US" b="1" dirty="0" err="1">
                <a:solidFill>
                  <a:schemeClr val="accent1"/>
                </a:solidFill>
              </a:rPr>
              <a:t>Tharparkar</a:t>
            </a:r>
            <a:r>
              <a:rPr lang="en-US" b="1" dirty="0">
                <a:solidFill>
                  <a:schemeClr val="accent1"/>
                </a:solidFill>
              </a:rPr>
              <a:t>)                                                                                                                                                                                                             hafeezbabar@neduet.edu.pk</a:t>
            </a:r>
            <a:endParaRPr lang="en-PK" b="1" dirty="0">
              <a:solidFill>
                <a:schemeClr val="accent1"/>
              </a:solidFill>
            </a:endParaRPr>
          </a:p>
        </p:txBody>
      </p:sp>
    </p:spTree>
    <p:extLst>
      <p:ext uri="{BB962C8B-B14F-4D97-AF65-F5344CB8AC3E}">
        <p14:creationId xmlns:p14="http://schemas.microsoft.com/office/powerpoint/2010/main" val="28029270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ve Top Homeowner Questions We Get at DaVinci Roofscapes –">
            <a:extLst>
              <a:ext uri="{FF2B5EF4-FFF2-40B4-BE49-F238E27FC236}">
                <a16:creationId xmlns:a16="http://schemas.microsoft.com/office/drawing/2014/main" xmlns="" id="{745A3058-15FB-48EE-9002-0144A7F2284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99862" y="0"/>
            <a:ext cx="4792275" cy="6298335"/>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xmlns="" id="{D2DFBADC-7F00-4950-900C-96B29EE94210}"/>
              </a:ext>
            </a:extLst>
          </p:cNvPr>
          <p:cNvSpPr>
            <a:spLocks noGrp="1"/>
          </p:cNvSpPr>
          <p:nvPr>
            <p:ph type="ftr" sz="quarter" idx="11"/>
          </p:nvPr>
        </p:nvSpPr>
        <p:spPr>
          <a:xfrm>
            <a:off x="0" y="6607175"/>
            <a:ext cx="12192000" cy="250825"/>
          </a:xfrm>
          <a:solidFill>
            <a:schemeClr val="accent3">
              <a:lumMod val="60000"/>
              <a:lumOff val="40000"/>
            </a:schemeClr>
          </a:solidFill>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accent1"/>
                </a:solidFill>
              </a:rPr>
              <a:t>Engr. A. Hafeez Babar  (MUET-SZAB)                                                                                                                                                                                                             hafeez.babar@muetkhp.edu.pk</a:t>
            </a:r>
            <a:endParaRPr lang="en-PK" b="1" dirty="0">
              <a:solidFill>
                <a:schemeClr val="accent1"/>
              </a:solidFill>
            </a:endParaRPr>
          </a:p>
        </p:txBody>
      </p:sp>
    </p:spTree>
    <p:extLst>
      <p:ext uri="{BB962C8B-B14F-4D97-AF65-F5344CB8AC3E}">
        <p14:creationId xmlns:p14="http://schemas.microsoft.com/office/powerpoint/2010/main" val="25208112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492</TotalTime>
  <Words>3231</Words>
  <Application>Microsoft Office PowerPoint</Application>
  <PresentationFormat>Widescreen</PresentationFormat>
  <Paragraphs>511</Paragraphs>
  <Slides>42</Slides>
  <Notes>23</Notes>
  <HiddenSlides>0</HiddenSlides>
  <MMClips>0</MMClips>
  <ScaleCrop>false</ScaleCrop>
  <HeadingPairs>
    <vt:vector size="6" baseType="variant">
      <vt:variant>
        <vt:lpstr>Fonts Used</vt:lpstr>
      </vt:variant>
      <vt:variant>
        <vt:i4>17</vt:i4>
      </vt:variant>
      <vt:variant>
        <vt:lpstr>Theme</vt:lpstr>
      </vt:variant>
      <vt:variant>
        <vt:i4>2</vt:i4>
      </vt:variant>
      <vt:variant>
        <vt:lpstr>Slide Titles</vt:lpstr>
      </vt:variant>
      <vt:variant>
        <vt:i4>42</vt:i4>
      </vt:variant>
    </vt:vector>
  </HeadingPairs>
  <TitlesOfParts>
    <vt:vector size="61" baseType="lpstr">
      <vt:lpstr>Arial</vt:lpstr>
      <vt:lpstr>Arial Rounded MT Bold</vt:lpstr>
      <vt:lpstr>Calibri</vt:lpstr>
      <vt:lpstr>Calibri Light</vt:lpstr>
      <vt:lpstr>Courier New</vt:lpstr>
      <vt:lpstr>DengXian</vt:lpstr>
      <vt:lpstr>Georgia</vt:lpstr>
      <vt:lpstr>Gill Sans MT</vt:lpstr>
      <vt:lpstr>Helvetica</vt:lpstr>
      <vt:lpstr>Open Sans</vt:lpstr>
      <vt:lpstr>Palatino Linotype</vt:lpstr>
      <vt:lpstr>PT Serif</vt:lpstr>
      <vt:lpstr>Source Sans Pro</vt:lpstr>
      <vt:lpstr>Symbol</vt:lpstr>
      <vt:lpstr>Times New Roman</vt:lpstr>
      <vt:lpstr>urw-din</vt:lpstr>
      <vt:lpstr>Wingdings</vt:lpstr>
      <vt:lpstr>Office Theme</vt:lpstr>
      <vt:lpstr>Custom Design</vt:lpstr>
      <vt:lpstr>DATA STRUCTURE ALGORITHMS AND APPLICATIONS</vt:lpstr>
      <vt:lpstr>PowerPoint Presentation</vt:lpstr>
      <vt:lpstr>PowerPoint Presentation</vt:lpstr>
      <vt:lpstr>PowerPoint Presentation</vt:lpstr>
      <vt:lpstr>PowerPoint Presentation</vt:lpstr>
      <vt:lpstr>PowerPoint Presentation</vt:lpstr>
      <vt:lpstr>Course Outlines:</vt:lpstr>
      <vt:lpstr>Course Outlines(Continue…):</vt:lpstr>
      <vt:lpstr>Recommended Course Books:</vt:lpstr>
      <vt:lpstr>Assignments / Sessional Marks, Midterm Exam, Final Exam</vt:lpstr>
      <vt:lpstr>Assignments: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Structure  </vt:lpstr>
      <vt:lpstr>Data Structure</vt:lpstr>
      <vt:lpstr>Classification of Data Structures</vt:lpstr>
      <vt:lpstr>Classification of Data Structures</vt:lpstr>
      <vt:lpstr>Why Data Structures are needed?</vt:lpstr>
      <vt:lpstr>Data Structure : operations</vt:lpstr>
      <vt:lpstr>Data Structure : operation</vt:lpstr>
      <vt:lpstr>Algorithm</vt:lpstr>
      <vt:lpstr>How to write an Algorithm?</vt:lpstr>
      <vt:lpstr>Efficiency of an algorithm</vt:lpstr>
      <vt:lpstr>How to write an Algorithm?</vt:lpstr>
      <vt:lpstr>Algorithm</vt:lpstr>
      <vt:lpstr>Pseudo Code</vt:lpstr>
      <vt:lpstr>Pseudo Code</vt:lpstr>
      <vt:lpstr>Control Structures in Pseudo Code</vt:lpstr>
      <vt:lpstr>Abstract Data Type (ADT)</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AND ALGORITHM</dc:title>
  <dc:creator>hafeez babar</dc:creator>
  <cp:lastModifiedBy>Anees</cp:lastModifiedBy>
  <cp:revision>153</cp:revision>
  <dcterms:created xsi:type="dcterms:W3CDTF">2020-12-17T08:19:31Z</dcterms:created>
  <dcterms:modified xsi:type="dcterms:W3CDTF">2025-08-21T07:34:38Z</dcterms:modified>
</cp:coreProperties>
</file>