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286" r:id="rId2"/>
    <p:sldId id="256" r:id="rId3"/>
    <p:sldId id="324" r:id="rId4"/>
    <p:sldId id="259" r:id="rId5"/>
    <p:sldId id="260" r:id="rId6"/>
    <p:sldId id="291" r:id="rId7"/>
    <p:sldId id="262" r:id="rId8"/>
    <p:sldId id="263" r:id="rId9"/>
    <p:sldId id="264" r:id="rId10"/>
    <p:sldId id="265" r:id="rId11"/>
    <p:sldId id="266" r:id="rId12"/>
    <p:sldId id="270" r:id="rId13"/>
    <p:sldId id="261" r:id="rId14"/>
    <p:sldId id="271" r:id="rId15"/>
    <p:sldId id="288" r:id="rId16"/>
    <p:sldId id="340" r:id="rId17"/>
    <p:sldId id="341" r:id="rId18"/>
    <p:sldId id="342" r:id="rId19"/>
    <p:sldId id="345" r:id="rId20"/>
    <p:sldId id="346" r:id="rId21"/>
    <p:sldId id="347" r:id="rId22"/>
    <p:sldId id="280" r:id="rId23"/>
    <p:sldId id="348" r:id="rId24"/>
    <p:sldId id="281" r:id="rId25"/>
    <p:sldId id="282" r:id="rId26"/>
    <p:sldId id="283" r:id="rId27"/>
    <p:sldId id="289" r:id="rId28"/>
    <p:sldId id="290" r:id="rId29"/>
    <p:sldId id="293" r:id="rId30"/>
    <p:sldId id="292" r:id="rId31"/>
    <p:sldId id="349" r:id="rId32"/>
    <p:sldId id="350" r:id="rId33"/>
    <p:sldId id="351" r:id="rId34"/>
    <p:sldId id="272" r:id="rId35"/>
    <p:sldId id="273" r:id="rId36"/>
    <p:sldId id="277" r:id="rId37"/>
    <p:sldId id="332" r:id="rId38"/>
    <p:sldId id="333" r:id="rId39"/>
    <p:sldId id="334" r:id="rId40"/>
    <p:sldId id="335" r:id="rId41"/>
    <p:sldId id="336" r:id="rId42"/>
    <p:sldId id="329" r:id="rId43"/>
    <p:sldId id="337" r:id="rId44"/>
    <p:sldId id="284" r:id="rId45"/>
    <p:sldId id="274" r:id="rId46"/>
    <p:sldId id="360" r:id="rId47"/>
    <p:sldId id="364" r:id="rId48"/>
    <p:sldId id="365" r:id="rId49"/>
    <p:sldId id="285" r:id="rId50"/>
    <p:sldId id="363" r:id="rId51"/>
    <p:sldId id="325" r:id="rId52"/>
    <p:sldId id="322" r:id="rId53"/>
    <p:sldId id="321" r:id="rId54"/>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9424" autoAdjust="0"/>
  </p:normalViewPr>
  <p:slideViewPr>
    <p:cSldViewPr snapToGrid="0">
      <p:cViewPr varScale="1">
        <p:scale>
          <a:sx n="59" d="100"/>
          <a:sy n="59" d="100"/>
        </p:scale>
        <p:origin x="94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B2CDB3-03A3-4DBA-9678-0BB950DFD783}" type="datetimeFigureOut">
              <a:rPr lang="en-PK" smtClean="0"/>
              <a:t>21/11/2022</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709E25-1C14-4C22-A49B-DDBD3FD4B5CB}" type="slidenum">
              <a:rPr lang="en-PK" smtClean="0"/>
              <a:t>‹#›</a:t>
            </a:fld>
            <a:endParaRPr lang="en-PK"/>
          </a:p>
        </p:txBody>
      </p:sp>
    </p:spTree>
    <p:extLst>
      <p:ext uri="{BB962C8B-B14F-4D97-AF65-F5344CB8AC3E}">
        <p14:creationId xmlns:p14="http://schemas.microsoft.com/office/powerpoint/2010/main" val="962108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Arrays are easy to traverse, search and sort, they are frequently used to store relatively permanent collection of data.</a:t>
            </a:r>
          </a:p>
          <a:p>
            <a:endParaRPr lang="en-US" dirty="0"/>
          </a:p>
          <a:p>
            <a:r>
              <a:rPr lang="en-US" dirty="0"/>
              <a:t>On the other hand, if the size of the structure and the data in the structure are constantly changing, then the array may not be as useful structure as the linked list.</a:t>
            </a:r>
            <a:endParaRPr lang="en-PK" dirty="0"/>
          </a:p>
        </p:txBody>
      </p:sp>
      <p:sp>
        <p:nvSpPr>
          <p:cNvPr id="4" name="Slide Number Placeholder 3"/>
          <p:cNvSpPr>
            <a:spLocks noGrp="1"/>
          </p:cNvSpPr>
          <p:nvPr>
            <p:ph type="sldNum" sz="quarter" idx="5"/>
          </p:nvPr>
        </p:nvSpPr>
        <p:spPr/>
        <p:txBody>
          <a:bodyPr/>
          <a:lstStyle/>
          <a:p>
            <a:fld id="{9C7CD17C-7785-4C2F-B7FA-BD414519D18E}" type="slidenum">
              <a:rPr lang="en-PK" smtClean="0"/>
              <a:t>4</a:t>
            </a:fld>
            <a:endParaRPr lang="en-PK"/>
          </a:p>
        </p:txBody>
      </p:sp>
    </p:spTree>
    <p:extLst>
      <p:ext uri="{BB962C8B-B14F-4D97-AF65-F5344CB8AC3E}">
        <p14:creationId xmlns:p14="http://schemas.microsoft.com/office/powerpoint/2010/main" val="39979162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9C7CD17C-7785-4C2F-B7FA-BD414519D18E}" type="slidenum">
              <a:rPr lang="en-PK" smtClean="0"/>
              <a:t>5</a:t>
            </a:fld>
            <a:endParaRPr lang="en-PK"/>
          </a:p>
        </p:txBody>
      </p:sp>
    </p:spTree>
    <p:extLst>
      <p:ext uri="{BB962C8B-B14F-4D97-AF65-F5344CB8AC3E}">
        <p14:creationId xmlns:p14="http://schemas.microsoft.com/office/powerpoint/2010/main" val="15138964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K" sz="1200" dirty="0">
                <a:effectLst/>
                <a:ea typeface="Calibri" panose="020F0502020204030204" pitchFamily="34" charset="0"/>
                <a:cs typeface="Arial" panose="020B0604020202020204" pitchFamily="34" charset="0"/>
              </a:rPr>
              <a:t>dynamically allocated</a:t>
            </a:r>
            <a:endParaRPr lang="en-US" sz="1200" dirty="0">
              <a:effectLst/>
              <a:ea typeface="Calibri" panose="020F0502020204030204" pitchFamily="34" charset="0"/>
              <a:cs typeface="Arial" panose="020B0604020202020204" pitchFamily="34" charset="0"/>
            </a:endParaRPr>
          </a:p>
          <a:p>
            <a:endParaRPr lang="en-US" sz="1200" dirty="0">
              <a:effectLst/>
              <a:cs typeface="Arial" panose="020B0604020202020204" pitchFamily="34" charset="0"/>
            </a:endParaRPr>
          </a:p>
          <a:p>
            <a:r>
              <a:rPr lang="en-US" dirty="0">
                <a:effectLst/>
                <a:latin typeface="inherit"/>
              </a:rPr>
              <a:t>int</a:t>
            </a:r>
            <a:r>
              <a:rPr lang="en-US" dirty="0"/>
              <a:t>[] x = </a:t>
            </a:r>
            <a:r>
              <a:rPr lang="en-US" dirty="0">
                <a:effectLst/>
                <a:latin typeface="inherit"/>
              </a:rPr>
              <a:t>new</a:t>
            </a:r>
            <a:r>
              <a:rPr lang="en-US" dirty="0"/>
              <a:t> </a:t>
            </a:r>
            <a:r>
              <a:rPr lang="en-US" dirty="0">
                <a:effectLst/>
                <a:latin typeface="inherit"/>
              </a:rPr>
              <a:t>int</a:t>
            </a:r>
            <a:r>
              <a:rPr lang="en-US" dirty="0"/>
              <a:t>[</a:t>
            </a:r>
            <a:r>
              <a:rPr lang="en-US" dirty="0" err="1"/>
              <a:t>someVariable</a:t>
            </a:r>
            <a:r>
              <a:rPr lang="en-US" dirty="0"/>
              <a:t>];</a:t>
            </a:r>
          </a:p>
          <a:p>
            <a:endParaRPr lang="en-US" sz="1200" dirty="0">
              <a:effectLst/>
              <a:cs typeface="Arial" panose="020B0604020202020204" pitchFamily="34" charset="0"/>
            </a:endParaRPr>
          </a:p>
          <a:p>
            <a:pPr algn="l" fontAlgn="base"/>
            <a:r>
              <a:rPr lang="en-US" b="0" i="0" dirty="0">
                <a:solidFill>
                  <a:srgbClr val="242729"/>
                </a:solidFill>
                <a:effectLst/>
                <a:latin typeface="Arial" panose="020B0604020202020204" pitchFamily="34" charset="0"/>
              </a:rPr>
              <a:t>This creates an array of a size that is not known at compile-time, meaning that the array (or rather the space for it) cannot be allocated by the compiler, but has to be allocated at run-time, i.e. dynamically. So when this line of code executes, some object on the heap will be created, and the normal garbage collection mechanism will eventually clean it up when it is no longer used.</a:t>
            </a:r>
          </a:p>
          <a:p>
            <a:pPr algn="l" fontAlgn="base"/>
            <a:r>
              <a:rPr lang="en-US" b="0" i="0" dirty="0">
                <a:solidFill>
                  <a:srgbClr val="242729"/>
                </a:solidFill>
                <a:effectLst/>
                <a:latin typeface="Arial" panose="020B0604020202020204" pitchFamily="34" charset="0"/>
              </a:rPr>
              <a:t>In Java, the same dynamic mechanism is also used for arrays where the size is known at compile-time, but in theory -- and in other languages -- there are statically allocated arrays.</a:t>
            </a:r>
          </a:p>
          <a:p>
            <a:endParaRPr lang="en-US" sz="1200" dirty="0">
              <a:effectLst/>
              <a:cs typeface="Arial" panose="020B0604020202020204" pitchFamily="34" charset="0"/>
            </a:endParaRPr>
          </a:p>
          <a:p>
            <a:endParaRPr lang="en-PK" dirty="0"/>
          </a:p>
        </p:txBody>
      </p:sp>
      <p:sp>
        <p:nvSpPr>
          <p:cNvPr id="4" name="Slide Number Placeholder 3"/>
          <p:cNvSpPr>
            <a:spLocks noGrp="1"/>
          </p:cNvSpPr>
          <p:nvPr>
            <p:ph type="sldNum" sz="quarter" idx="5"/>
          </p:nvPr>
        </p:nvSpPr>
        <p:spPr/>
        <p:txBody>
          <a:bodyPr/>
          <a:lstStyle/>
          <a:p>
            <a:fld id="{05709E25-1C14-4C22-A49B-DDBD3FD4B5CB}" type="slidenum">
              <a:rPr lang="en-PK" smtClean="0"/>
              <a:t>6</a:t>
            </a:fld>
            <a:endParaRPr lang="en-PK"/>
          </a:p>
        </p:txBody>
      </p:sp>
    </p:spTree>
    <p:extLst>
      <p:ext uri="{BB962C8B-B14F-4D97-AF65-F5344CB8AC3E}">
        <p14:creationId xmlns:p14="http://schemas.microsoft.com/office/powerpoint/2010/main" val="21163870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9C7CD17C-7785-4C2F-B7FA-BD414519D18E}" type="slidenum">
              <a:rPr lang="en-PK" smtClean="0"/>
              <a:t>7</a:t>
            </a:fld>
            <a:endParaRPr lang="en-PK"/>
          </a:p>
        </p:txBody>
      </p:sp>
    </p:spTree>
    <p:extLst>
      <p:ext uri="{BB962C8B-B14F-4D97-AF65-F5344CB8AC3E}">
        <p14:creationId xmlns:p14="http://schemas.microsoft.com/office/powerpoint/2010/main" val="9285650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Used Array</a:t>
            </a:r>
          </a:p>
          <a:p>
            <a:r>
              <a:rPr lang="en-US" dirty="0"/>
              <a:t>Fixed Size</a:t>
            </a:r>
          </a:p>
          <a:p>
            <a:r>
              <a:rPr lang="en-US" dirty="0"/>
              <a:t>Unused Array</a:t>
            </a:r>
          </a:p>
          <a:p>
            <a:endParaRPr lang="en-PK" dirty="0"/>
          </a:p>
        </p:txBody>
      </p:sp>
      <p:sp>
        <p:nvSpPr>
          <p:cNvPr id="4" name="Slide Number Placeholder 3"/>
          <p:cNvSpPr>
            <a:spLocks noGrp="1"/>
          </p:cNvSpPr>
          <p:nvPr>
            <p:ph type="sldNum" sz="quarter" idx="5"/>
          </p:nvPr>
        </p:nvSpPr>
        <p:spPr/>
        <p:txBody>
          <a:bodyPr/>
          <a:lstStyle/>
          <a:p>
            <a:fld id="{9C7CD17C-7785-4C2F-B7FA-BD414519D18E}" type="slidenum">
              <a:rPr lang="en-PK" smtClean="0"/>
              <a:t>8</a:t>
            </a:fld>
            <a:endParaRPr lang="en-PK"/>
          </a:p>
        </p:txBody>
      </p:sp>
    </p:spTree>
    <p:extLst>
      <p:ext uri="{BB962C8B-B14F-4D97-AF65-F5344CB8AC3E}">
        <p14:creationId xmlns:p14="http://schemas.microsoft.com/office/powerpoint/2010/main" val="42457243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9C7CD17C-7785-4C2F-B7FA-BD414519D18E}" type="slidenum">
              <a:rPr lang="en-PK" smtClean="0"/>
              <a:t>9</a:t>
            </a:fld>
            <a:endParaRPr lang="en-PK"/>
          </a:p>
        </p:txBody>
      </p:sp>
    </p:spTree>
    <p:extLst>
      <p:ext uri="{BB962C8B-B14F-4D97-AF65-F5344CB8AC3E}">
        <p14:creationId xmlns:p14="http://schemas.microsoft.com/office/powerpoint/2010/main" val="14770459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9C7CD17C-7785-4C2F-B7FA-BD414519D18E}" type="slidenum">
              <a:rPr lang="en-PK" smtClean="0"/>
              <a:t>10</a:t>
            </a:fld>
            <a:endParaRPr lang="en-PK"/>
          </a:p>
        </p:txBody>
      </p:sp>
    </p:spTree>
    <p:extLst>
      <p:ext uri="{BB962C8B-B14F-4D97-AF65-F5344CB8AC3E}">
        <p14:creationId xmlns:p14="http://schemas.microsoft.com/office/powerpoint/2010/main" val="2312014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 = 3</a:t>
            </a:r>
          </a:p>
          <a:p>
            <a:r>
              <a:rPr lang="en-US" dirty="0"/>
              <a:t>Num = 10</a:t>
            </a:r>
          </a:p>
          <a:p>
            <a:r>
              <a:rPr lang="en-US" dirty="0"/>
              <a:t>Then shift all the values and insert 10 in position 3.</a:t>
            </a:r>
          </a:p>
          <a:p>
            <a:endParaRPr lang="en-PK" dirty="0"/>
          </a:p>
        </p:txBody>
      </p:sp>
      <p:sp>
        <p:nvSpPr>
          <p:cNvPr id="4" name="Slide Number Placeholder 3"/>
          <p:cNvSpPr>
            <a:spLocks noGrp="1"/>
          </p:cNvSpPr>
          <p:nvPr>
            <p:ph type="sldNum" sz="quarter" idx="5"/>
          </p:nvPr>
        </p:nvSpPr>
        <p:spPr/>
        <p:txBody>
          <a:bodyPr/>
          <a:lstStyle/>
          <a:p>
            <a:fld id="{9C7CD17C-7785-4C2F-B7FA-BD414519D18E}" type="slidenum">
              <a:rPr lang="en-PK" smtClean="0"/>
              <a:t>11</a:t>
            </a:fld>
            <a:endParaRPr lang="en-PK"/>
          </a:p>
        </p:txBody>
      </p:sp>
    </p:spTree>
    <p:extLst>
      <p:ext uri="{BB962C8B-B14F-4D97-AF65-F5344CB8AC3E}">
        <p14:creationId xmlns:p14="http://schemas.microsoft.com/office/powerpoint/2010/main" val="771725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 = 3</a:t>
            </a:r>
          </a:p>
          <a:p>
            <a:r>
              <a:rPr lang="en-US" dirty="0"/>
              <a:t>Num = 10</a:t>
            </a:r>
          </a:p>
          <a:p>
            <a:r>
              <a:rPr lang="en-US" dirty="0"/>
              <a:t>Then shift all the values and insert 10 in position 3.</a:t>
            </a:r>
          </a:p>
          <a:p>
            <a:endParaRPr lang="en-US" dirty="0"/>
          </a:p>
          <a:p>
            <a:pPr marL="285750" indent="-285750">
              <a:buFontTx/>
              <a:buChar char="-"/>
            </a:pPr>
            <a:r>
              <a:rPr lang="en-US" dirty="0"/>
              <a:t>From beginning</a:t>
            </a:r>
          </a:p>
          <a:p>
            <a:pPr marL="285750" indent="-285750">
              <a:buFontTx/>
              <a:buChar char="-"/>
            </a:pPr>
            <a:r>
              <a:rPr lang="en-US" dirty="0"/>
              <a:t>From end</a:t>
            </a:r>
            <a:endParaRPr lang="en-PK" dirty="0"/>
          </a:p>
          <a:p>
            <a:endParaRPr lang="en-PK" dirty="0"/>
          </a:p>
        </p:txBody>
      </p:sp>
      <p:sp>
        <p:nvSpPr>
          <p:cNvPr id="4" name="Slide Number Placeholder 3"/>
          <p:cNvSpPr>
            <a:spLocks noGrp="1"/>
          </p:cNvSpPr>
          <p:nvPr>
            <p:ph type="sldNum" sz="quarter" idx="5"/>
          </p:nvPr>
        </p:nvSpPr>
        <p:spPr/>
        <p:txBody>
          <a:bodyPr/>
          <a:lstStyle/>
          <a:p>
            <a:fld id="{9C7CD17C-7785-4C2F-B7FA-BD414519D18E}" type="slidenum">
              <a:rPr lang="en-PK" smtClean="0"/>
              <a:t>12</a:t>
            </a:fld>
            <a:endParaRPr lang="en-PK"/>
          </a:p>
        </p:txBody>
      </p:sp>
    </p:spTree>
    <p:extLst>
      <p:ext uri="{BB962C8B-B14F-4D97-AF65-F5344CB8AC3E}">
        <p14:creationId xmlns:p14="http://schemas.microsoft.com/office/powerpoint/2010/main" val="6507136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K" sz="1800" dirty="0">
                <a:solidFill>
                  <a:srgbClr val="000088"/>
                </a:solidFill>
                <a:effectLst/>
              </a:rPr>
              <a:t>public</a:t>
            </a:r>
            <a:r>
              <a:rPr lang="en-PK" sz="1800" dirty="0">
                <a:solidFill>
                  <a:srgbClr val="000000"/>
                </a:solidFill>
                <a:effectLst/>
              </a:rPr>
              <a:t> </a:t>
            </a:r>
            <a:r>
              <a:rPr lang="en-PK" sz="1800" dirty="0">
                <a:solidFill>
                  <a:srgbClr val="000088"/>
                </a:solidFill>
                <a:effectLst/>
              </a:rPr>
              <a:t>class</a:t>
            </a:r>
            <a:r>
              <a:rPr lang="en-PK" sz="1800" dirty="0">
                <a:solidFill>
                  <a:srgbClr val="000000"/>
                </a:solidFill>
                <a:effectLst/>
              </a:rPr>
              <a:t> </a:t>
            </a:r>
            <a:r>
              <a:rPr lang="en-PK" sz="1800" dirty="0" err="1">
                <a:solidFill>
                  <a:srgbClr val="660066"/>
                </a:solidFill>
                <a:effectLst/>
              </a:rPr>
              <a:t>TestArray</a:t>
            </a:r>
            <a:r>
              <a:rPr lang="en-PK" sz="1800" dirty="0">
                <a:solidFill>
                  <a:srgbClr val="000000"/>
                </a:solidFill>
                <a:effectLst/>
              </a:rPr>
              <a:t> </a:t>
            </a:r>
            <a:r>
              <a:rPr lang="en-PK" sz="1800" dirty="0">
                <a:solidFill>
                  <a:srgbClr val="666600"/>
                </a:solidFill>
                <a:effectLst/>
              </a:rPr>
              <a:t>{</a:t>
            </a:r>
            <a:r>
              <a:rPr lang="en-PK" sz="1800" dirty="0">
                <a:solidFill>
                  <a:srgbClr val="000000"/>
                </a:solidFill>
                <a:effectLst/>
              </a:rPr>
              <a:t> </a:t>
            </a:r>
            <a:endParaRPr lang="en-US" sz="1800" dirty="0">
              <a:solidFill>
                <a:srgbClr val="0000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PK" sz="1800" dirty="0">
                <a:solidFill>
                  <a:srgbClr val="000088"/>
                </a:solidFill>
                <a:effectLst/>
              </a:rPr>
              <a:t>public</a:t>
            </a:r>
            <a:r>
              <a:rPr lang="en-PK" sz="1800" dirty="0">
                <a:solidFill>
                  <a:srgbClr val="000000"/>
                </a:solidFill>
                <a:effectLst/>
              </a:rPr>
              <a:t> </a:t>
            </a:r>
            <a:r>
              <a:rPr lang="en-PK" sz="1800" dirty="0">
                <a:solidFill>
                  <a:srgbClr val="000088"/>
                </a:solidFill>
                <a:effectLst/>
              </a:rPr>
              <a:t>static</a:t>
            </a:r>
            <a:r>
              <a:rPr lang="en-PK" sz="1800" dirty="0">
                <a:solidFill>
                  <a:srgbClr val="000000"/>
                </a:solidFill>
                <a:effectLst/>
              </a:rPr>
              <a:t> </a:t>
            </a:r>
            <a:r>
              <a:rPr lang="en-PK" sz="1800" dirty="0">
                <a:solidFill>
                  <a:srgbClr val="000088"/>
                </a:solidFill>
                <a:effectLst/>
              </a:rPr>
              <a:t>void</a:t>
            </a:r>
            <a:r>
              <a:rPr lang="en-PK" sz="1800" dirty="0">
                <a:solidFill>
                  <a:srgbClr val="000000"/>
                </a:solidFill>
                <a:effectLst/>
              </a:rPr>
              <a:t> main</a:t>
            </a:r>
            <a:r>
              <a:rPr lang="en-PK" sz="1800" dirty="0">
                <a:solidFill>
                  <a:srgbClr val="666600"/>
                </a:solidFill>
                <a:effectLst/>
              </a:rPr>
              <a:t>(</a:t>
            </a:r>
            <a:r>
              <a:rPr lang="en-PK" sz="1800" dirty="0">
                <a:solidFill>
                  <a:srgbClr val="660066"/>
                </a:solidFill>
                <a:effectLst/>
              </a:rPr>
              <a:t>String</a:t>
            </a:r>
            <a:r>
              <a:rPr lang="en-PK" sz="1800" dirty="0">
                <a:solidFill>
                  <a:srgbClr val="666600"/>
                </a:solidFill>
                <a:effectLst/>
              </a:rPr>
              <a:t>[]</a:t>
            </a:r>
            <a:r>
              <a:rPr lang="en-PK" sz="1800" dirty="0">
                <a:solidFill>
                  <a:srgbClr val="000000"/>
                </a:solidFill>
                <a:effectLst/>
              </a:rPr>
              <a:t> </a:t>
            </a:r>
            <a:r>
              <a:rPr lang="en-PK" sz="1800" dirty="0" err="1">
                <a:solidFill>
                  <a:srgbClr val="000000"/>
                </a:solidFill>
                <a:effectLst/>
              </a:rPr>
              <a:t>args</a:t>
            </a:r>
            <a:r>
              <a:rPr lang="en-PK" sz="1800" dirty="0">
                <a:solidFill>
                  <a:srgbClr val="666600"/>
                </a:solidFill>
                <a:effectLst/>
              </a:rPr>
              <a:t>)</a:t>
            </a:r>
            <a:r>
              <a:rPr lang="en-PK" sz="1800" dirty="0">
                <a:solidFill>
                  <a:srgbClr val="000000"/>
                </a:solidFill>
                <a:effectLst/>
              </a:rPr>
              <a:t> </a:t>
            </a:r>
            <a:r>
              <a:rPr lang="en-PK" sz="1800" dirty="0">
                <a:solidFill>
                  <a:srgbClr val="666600"/>
                </a:solidFill>
                <a:effectLst/>
              </a:rPr>
              <a:t>{</a:t>
            </a:r>
            <a:endParaRPr lang="en-US" sz="1800" dirty="0">
              <a:solidFill>
                <a:srgbClr val="6666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PK" sz="1800" dirty="0">
                <a:solidFill>
                  <a:srgbClr val="000088"/>
                </a:solidFill>
                <a:effectLst/>
              </a:rPr>
              <a:t>double</a:t>
            </a:r>
            <a:r>
              <a:rPr lang="en-PK" sz="1800" dirty="0">
                <a:solidFill>
                  <a:srgbClr val="666600"/>
                </a:solidFill>
                <a:effectLst/>
              </a:rPr>
              <a:t>[]</a:t>
            </a:r>
            <a:r>
              <a:rPr lang="en-PK" sz="1800" dirty="0">
                <a:solidFill>
                  <a:srgbClr val="000000"/>
                </a:solidFill>
                <a:effectLst/>
              </a:rPr>
              <a:t> </a:t>
            </a:r>
            <a:r>
              <a:rPr lang="en-PK" sz="1800" dirty="0" err="1">
                <a:solidFill>
                  <a:srgbClr val="000000"/>
                </a:solidFill>
                <a:effectLst/>
              </a:rPr>
              <a:t>myList</a:t>
            </a:r>
            <a:r>
              <a:rPr lang="en-PK" sz="1800" dirty="0">
                <a:solidFill>
                  <a:srgbClr val="000000"/>
                </a:solidFill>
                <a:effectLst/>
              </a:rPr>
              <a:t> </a:t>
            </a:r>
            <a:r>
              <a:rPr lang="en-PK" sz="1800" dirty="0">
                <a:solidFill>
                  <a:srgbClr val="666600"/>
                </a:solidFill>
                <a:effectLst/>
              </a:rPr>
              <a:t>=</a:t>
            </a:r>
            <a:r>
              <a:rPr lang="en-PK" sz="1800" dirty="0">
                <a:solidFill>
                  <a:srgbClr val="000000"/>
                </a:solidFill>
                <a:effectLst/>
              </a:rPr>
              <a:t> </a:t>
            </a:r>
            <a:r>
              <a:rPr lang="en-PK" sz="1800" dirty="0">
                <a:solidFill>
                  <a:srgbClr val="666600"/>
                </a:solidFill>
                <a:effectLst/>
              </a:rPr>
              <a:t>{</a:t>
            </a:r>
            <a:r>
              <a:rPr lang="en-PK" sz="1800" dirty="0">
                <a:solidFill>
                  <a:srgbClr val="006666"/>
                </a:solidFill>
                <a:effectLst/>
              </a:rPr>
              <a:t>1.9</a:t>
            </a:r>
            <a:r>
              <a:rPr lang="en-PK" sz="1800" dirty="0">
                <a:solidFill>
                  <a:srgbClr val="666600"/>
                </a:solidFill>
                <a:effectLst/>
              </a:rPr>
              <a:t>,</a:t>
            </a:r>
            <a:r>
              <a:rPr lang="en-PK" sz="1800" dirty="0">
                <a:solidFill>
                  <a:srgbClr val="000000"/>
                </a:solidFill>
                <a:effectLst/>
              </a:rPr>
              <a:t> </a:t>
            </a:r>
            <a:r>
              <a:rPr lang="en-PK" sz="1800" dirty="0">
                <a:solidFill>
                  <a:srgbClr val="006666"/>
                </a:solidFill>
                <a:effectLst/>
              </a:rPr>
              <a:t>2.9</a:t>
            </a:r>
            <a:r>
              <a:rPr lang="en-PK" sz="1800" dirty="0">
                <a:solidFill>
                  <a:srgbClr val="666600"/>
                </a:solidFill>
                <a:effectLst/>
              </a:rPr>
              <a:t>,</a:t>
            </a:r>
            <a:r>
              <a:rPr lang="en-PK" sz="1800" dirty="0">
                <a:solidFill>
                  <a:srgbClr val="000000"/>
                </a:solidFill>
                <a:effectLst/>
              </a:rPr>
              <a:t> </a:t>
            </a:r>
            <a:r>
              <a:rPr lang="en-PK" sz="1800" dirty="0">
                <a:solidFill>
                  <a:srgbClr val="006666"/>
                </a:solidFill>
                <a:effectLst/>
              </a:rPr>
              <a:t>3.4</a:t>
            </a:r>
            <a:r>
              <a:rPr lang="en-PK" sz="1800" dirty="0">
                <a:solidFill>
                  <a:srgbClr val="666600"/>
                </a:solidFill>
                <a:effectLst/>
              </a:rPr>
              <a:t>,</a:t>
            </a:r>
            <a:r>
              <a:rPr lang="en-PK" sz="1800" dirty="0">
                <a:solidFill>
                  <a:srgbClr val="000000"/>
                </a:solidFill>
                <a:effectLst/>
              </a:rPr>
              <a:t> </a:t>
            </a:r>
            <a:r>
              <a:rPr lang="en-PK" sz="1800" dirty="0">
                <a:solidFill>
                  <a:srgbClr val="006666"/>
                </a:solidFill>
                <a:effectLst/>
              </a:rPr>
              <a:t>3.5</a:t>
            </a:r>
            <a:r>
              <a:rPr lang="en-PK" sz="1800" dirty="0">
                <a:solidFill>
                  <a:srgbClr val="666600"/>
                </a:solidFill>
                <a:effectLst/>
              </a:rPr>
              <a:t>};</a:t>
            </a:r>
            <a:endParaRPr lang="en-US" sz="1800" dirty="0">
              <a:solidFill>
                <a:srgbClr val="6666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PK" sz="1800" dirty="0">
                <a:solidFill>
                  <a:srgbClr val="880000"/>
                </a:solidFill>
                <a:effectLst/>
              </a:rPr>
              <a:t>// Print all the array elements</a:t>
            </a:r>
            <a:endParaRPr lang="en-US" sz="1800" dirty="0">
              <a:solidFill>
                <a:srgbClr val="8800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PK" sz="1800" dirty="0">
                <a:solidFill>
                  <a:srgbClr val="000088"/>
                </a:solidFill>
                <a:effectLst/>
              </a:rPr>
              <a:t>for</a:t>
            </a:r>
            <a:r>
              <a:rPr lang="en-PK" sz="1800" dirty="0">
                <a:solidFill>
                  <a:srgbClr val="000000"/>
                </a:solidFill>
                <a:effectLst/>
              </a:rPr>
              <a:t> </a:t>
            </a:r>
            <a:r>
              <a:rPr lang="en-PK" sz="1800" dirty="0">
                <a:solidFill>
                  <a:srgbClr val="666600"/>
                </a:solidFill>
                <a:effectLst/>
              </a:rPr>
              <a:t>(</a:t>
            </a:r>
            <a:r>
              <a:rPr lang="en-PK" sz="1800" dirty="0">
                <a:solidFill>
                  <a:srgbClr val="000088"/>
                </a:solidFill>
                <a:effectLst/>
              </a:rPr>
              <a:t>int</a:t>
            </a:r>
            <a:r>
              <a:rPr lang="en-PK" sz="1800" dirty="0">
                <a:solidFill>
                  <a:srgbClr val="000000"/>
                </a:solidFill>
                <a:effectLst/>
              </a:rPr>
              <a:t> </a:t>
            </a:r>
            <a:r>
              <a:rPr lang="en-PK" sz="1800" dirty="0" err="1">
                <a:solidFill>
                  <a:srgbClr val="000000"/>
                </a:solidFill>
                <a:effectLst/>
              </a:rPr>
              <a:t>i</a:t>
            </a:r>
            <a:r>
              <a:rPr lang="en-PK" sz="1800" dirty="0">
                <a:solidFill>
                  <a:srgbClr val="000000"/>
                </a:solidFill>
                <a:effectLst/>
              </a:rPr>
              <a:t> </a:t>
            </a:r>
            <a:r>
              <a:rPr lang="en-PK" sz="1800" dirty="0">
                <a:solidFill>
                  <a:srgbClr val="666600"/>
                </a:solidFill>
                <a:effectLst/>
              </a:rPr>
              <a:t>=</a:t>
            </a:r>
            <a:r>
              <a:rPr lang="en-PK" sz="1800" dirty="0">
                <a:solidFill>
                  <a:srgbClr val="000000"/>
                </a:solidFill>
                <a:effectLst/>
              </a:rPr>
              <a:t> </a:t>
            </a:r>
            <a:r>
              <a:rPr lang="en-PK" sz="1800" dirty="0">
                <a:solidFill>
                  <a:srgbClr val="006666"/>
                </a:solidFill>
                <a:effectLst/>
              </a:rPr>
              <a:t>0</a:t>
            </a:r>
            <a:r>
              <a:rPr lang="en-PK" sz="1800" dirty="0">
                <a:solidFill>
                  <a:srgbClr val="666600"/>
                </a:solidFill>
                <a:effectLst/>
              </a:rPr>
              <a:t>;</a:t>
            </a:r>
            <a:r>
              <a:rPr lang="en-PK" sz="1800" dirty="0">
                <a:solidFill>
                  <a:srgbClr val="000000"/>
                </a:solidFill>
                <a:effectLst/>
              </a:rPr>
              <a:t> </a:t>
            </a:r>
            <a:r>
              <a:rPr lang="en-PK" sz="1800" dirty="0" err="1">
                <a:solidFill>
                  <a:srgbClr val="000000"/>
                </a:solidFill>
                <a:effectLst/>
              </a:rPr>
              <a:t>i</a:t>
            </a:r>
            <a:r>
              <a:rPr lang="en-PK" sz="1800" dirty="0">
                <a:solidFill>
                  <a:srgbClr val="000000"/>
                </a:solidFill>
                <a:effectLst/>
              </a:rPr>
              <a:t> </a:t>
            </a:r>
            <a:r>
              <a:rPr lang="en-PK" sz="1800" dirty="0">
                <a:solidFill>
                  <a:srgbClr val="666600"/>
                </a:solidFill>
                <a:effectLst/>
              </a:rPr>
              <a:t>&lt;</a:t>
            </a:r>
            <a:r>
              <a:rPr lang="en-PK" sz="1800" dirty="0">
                <a:solidFill>
                  <a:srgbClr val="000000"/>
                </a:solidFill>
                <a:effectLst/>
              </a:rPr>
              <a:t> </a:t>
            </a:r>
            <a:r>
              <a:rPr lang="en-PK" sz="1800" dirty="0" err="1">
                <a:solidFill>
                  <a:srgbClr val="000000"/>
                </a:solidFill>
                <a:effectLst/>
              </a:rPr>
              <a:t>myList</a:t>
            </a:r>
            <a:r>
              <a:rPr lang="en-PK" sz="1800" dirty="0" err="1">
                <a:solidFill>
                  <a:srgbClr val="666600"/>
                </a:solidFill>
                <a:effectLst/>
              </a:rPr>
              <a:t>.</a:t>
            </a:r>
            <a:r>
              <a:rPr lang="en-PK" sz="1800" dirty="0" err="1">
                <a:solidFill>
                  <a:srgbClr val="000000"/>
                </a:solidFill>
                <a:effectLst/>
              </a:rPr>
              <a:t>length</a:t>
            </a:r>
            <a:r>
              <a:rPr lang="en-PK" sz="1800" dirty="0">
                <a:solidFill>
                  <a:srgbClr val="666600"/>
                </a:solidFill>
                <a:effectLst/>
              </a:rPr>
              <a:t>;</a:t>
            </a:r>
            <a:r>
              <a:rPr lang="en-PK" sz="1800" dirty="0">
                <a:solidFill>
                  <a:srgbClr val="000000"/>
                </a:solidFill>
                <a:effectLst/>
              </a:rPr>
              <a:t> </a:t>
            </a:r>
            <a:r>
              <a:rPr lang="en-PK" sz="1800" dirty="0" err="1">
                <a:solidFill>
                  <a:srgbClr val="000000"/>
                </a:solidFill>
                <a:effectLst/>
              </a:rPr>
              <a:t>i</a:t>
            </a:r>
            <a:r>
              <a:rPr lang="en-PK" sz="1800" dirty="0">
                <a:solidFill>
                  <a:srgbClr val="666600"/>
                </a:solidFill>
                <a:effectLst/>
              </a:rPr>
              <a:t>++)</a:t>
            </a:r>
            <a:r>
              <a:rPr lang="en-PK" sz="1800" dirty="0">
                <a:solidFill>
                  <a:srgbClr val="000000"/>
                </a:solidFill>
                <a:effectLst/>
              </a:rPr>
              <a:t> </a:t>
            </a:r>
            <a:r>
              <a:rPr lang="en-PK" sz="1800" dirty="0">
                <a:solidFill>
                  <a:srgbClr val="666600"/>
                </a:solidFill>
                <a:effectLst/>
              </a:rPr>
              <a:t>{</a:t>
            </a:r>
            <a:endParaRPr lang="en-US" sz="1800" dirty="0">
              <a:solidFill>
                <a:srgbClr val="6666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PK" sz="1800" dirty="0" err="1">
                <a:solidFill>
                  <a:srgbClr val="660066"/>
                </a:solidFill>
                <a:effectLst/>
              </a:rPr>
              <a:t>System</a:t>
            </a:r>
            <a:r>
              <a:rPr lang="en-PK" sz="1800" dirty="0" err="1">
                <a:solidFill>
                  <a:srgbClr val="666600"/>
                </a:solidFill>
                <a:effectLst/>
              </a:rPr>
              <a:t>.</a:t>
            </a:r>
            <a:r>
              <a:rPr lang="en-PK" sz="1800" dirty="0" err="1">
                <a:solidFill>
                  <a:srgbClr val="000088"/>
                </a:solidFill>
                <a:effectLst/>
              </a:rPr>
              <a:t>out</a:t>
            </a:r>
            <a:r>
              <a:rPr lang="en-PK" sz="1800" dirty="0" err="1">
                <a:solidFill>
                  <a:srgbClr val="666600"/>
                </a:solidFill>
                <a:effectLst/>
              </a:rPr>
              <a:t>.</a:t>
            </a:r>
            <a:r>
              <a:rPr lang="en-PK" sz="1800" dirty="0" err="1">
                <a:solidFill>
                  <a:srgbClr val="000000"/>
                </a:solidFill>
                <a:effectLst/>
              </a:rPr>
              <a:t>println</a:t>
            </a:r>
            <a:r>
              <a:rPr lang="en-PK" sz="1800" dirty="0">
                <a:solidFill>
                  <a:srgbClr val="666600"/>
                </a:solidFill>
                <a:effectLst/>
              </a:rPr>
              <a:t>(</a:t>
            </a:r>
            <a:r>
              <a:rPr lang="en-PK" sz="1800" dirty="0" err="1">
                <a:solidFill>
                  <a:srgbClr val="000000"/>
                </a:solidFill>
                <a:effectLst/>
              </a:rPr>
              <a:t>myList</a:t>
            </a:r>
            <a:r>
              <a:rPr lang="en-PK" sz="1800" dirty="0">
                <a:solidFill>
                  <a:srgbClr val="666600"/>
                </a:solidFill>
                <a:effectLst/>
              </a:rPr>
              <a:t>[</a:t>
            </a:r>
            <a:r>
              <a:rPr lang="en-PK" sz="1800" dirty="0" err="1">
                <a:solidFill>
                  <a:srgbClr val="000000"/>
                </a:solidFill>
                <a:effectLst/>
              </a:rPr>
              <a:t>i</a:t>
            </a:r>
            <a:r>
              <a:rPr lang="en-PK" sz="1800" dirty="0">
                <a:solidFill>
                  <a:srgbClr val="666600"/>
                </a:solidFill>
                <a:effectLst/>
              </a:rPr>
              <a:t>]</a:t>
            </a:r>
            <a:r>
              <a:rPr lang="en-PK" sz="1800" dirty="0">
                <a:solidFill>
                  <a:srgbClr val="000000"/>
                </a:solidFill>
                <a:effectLst/>
              </a:rPr>
              <a:t> </a:t>
            </a:r>
            <a:r>
              <a:rPr lang="en-PK" sz="1800" dirty="0">
                <a:solidFill>
                  <a:srgbClr val="666600"/>
                </a:solidFill>
                <a:effectLst/>
              </a:rPr>
              <a:t>+</a:t>
            </a:r>
            <a:r>
              <a:rPr lang="en-PK" sz="1800" dirty="0">
                <a:solidFill>
                  <a:srgbClr val="000000"/>
                </a:solidFill>
                <a:effectLst/>
              </a:rPr>
              <a:t> </a:t>
            </a:r>
            <a:r>
              <a:rPr lang="en-PK" sz="1800" dirty="0">
                <a:solidFill>
                  <a:srgbClr val="008800"/>
                </a:solidFill>
                <a:effectLst/>
              </a:rPr>
              <a:t>" "</a:t>
            </a:r>
            <a:r>
              <a:rPr lang="en-PK" sz="1800" dirty="0">
                <a:solidFill>
                  <a:srgbClr val="666600"/>
                </a:solidFill>
                <a:effectLst/>
              </a:rPr>
              <a:t>);</a:t>
            </a:r>
            <a:endParaRPr lang="en-US" sz="1800" dirty="0">
              <a:solidFill>
                <a:srgbClr val="6666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PK" sz="1800" dirty="0">
                <a:solidFill>
                  <a:srgbClr val="666600"/>
                </a:solidFill>
                <a:effectLst/>
              </a:rPr>
              <a:t>}</a:t>
            </a:r>
            <a:r>
              <a:rPr lang="en-PK" sz="1800" dirty="0">
                <a:solidFill>
                  <a:srgbClr val="000000"/>
                </a:solidFill>
                <a:effectLst/>
              </a:rPr>
              <a:t> </a:t>
            </a:r>
            <a:endParaRPr lang="en-US" sz="1800" dirty="0">
              <a:solidFill>
                <a:srgbClr val="0000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solidFill>
                <a:srgbClr val="0000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solidFill>
                <a:srgbClr val="0000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PK" sz="1800" dirty="0">
                <a:solidFill>
                  <a:srgbClr val="000000"/>
                </a:solidFill>
                <a:effectLst/>
              </a:rPr>
              <a:t> </a:t>
            </a:r>
            <a:r>
              <a:rPr lang="en-PK" sz="1800" dirty="0">
                <a:solidFill>
                  <a:srgbClr val="880000"/>
                </a:solidFill>
                <a:effectLst/>
              </a:rPr>
              <a:t>// Summing all elements</a:t>
            </a:r>
            <a:endParaRPr lang="en-US" sz="1800" dirty="0">
              <a:solidFill>
                <a:srgbClr val="8800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PK" sz="1800" dirty="0">
                <a:solidFill>
                  <a:srgbClr val="000088"/>
                </a:solidFill>
                <a:effectLst/>
              </a:rPr>
              <a:t>double</a:t>
            </a:r>
            <a:r>
              <a:rPr lang="en-PK" sz="1800" dirty="0">
                <a:solidFill>
                  <a:srgbClr val="000000"/>
                </a:solidFill>
                <a:effectLst/>
              </a:rPr>
              <a:t> total </a:t>
            </a:r>
            <a:r>
              <a:rPr lang="en-PK" sz="1800" dirty="0">
                <a:solidFill>
                  <a:srgbClr val="666600"/>
                </a:solidFill>
                <a:effectLst/>
              </a:rPr>
              <a:t>=</a:t>
            </a:r>
            <a:r>
              <a:rPr lang="en-PK" sz="1800" dirty="0">
                <a:solidFill>
                  <a:srgbClr val="000000"/>
                </a:solidFill>
                <a:effectLst/>
              </a:rPr>
              <a:t> </a:t>
            </a:r>
            <a:r>
              <a:rPr lang="en-PK" sz="1800" dirty="0">
                <a:solidFill>
                  <a:srgbClr val="006666"/>
                </a:solidFill>
                <a:effectLst/>
              </a:rPr>
              <a:t>0</a:t>
            </a:r>
            <a:r>
              <a:rPr lang="en-PK" sz="1800" dirty="0">
                <a:solidFill>
                  <a:srgbClr val="666600"/>
                </a:solidFill>
                <a:effectLst/>
              </a:rPr>
              <a:t>;</a:t>
            </a:r>
            <a:endParaRPr lang="en-US" sz="1800" dirty="0">
              <a:solidFill>
                <a:srgbClr val="6666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PK" sz="1800" dirty="0">
                <a:solidFill>
                  <a:srgbClr val="000088"/>
                </a:solidFill>
                <a:effectLst/>
              </a:rPr>
              <a:t>for</a:t>
            </a:r>
            <a:r>
              <a:rPr lang="en-PK" sz="1800" dirty="0">
                <a:solidFill>
                  <a:srgbClr val="000000"/>
                </a:solidFill>
                <a:effectLst/>
              </a:rPr>
              <a:t> </a:t>
            </a:r>
            <a:r>
              <a:rPr lang="en-PK" sz="1800" dirty="0">
                <a:solidFill>
                  <a:srgbClr val="666600"/>
                </a:solidFill>
                <a:effectLst/>
              </a:rPr>
              <a:t>(</a:t>
            </a:r>
            <a:r>
              <a:rPr lang="en-PK" sz="1800" dirty="0">
                <a:solidFill>
                  <a:srgbClr val="000088"/>
                </a:solidFill>
                <a:effectLst/>
              </a:rPr>
              <a:t>int</a:t>
            </a:r>
            <a:r>
              <a:rPr lang="en-PK" sz="1800" dirty="0">
                <a:solidFill>
                  <a:srgbClr val="000000"/>
                </a:solidFill>
                <a:effectLst/>
              </a:rPr>
              <a:t> </a:t>
            </a:r>
            <a:r>
              <a:rPr lang="en-PK" sz="1800" dirty="0" err="1">
                <a:solidFill>
                  <a:srgbClr val="000000"/>
                </a:solidFill>
                <a:effectLst/>
              </a:rPr>
              <a:t>i</a:t>
            </a:r>
            <a:r>
              <a:rPr lang="en-PK" sz="1800" dirty="0">
                <a:solidFill>
                  <a:srgbClr val="000000"/>
                </a:solidFill>
                <a:effectLst/>
              </a:rPr>
              <a:t> </a:t>
            </a:r>
            <a:r>
              <a:rPr lang="en-PK" sz="1800" dirty="0">
                <a:solidFill>
                  <a:srgbClr val="666600"/>
                </a:solidFill>
                <a:effectLst/>
              </a:rPr>
              <a:t>=</a:t>
            </a:r>
            <a:r>
              <a:rPr lang="en-PK" sz="1800" dirty="0">
                <a:solidFill>
                  <a:srgbClr val="000000"/>
                </a:solidFill>
                <a:effectLst/>
              </a:rPr>
              <a:t> </a:t>
            </a:r>
            <a:r>
              <a:rPr lang="en-PK" sz="1800" dirty="0">
                <a:solidFill>
                  <a:srgbClr val="006666"/>
                </a:solidFill>
                <a:effectLst/>
              </a:rPr>
              <a:t>0</a:t>
            </a:r>
            <a:r>
              <a:rPr lang="en-PK" sz="1800" dirty="0">
                <a:solidFill>
                  <a:srgbClr val="666600"/>
                </a:solidFill>
                <a:effectLst/>
              </a:rPr>
              <a:t>;</a:t>
            </a:r>
            <a:r>
              <a:rPr lang="en-PK" sz="1800" dirty="0">
                <a:solidFill>
                  <a:srgbClr val="000000"/>
                </a:solidFill>
                <a:effectLst/>
              </a:rPr>
              <a:t> </a:t>
            </a:r>
            <a:r>
              <a:rPr lang="en-PK" sz="1800" dirty="0" err="1">
                <a:solidFill>
                  <a:srgbClr val="000000"/>
                </a:solidFill>
                <a:effectLst/>
              </a:rPr>
              <a:t>i</a:t>
            </a:r>
            <a:r>
              <a:rPr lang="en-PK" sz="1800" dirty="0">
                <a:solidFill>
                  <a:srgbClr val="000000"/>
                </a:solidFill>
                <a:effectLst/>
              </a:rPr>
              <a:t> </a:t>
            </a:r>
            <a:r>
              <a:rPr lang="en-PK" sz="1800" dirty="0">
                <a:solidFill>
                  <a:srgbClr val="666600"/>
                </a:solidFill>
                <a:effectLst/>
              </a:rPr>
              <a:t>&lt;</a:t>
            </a:r>
            <a:r>
              <a:rPr lang="en-PK" sz="1800" dirty="0">
                <a:solidFill>
                  <a:srgbClr val="000000"/>
                </a:solidFill>
                <a:effectLst/>
              </a:rPr>
              <a:t> </a:t>
            </a:r>
            <a:r>
              <a:rPr lang="en-PK" sz="1800" dirty="0" err="1">
                <a:solidFill>
                  <a:srgbClr val="000000"/>
                </a:solidFill>
                <a:effectLst/>
              </a:rPr>
              <a:t>myList</a:t>
            </a:r>
            <a:r>
              <a:rPr lang="en-PK" sz="1800" dirty="0" err="1">
                <a:solidFill>
                  <a:srgbClr val="666600"/>
                </a:solidFill>
                <a:effectLst/>
              </a:rPr>
              <a:t>.</a:t>
            </a:r>
            <a:r>
              <a:rPr lang="en-PK" sz="1800" dirty="0" err="1">
                <a:solidFill>
                  <a:srgbClr val="000000"/>
                </a:solidFill>
                <a:effectLst/>
              </a:rPr>
              <a:t>length</a:t>
            </a:r>
            <a:r>
              <a:rPr lang="en-PK" sz="1800" dirty="0">
                <a:solidFill>
                  <a:srgbClr val="666600"/>
                </a:solidFill>
                <a:effectLst/>
              </a:rPr>
              <a:t>;</a:t>
            </a:r>
            <a:r>
              <a:rPr lang="en-PK" sz="1800" dirty="0">
                <a:solidFill>
                  <a:srgbClr val="000000"/>
                </a:solidFill>
                <a:effectLst/>
              </a:rPr>
              <a:t> </a:t>
            </a:r>
            <a:r>
              <a:rPr lang="en-PK" sz="1800" dirty="0" err="1">
                <a:solidFill>
                  <a:srgbClr val="000000"/>
                </a:solidFill>
                <a:effectLst/>
              </a:rPr>
              <a:t>i</a:t>
            </a:r>
            <a:r>
              <a:rPr lang="en-PK" sz="1800" dirty="0">
                <a:solidFill>
                  <a:srgbClr val="666600"/>
                </a:solidFill>
                <a:effectLst/>
              </a:rPr>
              <a:t>++)</a:t>
            </a:r>
            <a:r>
              <a:rPr lang="en-PK" sz="1800" dirty="0">
                <a:solidFill>
                  <a:srgbClr val="000000"/>
                </a:solidFill>
                <a:effectLst/>
              </a:rPr>
              <a:t> </a:t>
            </a:r>
            <a:r>
              <a:rPr lang="en-PK" sz="1800" dirty="0">
                <a:solidFill>
                  <a:srgbClr val="666600"/>
                </a:solidFill>
                <a:effectLst/>
              </a:rPr>
              <a:t>{</a:t>
            </a:r>
            <a:endParaRPr lang="en-US" sz="1800" dirty="0">
              <a:solidFill>
                <a:srgbClr val="6666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PK" sz="1800" dirty="0">
                <a:solidFill>
                  <a:srgbClr val="000000"/>
                </a:solidFill>
                <a:effectLst/>
              </a:rPr>
              <a:t>total </a:t>
            </a:r>
            <a:r>
              <a:rPr lang="en-PK" sz="1800" dirty="0">
                <a:solidFill>
                  <a:srgbClr val="666600"/>
                </a:solidFill>
                <a:effectLst/>
              </a:rPr>
              <a:t>+=</a:t>
            </a:r>
            <a:r>
              <a:rPr lang="en-PK" sz="1800" dirty="0">
                <a:solidFill>
                  <a:srgbClr val="000000"/>
                </a:solidFill>
                <a:effectLst/>
              </a:rPr>
              <a:t> </a:t>
            </a:r>
            <a:r>
              <a:rPr lang="en-PK" sz="1800" dirty="0" err="1">
                <a:solidFill>
                  <a:srgbClr val="000000"/>
                </a:solidFill>
                <a:effectLst/>
              </a:rPr>
              <a:t>myList</a:t>
            </a:r>
            <a:r>
              <a:rPr lang="en-PK" sz="1800" dirty="0">
                <a:solidFill>
                  <a:srgbClr val="666600"/>
                </a:solidFill>
                <a:effectLst/>
              </a:rPr>
              <a:t>[</a:t>
            </a:r>
            <a:r>
              <a:rPr lang="en-PK" sz="1800" dirty="0" err="1">
                <a:solidFill>
                  <a:srgbClr val="000000"/>
                </a:solidFill>
                <a:effectLst/>
              </a:rPr>
              <a:t>i</a:t>
            </a:r>
            <a:r>
              <a:rPr lang="en-PK" sz="1800" dirty="0">
                <a:solidFill>
                  <a:srgbClr val="666600"/>
                </a:solidFill>
                <a:effectLst/>
              </a:rPr>
              <a:t>];</a:t>
            </a:r>
            <a:endParaRPr lang="en-US" sz="1800" dirty="0">
              <a:solidFill>
                <a:srgbClr val="6666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PK" sz="1800" dirty="0">
                <a:solidFill>
                  <a:srgbClr val="666600"/>
                </a:solidFill>
                <a:effectLst/>
              </a:rPr>
              <a:t>}</a:t>
            </a:r>
            <a:endParaRPr lang="en-US" sz="1800" dirty="0">
              <a:solidFill>
                <a:srgbClr val="6666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PK" sz="1800" dirty="0" err="1">
                <a:solidFill>
                  <a:srgbClr val="660066"/>
                </a:solidFill>
                <a:effectLst/>
              </a:rPr>
              <a:t>System</a:t>
            </a:r>
            <a:r>
              <a:rPr lang="en-PK" sz="1800" dirty="0" err="1">
                <a:solidFill>
                  <a:srgbClr val="666600"/>
                </a:solidFill>
                <a:effectLst/>
              </a:rPr>
              <a:t>.</a:t>
            </a:r>
            <a:r>
              <a:rPr lang="en-PK" sz="1800" dirty="0" err="1">
                <a:solidFill>
                  <a:srgbClr val="000088"/>
                </a:solidFill>
                <a:effectLst/>
              </a:rPr>
              <a:t>out</a:t>
            </a:r>
            <a:r>
              <a:rPr lang="en-PK" sz="1800" dirty="0" err="1">
                <a:solidFill>
                  <a:srgbClr val="666600"/>
                </a:solidFill>
                <a:effectLst/>
              </a:rPr>
              <a:t>.</a:t>
            </a:r>
            <a:r>
              <a:rPr lang="en-PK" sz="1800" dirty="0" err="1">
                <a:solidFill>
                  <a:srgbClr val="000000"/>
                </a:solidFill>
                <a:effectLst/>
              </a:rPr>
              <a:t>println</a:t>
            </a:r>
            <a:r>
              <a:rPr lang="en-PK" sz="1800" dirty="0">
                <a:solidFill>
                  <a:srgbClr val="666600"/>
                </a:solidFill>
                <a:effectLst/>
              </a:rPr>
              <a:t>(</a:t>
            </a:r>
            <a:r>
              <a:rPr lang="en-PK" sz="1800" dirty="0">
                <a:solidFill>
                  <a:srgbClr val="008800"/>
                </a:solidFill>
                <a:effectLst/>
              </a:rPr>
              <a:t>"Total is "</a:t>
            </a:r>
            <a:r>
              <a:rPr lang="en-PK" sz="1800" dirty="0">
                <a:solidFill>
                  <a:srgbClr val="000000"/>
                </a:solidFill>
                <a:effectLst/>
              </a:rPr>
              <a:t> </a:t>
            </a:r>
            <a:r>
              <a:rPr lang="en-PK" sz="1800" dirty="0">
                <a:solidFill>
                  <a:srgbClr val="666600"/>
                </a:solidFill>
                <a:effectLst/>
              </a:rPr>
              <a:t>+</a:t>
            </a:r>
            <a:r>
              <a:rPr lang="en-PK" sz="1800" dirty="0">
                <a:solidFill>
                  <a:srgbClr val="000000"/>
                </a:solidFill>
                <a:effectLst/>
              </a:rPr>
              <a:t> total</a:t>
            </a:r>
            <a:r>
              <a:rPr lang="en-PK" sz="1800" dirty="0">
                <a:solidFill>
                  <a:srgbClr val="666600"/>
                </a:solidFill>
                <a:effectLst/>
              </a:rPr>
              <a:t>);</a:t>
            </a:r>
            <a:endParaRPr lang="en-US" sz="1800" dirty="0">
              <a:solidFill>
                <a:srgbClr val="6666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solidFill>
                <a:srgbClr val="8800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PK" sz="1800" dirty="0">
                <a:solidFill>
                  <a:srgbClr val="880000"/>
                </a:solidFill>
                <a:effectLst/>
              </a:rPr>
              <a:t>// Finding the largest element</a:t>
            </a:r>
            <a:endParaRPr lang="en-US" sz="1800" dirty="0">
              <a:solidFill>
                <a:srgbClr val="8800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PK" sz="1800" dirty="0">
                <a:solidFill>
                  <a:srgbClr val="000088"/>
                </a:solidFill>
                <a:effectLst/>
              </a:rPr>
              <a:t>double</a:t>
            </a:r>
            <a:r>
              <a:rPr lang="en-PK" sz="1800" dirty="0">
                <a:solidFill>
                  <a:srgbClr val="000000"/>
                </a:solidFill>
                <a:effectLst/>
              </a:rPr>
              <a:t> max </a:t>
            </a:r>
            <a:r>
              <a:rPr lang="en-PK" sz="1800" dirty="0">
                <a:solidFill>
                  <a:srgbClr val="666600"/>
                </a:solidFill>
                <a:effectLst/>
              </a:rPr>
              <a:t>=</a:t>
            </a:r>
            <a:r>
              <a:rPr lang="en-PK" sz="1800" dirty="0">
                <a:solidFill>
                  <a:srgbClr val="000000"/>
                </a:solidFill>
                <a:effectLst/>
              </a:rPr>
              <a:t> </a:t>
            </a:r>
            <a:r>
              <a:rPr lang="en-PK" sz="1800" dirty="0" err="1">
                <a:solidFill>
                  <a:srgbClr val="000000"/>
                </a:solidFill>
                <a:effectLst/>
              </a:rPr>
              <a:t>myList</a:t>
            </a:r>
            <a:r>
              <a:rPr lang="en-PK" sz="1800" dirty="0">
                <a:solidFill>
                  <a:srgbClr val="666600"/>
                </a:solidFill>
                <a:effectLst/>
              </a:rPr>
              <a:t>[</a:t>
            </a:r>
            <a:r>
              <a:rPr lang="en-PK" sz="1800" dirty="0">
                <a:solidFill>
                  <a:srgbClr val="006666"/>
                </a:solidFill>
                <a:effectLst/>
              </a:rPr>
              <a:t>0</a:t>
            </a:r>
            <a:r>
              <a:rPr lang="en-PK" sz="1800" dirty="0">
                <a:solidFill>
                  <a:srgbClr val="666600"/>
                </a:solidFill>
                <a:effectLst/>
              </a:rPr>
              <a:t>];</a:t>
            </a:r>
            <a:endParaRPr lang="en-US" sz="1800" dirty="0">
              <a:solidFill>
                <a:srgbClr val="6666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PK" sz="1800" dirty="0">
                <a:solidFill>
                  <a:srgbClr val="000088"/>
                </a:solidFill>
                <a:effectLst/>
              </a:rPr>
              <a:t>for</a:t>
            </a:r>
            <a:r>
              <a:rPr lang="en-PK" sz="1800" dirty="0">
                <a:solidFill>
                  <a:srgbClr val="000000"/>
                </a:solidFill>
                <a:effectLst/>
              </a:rPr>
              <a:t> </a:t>
            </a:r>
            <a:r>
              <a:rPr lang="en-PK" sz="1800" dirty="0">
                <a:solidFill>
                  <a:srgbClr val="666600"/>
                </a:solidFill>
                <a:effectLst/>
              </a:rPr>
              <a:t>(</a:t>
            </a:r>
            <a:r>
              <a:rPr lang="en-PK" sz="1800" dirty="0">
                <a:solidFill>
                  <a:srgbClr val="000088"/>
                </a:solidFill>
                <a:effectLst/>
              </a:rPr>
              <a:t>int</a:t>
            </a:r>
            <a:r>
              <a:rPr lang="en-PK" sz="1800" dirty="0">
                <a:solidFill>
                  <a:srgbClr val="000000"/>
                </a:solidFill>
                <a:effectLst/>
              </a:rPr>
              <a:t> </a:t>
            </a:r>
            <a:r>
              <a:rPr lang="en-PK" sz="1800" dirty="0" err="1">
                <a:solidFill>
                  <a:srgbClr val="000000"/>
                </a:solidFill>
                <a:effectLst/>
              </a:rPr>
              <a:t>i</a:t>
            </a:r>
            <a:r>
              <a:rPr lang="en-PK" sz="1800" dirty="0">
                <a:solidFill>
                  <a:srgbClr val="000000"/>
                </a:solidFill>
                <a:effectLst/>
              </a:rPr>
              <a:t> </a:t>
            </a:r>
            <a:r>
              <a:rPr lang="en-PK" sz="1800" dirty="0">
                <a:solidFill>
                  <a:srgbClr val="666600"/>
                </a:solidFill>
                <a:effectLst/>
              </a:rPr>
              <a:t>=</a:t>
            </a:r>
            <a:r>
              <a:rPr lang="en-PK" sz="1800" dirty="0">
                <a:solidFill>
                  <a:srgbClr val="000000"/>
                </a:solidFill>
                <a:effectLst/>
              </a:rPr>
              <a:t> </a:t>
            </a:r>
            <a:r>
              <a:rPr lang="en-PK" sz="1800" dirty="0">
                <a:solidFill>
                  <a:srgbClr val="006666"/>
                </a:solidFill>
                <a:effectLst/>
              </a:rPr>
              <a:t>1</a:t>
            </a:r>
            <a:r>
              <a:rPr lang="en-PK" sz="1800" dirty="0">
                <a:solidFill>
                  <a:srgbClr val="666600"/>
                </a:solidFill>
                <a:effectLst/>
              </a:rPr>
              <a:t>;</a:t>
            </a:r>
            <a:r>
              <a:rPr lang="en-PK" sz="1800" dirty="0">
                <a:solidFill>
                  <a:srgbClr val="000000"/>
                </a:solidFill>
                <a:effectLst/>
              </a:rPr>
              <a:t> </a:t>
            </a:r>
            <a:r>
              <a:rPr lang="en-PK" sz="1800" dirty="0" err="1">
                <a:solidFill>
                  <a:srgbClr val="000000"/>
                </a:solidFill>
                <a:effectLst/>
              </a:rPr>
              <a:t>i</a:t>
            </a:r>
            <a:r>
              <a:rPr lang="en-PK" sz="1800" dirty="0">
                <a:solidFill>
                  <a:srgbClr val="000000"/>
                </a:solidFill>
                <a:effectLst/>
              </a:rPr>
              <a:t> </a:t>
            </a:r>
            <a:r>
              <a:rPr lang="en-PK" sz="1800" dirty="0">
                <a:solidFill>
                  <a:srgbClr val="666600"/>
                </a:solidFill>
                <a:effectLst/>
              </a:rPr>
              <a:t>&lt;</a:t>
            </a:r>
            <a:r>
              <a:rPr lang="en-PK" sz="1800" dirty="0">
                <a:solidFill>
                  <a:srgbClr val="000000"/>
                </a:solidFill>
                <a:effectLst/>
              </a:rPr>
              <a:t> </a:t>
            </a:r>
            <a:r>
              <a:rPr lang="en-PK" sz="1800" dirty="0" err="1">
                <a:solidFill>
                  <a:srgbClr val="000000"/>
                </a:solidFill>
                <a:effectLst/>
              </a:rPr>
              <a:t>myList</a:t>
            </a:r>
            <a:r>
              <a:rPr lang="en-PK" sz="1800" dirty="0" err="1">
                <a:solidFill>
                  <a:srgbClr val="666600"/>
                </a:solidFill>
                <a:effectLst/>
              </a:rPr>
              <a:t>.</a:t>
            </a:r>
            <a:r>
              <a:rPr lang="en-PK" sz="1800" dirty="0" err="1">
                <a:solidFill>
                  <a:srgbClr val="000000"/>
                </a:solidFill>
                <a:effectLst/>
              </a:rPr>
              <a:t>length</a:t>
            </a:r>
            <a:r>
              <a:rPr lang="en-PK" sz="1800" dirty="0">
                <a:solidFill>
                  <a:srgbClr val="666600"/>
                </a:solidFill>
                <a:effectLst/>
              </a:rPr>
              <a:t>;</a:t>
            </a:r>
            <a:r>
              <a:rPr lang="en-PK" sz="1800" dirty="0">
                <a:solidFill>
                  <a:srgbClr val="000000"/>
                </a:solidFill>
                <a:effectLst/>
              </a:rPr>
              <a:t> </a:t>
            </a:r>
            <a:r>
              <a:rPr lang="en-PK" sz="1800" dirty="0" err="1">
                <a:solidFill>
                  <a:srgbClr val="000000"/>
                </a:solidFill>
                <a:effectLst/>
              </a:rPr>
              <a:t>i</a:t>
            </a:r>
            <a:r>
              <a:rPr lang="en-PK" sz="1800" dirty="0">
                <a:solidFill>
                  <a:srgbClr val="666600"/>
                </a:solidFill>
                <a:effectLst/>
              </a:rPr>
              <a:t>++)</a:t>
            </a:r>
            <a:r>
              <a:rPr lang="en-PK" sz="1800" dirty="0">
                <a:solidFill>
                  <a:srgbClr val="000000"/>
                </a:solidFill>
                <a:effectLst/>
              </a:rPr>
              <a:t> </a:t>
            </a:r>
            <a:r>
              <a:rPr lang="en-PK" sz="1800" dirty="0">
                <a:solidFill>
                  <a:srgbClr val="666600"/>
                </a:solidFill>
                <a:effectLst/>
              </a:rPr>
              <a:t>{</a:t>
            </a:r>
            <a:endParaRPr lang="en-US" sz="1800" dirty="0">
              <a:solidFill>
                <a:srgbClr val="6666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PK" sz="1800" dirty="0">
                <a:solidFill>
                  <a:srgbClr val="000088"/>
                </a:solidFill>
                <a:effectLst/>
              </a:rPr>
              <a:t>if</a:t>
            </a:r>
            <a:r>
              <a:rPr lang="en-PK" sz="1800" dirty="0">
                <a:solidFill>
                  <a:srgbClr val="000000"/>
                </a:solidFill>
                <a:effectLst/>
              </a:rPr>
              <a:t> </a:t>
            </a:r>
            <a:r>
              <a:rPr lang="en-PK" sz="1800" dirty="0">
                <a:solidFill>
                  <a:srgbClr val="666600"/>
                </a:solidFill>
                <a:effectLst/>
              </a:rPr>
              <a:t>(</a:t>
            </a:r>
            <a:r>
              <a:rPr lang="en-PK" sz="1800" dirty="0" err="1">
                <a:solidFill>
                  <a:srgbClr val="000000"/>
                </a:solidFill>
                <a:effectLst/>
              </a:rPr>
              <a:t>myList</a:t>
            </a:r>
            <a:r>
              <a:rPr lang="en-PK" sz="1800" dirty="0">
                <a:solidFill>
                  <a:srgbClr val="666600"/>
                </a:solidFill>
                <a:effectLst/>
              </a:rPr>
              <a:t>[</a:t>
            </a:r>
            <a:r>
              <a:rPr lang="en-PK" sz="1800" dirty="0" err="1">
                <a:solidFill>
                  <a:srgbClr val="000000"/>
                </a:solidFill>
                <a:effectLst/>
              </a:rPr>
              <a:t>i</a:t>
            </a:r>
            <a:r>
              <a:rPr lang="en-PK" sz="1800" dirty="0">
                <a:solidFill>
                  <a:srgbClr val="666600"/>
                </a:solidFill>
                <a:effectLst/>
              </a:rPr>
              <a:t>]</a:t>
            </a:r>
            <a:r>
              <a:rPr lang="en-PK" sz="1800" dirty="0">
                <a:solidFill>
                  <a:srgbClr val="000000"/>
                </a:solidFill>
                <a:effectLst/>
              </a:rPr>
              <a:t> </a:t>
            </a:r>
            <a:r>
              <a:rPr lang="en-PK" sz="1800" dirty="0">
                <a:solidFill>
                  <a:srgbClr val="666600"/>
                </a:solidFill>
                <a:effectLst/>
              </a:rPr>
              <a:t>&gt;</a:t>
            </a:r>
            <a:r>
              <a:rPr lang="en-PK" sz="1800" dirty="0">
                <a:solidFill>
                  <a:srgbClr val="000000"/>
                </a:solidFill>
                <a:effectLst/>
              </a:rPr>
              <a:t> max</a:t>
            </a:r>
            <a:r>
              <a:rPr lang="en-PK" sz="1800" dirty="0">
                <a:solidFill>
                  <a:srgbClr val="666600"/>
                </a:solidFill>
                <a:effectLst/>
              </a:rPr>
              <a:t>)</a:t>
            </a:r>
            <a:r>
              <a:rPr lang="en-PK" sz="1800" dirty="0">
                <a:solidFill>
                  <a:srgbClr val="000000"/>
                </a:solidFill>
                <a:effectLst/>
              </a:rPr>
              <a:t> max </a:t>
            </a:r>
            <a:r>
              <a:rPr lang="en-PK" sz="1800" dirty="0">
                <a:solidFill>
                  <a:srgbClr val="666600"/>
                </a:solidFill>
                <a:effectLst/>
              </a:rPr>
              <a:t>=</a:t>
            </a:r>
            <a:r>
              <a:rPr lang="en-PK" sz="1800" dirty="0">
                <a:solidFill>
                  <a:srgbClr val="000000"/>
                </a:solidFill>
                <a:effectLst/>
              </a:rPr>
              <a:t> </a:t>
            </a:r>
            <a:r>
              <a:rPr lang="en-PK" sz="1800" dirty="0" err="1">
                <a:solidFill>
                  <a:srgbClr val="000000"/>
                </a:solidFill>
                <a:effectLst/>
              </a:rPr>
              <a:t>myList</a:t>
            </a:r>
            <a:r>
              <a:rPr lang="en-PK" sz="1800" dirty="0">
                <a:solidFill>
                  <a:srgbClr val="666600"/>
                </a:solidFill>
                <a:effectLst/>
              </a:rPr>
              <a:t>[</a:t>
            </a:r>
            <a:r>
              <a:rPr lang="en-PK" sz="1800" dirty="0" err="1">
                <a:solidFill>
                  <a:srgbClr val="000000"/>
                </a:solidFill>
                <a:effectLst/>
              </a:rPr>
              <a:t>i</a:t>
            </a:r>
            <a:r>
              <a:rPr lang="en-PK" sz="1800" dirty="0">
                <a:solidFill>
                  <a:srgbClr val="666600"/>
                </a:solidFill>
                <a:effectLst/>
              </a:rPr>
              <a:t>];</a:t>
            </a:r>
            <a:endParaRPr lang="en-US" sz="1800" dirty="0">
              <a:solidFill>
                <a:srgbClr val="6666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PK" sz="1800" dirty="0">
                <a:solidFill>
                  <a:srgbClr val="666600"/>
                </a:solidFill>
                <a:effectLst/>
              </a:rPr>
              <a:t>}</a:t>
            </a:r>
            <a:endParaRPr lang="en-US" sz="1800" dirty="0">
              <a:solidFill>
                <a:srgbClr val="6666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PK" sz="1800" dirty="0" err="1">
                <a:solidFill>
                  <a:srgbClr val="660066"/>
                </a:solidFill>
                <a:effectLst/>
              </a:rPr>
              <a:t>System</a:t>
            </a:r>
            <a:r>
              <a:rPr lang="en-PK" sz="1800" dirty="0" err="1">
                <a:solidFill>
                  <a:srgbClr val="666600"/>
                </a:solidFill>
                <a:effectLst/>
              </a:rPr>
              <a:t>.</a:t>
            </a:r>
            <a:r>
              <a:rPr lang="en-PK" sz="1800" dirty="0" err="1">
                <a:solidFill>
                  <a:srgbClr val="000088"/>
                </a:solidFill>
                <a:effectLst/>
              </a:rPr>
              <a:t>out</a:t>
            </a:r>
            <a:r>
              <a:rPr lang="en-PK" sz="1800" dirty="0" err="1">
                <a:solidFill>
                  <a:srgbClr val="666600"/>
                </a:solidFill>
                <a:effectLst/>
              </a:rPr>
              <a:t>.</a:t>
            </a:r>
            <a:r>
              <a:rPr lang="en-PK" sz="1800" dirty="0" err="1">
                <a:solidFill>
                  <a:srgbClr val="000000"/>
                </a:solidFill>
                <a:effectLst/>
              </a:rPr>
              <a:t>println</a:t>
            </a:r>
            <a:r>
              <a:rPr lang="en-PK" sz="1800" dirty="0">
                <a:solidFill>
                  <a:srgbClr val="666600"/>
                </a:solidFill>
                <a:effectLst/>
              </a:rPr>
              <a:t>(</a:t>
            </a:r>
            <a:r>
              <a:rPr lang="en-PK" sz="1800" dirty="0">
                <a:solidFill>
                  <a:srgbClr val="008800"/>
                </a:solidFill>
                <a:effectLst/>
              </a:rPr>
              <a:t>"Max is "</a:t>
            </a:r>
            <a:r>
              <a:rPr lang="en-PK" sz="1800" dirty="0">
                <a:solidFill>
                  <a:srgbClr val="000000"/>
                </a:solidFill>
                <a:effectLst/>
              </a:rPr>
              <a:t> </a:t>
            </a:r>
            <a:r>
              <a:rPr lang="en-PK" sz="1800" dirty="0">
                <a:solidFill>
                  <a:srgbClr val="666600"/>
                </a:solidFill>
                <a:effectLst/>
              </a:rPr>
              <a:t>+</a:t>
            </a:r>
            <a:r>
              <a:rPr lang="en-PK" sz="1800" dirty="0">
                <a:solidFill>
                  <a:srgbClr val="000000"/>
                </a:solidFill>
                <a:effectLst/>
              </a:rPr>
              <a:t> max</a:t>
            </a:r>
            <a:r>
              <a:rPr lang="en-PK" sz="1800" dirty="0">
                <a:solidFill>
                  <a:srgbClr val="666600"/>
                </a:solidFill>
                <a:effectLst/>
              </a:rPr>
              <a:t>);</a:t>
            </a:r>
            <a:r>
              <a:rPr lang="en-PK" sz="1800" dirty="0">
                <a:solidFill>
                  <a:srgbClr val="000000"/>
                </a:solidFill>
                <a:effectLst/>
              </a:rPr>
              <a:t>     </a:t>
            </a:r>
            <a:r>
              <a:rPr lang="en-PK" sz="1800" dirty="0">
                <a:solidFill>
                  <a:srgbClr val="666600"/>
                </a:solidFill>
                <a:effectLst/>
              </a:rPr>
              <a:t>}</a:t>
            </a:r>
            <a:endParaRPr lang="en-US" sz="1800" dirty="0">
              <a:solidFill>
                <a:srgbClr val="6666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PK" sz="1800" dirty="0">
                <a:solidFill>
                  <a:srgbClr val="666600"/>
                </a:solidFill>
                <a:effectLst/>
              </a:rPr>
              <a:t>}</a:t>
            </a:r>
            <a:endParaRPr lang="en-PK" dirty="0">
              <a:effectLst/>
            </a:endParaRPr>
          </a:p>
          <a:p>
            <a:pPr marL="30480" marR="30480" algn="just">
              <a:spcBef>
                <a:spcPts val="600"/>
              </a:spcBef>
              <a:spcAft>
                <a:spcPts val="720"/>
              </a:spcAft>
            </a:pPr>
            <a:r>
              <a:rPr lang="en-PK" sz="1800" dirty="0">
                <a:solidFill>
                  <a:srgbClr val="000000"/>
                </a:solidFill>
                <a:effectLst/>
                <a:latin typeface="Arial" panose="020B0604020202020204" pitchFamily="34" charset="0"/>
                <a:ea typeface="Times New Roman" panose="02020603050405020304" pitchFamily="18" charset="0"/>
              </a:rPr>
              <a:t>This will produce the following result −</a:t>
            </a:r>
            <a:endParaRPr lang="en-PK" sz="1800" dirty="0">
              <a:effectLst/>
              <a:latin typeface="Times New Roman" panose="02020603050405020304" pitchFamily="18" charset="0"/>
              <a:ea typeface="Times New Roman" panose="02020603050405020304" pitchFamily="18" charset="0"/>
            </a:endParaRPr>
          </a:p>
          <a:p>
            <a:pPr marL="0" marR="0">
              <a:lnSpc>
                <a:spcPct val="107000"/>
              </a:lnSpc>
              <a:spcBef>
                <a:spcPts val="200"/>
              </a:spcBef>
              <a:spcAft>
                <a:spcPts val="0"/>
              </a:spcAft>
            </a:pPr>
            <a:r>
              <a:rPr lang="en-PK" sz="1800" b="1" dirty="0">
                <a:solidFill>
                  <a:srgbClr val="1F3763"/>
                </a:solidFill>
                <a:effectLst/>
                <a:latin typeface="Arial" panose="020B0604020202020204" pitchFamily="34" charset="0"/>
                <a:ea typeface="DengXian Light" panose="02010600030101010101" pitchFamily="2" charset="-122"/>
                <a:cs typeface="Times New Roman" panose="02020603050405020304" pitchFamily="18" charset="0"/>
              </a:rPr>
              <a:t>Output</a:t>
            </a:r>
            <a:endParaRPr lang="en-PK" sz="1800" b="1" dirty="0">
              <a:solidFill>
                <a:srgbClr val="1F3763"/>
              </a:solidFill>
              <a:effectLst/>
              <a:latin typeface="Calibri Light" panose="020F0302020204030204" pitchFamily="34" charset="0"/>
              <a:ea typeface="DengXian Light" panose="02010600030101010101" pitchFamily="2" charset="-122"/>
              <a:cs typeface="Times New Roman" panose="02020603050405020304" pitchFamily="18" charset="0"/>
            </a:endParaRPr>
          </a:p>
          <a:p>
            <a:r>
              <a:rPr lang="en-PK" sz="1800" dirty="0">
                <a:effectLst/>
              </a:rPr>
              <a:t>1.92.93.43.5</a:t>
            </a:r>
            <a:endParaRPr lang="en-US" sz="1800" dirty="0">
              <a:effectLst/>
            </a:endParaRPr>
          </a:p>
          <a:p>
            <a:r>
              <a:rPr lang="en-PK" sz="1800" dirty="0">
                <a:effectLst/>
              </a:rPr>
              <a:t>Total is 11.7</a:t>
            </a:r>
            <a:endParaRPr lang="en-US" sz="1800" dirty="0">
              <a:effectLst/>
            </a:endParaRPr>
          </a:p>
          <a:p>
            <a:r>
              <a:rPr lang="en-PK" sz="1800" dirty="0">
                <a:effectLst/>
              </a:rPr>
              <a:t>Max is 3.5</a:t>
            </a:r>
            <a:endParaRPr lang="en-PK" dirty="0"/>
          </a:p>
        </p:txBody>
      </p:sp>
      <p:sp>
        <p:nvSpPr>
          <p:cNvPr id="4" name="Slide Number Placeholder 3"/>
          <p:cNvSpPr>
            <a:spLocks noGrp="1"/>
          </p:cNvSpPr>
          <p:nvPr>
            <p:ph type="sldNum" sz="quarter" idx="5"/>
          </p:nvPr>
        </p:nvSpPr>
        <p:spPr/>
        <p:txBody>
          <a:bodyPr/>
          <a:lstStyle/>
          <a:p>
            <a:fld id="{9C7CD17C-7785-4C2F-B7FA-BD414519D18E}" type="slidenum">
              <a:rPr lang="en-PK" smtClean="0"/>
              <a:t>25</a:t>
            </a:fld>
            <a:endParaRPr lang="en-PK"/>
          </a:p>
        </p:txBody>
      </p:sp>
    </p:spTree>
    <p:extLst>
      <p:ext uri="{BB962C8B-B14F-4D97-AF65-F5344CB8AC3E}">
        <p14:creationId xmlns:p14="http://schemas.microsoft.com/office/powerpoint/2010/main" val="14577405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K" sz="1800" dirty="0">
                <a:solidFill>
                  <a:srgbClr val="000000"/>
                </a:solidFill>
                <a:effectLst/>
                <a:latin typeface="Arial" panose="020B0604020202020204" pitchFamily="34" charset="0"/>
                <a:ea typeface="Times New Roman" panose="02020603050405020304" pitchFamily="18" charset="0"/>
              </a:rPr>
              <a:t>JDK 1.5 introduced a new for loop known as foreach loop or enhanced for loop, which enables you to traverse the complete array sequentially without using an index variable.</a:t>
            </a:r>
            <a:endParaRPr lang="en-US" sz="1800" dirty="0">
              <a:solidFill>
                <a:srgbClr val="000000"/>
              </a:solidFill>
              <a:effectLst/>
              <a:latin typeface="Arial" panose="020B0604020202020204" pitchFamily="34" charset="0"/>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solidFill>
                <a:srgbClr val="000000"/>
              </a:solidFill>
              <a:effectLst/>
              <a:latin typeface="Arial" panose="020B0604020202020204" pitchFamily="34" charset="0"/>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PK" sz="1800" dirty="0">
                <a:solidFill>
                  <a:srgbClr val="000088"/>
                </a:solidFill>
                <a:effectLst/>
              </a:rPr>
              <a:t>public</a:t>
            </a:r>
            <a:r>
              <a:rPr lang="en-PK" sz="1800" dirty="0">
                <a:solidFill>
                  <a:srgbClr val="000000"/>
                </a:solidFill>
                <a:effectLst/>
              </a:rPr>
              <a:t> </a:t>
            </a:r>
            <a:r>
              <a:rPr lang="en-PK" sz="1800" dirty="0">
                <a:solidFill>
                  <a:srgbClr val="000088"/>
                </a:solidFill>
                <a:effectLst/>
              </a:rPr>
              <a:t>class</a:t>
            </a:r>
            <a:r>
              <a:rPr lang="en-PK" sz="1800" dirty="0">
                <a:solidFill>
                  <a:srgbClr val="000000"/>
                </a:solidFill>
                <a:effectLst/>
              </a:rPr>
              <a:t> </a:t>
            </a:r>
            <a:r>
              <a:rPr lang="en-PK" sz="1800" dirty="0" err="1">
                <a:solidFill>
                  <a:srgbClr val="660066"/>
                </a:solidFill>
                <a:effectLst/>
              </a:rPr>
              <a:t>TestArray</a:t>
            </a:r>
            <a:r>
              <a:rPr lang="en-PK" sz="1800" dirty="0">
                <a:solidFill>
                  <a:srgbClr val="000000"/>
                </a:solidFill>
                <a:effectLst/>
              </a:rPr>
              <a:t> </a:t>
            </a:r>
            <a:r>
              <a:rPr lang="en-PK" sz="1800" dirty="0">
                <a:solidFill>
                  <a:srgbClr val="666600"/>
                </a:solidFill>
                <a:effectLst/>
              </a:rPr>
              <a:t>{</a:t>
            </a:r>
            <a:endParaRPr lang="en-US" sz="1800" dirty="0">
              <a:solidFill>
                <a:srgbClr val="6666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PK" sz="1800" dirty="0">
                <a:solidFill>
                  <a:srgbClr val="000088"/>
                </a:solidFill>
                <a:effectLst/>
              </a:rPr>
              <a:t>public</a:t>
            </a:r>
            <a:r>
              <a:rPr lang="en-PK" sz="1800" dirty="0">
                <a:solidFill>
                  <a:srgbClr val="000000"/>
                </a:solidFill>
                <a:effectLst/>
              </a:rPr>
              <a:t> </a:t>
            </a:r>
            <a:r>
              <a:rPr lang="en-PK" sz="1800" dirty="0">
                <a:solidFill>
                  <a:srgbClr val="000088"/>
                </a:solidFill>
                <a:effectLst/>
              </a:rPr>
              <a:t>static</a:t>
            </a:r>
            <a:r>
              <a:rPr lang="en-PK" sz="1800" dirty="0">
                <a:solidFill>
                  <a:srgbClr val="000000"/>
                </a:solidFill>
                <a:effectLst/>
              </a:rPr>
              <a:t> </a:t>
            </a:r>
            <a:r>
              <a:rPr lang="en-PK" sz="1800" dirty="0">
                <a:solidFill>
                  <a:srgbClr val="000088"/>
                </a:solidFill>
                <a:effectLst/>
              </a:rPr>
              <a:t>void</a:t>
            </a:r>
            <a:r>
              <a:rPr lang="en-PK" sz="1800" dirty="0">
                <a:solidFill>
                  <a:srgbClr val="000000"/>
                </a:solidFill>
                <a:effectLst/>
              </a:rPr>
              <a:t> main</a:t>
            </a:r>
            <a:r>
              <a:rPr lang="en-PK" sz="1800" dirty="0">
                <a:solidFill>
                  <a:srgbClr val="666600"/>
                </a:solidFill>
                <a:effectLst/>
              </a:rPr>
              <a:t>(</a:t>
            </a:r>
            <a:r>
              <a:rPr lang="en-PK" sz="1800" dirty="0">
                <a:solidFill>
                  <a:srgbClr val="660066"/>
                </a:solidFill>
                <a:effectLst/>
              </a:rPr>
              <a:t>String</a:t>
            </a:r>
            <a:r>
              <a:rPr lang="en-PK" sz="1800" dirty="0">
                <a:solidFill>
                  <a:srgbClr val="666600"/>
                </a:solidFill>
                <a:effectLst/>
              </a:rPr>
              <a:t>[]</a:t>
            </a:r>
            <a:r>
              <a:rPr lang="en-PK" sz="1800" dirty="0">
                <a:solidFill>
                  <a:srgbClr val="000000"/>
                </a:solidFill>
                <a:effectLst/>
              </a:rPr>
              <a:t> </a:t>
            </a:r>
            <a:r>
              <a:rPr lang="en-PK" sz="1800" dirty="0" err="1">
                <a:solidFill>
                  <a:srgbClr val="000000"/>
                </a:solidFill>
                <a:effectLst/>
              </a:rPr>
              <a:t>args</a:t>
            </a:r>
            <a:r>
              <a:rPr lang="en-PK" sz="1800" dirty="0">
                <a:solidFill>
                  <a:srgbClr val="666600"/>
                </a:solidFill>
                <a:effectLst/>
              </a:rPr>
              <a:t>)</a:t>
            </a:r>
            <a:r>
              <a:rPr lang="en-PK" sz="1800" dirty="0">
                <a:solidFill>
                  <a:srgbClr val="000000"/>
                </a:solidFill>
                <a:effectLst/>
              </a:rPr>
              <a:t> </a:t>
            </a:r>
            <a:r>
              <a:rPr lang="en-PK" sz="1800" dirty="0">
                <a:solidFill>
                  <a:srgbClr val="666600"/>
                </a:solidFill>
                <a:effectLst/>
              </a:rPr>
              <a:t>{</a:t>
            </a:r>
            <a:endParaRPr lang="en-US" sz="1800" dirty="0">
              <a:solidFill>
                <a:srgbClr val="6666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PK" sz="1800" dirty="0">
                <a:solidFill>
                  <a:srgbClr val="000088"/>
                </a:solidFill>
                <a:effectLst/>
              </a:rPr>
              <a:t>double</a:t>
            </a:r>
            <a:r>
              <a:rPr lang="en-PK" sz="1800" dirty="0">
                <a:solidFill>
                  <a:srgbClr val="666600"/>
                </a:solidFill>
                <a:effectLst/>
              </a:rPr>
              <a:t>[]</a:t>
            </a:r>
            <a:r>
              <a:rPr lang="en-PK" sz="1800" dirty="0">
                <a:solidFill>
                  <a:srgbClr val="000000"/>
                </a:solidFill>
                <a:effectLst/>
              </a:rPr>
              <a:t> </a:t>
            </a:r>
            <a:r>
              <a:rPr lang="en-PK" sz="1800" dirty="0" err="1">
                <a:solidFill>
                  <a:srgbClr val="000000"/>
                </a:solidFill>
                <a:effectLst/>
              </a:rPr>
              <a:t>myList</a:t>
            </a:r>
            <a:r>
              <a:rPr lang="en-PK" sz="1800" dirty="0">
                <a:solidFill>
                  <a:srgbClr val="000000"/>
                </a:solidFill>
                <a:effectLst/>
              </a:rPr>
              <a:t> </a:t>
            </a:r>
            <a:r>
              <a:rPr lang="en-PK" sz="1800" dirty="0">
                <a:solidFill>
                  <a:srgbClr val="666600"/>
                </a:solidFill>
                <a:effectLst/>
              </a:rPr>
              <a:t>=</a:t>
            </a:r>
            <a:r>
              <a:rPr lang="en-PK" sz="1800" dirty="0">
                <a:solidFill>
                  <a:srgbClr val="000000"/>
                </a:solidFill>
                <a:effectLst/>
              </a:rPr>
              <a:t> </a:t>
            </a:r>
            <a:r>
              <a:rPr lang="en-PK" sz="1800" dirty="0">
                <a:solidFill>
                  <a:srgbClr val="666600"/>
                </a:solidFill>
                <a:effectLst/>
              </a:rPr>
              <a:t>{</a:t>
            </a:r>
            <a:r>
              <a:rPr lang="en-PK" sz="1800" dirty="0">
                <a:solidFill>
                  <a:srgbClr val="006666"/>
                </a:solidFill>
                <a:effectLst/>
              </a:rPr>
              <a:t>1.9</a:t>
            </a:r>
            <a:r>
              <a:rPr lang="en-PK" sz="1800" dirty="0">
                <a:solidFill>
                  <a:srgbClr val="666600"/>
                </a:solidFill>
                <a:effectLst/>
              </a:rPr>
              <a:t>,</a:t>
            </a:r>
            <a:r>
              <a:rPr lang="en-PK" sz="1800" dirty="0">
                <a:solidFill>
                  <a:srgbClr val="000000"/>
                </a:solidFill>
                <a:effectLst/>
              </a:rPr>
              <a:t> </a:t>
            </a:r>
            <a:r>
              <a:rPr lang="en-PK" sz="1800" dirty="0">
                <a:solidFill>
                  <a:srgbClr val="006666"/>
                </a:solidFill>
                <a:effectLst/>
              </a:rPr>
              <a:t>2.9</a:t>
            </a:r>
            <a:r>
              <a:rPr lang="en-PK" sz="1800" dirty="0">
                <a:solidFill>
                  <a:srgbClr val="666600"/>
                </a:solidFill>
                <a:effectLst/>
              </a:rPr>
              <a:t>,</a:t>
            </a:r>
            <a:r>
              <a:rPr lang="en-PK" sz="1800" dirty="0">
                <a:solidFill>
                  <a:srgbClr val="000000"/>
                </a:solidFill>
                <a:effectLst/>
              </a:rPr>
              <a:t> </a:t>
            </a:r>
            <a:r>
              <a:rPr lang="en-PK" sz="1800" dirty="0">
                <a:solidFill>
                  <a:srgbClr val="006666"/>
                </a:solidFill>
                <a:effectLst/>
              </a:rPr>
              <a:t>3.4</a:t>
            </a:r>
            <a:r>
              <a:rPr lang="en-PK" sz="1800" dirty="0">
                <a:solidFill>
                  <a:srgbClr val="666600"/>
                </a:solidFill>
                <a:effectLst/>
              </a:rPr>
              <a:t>,</a:t>
            </a:r>
            <a:r>
              <a:rPr lang="en-PK" sz="1800" dirty="0">
                <a:solidFill>
                  <a:srgbClr val="000000"/>
                </a:solidFill>
                <a:effectLst/>
              </a:rPr>
              <a:t> </a:t>
            </a:r>
            <a:r>
              <a:rPr lang="en-PK" sz="1800" dirty="0">
                <a:solidFill>
                  <a:srgbClr val="006666"/>
                </a:solidFill>
                <a:effectLst/>
              </a:rPr>
              <a:t>3.5</a:t>
            </a:r>
            <a:r>
              <a:rPr lang="en-PK" sz="1800" dirty="0">
                <a:solidFill>
                  <a:srgbClr val="666600"/>
                </a:solidFill>
                <a:effectLst/>
              </a:rPr>
              <a:t>};</a:t>
            </a:r>
            <a:endParaRPr lang="en-US" sz="1800" dirty="0">
              <a:solidFill>
                <a:srgbClr val="6666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PK" sz="1800" dirty="0">
                <a:solidFill>
                  <a:srgbClr val="880000"/>
                </a:solidFill>
                <a:effectLst/>
              </a:rPr>
              <a:t>// Print all the array elements</a:t>
            </a:r>
            <a:endParaRPr lang="en-US" sz="1800" dirty="0">
              <a:solidFill>
                <a:srgbClr val="8800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PK" sz="1800" dirty="0">
                <a:solidFill>
                  <a:srgbClr val="000088"/>
                </a:solidFill>
                <a:effectLst/>
              </a:rPr>
              <a:t>for</a:t>
            </a:r>
            <a:r>
              <a:rPr lang="en-PK" sz="1800" dirty="0">
                <a:solidFill>
                  <a:srgbClr val="000000"/>
                </a:solidFill>
                <a:effectLst/>
              </a:rPr>
              <a:t> </a:t>
            </a:r>
            <a:r>
              <a:rPr lang="en-PK" sz="1800" dirty="0">
                <a:solidFill>
                  <a:srgbClr val="666600"/>
                </a:solidFill>
                <a:effectLst/>
              </a:rPr>
              <a:t>(</a:t>
            </a:r>
            <a:r>
              <a:rPr lang="en-PK" sz="1800" dirty="0">
                <a:solidFill>
                  <a:srgbClr val="000088"/>
                </a:solidFill>
                <a:effectLst/>
              </a:rPr>
              <a:t>double</a:t>
            </a:r>
            <a:r>
              <a:rPr lang="en-PK" sz="1800" dirty="0">
                <a:solidFill>
                  <a:srgbClr val="000000"/>
                </a:solidFill>
                <a:effectLst/>
              </a:rPr>
              <a:t> element</a:t>
            </a:r>
            <a:r>
              <a:rPr lang="en-PK" sz="1800" dirty="0">
                <a:solidFill>
                  <a:srgbClr val="666600"/>
                </a:solidFill>
                <a:effectLst/>
              </a:rPr>
              <a:t>:</a:t>
            </a:r>
            <a:r>
              <a:rPr lang="en-PK" sz="1800" dirty="0">
                <a:solidFill>
                  <a:srgbClr val="000000"/>
                </a:solidFill>
                <a:effectLst/>
              </a:rPr>
              <a:t> </a:t>
            </a:r>
            <a:r>
              <a:rPr lang="en-PK" sz="1800" dirty="0" err="1">
                <a:solidFill>
                  <a:srgbClr val="000000"/>
                </a:solidFill>
                <a:effectLst/>
              </a:rPr>
              <a:t>myList</a:t>
            </a:r>
            <a:r>
              <a:rPr lang="en-PK" sz="1800" dirty="0">
                <a:solidFill>
                  <a:srgbClr val="666600"/>
                </a:solidFill>
                <a:effectLst/>
              </a:rPr>
              <a:t>)</a:t>
            </a:r>
            <a:r>
              <a:rPr lang="en-PK" sz="1800" dirty="0">
                <a:solidFill>
                  <a:srgbClr val="000000"/>
                </a:solidFill>
                <a:effectLst/>
              </a:rPr>
              <a:t> </a:t>
            </a:r>
            <a:r>
              <a:rPr lang="en-PK" sz="1800" dirty="0">
                <a:solidFill>
                  <a:srgbClr val="666600"/>
                </a:solidFill>
                <a:effectLst/>
              </a:rPr>
              <a:t>{</a:t>
            </a:r>
            <a:endParaRPr lang="en-US" sz="1800" dirty="0">
              <a:solidFill>
                <a:srgbClr val="6666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PK" sz="1800" dirty="0" err="1">
                <a:solidFill>
                  <a:srgbClr val="660066"/>
                </a:solidFill>
                <a:effectLst/>
              </a:rPr>
              <a:t>System</a:t>
            </a:r>
            <a:r>
              <a:rPr lang="en-PK" sz="1800" dirty="0" err="1">
                <a:solidFill>
                  <a:srgbClr val="666600"/>
                </a:solidFill>
                <a:effectLst/>
              </a:rPr>
              <a:t>.</a:t>
            </a:r>
            <a:r>
              <a:rPr lang="en-PK" sz="1800" dirty="0" err="1">
                <a:solidFill>
                  <a:srgbClr val="000088"/>
                </a:solidFill>
                <a:effectLst/>
              </a:rPr>
              <a:t>out</a:t>
            </a:r>
            <a:r>
              <a:rPr lang="en-PK" sz="1800" dirty="0" err="1">
                <a:solidFill>
                  <a:srgbClr val="666600"/>
                </a:solidFill>
                <a:effectLst/>
              </a:rPr>
              <a:t>.</a:t>
            </a:r>
            <a:r>
              <a:rPr lang="en-PK" sz="1800" dirty="0" err="1">
                <a:solidFill>
                  <a:srgbClr val="000000"/>
                </a:solidFill>
                <a:effectLst/>
              </a:rPr>
              <a:t>println</a:t>
            </a:r>
            <a:r>
              <a:rPr lang="en-PK" sz="1800" dirty="0">
                <a:solidFill>
                  <a:srgbClr val="666600"/>
                </a:solidFill>
                <a:effectLst/>
              </a:rPr>
              <a:t>(</a:t>
            </a:r>
            <a:r>
              <a:rPr lang="en-PK" sz="1800" dirty="0">
                <a:solidFill>
                  <a:srgbClr val="000000"/>
                </a:solidFill>
                <a:effectLst/>
              </a:rPr>
              <a:t>element</a:t>
            </a:r>
            <a:r>
              <a:rPr lang="en-PK" sz="1800" dirty="0">
                <a:solidFill>
                  <a:srgbClr val="666600"/>
                </a:solidFill>
                <a:effectLst/>
              </a:rPr>
              <a:t>);</a:t>
            </a:r>
            <a:endParaRPr lang="en-US" sz="1800" dirty="0">
              <a:solidFill>
                <a:srgbClr val="6666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PK" sz="1800" dirty="0">
                <a:solidFill>
                  <a:srgbClr val="000000"/>
                </a:solidFill>
                <a:effectLst/>
              </a:rPr>
              <a:t> </a:t>
            </a:r>
            <a:r>
              <a:rPr lang="en-PK" sz="1800" dirty="0">
                <a:solidFill>
                  <a:srgbClr val="666600"/>
                </a:solidFill>
                <a:effectLst/>
              </a:rPr>
              <a:t>}</a:t>
            </a:r>
            <a:endParaRPr lang="en-US" sz="1800" dirty="0">
              <a:solidFill>
                <a:srgbClr val="6666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PK" sz="1800" dirty="0">
                <a:solidFill>
                  <a:srgbClr val="000000"/>
                </a:solidFill>
                <a:effectLst/>
              </a:rPr>
              <a:t>   </a:t>
            </a:r>
            <a:r>
              <a:rPr lang="en-PK" sz="1800" dirty="0">
                <a:solidFill>
                  <a:srgbClr val="666600"/>
                </a:solidFill>
                <a:effectLst/>
              </a:rPr>
              <a:t>}</a:t>
            </a:r>
            <a:endParaRPr lang="en-US" sz="1800" dirty="0">
              <a:solidFill>
                <a:srgbClr val="6666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PK" sz="1800" dirty="0">
                <a:solidFill>
                  <a:srgbClr val="666600"/>
                </a:solidFill>
                <a:effectLst/>
              </a:rPr>
              <a:t>}</a:t>
            </a:r>
            <a:endParaRPr lang="en-PK" sz="2800"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Times New Roman" panose="02020603050405020304" pitchFamily="18" charset="0"/>
              <a:ea typeface="Times New Roman" panose="02020603050405020304" pitchFamily="18" charset="0"/>
            </a:endParaRPr>
          </a:p>
          <a:p>
            <a:pPr marL="30480" marR="30480" algn="just">
              <a:spcBef>
                <a:spcPts val="600"/>
              </a:spcBef>
              <a:spcAft>
                <a:spcPts val="720"/>
              </a:spcAft>
            </a:pPr>
            <a:r>
              <a:rPr lang="en-PK" sz="1800" dirty="0">
                <a:solidFill>
                  <a:srgbClr val="000000"/>
                </a:solidFill>
                <a:effectLst/>
                <a:latin typeface="Arial" panose="020B0604020202020204" pitchFamily="34" charset="0"/>
                <a:ea typeface="Times New Roman" panose="02020603050405020304" pitchFamily="18" charset="0"/>
              </a:rPr>
              <a:t>This will produce the following result −</a:t>
            </a:r>
            <a:endParaRPr lang="en-PK" sz="1800" dirty="0">
              <a:effectLst/>
              <a:latin typeface="Times New Roman" panose="02020603050405020304" pitchFamily="18" charset="0"/>
              <a:ea typeface="Times New Roman" panose="02020603050405020304" pitchFamily="18" charset="0"/>
            </a:endParaRPr>
          </a:p>
          <a:p>
            <a:pPr marL="0" marR="0">
              <a:lnSpc>
                <a:spcPct val="107000"/>
              </a:lnSpc>
              <a:spcBef>
                <a:spcPts val="200"/>
              </a:spcBef>
              <a:spcAft>
                <a:spcPts val="0"/>
              </a:spcAft>
            </a:pPr>
            <a:r>
              <a:rPr lang="en-PK" sz="1800" b="1" dirty="0">
                <a:solidFill>
                  <a:srgbClr val="1F3763"/>
                </a:solidFill>
                <a:effectLst/>
                <a:latin typeface="Arial" panose="020B0604020202020204" pitchFamily="34" charset="0"/>
                <a:ea typeface="DengXian Light" panose="02010600030101010101" pitchFamily="2" charset="-122"/>
                <a:cs typeface="Times New Roman" panose="02020603050405020304" pitchFamily="18" charset="0"/>
              </a:rPr>
              <a:t>Output</a:t>
            </a:r>
            <a:endParaRPr lang="en-PK" sz="1800" b="1" dirty="0">
              <a:solidFill>
                <a:srgbClr val="1F3763"/>
              </a:solidFill>
              <a:effectLst/>
              <a:latin typeface="Calibri Light" panose="020F0302020204030204" pitchFamily="34" charset="0"/>
              <a:ea typeface="DengXian Light" panose="02010600030101010101" pitchFamily="2" charset="-122"/>
              <a:cs typeface="Times New Roman" panose="02020603050405020304" pitchFamily="18" charset="0"/>
            </a:endParaRPr>
          </a:p>
          <a:p>
            <a:r>
              <a:rPr lang="en-PK" sz="1800" dirty="0">
                <a:effectLst/>
              </a:rPr>
              <a:t>1.9</a:t>
            </a:r>
            <a:endParaRPr lang="en-US" sz="1800" dirty="0">
              <a:effectLst/>
              <a:latin typeface="Times New Roman" panose="02020603050405020304" pitchFamily="18" charset="0"/>
            </a:endParaRPr>
          </a:p>
          <a:p>
            <a:r>
              <a:rPr lang="en-PK" sz="1800" dirty="0">
                <a:effectLst/>
              </a:rPr>
              <a:t>2.9</a:t>
            </a:r>
            <a:endParaRPr lang="en-US" sz="1800" dirty="0">
              <a:effectLst/>
            </a:endParaRPr>
          </a:p>
          <a:p>
            <a:r>
              <a:rPr lang="en-PK" sz="1800" dirty="0">
                <a:effectLst/>
              </a:rPr>
              <a:t>3.4</a:t>
            </a:r>
            <a:endParaRPr lang="en-US" sz="1800" dirty="0">
              <a:effectLst/>
            </a:endParaRPr>
          </a:p>
          <a:p>
            <a:r>
              <a:rPr lang="en-PK" sz="1800" dirty="0">
                <a:effectLst/>
              </a:rPr>
              <a:t>3.5</a:t>
            </a:r>
            <a:endParaRPr lang="en-PK" sz="1800" dirty="0">
              <a:effectLst/>
              <a:latin typeface="Times New Roman" panose="02020603050405020304" pitchFamily="18" charset="0"/>
              <a:ea typeface="Times New Roman" panose="02020603050405020304" pitchFamily="18" charset="0"/>
            </a:endParaRPr>
          </a:p>
          <a:p>
            <a:endParaRPr lang="en-PK" dirty="0"/>
          </a:p>
        </p:txBody>
      </p:sp>
      <p:sp>
        <p:nvSpPr>
          <p:cNvPr id="4" name="Slide Number Placeholder 3"/>
          <p:cNvSpPr>
            <a:spLocks noGrp="1"/>
          </p:cNvSpPr>
          <p:nvPr>
            <p:ph type="sldNum" sz="quarter" idx="5"/>
          </p:nvPr>
        </p:nvSpPr>
        <p:spPr/>
        <p:txBody>
          <a:bodyPr/>
          <a:lstStyle/>
          <a:p>
            <a:fld id="{9C7CD17C-7785-4C2F-B7FA-BD414519D18E}" type="slidenum">
              <a:rPr lang="en-PK" smtClean="0"/>
              <a:t>26</a:t>
            </a:fld>
            <a:endParaRPr lang="en-PK"/>
          </a:p>
        </p:txBody>
      </p:sp>
    </p:spTree>
    <p:extLst>
      <p:ext uri="{BB962C8B-B14F-4D97-AF65-F5344CB8AC3E}">
        <p14:creationId xmlns:p14="http://schemas.microsoft.com/office/powerpoint/2010/main" val="27793661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9C7CD17C-7785-4C2F-B7FA-BD414519D18E}" type="slidenum">
              <a:rPr lang="en-PK" smtClean="0"/>
              <a:t>27</a:t>
            </a:fld>
            <a:endParaRPr lang="en-PK"/>
          </a:p>
        </p:txBody>
      </p:sp>
    </p:spTree>
    <p:extLst>
      <p:ext uri="{BB962C8B-B14F-4D97-AF65-F5344CB8AC3E}">
        <p14:creationId xmlns:p14="http://schemas.microsoft.com/office/powerpoint/2010/main" val="24516443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a:solidFill>
                  <a:srgbClr val="3A3A3A"/>
                </a:solidFill>
                <a:effectLst/>
                <a:latin typeface="Helvetica" panose="020B0604020202020204" pitchFamily="34" charset="0"/>
              </a:rPr>
              <a:t>Output:</a:t>
            </a:r>
            <a:br>
              <a:rPr lang="en-US" b="1" i="1" dirty="0">
                <a:solidFill>
                  <a:srgbClr val="3A3A3A"/>
                </a:solidFill>
                <a:effectLst/>
                <a:latin typeface="Helvetica" panose="020B0604020202020204" pitchFamily="34" charset="0"/>
              </a:rPr>
            </a:br>
            <a:r>
              <a:rPr lang="en-US" b="0" i="1" dirty="0">
                <a:solidFill>
                  <a:srgbClr val="3A3A3A"/>
                </a:solidFill>
                <a:effectLst/>
                <a:latin typeface="Helvetica" panose="020B0604020202020204" pitchFamily="34" charset="0"/>
              </a:rPr>
              <a:t>Student </a:t>
            </a:r>
            <a:r>
              <a:rPr lang="en-US" b="0" i="1" dirty="0" err="1">
                <a:solidFill>
                  <a:srgbClr val="3A3A3A"/>
                </a:solidFill>
                <a:effectLst/>
                <a:latin typeface="Helvetica" panose="020B0604020202020204" pitchFamily="34" charset="0"/>
              </a:rPr>
              <a:t>rollNo</a:t>
            </a:r>
            <a:r>
              <a:rPr lang="en-US" b="0" i="1" dirty="0">
                <a:solidFill>
                  <a:srgbClr val="3A3A3A"/>
                </a:solidFill>
                <a:effectLst/>
                <a:latin typeface="Helvetica" panose="020B0604020202020204" pitchFamily="34" charset="0"/>
              </a:rPr>
              <a:t> = 1</a:t>
            </a:r>
            <a:br>
              <a:rPr lang="en-US" dirty="0"/>
            </a:br>
            <a:r>
              <a:rPr lang="en-US" b="0" i="1" dirty="0">
                <a:solidFill>
                  <a:srgbClr val="3A3A3A"/>
                </a:solidFill>
                <a:effectLst/>
                <a:latin typeface="Helvetica" panose="020B0604020202020204" pitchFamily="34" charset="0"/>
              </a:rPr>
              <a:t>Student Name = Ravi </a:t>
            </a:r>
            <a:r>
              <a:rPr lang="en-US" b="0" i="1" dirty="0" err="1">
                <a:solidFill>
                  <a:srgbClr val="3A3A3A"/>
                </a:solidFill>
                <a:effectLst/>
                <a:latin typeface="Helvetica" panose="020B0604020202020204" pitchFamily="34" charset="0"/>
              </a:rPr>
              <a:t>kant</a:t>
            </a:r>
            <a:br>
              <a:rPr lang="en-US" dirty="0"/>
            </a:br>
            <a:r>
              <a:rPr lang="en-US" b="0" i="1" dirty="0">
                <a:solidFill>
                  <a:srgbClr val="3A3A3A"/>
                </a:solidFill>
                <a:effectLst/>
                <a:latin typeface="Helvetica" panose="020B0604020202020204" pitchFamily="34" charset="0"/>
              </a:rPr>
              <a:t>Student class = MCA</a:t>
            </a:r>
            <a:br>
              <a:rPr lang="en-US" dirty="0"/>
            </a:br>
            <a:r>
              <a:rPr lang="en-US" b="0" i="1" dirty="0">
                <a:solidFill>
                  <a:srgbClr val="3A3A3A"/>
                </a:solidFill>
                <a:effectLst/>
                <a:latin typeface="Helvetica" panose="020B0604020202020204" pitchFamily="34" charset="0"/>
              </a:rPr>
              <a:t>Student </a:t>
            </a:r>
            <a:r>
              <a:rPr lang="en-US" b="0" i="1" dirty="0" err="1">
                <a:solidFill>
                  <a:srgbClr val="3A3A3A"/>
                </a:solidFill>
                <a:effectLst/>
                <a:latin typeface="Helvetica" panose="020B0604020202020204" pitchFamily="34" charset="0"/>
              </a:rPr>
              <a:t>rollNo</a:t>
            </a:r>
            <a:r>
              <a:rPr lang="en-US" b="0" i="1" dirty="0">
                <a:solidFill>
                  <a:srgbClr val="3A3A3A"/>
                </a:solidFill>
                <a:effectLst/>
                <a:latin typeface="Helvetica" panose="020B0604020202020204" pitchFamily="34" charset="0"/>
              </a:rPr>
              <a:t> = 2</a:t>
            </a:r>
            <a:br>
              <a:rPr lang="en-US" dirty="0"/>
            </a:br>
            <a:r>
              <a:rPr lang="en-US" b="0" i="1" dirty="0">
                <a:solidFill>
                  <a:srgbClr val="3A3A3A"/>
                </a:solidFill>
                <a:effectLst/>
                <a:latin typeface="Helvetica" panose="020B0604020202020204" pitchFamily="34" charset="0"/>
              </a:rPr>
              <a:t>Student Name = Rama</a:t>
            </a:r>
            <a:br>
              <a:rPr lang="en-US" dirty="0"/>
            </a:br>
            <a:r>
              <a:rPr lang="en-US" b="0" i="1" dirty="0">
                <a:solidFill>
                  <a:srgbClr val="3A3A3A"/>
                </a:solidFill>
                <a:effectLst/>
                <a:latin typeface="Helvetica" panose="020B0604020202020204" pitchFamily="34" charset="0"/>
              </a:rPr>
              <a:t>Student class = MCA</a:t>
            </a:r>
            <a:br>
              <a:rPr lang="en-US" dirty="0"/>
            </a:br>
            <a:r>
              <a:rPr lang="en-US" b="0" i="1" dirty="0">
                <a:solidFill>
                  <a:srgbClr val="3A3A3A"/>
                </a:solidFill>
                <a:effectLst/>
                <a:latin typeface="Helvetica" panose="020B0604020202020204" pitchFamily="34" charset="0"/>
              </a:rPr>
              <a:t>Student </a:t>
            </a:r>
            <a:r>
              <a:rPr lang="en-US" b="0" i="1" dirty="0" err="1">
                <a:solidFill>
                  <a:srgbClr val="3A3A3A"/>
                </a:solidFill>
                <a:effectLst/>
                <a:latin typeface="Helvetica" panose="020B0604020202020204" pitchFamily="34" charset="0"/>
              </a:rPr>
              <a:t>rollNo</a:t>
            </a:r>
            <a:r>
              <a:rPr lang="en-US" b="0" i="1" dirty="0">
                <a:solidFill>
                  <a:srgbClr val="3A3A3A"/>
                </a:solidFill>
                <a:effectLst/>
                <a:latin typeface="Helvetica" panose="020B0604020202020204" pitchFamily="34" charset="0"/>
              </a:rPr>
              <a:t> = 3</a:t>
            </a:r>
            <a:br>
              <a:rPr lang="en-US" dirty="0"/>
            </a:br>
            <a:r>
              <a:rPr lang="en-US" b="0" i="1" dirty="0">
                <a:solidFill>
                  <a:srgbClr val="3A3A3A"/>
                </a:solidFill>
                <a:effectLst/>
                <a:latin typeface="Helvetica" panose="020B0604020202020204" pitchFamily="34" charset="0"/>
              </a:rPr>
              <a:t>Student Name = </a:t>
            </a:r>
            <a:r>
              <a:rPr lang="en-US" b="0" i="1" dirty="0" err="1">
                <a:solidFill>
                  <a:srgbClr val="3A3A3A"/>
                </a:solidFill>
                <a:effectLst/>
                <a:latin typeface="Helvetica" panose="020B0604020202020204" pitchFamily="34" charset="0"/>
              </a:rPr>
              <a:t>Radhe</a:t>
            </a:r>
            <a:br>
              <a:rPr lang="en-US" dirty="0"/>
            </a:br>
            <a:r>
              <a:rPr lang="en-US" b="0" i="1" dirty="0">
                <a:solidFill>
                  <a:srgbClr val="3A3A3A"/>
                </a:solidFill>
                <a:effectLst/>
                <a:latin typeface="Helvetica" panose="020B0604020202020204" pitchFamily="34" charset="0"/>
              </a:rPr>
              <a:t>Student class = MCA</a:t>
            </a:r>
          </a:p>
          <a:p>
            <a:endParaRPr lang="en-PK" dirty="0"/>
          </a:p>
        </p:txBody>
      </p:sp>
      <p:sp>
        <p:nvSpPr>
          <p:cNvPr id="4" name="Slide Number Placeholder 3"/>
          <p:cNvSpPr>
            <a:spLocks noGrp="1"/>
          </p:cNvSpPr>
          <p:nvPr>
            <p:ph type="sldNum" sz="quarter" idx="5"/>
          </p:nvPr>
        </p:nvSpPr>
        <p:spPr/>
        <p:txBody>
          <a:bodyPr/>
          <a:lstStyle/>
          <a:p>
            <a:fld id="{05709E25-1C14-4C22-A49B-DDBD3FD4B5CB}" type="slidenum">
              <a:rPr lang="en-PK" smtClean="0"/>
              <a:t>32</a:t>
            </a:fld>
            <a:endParaRPr lang="en-PK"/>
          </a:p>
        </p:txBody>
      </p:sp>
    </p:spTree>
    <p:extLst>
      <p:ext uri="{BB962C8B-B14F-4D97-AF65-F5344CB8AC3E}">
        <p14:creationId xmlns:p14="http://schemas.microsoft.com/office/powerpoint/2010/main" val="3765806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9C7CD17C-7785-4C2F-B7FA-BD414519D18E}" type="slidenum">
              <a:rPr lang="en-PK" smtClean="0"/>
              <a:t>34</a:t>
            </a:fld>
            <a:endParaRPr lang="en-PK"/>
          </a:p>
        </p:txBody>
      </p:sp>
    </p:spTree>
    <p:extLst>
      <p:ext uri="{BB962C8B-B14F-4D97-AF65-F5344CB8AC3E}">
        <p14:creationId xmlns:p14="http://schemas.microsoft.com/office/powerpoint/2010/main" val="3801132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rPr>
              <a:t>Output:</a:t>
            </a:r>
            <a:r>
              <a:rPr lang="en-US" dirty="0">
                <a:effectLst/>
              </a:rPr>
              <a:t> 1</a:t>
            </a:r>
            <a:br>
              <a:rPr lang="en-US" dirty="0">
                <a:effectLst/>
              </a:rPr>
            </a:br>
            <a:r>
              <a:rPr lang="en-US" dirty="0">
                <a:effectLst/>
              </a:rPr>
              <a:t>Hello1</a:t>
            </a:r>
            <a:br>
              <a:rPr lang="en-US" dirty="0">
                <a:effectLst/>
              </a:rPr>
            </a:br>
            <a:r>
              <a:rPr lang="en-US" dirty="0">
                <a:effectLst/>
              </a:rPr>
              <a:t>2</a:t>
            </a:r>
            <a:br>
              <a:rPr lang="en-US" dirty="0">
                <a:effectLst/>
              </a:rPr>
            </a:br>
            <a:r>
              <a:rPr lang="en-US" dirty="0">
                <a:effectLst/>
              </a:rPr>
              <a:t>Hello2</a:t>
            </a:r>
            <a:br>
              <a:rPr lang="en-US" dirty="0">
                <a:effectLst/>
              </a:rPr>
            </a:br>
            <a:r>
              <a:rPr lang="en-US" dirty="0">
                <a:effectLst/>
              </a:rPr>
              <a:t>3</a:t>
            </a:r>
            <a:br>
              <a:rPr lang="en-US" dirty="0">
                <a:effectLst/>
              </a:rPr>
            </a:br>
            <a:r>
              <a:rPr lang="en-US" dirty="0">
                <a:effectLst/>
              </a:rPr>
              <a:t>Hello3</a:t>
            </a:r>
            <a:br>
              <a:rPr lang="en-US" dirty="0">
                <a:effectLst/>
              </a:rPr>
            </a:br>
            <a:r>
              <a:rPr lang="en-US" dirty="0">
                <a:effectLst/>
              </a:rPr>
              <a:t>4</a:t>
            </a:r>
            <a:br>
              <a:rPr lang="en-US" dirty="0">
                <a:effectLst/>
              </a:rPr>
            </a:br>
            <a:r>
              <a:rPr lang="en-US" dirty="0">
                <a:effectLst/>
              </a:rPr>
              <a:t>Hello4</a:t>
            </a:r>
            <a:br>
              <a:rPr lang="en-US" dirty="0">
                <a:effectLst/>
              </a:rPr>
            </a:br>
            <a:r>
              <a:rPr lang="en-US" dirty="0">
                <a:effectLst/>
              </a:rPr>
              <a:t>5</a:t>
            </a:r>
            <a:br>
              <a:rPr lang="en-US" dirty="0">
                <a:effectLst/>
              </a:rPr>
            </a:br>
            <a:r>
              <a:rPr lang="en-US" dirty="0">
                <a:effectLst/>
              </a:rPr>
              <a:t>Hello5</a:t>
            </a:r>
            <a:br>
              <a:rPr lang="en-US" dirty="0">
                <a:effectLst/>
              </a:rPr>
            </a:br>
            <a:r>
              <a:rPr lang="en-US" dirty="0">
                <a:effectLst/>
              </a:rPr>
              <a:t>6</a:t>
            </a:r>
            <a:br>
              <a:rPr lang="en-US" dirty="0">
                <a:effectLst/>
              </a:rPr>
            </a:br>
            <a:r>
              <a:rPr lang="en-US" dirty="0">
                <a:effectLst/>
              </a:rPr>
              <a:t>Hello6</a:t>
            </a:r>
            <a:br>
              <a:rPr lang="en-US" dirty="0">
                <a:effectLst/>
              </a:rPr>
            </a:br>
            <a:r>
              <a:rPr lang="en-US" dirty="0">
                <a:effectLst/>
              </a:rPr>
              <a:t>7</a:t>
            </a:r>
            <a:br>
              <a:rPr lang="en-US" dirty="0">
                <a:effectLst/>
              </a:rPr>
            </a:br>
            <a:r>
              <a:rPr lang="en-US" dirty="0">
                <a:effectLst/>
              </a:rPr>
              <a:t>Hello7</a:t>
            </a:r>
            <a:br>
              <a:rPr lang="en-US" dirty="0">
                <a:effectLst/>
              </a:rPr>
            </a:br>
            <a:r>
              <a:rPr lang="en-US" dirty="0">
                <a:effectLst/>
              </a:rPr>
              <a:t>8</a:t>
            </a:r>
            <a:br>
              <a:rPr lang="en-US" dirty="0">
                <a:effectLst/>
              </a:rPr>
            </a:br>
            <a:r>
              <a:rPr lang="en-US" dirty="0">
                <a:effectLst/>
              </a:rPr>
              <a:t>Hello8</a:t>
            </a:r>
            <a:br>
              <a:rPr lang="en-US" dirty="0">
                <a:effectLst/>
              </a:rPr>
            </a:br>
            <a:r>
              <a:rPr lang="en-US" dirty="0">
                <a:effectLst/>
              </a:rPr>
              <a:t>9</a:t>
            </a:r>
            <a:br>
              <a:rPr lang="en-US" dirty="0">
                <a:effectLst/>
              </a:rPr>
            </a:br>
            <a:r>
              <a:rPr lang="en-US" dirty="0">
                <a:effectLst/>
              </a:rPr>
              <a:t>Hello9</a:t>
            </a:r>
          </a:p>
          <a:p>
            <a:br>
              <a:rPr lang="en-US" dirty="0"/>
            </a:br>
            <a:endParaRPr lang="en-PK" dirty="0"/>
          </a:p>
        </p:txBody>
      </p:sp>
      <p:sp>
        <p:nvSpPr>
          <p:cNvPr id="4" name="Slide Number Placeholder 3"/>
          <p:cNvSpPr>
            <a:spLocks noGrp="1"/>
          </p:cNvSpPr>
          <p:nvPr>
            <p:ph type="sldNum" sz="quarter" idx="5"/>
          </p:nvPr>
        </p:nvSpPr>
        <p:spPr/>
        <p:txBody>
          <a:bodyPr/>
          <a:lstStyle/>
          <a:p>
            <a:fld id="{05709E25-1C14-4C22-A49B-DDBD3FD4B5CB}" type="slidenum">
              <a:rPr lang="en-PK" smtClean="0"/>
              <a:t>43</a:t>
            </a:fld>
            <a:endParaRPr lang="en-PK"/>
          </a:p>
        </p:txBody>
      </p:sp>
    </p:spTree>
    <p:extLst>
      <p:ext uri="{BB962C8B-B14F-4D97-AF65-F5344CB8AC3E}">
        <p14:creationId xmlns:p14="http://schemas.microsoft.com/office/powerpoint/2010/main" val="4231646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a:t>
            </a:r>
          </a:p>
          <a:p>
            <a:endParaRPr lang="en-PK" dirty="0"/>
          </a:p>
        </p:txBody>
      </p:sp>
      <p:sp>
        <p:nvSpPr>
          <p:cNvPr id="4" name="Slide Number Placeholder 3"/>
          <p:cNvSpPr>
            <a:spLocks noGrp="1"/>
          </p:cNvSpPr>
          <p:nvPr>
            <p:ph type="sldNum" sz="quarter" idx="5"/>
          </p:nvPr>
        </p:nvSpPr>
        <p:spPr/>
        <p:txBody>
          <a:bodyPr/>
          <a:lstStyle/>
          <a:p>
            <a:fld id="{9C7CD17C-7785-4C2F-B7FA-BD414519D18E}" type="slidenum">
              <a:rPr lang="en-PK" smtClean="0"/>
              <a:t>44</a:t>
            </a:fld>
            <a:endParaRPr lang="en-PK"/>
          </a:p>
        </p:txBody>
      </p:sp>
    </p:spTree>
    <p:extLst>
      <p:ext uri="{BB962C8B-B14F-4D97-AF65-F5344CB8AC3E}">
        <p14:creationId xmlns:p14="http://schemas.microsoft.com/office/powerpoint/2010/main" val="36209380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05709E25-1C14-4C22-A49B-DDBD3FD4B5CB}" type="slidenum">
              <a:rPr lang="en-PK" smtClean="0"/>
              <a:t>51</a:t>
            </a:fld>
            <a:endParaRPr lang="en-PK"/>
          </a:p>
        </p:txBody>
      </p:sp>
    </p:spTree>
    <p:extLst>
      <p:ext uri="{BB962C8B-B14F-4D97-AF65-F5344CB8AC3E}">
        <p14:creationId xmlns:p14="http://schemas.microsoft.com/office/powerpoint/2010/main" val="17738729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81391-AD34-484A-8F2F-EA29A7787B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151C0A9E-91B6-43CA-8B24-ADDA76AF12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48F44097-A2D5-4BD9-9D6F-DEBB3651C8C0}"/>
              </a:ext>
            </a:extLst>
          </p:cNvPr>
          <p:cNvSpPr>
            <a:spLocks noGrp="1"/>
          </p:cNvSpPr>
          <p:nvPr>
            <p:ph type="dt" sz="half" idx="10"/>
          </p:nvPr>
        </p:nvSpPr>
        <p:spPr/>
        <p:txBody>
          <a:bodyPr/>
          <a:lstStyle/>
          <a:p>
            <a:fld id="{BA2ACA27-6398-47FE-921F-2E94FED21993}" type="datetimeFigureOut">
              <a:rPr lang="en-PK" smtClean="0"/>
              <a:t>21/11/2022</a:t>
            </a:fld>
            <a:endParaRPr lang="en-PK"/>
          </a:p>
        </p:txBody>
      </p:sp>
      <p:sp>
        <p:nvSpPr>
          <p:cNvPr id="5" name="Footer Placeholder 4">
            <a:extLst>
              <a:ext uri="{FF2B5EF4-FFF2-40B4-BE49-F238E27FC236}">
                <a16:creationId xmlns:a16="http://schemas.microsoft.com/office/drawing/2014/main" id="{75CA27F0-D758-4037-B5FA-45503F7879C1}"/>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47D29343-4039-404F-B9F4-F7B1BEC29C76}"/>
              </a:ext>
            </a:extLst>
          </p:cNvPr>
          <p:cNvSpPr>
            <a:spLocks noGrp="1"/>
          </p:cNvSpPr>
          <p:nvPr>
            <p:ph type="sldNum" sz="quarter" idx="12"/>
          </p:nvPr>
        </p:nvSpPr>
        <p:spPr/>
        <p:txBody>
          <a:bodyPr/>
          <a:lstStyle/>
          <a:p>
            <a:fld id="{67BDA388-00BA-4816-AAB8-B3698CE73765}" type="slidenum">
              <a:rPr lang="en-PK" smtClean="0"/>
              <a:t>‹#›</a:t>
            </a:fld>
            <a:endParaRPr lang="en-PK"/>
          </a:p>
        </p:txBody>
      </p:sp>
    </p:spTree>
    <p:extLst>
      <p:ext uri="{BB962C8B-B14F-4D97-AF65-F5344CB8AC3E}">
        <p14:creationId xmlns:p14="http://schemas.microsoft.com/office/powerpoint/2010/main" val="26095351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EB20E-35F6-4286-A6A4-96B34BF39227}"/>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444E91F1-2F6E-4B04-A5FB-91226F2B53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BDDADCF0-A121-4AD6-A400-96494304B1A8}"/>
              </a:ext>
            </a:extLst>
          </p:cNvPr>
          <p:cNvSpPr>
            <a:spLocks noGrp="1"/>
          </p:cNvSpPr>
          <p:nvPr>
            <p:ph type="dt" sz="half" idx="10"/>
          </p:nvPr>
        </p:nvSpPr>
        <p:spPr/>
        <p:txBody>
          <a:bodyPr/>
          <a:lstStyle/>
          <a:p>
            <a:fld id="{BA2ACA27-6398-47FE-921F-2E94FED21993}" type="datetimeFigureOut">
              <a:rPr lang="en-PK" smtClean="0"/>
              <a:t>21/11/2022</a:t>
            </a:fld>
            <a:endParaRPr lang="en-PK"/>
          </a:p>
        </p:txBody>
      </p:sp>
      <p:sp>
        <p:nvSpPr>
          <p:cNvPr id="5" name="Footer Placeholder 4">
            <a:extLst>
              <a:ext uri="{FF2B5EF4-FFF2-40B4-BE49-F238E27FC236}">
                <a16:creationId xmlns:a16="http://schemas.microsoft.com/office/drawing/2014/main" id="{AD237B15-C8C5-4E78-96AF-A785109DB33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EF511EC1-5183-46C9-85AF-2F97DFC89E87}"/>
              </a:ext>
            </a:extLst>
          </p:cNvPr>
          <p:cNvSpPr>
            <a:spLocks noGrp="1"/>
          </p:cNvSpPr>
          <p:nvPr>
            <p:ph type="sldNum" sz="quarter" idx="12"/>
          </p:nvPr>
        </p:nvSpPr>
        <p:spPr/>
        <p:txBody>
          <a:bodyPr/>
          <a:lstStyle/>
          <a:p>
            <a:fld id="{67BDA388-00BA-4816-AAB8-B3698CE73765}" type="slidenum">
              <a:rPr lang="en-PK" smtClean="0"/>
              <a:t>‹#›</a:t>
            </a:fld>
            <a:endParaRPr lang="en-PK"/>
          </a:p>
        </p:txBody>
      </p:sp>
    </p:spTree>
    <p:extLst>
      <p:ext uri="{BB962C8B-B14F-4D97-AF65-F5344CB8AC3E}">
        <p14:creationId xmlns:p14="http://schemas.microsoft.com/office/powerpoint/2010/main" val="23274483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548A0-76BF-42E5-A747-E6A1981E2DA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A6BA072A-ED16-4C26-B1A3-30A24632296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50A7E55-7DA3-454D-9913-EC5B3E71980B}"/>
              </a:ext>
            </a:extLst>
          </p:cNvPr>
          <p:cNvSpPr>
            <a:spLocks noGrp="1"/>
          </p:cNvSpPr>
          <p:nvPr>
            <p:ph type="dt" sz="half" idx="10"/>
          </p:nvPr>
        </p:nvSpPr>
        <p:spPr/>
        <p:txBody>
          <a:bodyPr/>
          <a:lstStyle/>
          <a:p>
            <a:fld id="{BA2ACA27-6398-47FE-921F-2E94FED21993}" type="datetimeFigureOut">
              <a:rPr lang="en-PK" smtClean="0"/>
              <a:t>21/11/2022</a:t>
            </a:fld>
            <a:endParaRPr lang="en-PK"/>
          </a:p>
        </p:txBody>
      </p:sp>
      <p:sp>
        <p:nvSpPr>
          <p:cNvPr id="5" name="Footer Placeholder 4">
            <a:extLst>
              <a:ext uri="{FF2B5EF4-FFF2-40B4-BE49-F238E27FC236}">
                <a16:creationId xmlns:a16="http://schemas.microsoft.com/office/drawing/2014/main" id="{29F4976C-13EB-423C-B411-03111EBAF7EE}"/>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3066638A-8E52-4316-8598-816A5B0C38EF}"/>
              </a:ext>
            </a:extLst>
          </p:cNvPr>
          <p:cNvSpPr>
            <a:spLocks noGrp="1"/>
          </p:cNvSpPr>
          <p:nvPr>
            <p:ph type="sldNum" sz="quarter" idx="12"/>
          </p:nvPr>
        </p:nvSpPr>
        <p:spPr/>
        <p:txBody>
          <a:bodyPr/>
          <a:lstStyle/>
          <a:p>
            <a:fld id="{67BDA388-00BA-4816-AAB8-B3698CE73765}" type="slidenum">
              <a:rPr lang="en-PK" smtClean="0"/>
              <a:t>‹#›</a:t>
            </a:fld>
            <a:endParaRPr lang="en-PK"/>
          </a:p>
        </p:txBody>
      </p:sp>
    </p:spTree>
    <p:extLst>
      <p:ext uri="{BB962C8B-B14F-4D97-AF65-F5344CB8AC3E}">
        <p14:creationId xmlns:p14="http://schemas.microsoft.com/office/powerpoint/2010/main" val="2048996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D3EAC-AA1F-4FD7-8082-4F930F7A7F18}"/>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A2A2447E-6BD3-419E-B9D0-EEDFDF97EAB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0D588990-053C-49ED-89C9-8A170AEE783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B26272FB-000C-4F38-80D6-1DA9CE35D146}"/>
              </a:ext>
            </a:extLst>
          </p:cNvPr>
          <p:cNvSpPr>
            <a:spLocks noGrp="1"/>
          </p:cNvSpPr>
          <p:nvPr>
            <p:ph type="dt" sz="half" idx="10"/>
          </p:nvPr>
        </p:nvSpPr>
        <p:spPr/>
        <p:txBody>
          <a:bodyPr/>
          <a:lstStyle/>
          <a:p>
            <a:fld id="{BA2ACA27-6398-47FE-921F-2E94FED21993}" type="datetimeFigureOut">
              <a:rPr lang="en-PK" smtClean="0"/>
              <a:t>21/11/2022</a:t>
            </a:fld>
            <a:endParaRPr lang="en-PK"/>
          </a:p>
        </p:txBody>
      </p:sp>
      <p:sp>
        <p:nvSpPr>
          <p:cNvPr id="6" name="Footer Placeholder 5">
            <a:extLst>
              <a:ext uri="{FF2B5EF4-FFF2-40B4-BE49-F238E27FC236}">
                <a16:creationId xmlns:a16="http://schemas.microsoft.com/office/drawing/2014/main" id="{08D53BA8-702C-4D27-8EAC-BA47C10DA5BD}"/>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361B1DDE-52BE-4951-A98F-E62F184E5F15}"/>
              </a:ext>
            </a:extLst>
          </p:cNvPr>
          <p:cNvSpPr>
            <a:spLocks noGrp="1"/>
          </p:cNvSpPr>
          <p:nvPr>
            <p:ph type="sldNum" sz="quarter" idx="12"/>
          </p:nvPr>
        </p:nvSpPr>
        <p:spPr/>
        <p:txBody>
          <a:bodyPr/>
          <a:lstStyle/>
          <a:p>
            <a:fld id="{67BDA388-00BA-4816-AAB8-B3698CE73765}" type="slidenum">
              <a:rPr lang="en-PK" smtClean="0"/>
              <a:t>‹#›</a:t>
            </a:fld>
            <a:endParaRPr lang="en-PK"/>
          </a:p>
        </p:txBody>
      </p:sp>
    </p:spTree>
    <p:extLst>
      <p:ext uri="{BB962C8B-B14F-4D97-AF65-F5344CB8AC3E}">
        <p14:creationId xmlns:p14="http://schemas.microsoft.com/office/powerpoint/2010/main" val="18920516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69AC2-B08B-4B30-B805-6FF1E5BBB060}"/>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016851C7-0281-4018-8196-0393A0DBA5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7843F6F-C8A2-4A81-AE67-E5DDCD2BECD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66050428-3FDA-457C-A1EB-4BC35D0A33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3C2243E-D7E6-457B-B775-DE7729FBE91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538DB773-05F5-47DB-AEAC-AED53B968BA7}"/>
              </a:ext>
            </a:extLst>
          </p:cNvPr>
          <p:cNvSpPr>
            <a:spLocks noGrp="1"/>
          </p:cNvSpPr>
          <p:nvPr>
            <p:ph type="dt" sz="half" idx="10"/>
          </p:nvPr>
        </p:nvSpPr>
        <p:spPr/>
        <p:txBody>
          <a:bodyPr/>
          <a:lstStyle/>
          <a:p>
            <a:fld id="{BA2ACA27-6398-47FE-921F-2E94FED21993}" type="datetimeFigureOut">
              <a:rPr lang="en-PK" smtClean="0"/>
              <a:t>21/11/2022</a:t>
            </a:fld>
            <a:endParaRPr lang="en-PK"/>
          </a:p>
        </p:txBody>
      </p:sp>
      <p:sp>
        <p:nvSpPr>
          <p:cNvPr id="8" name="Footer Placeholder 7">
            <a:extLst>
              <a:ext uri="{FF2B5EF4-FFF2-40B4-BE49-F238E27FC236}">
                <a16:creationId xmlns:a16="http://schemas.microsoft.com/office/drawing/2014/main" id="{D38E8064-C2C3-4DDB-89CF-6F9E62F2944A}"/>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19D95695-C784-4B0A-BC04-CA9DE0148C76}"/>
              </a:ext>
            </a:extLst>
          </p:cNvPr>
          <p:cNvSpPr>
            <a:spLocks noGrp="1"/>
          </p:cNvSpPr>
          <p:nvPr>
            <p:ph type="sldNum" sz="quarter" idx="12"/>
          </p:nvPr>
        </p:nvSpPr>
        <p:spPr/>
        <p:txBody>
          <a:bodyPr/>
          <a:lstStyle/>
          <a:p>
            <a:fld id="{67BDA388-00BA-4816-AAB8-B3698CE73765}" type="slidenum">
              <a:rPr lang="en-PK" smtClean="0"/>
              <a:t>‹#›</a:t>
            </a:fld>
            <a:endParaRPr lang="en-PK"/>
          </a:p>
        </p:txBody>
      </p:sp>
    </p:spTree>
    <p:extLst>
      <p:ext uri="{BB962C8B-B14F-4D97-AF65-F5344CB8AC3E}">
        <p14:creationId xmlns:p14="http://schemas.microsoft.com/office/powerpoint/2010/main" val="32927080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0A35B-8ABB-4014-92B4-764A98E0583E}"/>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61D597F3-B0AA-4401-8C62-BDF4CF918011}"/>
              </a:ext>
            </a:extLst>
          </p:cNvPr>
          <p:cNvSpPr>
            <a:spLocks noGrp="1"/>
          </p:cNvSpPr>
          <p:nvPr>
            <p:ph type="dt" sz="half" idx="10"/>
          </p:nvPr>
        </p:nvSpPr>
        <p:spPr/>
        <p:txBody>
          <a:bodyPr/>
          <a:lstStyle/>
          <a:p>
            <a:fld id="{BA2ACA27-6398-47FE-921F-2E94FED21993}" type="datetimeFigureOut">
              <a:rPr lang="en-PK" smtClean="0"/>
              <a:t>21/11/2022</a:t>
            </a:fld>
            <a:endParaRPr lang="en-PK"/>
          </a:p>
        </p:txBody>
      </p:sp>
      <p:sp>
        <p:nvSpPr>
          <p:cNvPr id="4" name="Footer Placeholder 3">
            <a:extLst>
              <a:ext uri="{FF2B5EF4-FFF2-40B4-BE49-F238E27FC236}">
                <a16:creationId xmlns:a16="http://schemas.microsoft.com/office/drawing/2014/main" id="{8D92F783-B7DA-4210-A6FA-73224A621CBC}"/>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98BF69F3-4047-4099-8BE0-118C13EEFC4D}"/>
              </a:ext>
            </a:extLst>
          </p:cNvPr>
          <p:cNvSpPr>
            <a:spLocks noGrp="1"/>
          </p:cNvSpPr>
          <p:nvPr>
            <p:ph type="sldNum" sz="quarter" idx="12"/>
          </p:nvPr>
        </p:nvSpPr>
        <p:spPr/>
        <p:txBody>
          <a:bodyPr/>
          <a:lstStyle/>
          <a:p>
            <a:fld id="{67BDA388-00BA-4816-AAB8-B3698CE73765}" type="slidenum">
              <a:rPr lang="en-PK" smtClean="0"/>
              <a:t>‹#›</a:t>
            </a:fld>
            <a:endParaRPr lang="en-PK"/>
          </a:p>
        </p:txBody>
      </p:sp>
    </p:spTree>
    <p:extLst>
      <p:ext uri="{BB962C8B-B14F-4D97-AF65-F5344CB8AC3E}">
        <p14:creationId xmlns:p14="http://schemas.microsoft.com/office/powerpoint/2010/main" val="25164775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91A028-CC10-4F68-B1AF-B332860C6503}"/>
              </a:ext>
            </a:extLst>
          </p:cNvPr>
          <p:cNvSpPr>
            <a:spLocks noGrp="1"/>
          </p:cNvSpPr>
          <p:nvPr>
            <p:ph type="dt" sz="half" idx="10"/>
          </p:nvPr>
        </p:nvSpPr>
        <p:spPr/>
        <p:txBody>
          <a:bodyPr/>
          <a:lstStyle/>
          <a:p>
            <a:fld id="{BA2ACA27-6398-47FE-921F-2E94FED21993}" type="datetimeFigureOut">
              <a:rPr lang="en-PK" smtClean="0"/>
              <a:t>21/11/2022</a:t>
            </a:fld>
            <a:endParaRPr lang="en-PK"/>
          </a:p>
        </p:txBody>
      </p:sp>
      <p:sp>
        <p:nvSpPr>
          <p:cNvPr id="3" name="Footer Placeholder 2">
            <a:extLst>
              <a:ext uri="{FF2B5EF4-FFF2-40B4-BE49-F238E27FC236}">
                <a16:creationId xmlns:a16="http://schemas.microsoft.com/office/drawing/2014/main" id="{D4989E46-3D10-4340-91CF-59B930BFFD06}"/>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D7769767-B645-4B45-84F9-D79C27FDA6E4}"/>
              </a:ext>
            </a:extLst>
          </p:cNvPr>
          <p:cNvSpPr>
            <a:spLocks noGrp="1"/>
          </p:cNvSpPr>
          <p:nvPr>
            <p:ph type="sldNum" sz="quarter" idx="12"/>
          </p:nvPr>
        </p:nvSpPr>
        <p:spPr/>
        <p:txBody>
          <a:bodyPr/>
          <a:lstStyle/>
          <a:p>
            <a:fld id="{67BDA388-00BA-4816-AAB8-B3698CE73765}" type="slidenum">
              <a:rPr lang="en-PK" smtClean="0"/>
              <a:t>‹#›</a:t>
            </a:fld>
            <a:endParaRPr lang="en-PK"/>
          </a:p>
        </p:txBody>
      </p:sp>
    </p:spTree>
    <p:extLst>
      <p:ext uri="{BB962C8B-B14F-4D97-AF65-F5344CB8AC3E}">
        <p14:creationId xmlns:p14="http://schemas.microsoft.com/office/powerpoint/2010/main" val="245137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325D2-57C5-4C66-B5BE-0CE09C888F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A173A74D-6667-45D6-AE0F-546E353ADA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F2C73B18-2C9D-417E-A5F4-CBF1835294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9FA659-97BC-4654-8EEC-180B5A79BCFC}"/>
              </a:ext>
            </a:extLst>
          </p:cNvPr>
          <p:cNvSpPr>
            <a:spLocks noGrp="1"/>
          </p:cNvSpPr>
          <p:nvPr>
            <p:ph type="dt" sz="half" idx="10"/>
          </p:nvPr>
        </p:nvSpPr>
        <p:spPr/>
        <p:txBody>
          <a:bodyPr/>
          <a:lstStyle/>
          <a:p>
            <a:fld id="{BA2ACA27-6398-47FE-921F-2E94FED21993}" type="datetimeFigureOut">
              <a:rPr lang="en-PK" smtClean="0"/>
              <a:t>21/11/2022</a:t>
            </a:fld>
            <a:endParaRPr lang="en-PK"/>
          </a:p>
        </p:txBody>
      </p:sp>
      <p:sp>
        <p:nvSpPr>
          <p:cNvPr id="6" name="Footer Placeholder 5">
            <a:extLst>
              <a:ext uri="{FF2B5EF4-FFF2-40B4-BE49-F238E27FC236}">
                <a16:creationId xmlns:a16="http://schemas.microsoft.com/office/drawing/2014/main" id="{FF850DAE-A9E3-4A6D-BCF2-7BC68330CF49}"/>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A5A8FF44-99F3-4377-A07D-9890C83EF358}"/>
              </a:ext>
            </a:extLst>
          </p:cNvPr>
          <p:cNvSpPr>
            <a:spLocks noGrp="1"/>
          </p:cNvSpPr>
          <p:nvPr>
            <p:ph type="sldNum" sz="quarter" idx="12"/>
          </p:nvPr>
        </p:nvSpPr>
        <p:spPr/>
        <p:txBody>
          <a:bodyPr/>
          <a:lstStyle/>
          <a:p>
            <a:fld id="{67BDA388-00BA-4816-AAB8-B3698CE73765}" type="slidenum">
              <a:rPr lang="en-PK" smtClean="0"/>
              <a:t>‹#›</a:t>
            </a:fld>
            <a:endParaRPr lang="en-PK"/>
          </a:p>
        </p:txBody>
      </p:sp>
    </p:spTree>
    <p:extLst>
      <p:ext uri="{BB962C8B-B14F-4D97-AF65-F5344CB8AC3E}">
        <p14:creationId xmlns:p14="http://schemas.microsoft.com/office/powerpoint/2010/main" val="39860447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A040B-4312-416B-9F4B-D7744F66C9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7270BC80-C415-45F6-B811-0A9FEDC539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73543682-E860-4B65-A42C-A9B1F6A16E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6218B5-5547-4327-815F-5E52F10DB385}"/>
              </a:ext>
            </a:extLst>
          </p:cNvPr>
          <p:cNvSpPr>
            <a:spLocks noGrp="1"/>
          </p:cNvSpPr>
          <p:nvPr>
            <p:ph type="dt" sz="half" idx="10"/>
          </p:nvPr>
        </p:nvSpPr>
        <p:spPr/>
        <p:txBody>
          <a:bodyPr/>
          <a:lstStyle/>
          <a:p>
            <a:fld id="{BA2ACA27-6398-47FE-921F-2E94FED21993}" type="datetimeFigureOut">
              <a:rPr lang="en-PK" smtClean="0"/>
              <a:t>21/11/2022</a:t>
            </a:fld>
            <a:endParaRPr lang="en-PK"/>
          </a:p>
        </p:txBody>
      </p:sp>
      <p:sp>
        <p:nvSpPr>
          <p:cNvPr id="6" name="Footer Placeholder 5">
            <a:extLst>
              <a:ext uri="{FF2B5EF4-FFF2-40B4-BE49-F238E27FC236}">
                <a16:creationId xmlns:a16="http://schemas.microsoft.com/office/drawing/2014/main" id="{ABEEA4D0-BF53-4E4E-8A14-0F4FD32E6105}"/>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510B3B28-404C-46C1-9D40-DFC62CFA9DC8}"/>
              </a:ext>
            </a:extLst>
          </p:cNvPr>
          <p:cNvSpPr>
            <a:spLocks noGrp="1"/>
          </p:cNvSpPr>
          <p:nvPr>
            <p:ph type="sldNum" sz="quarter" idx="12"/>
          </p:nvPr>
        </p:nvSpPr>
        <p:spPr/>
        <p:txBody>
          <a:bodyPr/>
          <a:lstStyle/>
          <a:p>
            <a:fld id="{67BDA388-00BA-4816-AAB8-B3698CE73765}" type="slidenum">
              <a:rPr lang="en-PK" smtClean="0"/>
              <a:t>‹#›</a:t>
            </a:fld>
            <a:endParaRPr lang="en-PK"/>
          </a:p>
        </p:txBody>
      </p:sp>
    </p:spTree>
    <p:extLst>
      <p:ext uri="{BB962C8B-B14F-4D97-AF65-F5344CB8AC3E}">
        <p14:creationId xmlns:p14="http://schemas.microsoft.com/office/powerpoint/2010/main" val="12459167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6E3A9-5E55-4C19-A5DA-1DEB47384468}"/>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01244525-F06A-4075-B6C8-1517DD4A8A0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18774B8E-9FB1-499F-B966-CCC7FE105F74}"/>
              </a:ext>
            </a:extLst>
          </p:cNvPr>
          <p:cNvSpPr>
            <a:spLocks noGrp="1"/>
          </p:cNvSpPr>
          <p:nvPr>
            <p:ph type="dt" sz="half" idx="10"/>
          </p:nvPr>
        </p:nvSpPr>
        <p:spPr/>
        <p:txBody>
          <a:bodyPr/>
          <a:lstStyle/>
          <a:p>
            <a:fld id="{BA2ACA27-6398-47FE-921F-2E94FED21993}" type="datetimeFigureOut">
              <a:rPr lang="en-PK" smtClean="0"/>
              <a:t>21/11/2022</a:t>
            </a:fld>
            <a:endParaRPr lang="en-PK"/>
          </a:p>
        </p:txBody>
      </p:sp>
      <p:sp>
        <p:nvSpPr>
          <p:cNvPr id="5" name="Footer Placeholder 4">
            <a:extLst>
              <a:ext uri="{FF2B5EF4-FFF2-40B4-BE49-F238E27FC236}">
                <a16:creationId xmlns:a16="http://schemas.microsoft.com/office/drawing/2014/main" id="{37B12C8C-B088-4C16-AB39-B1F38C95A31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000E288C-FA3D-4FB1-853B-0B74ECAF10D8}"/>
              </a:ext>
            </a:extLst>
          </p:cNvPr>
          <p:cNvSpPr>
            <a:spLocks noGrp="1"/>
          </p:cNvSpPr>
          <p:nvPr>
            <p:ph type="sldNum" sz="quarter" idx="12"/>
          </p:nvPr>
        </p:nvSpPr>
        <p:spPr/>
        <p:txBody>
          <a:bodyPr/>
          <a:lstStyle/>
          <a:p>
            <a:fld id="{67BDA388-00BA-4816-AAB8-B3698CE73765}" type="slidenum">
              <a:rPr lang="en-PK" smtClean="0"/>
              <a:t>‹#›</a:t>
            </a:fld>
            <a:endParaRPr lang="en-PK"/>
          </a:p>
        </p:txBody>
      </p:sp>
    </p:spTree>
    <p:extLst>
      <p:ext uri="{BB962C8B-B14F-4D97-AF65-F5344CB8AC3E}">
        <p14:creationId xmlns:p14="http://schemas.microsoft.com/office/powerpoint/2010/main" val="3983834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59413AF-E313-43B6-94E2-9EFA2A9A2F7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24E5A310-764F-499C-BEB3-CAED1195AA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30BA9B48-E610-4033-840B-5BC3DC4FFF7C}"/>
              </a:ext>
            </a:extLst>
          </p:cNvPr>
          <p:cNvSpPr>
            <a:spLocks noGrp="1"/>
          </p:cNvSpPr>
          <p:nvPr>
            <p:ph type="dt" sz="half" idx="10"/>
          </p:nvPr>
        </p:nvSpPr>
        <p:spPr/>
        <p:txBody>
          <a:bodyPr/>
          <a:lstStyle/>
          <a:p>
            <a:fld id="{BA2ACA27-6398-47FE-921F-2E94FED21993}" type="datetimeFigureOut">
              <a:rPr lang="en-PK" smtClean="0"/>
              <a:t>21/11/2022</a:t>
            </a:fld>
            <a:endParaRPr lang="en-PK"/>
          </a:p>
        </p:txBody>
      </p:sp>
      <p:sp>
        <p:nvSpPr>
          <p:cNvPr id="5" name="Footer Placeholder 4">
            <a:extLst>
              <a:ext uri="{FF2B5EF4-FFF2-40B4-BE49-F238E27FC236}">
                <a16:creationId xmlns:a16="http://schemas.microsoft.com/office/drawing/2014/main" id="{2408BDEE-6F31-49B4-99F5-0DFFF912A41B}"/>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D20AE6D7-84B2-4B25-8391-F87D68E6B02D}"/>
              </a:ext>
            </a:extLst>
          </p:cNvPr>
          <p:cNvSpPr>
            <a:spLocks noGrp="1"/>
          </p:cNvSpPr>
          <p:nvPr>
            <p:ph type="sldNum" sz="quarter" idx="12"/>
          </p:nvPr>
        </p:nvSpPr>
        <p:spPr/>
        <p:txBody>
          <a:bodyPr/>
          <a:lstStyle/>
          <a:p>
            <a:fld id="{67BDA388-00BA-4816-AAB8-B3698CE73765}" type="slidenum">
              <a:rPr lang="en-PK" smtClean="0"/>
              <a:t>‹#›</a:t>
            </a:fld>
            <a:endParaRPr lang="en-PK"/>
          </a:p>
        </p:txBody>
      </p:sp>
    </p:spTree>
    <p:extLst>
      <p:ext uri="{BB962C8B-B14F-4D97-AF65-F5344CB8AC3E}">
        <p14:creationId xmlns:p14="http://schemas.microsoft.com/office/powerpoint/2010/main" val="556961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2C7D76-28E8-4143-BCB7-84F4C435A7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3710A12C-779B-49D9-A04E-12CBD85E1E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61B9A94B-01C7-4921-BA9B-9830331940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2ACA27-6398-47FE-921F-2E94FED21993}" type="datetimeFigureOut">
              <a:rPr lang="en-PK" smtClean="0"/>
              <a:t>21/11/2022</a:t>
            </a:fld>
            <a:endParaRPr lang="en-PK"/>
          </a:p>
        </p:txBody>
      </p:sp>
      <p:sp>
        <p:nvSpPr>
          <p:cNvPr id="5" name="Footer Placeholder 4">
            <a:extLst>
              <a:ext uri="{FF2B5EF4-FFF2-40B4-BE49-F238E27FC236}">
                <a16:creationId xmlns:a16="http://schemas.microsoft.com/office/drawing/2014/main" id="{9FB5AFBF-6C14-454E-ABF8-B65CC1F434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a:p>
        </p:txBody>
      </p:sp>
      <p:sp>
        <p:nvSpPr>
          <p:cNvPr id="6" name="Slide Number Placeholder 5">
            <a:extLst>
              <a:ext uri="{FF2B5EF4-FFF2-40B4-BE49-F238E27FC236}">
                <a16:creationId xmlns:a16="http://schemas.microsoft.com/office/drawing/2014/main" id="{7F99CA02-E17B-4552-92C2-AE85769F1A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BDA388-00BA-4816-AAB8-B3698CE73765}" type="slidenum">
              <a:rPr lang="en-PK" smtClean="0"/>
              <a:t>‹#›</a:t>
            </a:fld>
            <a:endParaRPr lang="en-PK"/>
          </a:p>
        </p:txBody>
      </p:sp>
    </p:spTree>
    <p:extLst>
      <p:ext uri="{BB962C8B-B14F-4D97-AF65-F5344CB8AC3E}">
        <p14:creationId xmlns:p14="http://schemas.microsoft.com/office/powerpoint/2010/main" val="5035488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geeksforgeeks.org/object-class-in-java/"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javagoal.com/data-types-in-java/"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www.geeksforgeeks.org/jagged-array-in-java/"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0000000-0008-0000-0000-0000030000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366036" y="1612924"/>
            <a:ext cx="3153974" cy="3115872"/>
          </a:xfrm>
          <a:prstGeom prst="rect">
            <a:avLst/>
          </a:prstGeom>
        </p:spPr>
      </p:pic>
      <p:sp>
        <p:nvSpPr>
          <p:cNvPr id="2" name="Title 1">
            <a:extLst>
              <a:ext uri="{FF2B5EF4-FFF2-40B4-BE49-F238E27FC236}">
                <a16:creationId xmlns:a16="http://schemas.microsoft.com/office/drawing/2014/main" id="{5CCB1E92-F2F2-4D13-AC0E-D86FD23FEC11}"/>
              </a:ext>
            </a:extLst>
          </p:cNvPr>
          <p:cNvSpPr>
            <a:spLocks noGrp="1"/>
          </p:cNvSpPr>
          <p:nvPr>
            <p:ph type="title"/>
          </p:nvPr>
        </p:nvSpPr>
        <p:spPr>
          <a:xfrm>
            <a:off x="-152400" y="178633"/>
            <a:ext cx="12636500" cy="1325563"/>
          </a:xfrm>
        </p:spPr>
        <p:txBody>
          <a:bodyPr>
            <a:normAutofit fontScale="90000"/>
          </a:bodyPr>
          <a:lstStyle/>
          <a:p>
            <a:pPr algn="ctr"/>
            <a:r>
              <a:rPr lang="en-US" sz="4800" b="1" dirty="0">
                <a:solidFill>
                  <a:schemeClr val="accent2">
                    <a:lumMod val="75000"/>
                  </a:schemeClr>
                </a:solidFill>
                <a:latin typeface="Arial Rounded MT Bold" panose="020F0704030504030204" pitchFamily="34" charset="0"/>
              </a:rPr>
              <a:t>DATA STRUCTURE ALGORITHMS AND APPLICATIONS</a:t>
            </a:r>
            <a:endParaRPr lang="en-PK" sz="4800" b="1" dirty="0">
              <a:solidFill>
                <a:schemeClr val="accent2">
                  <a:lumMod val="75000"/>
                </a:schemeClr>
              </a:solidFill>
              <a:latin typeface="Arial Rounded MT Bold" panose="020F0704030504030204" pitchFamily="34" charset="0"/>
            </a:endParaRPr>
          </a:p>
        </p:txBody>
      </p:sp>
      <p:sp>
        <p:nvSpPr>
          <p:cNvPr id="4" name="TextBox 3">
            <a:extLst>
              <a:ext uri="{FF2B5EF4-FFF2-40B4-BE49-F238E27FC236}">
                <a16:creationId xmlns:a16="http://schemas.microsoft.com/office/drawing/2014/main" id="{189C7551-E25F-4754-A622-CC701D0F2260}"/>
              </a:ext>
            </a:extLst>
          </p:cNvPr>
          <p:cNvSpPr txBox="1"/>
          <p:nvPr/>
        </p:nvSpPr>
        <p:spPr>
          <a:xfrm>
            <a:off x="3243704" y="1403906"/>
            <a:ext cx="5096780" cy="523220"/>
          </a:xfrm>
          <a:prstGeom prst="rect">
            <a:avLst/>
          </a:prstGeom>
          <a:noFill/>
        </p:spPr>
        <p:txBody>
          <a:bodyPr wrap="none" rtlCol="0">
            <a:spAutoFit/>
          </a:bodyPr>
          <a:lstStyle/>
          <a:p>
            <a:r>
              <a:rPr lang="en-US" sz="2800" b="1" i="1" dirty="0"/>
              <a:t>Department of Computer Science</a:t>
            </a:r>
            <a:endParaRPr lang="en-PK" sz="2800" b="1" i="1" dirty="0"/>
          </a:p>
        </p:txBody>
      </p:sp>
      <p:sp>
        <p:nvSpPr>
          <p:cNvPr id="5" name="TextBox 4">
            <a:extLst>
              <a:ext uri="{FF2B5EF4-FFF2-40B4-BE49-F238E27FC236}">
                <a16:creationId xmlns:a16="http://schemas.microsoft.com/office/drawing/2014/main" id="{2512BA24-C357-4F74-AFA4-7F6EA4A180ED}"/>
              </a:ext>
            </a:extLst>
          </p:cNvPr>
          <p:cNvSpPr txBox="1"/>
          <p:nvPr/>
        </p:nvSpPr>
        <p:spPr>
          <a:xfrm>
            <a:off x="210790" y="5374460"/>
            <a:ext cx="12100560" cy="584775"/>
          </a:xfrm>
          <a:prstGeom prst="rect">
            <a:avLst/>
          </a:prstGeom>
          <a:noFill/>
        </p:spPr>
        <p:txBody>
          <a:bodyPr wrap="square" rtlCol="0">
            <a:spAutoFit/>
          </a:bodyPr>
          <a:lstStyle/>
          <a:p>
            <a:pPr algn="ctr"/>
            <a:r>
              <a:rPr lang="en-US" sz="3200" b="1" i="1" dirty="0">
                <a:solidFill>
                  <a:schemeClr val="accent1">
                    <a:lumMod val="75000"/>
                  </a:schemeClr>
                </a:solidFill>
              </a:rPr>
              <a:t>Thar Institute of Engineering, Science &amp; Technology, </a:t>
            </a:r>
            <a:r>
              <a:rPr lang="en-US" sz="3200" b="1" i="1" dirty="0" err="1">
                <a:solidFill>
                  <a:schemeClr val="accent1">
                    <a:lumMod val="75000"/>
                  </a:schemeClr>
                </a:solidFill>
              </a:rPr>
              <a:t>Tharparkar</a:t>
            </a:r>
            <a:endParaRPr lang="en-PK" sz="3200" b="1" i="1" dirty="0">
              <a:solidFill>
                <a:schemeClr val="accent1">
                  <a:lumMod val="75000"/>
                </a:schemeClr>
              </a:solidFill>
            </a:endParaRPr>
          </a:p>
        </p:txBody>
      </p:sp>
      <p:sp>
        <p:nvSpPr>
          <p:cNvPr id="6" name="TextBox 5">
            <a:extLst>
              <a:ext uri="{FF2B5EF4-FFF2-40B4-BE49-F238E27FC236}">
                <a16:creationId xmlns:a16="http://schemas.microsoft.com/office/drawing/2014/main" id="{3B03164E-02AD-4CDB-8DC7-1FD7AED7EA95}"/>
              </a:ext>
            </a:extLst>
          </p:cNvPr>
          <p:cNvSpPr txBox="1"/>
          <p:nvPr/>
        </p:nvSpPr>
        <p:spPr>
          <a:xfrm>
            <a:off x="5610192" y="4555105"/>
            <a:ext cx="2587055" cy="369332"/>
          </a:xfrm>
          <a:prstGeom prst="rect">
            <a:avLst/>
          </a:prstGeom>
          <a:noFill/>
        </p:spPr>
        <p:txBody>
          <a:bodyPr wrap="none" rtlCol="0">
            <a:spAutoFit/>
          </a:bodyPr>
          <a:lstStyle/>
          <a:p>
            <a:r>
              <a:rPr lang="en-US" b="1" dirty="0"/>
              <a:t>Engr. Abdul Hafeez Babar</a:t>
            </a:r>
            <a:endParaRPr lang="en-PK" b="1" dirty="0"/>
          </a:p>
        </p:txBody>
      </p:sp>
      <p:sp>
        <p:nvSpPr>
          <p:cNvPr id="7" name="TextBox 6">
            <a:extLst>
              <a:ext uri="{FF2B5EF4-FFF2-40B4-BE49-F238E27FC236}">
                <a16:creationId xmlns:a16="http://schemas.microsoft.com/office/drawing/2014/main" id="{E5ACB2C0-AA27-424B-9A27-1BB25FB341C6}"/>
              </a:ext>
            </a:extLst>
          </p:cNvPr>
          <p:cNvSpPr txBox="1"/>
          <p:nvPr/>
        </p:nvSpPr>
        <p:spPr>
          <a:xfrm>
            <a:off x="3995938" y="4521756"/>
            <a:ext cx="1551771" cy="400110"/>
          </a:xfrm>
          <a:prstGeom prst="rect">
            <a:avLst/>
          </a:prstGeom>
          <a:noFill/>
        </p:spPr>
        <p:txBody>
          <a:bodyPr wrap="none" rtlCol="0">
            <a:spAutoFit/>
          </a:bodyPr>
          <a:lstStyle/>
          <a:p>
            <a:r>
              <a:rPr lang="en-US" sz="2000" b="1" dirty="0">
                <a:solidFill>
                  <a:schemeClr val="accent3">
                    <a:lumMod val="75000"/>
                  </a:schemeClr>
                </a:solidFill>
              </a:rPr>
              <a:t>Prepared By:</a:t>
            </a:r>
            <a:endParaRPr lang="en-PK" sz="2000" b="1" dirty="0">
              <a:solidFill>
                <a:schemeClr val="accent3">
                  <a:lumMod val="75000"/>
                </a:schemeClr>
              </a:solidFill>
            </a:endParaRPr>
          </a:p>
        </p:txBody>
      </p:sp>
      <p:sp>
        <p:nvSpPr>
          <p:cNvPr id="3" name="TextBox 2">
            <a:extLst>
              <a:ext uri="{FF2B5EF4-FFF2-40B4-BE49-F238E27FC236}">
                <a16:creationId xmlns:a16="http://schemas.microsoft.com/office/drawing/2014/main" id="{D01D3379-0BEA-4705-87CA-2AB55C41B58E}"/>
              </a:ext>
            </a:extLst>
          </p:cNvPr>
          <p:cNvSpPr txBox="1"/>
          <p:nvPr/>
        </p:nvSpPr>
        <p:spPr>
          <a:xfrm>
            <a:off x="5610192" y="4869307"/>
            <a:ext cx="2971198" cy="369332"/>
          </a:xfrm>
          <a:prstGeom prst="rect">
            <a:avLst/>
          </a:prstGeom>
          <a:noFill/>
        </p:spPr>
        <p:txBody>
          <a:bodyPr wrap="none" rtlCol="0">
            <a:spAutoFit/>
          </a:bodyPr>
          <a:lstStyle/>
          <a:p>
            <a:r>
              <a:rPr lang="en-US" b="1" dirty="0">
                <a:solidFill>
                  <a:schemeClr val="accent1"/>
                </a:solidFill>
              </a:rPr>
              <a:t>hafeezbabar@neduet.edu.pk</a:t>
            </a:r>
            <a:endParaRPr lang="en-PK" b="1" dirty="0">
              <a:solidFill>
                <a:schemeClr val="accent1"/>
              </a:solidFill>
            </a:endParaRPr>
          </a:p>
        </p:txBody>
      </p:sp>
      <p:sp>
        <p:nvSpPr>
          <p:cNvPr id="10" name="TextBox 9">
            <a:extLst>
              <a:ext uri="{FF2B5EF4-FFF2-40B4-BE49-F238E27FC236}">
                <a16:creationId xmlns:a16="http://schemas.microsoft.com/office/drawing/2014/main" id="{15D177BC-4C15-94A5-3949-33BB3385AA0D}"/>
              </a:ext>
            </a:extLst>
          </p:cNvPr>
          <p:cNvSpPr txBox="1"/>
          <p:nvPr/>
        </p:nvSpPr>
        <p:spPr>
          <a:xfrm>
            <a:off x="-440088" y="6176691"/>
            <a:ext cx="12100560" cy="342466"/>
          </a:xfrm>
          <a:prstGeom prst="rect">
            <a:avLst/>
          </a:prstGeom>
          <a:noFill/>
        </p:spPr>
        <p:txBody>
          <a:bodyPr wrap="square">
            <a:spAutoFit/>
          </a:bodyPr>
          <a:lstStyle/>
          <a:p>
            <a:pPr marL="2286000" marR="0" indent="457200">
              <a:lnSpc>
                <a:spcPct val="107000"/>
              </a:lnSpc>
              <a:spcBef>
                <a:spcPts val="0"/>
              </a:spcBef>
              <a:spcAft>
                <a:spcPts val="800"/>
              </a:spcAft>
            </a:pPr>
            <a:r>
              <a:rPr lang="en-PK" sz="1600" b="1" dirty="0">
                <a:effectLst/>
                <a:latin typeface="Arial" panose="020B0604020202020204" pitchFamily="34" charset="0"/>
                <a:ea typeface="Times New Roman" panose="02020603050405020304" pitchFamily="18" charset="0"/>
                <a:cs typeface="Times New Roman" panose="02020603050405020304" pitchFamily="18" charset="0"/>
              </a:rPr>
              <a:t>A Constituent college of NED university of engineering &amp; Technology Karachi</a:t>
            </a:r>
            <a:endParaRPr lang="en-PK" sz="28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278146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D8F5F5A-D960-40D3-BFBA-BC3C885A6261}"/>
              </a:ext>
            </a:extLst>
          </p:cNvPr>
          <p:cNvSpPr txBox="1"/>
          <p:nvPr/>
        </p:nvSpPr>
        <p:spPr>
          <a:xfrm>
            <a:off x="0" y="2531241"/>
            <a:ext cx="12208791" cy="1446550"/>
          </a:xfrm>
          <a:prstGeom prst="rect">
            <a:avLst/>
          </a:prstGeom>
          <a:noFill/>
        </p:spPr>
        <p:txBody>
          <a:bodyPr wrap="none" rtlCol="0">
            <a:spAutoFit/>
          </a:bodyPr>
          <a:lstStyle/>
          <a:p>
            <a:pPr algn="ctr"/>
            <a:r>
              <a:rPr lang="en-US" sz="4400" b="1" dirty="0">
                <a:solidFill>
                  <a:schemeClr val="accent1">
                    <a:lumMod val="50000"/>
                  </a:schemeClr>
                </a:solidFill>
              </a:rPr>
              <a:t>ARRAY </a:t>
            </a:r>
          </a:p>
          <a:p>
            <a:pPr algn="ctr"/>
            <a:r>
              <a:rPr lang="en-US" sz="4400" b="1" dirty="0">
                <a:solidFill>
                  <a:schemeClr val="accent1">
                    <a:lumMod val="50000"/>
                  </a:schemeClr>
                </a:solidFill>
              </a:rPr>
              <a:t>(1 Dimensional , 2 Dimensional, Multi Dimensional)</a:t>
            </a:r>
            <a:endParaRPr lang="en-PK" sz="4400" b="1" dirty="0">
              <a:solidFill>
                <a:schemeClr val="accent1">
                  <a:lumMod val="50000"/>
                </a:schemeClr>
              </a:solidFill>
            </a:endParaRPr>
          </a:p>
        </p:txBody>
      </p:sp>
      <p:sp>
        <p:nvSpPr>
          <p:cNvPr id="2" name="Footer Placeholder 2">
            <a:extLst>
              <a:ext uri="{FF2B5EF4-FFF2-40B4-BE49-F238E27FC236}">
                <a16:creationId xmlns:a16="http://schemas.microsoft.com/office/drawing/2014/main" id="{5FA6C8B2-1567-066C-6AD3-7468C4F6FBB0}"/>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 Hafeez Babar  (TIEST-</a:t>
            </a:r>
            <a:r>
              <a:rPr lang="en-US" b="1" dirty="0" err="1">
                <a:solidFill>
                  <a:schemeClr val="accent1"/>
                </a:solidFill>
              </a:rPr>
              <a:t>Tharparkar</a:t>
            </a:r>
            <a:r>
              <a:rPr lang="en-US" b="1" dirty="0">
                <a:solidFill>
                  <a:schemeClr val="accent1"/>
                </a:solidFill>
              </a:rPr>
              <a:t>)                                                                                                                                                                                                             hafeezbabar@neduet.edu.pk</a:t>
            </a:r>
            <a:endParaRPr lang="en-PK" b="1" dirty="0">
              <a:solidFill>
                <a:schemeClr val="accent1"/>
              </a:solidFill>
            </a:endParaRPr>
          </a:p>
        </p:txBody>
      </p:sp>
    </p:spTree>
    <p:extLst>
      <p:ext uri="{BB962C8B-B14F-4D97-AF65-F5344CB8AC3E}">
        <p14:creationId xmlns:p14="http://schemas.microsoft.com/office/powerpoint/2010/main" val="3178166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12596-0C1C-4482-89A1-DABA1EE0F884}"/>
              </a:ext>
            </a:extLst>
          </p:cNvPr>
          <p:cNvSpPr>
            <a:spLocks noGrp="1"/>
          </p:cNvSpPr>
          <p:nvPr>
            <p:ph type="title"/>
          </p:nvPr>
        </p:nvSpPr>
        <p:spPr>
          <a:xfrm>
            <a:off x="167290" y="181192"/>
            <a:ext cx="2777359" cy="526765"/>
          </a:xfrm>
        </p:spPr>
        <p:txBody>
          <a:bodyPr>
            <a:normAutofit/>
          </a:bodyPr>
          <a:lstStyle/>
          <a:p>
            <a:r>
              <a:rPr lang="en-US" sz="2800" b="1" dirty="0">
                <a:solidFill>
                  <a:schemeClr val="accent1">
                    <a:lumMod val="50000"/>
                  </a:schemeClr>
                </a:solidFill>
                <a:latin typeface="+mn-lt"/>
              </a:rPr>
              <a:t>Data Structure</a:t>
            </a:r>
            <a:endParaRPr lang="en-PK" sz="2800" b="1" dirty="0">
              <a:solidFill>
                <a:schemeClr val="accent1">
                  <a:lumMod val="50000"/>
                </a:schemeClr>
              </a:solidFill>
              <a:latin typeface="+mn-lt"/>
            </a:endParaRPr>
          </a:p>
        </p:txBody>
      </p:sp>
      <p:sp>
        <p:nvSpPr>
          <p:cNvPr id="3" name="Content Placeholder 2">
            <a:extLst>
              <a:ext uri="{FF2B5EF4-FFF2-40B4-BE49-F238E27FC236}">
                <a16:creationId xmlns:a16="http://schemas.microsoft.com/office/drawing/2014/main" id="{B00390CF-AB85-4186-9429-AE8E524F3AE3}"/>
              </a:ext>
            </a:extLst>
          </p:cNvPr>
          <p:cNvSpPr>
            <a:spLocks noGrp="1"/>
          </p:cNvSpPr>
          <p:nvPr>
            <p:ph idx="1"/>
          </p:nvPr>
        </p:nvSpPr>
        <p:spPr>
          <a:xfrm>
            <a:off x="372241" y="871849"/>
            <a:ext cx="10515600" cy="1754326"/>
          </a:xfrm>
        </p:spPr>
        <p:txBody>
          <a:bodyPr>
            <a:normAutofit fontScale="92500" lnSpcReduction="10000"/>
          </a:bodyPr>
          <a:lstStyle/>
          <a:p>
            <a:r>
              <a:rPr lang="en-US" dirty="0"/>
              <a:t>Data structures are classified:</a:t>
            </a:r>
          </a:p>
          <a:p>
            <a:pPr lvl="1"/>
            <a:r>
              <a:rPr lang="en-US" dirty="0"/>
              <a:t>Linear</a:t>
            </a:r>
          </a:p>
          <a:p>
            <a:pPr lvl="2"/>
            <a:r>
              <a:rPr lang="en-US" dirty="0"/>
              <a:t>Static</a:t>
            </a:r>
          </a:p>
          <a:p>
            <a:pPr lvl="2"/>
            <a:r>
              <a:rPr lang="en-US" dirty="0"/>
              <a:t>Dynamic</a:t>
            </a:r>
          </a:p>
          <a:p>
            <a:pPr lvl="1"/>
            <a:r>
              <a:rPr lang="en-US" dirty="0"/>
              <a:t>Non-Linear</a:t>
            </a:r>
          </a:p>
          <a:p>
            <a:pPr marL="457200" lvl="1" indent="0">
              <a:buNone/>
            </a:pPr>
            <a:endParaRPr lang="en-US" dirty="0"/>
          </a:p>
        </p:txBody>
      </p:sp>
      <p:sp>
        <p:nvSpPr>
          <p:cNvPr id="4" name="TextBox 3">
            <a:extLst>
              <a:ext uri="{FF2B5EF4-FFF2-40B4-BE49-F238E27FC236}">
                <a16:creationId xmlns:a16="http://schemas.microsoft.com/office/drawing/2014/main" id="{CBDDB2DC-64CB-43FF-AC0F-675EC65E6BE9}"/>
              </a:ext>
            </a:extLst>
          </p:cNvPr>
          <p:cNvSpPr txBox="1"/>
          <p:nvPr/>
        </p:nvSpPr>
        <p:spPr>
          <a:xfrm>
            <a:off x="826815" y="3099317"/>
            <a:ext cx="6384505" cy="369332"/>
          </a:xfrm>
          <a:prstGeom prst="rect">
            <a:avLst/>
          </a:prstGeom>
          <a:noFill/>
        </p:spPr>
        <p:txBody>
          <a:bodyPr wrap="none" rtlCol="0">
            <a:spAutoFit/>
          </a:bodyPr>
          <a:lstStyle/>
          <a:p>
            <a:pPr marL="285750" indent="-285750">
              <a:buFont typeface="Arial" panose="020B0604020202020204" pitchFamily="34" charset="0"/>
              <a:buChar char="•"/>
            </a:pPr>
            <a:r>
              <a:rPr lang="en-US" dirty="0"/>
              <a:t>is said to be linear if its elements form a sequence or linear list.</a:t>
            </a:r>
            <a:endParaRPr lang="en-PK" dirty="0"/>
          </a:p>
        </p:txBody>
      </p:sp>
      <p:sp>
        <p:nvSpPr>
          <p:cNvPr id="5" name="TextBox 4">
            <a:extLst>
              <a:ext uri="{FF2B5EF4-FFF2-40B4-BE49-F238E27FC236}">
                <a16:creationId xmlns:a16="http://schemas.microsoft.com/office/drawing/2014/main" id="{09CA253B-7A18-4B50-B1A4-10465FC43724}"/>
              </a:ext>
            </a:extLst>
          </p:cNvPr>
          <p:cNvSpPr txBox="1"/>
          <p:nvPr/>
        </p:nvSpPr>
        <p:spPr>
          <a:xfrm>
            <a:off x="826815" y="3604836"/>
            <a:ext cx="11648966" cy="1754326"/>
          </a:xfrm>
          <a:prstGeom prst="rect">
            <a:avLst/>
          </a:prstGeom>
          <a:noFill/>
        </p:spPr>
        <p:txBody>
          <a:bodyPr wrap="square" rtlCol="0">
            <a:spAutoFit/>
          </a:bodyPr>
          <a:lstStyle/>
          <a:p>
            <a:pPr marL="285750" indent="-285750">
              <a:buFont typeface="Arial" panose="020B0604020202020204" pitchFamily="34" charset="0"/>
              <a:buChar char="•"/>
            </a:pPr>
            <a:r>
              <a:rPr lang="en-US" dirty="0"/>
              <a:t>Two ways to represent Linear structure in memory:</a:t>
            </a:r>
          </a:p>
          <a:p>
            <a:pPr marL="742950" lvl="1" indent="-285750">
              <a:buFont typeface="Arial" panose="020B0604020202020204" pitchFamily="34" charset="0"/>
              <a:buChar char="•"/>
            </a:pPr>
            <a:r>
              <a:rPr lang="en-US" dirty="0"/>
              <a:t>One way is to have the linear relationship between the elements represented by means of sequential memory locations. </a:t>
            </a:r>
          </a:p>
          <a:p>
            <a:pPr marL="1200150" lvl="2" indent="-285750">
              <a:buFont typeface="Arial" panose="020B0604020202020204" pitchFamily="34" charset="0"/>
              <a:buChar char="•"/>
            </a:pPr>
            <a:r>
              <a:rPr lang="en-US" dirty="0"/>
              <a:t>E.g. Array</a:t>
            </a:r>
          </a:p>
          <a:p>
            <a:pPr marL="742950" lvl="1" indent="-285750">
              <a:buFont typeface="Arial" panose="020B0604020202020204" pitchFamily="34" charset="0"/>
              <a:buChar char="•"/>
            </a:pPr>
            <a:r>
              <a:rPr lang="en-US" dirty="0"/>
              <a:t>Another way is to have relationship between the elements represented by means of pointers or links.</a:t>
            </a:r>
          </a:p>
          <a:p>
            <a:pPr marL="1200150" lvl="2" indent="-285750">
              <a:buFont typeface="Arial" panose="020B0604020202020204" pitchFamily="34" charset="0"/>
              <a:buChar char="•"/>
            </a:pPr>
            <a:r>
              <a:rPr lang="en-US" dirty="0"/>
              <a:t>E.g. Linked Lists</a:t>
            </a:r>
          </a:p>
        </p:txBody>
      </p:sp>
      <p:sp>
        <p:nvSpPr>
          <p:cNvPr id="6" name="Title 1">
            <a:extLst>
              <a:ext uri="{FF2B5EF4-FFF2-40B4-BE49-F238E27FC236}">
                <a16:creationId xmlns:a16="http://schemas.microsoft.com/office/drawing/2014/main" id="{D3BB3443-7AAB-4BFC-9134-402542F38AA2}"/>
              </a:ext>
            </a:extLst>
          </p:cNvPr>
          <p:cNvSpPr txBox="1">
            <a:spLocks/>
          </p:cNvSpPr>
          <p:nvPr/>
        </p:nvSpPr>
        <p:spPr>
          <a:xfrm>
            <a:off x="167290" y="5161515"/>
            <a:ext cx="2020614" cy="7027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chemeClr val="accent1">
                    <a:lumMod val="50000"/>
                  </a:schemeClr>
                </a:solidFill>
                <a:latin typeface="+mn-lt"/>
              </a:rPr>
              <a:t>Non-Linear</a:t>
            </a:r>
            <a:endParaRPr lang="en-PK" sz="2800" b="1" dirty="0">
              <a:solidFill>
                <a:schemeClr val="accent1">
                  <a:lumMod val="50000"/>
                </a:schemeClr>
              </a:solidFill>
              <a:latin typeface="+mn-lt"/>
            </a:endParaRPr>
          </a:p>
        </p:txBody>
      </p:sp>
      <p:sp>
        <p:nvSpPr>
          <p:cNvPr id="7" name="Title 1">
            <a:extLst>
              <a:ext uri="{FF2B5EF4-FFF2-40B4-BE49-F238E27FC236}">
                <a16:creationId xmlns:a16="http://schemas.microsoft.com/office/drawing/2014/main" id="{E328B0D8-3E2A-4CDF-AE0A-C37A40E884A8}"/>
              </a:ext>
            </a:extLst>
          </p:cNvPr>
          <p:cNvSpPr txBox="1">
            <a:spLocks/>
          </p:cNvSpPr>
          <p:nvPr/>
        </p:nvSpPr>
        <p:spPr>
          <a:xfrm>
            <a:off x="167290" y="2364426"/>
            <a:ext cx="2020614" cy="7027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chemeClr val="accent1">
                    <a:lumMod val="50000"/>
                  </a:schemeClr>
                </a:solidFill>
                <a:latin typeface="+mn-lt"/>
              </a:rPr>
              <a:t>Linear:</a:t>
            </a:r>
            <a:endParaRPr lang="en-PK" sz="2800" b="1" dirty="0">
              <a:solidFill>
                <a:schemeClr val="accent1">
                  <a:lumMod val="50000"/>
                </a:schemeClr>
              </a:solidFill>
              <a:latin typeface="+mn-lt"/>
            </a:endParaRPr>
          </a:p>
        </p:txBody>
      </p:sp>
      <p:sp>
        <p:nvSpPr>
          <p:cNvPr id="8" name="TextBox 7">
            <a:extLst>
              <a:ext uri="{FF2B5EF4-FFF2-40B4-BE49-F238E27FC236}">
                <a16:creationId xmlns:a16="http://schemas.microsoft.com/office/drawing/2014/main" id="{5040757D-5FF8-40DE-89A0-09D65BE97DF0}"/>
              </a:ext>
            </a:extLst>
          </p:cNvPr>
          <p:cNvSpPr txBox="1"/>
          <p:nvPr/>
        </p:nvSpPr>
        <p:spPr>
          <a:xfrm>
            <a:off x="826815" y="5864231"/>
            <a:ext cx="7608237" cy="369332"/>
          </a:xfrm>
          <a:prstGeom prst="rect">
            <a:avLst/>
          </a:prstGeom>
          <a:noFill/>
        </p:spPr>
        <p:txBody>
          <a:bodyPr wrap="none" rtlCol="0">
            <a:spAutoFit/>
          </a:bodyPr>
          <a:lstStyle/>
          <a:p>
            <a:pPr marL="285750" indent="-285750">
              <a:buFont typeface="Arial" panose="020B0604020202020204" pitchFamily="34" charset="0"/>
              <a:buChar char="•"/>
            </a:pPr>
            <a:r>
              <a:rPr lang="en-US" dirty="0"/>
              <a:t>Data elements are hierarchically connected and are present at various levels.</a:t>
            </a:r>
            <a:endParaRPr lang="en-PK" dirty="0"/>
          </a:p>
        </p:txBody>
      </p:sp>
      <p:sp>
        <p:nvSpPr>
          <p:cNvPr id="9" name="Content Placeholder 2">
            <a:extLst>
              <a:ext uri="{FF2B5EF4-FFF2-40B4-BE49-F238E27FC236}">
                <a16:creationId xmlns:a16="http://schemas.microsoft.com/office/drawing/2014/main" id="{4B7F99D9-8B17-451B-A847-5BDAA21EB171}"/>
              </a:ext>
            </a:extLst>
          </p:cNvPr>
          <p:cNvSpPr txBox="1">
            <a:spLocks/>
          </p:cNvSpPr>
          <p:nvPr/>
        </p:nvSpPr>
        <p:spPr>
          <a:xfrm>
            <a:off x="1237594" y="6284114"/>
            <a:ext cx="2346434" cy="115287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E.g. Trees, Graphs</a:t>
            </a:r>
            <a:endParaRPr lang="en-PK" sz="1800" dirty="0"/>
          </a:p>
        </p:txBody>
      </p:sp>
    </p:spTree>
    <p:extLst>
      <p:ext uri="{BB962C8B-B14F-4D97-AF65-F5344CB8AC3E}">
        <p14:creationId xmlns:p14="http://schemas.microsoft.com/office/powerpoint/2010/main" val="3465359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3B954-EB83-4BAA-B307-39CD1DFF013F}"/>
              </a:ext>
            </a:extLst>
          </p:cNvPr>
          <p:cNvSpPr>
            <a:spLocks noGrp="1"/>
          </p:cNvSpPr>
          <p:nvPr>
            <p:ph type="title"/>
          </p:nvPr>
        </p:nvSpPr>
        <p:spPr>
          <a:xfrm>
            <a:off x="249621" y="397996"/>
            <a:ext cx="5846379" cy="566081"/>
          </a:xfrm>
        </p:spPr>
        <p:txBody>
          <a:bodyPr>
            <a:normAutofit/>
          </a:bodyPr>
          <a:lstStyle/>
          <a:p>
            <a:r>
              <a:rPr lang="en-US" sz="2800" b="1" dirty="0">
                <a:solidFill>
                  <a:schemeClr val="accent1">
                    <a:lumMod val="50000"/>
                  </a:schemeClr>
                </a:solidFill>
                <a:latin typeface="+mn-lt"/>
              </a:rPr>
              <a:t>Operations on any Linear Structure</a:t>
            </a:r>
            <a:endParaRPr lang="en-PK" sz="2800" b="1" dirty="0">
              <a:solidFill>
                <a:schemeClr val="accent1">
                  <a:lumMod val="50000"/>
                </a:schemeClr>
              </a:solidFill>
              <a:latin typeface="+mn-lt"/>
            </a:endParaRPr>
          </a:p>
        </p:txBody>
      </p:sp>
      <p:sp>
        <p:nvSpPr>
          <p:cNvPr id="3" name="Content Placeholder 2">
            <a:extLst>
              <a:ext uri="{FF2B5EF4-FFF2-40B4-BE49-F238E27FC236}">
                <a16:creationId xmlns:a16="http://schemas.microsoft.com/office/drawing/2014/main" id="{A4835403-E40C-4595-B8F2-25ED60E40BCD}"/>
              </a:ext>
            </a:extLst>
          </p:cNvPr>
          <p:cNvSpPr>
            <a:spLocks noGrp="1"/>
          </p:cNvSpPr>
          <p:nvPr>
            <p:ph idx="1"/>
          </p:nvPr>
        </p:nvSpPr>
        <p:spPr>
          <a:xfrm>
            <a:off x="533400" y="1142453"/>
            <a:ext cx="10515600" cy="4351338"/>
          </a:xfrm>
        </p:spPr>
        <p:txBody>
          <a:bodyPr>
            <a:normAutofit/>
          </a:bodyPr>
          <a:lstStyle/>
          <a:p>
            <a:pPr>
              <a:lnSpc>
                <a:spcPct val="200000"/>
              </a:lnSpc>
            </a:pPr>
            <a:r>
              <a:rPr lang="en-US" sz="1800" b="1" i="1" dirty="0"/>
              <a:t>Traversal: </a:t>
            </a:r>
            <a:r>
              <a:rPr lang="en-US" sz="1800" dirty="0"/>
              <a:t>Process each element in the list.</a:t>
            </a:r>
          </a:p>
          <a:p>
            <a:pPr>
              <a:lnSpc>
                <a:spcPct val="200000"/>
              </a:lnSpc>
            </a:pPr>
            <a:r>
              <a:rPr lang="en-US" sz="1800" b="1" i="1" dirty="0"/>
              <a:t>Search:</a:t>
            </a:r>
            <a:r>
              <a:rPr lang="en-US" sz="1800" dirty="0"/>
              <a:t> Finding the location of the element with a given value or the record with a given key.</a:t>
            </a:r>
          </a:p>
          <a:p>
            <a:pPr>
              <a:lnSpc>
                <a:spcPct val="200000"/>
              </a:lnSpc>
            </a:pPr>
            <a:r>
              <a:rPr lang="en-US" sz="1800" b="1" i="1" dirty="0"/>
              <a:t>Insertion:</a:t>
            </a:r>
            <a:r>
              <a:rPr lang="en-US" sz="1800" dirty="0"/>
              <a:t> Adding a new element to the list.</a:t>
            </a:r>
          </a:p>
          <a:p>
            <a:pPr>
              <a:lnSpc>
                <a:spcPct val="200000"/>
              </a:lnSpc>
            </a:pPr>
            <a:r>
              <a:rPr lang="en-US" sz="1800" b="1" i="1" dirty="0"/>
              <a:t>Deletion:</a:t>
            </a:r>
            <a:r>
              <a:rPr lang="en-US" sz="1800" dirty="0"/>
              <a:t> Removing an element from the list.</a:t>
            </a:r>
          </a:p>
          <a:p>
            <a:pPr>
              <a:lnSpc>
                <a:spcPct val="200000"/>
              </a:lnSpc>
            </a:pPr>
            <a:r>
              <a:rPr lang="en-US" sz="1800" b="1" i="1" dirty="0"/>
              <a:t>Sorting:</a:t>
            </a:r>
            <a:r>
              <a:rPr lang="en-US" sz="1800" dirty="0"/>
              <a:t> Arranging the elements in some type of order.</a:t>
            </a:r>
          </a:p>
          <a:p>
            <a:pPr>
              <a:lnSpc>
                <a:spcPct val="200000"/>
              </a:lnSpc>
            </a:pPr>
            <a:r>
              <a:rPr lang="en-US" sz="1800" b="1" i="1" dirty="0"/>
              <a:t>Merging:</a:t>
            </a:r>
            <a:r>
              <a:rPr lang="en-US" sz="1800" dirty="0"/>
              <a:t> Combining two lists into a single list.</a:t>
            </a:r>
            <a:endParaRPr lang="en-PK" sz="1800" dirty="0"/>
          </a:p>
        </p:txBody>
      </p:sp>
    </p:spTree>
    <p:extLst>
      <p:ext uri="{BB962C8B-B14F-4D97-AF65-F5344CB8AC3E}">
        <p14:creationId xmlns:p14="http://schemas.microsoft.com/office/powerpoint/2010/main" val="33031241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47675-1831-439B-BA06-2F260A4676D5}"/>
              </a:ext>
            </a:extLst>
          </p:cNvPr>
          <p:cNvSpPr>
            <a:spLocks noGrp="1"/>
          </p:cNvSpPr>
          <p:nvPr>
            <p:ph type="title"/>
          </p:nvPr>
        </p:nvSpPr>
        <p:spPr>
          <a:xfrm>
            <a:off x="347870" y="251792"/>
            <a:ext cx="10515600" cy="497992"/>
          </a:xfrm>
        </p:spPr>
        <p:txBody>
          <a:bodyPr>
            <a:normAutofit/>
          </a:bodyPr>
          <a:lstStyle/>
          <a:p>
            <a:r>
              <a:rPr lang="en-US" sz="2400" b="1" dirty="0">
                <a:solidFill>
                  <a:schemeClr val="accent1">
                    <a:lumMod val="50000"/>
                  </a:schemeClr>
                </a:solidFill>
                <a:latin typeface="+mn-lt"/>
              </a:rPr>
              <a:t>Linear Array</a:t>
            </a:r>
            <a:endParaRPr lang="en-PK" sz="2400" b="1" dirty="0">
              <a:solidFill>
                <a:schemeClr val="accent1">
                  <a:lumMod val="50000"/>
                </a:schemeClr>
              </a:solidFill>
              <a:latin typeface="+mn-lt"/>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47EE33E-5538-4B8D-AAF9-50E844051B84}"/>
                  </a:ext>
                </a:extLst>
              </p:cNvPr>
              <p:cNvSpPr>
                <a:spLocks noGrp="1"/>
              </p:cNvSpPr>
              <p:nvPr>
                <p:ph idx="1"/>
              </p:nvPr>
            </p:nvSpPr>
            <p:spPr>
              <a:xfrm>
                <a:off x="347870" y="954158"/>
                <a:ext cx="11005930" cy="6042990"/>
              </a:xfrm>
            </p:spPr>
            <p:txBody>
              <a:bodyPr>
                <a:normAutofit/>
              </a:bodyPr>
              <a:lstStyle/>
              <a:p>
                <a:pPr>
                  <a:lnSpc>
                    <a:spcPct val="150000"/>
                  </a:lnSpc>
                </a:pPr>
                <a:r>
                  <a:rPr lang="en-US" sz="1800" dirty="0"/>
                  <a:t>A linear array is a list of a finite number </a:t>
                </a:r>
                <a:r>
                  <a:rPr lang="en-US" sz="1800" b="1" i="1" dirty="0"/>
                  <a:t>n</a:t>
                </a:r>
                <a:r>
                  <a:rPr lang="en-US" sz="1800" dirty="0"/>
                  <a:t> of homogenous data elements(i.e., data elements of the same type).</a:t>
                </a:r>
              </a:p>
              <a:p>
                <a:pPr>
                  <a:lnSpc>
                    <a:spcPct val="150000"/>
                  </a:lnSpc>
                </a:pPr>
                <a:r>
                  <a:rPr lang="en-US" sz="1800" dirty="0"/>
                  <a:t>Collection of elements accessible by an index.</a:t>
                </a:r>
              </a:p>
              <a:p>
                <a:pPr>
                  <a:lnSpc>
                    <a:spcPct val="150000"/>
                  </a:lnSpc>
                </a:pPr>
                <a:r>
                  <a:rPr lang="en-US" sz="1800" dirty="0"/>
                  <a:t>Length / size of array : number </a:t>
                </a:r>
                <a:r>
                  <a:rPr lang="en-US" sz="1800" b="1" i="1" dirty="0"/>
                  <a:t>n</a:t>
                </a:r>
                <a:r>
                  <a:rPr lang="en-US" sz="1800" dirty="0"/>
                  <a:t> of the elements.</a:t>
                </a:r>
              </a:p>
              <a:p>
                <a:pPr lvl="4">
                  <a:lnSpc>
                    <a:spcPct val="150000"/>
                  </a:lnSpc>
                </a:pPr>
                <a:r>
                  <a:rPr lang="en-US" b="1" dirty="0"/>
                  <a:t>Length = UB - LB +1</a:t>
                </a:r>
              </a:p>
              <a:p>
                <a:pPr lvl="1">
                  <a:lnSpc>
                    <a:spcPct val="150000"/>
                  </a:lnSpc>
                </a:pPr>
                <a:r>
                  <a:rPr lang="en-US" sz="1800" dirty="0"/>
                  <a:t>UB (upper bound) is the largest index</a:t>
                </a:r>
              </a:p>
              <a:p>
                <a:pPr lvl="1">
                  <a:lnSpc>
                    <a:spcPct val="150000"/>
                  </a:lnSpc>
                </a:pPr>
                <a:r>
                  <a:rPr lang="en-US" sz="1800" dirty="0"/>
                  <a:t>LB (lower bound) is the smallest index</a:t>
                </a:r>
              </a:p>
              <a:p>
                <a:pPr>
                  <a:lnSpc>
                    <a:spcPct val="150000"/>
                  </a:lnSpc>
                </a:pPr>
                <a:r>
                  <a:rPr lang="en-US" sz="1800" dirty="0"/>
                  <a:t>Array can be denoted as:</a:t>
                </a:r>
              </a:p>
              <a:p>
                <a:pPr lvl="4">
                  <a:lnSpc>
                    <a:spcPct val="150000"/>
                  </a:lnSpc>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b="0" i="1" smtClean="0">
                            <a:latin typeface="Cambria Math" panose="02040503050406030204" pitchFamily="18" charset="0"/>
                          </a:rPr>
                          <m:t>2</m:t>
                        </m:r>
                      </m:sub>
                    </m:sSub>
                  </m:oMath>
                </a14:m>
                <a:r>
                  <a:rPr lang="en-US" dirty="0"/>
                  <a:t> ,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b="0" i="1" smtClean="0">
                            <a:latin typeface="Cambria Math" panose="02040503050406030204" pitchFamily="18" charset="0"/>
                          </a:rPr>
                          <m:t>3</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b="0" i="1" smtClean="0">
                            <a:latin typeface="Cambria Math" panose="02040503050406030204" pitchFamily="18" charset="0"/>
                          </a:rPr>
                          <m:t>4</m:t>
                        </m:r>
                      </m:sub>
                    </m:sSub>
                  </m:oMath>
                </a14:m>
                <a:r>
                  <a:rPr lang="en-US" dirty="0"/>
                  <a:t>  ,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b="0" i="1" smtClean="0">
                            <a:latin typeface="Cambria Math" panose="02040503050406030204" pitchFamily="18" charset="0"/>
                          </a:rPr>
                          <m:t>5</m:t>
                        </m:r>
                      </m:sub>
                    </m:sSub>
                  </m:oMath>
                </a14:m>
                <a:r>
                  <a:rPr lang="en-US" dirty="0"/>
                  <a:t> ,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b="0" i="1" smtClean="0">
                            <a:latin typeface="Cambria Math" panose="02040503050406030204" pitchFamily="18" charset="0"/>
                          </a:rPr>
                          <m:t>6</m:t>
                        </m:r>
                      </m:sub>
                    </m:sSub>
                  </m:oMath>
                </a14:m>
                <a:r>
                  <a:rPr lang="en-US" dirty="0"/>
                  <a:t>, </a:t>
                </a:r>
                <a14:m>
                  <m:oMath xmlns:m="http://schemas.openxmlformats.org/officeDocument/2006/math">
                    <m:r>
                      <a:rPr lang="en-US" b="0" i="1" smtClean="0">
                        <a:latin typeface="Cambria Math" panose="02040503050406030204" pitchFamily="18" charset="0"/>
                      </a:rPr>
                      <m:t>……..</m:t>
                    </m:r>
                    <m:r>
                      <a:rPr lang="en-US" b="0" i="0"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b="0" i="1" smtClean="0">
                            <a:latin typeface="Cambria Math" panose="02040503050406030204" pitchFamily="18" charset="0"/>
                          </a:rPr>
                          <m:t>𝑛</m:t>
                        </m:r>
                      </m:sub>
                    </m:sSub>
                  </m:oMath>
                </a14:m>
                <a:endParaRPr lang="en-US" dirty="0"/>
              </a:p>
              <a:p>
                <a:pPr lvl="4">
                  <a:lnSpc>
                    <a:spcPct val="150000"/>
                  </a:lnSpc>
                </a:pPr>
                <a:r>
                  <a:rPr lang="en-US" dirty="0"/>
                  <a:t>A[1] , A[2] , A[3] , A[4] , A[5] , A[6] ,  …… , A[N], </a:t>
                </a:r>
              </a:p>
              <a:p>
                <a:pPr>
                  <a:lnSpc>
                    <a:spcPct val="150000"/>
                  </a:lnSpc>
                </a:pPr>
                <a:r>
                  <a:rPr lang="en-US" sz="1800" dirty="0"/>
                  <a:t>Subscript or index</a:t>
                </a:r>
              </a:p>
              <a:p>
                <a:pPr>
                  <a:lnSpc>
                    <a:spcPct val="150000"/>
                  </a:lnSpc>
                </a:pPr>
                <a:endParaRPr lang="en-US" sz="1800" dirty="0"/>
              </a:p>
              <a:p>
                <a:pPr>
                  <a:lnSpc>
                    <a:spcPct val="150000"/>
                  </a:lnSpc>
                </a:pPr>
                <a:endParaRPr lang="en-US" sz="1800" dirty="0"/>
              </a:p>
              <a:p>
                <a:pPr>
                  <a:lnSpc>
                    <a:spcPct val="150000"/>
                  </a:lnSpc>
                </a:pPr>
                <a:endParaRPr lang="en-US" sz="1800" dirty="0"/>
              </a:p>
              <a:p>
                <a:pPr>
                  <a:lnSpc>
                    <a:spcPct val="150000"/>
                  </a:lnSpc>
                </a:pPr>
                <a:endParaRPr lang="en-US" sz="1800" dirty="0"/>
              </a:p>
              <a:p>
                <a:pPr>
                  <a:lnSpc>
                    <a:spcPct val="150000"/>
                  </a:lnSpc>
                </a:pPr>
                <a:endParaRPr lang="en-PK" sz="1800" dirty="0"/>
              </a:p>
            </p:txBody>
          </p:sp>
        </mc:Choice>
        <mc:Fallback xmlns="">
          <p:sp>
            <p:nvSpPr>
              <p:cNvPr id="3" name="Content Placeholder 2">
                <a:extLst>
                  <a:ext uri="{FF2B5EF4-FFF2-40B4-BE49-F238E27FC236}">
                    <a16:creationId xmlns:a16="http://schemas.microsoft.com/office/drawing/2014/main" id="{B47EE33E-5538-4B8D-AAF9-50E844051B84}"/>
                  </a:ext>
                </a:extLst>
              </p:cNvPr>
              <p:cNvSpPr>
                <a:spLocks noGrp="1" noRot="1" noChangeAspect="1" noMove="1" noResize="1" noEditPoints="1" noAdjustHandles="1" noChangeArrowheads="1" noChangeShapeType="1" noTextEdit="1"/>
              </p:cNvSpPr>
              <p:nvPr>
                <p:ph idx="1"/>
              </p:nvPr>
            </p:nvSpPr>
            <p:spPr>
              <a:xfrm>
                <a:off x="347870" y="954158"/>
                <a:ext cx="11005930" cy="6042990"/>
              </a:xfrm>
              <a:blipFill>
                <a:blip r:embed="rId3"/>
                <a:stretch>
                  <a:fillRect l="-332"/>
                </a:stretch>
              </a:blipFill>
            </p:spPr>
            <p:txBody>
              <a:bodyPr/>
              <a:lstStyle/>
              <a:p>
                <a:r>
                  <a:rPr lang="en-PK">
                    <a:noFill/>
                  </a:rPr>
                  <a:t> </a:t>
                </a:r>
              </a:p>
            </p:txBody>
          </p:sp>
        </mc:Fallback>
      </mc:AlternateContent>
    </p:spTree>
    <p:extLst>
      <p:ext uri="{BB962C8B-B14F-4D97-AF65-F5344CB8AC3E}">
        <p14:creationId xmlns:p14="http://schemas.microsoft.com/office/powerpoint/2010/main" val="3456716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par>
                                <p:cTn id="18" presetID="16" presetClass="entr" presetSubtype="21"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barn(inVertical)">
                                      <p:cBhvr>
                                        <p:cTn id="20" dur="500"/>
                                        <p:tgtEl>
                                          <p:spTgt spid="3">
                                            <p:txEl>
                                              <p:pRg st="3" end="3"/>
                                            </p:txEl>
                                          </p:spTgt>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barn(inVertical)">
                                      <p:cBhvr>
                                        <p:cTn id="23" dur="500"/>
                                        <p:tgtEl>
                                          <p:spTgt spid="3">
                                            <p:txEl>
                                              <p:pRg st="4" end="4"/>
                                            </p:txEl>
                                          </p:spTgt>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barn(inVertical)">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barn(inVertical)">
                                      <p:cBhvr>
                                        <p:cTn id="31" dur="500"/>
                                        <p:tgtEl>
                                          <p:spTgt spid="3">
                                            <p:txEl>
                                              <p:pRg st="6" end="6"/>
                                            </p:txEl>
                                          </p:spTgt>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barn(inVertical)">
                                      <p:cBhvr>
                                        <p:cTn id="34" dur="500"/>
                                        <p:tgtEl>
                                          <p:spTgt spid="3">
                                            <p:txEl>
                                              <p:pRg st="7" end="7"/>
                                            </p:txEl>
                                          </p:spTgt>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barn(inVertical)">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barn(inVertical)">
                                      <p:cBhvr>
                                        <p:cTn id="4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5F6FC2F-3614-4869-9BF6-A58BA1459AA6}"/>
              </a:ext>
            </a:extLst>
          </p:cNvPr>
          <p:cNvSpPr txBox="1"/>
          <p:nvPr/>
        </p:nvSpPr>
        <p:spPr>
          <a:xfrm>
            <a:off x="317500" y="145534"/>
            <a:ext cx="6096000" cy="400110"/>
          </a:xfrm>
          <a:prstGeom prst="rect">
            <a:avLst/>
          </a:prstGeom>
          <a:noFill/>
        </p:spPr>
        <p:txBody>
          <a:bodyPr wrap="square">
            <a:spAutoFit/>
          </a:bodyPr>
          <a:lstStyle/>
          <a:p>
            <a:r>
              <a:rPr lang="en-US" sz="2000" b="1" dirty="0">
                <a:solidFill>
                  <a:schemeClr val="accent1">
                    <a:lumMod val="50000"/>
                  </a:schemeClr>
                </a:solidFill>
                <a:latin typeface="+mn-lt"/>
              </a:rPr>
              <a:t>Array:</a:t>
            </a:r>
            <a:endParaRPr lang="en-PK" sz="2000" b="1" dirty="0">
              <a:solidFill>
                <a:schemeClr val="accent1">
                  <a:lumMod val="50000"/>
                </a:schemeClr>
              </a:solidFill>
            </a:endParaRPr>
          </a:p>
        </p:txBody>
      </p:sp>
      <p:sp>
        <p:nvSpPr>
          <p:cNvPr id="7" name="TextBox 6">
            <a:extLst>
              <a:ext uri="{FF2B5EF4-FFF2-40B4-BE49-F238E27FC236}">
                <a16:creationId xmlns:a16="http://schemas.microsoft.com/office/drawing/2014/main" id="{48915530-3D34-4F23-9B7D-E2E57079BB0A}"/>
              </a:ext>
            </a:extLst>
          </p:cNvPr>
          <p:cNvSpPr txBox="1"/>
          <p:nvPr/>
        </p:nvSpPr>
        <p:spPr>
          <a:xfrm>
            <a:off x="476250" y="419100"/>
            <a:ext cx="11570438" cy="6662721"/>
          </a:xfrm>
          <a:prstGeom prst="rect">
            <a:avLst/>
          </a:prstGeom>
          <a:noFill/>
        </p:spPr>
        <p:txBody>
          <a:bodyPr wrap="square">
            <a:spAutoFit/>
          </a:bodyPr>
          <a:lstStyle/>
          <a:p>
            <a:pPr marL="285750" indent="-285750" algn="just">
              <a:lnSpc>
                <a:spcPct val="200000"/>
              </a:lnSpc>
              <a:buFont typeface="Arial" panose="020B0604020202020204" pitchFamily="34" charset="0"/>
              <a:buChar char="•"/>
            </a:pPr>
            <a:r>
              <a:rPr lang="en-PK" sz="1800" dirty="0">
                <a:effectLst/>
                <a:ea typeface="Calibri" panose="020F0502020204030204" pitchFamily="34" charset="0"/>
                <a:cs typeface="Arial" panose="020B0604020202020204" pitchFamily="34" charset="0"/>
              </a:rPr>
              <a:t>In Java all arrays are dynamically allocated.</a:t>
            </a:r>
            <a:endParaRPr lang="en-US" sz="1800" dirty="0">
              <a:effectLst/>
              <a:ea typeface="Calibri" panose="020F0502020204030204" pitchFamily="34" charset="0"/>
              <a:cs typeface="Arial" panose="020B0604020202020204" pitchFamily="34" charset="0"/>
            </a:endParaRPr>
          </a:p>
          <a:p>
            <a:pPr marL="285750" indent="-285750" algn="just">
              <a:lnSpc>
                <a:spcPct val="200000"/>
              </a:lnSpc>
              <a:buFont typeface="Arial" panose="020B0604020202020204" pitchFamily="34" charset="0"/>
              <a:buChar char="•"/>
            </a:pPr>
            <a:r>
              <a:rPr lang="en-PK" sz="1800" dirty="0">
                <a:effectLst/>
                <a:ea typeface="Calibri" panose="020F0502020204030204" pitchFamily="34" charset="0"/>
                <a:cs typeface="Arial" panose="020B0604020202020204" pitchFamily="34" charset="0"/>
              </a:rPr>
              <a:t>A Java array variable can also be declared like other variables with [] after the data type.</a:t>
            </a:r>
          </a:p>
          <a:p>
            <a:pPr marL="285750" indent="-285750" algn="just">
              <a:lnSpc>
                <a:spcPct val="200000"/>
              </a:lnSpc>
              <a:buFont typeface="Arial" panose="020B0604020202020204" pitchFamily="34" charset="0"/>
              <a:buChar char="•"/>
            </a:pPr>
            <a:r>
              <a:rPr lang="en-PK" sz="1800" dirty="0">
                <a:effectLst/>
                <a:ea typeface="Calibri" panose="020F0502020204030204" pitchFamily="34" charset="0"/>
                <a:cs typeface="Arial" panose="020B0604020202020204" pitchFamily="34" charset="0"/>
              </a:rPr>
              <a:t>The variables in the array are ordered and each have an index beginning from 0.</a:t>
            </a:r>
          </a:p>
          <a:p>
            <a:pPr marL="285750" indent="-285750" algn="just">
              <a:lnSpc>
                <a:spcPct val="200000"/>
              </a:lnSpc>
              <a:buFont typeface="Arial" panose="020B0604020202020204" pitchFamily="34" charset="0"/>
              <a:buChar char="•"/>
            </a:pPr>
            <a:r>
              <a:rPr lang="en-PK" sz="1800" dirty="0">
                <a:effectLst/>
                <a:ea typeface="Calibri" panose="020F0502020204030204" pitchFamily="34" charset="0"/>
                <a:cs typeface="Arial" panose="020B0604020202020204" pitchFamily="34" charset="0"/>
              </a:rPr>
              <a:t>Java array can be also be used as a static field, a local variable or a method parameter.</a:t>
            </a:r>
          </a:p>
          <a:p>
            <a:pPr marL="285750" indent="-285750" algn="just">
              <a:lnSpc>
                <a:spcPct val="200000"/>
              </a:lnSpc>
              <a:buFont typeface="Arial" panose="020B0604020202020204" pitchFamily="34" charset="0"/>
              <a:buChar char="•"/>
            </a:pPr>
            <a:r>
              <a:rPr lang="en-PK" sz="1800" dirty="0">
                <a:effectLst/>
                <a:ea typeface="Calibri" panose="020F0502020204030204" pitchFamily="34" charset="0"/>
                <a:cs typeface="Arial" panose="020B0604020202020204" pitchFamily="34" charset="0"/>
              </a:rPr>
              <a:t>The </a:t>
            </a:r>
            <a:r>
              <a:rPr lang="en-PK" sz="1800" b="1" dirty="0">
                <a:effectLst/>
                <a:ea typeface="Calibri" panose="020F0502020204030204" pitchFamily="34" charset="0"/>
                <a:cs typeface="Arial" panose="020B0604020202020204" pitchFamily="34" charset="0"/>
              </a:rPr>
              <a:t>size</a:t>
            </a:r>
            <a:r>
              <a:rPr lang="en-PK" sz="1800" dirty="0">
                <a:effectLst/>
                <a:ea typeface="Calibri" panose="020F0502020204030204" pitchFamily="34" charset="0"/>
                <a:cs typeface="Arial" panose="020B0604020202020204" pitchFamily="34" charset="0"/>
              </a:rPr>
              <a:t> of an array must be specified by an int value and not long or short.</a:t>
            </a:r>
          </a:p>
          <a:p>
            <a:pPr marL="285750" indent="-285750" algn="just">
              <a:lnSpc>
                <a:spcPct val="200000"/>
              </a:lnSpc>
              <a:buFont typeface="Arial" panose="020B0604020202020204" pitchFamily="34" charset="0"/>
              <a:buChar char="•"/>
            </a:pPr>
            <a:r>
              <a:rPr lang="en-PK" sz="1800" dirty="0">
                <a:effectLst/>
                <a:ea typeface="Calibri" panose="020F0502020204030204" pitchFamily="34" charset="0"/>
                <a:cs typeface="Arial" panose="020B0604020202020204" pitchFamily="34" charset="0"/>
              </a:rPr>
              <a:t>The direct superclass of an array type is </a:t>
            </a:r>
            <a:r>
              <a:rPr lang="en-PK" sz="1800" u="sng" dirty="0">
                <a:effectLst/>
                <a:ea typeface="Calibri" panose="020F050202020403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Object</a:t>
            </a:r>
            <a:r>
              <a:rPr lang="en-US" u="sng" dirty="0">
                <a:ea typeface="Calibri" panose="020F0502020204030204" pitchFamily="34" charset="0"/>
                <a:cs typeface="Arial" panose="020B0604020202020204" pitchFamily="34" charset="0"/>
              </a:rPr>
              <a:t>.</a:t>
            </a:r>
          </a:p>
          <a:p>
            <a:pPr marL="285750" indent="-285750" algn="just">
              <a:lnSpc>
                <a:spcPct val="200000"/>
              </a:lnSpc>
              <a:buFont typeface="Arial" panose="020B0604020202020204" pitchFamily="34" charset="0"/>
              <a:buChar char="•"/>
            </a:pPr>
            <a:r>
              <a:rPr lang="en-PK" sz="1800" dirty="0">
                <a:effectLst/>
                <a:ea typeface="Calibri" panose="020F0502020204030204" pitchFamily="34" charset="0"/>
                <a:cs typeface="Arial" panose="020B0604020202020204" pitchFamily="34" charset="0"/>
              </a:rPr>
              <a:t>Array can contain primitives (int, char, etc.) as well as object (or non-primitive) references of a class depending on the definition of the array</a:t>
            </a:r>
            <a:r>
              <a:rPr lang="en-US" u="sng" dirty="0">
                <a:ea typeface="Calibri" panose="020F0502020204030204" pitchFamily="34" charset="0"/>
                <a:cs typeface="Arial" panose="020B0604020202020204" pitchFamily="34" charset="0"/>
              </a:rPr>
              <a:t>.</a:t>
            </a:r>
          </a:p>
          <a:p>
            <a:pPr marL="285750" indent="-285750" algn="just">
              <a:lnSpc>
                <a:spcPct val="200000"/>
              </a:lnSpc>
              <a:buFont typeface="Arial" panose="020B0604020202020204" pitchFamily="34" charset="0"/>
              <a:buChar char="•"/>
            </a:pPr>
            <a:r>
              <a:rPr lang="en-PK" sz="1800" dirty="0">
                <a:effectLst/>
                <a:ea typeface="Calibri" panose="020F0502020204030204" pitchFamily="34" charset="0"/>
                <a:cs typeface="Arial" panose="020B0604020202020204" pitchFamily="34" charset="0"/>
              </a:rPr>
              <a:t>In case of primitive data types, the actual values are stored in contiguous memory locations. </a:t>
            </a:r>
            <a:endParaRPr lang="en-US" sz="1800" u="sng" dirty="0">
              <a:effectLst/>
              <a:ea typeface="Calibri" panose="020F0502020204030204" pitchFamily="34" charset="0"/>
              <a:cs typeface="Arial" panose="020B0604020202020204" pitchFamily="34" charset="0"/>
            </a:endParaRPr>
          </a:p>
          <a:p>
            <a:pPr marL="285750" indent="-285750" algn="just">
              <a:lnSpc>
                <a:spcPct val="200000"/>
              </a:lnSpc>
              <a:buFont typeface="Arial" panose="020B0604020202020204" pitchFamily="34" charset="0"/>
              <a:buChar char="•"/>
            </a:pPr>
            <a:r>
              <a:rPr lang="en-PK" sz="1800" dirty="0">
                <a:effectLst/>
                <a:ea typeface="Times New Roman" panose="02020603050405020304" pitchFamily="18" charset="0"/>
              </a:rPr>
              <a:t>In case of objects of a class, the actual objects are stored in heap segment.</a:t>
            </a:r>
          </a:p>
          <a:p>
            <a:pPr marL="285750" indent="-285750" algn="just">
              <a:lnSpc>
                <a:spcPct val="200000"/>
              </a:lnSpc>
              <a:buFont typeface="Arial" panose="020B0604020202020204" pitchFamily="34" charset="0"/>
              <a:buChar char="•"/>
            </a:pPr>
            <a:endParaRPr lang="en-US" u="sng" dirty="0">
              <a:ea typeface="Calibri" panose="020F0502020204030204" pitchFamily="34" charset="0"/>
              <a:cs typeface="Arial" panose="020B0604020202020204" pitchFamily="34" charset="0"/>
            </a:endParaRPr>
          </a:p>
          <a:p>
            <a:pPr marL="285750" indent="-285750" algn="just">
              <a:lnSpc>
                <a:spcPct val="200000"/>
              </a:lnSpc>
              <a:buFont typeface="Arial" panose="020B0604020202020204" pitchFamily="34" charset="0"/>
              <a:buChar char="•"/>
            </a:pPr>
            <a:endParaRPr lang="en-PK" dirty="0"/>
          </a:p>
        </p:txBody>
      </p:sp>
    </p:spTree>
    <p:extLst>
      <p:ext uri="{BB962C8B-B14F-4D97-AF65-F5344CB8AC3E}">
        <p14:creationId xmlns:p14="http://schemas.microsoft.com/office/powerpoint/2010/main" val="14571313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7979D4F-6ED1-4540-95BA-003437F334CF}"/>
              </a:ext>
            </a:extLst>
          </p:cNvPr>
          <p:cNvSpPr txBox="1"/>
          <p:nvPr/>
        </p:nvSpPr>
        <p:spPr>
          <a:xfrm>
            <a:off x="764144" y="1063320"/>
            <a:ext cx="9891543" cy="3418756"/>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sz="2800" dirty="0"/>
              <a:t>Fixed Size (immutable)</a:t>
            </a:r>
          </a:p>
          <a:p>
            <a:pPr marL="285750" indent="-285750">
              <a:lnSpc>
                <a:spcPct val="200000"/>
              </a:lnSpc>
              <a:buFont typeface="Arial" panose="020B0604020202020204" pitchFamily="34" charset="0"/>
              <a:buChar char="•"/>
            </a:pPr>
            <a:r>
              <a:rPr lang="en-US" sz="2800" dirty="0"/>
              <a:t>Specific data type</a:t>
            </a:r>
          </a:p>
          <a:p>
            <a:pPr marL="285750" indent="-285750">
              <a:lnSpc>
                <a:spcPct val="200000"/>
              </a:lnSpc>
              <a:buFont typeface="Arial" panose="020B0604020202020204" pitchFamily="34" charset="0"/>
              <a:buChar char="•"/>
            </a:pPr>
            <a:r>
              <a:rPr lang="en-US" sz="2800" dirty="0"/>
              <a:t>Elements of array are stored in contiguous memory locations</a:t>
            </a:r>
          </a:p>
          <a:p>
            <a:pPr marL="285750" indent="-285750">
              <a:lnSpc>
                <a:spcPct val="200000"/>
              </a:lnSpc>
              <a:buFont typeface="Arial" panose="020B0604020202020204" pitchFamily="34" charset="0"/>
              <a:buChar char="•"/>
            </a:pPr>
            <a:endParaRPr lang="en-PK" sz="2800" dirty="0"/>
          </a:p>
        </p:txBody>
      </p:sp>
      <p:sp>
        <p:nvSpPr>
          <p:cNvPr id="5" name="Title 1">
            <a:extLst>
              <a:ext uri="{FF2B5EF4-FFF2-40B4-BE49-F238E27FC236}">
                <a16:creationId xmlns:a16="http://schemas.microsoft.com/office/drawing/2014/main" id="{764F565B-C7C1-475E-AEFD-1DCF69202D23}"/>
              </a:ext>
            </a:extLst>
          </p:cNvPr>
          <p:cNvSpPr>
            <a:spLocks noGrp="1"/>
          </p:cNvSpPr>
          <p:nvPr>
            <p:ph type="title"/>
          </p:nvPr>
        </p:nvSpPr>
        <p:spPr>
          <a:xfrm>
            <a:off x="347870" y="251792"/>
            <a:ext cx="10515600" cy="497992"/>
          </a:xfrm>
        </p:spPr>
        <p:txBody>
          <a:bodyPr>
            <a:normAutofit/>
          </a:bodyPr>
          <a:lstStyle/>
          <a:p>
            <a:r>
              <a:rPr lang="en-US" sz="2800" b="1" dirty="0">
                <a:solidFill>
                  <a:schemeClr val="accent1">
                    <a:lumMod val="50000"/>
                  </a:schemeClr>
                </a:solidFill>
                <a:latin typeface="+mn-lt"/>
              </a:rPr>
              <a:t>Array</a:t>
            </a:r>
            <a:endParaRPr lang="en-PK" sz="2800" b="1" dirty="0">
              <a:solidFill>
                <a:schemeClr val="accent1">
                  <a:lumMod val="50000"/>
                </a:schemeClr>
              </a:solidFill>
              <a:latin typeface="+mn-lt"/>
            </a:endParaRPr>
          </a:p>
        </p:txBody>
      </p:sp>
    </p:spTree>
    <p:extLst>
      <p:ext uri="{BB962C8B-B14F-4D97-AF65-F5344CB8AC3E}">
        <p14:creationId xmlns:p14="http://schemas.microsoft.com/office/powerpoint/2010/main" val="1364941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02314CB-7F64-42A5-B52E-2421FE960F0B}"/>
              </a:ext>
            </a:extLst>
          </p:cNvPr>
          <p:cNvSpPr txBox="1">
            <a:spLocks/>
          </p:cNvSpPr>
          <p:nvPr/>
        </p:nvSpPr>
        <p:spPr>
          <a:xfrm>
            <a:off x="347870" y="251792"/>
            <a:ext cx="10515600" cy="49799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chemeClr val="accent1">
                    <a:lumMod val="50000"/>
                  </a:schemeClr>
                </a:solidFill>
                <a:latin typeface="+mn-lt"/>
              </a:rPr>
              <a:t>Representation of Linear Array in Memory</a:t>
            </a:r>
            <a:endParaRPr lang="en-PK" sz="2800" b="1" dirty="0">
              <a:solidFill>
                <a:schemeClr val="accent1">
                  <a:lumMod val="50000"/>
                </a:schemeClr>
              </a:solidFill>
              <a:latin typeface="+mn-lt"/>
            </a:endParaRPr>
          </a:p>
        </p:txBody>
      </p:sp>
      <p:sp>
        <p:nvSpPr>
          <p:cNvPr id="11" name="TextBox 10">
            <a:extLst>
              <a:ext uri="{FF2B5EF4-FFF2-40B4-BE49-F238E27FC236}">
                <a16:creationId xmlns:a16="http://schemas.microsoft.com/office/drawing/2014/main" id="{8CC611A1-FC88-4D41-9024-8EDE4AD4EAC1}"/>
              </a:ext>
            </a:extLst>
          </p:cNvPr>
          <p:cNvSpPr txBox="1"/>
          <p:nvPr/>
        </p:nvSpPr>
        <p:spPr>
          <a:xfrm>
            <a:off x="816429" y="1121229"/>
            <a:ext cx="998478" cy="369332"/>
          </a:xfrm>
          <a:prstGeom prst="rect">
            <a:avLst/>
          </a:prstGeom>
          <a:noFill/>
        </p:spPr>
        <p:txBody>
          <a:bodyPr wrap="none" rtlCol="0">
            <a:spAutoFit/>
          </a:bodyPr>
          <a:lstStyle/>
          <a:p>
            <a:r>
              <a:rPr lang="en-US" dirty="0"/>
              <a:t>int a = 5;</a:t>
            </a:r>
            <a:endParaRPr lang="en-PK" dirty="0"/>
          </a:p>
        </p:txBody>
      </p:sp>
      <p:sp>
        <p:nvSpPr>
          <p:cNvPr id="12" name="TextBox 11">
            <a:extLst>
              <a:ext uri="{FF2B5EF4-FFF2-40B4-BE49-F238E27FC236}">
                <a16:creationId xmlns:a16="http://schemas.microsoft.com/office/drawing/2014/main" id="{3CA201E7-170B-4506-BF17-83D5B511FD59}"/>
              </a:ext>
            </a:extLst>
          </p:cNvPr>
          <p:cNvSpPr txBox="1"/>
          <p:nvPr/>
        </p:nvSpPr>
        <p:spPr>
          <a:xfrm>
            <a:off x="774367" y="1551020"/>
            <a:ext cx="3602012" cy="369332"/>
          </a:xfrm>
          <a:prstGeom prst="rect">
            <a:avLst/>
          </a:prstGeom>
          <a:noFill/>
        </p:spPr>
        <p:txBody>
          <a:bodyPr wrap="none" rtlCol="0">
            <a:spAutoFit/>
          </a:bodyPr>
          <a:lstStyle/>
          <a:p>
            <a:r>
              <a:rPr lang="en-US" dirty="0"/>
              <a:t>int contain 4 bytes    :  8 * 4 = 32 bits</a:t>
            </a:r>
            <a:endParaRPr lang="en-PK" dirty="0"/>
          </a:p>
        </p:txBody>
      </p:sp>
      <p:sp>
        <p:nvSpPr>
          <p:cNvPr id="13" name="TextBox 12">
            <a:extLst>
              <a:ext uri="{FF2B5EF4-FFF2-40B4-BE49-F238E27FC236}">
                <a16:creationId xmlns:a16="http://schemas.microsoft.com/office/drawing/2014/main" id="{F8A032D7-0A4E-4AF9-B685-2BD0AA82676B}"/>
              </a:ext>
            </a:extLst>
          </p:cNvPr>
          <p:cNvSpPr txBox="1"/>
          <p:nvPr/>
        </p:nvSpPr>
        <p:spPr>
          <a:xfrm>
            <a:off x="2046515" y="1151459"/>
            <a:ext cx="1503040" cy="369332"/>
          </a:xfrm>
          <a:prstGeom prst="rect">
            <a:avLst/>
          </a:prstGeom>
          <a:noFill/>
        </p:spPr>
        <p:txBody>
          <a:bodyPr wrap="none" rtlCol="0">
            <a:spAutoFit/>
          </a:bodyPr>
          <a:lstStyle/>
          <a:p>
            <a:r>
              <a:rPr lang="en-US" dirty="0"/>
              <a:t>1 byte = 8 bits</a:t>
            </a:r>
            <a:endParaRPr lang="en-PK" dirty="0"/>
          </a:p>
        </p:txBody>
      </p:sp>
      <p:sp>
        <p:nvSpPr>
          <p:cNvPr id="14" name="TextBox 13">
            <a:extLst>
              <a:ext uri="{FF2B5EF4-FFF2-40B4-BE49-F238E27FC236}">
                <a16:creationId xmlns:a16="http://schemas.microsoft.com/office/drawing/2014/main" id="{0CCDD7D6-EF44-4910-9A1B-5A79068CD13F}"/>
              </a:ext>
            </a:extLst>
          </p:cNvPr>
          <p:cNvSpPr txBox="1"/>
          <p:nvPr/>
        </p:nvSpPr>
        <p:spPr>
          <a:xfrm>
            <a:off x="4721222" y="1559088"/>
            <a:ext cx="1830950" cy="369332"/>
          </a:xfrm>
          <a:prstGeom prst="rect">
            <a:avLst/>
          </a:prstGeom>
          <a:noFill/>
        </p:spPr>
        <p:txBody>
          <a:bodyPr wrap="none" rtlCol="0">
            <a:spAutoFit/>
          </a:bodyPr>
          <a:lstStyle/>
          <a:p>
            <a:r>
              <a:rPr lang="en-US" dirty="0"/>
              <a:t>000000………0101</a:t>
            </a:r>
            <a:endParaRPr lang="en-PK" dirty="0"/>
          </a:p>
        </p:txBody>
      </p:sp>
      <p:sp>
        <p:nvSpPr>
          <p:cNvPr id="15" name="TextBox 14">
            <a:extLst>
              <a:ext uri="{FF2B5EF4-FFF2-40B4-BE49-F238E27FC236}">
                <a16:creationId xmlns:a16="http://schemas.microsoft.com/office/drawing/2014/main" id="{4FEDDFDE-EEFF-4F96-98BB-4ABF6FAAB3A3}"/>
              </a:ext>
            </a:extLst>
          </p:cNvPr>
          <p:cNvSpPr txBox="1"/>
          <p:nvPr/>
        </p:nvSpPr>
        <p:spPr>
          <a:xfrm>
            <a:off x="7750629" y="947057"/>
            <a:ext cx="1606081" cy="369332"/>
          </a:xfrm>
          <a:prstGeom prst="rect">
            <a:avLst/>
          </a:prstGeom>
          <a:noFill/>
        </p:spPr>
        <p:txBody>
          <a:bodyPr wrap="none" rtlCol="0">
            <a:spAutoFit/>
          </a:bodyPr>
          <a:lstStyle/>
          <a:p>
            <a:r>
              <a:rPr lang="en-US" dirty="0"/>
              <a:t>Binary Number</a:t>
            </a:r>
            <a:endParaRPr lang="en-PK" dirty="0"/>
          </a:p>
        </p:txBody>
      </p:sp>
      <p:cxnSp>
        <p:nvCxnSpPr>
          <p:cNvPr id="17" name="Straight Arrow Connector 16">
            <a:extLst>
              <a:ext uri="{FF2B5EF4-FFF2-40B4-BE49-F238E27FC236}">
                <a16:creationId xmlns:a16="http://schemas.microsoft.com/office/drawing/2014/main" id="{82F7F90A-3C3F-43EF-8134-A4556B31E332}"/>
              </a:ext>
            </a:extLst>
          </p:cNvPr>
          <p:cNvCxnSpPr>
            <a:cxnSpLocks/>
            <a:stCxn id="15" idx="2"/>
          </p:cNvCxnSpPr>
          <p:nvPr/>
        </p:nvCxnSpPr>
        <p:spPr>
          <a:xfrm flipH="1">
            <a:off x="5636697" y="1316389"/>
            <a:ext cx="2916973" cy="3693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8" name="Table 10">
            <a:extLst>
              <a:ext uri="{FF2B5EF4-FFF2-40B4-BE49-F238E27FC236}">
                <a16:creationId xmlns:a16="http://schemas.microsoft.com/office/drawing/2014/main" id="{A747A7FD-A905-4EC3-BEF0-5ECB8FE3495E}"/>
              </a:ext>
            </a:extLst>
          </p:cNvPr>
          <p:cNvGraphicFramePr>
            <a:graphicFrameLocks noGrp="1"/>
          </p:cNvGraphicFramePr>
          <p:nvPr>
            <p:extLst>
              <p:ext uri="{D42A27DB-BD31-4B8C-83A1-F6EECF244321}">
                <p14:modId xmlns:p14="http://schemas.microsoft.com/office/powerpoint/2010/main" val="4026089715"/>
              </p:ext>
            </p:extLst>
          </p:nvPr>
        </p:nvGraphicFramePr>
        <p:xfrm>
          <a:off x="38688" y="5316472"/>
          <a:ext cx="11971279" cy="785292"/>
        </p:xfrm>
        <a:graphic>
          <a:graphicData uri="http://schemas.openxmlformats.org/drawingml/2006/table">
            <a:tbl>
              <a:tblPr firstRow="1" bandRow="1"/>
              <a:tblGrid>
                <a:gridCol w="336330">
                  <a:extLst>
                    <a:ext uri="{9D8B030D-6E8A-4147-A177-3AD203B41FA5}">
                      <a16:colId xmlns:a16="http://schemas.microsoft.com/office/drawing/2014/main" val="1991603347"/>
                    </a:ext>
                  </a:extLst>
                </a:gridCol>
                <a:gridCol w="348849">
                  <a:extLst>
                    <a:ext uri="{9D8B030D-6E8A-4147-A177-3AD203B41FA5}">
                      <a16:colId xmlns:a16="http://schemas.microsoft.com/office/drawing/2014/main" val="2777920320"/>
                    </a:ext>
                  </a:extLst>
                </a:gridCol>
                <a:gridCol w="403075">
                  <a:extLst>
                    <a:ext uri="{9D8B030D-6E8A-4147-A177-3AD203B41FA5}">
                      <a16:colId xmlns:a16="http://schemas.microsoft.com/office/drawing/2014/main" val="1730664962"/>
                    </a:ext>
                  </a:extLst>
                </a:gridCol>
                <a:gridCol w="403075">
                  <a:extLst>
                    <a:ext uri="{9D8B030D-6E8A-4147-A177-3AD203B41FA5}">
                      <a16:colId xmlns:a16="http://schemas.microsoft.com/office/drawing/2014/main" val="328359006"/>
                    </a:ext>
                  </a:extLst>
                </a:gridCol>
                <a:gridCol w="403075">
                  <a:extLst>
                    <a:ext uri="{9D8B030D-6E8A-4147-A177-3AD203B41FA5}">
                      <a16:colId xmlns:a16="http://schemas.microsoft.com/office/drawing/2014/main" val="1921123748"/>
                    </a:ext>
                  </a:extLst>
                </a:gridCol>
                <a:gridCol w="403075">
                  <a:extLst>
                    <a:ext uri="{9D8B030D-6E8A-4147-A177-3AD203B41FA5}">
                      <a16:colId xmlns:a16="http://schemas.microsoft.com/office/drawing/2014/main" val="4049789088"/>
                    </a:ext>
                  </a:extLst>
                </a:gridCol>
                <a:gridCol w="403075">
                  <a:extLst>
                    <a:ext uri="{9D8B030D-6E8A-4147-A177-3AD203B41FA5}">
                      <a16:colId xmlns:a16="http://schemas.microsoft.com/office/drawing/2014/main" val="2928813005"/>
                    </a:ext>
                  </a:extLst>
                </a:gridCol>
                <a:gridCol w="403075">
                  <a:extLst>
                    <a:ext uri="{9D8B030D-6E8A-4147-A177-3AD203B41FA5}">
                      <a16:colId xmlns:a16="http://schemas.microsoft.com/office/drawing/2014/main" val="3782253894"/>
                    </a:ext>
                  </a:extLst>
                </a:gridCol>
                <a:gridCol w="403075">
                  <a:extLst>
                    <a:ext uri="{9D8B030D-6E8A-4147-A177-3AD203B41FA5}">
                      <a16:colId xmlns:a16="http://schemas.microsoft.com/office/drawing/2014/main" val="3817829416"/>
                    </a:ext>
                  </a:extLst>
                </a:gridCol>
                <a:gridCol w="403075">
                  <a:extLst>
                    <a:ext uri="{9D8B030D-6E8A-4147-A177-3AD203B41FA5}">
                      <a16:colId xmlns:a16="http://schemas.microsoft.com/office/drawing/2014/main" val="1299820905"/>
                    </a:ext>
                  </a:extLst>
                </a:gridCol>
                <a:gridCol w="403075">
                  <a:extLst>
                    <a:ext uri="{9D8B030D-6E8A-4147-A177-3AD203B41FA5}">
                      <a16:colId xmlns:a16="http://schemas.microsoft.com/office/drawing/2014/main" val="3032965131"/>
                    </a:ext>
                  </a:extLst>
                </a:gridCol>
                <a:gridCol w="403075">
                  <a:extLst>
                    <a:ext uri="{9D8B030D-6E8A-4147-A177-3AD203B41FA5}">
                      <a16:colId xmlns:a16="http://schemas.microsoft.com/office/drawing/2014/main" val="886807455"/>
                    </a:ext>
                  </a:extLst>
                </a:gridCol>
                <a:gridCol w="403075">
                  <a:extLst>
                    <a:ext uri="{9D8B030D-6E8A-4147-A177-3AD203B41FA5}">
                      <a16:colId xmlns:a16="http://schemas.microsoft.com/office/drawing/2014/main" val="876546229"/>
                    </a:ext>
                  </a:extLst>
                </a:gridCol>
                <a:gridCol w="403075">
                  <a:extLst>
                    <a:ext uri="{9D8B030D-6E8A-4147-A177-3AD203B41FA5}">
                      <a16:colId xmlns:a16="http://schemas.microsoft.com/office/drawing/2014/main" val="1319539717"/>
                    </a:ext>
                  </a:extLst>
                </a:gridCol>
                <a:gridCol w="403075">
                  <a:extLst>
                    <a:ext uri="{9D8B030D-6E8A-4147-A177-3AD203B41FA5}">
                      <a16:colId xmlns:a16="http://schemas.microsoft.com/office/drawing/2014/main" val="4204185453"/>
                    </a:ext>
                  </a:extLst>
                </a:gridCol>
                <a:gridCol w="403075">
                  <a:extLst>
                    <a:ext uri="{9D8B030D-6E8A-4147-A177-3AD203B41FA5}">
                      <a16:colId xmlns:a16="http://schemas.microsoft.com/office/drawing/2014/main" val="640086940"/>
                    </a:ext>
                  </a:extLst>
                </a:gridCol>
                <a:gridCol w="403075">
                  <a:extLst>
                    <a:ext uri="{9D8B030D-6E8A-4147-A177-3AD203B41FA5}">
                      <a16:colId xmlns:a16="http://schemas.microsoft.com/office/drawing/2014/main" val="1064806264"/>
                    </a:ext>
                  </a:extLst>
                </a:gridCol>
                <a:gridCol w="389453">
                  <a:extLst>
                    <a:ext uri="{9D8B030D-6E8A-4147-A177-3AD203B41FA5}">
                      <a16:colId xmlns:a16="http://schemas.microsoft.com/office/drawing/2014/main" val="3125860559"/>
                    </a:ext>
                  </a:extLst>
                </a:gridCol>
                <a:gridCol w="416697">
                  <a:extLst>
                    <a:ext uri="{9D8B030D-6E8A-4147-A177-3AD203B41FA5}">
                      <a16:colId xmlns:a16="http://schemas.microsoft.com/office/drawing/2014/main" val="1659920396"/>
                    </a:ext>
                  </a:extLst>
                </a:gridCol>
                <a:gridCol w="403075">
                  <a:extLst>
                    <a:ext uri="{9D8B030D-6E8A-4147-A177-3AD203B41FA5}">
                      <a16:colId xmlns:a16="http://schemas.microsoft.com/office/drawing/2014/main" val="1698152950"/>
                    </a:ext>
                  </a:extLst>
                </a:gridCol>
                <a:gridCol w="403075">
                  <a:extLst>
                    <a:ext uri="{9D8B030D-6E8A-4147-A177-3AD203B41FA5}">
                      <a16:colId xmlns:a16="http://schemas.microsoft.com/office/drawing/2014/main" val="242566887"/>
                    </a:ext>
                  </a:extLst>
                </a:gridCol>
                <a:gridCol w="403075">
                  <a:extLst>
                    <a:ext uri="{9D8B030D-6E8A-4147-A177-3AD203B41FA5}">
                      <a16:colId xmlns:a16="http://schemas.microsoft.com/office/drawing/2014/main" val="178817915"/>
                    </a:ext>
                  </a:extLst>
                </a:gridCol>
                <a:gridCol w="403075">
                  <a:extLst>
                    <a:ext uri="{9D8B030D-6E8A-4147-A177-3AD203B41FA5}">
                      <a16:colId xmlns:a16="http://schemas.microsoft.com/office/drawing/2014/main" val="229418129"/>
                    </a:ext>
                  </a:extLst>
                </a:gridCol>
                <a:gridCol w="403075">
                  <a:extLst>
                    <a:ext uri="{9D8B030D-6E8A-4147-A177-3AD203B41FA5}">
                      <a16:colId xmlns:a16="http://schemas.microsoft.com/office/drawing/2014/main" val="993903759"/>
                    </a:ext>
                  </a:extLst>
                </a:gridCol>
                <a:gridCol w="403075">
                  <a:extLst>
                    <a:ext uri="{9D8B030D-6E8A-4147-A177-3AD203B41FA5}">
                      <a16:colId xmlns:a16="http://schemas.microsoft.com/office/drawing/2014/main" val="340701534"/>
                    </a:ext>
                  </a:extLst>
                </a:gridCol>
                <a:gridCol w="403075">
                  <a:extLst>
                    <a:ext uri="{9D8B030D-6E8A-4147-A177-3AD203B41FA5}">
                      <a16:colId xmlns:a16="http://schemas.microsoft.com/office/drawing/2014/main" val="1312010169"/>
                    </a:ext>
                  </a:extLst>
                </a:gridCol>
                <a:gridCol w="403075">
                  <a:extLst>
                    <a:ext uri="{9D8B030D-6E8A-4147-A177-3AD203B41FA5}">
                      <a16:colId xmlns:a16="http://schemas.microsoft.com/office/drawing/2014/main" val="3153298406"/>
                    </a:ext>
                  </a:extLst>
                </a:gridCol>
                <a:gridCol w="403075">
                  <a:extLst>
                    <a:ext uri="{9D8B030D-6E8A-4147-A177-3AD203B41FA5}">
                      <a16:colId xmlns:a16="http://schemas.microsoft.com/office/drawing/2014/main" val="2959644073"/>
                    </a:ext>
                  </a:extLst>
                </a:gridCol>
                <a:gridCol w="403075">
                  <a:extLst>
                    <a:ext uri="{9D8B030D-6E8A-4147-A177-3AD203B41FA5}">
                      <a16:colId xmlns:a16="http://schemas.microsoft.com/office/drawing/2014/main" val="1609994553"/>
                    </a:ext>
                  </a:extLst>
                </a:gridCol>
                <a:gridCol w="403075">
                  <a:extLst>
                    <a:ext uri="{9D8B030D-6E8A-4147-A177-3AD203B41FA5}">
                      <a16:colId xmlns:a16="http://schemas.microsoft.com/office/drawing/2014/main" val="3118772683"/>
                    </a:ext>
                  </a:extLst>
                </a:gridCol>
              </a:tblGrid>
              <a:tr h="316664">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extLst>
                  <a:ext uri="{0D108BD9-81ED-4DB2-BD59-A6C34878D82A}">
                    <a16:rowId xmlns:a16="http://schemas.microsoft.com/office/drawing/2014/main" val="906536351"/>
                  </a:ext>
                </a:extLst>
              </a:tr>
              <a:tr h="468628">
                <a:tc>
                  <a:txBody>
                    <a:bodyPr/>
                    <a:lstStyle/>
                    <a:p>
                      <a:r>
                        <a:rPr lang="en-US" sz="800" dirty="0"/>
                        <a:t>100</a:t>
                      </a:r>
                      <a:endParaRPr lang="en-PK" sz="800" dirty="0"/>
                    </a:p>
                  </a:txBody>
                  <a:tcPr>
                    <a:solidFill>
                      <a:schemeClr val="tx2"/>
                    </a:solidFill>
                  </a:tcPr>
                </a:tc>
                <a:tc>
                  <a:txBody>
                    <a:bodyPr/>
                    <a:lstStyle/>
                    <a:p>
                      <a:r>
                        <a:rPr lang="en-US" sz="800" dirty="0"/>
                        <a:t>101</a:t>
                      </a:r>
                      <a:endParaRPr lang="en-PK" sz="800" dirty="0"/>
                    </a:p>
                  </a:txBody>
                  <a:tcPr>
                    <a:solidFill>
                      <a:schemeClr val="tx2"/>
                    </a:solidFill>
                  </a:tcPr>
                </a:tc>
                <a:tc>
                  <a:txBody>
                    <a:bodyPr/>
                    <a:lstStyle/>
                    <a:p>
                      <a:r>
                        <a:rPr lang="en-US" sz="800" dirty="0"/>
                        <a:t>102</a:t>
                      </a:r>
                      <a:endParaRPr lang="en-PK" sz="800" dirty="0"/>
                    </a:p>
                  </a:txBody>
                  <a:tcPr>
                    <a:solidFill>
                      <a:schemeClr val="tx2"/>
                    </a:solidFill>
                  </a:tcPr>
                </a:tc>
                <a:tc>
                  <a:txBody>
                    <a:bodyPr/>
                    <a:lstStyle/>
                    <a:p>
                      <a:r>
                        <a:rPr lang="en-US" sz="800" dirty="0"/>
                        <a:t>103</a:t>
                      </a:r>
                      <a:endParaRPr lang="en-PK" sz="800" dirty="0"/>
                    </a:p>
                  </a:txBody>
                  <a:tcPr>
                    <a:solidFill>
                      <a:schemeClr val="tx2"/>
                    </a:solidFill>
                  </a:tcPr>
                </a:tc>
                <a:tc>
                  <a:txBody>
                    <a:bodyPr/>
                    <a:lstStyle/>
                    <a:p>
                      <a:r>
                        <a:rPr lang="en-US" sz="800" dirty="0"/>
                        <a:t>104</a:t>
                      </a:r>
                      <a:endParaRPr lang="en-PK" sz="800" dirty="0"/>
                    </a:p>
                  </a:txBody>
                  <a:tcPr>
                    <a:solidFill>
                      <a:srgbClr val="FF0000"/>
                    </a:solidFill>
                  </a:tcPr>
                </a:tc>
                <a:tc>
                  <a:txBody>
                    <a:bodyPr/>
                    <a:lstStyle/>
                    <a:p>
                      <a:r>
                        <a:rPr lang="en-US" sz="800" dirty="0"/>
                        <a:t>105</a:t>
                      </a:r>
                      <a:endParaRPr lang="en-PK" sz="800" dirty="0"/>
                    </a:p>
                  </a:txBody>
                  <a:tcPr>
                    <a:solidFill>
                      <a:srgbClr val="FF0000"/>
                    </a:solidFill>
                  </a:tcPr>
                </a:tc>
                <a:tc>
                  <a:txBody>
                    <a:bodyPr/>
                    <a:lstStyle/>
                    <a:p>
                      <a:r>
                        <a:rPr lang="en-US" sz="800" dirty="0"/>
                        <a:t>106</a:t>
                      </a:r>
                      <a:endParaRPr lang="en-PK" sz="800" dirty="0"/>
                    </a:p>
                  </a:txBody>
                  <a:tcPr>
                    <a:solidFill>
                      <a:srgbClr val="FF0000"/>
                    </a:solidFill>
                  </a:tcPr>
                </a:tc>
                <a:tc>
                  <a:txBody>
                    <a:bodyPr/>
                    <a:lstStyle/>
                    <a:p>
                      <a:r>
                        <a:rPr lang="en-US" sz="800" dirty="0"/>
                        <a:t>107</a:t>
                      </a:r>
                      <a:endParaRPr lang="en-PK" sz="800" dirty="0"/>
                    </a:p>
                  </a:txBody>
                  <a:tcPr>
                    <a:solidFill>
                      <a:srgbClr val="FF0000"/>
                    </a:solidFill>
                  </a:tcPr>
                </a:tc>
                <a:tc>
                  <a:txBody>
                    <a:bodyPr/>
                    <a:lstStyle/>
                    <a:p>
                      <a:r>
                        <a:rPr lang="en-US" sz="800" dirty="0"/>
                        <a:t>108</a:t>
                      </a:r>
                      <a:endParaRPr lang="en-PK" sz="800" dirty="0"/>
                    </a:p>
                  </a:txBody>
                  <a:tcPr>
                    <a:solidFill>
                      <a:srgbClr val="00B0F0"/>
                    </a:solidFill>
                  </a:tcPr>
                </a:tc>
                <a:tc>
                  <a:txBody>
                    <a:bodyPr/>
                    <a:lstStyle/>
                    <a:p>
                      <a:r>
                        <a:rPr lang="en-US" sz="800" dirty="0"/>
                        <a:t>109</a:t>
                      </a:r>
                      <a:endParaRPr lang="en-PK" sz="800" dirty="0"/>
                    </a:p>
                  </a:txBody>
                  <a:tcPr>
                    <a:solidFill>
                      <a:srgbClr val="00B0F0"/>
                    </a:solidFill>
                  </a:tcPr>
                </a:tc>
                <a:tc>
                  <a:txBody>
                    <a:bodyPr/>
                    <a:lstStyle/>
                    <a:p>
                      <a:r>
                        <a:rPr lang="en-US" sz="800" dirty="0"/>
                        <a:t>110</a:t>
                      </a:r>
                      <a:endParaRPr lang="en-PK" sz="800" dirty="0"/>
                    </a:p>
                  </a:txBody>
                  <a:tcPr>
                    <a:solidFill>
                      <a:srgbClr val="00B0F0"/>
                    </a:solidFill>
                  </a:tcPr>
                </a:tc>
                <a:tc>
                  <a:txBody>
                    <a:bodyPr/>
                    <a:lstStyle/>
                    <a:p>
                      <a:r>
                        <a:rPr lang="en-US" sz="800" dirty="0"/>
                        <a:t>111</a:t>
                      </a:r>
                      <a:endParaRPr lang="en-PK" sz="800" dirty="0"/>
                    </a:p>
                  </a:txBody>
                  <a:tcPr>
                    <a:solidFill>
                      <a:srgbClr val="00B0F0"/>
                    </a:solidFill>
                  </a:tcPr>
                </a:tc>
                <a:tc>
                  <a:txBody>
                    <a:bodyPr/>
                    <a:lstStyle/>
                    <a:p>
                      <a:r>
                        <a:rPr lang="en-US" sz="800" dirty="0"/>
                        <a:t>112</a:t>
                      </a:r>
                      <a:endParaRPr lang="en-PK" sz="800" dirty="0"/>
                    </a:p>
                  </a:txBody>
                  <a:tcPr>
                    <a:solidFill>
                      <a:schemeClr val="accent4">
                        <a:lumMod val="75000"/>
                      </a:schemeClr>
                    </a:solidFill>
                  </a:tcPr>
                </a:tc>
                <a:tc>
                  <a:txBody>
                    <a:bodyPr/>
                    <a:lstStyle/>
                    <a:p>
                      <a:r>
                        <a:rPr lang="en-US" sz="800" dirty="0"/>
                        <a:t>113</a:t>
                      </a:r>
                      <a:endParaRPr lang="en-PK" sz="800" dirty="0"/>
                    </a:p>
                  </a:txBody>
                  <a:tcPr>
                    <a:solidFill>
                      <a:schemeClr val="accent4">
                        <a:lumMod val="75000"/>
                      </a:schemeClr>
                    </a:solidFill>
                  </a:tcPr>
                </a:tc>
                <a:tc>
                  <a:txBody>
                    <a:bodyPr/>
                    <a:lstStyle/>
                    <a:p>
                      <a:r>
                        <a:rPr lang="en-US" sz="800" dirty="0"/>
                        <a:t>114</a:t>
                      </a:r>
                      <a:endParaRPr lang="en-PK" sz="800" dirty="0"/>
                    </a:p>
                  </a:txBody>
                  <a:tcPr>
                    <a:solidFill>
                      <a:schemeClr val="accent4">
                        <a:lumMod val="75000"/>
                      </a:schemeClr>
                    </a:solidFill>
                  </a:tcPr>
                </a:tc>
                <a:tc>
                  <a:txBody>
                    <a:bodyPr/>
                    <a:lstStyle/>
                    <a:p>
                      <a:r>
                        <a:rPr lang="en-US" sz="800" dirty="0"/>
                        <a:t>115</a:t>
                      </a:r>
                      <a:endParaRPr lang="en-PK" sz="800" dirty="0"/>
                    </a:p>
                  </a:txBody>
                  <a:tcPr>
                    <a:solidFill>
                      <a:schemeClr val="accent4">
                        <a:lumMod val="75000"/>
                      </a:schemeClr>
                    </a:solidFill>
                  </a:tcPr>
                </a:tc>
                <a:tc>
                  <a:txBody>
                    <a:bodyPr/>
                    <a:lstStyle/>
                    <a:p>
                      <a:r>
                        <a:rPr lang="en-US" sz="800" dirty="0"/>
                        <a:t>…</a:t>
                      </a:r>
                      <a:endParaRPr lang="en-PK" sz="800" dirty="0"/>
                    </a:p>
                  </a:txBody>
                  <a:tcPr>
                    <a:solidFill>
                      <a:srgbClr val="92D050"/>
                    </a:solidFill>
                  </a:tcPr>
                </a:tc>
                <a:tc>
                  <a:txBody>
                    <a:bodyPr/>
                    <a:lstStyle/>
                    <a:p>
                      <a:r>
                        <a:rPr lang="en-US" sz="800" dirty="0"/>
                        <a:t>…</a:t>
                      </a:r>
                      <a:endParaRPr lang="en-PK" sz="800" dirty="0"/>
                    </a:p>
                  </a:txBody>
                  <a:tcPr>
                    <a:solidFill>
                      <a:srgbClr val="92D050"/>
                    </a:solidFill>
                  </a:tcPr>
                </a:tc>
                <a:tc>
                  <a:txBody>
                    <a:bodyPr/>
                    <a:lstStyle/>
                    <a:p>
                      <a:r>
                        <a:rPr lang="en-US" sz="800" dirty="0"/>
                        <a:t>…</a:t>
                      </a:r>
                      <a:endParaRPr lang="en-PK" sz="800" dirty="0"/>
                    </a:p>
                  </a:txBody>
                  <a:tcPr>
                    <a:solidFill>
                      <a:srgbClr val="92D050"/>
                    </a:solidFill>
                  </a:tcPr>
                </a:tc>
                <a:tc>
                  <a:txBody>
                    <a:bodyPr/>
                    <a:lstStyle/>
                    <a:p>
                      <a:r>
                        <a:rPr lang="en-US" sz="800" dirty="0"/>
                        <a:t>…</a:t>
                      </a:r>
                      <a:endParaRPr lang="en-PK" sz="800" dirty="0"/>
                    </a:p>
                  </a:txBody>
                  <a:tcPr>
                    <a:solidFill>
                      <a:srgbClr val="92D050"/>
                    </a:solidFill>
                  </a:tcPr>
                </a:tc>
                <a:tc>
                  <a:txBody>
                    <a:bodyPr/>
                    <a:lstStyle/>
                    <a:p>
                      <a:r>
                        <a:rPr lang="en-US" sz="800" dirty="0"/>
                        <a:t>121</a:t>
                      </a:r>
                      <a:endParaRPr lang="en-PK" sz="800" dirty="0"/>
                    </a:p>
                  </a:txBody>
                  <a:tcPr>
                    <a:solidFill>
                      <a:schemeClr val="accent4"/>
                    </a:solidFill>
                  </a:tcPr>
                </a:tc>
                <a:tc>
                  <a:txBody>
                    <a:bodyPr/>
                    <a:lstStyle/>
                    <a:p>
                      <a:r>
                        <a:rPr lang="en-US" sz="800" dirty="0"/>
                        <a:t>122</a:t>
                      </a:r>
                      <a:endParaRPr lang="en-PK" sz="800" dirty="0"/>
                    </a:p>
                  </a:txBody>
                  <a:tcPr>
                    <a:solidFill>
                      <a:schemeClr val="accent4"/>
                    </a:solidFill>
                  </a:tcPr>
                </a:tc>
                <a:tc>
                  <a:txBody>
                    <a:bodyPr/>
                    <a:lstStyle/>
                    <a:p>
                      <a:r>
                        <a:rPr lang="en-US" sz="800" dirty="0"/>
                        <a:t>123</a:t>
                      </a:r>
                      <a:endParaRPr lang="en-PK" sz="800" dirty="0"/>
                    </a:p>
                  </a:txBody>
                  <a:tcPr>
                    <a:solidFill>
                      <a:schemeClr val="accent4"/>
                    </a:solidFill>
                  </a:tcPr>
                </a:tc>
                <a:tc>
                  <a:txBody>
                    <a:bodyPr/>
                    <a:lstStyle/>
                    <a:p>
                      <a:r>
                        <a:rPr lang="en-US" sz="800" dirty="0"/>
                        <a:t>124</a:t>
                      </a:r>
                      <a:endParaRPr lang="en-PK" sz="800" dirty="0"/>
                    </a:p>
                  </a:txBody>
                  <a:tcPr>
                    <a:solidFill>
                      <a:schemeClr val="accent4"/>
                    </a:solidFill>
                  </a:tcPr>
                </a:tc>
                <a:tc>
                  <a:txBody>
                    <a:bodyPr/>
                    <a:lstStyle/>
                    <a:p>
                      <a:r>
                        <a:rPr lang="en-US" sz="800" dirty="0"/>
                        <a:t>…</a:t>
                      </a:r>
                      <a:endParaRPr lang="en-PK" sz="800" dirty="0"/>
                    </a:p>
                  </a:txBody>
                  <a:tcPr>
                    <a:solidFill>
                      <a:schemeClr val="accent1">
                        <a:lumMod val="75000"/>
                      </a:schemeClr>
                    </a:solidFill>
                  </a:tcPr>
                </a:tc>
                <a:tc>
                  <a:txBody>
                    <a:bodyPr/>
                    <a:lstStyle/>
                    <a:p>
                      <a:r>
                        <a:rPr lang="en-US" sz="800" dirty="0"/>
                        <a:t>297</a:t>
                      </a:r>
                      <a:endParaRPr lang="en-PK" sz="800" dirty="0"/>
                    </a:p>
                  </a:txBody>
                  <a:tcPr>
                    <a:solidFill>
                      <a:schemeClr val="accent1">
                        <a:lumMod val="75000"/>
                      </a:schemeClr>
                    </a:solidFill>
                  </a:tcPr>
                </a:tc>
                <a:tc>
                  <a:txBody>
                    <a:bodyPr/>
                    <a:lstStyle/>
                    <a:p>
                      <a:r>
                        <a:rPr lang="en-US" sz="800" dirty="0"/>
                        <a:t>298</a:t>
                      </a:r>
                      <a:endParaRPr lang="en-PK" sz="800" dirty="0"/>
                    </a:p>
                  </a:txBody>
                  <a:tcPr>
                    <a:solidFill>
                      <a:schemeClr val="accent1">
                        <a:lumMod val="75000"/>
                      </a:schemeClr>
                    </a:solidFill>
                  </a:tcPr>
                </a:tc>
                <a:tc>
                  <a:txBody>
                    <a:bodyPr/>
                    <a:lstStyle/>
                    <a:p>
                      <a:r>
                        <a:rPr lang="en-US" sz="800" dirty="0"/>
                        <a:t>299</a:t>
                      </a:r>
                      <a:endParaRPr lang="en-PK" sz="800" dirty="0"/>
                    </a:p>
                  </a:txBody>
                  <a:tcPr>
                    <a:solidFill>
                      <a:schemeClr val="accent1">
                        <a:lumMod val="75000"/>
                      </a:schemeClr>
                    </a:solidFill>
                  </a:tcPr>
                </a:tc>
                <a:tc>
                  <a:txBody>
                    <a:bodyPr/>
                    <a:lstStyle/>
                    <a:p>
                      <a:r>
                        <a:rPr lang="en-US" sz="800" dirty="0"/>
                        <a:t>…</a:t>
                      </a:r>
                      <a:endParaRPr lang="en-PK" sz="800" dirty="0"/>
                    </a:p>
                  </a:txBody>
                  <a:tcPr/>
                </a:tc>
                <a:tc>
                  <a:txBody>
                    <a:bodyPr/>
                    <a:lstStyle/>
                    <a:p>
                      <a:r>
                        <a:rPr lang="en-US" sz="800" dirty="0"/>
                        <a:t>…</a:t>
                      </a:r>
                      <a:endParaRPr lang="en-PK" sz="800" dirty="0"/>
                    </a:p>
                  </a:txBody>
                  <a:tcPr/>
                </a:tc>
                <a:extLst>
                  <a:ext uri="{0D108BD9-81ED-4DB2-BD59-A6C34878D82A}">
                    <a16:rowId xmlns:a16="http://schemas.microsoft.com/office/drawing/2014/main" val="1326620274"/>
                  </a:ext>
                </a:extLst>
              </a:tr>
            </a:tbl>
          </a:graphicData>
        </a:graphic>
      </p:graphicFrame>
      <p:graphicFrame>
        <p:nvGraphicFramePr>
          <p:cNvPr id="19" name="Table 19">
            <a:extLst>
              <a:ext uri="{FF2B5EF4-FFF2-40B4-BE49-F238E27FC236}">
                <a16:creationId xmlns:a16="http://schemas.microsoft.com/office/drawing/2014/main" id="{46A4A840-17BE-427C-9365-1E07B4BE276A}"/>
              </a:ext>
            </a:extLst>
          </p:cNvPr>
          <p:cNvGraphicFramePr>
            <a:graphicFrameLocks noGrp="1"/>
          </p:cNvGraphicFramePr>
          <p:nvPr/>
        </p:nvGraphicFramePr>
        <p:xfrm>
          <a:off x="425669" y="4021445"/>
          <a:ext cx="8128000" cy="370840"/>
        </p:xfrm>
        <a:graphic>
          <a:graphicData uri="http://schemas.openxmlformats.org/drawingml/2006/table">
            <a:tbl>
              <a:tblPr firstRow="1" bandRow="1"/>
              <a:tblGrid>
                <a:gridCol w="2032000">
                  <a:extLst>
                    <a:ext uri="{9D8B030D-6E8A-4147-A177-3AD203B41FA5}">
                      <a16:colId xmlns:a16="http://schemas.microsoft.com/office/drawing/2014/main" val="687954254"/>
                    </a:ext>
                  </a:extLst>
                </a:gridCol>
                <a:gridCol w="2032000">
                  <a:extLst>
                    <a:ext uri="{9D8B030D-6E8A-4147-A177-3AD203B41FA5}">
                      <a16:colId xmlns:a16="http://schemas.microsoft.com/office/drawing/2014/main" val="3015193484"/>
                    </a:ext>
                  </a:extLst>
                </a:gridCol>
                <a:gridCol w="2032000">
                  <a:extLst>
                    <a:ext uri="{9D8B030D-6E8A-4147-A177-3AD203B41FA5}">
                      <a16:colId xmlns:a16="http://schemas.microsoft.com/office/drawing/2014/main" val="2285490675"/>
                    </a:ext>
                  </a:extLst>
                </a:gridCol>
                <a:gridCol w="2032000">
                  <a:extLst>
                    <a:ext uri="{9D8B030D-6E8A-4147-A177-3AD203B41FA5}">
                      <a16:colId xmlns:a16="http://schemas.microsoft.com/office/drawing/2014/main" val="2757139018"/>
                    </a:ext>
                  </a:extLst>
                </a:gridCol>
              </a:tblGrid>
              <a:tr h="370840">
                <a:tc>
                  <a:txBody>
                    <a:bodyPr/>
                    <a:lstStyle/>
                    <a:p>
                      <a:r>
                        <a:rPr lang="en-US" dirty="0"/>
                        <a:t>00000000</a:t>
                      </a:r>
                      <a:endParaRPr lang="en-PK" dirty="0"/>
                    </a:p>
                  </a:txBody>
                  <a:tcPr/>
                </a:tc>
                <a:tc>
                  <a:txBody>
                    <a:bodyPr/>
                    <a:lstStyle/>
                    <a:p>
                      <a:r>
                        <a:rPr lang="en-US" dirty="0"/>
                        <a:t>00000000</a:t>
                      </a:r>
                      <a:endParaRPr lang="en-PK" dirty="0"/>
                    </a:p>
                  </a:txBody>
                  <a:tcPr/>
                </a:tc>
                <a:tc>
                  <a:txBody>
                    <a:bodyPr/>
                    <a:lstStyle/>
                    <a:p>
                      <a:r>
                        <a:rPr lang="en-US" dirty="0"/>
                        <a:t>00000000</a:t>
                      </a:r>
                      <a:endParaRPr lang="en-PK" dirty="0"/>
                    </a:p>
                  </a:txBody>
                  <a:tcPr/>
                </a:tc>
                <a:tc>
                  <a:txBody>
                    <a:bodyPr/>
                    <a:lstStyle/>
                    <a:p>
                      <a:r>
                        <a:rPr lang="en-US" dirty="0"/>
                        <a:t>00000101</a:t>
                      </a:r>
                      <a:endParaRPr lang="en-PK" dirty="0"/>
                    </a:p>
                  </a:txBody>
                  <a:tcPr/>
                </a:tc>
                <a:extLst>
                  <a:ext uri="{0D108BD9-81ED-4DB2-BD59-A6C34878D82A}">
                    <a16:rowId xmlns:a16="http://schemas.microsoft.com/office/drawing/2014/main" val="910368068"/>
                  </a:ext>
                </a:extLst>
              </a:tr>
            </a:tbl>
          </a:graphicData>
        </a:graphic>
      </p:graphicFrame>
      <p:cxnSp>
        <p:nvCxnSpPr>
          <p:cNvPr id="21" name="Straight Arrow Connector 20">
            <a:extLst>
              <a:ext uri="{FF2B5EF4-FFF2-40B4-BE49-F238E27FC236}">
                <a16:creationId xmlns:a16="http://schemas.microsoft.com/office/drawing/2014/main" id="{94CE201E-8EBB-4A83-85E8-CF5090AFA964}"/>
              </a:ext>
            </a:extLst>
          </p:cNvPr>
          <p:cNvCxnSpPr>
            <a:cxnSpLocks/>
          </p:cNvCxnSpPr>
          <p:nvPr/>
        </p:nvCxnSpPr>
        <p:spPr>
          <a:xfrm flipV="1">
            <a:off x="1355350" y="4392285"/>
            <a:ext cx="6101364" cy="8831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3330B44-2117-47C7-AE85-B951E53B3D43}"/>
              </a:ext>
            </a:extLst>
          </p:cNvPr>
          <p:cNvCxnSpPr>
            <a:cxnSpLocks/>
          </p:cNvCxnSpPr>
          <p:nvPr/>
        </p:nvCxnSpPr>
        <p:spPr>
          <a:xfrm flipV="1">
            <a:off x="344249" y="4392285"/>
            <a:ext cx="287122" cy="883185"/>
          </a:xfrm>
          <a:prstGeom prst="line">
            <a:avLst/>
          </a:prstGeom>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BB3211B9-E982-487C-ACB0-CE7678A7E34F}"/>
              </a:ext>
            </a:extLst>
          </p:cNvPr>
          <p:cNvSpPr txBox="1"/>
          <p:nvPr/>
        </p:nvSpPr>
        <p:spPr>
          <a:xfrm>
            <a:off x="344249" y="6173035"/>
            <a:ext cx="860235" cy="369332"/>
          </a:xfrm>
          <a:prstGeom prst="rect">
            <a:avLst/>
          </a:prstGeom>
          <a:noFill/>
        </p:spPr>
        <p:txBody>
          <a:bodyPr wrap="none" rtlCol="0">
            <a:spAutoFit/>
          </a:bodyPr>
          <a:lstStyle/>
          <a:p>
            <a:r>
              <a:rPr lang="en-US" dirty="0"/>
              <a:t>4 bytes</a:t>
            </a:r>
            <a:endParaRPr lang="en-PK" dirty="0"/>
          </a:p>
        </p:txBody>
      </p:sp>
      <p:sp>
        <p:nvSpPr>
          <p:cNvPr id="27" name="TextBox 26">
            <a:extLst>
              <a:ext uri="{FF2B5EF4-FFF2-40B4-BE49-F238E27FC236}">
                <a16:creationId xmlns:a16="http://schemas.microsoft.com/office/drawing/2014/main" id="{161C21F1-BA09-4EAA-BAF9-6CADAB8F5EE7}"/>
              </a:ext>
            </a:extLst>
          </p:cNvPr>
          <p:cNvSpPr txBox="1"/>
          <p:nvPr/>
        </p:nvSpPr>
        <p:spPr>
          <a:xfrm>
            <a:off x="659326" y="3281273"/>
            <a:ext cx="696024" cy="369332"/>
          </a:xfrm>
          <a:prstGeom prst="rect">
            <a:avLst/>
          </a:prstGeom>
          <a:noFill/>
        </p:spPr>
        <p:txBody>
          <a:bodyPr wrap="none" rtlCol="0">
            <a:spAutoFit/>
          </a:bodyPr>
          <a:lstStyle/>
          <a:p>
            <a:r>
              <a:rPr lang="en-US" dirty="0"/>
              <a:t>8 bits</a:t>
            </a:r>
            <a:endParaRPr lang="en-PK" dirty="0"/>
          </a:p>
        </p:txBody>
      </p:sp>
      <p:sp>
        <p:nvSpPr>
          <p:cNvPr id="28" name="TextBox 27">
            <a:extLst>
              <a:ext uri="{FF2B5EF4-FFF2-40B4-BE49-F238E27FC236}">
                <a16:creationId xmlns:a16="http://schemas.microsoft.com/office/drawing/2014/main" id="{EE3CD9F4-054C-4F68-967C-9EC87A289B5D}"/>
              </a:ext>
            </a:extLst>
          </p:cNvPr>
          <p:cNvSpPr txBox="1"/>
          <p:nvPr/>
        </p:nvSpPr>
        <p:spPr>
          <a:xfrm>
            <a:off x="2803887" y="3281273"/>
            <a:ext cx="696024" cy="369332"/>
          </a:xfrm>
          <a:prstGeom prst="rect">
            <a:avLst/>
          </a:prstGeom>
          <a:noFill/>
        </p:spPr>
        <p:txBody>
          <a:bodyPr wrap="none" rtlCol="0">
            <a:spAutoFit/>
          </a:bodyPr>
          <a:lstStyle/>
          <a:p>
            <a:r>
              <a:rPr lang="en-US" dirty="0"/>
              <a:t>8 bits</a:t>
            </a:r>
            <a:endParaRPr lang="en-PK" dirty="0"/>
          </a:p>
        </p:txBody>
      </p:sp>
      <p:sp>
        <p:nvSpPr>
          <p:cNvPr id="29" name="TextBox 28">
            <a:extLst>
              <a:ext uri="{FF2B5EF4-FFF2-40B4-BE49-F238E27FC236}">
                <a16:creationId xmlns:a16="http://schemas.microsoft.com/office/drawing/2014/main" id="{6849B037-8396-4354-8709-C2B723CC86B9}"/>
              </a:ext>
            </a:extLst>
          </p:cNvPr>
          <p:cNvSpPr txBox="1"/>
          <p:nvPr/>
        </p:nvSpPr>
        <p:spPr>
          <a:xfrm>
            <a:off x="4814211" y="3281273"/>
            <a:ext cx="696024" cy="369332"/>
          </a:xfrm>
          <a:prstGeom prst="rect">
            <a:avLst/>
          </a:prstGeom>
          <a:noFill/>
        </p:spPr>
        <p:txBody>
          <a:bodyPr wrap="none" rtlCol="0">
            <a:spAutoFit/>
          </a:bodyPr>
          <a:lstStyle/>
          <a:p>
            <a:r>
              <a:rPr lang="en-US" dirty="0"/>
              <a:t>8 bits</a:t>
            </a:r>
            <a:endParaRPr lang="en-PK" dirty="0"/>
          </a:p>
        </p:txBody>
      </p:sp>
      <p:sp>
        <p:nvSpPr>
          <p:cNvPr id="30" name="TextBox 29">
            <a:extLst>
              <a:ext uri="{FF2B5EF4-FFF2-40B4-BE49-F238E27FC236}">
                <a16:creationId xmlns:a16="http://schemas.microsoft.com/office/drawing/2014/main" id="{F36EC4F6-3988-4D24-AAE6-5198128EDF0B}"/>
              </a:ext>
            </a:extLst>
          </p:cNvPr>
          <p:cNvSpPr txBox="1"/>
          <p:nvPr/>
        </p:nvSpPr>
        <p:spPr>
          <a:xfrm>
            <a:off x="6990004" y="3268567"/>
            <a:ext cx="696024" cy="369332"/>
          </a:xfrm>
          <a:prstGeom prst="rect">
            <a:avLst/>
          </a:prstGeom>
          <a:noFill/>
        </p:spPr>
        <p:txBody>
          <a:bodyPr wrap="none" rtlCol="0">
            <a:spAutoFit/>
          </a:bodyPr>
          <a:lstStyle/>
          <a:p>
            <a:r>
              <a:rPr lang="en-US" dirty="0"/>
              <a:t>8 bits</a:t>
            </a:r>
            <a:endParaRPr lang="en-PK" dirty="0"/>
          </a:p>
        </p:txBody>
      </p:sp>
      <p:cxnSp>
        <p:nvCxnSpPr>
          <p:cNvPr id="33" name="Straight Connector 32">
            <a:extLst>
              <a:ext uri="{FF2B5EF4-FFF2-40B4-BE49-F238E27FC236}">
                <a16:creationId xmlns:a16="http://schemas.microsoft.com/office/drawing/2014/main" id="{041DDB8E-D93D-43EB-8099-82E13C849E82}"/>
              </a:ext>
            </a:extLst>
          </p:cNvPr>
          <p:cNvCxnSpPr>
            <a:endCxn id="28" idx="2"/>
          </p:cNvCxnSpPr>
          <p:nvPr/>
        </p:nvCxnSpPr>
        <p:spPr>
          <a:xfrm flipV="1">
            <a:off x="3151899" y="3650605"/>
            <a:ext cx="0" cy="37084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046C19F-5B8C-4528-962B-CE62F9E309A8}"/>
              </a:ext>
            </a:extLst>
          </p:cNvPr>
          <p:cNvCxnSpPr>
            <a:stCxn id="29" idx="2"/>
          </p:cNvCxnSpPr>
          <p:nvPr/>
        </p:nvCxnSpPr>
        <p:spPr>
          <a:xfrm>
            <a:off x="5162223" y="3650605"/>
            <a:ext cx="0" cy="37084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6C8D3E99-7551-47A4-9A7A-DF09B6FD1FF1}"/>
              </a:ext>
            </a:extLst>
          </p:cNvPr>
          <p:cNvCxnSpPr/>
          <p:nvPr/>
        </p:nvCxnSpPr>
        <p:spPr>
          <a:xfrm>
            <a:off x="7448223" y="3637899"/>
            <a:ext cx="0" cy="37084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E0302BE-7DE2-4891-A46A-FD7AF990F12E}"/>
              </a:ext>
            </a:extLst>
          </p:cNvPr>
          <p:cNvCxnSpPr/>
          <p:nvPr/>
        </p:nvCxnSpPr>
        <p:spPr>
          <a:xfrm flipV="1">
            <a:off x="958322" y="3637899"/>
            <a:ext cx="0" cy="370840"/>
          </a:xfrm>
          <a:prstGeom prst="line">
            <a:avLst/>
          </a:prstGeom>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398DF087-62BE-44E1-9CBE-CD4447C68294}"/>
              </a:ext>
            </a:extLst>
          </p:cNvPr>
          <p:cNvSpPr txBox="1"/>
          <p:nvPr/>
        </p:nvSpPr>
        <p:spPr>
          <a:xfrm>
            <a:off x="1283993" y="3715183"/>
            <a:ext cx="535724" cy="369332"/>
          </a:xfrm>
          <a:prstGeom prst="rect">
            <a:avLst/>
          </a:prstGeom>
          <a:noFill/>
        </p:spPr>
        <p:txBody>
          <a:bodyPr wrap="none" rtlCol="0">
            <a:spAutoFit/>
          </a:bodyPr>
          <a:lstStyle/>
          <a:p>
            <a:r>
              <a:rPr lang="en-US" dirty="0"/>
              <a:t>100</a:t>
            </a:r>
            <a:endParaRPr lang="en-PK" dirty="0"/>
          </a:p>
        </p:txBody>
      </p:sp>
      <p:sp>
        <p:nvSpPr>
          <p:cNvPr id="40" name="TextBox 39">
            <a:extLst>
              <a:ext uri="{FF2B5EF4-FFF2-40B4-BE49-F238E27FC236}">
                <a16:creationId xmlns:a16="http://schemas.microsoft.com/office/drawing/2014/main" id="{4B1C2B3D-31F1-40C8-B122-78D5B2217A6C}"/>
              </a:ext>
            </a:extLst>
          </p:cNvPr>
          <p:cNvSpPr txBox="1"/>
          <p:nvPr/>
        </p:nvSpPr>
        <p:spPr>
          <a:xfrm>
            <a:off x="3494988" y="3715756"/>
            <a:ext cx="535724" cy="369332"/>
          </a:xfrm>
          <a:prstGeom prst="rect">
            <a:avLst/>
          </a:prstGeom>
          <a:noFill/>
        </p:spPr>
        <p:txBody>
          <a:bodyPr wrap="none" rtlCol="0">
            <a:spAutoFit/>
          </a:bodyPr>
          <a:lstStyle/>
          <a:p>
            <a:r>
              <a:rPr lang="en-US" dirty="0"/>
              <a:t>101</a:t>
            </a:r>
            <a:endParaRPr lang="en-PK" dirty="0"/>
          </a:p>
        </p:txBody>
      </p:sp>
      <p:sp>
        <p:nvSpPr>
          <p:cNvPr id="41" name="TextBox 40">
            <a:extLst>
              <a:ext uri="{FF2B5EF4-FFF2-40B4-BE49-F238E27FC236}">
                <a16:creationId xmlns:a16="http://schemas.microsoft.com/office/drawing/2014/main" id="{E1F28356-E1F8-459D-ADB9-087893CEB649}"/>
              </a:ext>
            </a:extLst>
          </p:cNvPr>
          <p:cNvSpPr txBox="1"/>
          <p:nvPr/>
        </p:nvSpPr>
        <p:spPr>
          <a:xfrm>
            <a:off x="7707441" y="3651359"/>
            <a:ext cx="535724" cy="369332"/>
          </a:xfrm>
          <a:prstGeom prst="rect">
            <a:avLst/>
          </a:prstGeom>
          <a:noFill/>
        </p:spPr>
        <p:txBody>
          <a:bodyPr wrap="none" rtlCol="0">
            <a:spAutoFit/>
          </a:bodyPr>
          <a:lstStyle/>
          <a:p>
            <a:r>
              <a:rPr lang="en-US" dirty="0"/>
              <a:t>103</a:t>
            </a:r>
            <a:endParaRPr lang="en-PK" dirty="0"/>
          </a:p>
        </p:txBody>
      </p:sp>
      <p:sp>
        <p:nvSpPr>
          <p:cNvPr id="42" name="TextBox 41">
            <a:extLst>
              <a:ext uri="{FF2B5EF4-FFF2-40B4-BE49-F238E27FC236}">
                <a16:creationId xmlns:a16="http://schemas.microsoft.com/office/drawing/2014/main" id="{A5FAC9DE-C607-4228-96A4-0155A24E036A}"/>
              </a:ext>
            </a:extLst>
          </p:cNvPr>
          <p:cNvSpPr txBox="1"/>
          <p:nvPr/>
        </p:nvSpPr>
        <p:spPr>
          <a:xfrm>
            <a:off x="5756466" y="3682015"/>
            <a:ext cx="535724" cy="369332"/>
          </a:xfrm>
          <a:prstGeom prst="rect">
            <a:avLst/>
          </a:prstGeom>
          <a:noFill/>
        </p:spPr>
        <p:txBody>
          <a:bodyPr wrap="none" rtlCol="0">
            <a:spAutoFit/>
          </a:bodyPr>
          <a:lstStyle/>
          <a:p>
            <a:r>
              <a:rPr lang="en-US" dirty="0"/>
              <a:t>102</a:t>
            </a:r>
            <a:endParaRPr lang="en-PK" dirty="0"/>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C8041850-9CA7-487A-8955-51D1AE8EEB1C}"/>
                  </a:ext>
                </a:extLst>
              </p:cNvPr>
              <p:cNvSpPr txBox="1"/>
              <p:nvPr/>
            </p:nvSpPr>
            <p:spPr>
              <a:xfrm>
                <a:off x="2279784" y="6178113"/>
                <a:ext cx="4272388" cy="369332"/>
              </a:xfrm>
              <a:prstGeom prst="rect">
                <a:avLst/>
              </a:prstGeom>
              <a:noFill/>
            </p:spPr>
            <p:txBody>
              <a:bodyPr wrap="none" rtlCol="0">
                <a:spAutoFit/>
              </a:bodyPr>
              <a:lstStyle/>
              <a:p>
                <a:r>
                  <a:rPr lang="en-US" dirty="0"/>
                  <a:t>Address always into Hexadecimal: 0</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677C0</a:t>
                </a:r>
                <a:endParaRPr lang="en-PK" dirty="0"/>
              </a:p>
            </p:txBody>
          </p:sp>
        </mc:Choice>
        <mc:Fallback xmlns="">
          <p:sp>
            <p:nvSpPr>
              <p:cNvPr id="44" name="TextBox 43">
                <a:extLst>
                  <a:ext uri="{FF2B5EF4-FFF2-40B4-BE49-F238E27FC236}">
                    <a16:creationId xmlns:a16="http://schemas.microsoft.com/office/drawing/2014/main" id="{C8041850-9CA7-487A-8955-51D1AE8EEB1C}"/>
                  </a:ext>
                </a:extLst>
              </p:cNvPr>
              <p:cNvSpPr txBox="1">
                <a:spLocks noRot="1" noChangeAspect="1" noMove="1" noResize="1" noEditPoints="1" noAdjustHandles="1" noChangeArrowheads="1" noChangeShapeType="1" noTextEdit="1"/>
              </p:cNvSpPr>
              <p:nvPr/>
            </p:nvSpPr>
            <p:spPr>
              <a:xfrm>
                <a:off x="2279784" y="6178113"/>
                <a:ext cx="4272388" cy="369332"/>
              </a:xfrm>
              <a:prstGeom prst="rect">
                <a:avLst/>
              </a:prstGeom>
              <a:blipFill>
                <a:blip r:embed="rId3"/>
                <a:stretch>
                  <a:fillRect l="-1284" t="-8197" r="-143" b="-24590"/>
                </a:stretch>
              </a:blipFill>
            </p:spPr>
            <p:txBody>
              <a:bodyPr/>
              <a:lstStyle/>
              <a:p>
                <a:r>
                  <a:rPr lang="en-PK">
                    <a:noFill/>
                  </a:rPr>
                  <a:t> </a:t>
                </a:r>
              </a:p>
            </p:txBody>
          </p:sp>
        </mc:Fallback>
      </mc:AlternateContent>
      <p:sp>
        <p:nvSpPr>
          <p:cNvPr id="45" name="TextBox 44">
            <a:extLst>
              <a:ext uri="{FF2B5EF4-FFF2-40B4-BE49-F238E27FC236}">
                <a16:creationId xmlns:a16="http://schemas.microsoft.com/office/drawing/2014/main" id="{426C7B0F-B6DD-49CF-9225-6D8A59E8B9DD}"/>
              </a:ext>
            </a:extLst>
          </p:cNvPr>
          <p:cNvSpPr txBox="1"/>
          <p:nvPr/>
        </p:nvSpPr>
        <p:spPr>
          <a:xfrm>
            <a:off x="1624084" y="2784143"/>
            <a:ext cx="911019" cy="369332"/>
          </a:xfrm>
          <a:prstGeom prst="rect">
            <a:avLst/>
          </a:prstGeom>
          <a:noFill/>
        </p:spPr>
        <p:txBody>
          <a:bodyPr wrap="none" rtlCol="0">
            <a:spAutoFit/>
          </a:bodyPr>
          <a:lstStyle/>
          <a:p>
            <a:r>
              <a:rPr lang="en-US" dirty="0"/>
              <a:t>address</a:t>
            </a:r>
            <a:endParaRPr lang="en-PK" dirty="0"/>
          </a:p>
        </p:txBody>
      </p:sp>
      <p:cxnSp>
        <p:nvCxnSpPr>
          <p:cNvPr id="47" name="Straight Arrow Connector 46">
            <a:extLst>
              <a:ext uri="{FF2B5EF4-FFF2-40B4-BE49-F238E27FC236}">
                <a16:creationId xmlns:a16="http://schemas.microsoft.com/office/drawing/2014/main" id="{53A5ADBA-92AB-4691-A72E-47485E1BB095}"/>
              </a:ext>
            </a:extLst>
          </p:cNvPr>
          <p:cNvCxnSpPr>
            <a:stCxn id="45" idx="2"/>
          </p:cNvCxnSpPr>
          <p:nvPr/>
        </p:nvCxnSpPr>
        <p:spPr>
          <a:xfrm flipH="1">
            <a:off x="1624086" y="3153475"/>
            <a:ext cx="455508" cy="5617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15460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CBE0E-22C0-4F63-BAE5-C5E52B5680CA}"/>
              </a:ext>
            </a:extLst>
          </p:cNvPr>
          <p:cNvSpPr>
            <a:spLocks noGrp="1"/>
          </p:cNvSpPr>
          <p:nvPr>
            <p:ph type="title"/>
          </p:nvPr>
        </p:nvSpPr>
        <p:spPr>
          <a:xfrm>
            <a:off x="228600" y="114956"/>
            <a:ext cx="3520093" cy="566081"/>
          </a:xfrm>
        </p:spPr>
        <p:txBody>
          <a:bodyPr>
            <a:normAutofit/>
          </a:bodyPr>
          <a:lstStyle/>
          <a:p>
            <a:r>
              <a:rPr lang="en-US" sz="2800" b="1" dirty="0">
                <a:solidFill>
                  <a:schemeClr val="accent1">
                    <a:lumMod val="50000"/>
                  </a:schemeClr>
                </a:solidFill>
                <a:latin typeface="+mn-lt"/>
              </a:rPr>
              <a:t>Operations on array</a:t>
            </a:r>
            <a:endParaRPr lang="en-PK" sz="2800" b="1" dirty="0">
              <a:solidFill>
                <a:schemeClr val="accent1">
                  <a:lumMod val="50000"/>
                </a:schemeClr>
              </a:solidFill>
              <a:latin typeface="+mn-lt"/>
            </a:endParaRPr>
          </a:p>
        </p:txBody>
      </p:sp>
      <p:sp>
        <p:nvSpPr>
          <p:cNvPr id="5" name="TextBox 4">
            <a:extLst>
              <a:ext uri="{FF2B5EF4-FFF2-40B4-BE49-F238E27FC236}">
                <a16:creationId xmlns:a16="http://schemas.microsoft.com/office/drawing/2014/main" id="{EF160BF1-19AB-4D1B-96C1-B5E5A0C50E3E}"/>
              </a:ext>
            </a:extLst>
          </p:cNvPr>
          <p:cNvSpPr txBox="1"/>
          <p:nvPr/>
        </p:nvSpPr>
        <p:spPr>
          <a:xfrm>
            <a:off x="536027" y="681037"/>
            <a:ext cx="1405449" cy="400110"/>
          </a:xfrm>
          <a:prstGeom prst="rect">
            <a:avLst/>
          </a:prstGeom>
          <a:noFill/>
        </p:spPr>
        <p:txBody>
          <a:bodyPr wrap="none" rtlCol="0">
            <a:spAutoFit/>
          </a:bodyPr>
          <a:lstStyle/>
          <a:p>
            <a:r>
              <a:rPr lang="en-US" sz="2000" b="1" dirty="0"/>
              <a:t>- Traversing</a:t>
            </a:r>
            <a:endParaRPr lang="en-PK" sz="2000" b="1" dirty="0"/>
          </a:p>
        </p:txBody>
      </p:sp>
      <p:graphicFrame>
        <p:nvGraphicFramePr>
          <p:cNvPr id="6" name="Table 10">
            <a:extLst>
              <a:ext uri="{FF2B5EF4-FFF2-40B4-BE49-F238E27FC236}">
                <a16:creationId xmlns:a16="http://schemas.microsoft.com/office/drawing/2014/main" id="{1BA24F3B-9814-4DF7-9F7A-C4EFC90FD80D}"/>
              </a:ext>
            </a:extLst>
          </p:cNvPr>
          <p:cNvGraphicFramePr>
            <a:graphicFrameLocks noGrp="1"/>
          </p:cNvGraphicFramePr>
          <p:nvPr/>
        </p:nvGraphicFramePr>
        <p:xfrm>
          <a:off x="110360" y="5572251"/>
          <a:ext cx="11971279" cy="785292"/>
        </p:xfrm>
        <a:graphic>
          <a:graphicData uri="http://schemas.openxmlformats.org/drawingml/2006/table">
            <a:tbl>
              <a:tblPr firstRow="1" bandRow="1"/>
              <a:tblGrid>
                <a:gridCol w="336330">
                  <a:extLst>
                    <a:ext uri="{9D8B030D-6E8A-4147-A177-3AD203B41FA5}">
                      <a16:colId xmlns:a16="http://schemas.microsoft.com/office/drawing/2014/main" val="1991603347"/>
                    </a:ext>
                  </a:extLst>
                </a:gridCol>
                <a:gridCol w="348849">
                  <a:extLst>
                    <a:ext uri="{9D8B030D-6E8A-4147-A177-3AD203B41FA5}">
                      <a16:colId xmlns:a16="http://schemas.microsoft.com/office/drawing/2014/main" val="2777920320"/>
                    </a:ext>
                  </a:extLst>
                </a:gridCol>
                <a:gridCol w="403075">
                  <a:extLst>
                    <a:ext uri="{9D8B030D-6E8A-4147-A177-3AD203B41FA5}">
                      <a16:colId xmlns:a16="http://schemas.microsoft.com/office/drawing/2014/main" val="1730664962"/>
                    </a:ext>
                  </a:extLst>
                </a:gridCol>
                <a:gridCol w="403075">
                  <a:extLst>
                    <a:ext uri="{9D8B030D-6E8A-4147-A177-3AD203B41FA5}">
                      <a16:colId xmlns:a16="http://schemas.microsoft.com/office/drawing/2014/main" val="328359006"/>
                    </a:ext>
                  </a:extLst>
                </a:gridCol>
                <a:gridCol w="403075">
                  <a:extLst>
                    <a:ext uri="{9D8B030D-6E8A-4147-A177-3AD203B41FA5}">
                      <a16:colId xmlns:a16="http://schemas.microsoft.com/office/drawing/2014/main" val="1921123748"/>
                    </a:ext>
                  </a:extLst>
                </a:gridCol>
                <a:gridCol w="403075">
                  <a:extLst>
                    <a:ext uri="{9D8B030D-6E8A-4147-A177-3AD203B41FA5}">
                      <a16:colId xmlns:a16="http://schemas.microsoft.com/office/drawing/2014/main" val="4049789088"/>
                    </a:ext>
                  </a:extLst>
                </a:gridCol>
                <a:gridCol w="403075">
                  <a:extLst>
                    <a:ext uri="{9D8B030D-6E8A-4147-A177-3AD203B41FA5}">
                      <a16:colId xmlns:a16="http://schemas.microsoft.com/office/drawing/2014/main" val="2928813005"/>
                    </a:ext>
                  </a:extLst>
                </a:gridCol>
                <a:gridCol w="403075">
                  <a:extLst>
                    <a:ext uri="{9D8B030D-6E8A-4147-A177-3AD203B41FA5}">
                      <a16:colId xmlns:a16="http://schemas.microsoft.com/office/drawing/2014/main" val="3782253894"/>
                    </a:ext>
                  </a:extLst>
                </a:gridCol>
                <a:gridCol w="403075">
                  <a:extLst>
                    <a:ext uri="{9D8B030D-6E8A-4147-A177-3AD203B41FA5}">
                      <a16:colId xmlns:a16="http://schemas.microsoft.com/office/drawing/2014/main" val="3817829416"/>
                    </a:ext>
                  </a:extLst>
                </a:gridCol>
                <a:gridCol w="403075">
                  <a:extLst>
                    <a:ext uri="{9D8B030D-6E8A-4147-A177-3AD203B41FA5}">
                      <a16:colId xmlns:a16="http://schemas.microsoft.com/office/drawing/2014/main" val="1299820905"/>
                    </a:ext>
                  </a:extLst>
                </a:gridCol>
                <a:gridCol w="403075">
                  <a:extLst>
                    <a:ext uri="{9D8B030D-6E8A-4147-A177-3AD203B41FA5}">
                      <a16:colId xmlns:a16="http://schemas.microsoft.com/office/drawing/2014/main" val="3032965131"/>
                    </a:ext>
                  </a:extLst>
                </a:gridCol>
                <a:gridCol w="403075">
                  <a:extLst>
                    <a:ext uri="{9D8B030D-6E8A-4147-A177-3AD203B41FA5}">
                      <a16:colId xmlns:a16="http://schemas.microsoft.com/office/drawing/2014/main" val="886807455"/>
                    </a:ext>
                  </a:extLst>
                </a:gridCol>
                <a:gridCol w="403075">
                  <a:extLst>
                    <a:ext uri="{9D8B030D-6E8A-4147-A177-3AD203B41FA5}">
                      <a16:colId xmlns:a16="http://schemas.microsoft.com/office/drawing/2014/main" val="876546229"/>
                    </a:ext>
                  </a:extLst>
                </a:gridCol>
                <a:gridCol w="403075">
                  <a:extLst>
                    <a:ext uri="{9D8B030D-6E8A-4147-A177-3AD203B41FA5}">
                      <a16:colId xmlns:a16="http://schemas.microsoft.com/office/drawing/2014/main" val="1319539717"/>
                    </a:ext>
                  </a:extLst>
                </a:gridCol>
                <a:gridCol w="403075">
                  <a:extLst>
                    <a:ext uri="{9D8B030D-6E8A-4147-A177-3AD203B41FA5}">
                      <a16:colId xmlns:a16="http://schemas.microsoft.com/office/drawing/2014/main" val="4204185453"/>
                    </a:ext>
                  </a:extLst>
                </a:gridCol>
                <a:gridCol w="403075">
                  <a:extLst>
                    <a:ext uri="{9D8B030D-6E8A-4147-A177-3AD203B41FA5}">
                      <a16:colId xmlns:a16="http://schemas.microsoft.com/office/drawing/2014/main" val="640086940"/>
                    </a:ext>
                  </a:extLst>
                </a:gridCol>
                <a:gridCol w="403075">
                  <a:extLst>
                    <a:ext uri="{9D8B030D-6E8A-4147-A177-3AD203B41FA5}">
                      <a16:colId xmlns:a16="http://schemas.microsoft.com/office/drawing/2014/main" val="1064806264"/>
                    </a:ext>
                  </a:extLst>
                </a:gridCol>
                <a:gridCol w="389453">
                  <a:extLst>
                    <a:ext uri="{9D8B030D-6E8A-4147-A177-3AD203B41FA5}">
                      <a16:colId xmlns:a16="http://schemas.microsoft.com/office/drawing/2014/main" val="3125860559"/>
                    </a:ext>
                  </a:extLst>
                </a:gridCol>
                <a:gridCol w="416697">
                  <a:extLst>
                    <a:ext uri="{9D8B030D-6E8A-4147-A177-3AD203B41FA5}">
                      <a16:colId xmlns:a16="http://schemas.microsoft.com/office/drawing/2014/main" val="1659920396"/>
                    </a:ext>
                  </a:extLst>
                </a:gridCol>
                <a:gridCol w="403075">
                  <a:extLst>
                    <a:ext uri="{9D8B030D-6E8A-4147-A177-3AD203B41FA5}">
                      <a16:colId xmlns:a16="http://schemas.microsoft.com/office/drawing/2014/main" val="1698152950"/>
                    </a:ext>
                  </a:extLst>
                </a:gridCol>
                <a:gridCol w="403075">
                  <a:extLst>
                    <a:ext uri="{9D8B030D-6E8A-4147-A177-3AD203B41FA5}">
                      <a16:colId xmlns:a16="http://schemas.microsoft.com/office/drawing/2014/main" val="242566887"/>
                    </a:ext>
                  </a:extLst>
                </a:gridCol>
                <a:gridCol w="403075">
                  <a:extLst>
                    <a:ext uri="{9D8B030D-6E8A-4147-A177-3AD203B41FA5}">
                      <a16:colId xmlns:a16="http://schemas.microsoft.com/office/drawing/2014/main" val="178817915"/>
                    </a:ext>
                  </a:extLst>
                </a:gridCol>
                <a:gridCol w="403075">
                  <a:extLst>
                    <a:ext uri="{9D8B030D-6E8A-4147-A177-3AD203B41FA5}">
                      <a16:colId xmlns:a16="http://schemas.microsoft.com/office/drawing/2014/main" val="229418129"/>
                    </a:ext>
                  </a:extLst>
                </a:gridCol>
                <a:gridCol w="403075">
                  <a:extLst>
                    <a:ext uri="{9D8B030D-6E8A-4147-A177-3AD203B41FA5}">
                      <a16:colId xmlns:a16="http://schemas.microsoft.com/office/drawing/2014/main" val="993903759"/>
                    </a:ext>
                  </a:extLst>
                </a:gridCol>
                <a:gridCol w="403075">
                  <a:extLst>
                    <a:ext uri="{9D8B030D-6E8A-4147-A177-3AD203B41FA5}">
                      <a16:colId xmlns:a16="http://schemas.microsoft.com/office/drawing/2014/main" val="340701534"/>
                    </a:ext>
                  </a:extLst>
                </a:gridCol>
                <a:gridCol w="403075">
                  <a:extLst>
                    <a:ext uri="{9D8B030D-6E8A-4147-A177-3AD203B41FA5}">
                      <a16:colId xmlns:a16="http://schemas.microsoft.com/office/drawing/2014/main" val="1312010169"/>
                    </a:ext>
                  </a:extLst>
                </a:gridCol>
                <a:gridCol w="403075">
                  <a:extLst>
                    <a:ext uri="{9D8B030D-6E8A-4147-A177-3AD203B41FA5}">
                      <a16:colId xmlns:a16="http://schemas.microsoft.com/office/drawing/2014/main" val="3153298406"/>
                    </a:ext>
                  </a:extLst>
                </a:gridCol>
                <a:gridCol w="403075">
                  <a:extLst>
                    <a:ext uri="{9D8B030D-6E8A-4147-A177-3AD203B41FA5}">
                      <a16:colId xmlns:a16="http://schemas.microsoft.com/office/drawing/2014/main" val="2959644073"/>
                    </a:ext>
                  </a:extLst>
                </a:gridCol>
                <a:gridCol w="403075">
                  <a:extLst>
                    <a:ext uri="{9D8B030D-6E8A-4147-A177-3AD203B41FA5}">
                      <a16:colId xmlns:a16="http://schemas.microsoft.com/office/drawing/2014/main" val="1609994553"/>
                    </a:ext>
                  </a:extLst>
                </a:gridCol>
                <a:gridCol w="403075">
                  <a:extLst>
                    <a:ext uri="{9D8B030D-6E8A-4147-A177-3AD203B41FA5}">
                      <a16:colId xmlns:a16="http://schemas.microsoft.com/office/drawing/2014/main" val="3118772683"/>
                    </a:ext>
                  </a:extLst>
                </a:gridCol>
              </a:tblGrid>
              <a:tr h="316664">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extLst>
                  <a:ext uri="{0D108BD9-81ED-4DB2-BD59-A6C34878D82A}">
                    <a16:rowId xmlns:a16="http://schemas.microsoft.com/office/drawing/2014/main" val="906536351"/>
                  </a:ext>
                </a:extLst>
              </a:tr>
              <a:tr h="468628">
                <a:tc>
                  <a:txBody>
                    <a:bodyPr/>
                    <a:lstStyle/>
                    <a:p>
                      <a:r>
                        <a:rPr lang="en-US" sz="800" dirty="0"/>
                        <a:t>100</a:t>
                      </a:r>
                      <a:endParaRPr lang="en-PK" sz="800" dirty="0"/>
                    </a:p>
                  </a:txBody>
                  <a:tcPr>
                    <a:solidFill>
                      <a:schemeClr val="tx2"/>
                    </a:solidFill>
                  </a:tcPr>
                </a:tc>
                <a:tc>
                  <a:txBody>
                    <a:bodyPr/>
                    <a:lstStyle/>
                    <a:p>
                      <a:r>
                        <a:rPr lang="en-US" sz="800" dirty="0"/>
                        <a:t>101</a:t>
                      </a:r>
                      <a:endParaRPr lang="en-PK" sz="800" dirty="0"/>
                    </a:p>
                  </a:txBody>
                  <a:tcPr>
                    <a:solidFill>
                      <a:schemeClr val="tx2"/>
                    </a:solidFill>
                  </a:tcPr>
                </a:tc>
                <a:tc>
                  <a:txBody>
                    <a:bodyPr/>
                    <a:lstStyle/>
                    <a:p>
                      <a:r>
                        <a:rPr lang="en-US" sz="800" dirty="0"/>
                        <a:t>102</a:t>
                      </a:r>
                      <a:endParaRPr lang="en-PK" sz="800" dirty="0"/>
                    </a:p>
                  </a:txBody>
                  <a:tcPr>
                    <a:solidFill>
                      <a:schemeClr val="tx2"/>
                    </a:solidFill>
                  </a:tcPr>
                </a:tc>
                <a:tc>
                  <a:txBody>
                    <a:bodyPr/>
                    <a:lstStyle/>
                    <a:p>
                      <a:r>
                        <a:rPr lang="en-US" sz="800" dirty="0"/>
                        <a:t>103</a:t>
                      </a:r>
                      <a:endParaRPr lang="en-PK" sz="800" dirty="0"/>
                    </a:p>
                  </a:txBody>
                  <a:tcPr>
                    <a:solidFill>
                      <a:schemeClr val="tx2"/>
                    </a:solidFill>
                  </a:tcPr>
                </a:tc>
                <a:tc>
                  <a:txBody>
                    <a:bodyPr/>
                    <a:lstStyle/>
                    <a:p>
                      <a:r>
                        <a:rPr lang="en-US" sz="800" dirty="0"/>
                        <a:t>104</a:t>
                      </a:r>
                      <a:endParaRPr lang="en-PK" sz="800" dirty="0"/>
                    </a:p>
                  </a:txBody>
                  <a:tcPr>
                    <a:solidFill>
                      <a:srgbClr val="FF0000"/>
                    </a:solidFill>
                  </a:tcPr>
                </a:tc>
                <a:tc>
                  <a:txBody>
                    <a:bodyPr/>
                    <a:lstStyle/>
                    <a:p>
                      <a:r>
                        <a:rPr lang="en-US" sz="800" dirty="0"/>
                        <a:t>105</a:t>
                      </a:r>
                      <a:endParaRPr lang="en-PK" sz="800" dirty="0"/>
                    </a:p>
                  </a:txBody>
                  <a:tcPr>
                    <a:solidFill>
                      <a:srgbClr val="FF0000"/>
                    </a:solidFill>
                  </a:tcPr>
                </a:tc>
                <a:tc>
                  <a:txBody>
                    <a:bodyPr/>
                    <a:lstStyle/>
                    <a:p>
                      <a:r>
                        <a:rPr lang="en-US" sz="800" dirty="0"/>
                        <a:t>106</a:t>
                      </a:r>
                      <a:endParaRPr lang="en-PK" sz="800" dirty="0"/>
                    </a:p>
                  </a:txBody>
                  <a:tcPr>
                    <a:solidFill>
                      <a:srgbClr val="FF0000"/>
                    </a:solidFill>
                  </a:tcPr>
                </a:tc>
                <a:tc>
                  <a:txBody>
                    <a:bodyPr/>
                    <a:lstStyle/>
                    <a:p>
                      <a:r>
                        <a:rPr lang="en-US" sz="800" dirty="0"/>
                        <a:t>107</a:t>
                      </a:r>
                      <a:endParaRPr lang="en-PK" sz="800" dirty="0"/>
                    </a:p>
                  </a:txBody>
                  <a:tcPr>
                    <a:solidFill>
                      <a:srgbClr val="FF0000"/>
                    </a:solidFill>
                  </a:tcPr>
                </a:tc>
                <a:tc>
                  <a:txBody>
                    <a:bodyPr/>
                    <a:lstStyle/>
                    <a:p>
                      <a:r>
                        <a:rPr lang="en-US" sz="800" dirty="0"/>
                        <a:t>108</a:t>
                      </a:r>
                      <a:endParaRPr lang="en-PK" sz="800" dirty="0"/>
                    </a:p>
                  </a:txBody>
                  <a:tcPr>
                    <a:solidFill>
                      <a:srgbClr val="00B0F0"/>
                    </a:solidFill>
                  </a:tcPr>
                </a:tc>
                <a:tc>
                  <a:txBody>
                    <a:bodyPr/>
                    <a:lstStyle/>
                    <a:p>
                      <a:r>
                        <a:rPr lang="en-US" sz="800" dirty="0"/>
                        <a:t>109</a:t>
                      </a:r>
                      <a:endParaRPr lang="en-PK" sz="800" dirty="0"/>
                    </a:p>
                  </a:txBody>
                  <a:tcPr>
                    <a:solidFill>
                      <a:srgbClr val="00B0F0"/>
                    </a:solidFill>
                  </a:tcPr>
                </a:tc>
                <a:tc>
                  <a:txBody>
                    <a:bodyPr/>
                    <a:lstStyle/>
                    <a:p>
                      <a:r>
                        <a:rPr lang="en-US" sz="800" dirty="0"/>
                        <a:t>110</a:t>
                      </a:r>
                      <a:endParaRPr lang="en-PK" sz="800" dirty="0"/>
                    </a:p>
                  </a:txBody>
                  <a:tcPr>
                    <a:solidFill>
                      <a:srgbClr val="00B0F0"/>
                    </a:solidFill>
                  </a:tcPr>
                </a:tc>
                <a:tc>
                  <a:txBody>
                    <a:bodyPr/>
                    <a:lstStyle/>
                    <a:p>
                      <a:r>
                        <a:rPr lang="en-US" sz="800" dirty="0"/>
                        <a:t>111</a:t>
                      </a:r>
                      <a:endParaRPr lang="en-PK" sz="800" dirty="0"/>
                    </a:p>
                  </a:txBody>
                  <a:tcPr>
                    <a:solidFill>
                      <a:srgbClr val="00B0F0"/>
                    </a:solidFill>
                  </a:tcPr>
                </a:tc>
                <a:tc>
                  <a:txBody>
                    <a:bodyPr/>
                    <a:lstStyle/>
                    <a:p>
                      <a:r>
                        <a:rPr lang="en-US" sz="800" dirty="0"/>
                        <a:t>112</a:t>
                      </a:r>
                      <a:endParaRPr lang="en-PK" sz="800" dirty="0"/>
                    </a:p>
                  </a:txBody>
                  <a:tcPr>
                    <a:solidFill>
                      <a:schemeClr val="accent4">
                        <a:lumMod val="75000"/>
                      </a:schemeClr>
                    </a:solidFill>
                  </a:tcPr>
                </a:tc>
                <a:tc>
                  <a:txBody>
                    <a:bodyPr/>
                    <a:lstStyle/>
                    <a:p>
                      <a:r>
                        <a:rPr lang="en-US" sz="800" dirty="0"/>
                        <a:t>113</a:t>
                      </a:r>
                      <a:endParaRPr lang="en-PK" sz="800" dirty="0"/>
                    </a:p>
                  </a:txBody>
                  <a:tcPr>
                    <a:solidFill>
                      <a:schemeClr val="accent4">
                        <a:lumMod val="75000"/>
                      </a:schemeClr>
                    </a:solidFill>
                  </a:tcPr>
                </a:tc>
                <a:tc>
                  <a:txBody>
                    <a:bodyPr/>
                    <a:lstStyle/>
                    <a:p>
                      <a:r>
                        <a:rPr lang="en-US" sz="800" dirty="0"/>
                        <a:t>114</a:t>
                      </a:r>
                      <a:endParaRPr lang="en-PK" sz="800" dirty="0"/>
                    </a:p>
                  </a:txBody>
                  <a:tcPr>
                    <a:solidFill>
                      <a:schemeClr val="accent4">
                        <a:lumMod val="75000"/>
                      </a:schemeClr>
                    </a:solidFill>
                  </a:tcPr>
                </a:tc>
                <a:tc>
                  <a:txBody>
                    <a:bodyPr/>
                    <a:lstStyle/>
                    <a:p>
                      <a:r>
                        <a:rPr lang="en-US" sz="800" dirty="0"/>
                        <a:t>115</a:t>
                      </a:r>
                      <a:endParaRPr lang="en-PK" sz="800" dirty="0"/>
                    </a:p>
                  </a:txBody>
                  <a:tcPr>
                    <a:solidFill>
                      <a:schemeClr val="accent4">
                        <a:lumMod val="75000"/>
                      </a:schemeClr>
                    </a:solidFill>
                  </a:tcPr>
                </a:tc>
                <a:tc>
                  <a:txBody>
                    <a:bodyPr/>
                    <a:lstStyle/>
                    <a:p>
                      <a:r>
                        <a:rPr lang="en-US" sz="800" dirty="0"/>
                        <a:t>…</a:t>
                      </a:r>
                      <a:endParaRPr lang="en-PK" sz="800" dirty="0"/>
                    </a:p>
                  </a:txBody>
                  <a:tcPr>
                    <a:solidFill>
                      <a:srgbClr val="92D050"/>
                    </a:solidFill>
                  </a:tcPr>
                </a:tc>
                <a:tc>
                  <a:txBody>
                    <a:bodyPr/>
                    <a:lstStyle/>
                    <a:p>
                      <a:r>
                        <a:rPr lang="en-US" sz="800" dirty="0"/>
                        <a:t>…</a:t>
                      </a:r>
                      <a:endParaRPr lang="en-PK" sz="800" dirty="0"/>
                    </a:p>
                  </a:txBody>
                  <a:tcPr>
                    <a:solidFill>
                      <a:srgbClr val="92D050"/>
                    </a:solidFill>
                  </a:tcPr>
                </a:tc>
                <a:tc>
                  <a:txBody>
                    <a:bodyPr/>
                    <a:lstStyle/>
                    <a:p>
                      <a:r>
                        <a:rPr lang="en-US" sz="800" dirty="0"/>
                        <a:t>…</a:t>
                      </a:r>
                      <a:endParaRPr lang="en-PK" sz="800" dirty="0"/>
                    </a:p>
                  </a:txBody>
                  <a:tcPr>
                    <a:solidFill>
                      <a:srgbClr val="92D050"/>
                    </a:solidFill>
                  </a:tcPr>
                </a:tc>
                <a:tc>
                  <a:txBody>
                    <a:bodyPr/>
                    <a:lstStyle/>
                    <a:p>
                      <a:r>
                        <a:rPr lang="en-US" sz="800" dirty="0"/>
                        <a:t>…</a:t>
                      </a:r>
                      <a:endParaRPr lang="en-PK" sz="800" dirty="0"/>
                    </a:p>
                  </a:txBody>
                  <a:tcPr>
                    <a:solidFill>
                      <a:srgbClr val="92D050"/>
                    </a:solidFill>
                  </a:tcPr>
                </a:tc>
                <a:tc>
                  <a:txBody>
                    <a:bodyPr/>
                    <a:lstStyle/>
                    <a:p>
                      <a:r>
                        <a:rPr lang="en-US" sz="800" dirty="0"/>
                        <a:t>121</a:t>
                      </a:r>
                      <a:endParaRPr lang="en-PK" sz="800" dirty="0"/>
                    </a:p>
                  </a:txBody>
                  <a:tcPr>
                    <a:solidFill>
                      <a:schemeClr val="accent4"/>
                    </a:solidFill>
                  </a:tcPr>
                </a:tc>
                <a:tc>
                  <a:txBody>
                    <a:bodyPr/>
                    <a:lstStyle/>
                    <a:p>
                      <a:r>
                        <a:rPr lang="en-US" sz="800" dirty="0"/>
                        <a:t>122</a:t>
                      </a:r>
                      <a:endParaRPr lang="en-PK" sz="800" dirty="0"/>
                    </a:p>
                  </a:txBody>
                  <a:tcPr>
                    <a:solidFill>
                      <a:schemeClr val="accent4"/>
                    </a:solidFill>
                  </a:tcPr>
                </a:tc>
                <a:tc>
                  <a:txBody>
                    <a:bodyPr/>
                    <a:lstStyle/>
                    <a:p>
                      <a:r>
                        <a:rPr lang="en-US" sz="800" dirty="0"/>
                        <a:t>123</a:t>
                      </a:r>
                      <a:endParaRPr lang="en-PK" sz="800" dirty="0"/>
                    </a:p>
                  </a:txBody>
                  <a:tcPr>
                    <a:solidFill>
                      <a:schemeClr val="accent4"/>
                    </a:solidFill>
                  </a:tcPr>
                </a:tc>
                <a:tc>
                  <a:txBody>
                    <a:bodyPr/>
                    <a:lstStyle/>
                    <a:p>
                      <a:r>
                        <a:rPr lang="en-US" sz="800" dirty="0"/>
                        <a:t>124</a:t>
                      </a:r>
                      <a:endParaRPr lang="en-PK" sz="800" dirty="0"/>
                    </a:p>
                  </a:txBody>
                  <a:tcPr>
                    <a:solidFill>
                      <a:schemeClr val="accent4"/>
                    </a:solidFill>
                  </a:tcPr>
                </a:tc>
                <a:tc>
                  <a:txBody>
                    <a:bodyPr/>
                    <a:lstStyle/>
                    <a:p>
                      <a:r>
                        <a:rPr lang="en-US" sz="800" dirty="0"/>
                        <a:t>…</a:t>
                      </a:r>
                      <a:endParaRPr lang="en-PK" sz="800" dirty="0"/>
                    </a:p>
                  </a:txBody>
                  <a:tcPr>
                    <a:solidFill>
                      <a:schemeClr val="accent1">
                        <a:lumMod val="75000"/>
                      </a:schemeClr>
                    </a:solidFill>
                  </a:tcPr>
                </a:tc>
                <a:tc>
                  <a:txBody>
                    <a:bodyPr/>
                    <a:lstStyle/>
                    <a:p>
                      <a:r>
                        <a:rPr lang="en-US" sz="800" dirty="0"/>
                        <a:t>297</a:t>
                      </a:r>
                      <a:endParaRPr lang="en-PK" sz="800" dirty="0"/>
                    </a:p>
                  </a:txBody>
                  <a:tcPr>
                    <a:solidFill>
                      <a:schemeClr val="accent1">
                        <a:lumMod val="75000"/>
                      </a:schemeClr>
                    </a:solidFill>
                  </a:tcPr>
                </a:tc>
                <a:tc>
                  <a:txBody>
                    <a:bodyPr/>
                    <a:lstStyle/>
                    <a:p>
                      <a:r>
                        <a:rPr lang="en-US" sz="800" dirty="0"/>
                        <a:t>298</a:t>
                      </a:r>
                      <a:endParaRPr lang="en-PK" sz="800" dirty="0"/>
                    </a:p>
                  </a:txBody>
                  <a:tcPr>
                    <a:solidFill>
                      <a:schemeClr val="accent1">
                        <a:lumMod val="75000"/>
                      </a:schemeClr>
                    </a:solidFill>
                  </a:tcPr>
                </a:tc>
                <a:tc>
                  <a:txBody>
                    <a:bodyPr/>
                    <a:lstStyle/>
                    <a:p>
                      <a:r>
                        <a:rPr lang="en-US" sz="800" dirty="0"/>
                        <a:t>299</a:t>
                      </a:r>
                      <a:endParaRPr lang="en-PK" sz="800" dirty="0"/>
                    </a:p>
                  </a:txBody>
                  <a:tcPr>
                    <a:solidFill>
                      <a:schemeClr val="accent1">
                        <a:lumMod val="75000"/>
                      </a:schemeClr>
                    </a:solidFill>
                  </a:tcPr>
                </a:tc>
                <a:tc>
                  <a:txBody>
                    <a:bodyPr/>
                    <a:lstStyle/>
                    <a:p>
                      <a:r>
                        <a:rPr lang="en-US" sz="800" dirty="0"/>
                        <a:t>…</a:t>
                      </a:r>
                      <a:endParaRPr lang="en-PK" sz="800" dirty="0"/>
                    </a:p>
                  </a:txBody>
                  <a:tcPr/>
                </a:tc>
                <a:tc>
                  <a:txBody>
                    <a:bodyPr/>
                    <a:lstStyle/>
                    <a:p>
                      <a:r>
                        <a:rPr lang="en-US" sz="800" dirty="0"/>
                        <a:t>…</a:t>
                      </a:r>
                      <a:endParaRPr lang="en-PK" sz="800" dirty="0"/>
                    </a:p>
                  </a:txBody>
                  <a:tcPr/>
                </a:tc>
                <a:extLst>
                  <a:ext uri="{0D108BD9-81ED-4DB2-BD59-A6C34878D82A}">
                    <a16:rowId xmlns:a16="http://schemas.microsoft.com/office/drawing/2014/main" val="1326620274"/>
                  </a:ext>
                </a:extLst>
              </a:tr>
            </a:tbl>
          </a:graphicData>
        </a:graphic>
      </p:graphicFrame>
      <p:graphicFrame>
        <p:nvGraphicFramePr>
          <p:cNvPr id="7" name="Table 7">
            <a:extLst>
              <a:ext uri="{FF2B5EF4-FFF2-40B4-BE49-F238E27FC236}">
                <a16:creationId xmlns:a16="http://schemas.microsoft.com/office/drawing/2014/main" id="{8CCDB46E-7A7D-4531-8742-E396A029F281}"/>
              </a:ext>
            </a:extLst>
          </p:cNvPr>
          <p:cNvGraphicFramePr>
            <a:graphicFrameLocks noGrp="1"/>
          </p:cNvGraphicFramePr>
          <p:nvPr/>
        </p:nvGraphicFramePr>
        <p:xfrm>
          <a:off x="3247697" y="1465901"/>
          <a:ext cx="8128000" cy="370840"/>
        </p:xfrm>
        <a:graphic>
          <a:graphicData uri="http://schemas.openxmlformats.org/drawingml/2006/table">
            <a:tbl>
              <a:tblPr firstRow="1" bandRow="1"/>
              <a:tblGrid>
                <a:gridCol w="1625600">
                  <a:extLst>
                    <a:ext uri="{9D8B030D-6E8A-4147-A177-3AD203B41FA5}">
                      <a16:colId xmlns:a16="http://schemas.microsoft.com/office/drawing/2014/main" val="33428348"/>
                    </a:ext>
                  </a:extLst>
                </a:gridCol>
                <a:gridCol w="1625600">
                  <a:extLst>
                    <a:ext uri="{9D8B030D-6E8A-4147-A177-3AD203B41FA5}">
                      <a16:colId xmlns:a16="http://schemas.microsoft.com/office/drawing/2014/main" val="468650775"/>
                    </a:ext>
                  </a:extLst>
                </a:gridCol>
                <a:gridCol w="1625600">
                  <a:extLst>
                    <a:ext uri="{9D8B030D-6E8A-4147-A177-3AD203B41FA5}">
                      <a16:colId xmlns:a16="http://schemas.microsoft.com/office/drawing/2014/main" val="1772026046"/>
                    </a:ext>
                  </a:extLst>
                </a:gridCol>
                <a:gridCol w="1625600">
                  <a:extLst>
                    <a:ext uri="{9D8B030D-6E8A-4147-A177-3AD203B41FA5}">
                      <a16:colId xmlns:a16="http://schemas.microsoft.com/office/drawing/2014/main" val="1480838839"/>
                    </a:ext>
                  </a:extLst>
                </a:gridCol>
                <a:gridCol w="1625600">
                  <a:extLst>
                    <a:ext uri="{9D8B030D-6E8A-4147-A177-3AD203B41FA5}">
                      <a16:colId xmlns:a16="http://schemas.microsoft.com/office/drawing/2014/main" val="1243809018"/>
                    </a:ext>
                  </a:extLst>
                </a:gridCol>
              </a:tblGrid>
              <a:tr h="370840">
                <a:tc>
                  <a:txBody>
                    <a:bodyPr/>
                    <a:lstStyle/>
                    <a:p>
                      <a:pPr algn="ctr"/>
                      <a:r>
                        <a:rPr lang="en-US" b="1" dirty="0">
                          <a:solidFill>
                            <a:srgbClr val="FF0000"/>
                          </a:solidFill>
                        </a:rPr>
                        <a:t>6</a:t>
                      </a:r>
                      <a:endParaRPr lang="en-PK" b="1" dirty="0">
                        <a:solidFill>
                          <a:srgbClr val="FF0000"/>
                        </a:solidFill>
                      </a:endParaRPr>
                    </a:p>
                  </a:txBody>
                  <a:tcPr/>
                </a:tc>
                <a:tc>
                  <a:txBody>
                    <a:bodyPr/>
                    <a:lstStyle/>
                    <a:p>
                      <a:pPr algn="ctr"/>
                      <a:r>
                        <a:rPr lang="en-US" b="1" dirty="0">
                          <a:solidFill>
                            <a:srgbClr val="FF0000"/>
                          </a:solidFill>
                        </a:rPr>
                        <a:t>2</a:t>
                      </a:r>
                      <a:endParaRPr lang="en-PK" b="1" dirty="0">
                        <a:solidFill>
                          <a:srgbClr val="FF0000"/>
                        </a:solidFill>
                      </a:endParaRPr>
                    </a:p>
                  </a:txBody>
                  <a:tcPr/>
                </a:tc>
                <a:tc>
                  <a:txBody>
                    <a:bodyPr/>
                    <a:lstStyle/>
                    <a:p>
                      <a:pPr algn="ctr"/>
                      <a:r>
                        <a:rPr lang="en-US" b="1" dirty="0">
                          <a:solidFill>
                            <a:srgbClr val="FF0000"/>
                          </a:solidFill>
                        </a:rPr>
                        <a:t>0</a:t>
                      </a:r>
                      <a:endParaRPr lang="en-PK" b="1" dirty="0">
                        <a:solidFill>
                          <a:srgbClr val="FF0000"/>
                        </a:solidFill>
                      </a:endParaRPr>
                    </a:p>
                  </a:txBody>
                  <a:tcPr/>
                </a:tc>
                <a:tc>
                  <a:txBody>
                    <a:bodyPr/>
                    <a:lstStyle/>
                    <a:p>
                      <a:pPr algn="ctr"/>
                      <a:r>
                        <a:rPr lang="en-US" b="1" dirty="0">
                          <a:solidFill>
                            <a:srgbClr val="FF0000"/>
                          </a:solidFill>
                        </a:rPr>
                        <a:t>1</a:t>
                      </a:r>
                      <a:endParaRPr lang="en-PK" b="1" dirty="0">
                        <a:solidFill>
                          <a:srgbClr val="FF0000"/>
                        </a:solidFill>
                      </a:endParaRPr>
                    </a:p>
                  </a:txBody>
                  <a:tcPr/>
                </a:tc>
                <a:tc>
                  <a:txBody>
                    <a:bodyPr/>
                    <a:lstStyle/>
                    <a:p>
                      <a:pPr algn="ctr"/>
                      <a:r>
                        <a:rPr lang="en-US" b="1" dirty="0">
                          <a:solidFill>
                            <a:srgbClr val="FF0000"/>
                          </a:solidFill>
                        </a:rPr>
                        <a:t>4</a:t>
                      </a:r>
                      <a:endParaRPr lang="en-PK" b="1" dirty="0">
                        <a:solidFill>
                          <a:srgbClr val="FF0000"/>
                        </a:solidFill>
                      </a:endParaRPr>
                    </a:p>
                  </a:txBody>
                  <a:tcPr/>
                </a:tc>
                <a:extLst>
                  <a:ext uri="{0D108BD9-81ED-4DB2-BD59-A6C34878D82A}">
                    <a16:rowId xmlns:a16="http://schemas.microsoft.com/office/drawing/2014/main" val="1297936926"/>
                  </a:ext>
                </a:extLst>
              </a:tr>
            </a:tbl>
          </a:graphicData>
        </a:graphic>
      </p:graphicFrame>
      <p:sp>
        <p:nvSpPr>
          <p:cNvPr id="9" name="TextBox 8">
            <a:extLst>
              <a:ext uri="{FF2B5EF4-FFF2-40B4-BE49-F238E27FC236}">
                <a16:creationId xmlns:a16="http://schemas.microsoft.com/office/drawing/2014/main" id="{C31931AE-8FB3-486F-A53C-3EE7FD3ACC71}"/>
              </a:ext>
            </a:extLst>
          </p:cNvPr>
          <p:cNvSpPr txBox="1"/>
          <p:nvPr/>
        </p:nvSpPr>
        <p:spPr>
          <a:xfrm>
            <a:off x="2596056" y="1467409"/>
            <a:ext cx="486030" cy="369332"/>
          </a:xfrm>
          <a:prstGeom prst="rect">
            <a:avLst/>
          </a:prstGeom>
          <a:noFill/>
        </p:spPr>
        <p:txBody>
          <a:bodyPr wrap="none" rtlCol="0">
            <a:spAutoFit/>
          </a:bodyPr>
          <a:lstStyle/>
          <a:p>
            <a:r>
              <a:rPr lang="en-US" dirty="0"/>
              <a:t>A =</a:t>
            </a:r>
            <a:endParaRPr lang="en-PK" dirty="0"/>
          </a:p>
        </p:txBody>
      </p:sp>
      <p:sp>
        <p:nvSpPr>
          <p:cNvPr id="10" name="TextBox 9">
            <a:extLst>
              <a:ext uri="{FF2B5EF4-FFF2-40B4-BE49-F238E27FC236}">
                <a16:creationId xmlns:a16="http://schemas.microsoft.com/office/drawing/2014/main" id="{CFD8D0DD-FB2D-4B38-9908-B398AE1DAE25}"/>
              </a:ext>
            </a:extLst>
          </p:cNvPr>
          <p:cNvSpPr txBox="1"/>
          <p:nvPr/>
        </p:nvSpPr>
        <p:spPr>
          <a:xfrm>
            <a:off x="7816157" y="1989141"/>
            <a:ext cx="401072" cy="261610"/>
          </a:xfrm>
          <a:prstGeom prst="rect">
            <a:avLst/>
          </a:prstGeom>
          <a:noFill/>
        </p:spPr>
        <p:txBody>
          <a:bodyPr wrap="none" rtlCol="0">
            <a:spAutoFit/>
          </a:bodyPr>
          <a:lstStyle/>
          <a:p>
            <a:r>
              <a:rPr lang="en-US" sz="1100" b="1" dirty="0"/>
              <a:t>112</a:t>
            </a:r>
            <a:endParaRPr lang="en-PK" b="1" dirty="0"/>
          </a:p>
        </p:txBody>
      </p:sp>
      <p:sp>
        <p:nvSpPr>
          <p:cNvPr id="11" name="TextBox 10">
            <a:extLst>
              <a:ext uri="{FF2B5EF4-FFF2-40B4-BE49-F238E27FC236}">
                <a16:creationId xmlns:a16="http://schemas.microsoft.com/office/drawing/2014/main" id="{0046FC14-CB73-4832-8762-8A5283B1F4BD}"/>
              </a:ext>
            </a:extLst>
          </p:cNvPr>
          <p:cNvSpPr txBox="1"/>
          <p:nvPr/>
        </p:nvSpPr>
        <p:spPr>
          <a:xfrm>
            <a:off x="3234486" y="1989141"/>
            <a:ext cx="401072" cy="261610"/>
          </a:xfrm>
          <a:prstGeom prst="rect">
            <a:avLst/>
          </a:prstGeom>
          <a:noFill/>
        </p:spPr>
        <p:txBody>
          <a:bodyPr wrap="none" rtlCol="0">
            <a:spAutoFit/>
          </a:bodyPr>
          <a:lstStyle/>
          <a:p>
            <a:r>
              <a:rPr lang="en-US" sz="1100" b="1" dirty="0"/>
              <a:t>100</a:t>
            </a:r>
            <a:endParaRPr lang="en-PK" b="1" dirty="0"/>
          </a:p>
        </p:txBody>
      </p:sp>
      <p:sp>
        <p:nvSpPr>
          <p:cNvPr id="12" name="TextBox 11">
            <a:extLst>
              <a:ext uri="{FF2B5EF4-FFF2-40B4-BE49-F238E27FC236}">
                <a16:creationId xmlns:a16="http://schemas.microsoft.com/office/drawing/2014/main" id="{B726CCDE-531A-44D1-9E78-96D658AA0E1C}"/>
              </a:ext>
            </a:extLst>
          </p:cNvPr>
          <p:cNvSpPr txBox="1"/>
          <p:nvPr/>
        </p:nvSpPr>
        <p:spPr>
          <a:xfrm>
            <a:off x="4615757" y="1989141"/>
            <a:ext cx="401072" cy="261610"/>
          </a:xfrm>
          <a:prstGeom prst="rect">
            <a:avLst/>
          </a:prstGeom>
          <a:noFill/>
        </p:spPr>
        <p:txBody>
          <a:bodyPr wrap="none" rtlCol="0">
            <a:spAutoFit/>
          </a:bodyPr>
          <a:lstStyle/>
          <a:p>
            <a:r>
              <a:rPr lang="en-US" sz="1100" b="1" dirty="0"/>
              <a:t>104</a:t>
            </a:r>
            <a:endParaRPr lang="en-PK" b="1" dirty="0"/>
          </a:p>
        </p:txBody>
      </p:sp>
      <p:sp>
        <p:nvSpPr>
          <p:cNvPr id="13" name="TextBox 12">
            <a:extLst>
              <a:ext uri="{FF2B5EF4-FFF2-40B4-BE49-F238E27FC236}">
                <a16:creationId xmlns:a16="http://schemas.microsoft.com/office/drawing/2014/main" id="{545561F8-B145-4B69-995B-86B53723284D}"/>
              </a:ext>
            </a:extLst>
          </p:cNvPr>
          <p:cNvSpPr txBox="1"/>
          <p:nvPr/>
        </p:nvSpPr>
        <p:spPr>
          <a:xfrm>
            <a:off x="6371824" y="2045474"/>
            <a:ext cx="401072" cy="261610"/>
          </a:xfrm>
          <a:prstGeom prst="rect">
            <a:avLst/>
          </a:prstGeom>
          <a:noFill/>
        </p:spPr>
        <p:txBody>
          <a:bodyPr wrap="none" rtlCol="0">
            <a:spAutoFit/>
          </a:bodyPr>
          <a:lstStyle/>
          <a:p>
            <a:r>
              <a:rPr lang="en-US" sz="1100" b="1" dirty="0"/>
              <a:t>108</a:t>
            </a:r>
            <a:endParaRPr lang="en-PK" b="1" dirty="0"/>
          </a:p>
        </p:txBody>
      </p:sp>
      <p:sp>
        <p:nvSpPr>
          <p:cNvPr id="14" name="TextBox 13">
            <a:extLst>
              <a:ext uri="{FF2B5EF4-FFF2-40B4-BE49-F238E27FC236}">
                <a16:creationId xmlns:a16="http://schemas.microsoft.com/office/drawing/2014/main" id="{14B0DADA-5583-444E-B9AF-565AB8926F34}"/>
              </a:ext>
            </a:extLst>
          </p:cNvPr>
          <p:cNvSpPr txBox="1"/>
          <p:nvPr/>
        </p:nvSpPr>
        <p:spPr>
          <a:xfrm>
            <a:off x="9572224" y="1989141"/>
            <a:ext cx="401072" cy="261610"/>
          </a:xfrm>
          <a:prstGeom prst="rect">
            <a:avLst/>
          </a:prstGeom>
          <a:noFill/>
        </p:spPr>
        <p:txBody>
          <a:bodyPr wrap="none" rtlCol="0">
            <a:spAutoFit/>
          </a:bodyPr>
          <a:lstStyle/>
          <a:p>
            <a:r>
              <a:rPr lang="en-US" sz="1100" b="1" dirty="0"/>
              <a:t>116</a:t>
            </a:r>
          </a:p>
        </p:txBody>
      </p:sp>
      <p:sp>
        <p:nvSpPr>
          <p:cNvPr id="15" name="TextBox 14">
            <a:extLst>
              <a:ext uri="{FF2B5EF4-FFF2-40B4-BE49-F238E27FC236}">
                <a16:creationId xmlns:a16="http://schemas.microsoft.com/office/drawing/2014/main" id="{DF048768-E601-427D-B124-EFCDF292ED32}"/>
              </a:ext>
            </a:extLst>
          </p:cNvPr>
          <p:cNvSpPr txBox="1"/>
          <p:nvPr/>
        </p:nvSpPr>
        <p:spPr>
          <a:xfrm>
            <a:off x="3941379" y="1072502"/>
            <a:ext cx="301686" cy="369332"/>
          </a:xfrm>
          <a:prstGeom prst="rect">
            <a:avLst/>
          </a:prstGeom>
          <a:noFill/>
        </p:spPr>
        <p:txBody>
          <a:bodyPr wrap="none" rtlCol="0">
            <a:spAutoFit/>
          </a:bodyPr>
          <a:lstStyle/>
          <a:p>
            <a:r>
              <a:rPr lang="en-US" dirty="0"/>
              <a:t>0</a:t>
            </a:r>
            <a:endParaRPr lang="en-PK" dirty="0"/>
          </a:p>
        </p:txBody>
      </p:sp>
      <p:sp>
        <p:nvSpPr>
          <p:cNvPr id="16" name="TextBox 15">
            <a:extLst>
              <a:ext uri="{FF2B5EF4-FFF2-40B4-BE49-F238E27FC236}">
                <a16:creationId xmlns:a16="http://schemas.microsoft.com/office/drawing/2014/main" id="{80F6818D-4424-4A73-943A-BBAB3E3A5B6A}"/>
              </a:ext>
            </a:extLst>
          </p:cNvPr>
          <p:cNvSpPr txBox="1"/>
          <p:nvPr/>
        </p:nvSpPr>
        <p:spPr>
          <a:xfrm>
            <a:off x="5628066" y="1069952"/>
            <a:ext cx="301686" cy="369332"/>
          </a:xfrm>
          <a:prstGeom prst="rect">
            <a:avLst/>
          </a:prstGeom>
          <a:noFill/>
        </p:spPr>
        <p:txBody>
          <a:bodyPr wrap="none" rtlCol="0">
            <a:spAutoFit/>
          </a:bodyPr>
          <a:lstStyle/>
          <a:p>
            <a:r>
              <a:rPr lang="en-US" dirty="0"/>
              <a:t>1</a:t>
            </a:r>
            <a:endParaRPr lang="en-PK" dirty="0"/>
          </a:p>
        </p:txBody>
      </p:sp>
      <p:sp>
        <p:nvSpPr>
          <p:cNvPr id="17" name="TextBox 16">
            <a:extLst>
              <a:ext uri="{FF2B5EF4-FFF2-40B4-BE49-F238E27FC236}">
                <a16:creationId xmlns:a16="http://schemas.microsoft.com/office/drawing/2014/main" id="{D3586FA6-AA18-4CF0-93B9-47E8B590F5E3}"/>
              </a:ext>
            </a:extLst>
          </p:cNvPr>
          <p:cNvSpPr txBox="1"/>
          <p:nvPr/>
        </p:nvSpPr>
        <p:spPr>
          <a:xfrm>
            <a:off x="6994634" y="1075052"/>
            <a:ext cx="301686" cy="369332"/>
          </a:xfrm>
          <a:prstGeom prst="rect">
            <a:avLst/>
          </a:prstGeom>
          <a:noFill/>
        </p:spPr>
        <p:txBody>
          <a:bodyPr wrap="none" rtlCol="0">
            <a:spAutoFit/>
          </a:bodyPr>
          <a:lstStyle/>
          <a:p>
            <a:r>
              <a:rPr lang="en-US" dirty="0"/>
              <a:t>2</a:t>
            </a:r>
            <a:endParaRPr lang="en-PK" dirty="0"/>
          </a:p>
        </p:txBody>
      </p:sp>
      <p:sp>
        <p:nvSpPr>
          <p:cNvPr id="18" name="TextBox 17">
            <a:extLst>
              <a:ext uri="{FF2B5EF4-FFF2-40B4-BE49-F238E27FC236}">
                <a16:creationId xmlns:a16="http://schemas.microsoft.com/office/drawing/2014/main" id="{6C44F4E8-AC46-486D-923D-A984883B5EB7}"/>
              </a:ext>
            </a:extLst>
          </p:cNvPr>
          <p:cNvSpPr txBox="1"/>
          <p:nvPr/>
        </p:nvSpPr>
        <p:spPr>
          <a:xfrm>
            <a:off x="8681321" y="1072502"/>
            <a:ext cx="301686" cy="369332"/>
          </a:xfrm>
          <a:prstGeom prst="rect">
            <a:avLst/>
          </a:prstGeom>
          <a:noFill/>
        </p:spPr>
        <p:txBody>
          <a:bodyPr wrap="none" rtlCol="0">
            <a:spAutoFit/>
          </a:bodyPr>
          <a:lstStyle/>
          <a:p>
            <a:r>
              <a:rPr lang="en-US" dirty="0"/>
              <a:t>3</a:t>
            </a:r>
            <a:endParaRPr lang="en-PK" dirty="0"/>
          </a:p>
        </p:txBody>
      </p:sp>
      <p:sp>
        <p:nvSpPr>
          <p:cNvPr id="20" name="TextBox 19">
            <a:extLst>
              <a:ext uri="{FF2B5EF4-FFF2-40B4-BE49-F238E27FC236}">
                <a16:creationId xmlns:a16="http://schemas.microsoft.com/office/drawing/2014/main" id="{DEF5EAD9-3CE1-4208-8FF2-B8D155E69274}"/>
              </a:ext>
            </a:extLst>
          </p:cNvPr>
          <p:cNvSpPr txBox="1"/>
          <p:nvPr/>
        </p:nvSpPr>
        <p:spPr>
          <a:xfrm>
            <a:off x="10691033" y="1069952"/>
            <a:ext cx="301686" cy="369332"/>
          </a:xfrm>
          <a:prstGeom prst="rect">
            <a:avLst/>
          </a:prstGeom>
          <a:noFill/>
        </p:spPr>
        <p:txBody>
          <a:bodyPr wrap="none" rtlCol="0">
            <a:spAutoFit/>
          </a:bodyPr>
          <a:lstStyle/>
          <a:p>
            <a:r>
              <a:rPr lang="en-US" dirty="0"/>
              <a:t>4</a:t>
            </a:r>
            <a:endParaRPr lang="en-PK" dirty="0"/>
          </a:p>
        </p:txBody>
      </p:sp>
      <p:sp>
        <p:nvSpPr>
          <p:cNvPr id="21" name="TextBox 20">
            <a:extLst>
              <a:ext uri="{FF2B5EF4-FFF2-40B4-BE49-F238E27FC236}">
                <a16:creationId xmlns:a16="http://schemas.microsoft.com/office/drawing/2014/main" id="{CD96E3FA-1C98-4A98-8840-39B606C6FB11}"/>
              </a:ext>
            </a:extLst>
          </p:cNvPr>
          <p:cNvSpPr txBox="1"/>
          <p:nvPr/>
        </p:nvSpPr>
        <p:spPr>
          <a:xfrm>
            <a:off x="4740166" y="681037"/>
            <a:ext cx="1961050" cy="369332"/>
          </a:xfrm>
          <a:prstGeom prst="rect">
            <a:avLst/>
          </a:prstGeom>
          <a:noFill/>
        </p:spPr>
        <p:txBody>
          <a:bodyPr wrap="none" rtlCol="0">
            <a:spAutoFit/>
          </a:bodyPr>
          <a:lstStyle/>
          <a:p>
            <a:r>
              <a:rPr lang="en-US" dirty="0" err="1"/>
              <a:t>i</a:t>
            </a:r>
            <a:r>
              <a:rPr lang="en-US" dirty="0"/>
              <a:t> Index start from 0</a:t>
            </a:r>
            <a:endParaRPr lang="en-PK" dirty="0"/>
          </a:p>
        </p:txBody>
      </p:sp>
      <p:sp>
        <p:nvSpPr>
          <p:cNvPr id="22" name="TextBox 21">
            <a:extLst>
              <a:ext uri="{FF2B5EF4-FFF2-40B4-BE49-F238E27FC236}">
                <a16:creationId xmlns:a16="http://schemas.microsoft.com/office/drawing/2014/main" id="{6C8ECFFD-ED5C-4DB4-BF33-C227E2A8BEE5}"/>
              </a:ext>
            </a:extLst>
          </p:cNvPr>
          <p:cNvSpPr txBox="1"/>
          <p:nvPr/>
        </p:nvSpPr>
        <p:spPr>
          <a:xfrm>
            <a:off x="227929" y="1150423"/>
            <a:ext cx="2244012" cy="369332"/>
          </a:xfrm>
          <a:prstGeom prst="rect">
            <a:avLst/>
          </a:prstGeom>
          <a:noFill/>
        </p:spPr>
        <p:txBody>
          <a:bodyPr wrap="none" rtlCol="0">
            <a:spAutoFit/>
          </a:bodyPr>
          <a:lstStyle/>
          <a:p>
            <a:r>
              <a:rPr lang="en-US" dirty="0"/>
              <a:t>Int A[50] = {6,2,0,1,4};</a:t>
            </a:r>
            <a:endParaRPr lang="en-PK" dirty="0"/>
          </a:p>
        </p:txBody>
      </p:sp>
      <p:graphicFrame>
        <p:nvGraphicFramePr>
          <p:cNvPr id="24" name="Table 7">
            <a:extLst>
              <a:ext uri="{FF2B5EF4-FFF2-40B4-BE49-F238E27FC236}">
                <a16:creationId xmlns:a16="http://schemas.microsoft.com/office/drawing/2014/main" id="{F56549F1-2B2B-45B8-8E60-B3EEE0B6C358}"/>
              </a:ext>
            </a:extLst>
          </p:cNvPr>
          <p:cNvGraphicFramePr>
            <a:graphicFrameLocks noGrp="1"/>
          </p:cNvGraphicFramePr>
          <p:nvPr/>
        </p:nvGraphicFramePr>
        <p:xfrm>
          <a:off x="762001" y="4365497"/>
          <a:ext cx="8128000" cy="370840"/>
        </p:xfrm>
        <a:graphic>
          <a:graphicData uri="http://schemas.openxmlformats.org/drawingml/2006/table">
            <a:tbl>
              <a:tblPr firstRow="1" bandRow="1"/>
              <a:tblGrid>
                <a:gridCol w="1625600">
                  <a:extLst>
                    <a:ext uri="{9D8B030D-6E8A-4147-A177-3AD203B41FA5}">
                      <a16:colId xmlns:a16="http://schemas.microsoft.com/office/drawing/2014/main" val="33428348"/>
                    </a:ext>
                  </a:extLst>
                </a:gridCol>
                <a:gridCol w="1625600">
                  <a:extLst>
                    <a:ext uri="{9D8B030D-6E8A-4147-A177-3AD203B41FA5}">
                      <a16:colId xmlns:a16="http://schemas.microsoft.com/office/drawing/2014/main" val="468650775"/>
                    </a:ext>
                  </a:extLst>
                </a:gridCol>
                <a:gridCol w="1625600">
                  <a:extLst>
                    <a:ext uri="{9D8B030D-6E8A-4147-A177-3AD203B41FA5}">
                      <a16:colId xmlns:a16="http://schemas.microsoft.com/office/drawing/2014/main" val="1772026046"/>
                    </a:ext>
                  </a:extLst>
                </a:gridCol>
                <a:gridCol w="1625600">
                  <a:extLst>
                    <a:ext uri="{9D8B030D-6E8A-4147-A177-3AD203B41FA5}">
                      <a16:colId xmlns:a16="http://schemas.microsoft.com/office/drawing/2014/main" val="1480838839"/>
                    </a:ext>
                  </a:extLst>
                </a:gridCol>
                <a:gridCol w="1625600">
                  <a:extLst>
                    <a:ext uri="{9D8B030D-6E8A-4147-A177-3AD203B41FA5}">
                      <a16:colId xmlns:a16="http://schemas.microsoft.com/office/drawing/2014/main" val="1243809018"/>
                    </a:ext>
                  </a:extLst>
                </a:gridCol>
              </a:tblGrid>
              <a:tr h="370840">
                <a:tc>
                  <a:txBody>
                    <a:bodyPr/>
                    <a:lstStyle/>
                    <a:p>
                      <a:pPr algn="ctr"/>
                      <a:endParaRPr lang="en-PK" b="1" dirty="0">
                        <a:solidFill>
                          <a:srgbClr val="FF0000"/>
                        </a:solidFill>
                      </a:endParaRPr>
                    </a:p>
                  </a:txBody>
                  <a:tcPr/>
                </a:tc>
                <a:tc>
                  <a:txBody>
                    <a:bodyPr/>
                    <a:lstStyle/>
                    <a:p>
                      <a:pPr algn="ctr"/>
                      <a:endParaRPr lang="en-PK" b="1" dirty="0">
                        <a:solidFill>
                          <a:srgbClr val="FF0000"/>
                        </a:solidFill>
                      </a:endParaRPr>
                    </a:p>
                  </a:txBody>
                  <a:tcPr/>
                </a:tc>
                <a:tc>
                  <a:txBody>
                    <a:bodyPr/>
                    <a:lstStyle/>
                    <a:p>
                      <a:pPr algn="ctr"/>
                      <a:endParaRPr lang="en-PK" b="1" dirty="0">
                        <a:solidFill>
                          <a:srgbClr val="FF0000"/>
                        </a:solidFill>
                      </a:endParaRPr>
                    </a:p>
                  </a:txBody>
                  <a:tcPr/>
                </a:tc>
                <a:tc>
                  <a:txBody>
                    <a:bodyPr/>
                    <a:lstStyle/>
                    <a:p>
                      <a:pPr algn="ctr"/>
                      <a:endParaRPr lang="en-PK" b="1" dirty="0">
                        <a:solidFill>
                          <a:srgbClr val="FF0000"/>
                        </a:solidFill>
                      </a:endParaRPr>
                    </a:p>
                  </a:txBody>
                  <a:tcPr/>
                </a:tc>
                <a:tc>
                  <a:txBody>
                    <a:bodyPr/>
                    <a:lstStyle/>
                    <a:p>
                      <a:pPr algn="ctr"/>
                      <a:endParaRPr lang="en-PK" b="1" dirty="0">
                        <a:solidFill>
                          <a:srgbClr val="FF0000"/>
                        </a:solidFill>
                      </a:endParaRPr>
                    </a:p>
                  </a:txBody>
                  <a:tcPr/>
                </a:tc>
                <a:extLst>
                  <a:ext uri="{0D108BD9-81ED-4DB2-BD59-A6C34878D82A}">
                    <a16:rowId xmlns:a16="http://schemas.microsoft.com/office/drawing/2014/main" val="1297936926"/>
                  </a:ext>
                </a:extLst>
              </a:tr>
            </a:tbl>
          </a:graphicData>
        </a:graphic>
      </p:graphicFrame>
      <p:sp>
        <p:nvSpPr>
          <p:cNvPr id="25" name="TextBox 24">
            <a:extLst>
              <a:ext uri="{FF2B5EF4-FFF2-40B4-BE49-F238E27FC236}">
                <a16:creationId xmlns:a16="http://schemas.microsoft.com/office/drawing/2014/main" id="{C9F4CF65-AEE7-4DEE-8D82-19EE7A17506D}"/>
              </a:ext>
            </a:extLst>
          </p:cNvPr>
          <p:cNvSpPr txBox="1"/>
          <p:nvPr/>
        </p:nvSpPr>
        <p:spPr>
          <a:xfrm>
            <a:off x="110360" y="4367005"/>
            <a:ext cx="486030" cy="369332"/>
          </a:xfrm>
          <a:prstGeom prst="rect">
            <a:avLst/>
          </a:prstGeom>
          <a:noFill/>
        </p:spPr>
        <p:txBody>
          <a:bodyPr wrap="none" rtlCol="0">
            <a:spAutoFit/>
          </a:bodyPr>
          <a:lstStyle/>
          <a:p>
            <a:r>
              <a:rPr lang="en-US" dirty="0"/>
              <a:t>A =</a:t>
            </a:r>
            <a:endParaRPr lang="en-PK" dirty="0"/>
          </a:p>
        </p:txBody>
      </p:sp>
      <p:sp>
        <p:nvSpPr>
          <p:cNvPr id="26" name="TextBox 25">
            <a:extLst>
              <a:ext uri="{FF2B5EF4-FFF2-40B4-BE49-F238E27FC236}">
                <a16:creationId xmlns:a16="http://schemas.microsoft.com/office/drawing/2014/main" id="{D2DB39BC-61D7-407F-B706-48809A597E0D}"/>
              </a:ext>
            </a:extLst>
          </p:cNvPr>
          <p:cNvSpPr txBox="1"/>
          <p:nvPr/>
        </p:nvSpPr>
        <p:spPr>
          <a:xfrm>
            <a:off x="5349541" y="4730961"/>
            <a:ext cx="401072" cy="261610"/>
          </a:xfrm>
          <a:prstGeom prst="rect">
            <a:avLst/>
          </a:prstGeom>
          <a:noFill/>
        </p:spPr>
        <p:txBody>
          <a:bodyPr wrap="none" rtlCol="0">
            <a:spAutoFit/>
          </a:bodyPr>
          <a:lstStyle/>
          <a:p>
            <a:r>
              <a:rPr lang="en-US" sz="1100" b="1" dirty="0"/>
              <a:t>112</a:t>
            </a:r>
            <a:endParaRPr lang="en-PK" b="1" dirty="0"/>
          </a:p>
        </p:txBody>
      </p:sp>
      <p:sp>
        <p:nvSpPr>
          <p:cNvPr id="27" name="TextBox 26">
            <a:extLst>
              <a:ext uri="{FF2B5EF4-FFF2-40B4-BE49-F238E27FC236}">
                <a16:creationId xmlns:a16="http://schemas.microsoft.com/office/drawing/2014/main" id="{009F07BE-7C14-4EBF-9378-B0C1C7679EFD}"/>
              </a:ext>
            </a:extLst>
          </p:cNvPr>
          <p:cNvSpPr txBox="1"/>
          <p:nvPr/>
        </p:nvSpPr>
        <p:spPr>
          <a:xfrm>
            <a:off x="578486" y="4725666"/>
            <a:ext cx="401072" cy="261610"/>
          </a:xfrm>
          <a:prstGeom prst="rect">
            <a:avLst/>
          </a:prstGeom>
          <a:noFill/>
        </p:spPr>
        <p:txBody>
          <a:bodyPr wrap="none" rtlCol="0">
            <a:spAutoFit/>
          </a:bodyPr>
          <a:lstStyle/>
          <a:p>
            <a:r>
              <a:rPr lang="en-US" sz="1100" b="1" dirty="0"/>
              <a:t>100</a:t>
            </a:r>
            <a:endParaRPr lang="en-PK" b="1" dirty="0"/>
          </a:p>
        </p:txBody>
      </p:sp>
      <p:sp>
        <p:nvSpPr>
          <p:cNvPr id="28" name="TextBox 27">
            <a:extLst>
              <a:ext uri="{FF2B5EF4-FFF2-40B4-BE49-F238E27FC236}">
                <a16:creationId xmlns:a16="http://schemas.microsoft.com/office/drawing/2014/main" id="{688921EE-3CEF-481E-8C68-198DF0F469C1}"/>
              </a:ext>
            </a:extLst>
          </p:cNvPr>
          <p:cNvSpPr txBox="1"/>
          <p:nvPr/>
        </p:nvSpPr>
        <p:spPr>
          <a:xfrm>
            <a:off x="2123968" y="4719742"/>
            <a:ext cx="401072" cy="261610"/>
          </a:xfrm>
          <a:prstGeom prst="rect">
            <a:avLst/>
          </a:prstGeom>
          <a:noFill/>
        </p:spPr>
        <p:txBody>
          <a:bodyPr wrap="none" rtlCol="0">
            <a:spAutoFit/>
          </a:bodyPr>
          <a:lstStyle/>
          <a:p>
            <a:r>
              <a:rPr lang="en-US" sz="1100" b="1" dirty="0"/>
              <a:t>104</a:t>
            </a:r>
            <a:endParaRPr lang="en-PK" b="1" dirty="0"/>
          </a:p>
        </p:txBody>
      </p:sp>
      <p:sp>
        <p:nvSpPr>
          <p:cNvPr id="29" name="TextBox 28">
            <a:extLst>
              <a:ext uri="{FF2B5EF4-FFF2-40B4-BE49-F238E27FC236}">
                <a16:creationId xmlns:a16="http://schemas.microsoft.com/office/drawing/2014/main" id="{0A46F9E3-3994-42E2-8A59-13A1ED353F17}"/>
              </a:ext>
            </a:extLst>
          </p:cNvPr>
          <p:cNvSpPr txBox="1"/>
          <p:nvPr/>
        </p:nvSpPr>
        <p:spPr>
          <a:xfrm>
            <a:off x="3748693" y="4736193"/>
            <a:ext cx="401072" cy="261610"/>
          </a:xfrm>
          <a:prstGeom prst="rect">
            <a:avLst/>
          </a:prstGeom>
          <a:noFill/>
        </p:spPr>
        <p:txBody>
          <a:bodyPr wrap="none" rtlCol="0">
            <a:spAutoFit/>
          </a:bodyPr>
          <a:lstStyle/>
          <a:p>
            <a:r>
              <a:rPr lang="en-US" sz="1100" b="1" dirty="0"/>
              <a:t>108</a:t>
            </a:r>
            <a:endParaRPr lang="en-PK" b="1" dirty="0"/>
          </a:p>
        </p:txBody>
      </p:sp>
      <p:sp>
        <p:nvSpPr>
          <p:cNvPr id="30" name="TextBox 29">
            <a:extLst>
              <a:ext uri="{FF2B5EF4-FFF2-40B4-BE49-F238E27FC236}">
                <a16:creationId xmlns:a16="http://schemas.microsoft.com/office/drawing/2014/main" id="{881A5CBD-DA12-4E87-AE30-45CF7B36A6C6}"/>
              </a:ext>
            </a:extLst>
          </p:cNvPr>
          <p:cNvSpPr txBox="1"/>
          <p:nvPr/>
        </p:nvSpPr>
        <p:spPr>
          <a:xfrm>
            <a:off x="7049326" y="4763179"/>
            <a:ext cx="401072" cy="261610"/>
          </a:xfrm>
          <a:prstGeom prst="rect">
            <a:avLst/>
          </a:prstGeom>
          <a:noFill/>
        </p:spPr>
        <p:txBody>
          <a:bodyPr wrap="none" rtlCol="0">
            <a:spAutoFit/>
          </a:bodyPr>
          <a:lstStyle/>
          <a:p>
            <a:r>
              <a:rPr lang="en-US" sz="1100" b="1" dirty="0"/>
              <a:t>116</a:t>
            </a:r>
          </a:p>
        </p:txBody>
      </p:sp>
      <p:sp>
        <p:nvSpPr>
          <p:cNvPr id="31" name="TextBox 30">
            <a:extLst>
              <a:ext uri="{FF2B5EF4-FFF2-40B4-BE49-F238E27FC236}">
                <a16:creationId xmlns:a16="http://schemas.microsoft.com/office/drawing/2014/main" id="{128EE690-E859-4D04-8662-D54BD32D6397}"/>
              </a:ext>
            </a:extLst>
          </p:cNvPr>
          <p:cNvSpPr txBox="1"/>
          <p:nvPr/>
        </p:nvSpPr>
        <p:spPr>
          <a:xfrm>
            <a:off x="1455683" y="3972098"/>
            <a:ext cx="301686" cy="369332"/>
          </a:xfrm>
          <a:prstGeom prst="rect">
            <a:avLst/>
          </a:prstGeom>
          <a:noFill/>
        </p:spPr>
        <p:txBody>
          <a:bodyPr wrap="none" rtlCol="0">
            <a:spAutoFit/>
          </a:bodyPr>
          <a:lstStyle/>
          <a:p>
            <a:r>
              <a:rPr lang="en-US" dirty="0"/>
              <a:t>0</a:t>
            </a:r>
            <a:endParaRPr lang="en-PK" dirty="0"/>
          </a:p>
        </p:txBody>
      </p:sp>
      <p:sp>
        <p:nvSpPr>
          <p:cNvPr id="32" name="TextBox 31">
            <a:extLst>
              <a:ext uri="{FF2B5EF4-FFF2-40B4-BE49-F238E27FC236}">
                <a16:creationId xmlns:a16="http://schemas.microsoft.com/office/drawing/2014/main" id="{44F89BC9-1BB5-40B7-AF40-531633FB694B}"/>
              </a:ext>
            </a:extLst>
          </p:cNvPr>
          <p:cNvSpPr txBox="1"/>
          <p:nvPr/>
        </p:nvSpPr>
        <p:spPr>
          <a:xfrm>
            <a:off x="3142370" y="3969548"/>
            <a:ext cx="301686" cy="369332"/>
          </a:xfrm>
          <a:prstGeom prst="rect">
            <a:avLst/>
          </a:prstGeom>
          <a:noFill/>
        </p:spPr>
        <p:txBody>
          <a:bodyPr wrap="none" rtlCol="0">
            <a:spAutoFit/>
          </a:bodyPr>
          <a:lstStyle/>
          <a:p>
            <a:r>
              <a:rPr lang="en-US" dirty="0"/>
              <a:t>1</a:t>
            </a:r>
            <a:endParaRPr lang="en-PK" dirty="0"/>
          </a:p>
        </p:txBody>
      </p:sp>
      <p:sp>
        <p:nvSpPr>
          <p:cNvPr id="33" name="TextBox 32">
            <a:extLst>
              <a:ext uri="{FF2B5EF4-FFF2-40B4-BE49-F238E27FC236}">
                <a16:creationId xmlns:a16="http://schemas.microsoft.com/office/drawing/2014/main" id="{59CB4628-E7DF-4227-BAB6-62CF37169B22}"/>
              </a:ext>
            </a:extLst>
          </p:cNvPr>
          <p:cNvSpPr txBox="1"/>
          <p:nvPr/>
        </p:nvSpPr>
        <p:spPr>
          <a:xfrm>
            <a:off x="4508938" y="3974648"/>
            <a:ext cx="301686" cy="369332"/>
          </a:xfrm>
          <a:prstGeom prst="rect">
            <a:avLst/>
          </a:prstGeom>
          <a:noFill/>
        </p:spPr>
        <p:txBody>
          <a:bodyPr wrap="none" rtlCol="0">
            <a:spAutoFit/>
          </a:bodyPr>
          <a:lstStyle/>
          <a:p>
            <a:r>
              <a:rPr lang="en-US" dirty="0"/>
              <a:t>2</a:t>
            </a:r>
            <a:endParaRPr lang="en-PK" dirty="0"/>
          </a:p>
        </p:txBody>
      </p:sp>
      <p:sp>
        <p:nvSpPr>
          <p:cNvPr id="34" name="TextBox 33">
            <a:extLst>
              <a:ext uri="{FF2B5EF4-FFF2-40B4-BE49-F238E27FC236}">
                <a16:creationId xmlns:a16="http://schemas.microsoft.com/office/drawing/2014/main" id="{98E4471D-7DFC-4213-B44B-6CA62D543C4B}"/>
              </a:ext>
            </a:extLst>
          </p:cNvPr>
          <p:cNvSpPr txBox="1"/>
          <p:nvPr/>
        </p:nvSpPr>
        <p:spPr>
          <a:xfrm>
            <a:off x="6195625" y="3972098"/>
            <a:ext cx="301686" cy="369332"/>
          </a:xfrm>
          <a:prstGeom prst="rect">
            <a:avLst/>
          </a:prstGeom>
          <a:noFill/>
        </p:spPr>
        <p:txBody>
          <a:bodyPr wrap="none" rtlCol="0">
            <a:spAutoFit/>
          </a:bodyPr>
          <a:lstStyle/>
          <a:p>
            <a:r>
              <a:rPr lang="en-US" dirty="0"/>
              <a:t>3</a:t>
            </a:r>
            <a:endParaRPr lang="en-PK" dirty="0"/>
          </a:p>
        </p:txBody>
      </p:sp>
      <p:sp>
        <p:nvSpPr>
          <p:cNvPr id="35" name="TextBox 34">
            <a:extLst>
              <a:ext uri="{FF2B5EF4-FFF2-40B4-BE49-F238E27FC236}">
                <a16:creationId xmlns:a16="http://schemas.microsoft.com/office/drawing/2014/main" id="{0950D893-9AAF-49D2-BE1D-FAA8CC6CB5F7}"/>
              </a:ext>
            </a:extLst>
          </p:cNvPr>
          <p:cNvSpPr txBox="1"/>
          <p:nvPr/>
        </p:nvSpPr>
        <p:spPr>
          <a:xfrm>
            <a:off x="8205337" y="3969548"/>
            <a:ext cx="301686" cy="369332"/>
          </a:xfrm>
          <a:prstGeom prst="rect">
            <a:avLst/>
          </a:prstGeom>
          <a:noFill/>
        </p:spPr>
        <p:txBody>
          <a:bodyPr wrap="none" rtlCol="0">
            <a:spAutoFit/>
          </a:bodyPr>
          <a:lstStyle/>
          <a:p>
            <a:r>
              <a:rPr lang="en-US" dirty="0"/>
              <a:t>4</a:t>
            </a:r>
            <a:endParaRPr lang="en-PK" dirty="0"/>
          </a:p>
        </p:txBody>
      </p:sp>
      <p:cxnSp>
        <p:nvCxnSpPr>
          <p:cNvPr id="37" name="Straight Arrow Connector 36">
            <a:extLst>
              <a:ext uri="{FF2B5EF4-FFF2-40B4-BE49-F238E27FC236}">
                <a16:creationId xmlns:a16="http://schemas.microsoft.com/office/drawing/2014/main" id="{5A915837-A3D3-4B5C-BBE9-0BDDF656BA9E}"/>
              </a:ext>
            </a:extLst>
          </p:cNvPr>
          <p:cNvCxnSpPr/>
          <p:nvPr/>
        </p:nvCxnSpPr>
        <p:spPr>
          <a:xfrm flipV="1">
            <a:off x="914400" y="4736337"/>
            <a:ext cx="541283" cy="8359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D2825D8F-FCD1-41A7-9CA4-9F6E1D3AF19D}"/>
              </a:ext>
            </a:extLst>
          </p:cNvPr>
          <p:cNvCxnSpPr/>
          <p:nvPr/>
        </p:nvCxnSpPr>
        <p:spPr>
          <a:xfrm flipV="1">
            <a:off x="2470388" y="4788723"/>
            <a:ext cx="541283" cy="8359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24D3D416-BA03-4228-8956-CD13BA0C724D}"/>
              </a:ext>
            </a:extLst>
          </p:cNvPr>
          <p:cNvCxnSpPr/>
          <p:nvPr/>
        </p:nvCxnSpPr>
        <p:spPr>
          <a:xfrm flipV="1">
            <a:off x="4242458" y="4779507"/>
            <a:ext cx="541283" cy="8359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28BD6DF4-98AE-41E2-8A84-7FE769F79239}"/>
              </a:ext>
            </a:extLst>
          </p:cNvPr>
          <p:cNvCxnSpPr/>
          <p:nvPr/>
        </p:nvCxnSpPr>
        <p:spPr>
          <a:xfrm flipV="1">
            <a:off x="5778909" y="4732390"/>
            <a:ext cx="541283" cy="8359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6C2F7063-99E3-4D36-BFA6-A43068E373D6}"/>
              </a:ext>
            </a:extLst>
          </p:cNvPr>
          <p:cNvCxnSpPr/>
          <p:nvPr/>
        </p:nvCxnSpPr>
        <p:spPr>
          <a:xfrm flipV="1">
            <a:off x="7487296" y="4703134"/>
            <a:ext cx="541283" cy="8359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90FFD344-D7A0-497E-8FBE-9424A787E9A9}"/>
              </a:ext>
            </a:extLst>
          </p:cNvPr>
          <p:cNvSpPr txBox="1"/>
          <p:nvPr/>
        </p:nvSpPr>
        <p:spPr>
          <a:xfrm>
            <a:off x="307913" y="5228989"/>
            <a:ext cx="301686" cy="369332"/>
          </a:xfrm>
          <a:prstGeom prst="rect">
            <a:avLst/>
          </a:prstGeom>
          <a:noFill/>
        </p:spPr>
        <p:txBody>
          <a:bodyPr wrap="none" rtlCol="0">
            <a:spAutoFit/>
          </a:bodyPr>
          <a:lstStyle/>
          <a:p>
            <a:r>
              <a:rPr lang="en-US" dirty="0"/>
              <a:t>0</a:t>
            </a:r>
            <a:endParaRPr lang="en-PK" dirty="0"/>
          </a:p>
        </p:txBody>
      </p:sp>
      <p:sp>
        <p:nvSpPr>
          <p:cNvPr id="43" name="TextBox 42">
            <a:extLst>
              <a:ext uri="{FF2B5EF4-FFF2-40B4-BE49-F238E27FC236}">
                <a16:creationId xmlns:a16="http://schemas.microsoft.com/office/drawing/2014/main" id="{92B365BD-020A-424C-A5BD-0D9D7AD172CF}"/>
              </a:ext>
            </a:extLst>
          </p:cNvPr>
          <p:cNvSpPr txBox="1"/>
          <p:nvPr/>
        </p:nvSpPr>
        <p:spPr>
          <a:xfrm>
            <a:off x="1994600" y="5226439"/>
            <a:ext cx="301686" cy="369332"/>
          </a:xfrm>
          <a:prstGeom prst="rect">
            <a:avLst/>
          </a:prstGeom>
          <a:noFill/>
        </p:spPr>
        <p:txBody>
          <a:bodyPr wrap="none" rtlCol="0">
            <a:spAutoFit/>
          </a:bodyPr>
          <a:lstStyle/>
          <a:p>
            <a:r>
              <a:rPr lang="en-US" dirty="0"/>
              <a:t>1</a:t>
            </a:r>
            <a:endParaRPr lang="en-PK" dirty="0"/>
          </a:p>
        </p:txBody>
      </p:sp>
      <p:sp>
        <p:nvSpPr>
          <p:cNvPr id="44" name="TextBox 43">
            <a:extLst>
              <a:ext uri="{FF2B5EF4-FFF2-40B4-BE49-F238E27FC236}">
                <a16:creationId xmlns:a16="http://schemas.microsoft.com/office/drawing/2014/main" id="{43FD123C-5A06-4B2F-B4C6-67F308EA240F}"/>
              </a:ext>
            </a:extLst>
          </p:cNvPr>
          <p:cNvSpPr txBox="1"/>
          <p:nvPr/>
        </p:nvSpPr>
        <p:spPr>
          <a:xfrm>
            <a:off x="3361168" y="5231539"/>
            <a:ext cx="301686" cy="369332"/>
          </a:xfrm>
          <a:prstGeom prst="rect">
            <a:avLst/>
          </a:prstGeom>
          <a:noFill/>
        </p:spPr>
        <p:txBody>
          <a:bodyPr wrap="none" rtlCol="0">
            <a:spAutoFit/>
          </a:bodyPr>
          <a:lstStyle/>
          <a:p>
            <a:r>
              <a:rPr lang="en-US" dirty="0"/>
              <a:t>2</a:t>
            </a:r>
            <a:endParaRPr lang="en-PK" dirty="0"/>
          </a:p>
        </p:txBody>
      </p:sp>
      <p:sp>
        <p:nvSpPr>
          <p:cNvPr id="45" name="TextBox 44">
            <a:extLst>
              <a:ext uri="{FF2B5EF4-FFF2-40B4-BE49-F238E27FC236}">
                <a16:creationId xmlns:a16="http://schemas.microsoft.com/office/drawing/2014/main" id="{E7FEF29D-7F35-451D-A75E-2FB2828CF058}"/>
              </a:ext>
            </a:extLst>
          </p:cNvPr>
          <p:cNvSpPr txBox="1"/>
          <p:nvPr/>
        </p:nvSpPr>
        <p:spPr>
          <a:xfrm>
            <a:off x="5047855" y="5228989"/>
            <a:ext cx="301686" cy="369332"/>
          </a:xfrm>
          <a:prstGeom prst="rect">
            <a:avLst/>
          </a:prstGeom>
          <a:noFill/>
        </p:spPr>
        <p:txBody>
          <a:bodyPr wrap="none" rtlCol="0">
            <a:spAutoFit/>
          </a:bodyPr>
          <a:lstStyle/>
          <a:p>
            <a:r>
              <a:rPr lang="en-US" dirty="0"/>
              <a:t>3</a:t>
            </a:r>
            <a:endParaRPr lang="en-PK" dirty="0"/>
          </a:p>
        </p:txBody>
      </p:sp>
      <p:sp>
        <p:nvSpPr>
          <p:cNvPr id="46" name="TextBox 45">
            <a:extLst>
              <a:ext uri="{FF2B5EF4-FFF2-40B4-BE49-F238E27FC236}">
                <a16:creationId xmlns:a16="http://schemas.microsoft.com/office/drawing/2014/main" id="{7610803A-5E40-44EF-839E-CBEEFDF04119}"/>
              </a:ext>
            </a:extLst>
          </p:cNvPr>
          <p:cNvSpPr txBox="1"/>
          <p:nvPr/>
        </p:nvSpPr>
        <p:spPr>
          <a:xfrm>
            <a:off x="7057567" y="5226439"/>
            <a:ext cx="301686" cy="369332"/>
          </a:xfrm>
          <a:prstGeom prst="rect">
            <a:avLst/>
          </a:prstGeom>
          <a:noFill/>
        </p:spPr>
        <p:txBody>
          <a:bodyPr wrap="none" rtlCol="0">
            <a:spAutoFit/>
          </a:bodyPr>
          <a:lstStyle/>
          <a:p>
            <a:r>
              <a:rPr lang="en-US" dirty="0"/>
              <a:t>4</a:t>
            </a:r>
            <a:endParaRPr lang="en-PK" dirty="0"/>
          </a:p>
        </p:txBody>
      </p:sp>
    </p:spTree>
    <p:extLst>
      <p:ext uri="{BB962C8B-B14F-4D97-AF65-F5344CB8AC3E}">
        <p14:creationId xmlns:p14="http://schemas.microsoft.com/office/powerpoint/2010/main" val="997341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F160BF1-19AB-4D1B-96C1-B5E5A0C50E3E}"/>
              </a:ext>
            </a:extLst>
          </p:cNvPr>
          <p:cNvSpPr txBox="1"/>
          <p:nvPr/>
        </p:nvSpPr>
        <p:spPr>
          <a:xfrm>
            <a:off x="536027" y="681037"/>
            <a:ext cx="1405449" cy="400110"/>
          </a:xfrm>
          <a:prstGeom prst="rect">
            <a:avLst/>
          </a:prstGeom>
          <a:noFill/>
        </p:spPr>
        <p:txBody>
          <a:bodyPr wrap="none" rtlCol="0">
            <a:spAutoFit/>
          </a:bodyPr>
          <a:lstStyle/>
          <a:p>
            <a:r>
              <a:rPr lang="en-US" sz="2000" b="1" dirty="0"/>
              <a:t>- Traversing</a:t>
            </a:r>
            <a:endParaRPr lang="en-PK" sz="2000" b="1" dirty="0"/>
          </a:p>
        </p:txBody>
      </p:sp>
      <p:graphicFrame>
        <p:nvGraphicFramePr>
          <p:cNvPr id="6" name="Table 10">
            <a:extLst>
              <a:ext uri="{FF2B5EF4-FFF2-40B4-BE49-F238E27FC236}">
                <a16:creationId xmlns:a16="http://schemas.microsoft.com/office/drawing/2014/main" id="{1BA24F3B-9814-4DF7-9F7A-C4EFC90FD80D}"/>
              </a:ext>
            </a:extLst>
          </p:cNvPr>
          <p:cNvGraphicFramePr>
            <a:graphicFrameLocks noGrp="1"/>
          </p:cNvGraphicFramePr>
          <p:nvPr/>
        </p:nvGraphicFramePr>
        <p:xfrm>
          <a:off x="110360" y="5572251"/>
          <a:ext cx="11971279" cy="785292"/>
        </p:xfrm>
        <a:graphic>
          <a:graphicData uri="http://schemas.openxmlformats.org/drawingml/2006/table">
            <a:tbl>
              <a:tblPr firstRow="1" bandRow="1"/>
              <a:tblGrid>
                <a:gridCol w="336330">
                  <a:extLst>
                    <a:ext uri="{9D8B030D-6E8A-4147-A177-3AD203B41FA5}">
                      <a16:colId xmlns:a16="http://schemas.microsoft.com/office/drawing/2014/main" val="1991603347"/>
                    </a:ext>
                  </a:extLst>
                </a:gridCol>
                <a:gridCol w="348849">
                  <a:extLst>
                    <a:ext uri="{9D8B030D-6E8A-4147-A177-3AD203B41FA5}">
                      <a16:colId xmlns:a16="http://schemas.microsoft.com/office/drawing/2014/main" val="2777920320"/>
                    </a:ext>
                  </a:extLst>
                </a:gridCol>
                <a:gridCol w="403075">
                  <a:extLst>
                    <a:ext uri="{9D8B030D-6E8A-4147-A177-3AD203B41FA5}">
                      <a16:colId xmlns:a16="http://schemas.microsoft.com/office/drawing/2014/main" val="1730664962"/>
                    </a:ext>
                  </a:extLst>
                </a:gridCol>
                <a:gridCol w="403075">
                  <a:extLst>
                    <a:ext uri="{9D8B030D-6E8A-4147-A177-3AD203B41FA5}">
                      <a16:colId xmlns:a16="http://schemas.microsoft.com/office/drawing/2014/main" val="328359006"/>
                    </a:ext>
                  </a:extLst>
                </a:gridCol>
                <a:gridCol w="403075">
                  <a:extLst>
                    <a:ext uri="{9D8B030D-6E8A-4147-A177-3AD203B41FA5}">
                      <a16:colId xmlns:a16="http://schemas.microsoft.com/office/drawing/2014/main" val="1921123748"/>
                    </a:ext>
                  </a:extLst>
                </a:gridCol>
                <a:gridCol w="403075">
                  <a:extLst>
                    <a:ext uri="{9D8B030D-6E8A-4147-A177-3AD203B41FA5}">
                      <a16:colId xmlns:a16="http://schemas.microsoft.com/office/drawing/2014/main" val="4049789088"/>
                    </a:ext>
                  </a:extLst>
                </a:gridCol>
                <a:gridCol w="403075">
                  <a:extLst>
                    <a:ext uri="{9D8B030D-6E8A-4147-A177-3AD203B41FA5}">
                      <a16:colId xmlns:a16="http://schemas.microsoft.com/office/drawing/2014/main" val="2928813005"/>
                    </a:ext>
                  </a:extLst>
                </a:gridCol>
                <a:gridCol w="403075">
                  <a:extLst>
                    <a:ext uri="{9D8B030D-6E8A-4147-A177-3AD203B41FA5}">
                      <a16:colId xmlns:a16="http://schemas.microsoft.com/office/drawing/2014/main" val="3782253894"/>
                    </a:ext>
                  </a:extLst>
                </a:gridCol>
                <a:gridCol w="403075">
                  <a:extLst>
                    <a:ext uri="{9D8B030D-6E8A-4147-A177-3AD203B41FA5}">
                      <a16:colId xmlns:a16="http://schemas.microsoft.com/office/drawing/2014/main" val="3817829416"/>
                    </a:ext>
                  </a:extLst>
                </a:gridCol>
                <a:gridCol w="403075">
                  <a:extLst>
                    <a:ext uri="{9D8B030D-6E8A-4147-A177-3AD203B41FA5}">
                      <a16:colId xmlns:a16="http://schemas.microsoft.com/office/drawing/2014/main" val="1299820905"/>
                    </a:ext>
                  </a:extLst>
                </a:gridCol>
                <a:gridCol w="403075">
                  <a:extLst>
                    <a:ext uri="{9D8B030D-6E8A-4147-A177-3AD203B41FA5}">
                      <a16:colId xmlns:a16="http://schemas.microsoft.com/office/drawing/2014/main" val="3032965131"/>
                    </a:ext>
                  </a:extLst>
                </a:gridCol>
                <a:gridCol w="403075">
                  <a:extLst>
                    <a:ext uri="{9D8B030D-6E8A-4147-A177-3AD203B41FA5}">
                      <a16:colId xmlns:a16="http://schemas.microsoft.com/office/drawing/2014/main" val="886807455"/>
                    </a:ext>
                  </a:extLst>
                </a:gridCol>
                <a:gridCol w="403075">
                  <a:extLst>
                    <a:ext uri="{9D8B030D-6E8A-4147-A177-3AD203B41FA5}">
                      <a16:colId xmlns:a16="http://schemas.microsoft.com/office/drawing/2014/main" val="876546229"/>
                    </a:ext>
                  </a:extLst>
                </a:gridCol>
                <a:gridCol w="403075">
                  <a:extLst>
                    <a:ext uri="{9D8B030D-6E8A-4147-A177-3AD203B41FA5}">
                      <a16:colId xmlns:a16="http://schemas.microsoft.com/office/drawing/2014/main" val="1319539717"/>
                    </a:ext>
                  </a:extLst>
                </a:gridCol>
                <a:gridCol w="403075">
                  <a:extLst>
                    <a:ext uri="{9D8B030D-6E8A-4147-A177-3AD203B41FA5}">
                      <a16:colId xmlns:a16="http://schemas.microsoft.com/office/drawing/2014/main" val="4204185453"/>
                    </a:ext>
                  </a:extLst>
                </a:gridCol>
                <a:gridCol w="403075">
                  <a:extLst>
                    <a:ext uri="{9D8B030D-6E8A-4147-A177-3AD203B41FA5}">
                      <a16:colId xmlns:a16="http://schemas.microsoft.com/office/drawing/2014/main" val="640086940"/>
                    </a:ext>
                  </a:extLst>
                </a:gridCol>
                <a:gridCol w="403075">
                  <a:extLst>
                    <a:ext uri="{9D8B030D-6E8A-4147-A177-3AD203B41FA5}">
                      <a16:colId xmlns:a16="http://schemas.microsoft.com/office/drawing/2014/main" val="1064806264"/>
                    </a:ext>
                  </a:extLst>
                </a:gridCol>
                <a:gridCol w="389453">
                  <a:extLst>
                    <a:ext uri="{9D8B030D-6E8A-4147-A177-3AD203B41FA5}">
                      <a16:colId xmlns:a16="http://schemas.microsoft.com/office/drawing/2014/main" val="3125860559"/>
                    </a:ext>
                  </a:extLst>
                </a:gridCol>
                <a:gridCol w="416697">
                  <a:extLst>
                    <a:ext uri="{9D8B030D-6E8A-4147-A177-3AD203B41FA5}">
                      <a16:colId xmlns:a16="http://schemas.microsoft.com/office/drawing/2014/main" val="1659920396"/>
                    </a:ext>
                  </a:extLst>
                </a:gridCol>
                <a:gridCol w="403075">
                  <a:extLst>
                    <a:ext uri="{9D8B030D-6E8A-4147-A177-3AD203B41FA5}">
                      <a16:colId xmlns:a16="http://schemas.microsoft.com/office/drawing/2014/main" val="1698152950"/>
                    </a:ext>
                  </a:extLst>
                </a:gridCol>
                <a:gridCol w="403075">
                  <a:extLst>
                    <a:ext uri="{9D8B030D-6E8A-4147-A177-3AD203B41FA5}">
                      <a16:colId xmlns:a16="http://schemas.microsoft.com/office/drawing/2014/main" val="242566887"/>
                    </a:ext>
                  </a:extLst>
                </a:gridCol>
                <a:gridCol w="403075">
                  <a:extLst>
                    <a:ext uri="{9D8B030D-6E8A-4147-A177-3AD203B41FA5}">
                      <a16:colId xmlns:a16="http://schemas.microsoft.com/office/drawing/2014/main" val="178817915"/>
                    </a:ext>
                  </a:extLst>
                </a:gridCol>
                <a:gridCol w="403075">
                  <a:extLst>
                    <a:ext uri="{9D8B030D-6E8A-4147-A177-3AD203B41FA5}">
                      <a16:colId xmlns:a16="http://schemas.microsoft.com/office/drawing/2014/main" val="229418129"/>
                    </a:ext>
                  </a:extLst>
                </a:gridCol>
                <a:gridCol w="403075">
                  <a:extLst>
                    <a:ext uri="{9D8B030D-6E8A-4147-A177-3AD203B41FA5}">
                      <a16:colId xmlns:a16="http://schemas.microsoft.com/office/drawing/2014/main" val="993903759"/>
                    </a:ext>
                  </a:extLst>
                </a:gridCol>
                <a:gridCol w="403075">
                  <a:extLst>
                    <a:ext uri="{9D8B030D-6E8A-4147-A177-3AD203B41FA5}">
                      <a16:colId xmlns:a16="http://schemas.microsoft.com/office/drawing/2014/main" val="340701534"/>
                    </a:ext>
                  </a:extLst>
                </a:gridCol>
                <a:gridCol w="403075">
                  <a:extLst>
                    <a:ext uri="{9D8B030D-6E8A-4147-A177-3AD203B41FA5}">
                      <a16:colId xmlns:a16="http://schemas.microsoft.com/office/drawing/2014/main" val="1312010169"/>
                    </a:ext>
                  </a:extLst>
                </a:gridCol>
                <a:gridCol w="403075">
                  <a:extLst>
                    <a:ext uri="{9D8B030D-6E8A-4147-A177-3AD203B41FA5}">
                      <a16:colId xmlns:a16="http://schemas.microsoft.com/office/drawing/2014/main" val="3153298406"/>
                    </a:ext>
                  </a:extLst>
                </a:gridCol>
                <a:gridCol w="403075">
                  <a:extLst>
                    <a:ext uri="{9D8B030D-6E8A-4147-A177-3AD203B41FA5}">
                      <a16:colId xmlns:a16="http://schemas.microsoft.com/office/drawing/2014/main" val="2959644073"/>
                    </a:ext>
                  </a:extLst>
                </a:gridCol>
                <a:gridCol w="403075">
                  <a:extLst>
                    <a:ext uri="{9D8B030D-6E8A-4147-A177-3AD203B41FA5}">
                      <a16:colId xmlns:a16="http://schemas.microsoft.com/office/drawing/2014/main" val="1609994553"/>
                    </a:ext>
                  </a:extLst>
                </a:gridCol>
                <a:gridCol w="403075">
                  <a:extLst>
                    <a:ext uri="{9D8B030D-6E8A-4147-A177-3AD203B41FA5}">
                      <a16:colId xmlns:a16="http://schemas.microsoft.com/office/drawing/2014/main" val="3118772683"/>
                    </a:ext>
                  </a:extLst>
                </a:gridCol>
              </a:tblGrid>
              <a:tr h="316664">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extLst>
                  <a:ext uri="{0D108BD9-81ED-4DB2-BD59-A6C34878D82A}">
                    <a16:rowId xmlns:a16="http://schemas.microsoft.com/office/drawing/2014/main" val="906536351"/>
                  </a:ext>
                </a:extLst>
              </a:tr>
              <a:tr h="468628">
                <a:tc>
                  <a:txBody>
                    <a:bodyPr/>
                    <a:lstStyle/>
                    <a:p>
                      <a:r>
                        <a:rPr lang="en-US" sz="800" dirty="0"/>
                        <a:t>100</a:t>
                      </a:r>
                      <a:endParaRPr lang="en-PK" sz="800" dirty="0"/>
                    </a:p>
                  </a:txBody>
                  <a:tcPr>
                    <a:solidFill>
                      <a:schemeClr val="tx2"/>
                    </a:solidFill>
                  </a:tcPr>
                </a:tc>
                <a:tc>
                  <a:txBody>
                    <a:bodyPr/>
                    <a:lstStyle/>
                    <a:p>
                      <a:r>
                        <a:rPr lang="en-US" sz="800" dirty="0"/>
                        <a:t>101</a:t>
                      </a:r>
                      <a:endParaRPr lang="en-PK" sz="800" dirty="0"/>
                    </a:p>
                  </a:txBody>
                  <a:tcPr>
                    <a:solidFill>
                      <a:schemeClr val="tx2"/>
                    </a:solidFill>
                  </a:tcPr>
                </a:tc>
                <a:tc>
                  <a:txBody>
                    <a:bodyPr/>
                    <a:lstStyle/>
                    <a:p>
                      <a:r>
                        <a:rPr lang="en-US" sz="800" dirty="0"/>
                        <a:t>102</a:t>
                      </a:r>
                      <a:endParaRPr lang="en-PK" sz="800" dirty="0"/>
                    </a:p>
                  </a:txBody>
                  <a:tcPr>
                    <a:solidFill>
                      <a:schemeClr val="tx2"/>
                    </a:solidFill>
                  </a:tcPr>
                </a:tc>
                <a:tc>
                  <a:txBody>
                    <a:bodyPr/>
                    <a:lstStyle/>
                    <a:p>
                      <a:r>
                        <a:rPr lang="en-US" sz="800" dirty="0"/>
                        <a:t>103</a:t>
                      </a:r>
                      <a:endParaRPr lang="en-PK" sz="800" dirty="0"/>
                    </a:p>
                  </a:txBody>
                  <a:tcPr>
                    <a:solidFill>
                      <a:schemeClr val="tx2"/>
                    </a:solidFill>
                  </a:tcPr>
                </a:tc>
                <a:tc>
                  <a:txBody>
                    <a:bodyPr/>
                    <a:lstStyle/>
                    <a:p>
                      <a:r>
                        <a:rPr lang="en-US" sz="800" dirty="0"/>
                        <a:t>104</a:t>
                      </a:r>
                      <a:endParaRPr lang="en-PK" sz="800" dirty="0"/>
                    </a:p>
                  </a:txBody>
                  <a:tcPr>
                    <a:solidFill>
                      <a:srgbClr val="FF0000"/>
                    </a:solidFill>
                  </a:tcPr>
                </a:tc>
                <a:tc>
                  <a:txBody>
                    <a:bodyPr/>
                    <a:lstStyle/>
                    <a:p>
                      <a:r>
                        <a:rPr lang="en-US" sz="800" dirty="0"/>
                        <a:t>105</a:t>
                      </a:r>
                      <a:endParaRPr lang="en-PK" sz="800" dirty="0"/>
                    </a:p>
                  </a:txBody>
                  <a:tcPr>
                    <a:solidFill>
                      <a:srgbClr val="FF0000"/>
                    </a:solidFill>
                  </a:tcPr>
                </a:tc>
                <a:tc>
                  <a:txBody>
                    <a:bodyPr/>
                    <a:lstStyle/>
                    <a:p>
                      <a:r>
                        <a:rPr lang="en-US" sz="800" dirty="0"/>
                        <a:t>106</a:t>
                      </a:r>
                      <a:endParaRPr lang="en-PK" sz="800" dirty="0"/>
                    </a:p>
                  </a:txBody>
                  <a:tcPr>
                    <a:solidFill>
                      <a:srgbClr val="FF0000"/>
                    </a:solidFill>
                  </a:tcPr>
                </a:tc>
                <a:tc>
                  <a:txBody>
                    <a:bodyPr/>
                    <a:lstStyle/>
                    <a:p>
                      <a:r>
                        <a:rPr lang="en-US" sz="800" dirty="0"/>
                        <a:t>107</a:t>
                      </a:r>
                      <a:endParaRPr lang="en-PK" sz="800" dirty="0"/>
                    </a:p>
                  </a:txBody>
                  <a:tcPr>
                    <a:solidFill>
                      <a:srgbClr val="FF0000"/>
                    </a:solidFill>
                  </a:tcPr>
                </a:tc>
                <a:tc>
                  <a:txBody>
                    <a:bodyPr/>
                    <a:lstStyle/>
                    <a:p>
                      <a:r>
                        <a:rPr lang="en-US" sz="800" dirty="0"/>
                        <a:t>108</a:t>
                      </a:r>
                      <a:endParaRPr lang="en-PK" sz="800" dirty="0"/>
                    </a:p>
                  </a:txBody>
                  <a:tcPr>
                    <a:solidFill>
                      <a:srgbClr val="00B0F0"/>
                    </a:solidFill>
                  </a:tcPr>
                </a:tc>
                <a:tc>
                  <a:txBody>
                    <a:bodyPr/>
                    <a:lstStyle/>
                    <a:p>
                      <a:r>
                        <a:rPr lang="en-US" sz="800" dirty="0"/>
                        <a:t>109</a:t>
                      </a:r>
                      <a:endParaRPr lang="en-PK" sz="800" dirty="0"/>
                    </a:p>
                  </a:txBody>
                  <a:tcPr>
                    <a:solidFill>
                      <a:srgbClr val="00B0F0"/>
                    </a:solidFill>
                  </a:tcPr>
                </a:tc>
                <a:tc>
                  <a:txBody>
                    <a:bodyPr/>
                    <a:lstStyle/>
                    <a:p>
                      <a:r>
                        <a:rPr lang="en-US" sz="800" dirty="0"/>
                        <a:t>110</a:t>
                      </a:r>
                      <a:endParaRPr lang="en-PK" sz="800" dirty="0"/>
                    </a:p>
                  </a:txBody>
                  <a:tcPr>
                    <a:solidFill>
                      <a:srgbClr val="00B0F0"/>
                    </a:solidFill>
                  </a:tcPr>
                </a:tc>
                <a:tc>
                  <a:txBody>
                    <a:bodyPr/>
                    <a:lstStyle/>
                    <a:p>
                      <a:r>
                        <a:rPr lang="en-US" sz="800" dirty="0"/>
                        <a:t>111</a:t>
                      </a:r>
                      <a:endParaRPr lang="en-PK" sz="800" dirty="0"/>
                    </a:p>
                  </a:txBody>
                  <a:tcPr>
                    <a:solidFill>
                      <a:srgbClr val="00B0F0"/>
                    </a:solidFill>
                  </a:tcPr>
                </a:tc>
                <a:tc>
                  <a:txBody>
                    <a:bodyPr/>
                    <a:lstStyle/>
                    <a:p>
                      <a:r>
                        <a:rPr lang="en-US" sz="800" dirty="0"/>
                        <a:t>112</a:t>
                      </a:r>
                      <a:endParaRPr lang="en-PK" sz="800" dirty="0"/>
                    </a:p>
                  </a:txBody>
                  <a:tcPr>
                    <a:solidFill>
                      <a:schemeClr val="accent4">
                        <a:lumMod val="75000"/>
                      </a:schemeClr>
                    </a:solidFill>
                  </a:tcPr>
                </a:tc>
                <a:tc>
                  <a:txBody>
                    <a:bodyPr/>
                    <a:lstStyle/>
                    <a:p>
                      <a:r>
                        <a:rPr lang="en-US" sz="800" dirty="0"/>
                        <a:t>113</a:t>
                      </a:r>
                      <a:endParaRPr lang="en-PK" sz="800" dirty="0"/>
                    </a:p>
                  </a:txBody>
                  <a:tcPr>
                    <a:solidFill>
                      <a:schemeClr val="accent4">
                        <a:lumMod val="75000"/>
                      </a:schemeClr>
                    </a:solidFill>
                  </a:tcPr>
                </a:tc>
                <a:tc>
                  <a:txBody>
                    <a:bodyPr/>
                    <a:lstStyle/>
                    <a:p>
                      <a:r>
                        <a:rPr lang="en-US" sz="800" dirty="0"/>
                        <a:t>114</a:t>
                      </a:r>
                      <a:endParaRPr lang="en-PK" sz="800" dirty="0"/>
                    </a:p>
                  </a:txBody>
                  <a:tcPr>
                    <a:solidFill>
                      <a:schemeClr val="accent4">
                        <a:lumMod val="75000"/>
                      </a:schemeClr>
                    </a:solidFill>
                  </a:tcPr>
                </a:tc>
                <a:tc>
                  <a:txBody>
                    <a:bodyPr/>
                    <a:lstStyle/>
                    <a:p>
                      <a:r>
                        <a:rPr lang="en-US" sz="800" dirty="0"/>
                        <a:t>115</a:t>
                      </a:r>
                      <a:endParaRPr lang="en-PK" sz="800" dirty="0"/>
                    </a:p>
                  </a:txBody>
                  <a:tcPr>
                    <a:solidFill>
                      <a:schemeClr val="accent4">
                        <a:lumMod val="75000"/>
                      </a:schemeClr>
                    </a:solidFill>
                  </a:tcPr>
                </a:tc>
                <a:tc>
                  <a:txBody>
                    <a:bodyPr/>
                    <a:lstStyle/>
                    <a:p>
                      <a:r>
                        <a:rPr lang="en-US" sz="800" dirty="0"/>
                        <a:t>…</a:t>
                      </a:r>
                      <a:endParaRPr lang="en-PK" sz="800" dirty="0"/>
                    </a:p>
                  </a:txBody>
                  <a:tcPr>
                    <a:solidFill>
                      <a:srgbClr val="92D050"/>
                    </a:solidFill>
                  </a:tcPr>
                </a:tc>
                <a:tc>
                  <a:txBody>
                    <a:bodyPr/>
                    <a:lstStyle/>
                    <a:p>
                      <a:r>
                        <a:rPr lang="en-US" sz="800" dirty="0"/>
                        <a:t>…</a:t>
                      </a:r>
                      <a:endParaRPr lang="en-PK" sz="800" dirty="0"/>
                    </a:p>
                  </a:txBody>
                  <a:tcPr>
                    <a:solidFill>
                      <a:srgbClr val="92D050"/>
                    </a:solidFill>
                  </a:tcPr>
                </a:tc>
                <a:tc>
                  <a:txBody>
                    <a:bodyPr/>
                    <a:lstStyle/>
                    <a:p>
                      <a:r>
                        <a:rPr lang="en-US" sz="800" dirty="0"/>
                        <a:t>…</a:t>
                      </a:r>
                      <a:endParaRPr lang="en-PK" sz="800" dirty="0"/>
                    </a:p>
                  </a:txBody>
                  <a:tcPr>
                    <a:solidFill>
                      <a:srgbClr val="92D050"/>
                    </a:solidFill>
                  </a:tcPr>
                </a:tc>
                <a:tc>
                  <a:txBody>
                    <a:bodyPr/>
                    <a:lstStyle/>
                    <a:p>
                      <a:r>
                        <a:rPr lang="en-US" sz="800" dirty="0"/>
                        <a:t>…</a:t>
                      </a:r>
                      <a:endParaRPr lang="en-PK" sz="800" dirty="0"/>
                    </a:p>
                  </a:txBody>
                  <a:tcPr>
                    <a:solidFill>
                      <a:srgbClr val="92D050"/>
                    </a:solidFill>
                  </a:tcPr>
                </a:tc>
                <a:tc>
                  <a:txBody>
                    <a:bodyPr/>
                    <a:lstStyle/>
                    <a:p>
                      <a:r>
                        <a:rPr lang="en-US" sz="800" dirty="0"/>
                        <a:t>121</a:t>
                      </a:r>
                      <a:endParaRPr lang="en-PK" sz="800" dirty="0"/>
                    </a:p>
                  </a:txBody>
                  <a:tcPr>
                    <a:solidFill>
                      <a:schemeClr val="accent4"/>
                    </a:solidFill>
                  </a:tcPr>
                </a:tc>
                <a:tc>
                  <a:txBody>
                    <a:bodyPr/>
                    <a:lstStyle/>
                    <a:p>
                      <a:r>
                        <a:rPr lang="en-US" sz="800" dirty="0"/>
                        <a:t>122</a:t>
                      </a:r>
                      <a:endParaRPr lang="en-PK" sz="800" dirty="0"/>
                    </a:p>
                  </a:txBody>
                  <a:tcPr>
                    <a:solidFill>
                      <a:schemeClr val="accent4"/>
                    </a:solidFill>
                  </a:tcPr>
                </a:tc>
                <a:tc>
                  <a:txBody>
                    <a:bodyPr/>
                    <a:lstStyle/>
                    <a:p>
                      <a:r>
                        <a:rPr lang="en-US" sz="800" dirty="0"/>
                        <a:t>123</a:t>
                      </a:r>
                      <a:endParaRPr lang="en-PK" sz="800" dirty="0"/>
                    </a:p>
                  </a:txBody>
                  <a:tcPr>
                    <a:solidFill>
                      <a:schemeClr val="accent4"/>
                    </a:solidFill>
                  </a:tcPr>
                </a:tc>
                <a:tc>
                  <a:txBody>
                    <a:bodyPr/>
                    <a:lstStyle/>
                    <a:p>
                      <a:r>
                        <a:rPr lang="en-US" sz="800" dirty="0"/>
                        <a:t>124</a:t>
                      </a:r>
                      <a:endParaRPr lang="en-PK" sz="800" dirty="0"/>
                    </a:p>
                  </a:txBody>
                  <a:tcPr>
                    <a:solidFill>
                      <a:schemeClr val="accent4"/>
                    </a:solidFill>
                  </a:tcPr>
                </a:tc>
                <a:tc>
                  <a:txBody>
                    <a:bodyPr/>
                    <a:lstStyle/>
                    <a:p>
                      <a:r>
                        <a:rPr lang="en-US" sz="800" dirty="0"/>
                        <a:t>…</a:t>
                      </a:r>
                      <a:endParaRPr lang="en-PK" sz="800" dirty="0"/>
                    </a:p>
                  </a:txBody>
                  <a:tcPr>
                    <a:solidFill>
                      <a:schemeClr val="accent1">
                        <a:lumMod val="75000"/>
                      </a:schemeClr>
                    </a:solidFill>
                  </a:tcPr>
                </a:tc>
                <a:tc>
                  <a:txBody>
                    <a:bodyPr/>
                    <a:lstStyle/>
                    <a:p>
                      <a:r>
                        <a:rPr lang="en-US" sz="800" dirty="0"/>
                        <a:t>297</a:t>
                      </a:r>
                      <a:endParaRPr lang="en-PK" sz="800" dirty="0"/>
                    </a:p>
                  </a:txBody>
                  <a:tcPr>
                    <a:solidFill>
                      <a:schemeClr val="accent1">
                        <a:lumMod val="75000"/>
                      </a:schemeClr>
                    </a:solidFill>
                  </a:tcPr>
                </a:tc>
                <a:tc>
                  <a:txBody>
                    <a:bodyPr/>
                    <a:lstStyle/>
                    <a:p>
                      <a:r>
                        <a:rPr lang="en-US" sz="800" dirty="0"/>
                        <a:t>298</a:t>
                      </a:r>
                      <a:endParaRPr lang="en-PK" sz="800" dirty="0"/>
                    </a:p>
                  </a:txBody>
                  <a:tcPr>
                    <a:solidFill>
                      <a:schemeClr val="accent1">
                        <a:lumMod val="75000"/>
                      </a:schemeClr>
                    </a:solidFill>
                  </a:tcPr>
                </a:tc>
                <a:tc>
                  <a:txBody>
                    <a:bodyPr/>
                    <a:lstStyle/>
                    <a:p>
                      <a:r>
                        <a:rPr lang="en-US" sz="800" dirty="0"/>
                        <a:t>299</a:t>
                      </a:r>
                      <a:endParaRPr lang="en-PK" sz="800" dirty="0"/>
                    </a:p>
                  </a:txBody>
                  <a:tcPr>
                    <a:solidFill>
                      <a:schemeClr val="accent1">
                        <a:lumMod val="75000"/>
                      </a:schemeClr>
                    </a:solidFill>
                  </a:tcPr>
                </a:tc>
                <a:tc>
                  <a:txBody>
                    <a:bodyPr/>
                    <a:lstStyle/>
                    <a:p>
                      <a:r>
                        <a:rPr lang="en-US" sz="800" dirty="0"/>
                        <a:t>…</a:t>
                      </a:r>
                      <a:endParaRPr lang="en-PK" sz="800" dirty="0"/>
                    </a:p>
                  </a:txBody>
                  <a:tcPr/>
                </a:tc>
                <a:tc>
                  <a:txBody>
                    <a:bodyPr/>
                    <a:lstStyle/>
                    <a:p>
                      <a:r>
                        <a:rPr lang="en-US" sz="800" dirty="0"/>
                        <a:t>…</a:t>
                      </a:r>
                      <a:endParaRPr lang="en-PK" sz="800" dirty="0"/>
                    </a:p>
                  </a:txBody>
                  <a:tcPr/>
                </a:tc>
                <a:extLst>
                  <a:ext uri="{0D108BD9-81ED-4DB2-BD59-A6C34878D82A}">
                    <a16:rowId xmlns:a16="http://schemas.microsoft.com/office/drawing/2014/main" val="1326620274"/>
                  </a:ext>
                </a:extLst>
              </a:tr>
            </a:tbl>
          </a:graphicData>
        </a:graphic>
      </p:graphicFrame>
      <p:sp>
        <p:nvSpPr>
          <p:cNvPr id="22" name="TextBox 21">
            <a:extLst>
              <a:ext uri="{FF2B5EF4-FFF2-40B4-BE49-F238E27FC236}">
                <a16:creationId xmlns:a16="http://schemas.microsoft.com/office/drawing/2014/main" id="{6C8ECFFD-ED5C-4DB4-BF33-C227E2A8BEE5}"/>
              </a:ext>
            </a:extLst>
          </p:cNvPr>
          <p:cNvSpPr txBox="1"/>
          <p:nvPr/>
        </p:nvSpPr>
        <p:spPr>
          <a:xfrm>
            <a:off x="229579" y="1051877"/>
            <a:ext cx="977640" cy="369332"/>
          </a:xfrm>
          <a:prstGeom prst="rect">
            <a:avLst/>
          </a:prstGeom>
          <a:noFill/>
        </p:spPr>
        <p:txBody>
          <a:bodyPr wrap="none" rtlCol="0">
            <a:spAutoFit/>
          </a:bodyPr>
          <a:lstStyle/>
          <a:p>
            <a:r>
              <a:rPr lang="en-US" dirty="0"/>
              <a:t>Int a[50]</a:t>
            </a:r>
            <a:endParaRPr lang="en-PK" dirty="0"/>
          </a:p>
        </p:txBody>
      </p:sp>
      <p:graphicFrame>
        <p:nvGraphicFramePr>
          <p:cNvPr id="24" name="Table 7">
            <a:extLst>
              <a:ext uri="{FF2B5EF4-FFF2-40B4-BE49-F238E27FC236}">
                <a16:creationId xmlns:a16="http://schemas.microsoft.com/office/drawing/2014/main" id="{F56549F1-2B2B-45B8-8E60-B3EEE0B6C358}"/>
              </a:ext>
            </a:extLst>
          </p:cNvPr>
          <p:cNvGraphicFramePr>
            <a:graphicFrameLocks noGrp="1"/>
          </p:cNvGraphicFramePr>
          <p:nvPr/>
        </p:nvGraphicFramePr>
        <p:xfrm>
          <a:off x="762001" y="4365497"/>
          <a:ext cx="8128000" cy="370840"/>
        </p:xfrm>
        <a:graphic>
          <a:graphicData uri="http://schemas.openxmlformats.org/drawingml/2006/table">
            <a:tbl>
              <a:tblPr firstRow="1" bandRow="1"/>
              <a:tblGrid>
                <a:gridCol w="1625600">
                  <a:extLst>
                    <a:ext uri="{9D8B030D-6E8A-4147-A177-3AD203B41FA5}">
                      <a16:colId xmlns:a16="http://schemas.microsoft.com/office/drawing/2014/main" val="33428348"/>
                    </a:ext>
                  </a:extLst>
                </a:gridCol>
                <a:gridCol w="1625600">
                  <a:extLst>
                    <a:ext uri="{9D8B030D-6E8A-4147-A177-3AD203B41FA5}">
                      <a16:colId xmlns:a16="http://schemas.microsoft.com/office/drawing/2014/main" val="468650775"/>
                    </a:ext>
                  </a:extLst>
                </a:gridCol>
                <a:gridCol w="1625600">
                  <a:extLst>
                    <a:ext uri="{9D8B030D-6E8A-4147-A177-3AD203B41FA5}">
                      <a16:colId xmlns:a16="http://schemas.microsoft.com/office/drawing/2014/main" val="1772026046"/>
                    </a:ext>
                  </a:extLst>
                </a:gridCol>
                <a:gridCol w="1625600">
                  <a:extLst>
                    <a:ext uri="{9D8B030D-6E8A-4147-A177-3AD203B41FA5}">
                      <a16:colId xmlns:a16="http://schemas.microsoft.com/office/drawing/2014/main" val="1480838839"/>
                    </a:ext>
                  </a:extLst>
                </a:gridCol>
                <a:gridCol w="1625600">
                  <a:extLst>
                    <a:ext uri="{9D8B030D-6E8A-4147-A177-3AD203B41FA5}">
                      <a16:colId xmlns:a16="http://schemas.microsoft.com/office/drawing/2014/main" val="1243809018"/>
                    </a:ext>
                  </a:extLst>
                </a:gridCol>
              </a:tblGrid>
              <a:tr h="370840">
                <a:tc>
                  <a:txBody>
                    <a:bodyPr/>
                    <a:lstStyle/>
                    <a:p>
                      <a:pPr algn="ctr"/>
                      <a:r>
                        <a:rPr lang="en-US" b="1" dirty="0">
                          <a:solidFill>
                            <a:srgbClr val="FF0000"/>
                          </a:solidFill>
                        </a:rPr>
                        <a:t>6</a:t>
                      </a:r>
                      <a:endParaRPr lang="en-PK" b="1" dirty="0">
                        <a:solidFill>
                          <a:srgbClr val="FF0000"/>
                        </a:solidFill>
                      </a:endParaRPr>
                    </a:p>
                  </a:txBody>
                  <a:tcPr/>
                </a:tc>
                <a:tc>
                  <a:txBody>
                    <a:bodyPr/>
                    <a:lstStyle/>
                    <a:p>
                      <a:pPr algn="ctr"/>
                      <a:r>
                        <a:rPr lang="en-US" b="1" dirty="0">
                          <a:solidFill>
                            <a:srgbClr val="FF0000"/>
                          </a:solidFill>
                        </a:rPr>
                        <a:t>2</a:t>
                      </a:r>
                      <a:endParaRPr lang="en-PK" b="1" dirty="0">
                        <a:solidFill>
                          <a:srgbClr val="FF0000"/>
                        </a:solidFill>
                      </a:endParaRPr>
                    </a:p>
                  </a:txBody>
                  <a:tcPr/>
                </a:tc>
                <a:tc>
                  <a:txBody>
                    <a:bodyPr/>
                    <a:lstStyle/>
                    <a:p>
                      <a:pPr algn="ctr"/>
                      <a:r>
                        <a:rPr lang="en-US" b="1" dirty="0">
                          <a:solidFill>
                            <a:srgbClr val="FF0000"/>
                          </a:solidFill>
                        </a:rPr>
                        <a:t>0</a:t>
                      </a:r>
                      <a:endParaRPr lang="en-PK" b="1" dirty="0">
                        <a:solidFill>
                          <a:srgbClr val="FF0000"/>
                        </a:solidFill>
                      </a:endParaRPr>
                    </a:p>
                  </a:txBody>
                  <a:tcPr/>
                </a:tc>
                <a:tc>
                  <a:txBody>
                    <a:bodyPr/>
                    <a:lstStyle/>
                    <a:p>
                      <a:pPr algn="ctr"/>
                      <a:r>
                        <a:rPr lang="en-US" b="1" dirty="0">
                          <a:solidFill>
                            <a:srgbClr val="FF0000"/>
                          </a:solidFill>
                        </a:rPr>
                        <a:t>1</a:t>
                      </a:r>
                      <a:endParaRPr lang="en-PK" b="1" dirty="0">
                        <a:solidFill>
                          <a:srgbClr val="FF0000"/>
                        </a:solidFill>
                      </a:endParaRPr>
                    </a:p>
                  </a:txBody>
                  <a:tcPr/>
                </a:tc>
                <a:tc>
                  <a:txBody>
                    <a:bodyPr/>
                    <a:lstStyle/>
                    <a:p>
                      <a:pPr algn="ctr"/>
                      <a:r>
                        <a:rPr lang="en-US" b="1" dirty="0">
                          <a:solidFill>
                            <a:srgbClr val="FF0000"/>
                          </a:solidFill>
                        </a:rPr>
                        <a:t>4</a:t>
                      </a:r>
                      <a:endParaRPr lang="en-PK" b="1" dirty="0">
                        <a:solidFill>
                          <a:srgbClr val="FF0000"/>
                        </a:solidFill>
                      </a:endParaRPr>
                    </a:p>
                  </a:txBody>
                  <a:tcPr/>
                </a:tc>
                <a:extLst>
                  <a:ext uri="{0D108BD9-81ED-4DB2-BD59-A6C34878D82A}">
                    <a16:rowId xmlns:a16="http://schemas.microsoft.com/office/drawing/2014/main" val="1297936926"/>
                  </a:ext>
                </a:extLst>
              </a:tr>
            </a:tbl>
          </a:graphicData>
        </a:graphic>
      </p:graphicFrame>
      <p:sp>
        <p:nvSpPr>
          <p:cNvPr id="25" name="TextBox 24">
            <a:extLst>
              <a:ext uri="{FF2B5EF4-FFF2-40B4-BE49-F238E27FC236}">
                <a16:creationId xmlns:a16="http://schemas.microsoft.com/office/drawing/2014/main" id="{C9F4CF65-AEE7-4DEE-8D82-19EE7A17506D}"/>
              </a:ext>
            </a:extLst>
          </p:cNvPr>
          <p:cNvSpPr txBox="1"/>
          <p:nvPr/>
        </p:nvSpPr>
        <p:spPr>
          <a:xfrm>
            <a:off x="110360" y="4367005"/>
            <a:ext cx="486030" cy="369332"/>
          </a:xfrm>
          <a:prstGeom prst="rect">
            <a:avLst/>
          </a:prstGeom>
          <a:noFill/>
        </p:spPr>
        <p:txBody>
          <a:bodyPr wrap="none" rtlCol="0">
            <a:spAutoFit/>
          </a:bodyPr>
          <a:lstStyle/>
          <a:p>
            <a:r>
              <a:rPr lang="en-US" dirty="0"/>
              <a:t>A =</a:t>
            </a:r>
            <a:endParaRPr lang="en-PK" dirty="0"/>
          </a:p>
        </p:txBody>
      </p:sp>
      <p:sp>
        <p:nvSpPr>
          <p:cNvPr id="26" name="TextBox 25">
            <a:extLst>
              <a:ext uri="{FF2B5EF4-FFF2-40B4-BE49-F238E27FC236}">
                <a16:creationId xmlns:a16="http://schemas.microsoft.com/office/drawing/2014/main" id="{D2DB39BC-61D7-407F-B706-48809A597E0D}"/>
              </a:ext>
            </a:extLst>
          </p:cNvPr>
          <p:cNvSpPr txBox="1"/>
          <p:nvPr/>
        </p:nvSpPr>
        <p:spPr>
          <a:xfrm>
            <a:off x="5349541" y="4730961"/>
            <a:ext cx="401072" cy="261610"/>
          </a:xfrm>
          <a:prstGeom prst="rect">
            <a:avLst/>
          </a:prstGeom>
          <a:noFill/>
        </p:spPr>
        <p:txBody>
          <a:bodyPr wrap="none" rtlCol="0">
            <a:spAutoFit/>
          </a:bodyPr>
          <a:lstStyle/>
          <a:p>
            <a:r>
              <a:rPr lang="en-US" sz="1100" b="1" dirty="0"/>
              <a:t>112</a:t>
            </a:r>
            <a:endParaRPr lang="en-PK" b="1" dirty="0"/>
          </a:p>
        </p:txBody>
      </p:sp>
      <p:sp>
        <p:nvSpPr>
          <p:cNvPr id="27" name="TextBox 26">
            <a:extLst>
              <a:ext uri="{FF2B5EF4-FFF2-40B4-BE49-F238E27FC236}">
                <a16:creationId xmlns:a16="http://schemas.microsoft.com/office/drawing/2014/main" id="{009F07BE-7C14-4EBF-9378-B0C1C7679EFD}"/>
              </a:ext>
            </a:extLst>
          </p:cNvPr>
          <p:cNvSpPr txBox="1"/>
          <p:nvPr/>
        </p:nvSpPr>
        <p:spPr>
          <a:xfrm>
            <a:off x="578486" y="4725666"/>
            <a:ext cx="401072" cy="261610"/>
          </a:xfrm>
          <a:prstGeom prst="rect">
            <a:avLst/>
          </a:prstGeom>
          <a:noFill/>
        </p:spPr>
        <p:txBody>
          <a:bodyPr wrap="none" rtlCol="0">
            <a:spAutoFit/>
          </a:bodyPr>
          <a:lstStyle/>
          <a:p>
            <a:r>
              <a:rPr lang="en-US" sz="1100" b="1" dirty="0"/>
              <a:t>100</a:t>
            </a:r>
            <a:endParaRPr lang="en-PK" b="1" dirty="0"/>
          </a:p>
        </p:txBody>
      </p:sp>
      <p:sp>
        <p:nvSpPr>
          <p:cNvPr id="28" name="TextBox 27">
            <a:extLst>
              <a:ext uri="{FF2B5EF4-FFF2-40B4-BE49-F238E27FC236}">
                <a16:creationId xmlns:a16="http://schemas.microsoft.com/office/drawing/2014/main" id="{688921EE-3CEF-481E-8C68-198DF0F469C1}"/>
              </a:ext>
            </a:extLst>
          </p:cNvPr>
          <p:cNvSpPr txBox="1"/>
          <p:nvPr/>
        </p:nvSpPr>
        <p:spPr>
          <a:xfrm>
            <a:off x="2123968" y="4719742"/>
            <a:ext cx="401072" cy="261610"/>
          </a:xfrm>
          <a:prstGeom prst="rect">
            <a:avLst/>
          </a:prstGeom>
          <a:noFill/>
        </p:spPr>
        <p:txBody>
          <a:bodyPr wrap="none" rtlCol="0">
            <a:spAutoFit/>
          </a:bodyPr>
          <a:lstStyle/>
          <a:p>
            <a:r>
              <a:rPr lang="en-US" sz="1100" b="1" dirty="0"/>
              <a:t>104</a:t>
            </a:r>
            <a:endParaRPr lang="en-PK" b="1" dirty="0"/>
          </a:p>
        </p:txBody>
      </p:sp>
      <p:sp>
        <p:nvSpPr>
          <p:cNvPr id="29" name="TextBox 28">
            <a:extLst>
              <a:ext uri="{FF2B5EF4-FFF2-40B4-BE49-F238E27FC236}">
                <a16:creationId xmlns:a16="http://schemas.microsoft.com/office/drawing/2014/main" id="{0A46F9E3-3994-42E2-8A59-13A1ED353F17}"/>
              </a:ext>
            </a:extLst>
          </p:cNvPr>
          <p:cNvSpPr txBox="1"/>
          <p:nvPr/>
        </p:nvSpPr>
        <p:spPr>
          <a:xfrm>
            <a:off x="3748693" y="4736193"/>
            <a:ext cx="401072" cy="261610"/>
          </a:xfrm>
          <a:prstGeom prst="rect">
            <a:avLst/>
          </a:prstGeom>
          <a:noFill/>
        </p:spPr>
        <p:txBody>
          <a:bodyPr wrap="none" rtlCol="0">
            <a:spAutoFit/>
          </a:bodyPr>
          <a:lstStyle/>
          <a:p>
            <a:r>
              <a:rPr lang="en-US" sz="1100" b="1" dirty="0"/>
              <a:t>108</a:t>
            </a:r>
            <a:endParaRPr lang="en-PK" b="1" dirty="0"/>
          </a:p>
        </p:txBody>
      </p:sp>
      <p:sp>
        <p:nvSpPr>
          <p:cNvPr id="30" name="TextBox 29">
            <a:extLst>
              <a:ext uri="{FF2B5EF4-FFF2-40B4-BE49-F238E27FC236}">
                <a16:creationId xmlns:a16="http://schemas.microsoft.com/office/drawing/2014/main" id="{881A5CBD-DA12-4E87-AE30-45CF7B36A6C6}"/>
              </a:ext>
            </a:extLst>
          </p:cNvPr>
          <p:cNvSpPr txBox="1"/>
          <p:nvPr/>
        </p:nvSpPr>
        <p:spPr>
          <a:xfrm>
            <a:off x="7049326" y="4763179"/>
            <a:ext cx="401072" cy="261610"/>
          </a:xfrm>
          <a:prstGeom prst="rect">
            <a:avLst/>
          </a:prstGeom>
          <a:noFill/>
        </p:spPr>
        <p:txBody>
          <a:bodyPr wrap="none" rtlCol="0">
            <a:spAutoFit/>
          </a:bodyPr>
          <a:lstStyle/>
          <a:p>
            <a:r>
              <a:rPr lang="en-US" sz="1100" b="1" dirty="0"/>
              <a:t>116</a:t>
            </a:r>
          </a:p>
        </p:txBody>
      </p:sp>
      <p:sp>
        <p:nvSpPr>
          <p:cNvPr id="31" name="TextBox 30">
            <a:extLst>
              <a:ext uri="{FF2B5EF4-FFF2-40B4-BE49-F238E27FC236}">
                <a16:creationId xmlns:a16="http://schemas.microsoft.com/office/drawing/2014/main" id="{128EE690-E859-4D04-8662-D54BD32D6397}"/>
              </a:ext>
            </a:extLst>
          </p:cNvPr>
          <p:cNvSpPr txBox="1"/>
          <p:nvPr/>
        </p:nvSpPr>
        <p:spPr>
          <a:xfrm>
            <a:off x="1455683" y="3972098"/>
            <a:ext cx="301686" cy="369332"/>
          </a:xfrm>
          <a:prstGeom prst="rect">
            <a:avLst/>
          </a:prstGeom>
          <a:noFill/>
        </p:spPr>
        <p:txBody>
          <a:bodyPr wrap="none" rtlCol="0">
            <a:spAutoFit/>
          </a:bodyPr>
          <a:lstStyle/>
          <a:p>
            <a:r>
              <a:rPr lang="en-US" dirty="0"/>
              <a:t>0</a:t>
            </a:r>
            <a:endParaRPr lang="en-PK" dirty="0"/>
          </a:p>
        </p:txBody>
      </p:sp>
      <p:sp>
        <p:nvSpPr>
          <p:cNvPr id="32" name="TextBox 31">
            <a:extLst>
              <a:ext uri="{FF2B5EF4-FFF2-40B4-BE49-F238E27FC236}">
                <a16:creationId xmlns:a16="http://schemas.microsoft.com/office/drawing/2014/main" id="{44F89BC9-1BB5-40B7-AF40-531633FB694B}"/>
              </a:ext>
            </a:extLst>
          </p:cNvPr>
          <p:cNvSpPr txBox="1"/>
          <p:nvPr/>
        </p:nvSpPr>
        <p:spPr>
          <a:xfrm>
            <a:off x="3142370" y="3969548"/>
            <a:ext cx="301686" cy="369332"/>
          </a:xfrm>
          <a:prstGeom prst="rect">
            <a:avLst/>
          </a:prstGeom>
          <a:noFill/>
        </p:spPr>
        <p:txBody>
          <a:bodyPr wrap="none" rtlCol="0">
            <a:spAutoFit/>
          </a:bodyPr>
          <a:lstStyle/>
          <a:p>
            <a:r>
              <a:rPr lang="en-US" dirty="0"/>
              <a:t>1</a:t>
            </a:r>
            <a:endParaRPr lang="en-PK" dirty="0"/>
          </a:p>
        </p:txBody>
      </p:sp>
      <p:sp>
        <p:nvSpPr>
          <p:cNvPr id="33" name="TextBox 32">
            <a:extLst>
              <a:ext uri="{FF2B5EF4-FFF2-40B4-BE49-F238E27FC236}">
                <a16:creationId xmlns:a16="http://schemas.microsoft.com/office/drawing/2014/main" id="{59CB4628-E7DF-4227-BAB6-62CF37169B22}"/>
              </a:ext>
            </a:extLst>
          </p:cNvPr>
          <p:cNvSpPr txBox="1"/>
          <p:nvPr/>
        </p:nvSpPr>
        <p:spPr>
          <a:xfrm>
            <a:off x="4508938" y="3974648"/>
            <a:ext cx="301686" cy="369332"/>
          </a:xfrm>
          <a:prstGeom prst="rect">
            <a:avLst/>
          </a:prstGeom>
          <a:noFill/>
        </p:spPr>
        <p:txBody>
          <a:bodyPr wrap="none" rtlCol="0">
            <a:spAutoFit/>
          </a:bodyPr>
          <a:lstStyle/>
          <a:p>
            <a:r>
              <a:rPr lang="en-US" dirty="0"/>
              <a:t>2</a:t>
            </a:r>
            <a:endParaRPr lang="en-PK" dirty="0"/>
          </a:p>
        </p:txBody>
      </p:sp>
      <p:sp>
        <p:nvSpPr>
          <p:cNvPr id="34" name="TextBox 33">
            <a:extLst>
              <a:ext uri="{FF2B5EF4-FFF2-40B4-BE49-F238E27FC236}">
                <a16:creationId xmlns:a16="http://schemas.microsoft.com/office/drawing/2014/main" id="{98E4471D-7DFC-4213-B44B-6CA62D543C4B}"/>
              </a:ext>
            </a:extLst>
          </p:cNvPr>
          <p:cNvSpPr txBox="1"/>
          <p:nvPr/>
        </p:nvSpPr>
        <p:spPr>
          <a:xfrm>
            <a:off x="6195625" y="3972098"/>
            <a:ext cx="301686" cy="369332"/>
          </a:xfrm>
          <a:prstGeom prst="rect">
            <a:avLst/>
          </a:prstGeom>
          <a:noFill/>
        </p:spPr>
        <p:txBody>
          <a:bodyPr wrap="none" rtlCol="0">
            <a:spAutoFit/>
          </a:bodyPr>
          <a:lstStyle/>
          <a:p>
            <a:r>
              <a:rPr lang="en-US" dirty="0"/>
              <a:t>3</a:t>
            </a:r>
            <a:endParaRPr lang="en-PK" dirty="0"/>
          </a:p>
        </p:txBody>
      </p:sp>
      <p:sp>
        <p:nvSpPr>
          <p:cNvPr id="35" name="TextBox 34">
            <a:extLst>
              <a:ext uri="{FF2B5EF4-FFF2-40B4-BE49-F238E27FC236}">
                <a16:creationId xmlns:a16="http://schemas.microsoft.com/office/drawing/2014/main" id="{0950D893-9AAF-49D2-BE1D-FAA8CC6CB5F7}"/>
              </a:ext>
            </a:extLst>
          </p:cNvPr>
          <p:cNvSpPr txBox="1"/>
          <p:nvPr/>
        </p:nvSpPr>
        <p:spPr>
          <a:xfrm>
            <a:off x="8205337" y="3969548"/>
            <a:ext cx="301686" cy="369332"/>
          </a:xfrm>
          <a:prstGeom prst="rect">
            <a:avLst/>
          </a:prstGeom>
          <a:noFill/>
        </p:spPr>
        <p:txBody>
          <a:bodyPr wrap="none" rtlCol="0">
            <a:spAutoFit/>
          </a:bodyPr>
          <a:lstStyle/>
          <a:p>
            <a:r>
              <a:rPr lang="en-US" dirty="0"/>
              <a:t>4</a:t>
            </a:r>
            <a:endParaRPr lang="en-PK" dirty="0"/>
          </a:p>
        </p:txBody>
      </p:sp>
      <p:cxnSp>
        <p:nvCxnSpPr>
          <p:cNvPr id="37" name="Straight Arrow Connector 36">
            <a:extLst>
              <a:ext uri="{FF2B5EF4-FFF2-40B4-BE49-F238E27FC236}">
                <a16:creationId xmlns:a16="http://schemas.microsoft.com/office/drawing/2014/main" id="{5A915837-A3D3-4B5C-BBE9-0BDDF656BA9E}"/>
              </a:ext>
            </a:extLst>
          </p:cNvPr>
          <p:cNvCxnSpPr/>
          <p:nvPr/>
        </p:nvCxnSpPr>
        <p:spPr>
          <a:xfrm flipV="1">
            <a:off x="914400" y="4736337"/>
            <a:ext cx="541283" cy="8359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D2825D8F-FCD1-41A7-9CA4-9F6E1D3AF19D}"/>
              </a:ext>
            </a:extLst>
          </p:cNvPr>
          <p:cNvCxnSpPr/>
          <p:nvPr/>
        </p:nvCxnSpPr>
        <p:spPr>
          <a:xfrm flipV="1">
            <a:off x="2470388" y="4788723"/>
            <a:ext cx="541283" cy="8359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24D3D416-BA03-4228-8956-CD13BA0C724D}"/>
              </a:ext>
            </a:extLst>
          </p:cNvPr>
          <p:cNvCxnSpPr/>
          <p:nvPr/>
        </p:nvCxnSpPr>
        <p:spPr>
          <a:xfrm flipV="1">
            <a:off x="4242458" y="4779507"/>
            <a:ext cx="541283" cy="8359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28BD6DF4-98AE-41E2-8A84-7FE769F79239}"/>
              </a:ext>
            </a:extLst>
          </p:cNvPr>
          <p:cNvCxnSpPr/>
          <p:nvPr/>
        </p:nvCxnSpPr>
        <p:spPr>
          <a:xfrm flipV="1">
            <a:off x="5778909" y="4732390"/>
            <a:ext cx="541283" cy="8359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6C2F7063-99E3-4D36-BFA6-A43068E373D6}"/>
              </a:ext>
            </a:extLst>
          </p:cNvPr>
          <p:cNvCxnSpPr/>
          <p:nvPr/>
        </p:nvCxnSpPr>
        <p:spPr>
          <a:xfrm flipV="1">
            <a:off x="7487296" y="4703134"/>
            <a:ext cx="541283" cy="8359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90FFD344-D7A0-497E-8FBE-9424A787E9A9}"/>
              </a:ext>
            </a:extLst>
          </p:cNvPr>
          <p:cNvSpPr txBox="1"/>
          <p:nvPr/>
        </p:nvSpPr>
        <p:spPr>
          <a:xfrm>
            <a:off x="307913" y="5228989"/>
            <a:ext cx="301686" cy="369332"/>
          </a:xfrm>
          <a:prstGeom prst="rect">
            <a:avLst/>
          </a:prstGeom>
          <a:noFill/>
        </p:spPr>
        <p:txBody>
          <a:bodyPr wrap="none" rtlCol="0">
            <a:spAutoFit/>
          </a:bodyPr>
          <a:lstStyle/>
          <a:p>
            <a:r>
              <a:rPr lang="en-US" dirty="0"/>
              <a:t>0</a:t>
            </a:r>
            <a:endParaRPr lang="en-PK" dirty="0"/>
          </a:p>
        </p:txBody>
      </p:sp>
      <p:sp>
        <p:nvSpPr>
          <p:cNvPr id="43" name="TextBox 42">
            <a:extLst>
              <a:ext uri="{FF2B5EF4-FFF2-40B4-BE49-F238E27FC236}">
                <a16:creationId xmlns:a16="http://schemas.microsoft.com/office/drawing/2014/main" id="{92B365BD-020A-424C-A5BD-0D9D7AD172CF}"/>
              </a:ext>
            </a:extLst>
          </p:cNvPr>
          <p:cNvSpPr txBox="1"/>
          <p:nvPr/>
        </p:nvSpPr>
        <p:spPr>
          <a:xfrm>
            <a:off x="1994600" y="5226439"/>
            <a:ext cx="301686" cy="369332"/>
          </a:xfrm>
          <a:prstGeom prst="rect">
            <a:avLst/>
          </a:prstGeom>
          <a:noFill/>
        </p:spPr>
        <p:txBody>
          <a:bodyPr wrap="none" rtlCol="0">
            <a:spAutoFit/>
          </a:bodyPr>
          <a:lstStyle/>
          <a:p>
            <a:r>
              <a:rPr lang="en-US" dirty="0"/>
              <a:t>1</a:t>
            </a:r>
            <a:endParaRPr lang="en-PK" dirty="0"/>
          </a:p>
        </p:txBody>
      </p:sp>
      <p:sp>
        <p:nvSpPr>
          <p:cNvPr id="44" name="TextBox 43">
            <a:extLst>
              <a:ext uri="{FF2B5EF4-FFF2-40B4-BE49-F238E27FC236}">
                <a16:creationId xmlns:a16="http://schemas.microsoft.com/office/drawing/2014/main" id="{43FD123C-5A06-4B2F-B4C6-67F308EA240F}"/>
              </a:ext>
            </a:extLst>
          </p:cNvPr>
          <p:cNvSpPr txBox="1"/>
          <p:nvPr/>
        </p:nvSpPr>
        <p:spPr>
          <a:xfrm>
            <a:off x="3361168" y="5231539"/>
            <a:ext cx="301686" cy="369332"/>
          </a:xfrm>
          <a:prstGeom prst="rect">
            <a:avLst/>
          </a:prstGeom>
          <a:noFill/>
        </p:spPr>
        <p:txBody>
          <a:bodyPr wrap="none" rtlCol="0">
            <a:spAutoFit/>
          </a:bodyPr>
          <a:lstStyle/>
          <a:p>
            <a:r>
              <a:rPr lang="en-US" dirty="0"/>
              <a:t>2</a:t>
            </a:r>
            <a:endParaRPr lang="en-PK" dirty="0"/>
          </a:p>
        </p:txBody>
      </p:sp>
      <p:sp>
        <p:nvSpPr>
          <p:cNvPr id="45" name="TextBox 44">
            <a:extLst>
              <a:ext uri="{FF2B5EF4-FFF2-40B4-BE49-F238E27FC236}">
                <a16:creationId xmlns:a16="http://schemas.microsoft.com/office/drawing/2014/main" id="{E7FEF29D-7F35-451D-A75E-2FB2828CF058}"/>
              </a:ext>
            </a:extLst>
          </p:cNvPr>
          <p:cNvSpPr txBox="1"/>
          <p:nvPr/>
        </p:nvSpPr>
        <p:spPr>
          <a:xfrm>
            <a:off x="5047855" y="5228989"/>
            <a:ext cx="301686" cy="369332"/>
          </a:xfrm>
          <a:prstGeom prst="rect">
            <a:avLst/>
          </a:prstGeom>
          <a:noFill/>
        </p:spPr>
        <p:txBody>
          <a:bodyPr wrap="none" rtlCol="0">
            <a:spAutoFit/>
          </a:bodyPr>
          <a:lstStyle/>
          <a:p>
            <a:r>
              <a:rPr lang="en-US" dirty="0"/>
              <a:t>3</a:t>
            </a:r>
            <a:endParaRPr lang="en-PK" dirty="0"/>
          </a:p>
        </p:txBody>
      </p:sp>
      <p:sp>
        <p:nvSpPr>
          <p:cNvPr id="46" name="TextBox 45">
            <a:extLst>
              <a:ext uri="{FF2B5EF4-FFF2-40B4-BE49-F238E27FC236}">
                <a16:creationId xmlns:a16="http://schemas.microsoft.com/office/drawing/2014/main" id="{7610803A-5E40-44EF-839E-CBEEFDF04119}"/>
              </a:ext>
            </a:extLst>
          </p:cNvPr>
          <p:cNvSpPr txBox="1"/>
          <p:nvPr/>
        </p:nvSpPr>
        <p:spPr>
          <a:xfrm>
            <a:off x="7057567" y="5226439"/>
            <a:ext cx="301686" cy="369332"/>
          </a:xfrm>
          <a:prstGeom prst="rect">
            <a:avLst/>
          </a:prstGeom>
          <a:noFill/>
        </p:spPr>
        <p:txBody>
          <a:bodyPr wrap="none" rtlCol="0">
            <a:spAutoFit/>
          </a:bodyPr>
          <a:lstStyle/>
          <a:p>
            <a:r>
              <a:rPr lang="en-US" dirty="0"/>
              <a:t>4</a:t>
            </a:r>
            <a:endParaRPr lang="en-PK" dirty="0"/>
          </a:p>
        </p:txBody>
      </p:sp>
      <p:sp>
        <p:nvSpPr>
          <p:cNvPr id="3" name="TextBox 2">
            <a:extLst>
              <a:ext uri="{FF2B5EF4-FFF2-40B4-BE49-F238E27FC236}">
                <a16:creationId xmlns:a16="http://schemas.microsoft.com/office/drawing/2014/main" id="{FAEF48D1-3767-4248-A52C-A32A29290A8B}"/>
              </a:ext>
            </a:extLst>
          </p:cNvPr>
          <p:cNvSpPr txBox="1"/>
          <p:nvPr/>
        </p:nvSpPr>
        <p:spPr>
          <a:xfrm>
            <a:off x="7249862" y="397996"/>
            <a:ext cx="3302524" cy="2092881"/>
          </a:xfrm>
          <a:prstGeom prst="rect">
            <a:avLst/>
          </a:prstGeom>
          <a:noFill/>
        </p:spPr>
        <p:txBody>
          <a:bodyPr wrap="square" rtlCol="0">
            <a:spAutoFit/>
          </a:bodyPr>
          <a:lstStyle/>
          <a:p>
            <a:endParaRPr lang="en-US" dirty="0"/>
          </a:p>
          <a:p>
            <a:r>
              <a:rPr lang="en-US" sz="2000" b="1" dirty="0"/>
              <a:t>Program:</a:t>
            </a:r>
          </a:p>
          <a:p>
            <a:endParaRPr lang="en-US" sz="2000" b="1" dirty="0"/>
          </a:p>
          <a:p>
            <a:r>
              <a:rPr lang="en-US" dirty="0"/>
              <a:t>int a[50], size</a:t>
            </a:r>
          </a:p>
          <a:p>
            <a:r>
              <a:rPr lang="en-US" dirty="0"/>
              <a:t>for(</a:t>
            </a:r>
            <a:r>
              <a:rPr lang="en-US" dirty="0" err="1"/>
              <a:t>i</a:t>
            </a:r>
            <a:r>
              <a:rPr lang="en-US" dirty="0"/>
              <a:t> = 0 , </a:t>
            </a:r>
            <a:r>
              <a:rPr lang="en-US" dirty="0" err="1"/>
              <a:t>i</a:t>
            </a:r>
            <a:r>
              <a:rPr lang="en-US" dirty="0"/>
              <a:t> &lt; size ;  </a:t>
            </a:r>
            <a:r>
              <a:rPr lang="en-US" dirty="0" err="1"/>
              <a:t>i</a:t>
            </a:r>
            <a:r>
              <a:rPr lang="en-US" dirty="0"/>
              <a:t>++){</a:t>
            </a:r>
          </a:p>
          <a:p>
            <a:r>
              <a:rPr lang="en-US" dirty="0" err="1"/>
              <a:t>System.out.print</a:t>
            </a:r>
            <a:r>
              <a:rPr lang="en-US" dirty="0"/>
              <a:t>(a[</a:t>
            </a:r>
            <a:r>
              <a:rPr lang="en-US" dirty="0" err="1"/>
              <a:t>i</a:t>
            </a:r>
            <a:r>
              <a:rPr lang="en-US" dirty="0"/>
              <a:t>])</a:t>
            </a:r>
          </a:p>
          <a:p>
            <a:r>
              <a:rPr lang="en-US" dirty="0"/>
              <a:t>}</a:t>
            </a:r>
          </a:p>
        </p:txBody>
      </p:sp>
      <p:sp>
        <p:nvSpPr>
          <p:cNvPr id="48" name="Title 1">
            <a:extLst>
              <a:ext uri="{FF2B5EF4-FFF2-40B4-BE49-F238E27FC236}">
                <a16:creationId xmlns:a16="http://schemas.microsoft.com/office/drawing/2014/main" id="{C21E27A3-E2E3-4FE5-BDFB-1D4649927513}"/>
              </a:ext>
            </a:extLst>
          </p:cNvPr>
          <p:cNvSpPr txBox="1">
            <a:spLocks/>
          </p:cNvSpPr>
          <p:nvPr/>
        </p:nvSpPr>
        <p:spPr>
          <a:xfrm>
            <a:off x="228600" y="114956"/>
            <a:ext cx="3520093" cy="56608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a:solidFill>
                  <a:schemeClr val="accent1">
                    <a:lumMod val="50000"/>
                  </a:schemeClr>
                </a:solidFill>
                <a:latin typeface="+mn-lt"/>
              </a:rPr>
              <a:t>Operations on array</a:t>
            </a:r>
            <a:endParaRPr lang="en-PK" sz="2800" b="1" dirty="0">
              <a:solidFill>
                <a:schemeClr val="accent1">
                  <a:lumMod val="50000"/>
                </a:schemeClr>
              </a:solidFill>
              <a:latin typeface="+mn-lt"/>
            </a:endParaRPr>
          </a:p>
        </p:txBody>
      </p:sp>
    </p:spTree>
    <p:extLst>
      <p:ext uri="{BB962C8B-B14F-4D97-AF65-F5344CB8AC3E}">
        <p14:creationId xmlns:p14="http://schemas.microsoft.com/office/powerpoint/2010/main" val="38487527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5D68AAC-34C2-4C32-9705-6DCA1763B611}"/>
              </a:ext>
            </a:extLst>
          </p:cNvPr>
          <p:cNvSpPr txBox="1"/>
          <p:nvPr/>
        </p:nvSpPr>
        <p:spPr>
          <a:xfrm>
            <a:off x="536027" y="681037"/>
            <a:ext cx="1261884" cy="400110"/>
          </a:xfrm>
          <a:prstGeom prst="rect">
            <a:avLst/>
          </a:prstGeom>
          <a:noFill/>
        </p:spPr>
        <p:txBody>
          <a:bodyPr wrap="none" rtlCol="0">
            <a:spAutoFit/>
          </a:bodyPr>
          <a:lstStyle/>
          <a:p>
            <a:r>
              <a:rPr lang="en-US" sz="2000" b="1" dirty="0"/>
              <a:t>- Inserting</a:t>
            </a:r>
            <a:endParaRPr lang="en-PK" sz="2000" b="1" dirty="0"/>
          </a:p>
        </p:txBody>
      </p:sp>
      <p:graphicFrame>
        <p:nvGraphicFramePr>
          <p:cNvPr id="54" name="Table 10">
            <a:extLst>
              <a:ext uri="{FF2B5EF4-FFF2-40B4-BE49-F238E27FC236}">
                <a16:creationId xmlns:a16="http://schemas.microsoft.com/office/drawing/2014/main" id="{A4C755B6-1E81-49F2-A121-DC4F98781A8A}"/>
              </a:ext>
            </a:extLst>
          </p:cNvPr>
          <p:cNvGraphicFramePr>
            <a:graphicFrameLocks noGrp="1"/>
          </p:cNvGraphicFramePr>
          <p:nvPr/>
        </p:nvGraphicFramePr>
        <p:xfrm>
          <a:off x="110360" y="5572251"/>
          <a:ext cx="11971279" cy="785292"/>
        </p:xfrm>
        <a:graphic>
          <a:graphicData uri="http://schemas.openxmlformats.org/drawingml/2006/table">
            <a:tbl>
              <a:tblPr firstRow="1" bandRow="1"/>
              <a:tblGrid>
                <a:gridCol w="336330">
                  <a:extLst>
                    <a:ext uri="{9D8B030D-6E8A-4147-A177-3AD203B41FA5}">
                      <a16:colId xmlns:a16="http://schemas.microsoft.com/office/drawing/2014/main" val="1991603347"/>
                    </a:ext>
                  </a:extLst>
                </a:gridCol>
                <a:gridCol w="348849">
                  <a:extLst>
                    <a:ext uri="{9D8B030D-6E8A-4147-A177-3AD203B41FA5}">
                      <a16:colId xmlns:a16="http://schemas.microsoft.com/office/drawing/2014/main" val="2777920320"/>
                    </a:ext>
                  </a:extLst>
                </a:gridCol>
                <a:gridCol w="403075">
                  <a:extLst>
                    <a:ext uri="{9D8B030D-6E8A-4147-A177-3AD203B41FA5}">
                      <a16:colId xmlns:a16="http://schemas.microsoft.com/office/drawing/2014/main" val="1730664962"/>
                    </a:ext>
                  </a:extLst>
                </a:gridCol>
                <a:gridCol w="403075">
                  <a:extLst>
                    <a:ext uri="{9D8B030D-6E8A-4147-A177-3AD203B41FA5}">
                      <a16:colId xmlns:a16="http://schemas.microsoft.com/office/drawing/2014/main" val="328359006"/>
                    </a:ext>
                  </a:extLst>
                </a:gridCol>
                <a:gridCol w="403075">
                  <a:extLst>
                    <a:ext uri="{9D8B030D-6E8A-4147-A177-3AD203B41FA5}">
                      <a16:colId xmlns:a16="http://schemas.microsoft.com/office/drawing/2014/main" val="1921123748"/>
                    </a:ext>
                  </a:extLst>
                </a:gridCol>
                <a:gridCol w="403075">
                  <a:extLst>
                    <a:ext uri="{9D8B030D-6E8A-4147-A177-3AD203B41FA5}">
                      <a16:colId xmlns:a16="http://schemas.microsoft.com/office/drawing/2014/main" val="4049789088"/>
                    </a:ext>
                  </a:extLst>
                </a:gridCol>
                <a:gridCol w="403075">
                  <a:extLst>
                    <a:ext uri="{9D8B030D-6E8A-4147-A177-3AD203B41FA5}">
                      <a16:colId xmlns:a16="http://schemas.microsoft.com/office/drawing/2014/main" val="2928813005"/>
                    </a:ext>
                  </a:extLst>
                </a:gridCol>
                <a:gridCol w="403075">
                  <a:extLst>
                    <a:ext uri="{9D8B030D-6E8A-4147-A177-3AD203B41FA5}">
                      <a16:colId xmlns:a16="http://schemas.microsoft.com/office/drawing/2014/main" val="3782253894"/>
                    </a:ext>
                  </a:extLst>
                </a:gridCol>
                <a:gridCol w="403075">
                  <a:extLst>
                    <a:ext uri="{9D8B030D-6E8A-4147-A177-3AD203B41FA5}">
                      <a16:colId xmlns:a16="http://schemas.microsoft.com/office/drawing/2014/main" val="3817829416"/>
                    </a:ext>
                  </a:extLst>
                </a:gridCol>
                <a:gridCol w="403075">
                  <a:extLst>
                    <a:ext uri="{9D8B030D-6E8A-4147-A177-3AD203B41FA5}">
                      <a16:colId xmlns:a16="http://schemas.microsoft.com/office/drawing/2014/main" val="1299820905"/>
                    </a:ext>
                  </a:extLst>
                </a:gridCol>
                <a:gridCol w="403075">
                  <a:extLst>
                    <a:ext uri="{9D8B030D-6E8A-4147-A177-3AD203B41FA5}">
                      <a16:colId xmlns:a16="http://schemas.microsoft.com/office/drawing/2014/main" val="3032965131"/>
                    </a:ext>
                  </a:extLst>
                </a:gridCol>
                <a:gridCol w="403075">
                  <a:extLst>
                    <a:ext uri="{9D8B030D-6E8A-4147-A177-3AD203B41FA5}">
                      <a16:colId xmlns:a16="http://schemas.microsoft.com/office/drawing/2014/main" val="886807455"/>
                    </a:ext>
                  </a:extLst>
                </a:gridCol>
                <a:gridCol w="403075">
                  <a:extLst>
                    <a:ext uri="{9D8B030D-6E8A-4147-A177-3AD203B41FA5}">
                      <a16:colId xmlns:a16="http://schemas.microsoft.com/office/drawing/2014/main" val="876546229"/>
                    </a:ext>
                  </a:extLst>
                </a:gridCol>
                <a:gridCol w="403075">
                  <a:extLst>
                    <a:ext uri="{9D8B030D-6E8A-4147-A177-3AD203B41FA5}">
                      <a16:colId xmlns:a16="http://schemas.microsoft.com/office/drawing/2014/main" val="1319539717"/>
                    </a:ext>
                  </a:extLst>
                </a:gridCol>
                <a:gridCol w="403075">
                  <a:extLst>
                    <a:ext uri="{9D8B030D-6E8A-4147-A177-3AD203B41FA5}">
                      <a16:colId xmlns:a16="http://schemas.microsoft.com/office/drawing/2014/main" val="4204185453"/>
                    </a:ext>
                  </a:extLst>
                </a:gridCol>
                <a:gridCol w="403075">
                  <a:extLst>
                    <a:ext uri="{9D8B030D-6E8A-4147-A177-3AD203B41FA5}">
                      <a16:colId xmlns:a16="http://schemas.microsoft.com/office/drawing/2014/main" val="640086940"/>
                    </a:ext>
                  </a:extLst>
                </a:gridCol>
                <a:gridCol w="403075">
                  <a:extLst>
                    <a:ext uri="{9D8B030D-6E8A-4147-A177-3AD203B41FA5}">
                      <a16:colId xmlns:a16="http://schemas.microsoft.com/office/drawing/2014/main" val="1064806264"/>
                    </a:ext>
                  </a:extLst>
                </a:gridCol>
                <a:gridCol w="389453">
                  <a:extLst>
                    <a:ext uri="{9D8B030D-6E8A-4147-A177-3AD203B41FA5}">
                      <a16:colId xmlns:a16="http://schemas.microsoft.com/office/drawing/2014/main" val="3125860559"/>
                    </a:ext>
                  </a:extLst>
                </a:gridCol>
                <a:gridCol w="416697">
                  <a:extLst>
                    <a:ext uri="{9D8B030D-6E8A-4147-A177-3AD203B41FA5}">
                      <a16:colId xmlns:a16="http://schemas.microsoft.com/office/drawing/2014/main" val="1659920396"/>
                    </a:ext>
                  </a:extLst>
                </a:gridCol>
                <a:gridCol w="403075">
                  <a:extLst>
                    <a:ext uri="{9D8B030D-6E8A-4147-A177-3AD203B41FA5}">
                      <a16:colId xmlns:a16="http://schemas.microsoft.com/office/drawing/2014/main" val="1698152950"/>
                    </a:ext>
                  </a:extLst>
                </a:gridCol>
                <a:gridCol w="403075">
                  <a:extLst>
                    <a:ext uri="{9D8B030D-6E8A-4147-A177-3AD203B41FA5}">
                      <a16:colId xmlns:a16="http://schemas.microsoft.com/office/drawing/2014/main" val="242566887"/>
                    </a:ext>
                  </a:extLst>
                </a:gridCol>
                <a:gridCol w="403075">
                  <a:extLst>
                    <a:ext uri="{9D8B030D-6E8A-4147-A177-3AD203B41FA5}">
                      <a16:colId xmlns:a16="http://schemas.microsoft.com/office/drawing/2014/main" val="178817915"/>
                    </a:ext>
                  </a:extLst>
                </a:gridCol>
                <a:gridCol w="403075">
                  <a:extLst>
                    <a:ext uri="{9D8B030D-6E8A-4147-A177-3AD203B41FA5}">
                      <a16:colId xmlns:a16="http://schemas.microsoft.com/office/drawing/2014/main" val="229418129"/>
                    </a:ext>
                  </a:extLst>
                </a:gridCol>
                <a:gridCol w="403075">
                  <a:extLst>
                    <a:ext uri="{9D8B030D-6E8A-4147-A177-3AD203B41FA5}">
                      <a16:colId xmlns:a16="http://schemas.microsoft.com/office/drawing/2014/main" val="993903759"/>
                    </a:ext>
                  </a:extLst>
                </a:gridCol>
                <a:gridCol w="403075">
                  <a:extLst>
                    <a:ext uri="{9D8B030D-6E8A-4147-A177-3AD203B41FA5}">
                      <a16:colId xmlns:a16="http://schemas.microsoft.com/office/drawing/2014/main" val="340701534"/>
                    </a:ext>
                  </a:extLst>
                </a:gridCol>
                <a:gridCol w="403075">
                  <a:extLst>
                    <a:ext uri="{9D8B030D-6E8A-4147-A177-3AD203B41FA5}">
                      <a16:colId xmlns:a16="http://schemas.microsoft.com/office/drawing/2014/main" val="1312010169"/>
                    </a:ext>
                  </a:extLst>
                </a:gridCol>
                <a:gridCol w="403075">
                  <a:extLst>
                    <a:ext uri="{9D8B030D-6E8A-4147-A177-3AD203B41FA5}">
                      <a16:colId xmlns:a16="http://schemas.microsoft.com/office/drawing/2014/main" val="3153298406"/>
                    </a:ext>
                  </a:extLst>
                </a:gridCol>
                <a:gridCol w="403075">
                  <a:extLst>
                    <a:ext uri="{9D8B030D-6E8A-4147-A177-3AD203B41FA5}">
                      <a16:colId xmlns:a16="http://schemas.microsoft.com/office/drawing/2014/main" val="2959644073"/>
                    </a:ext>
                  </a:extLst>
                </a:gridCol>
                <a:gridCol w="403075">
                  <a:extLst>
                    <a:ext uri="{9D8B030D-6E8A-4147-A177-3AD203B41FA5}">
                      <a16:colId xmlns:a16="http://schemas.microsoft.com/office/drawing/2014/main" val="1609994553"/>
                    </a:ext>
                  </a:extLst>
                </a:gridCol>
                <a:gridCol w="403075">
                  <a:extLst>
                    <a:ext uri="{9D8B030D-6E8A-4147-A177-3AD203B41FA5}">
                      <a16:colId xmlns:a16="http://schemas.microsoft.com/office/drawing/2014/main" val="3118772683"/>
                    </a:ext>
                  </a:extLst>
                </a:gridCol>
              </a:tblGrid>
              <a:tr h="316664">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extLst>
                  <a:ext uri="{0D108BD9-81ED-4DB2-BD59-A6C34878D82A}">
                    <a16:rowId xmlns:a16="http://schemas.microsoft.com/office/drawing/2014/main" val="906536351"/>
                  </a:ext>
                </a:extLst>
              </a:tr>
              <a:tr h="468628">
                <a:tc>
                  <a:txBody>
                    <a:bodyPr/>
                    <a:lstStyle/>
                    <a:p>
                      <a:r>
                        <a:rPr lang="en-US" sz="800" dirty="0"/>
                        <a:t>100</a:t>
                      </a:r>
                      <a:endParaRPr lang="en-PK" sz="800" dirty="0"/>
                    </a:p>
                  </a:txBody>
                  <a:tcPr>
                    <a:solidFill>
                      <a:schemeClr val="tx2"/>
                    </a:solidFill>
                  </a:tcPr>
                </a:tc>
                <a:tc>
                  <a:txBody>
                    <a:bodyPr/>
                    <a:lstStyle/>
                    <a:p>
                      <a:r>
                        <a:rPr lang="en-US" sz="800" dirty="0"/>
                        <a:t>101</a:t>
                      </a:r>
                      <a:endParaRPr lang="en-PK" sz="800" dirty="0"/>
                    </a:p>
                  </a:txBody>
                  <a:tcPr>
                    <a:solidFill>
                      <a:schemeClr val="tx2"/>
                    </a:solidFill>
                  </a:tcPr>
                </a:tc>
                <a:tc>
                  <a:txBody>
                    <a:bodyPr/>
                    <a:lstStyle/>
                    <a:p>
                      <a:r>
                        <a:rPr lang="en-US" sz="800" dirty="0"/>
                        <a:t>102</a:t>
                      </a:r>
                      <a:endParaRPr lang="en-PK" sz="800" dirty="0"/>
                    </a:p>
                  </a:txBody>
                  <a:tcPr>
                    <a:solidFill>
                      <a:schemeClr val="tx2"/>
                    </a:solidFill>
                  </a:tcPr>
                </a:tc>
                <a:tc>
                  <a:txBody>
                    <a:bodyPr/>
                    <a:lstStyle/>
                    <a:p>
                      <a:r>
                        <a:rPr lang="en-US" sz="800" dirty="0"/>
                        <a:t>103</a:t>
                      </a:r>
                      <a:endParaRPr lang="en-PK" sz="800" dirty="0"/>
                    </a:p>
                  </a:txBody>
                  <a:tcPr>
                    <a:solidFill>
                      <a:schemeClr val="tx2"/>
                    </a:solidFill>
                  </a:tcPr>
                </a:tc>
                <a:tc>
                  <a:txBody>
                    <a:bodyPr/>
                    <a:lstStyle/>
                    <a:p>
                      <a:r>
                        <a:rPr lang="en-US" sz="800" dirty="0"/>
                        <a:t>104</a:t>
                      </a:r>
                      <a:endParaRPr lang="en-PK" sz="800" dirty="0"/>
                    </a:p>
                  </a:txBody>
                  <a:tcPr>
                    <a:solidFill>
                      <a:srgbClr val="FF0000"/>
                    </a:solidFill>
                  </a:tcPr>
                </a:tc>
                <a:tc>
                  <a:txBody>
                    <a:bodyPr/>
                    <a:lstStyle/>
                    <a:p>
                      <a:r>
                        <a:rPr lang="en-US" sz="800" dirty="0"/>
                        <a:t>105</a:t>
                      </a:r>
                      <a:endParaRPr lang="en-PK" sz="800" dirty="0"/>
                    </a:p>
                  </a:txBody>
                  <a:tcPr>
                    <a:solidFill>
                      <a:srgbClr val="FF0000"/>
                    </a:solidFill>
                  </a:tcPr>
                </a:tc>
                <a:tc>
                  <a:txBody>
                    <a:bodyPr/>
                    <a:lstStyle/>
                    <a:p>
                      <a:r>
                        <a:rPr lang="en-US" sz="800" dirty="0"/>
                        <a:t>106</a:t>
                      </a:r>
                      <a:endParaRPr lang="en-PK" sz="800" dirty="0"/>
                    </a:p>
                  </a:txBody>
                  <a:tcPr>
                    <a:solidFill>
                      <a:srgbClr val="FF0000"/>
                    </a:solidFill>
                  </a:tcPr>
                </a:tc>
                <a:tc>
                  <a:txBody>
                    <a:bodyPr/>
                    <a:lstStyle/>
                    <a:p>
                      <a:r>
                        <a:rPr lang="en-US" sz="800" dirty="0"/>
                        <a:t>107</a:t>
                      </a:r>
                      <a:endParaRPr lang="en-PK" sz="800" dirty="0"/>
                    </a:p>
                  </a:txBody>
                  <a:tcPr>
                    <a:solidFill>
                      <a:srgbClr val="FF0000"/>
                    </a:solidFill>
                  </a:tcPr>
                </a:tc>
                <a:tc>
                  <a:txBody>
                    <a:bodyPr/>
                    <a:lstStyle/>
                    <a:p>
                      <a:r>
                        <a:rPr lang="en-US" sz="800" dirty="0"/>
                        <a:t>108</a:t>
                      </a:r>
                      <a:endParaRPr lang="en-PK" sz="800" dirty="0"/>
                    </a:p>
                  </a:txBody>
                  <a:tcPr>
                    <a:solidFill>
                      <a:srgbClr val="00B0F0"/>
                    </a:solidFill>
                  </a:tcPr>
                </a:tc>
                <a:tc>
                  <a:txBody>
                    <a:bodyPr/>
                    <a:lstStyle/>
                    <a:p>
                      <a:r>
                        <a:rPr lang="en-US" sz="800" dirty="0"/>
                        <a:t>109</a:t>
                      </a:r>
                      <a:endParaRPr lang="en-PK" sz="800" dirty="0"/>
                    </a:p>
                  </a:txBody>
                  <a:tcPr>
                    <a:solidFill>
                      <a:srgbClr val="00B0F0"/>
                    </a:solidFill>
                  </a:tcPr>
                </a:tc>
                <a:tc>
                  <a:txBody>
                    <a:bodyPr/>
                    <a:lstStyle/>
                    <a:p>
                      <a:r>
                        <a:rPr lang="en-US" sz="800" dirty="0"/>
                        <a:t>110</a:t>
                      </a:r>
                      <a:endParaRPr lang="en-PK" sz="800" dirty="0"/>
                    </a:p>
                  </a:txBody>
                  <a:tcPr>
                    <a:solidFill>
                      <a:srgbClr val="00B0F0"/>
                    </a:solidFill>
                  </a:tcPr>
                </a:tc>
                <a:tc>
                  <a:txBody>
                    <a:bodyPr/>
                    <a:lstStyle/>
                    <a:p>
                      <a:r>
                        <a:rPr lang="en-US" sz="800" dirty="0"/>
                        <a:t>111</a:t>
                      </a:r>
                      <a:endParaRPr lang="en-PK" sz="800" dirty="0"/>
                    </a:p>
                  </a:txBody>
                  <a:tcPr>
                    <a:solidFill>
                      <a:srgbClr val="00B0F0"/>
                    </a:solidFill>
                  </a:tcPr>
                </a:tc>
                <a:tc>
                  <a:txBody>
                    <a:bodyPr/>
                    <a:lstStyle/>
                    <a:p>
                      <a:r>
                        <a:rPr lang="en-US" sz="800" dirty="0"/>
                        <a:t>112</a:t>
                      </a:r>
                      <a:endParaRPr lang="en-PK" sz="800" dirty="0"/>
                    </a:p>
                  </a:txBody>
                  <a:tcPr>
                    <a:solidFill>
                      <a:schemeClr val="accent4">
                        <a:lumMod val="75000"/>
                      </a:schemeClr>
                    </a:solidFill>
                  </a:tcPr>
                </a:tc>
                <a:tc>
                  <a:txBody>
                    <a:bodyPr/>
                    <a:lstStyle/>
                    <a:p>
                      <a:r>
                        <a:rPr lang="en-US" sz="800" dirty="0"/>
                        <a:t>113</a:t>
                      </a:r>
                      <a:endParaRPr lang="en-PK" sz="800" dirty="0"/>
                    </a:p>
                  </a:txBody>
                  <a:tcPr>
                    <a:solidFill>
                      <a:schemeClr val="accent4">
                        <a:lumMod val="75000"/>
                      </a:schemeClr>
                    </a:solidFill>
                  </a:tcPr>
                </a:tc>
                <a:tc>
                  <a:txBody>
                    <a:bodyPr/>
                    <a:lstStyle/>
                    <a:p>
                      <a:r>
                        <a:rPr lang="en-US" sz="800" dirty="0"/>
                        <a:t>114</a:t>
                      </a:r>
                      <a:endParaRPr lang="en-PK" sz="800" dirty="0"/>
                    </a:p>
                  </a:txBody>
                  <a:tcPr>
                    <a:solidFill>
                      <a:schemeClr val="accent4">
                        <a:lumMod val="75000"/>
                      </a:schemeClr>
                    </a:solidFill>
                  </a:tcPr>
                </a:tc>
                <a:tc>
                  <a:txBody>
                    <a:bodyPr/>
                    <a:lstStyle/>
                    <a:p>
                      <a:r>
                        <a:rPr lang="en-US" sz="800" dirty="0"/>
                        <a:t>115</a:t>
                      </a:r>
                      <a:endParaRPr lang="en-PK" sz="800" dirty="0"/>
                    </a:p>
                  </a:txBody>
                  <a:tcPr>
                    <a:solidFill>
                      <a:schemeClr val="accent4">
                        <a:lumMod val="75000"/>
                      </a:schemeClr>
                    </a:solidFill>
                  </a:tcPr>
                </a:tc>
                <a:tc>
                  <a:txBody>
                    <a:bodyPr/>
                    <a:lstStyle/>
                    <a:p>
                      <a:r>
                        <a:rPr lang="en-US" sz="800" dirty="0"/>
                        <a:t>…</a:t>
                      </a:r>
                      <a:endParaRPr lang="en-PK" sz="800" dirty="0"/>
                    </a:p>
                  </a:txBody>
                  <a:tcPr>
                    <a:solidFill>
                      <a:srgbClr val="92D050"/>
                    </a:solidFill>
                  </a:tcPr>
                </a:tc>
                <a:tc>
                  <a:txBody>
                    <a:bodyPr/>
                    <a:lstStyle/>
                    <a:p>
                      <a:r>
                        <a:rPr lang="en-US" sz="800" dirty="0"/>
                        <a:t>…</a:t>
                      </a:r>
                      <a:endParaRPr lang="en-PK" sz="800" dirty="0"/>
                    </a:p>
                  </a:txBody>
                  <a:tcPr>
                    <a:solidFill>
                      <a:srgbClr val="92D050"/>
                    </a:solidFill>
                  </a:tcPr>
                </a:tc>
                <a:tc>
                  <a:txBody>
                    <a:bodyPr/>
                    <a:lstStyle/>
                    <a:p>
                      <a:r>
                        <a:rPr lang="en-US" sz="800" dirty="0"/>
                        <a:t>…</a:t>
                      </a:r>
                      <a:endParaRPr lang="en-PK" sz="800" dirty="0"/>
                    </a:p>
                  </a:txBody>
                  <a:tcPr>
                    <a:solidFill>
                      <a:srgbClr val="92D050"/>
                    </a:solidFill>
                  </a:tcPr>
                </a:tc>
                <a:tc>
                  <a:txBody>
                    <a:bodyPr/>
                    <a:lstStyle/>
                    <a:p>
                      <a:r>
                        <a:rPr lang="en-US" sz="800" dirty="0"/>
                        <a:t>…</a:t>
                      </a:r>
                      <a:endParaRPr lang="en-PK" sz="800" dirty="0"/>
                    </a:p>
                  </a:txBody>
                  <a:tcPr>
                    <a:solidFill>
                      <a:srgbClr val="92D050"/>
                    </a:solidFill>
                  </a:tcPr>
                </a:tc>
                <a:tc>
                  <a:txBody>
                    <a:bodyPr/>
                    <a:lstStyle/>
                    <a:p>
                      <a:r>
                        <a:rPr lang="en-US" sz="800" dirty="0"/>
                        <a:t>121</a:t>
                      </a:r>
                      <a:endParaRPr lang="en-PK" sz="800" dirty="0"/>
                    </a:p>
                  </a:txBody>
                  <a:tcPr>
                    <a:solidFill>
                      <a:schemeClr val="accent4"/>
                    </a:solidFill>
                  </a:tcPr>
                </a:tc>
                <a:tc>
                  <a:txBody>
                    <a:bodyPr/>
                    <a:lstStyle/>
                    <a:p>
                      <a:r>
                        <a:rPr lang="en-US" sz="800" dirty="0"/>
                        <a:t>122</a:t>
                      </a:r>
                      <a:endParaRPr lang="en-PK" sz="800" dirty="0"/>
                    </a:p>
                  </a:txBody>
                  <a:tcPr>
                    <a:solidFill>
                      <a:schemeClr val="accent4"/>
                    </a:solidFill>
                  </a:tcPr>
                </a:tc>
                <a:tc>
                  <a:txBody>
                    <a:bodyPr/>
                    <a:lstStyle/>
                    <a:p>
                      <a:r>
                        <a:rPr lang="en-US" sz="800" dirty="0"/>
                        <a:t>123</a:t>
                      </a:r>
                      <a:endParaRPr lang="en-PK" sz="800" dirty="0"/>
                    </a:p>
                  </a:txBody>
                  <a:tcPr>
                    <a:solidFill>
                      <a:schemeClr val="accent4"/>
                    </a:solidFill>
                  </a:tcPr>
                </a:tc>
                <a:tc>
                  <a:txBody>
                    <a:bodyPr/>
                    <a:lstStyle/>
                    <a:p>
                      <a:r>
                        <a:rPr lang="en-US" sz="800" dirty="0"/>
                        <a:t>124</a:t>
                      </a:r>
                      <a:endParaRPr lang="en-PK" sz="800" dirty="0"/>
                    </a:p>
                  </a:txBody>
                  <a:tcPr>
                    <a:solidFill>
                      <a:schemeClr val="accent4"/>
                    </a:solidFill>
                  </a:tcPr>
                </a:tc>
                <a:tc>
                  <a:txBody>
                    <a:bodyPr/>
                    <a:lstStyle/>
                    <a:p>
                      <a:r>
                        <a:rPr lang="en-US" sz="800" dirty="0"/>
                        <a:t>…</a:t>
                      </a:r>
                      <a:endParaRPr lang="en-PK" sz="800" dirty="0"/>
                    </a:p>
                  </a:txBody>
                  <a:tcPr>
                    <a:solidFill>
                      <a:schemeClr val="accent1">
                        <a:lumMod val="75000"/>
                      </a:schemeClr>
                    </a:solidFill>
                  </a:tcPr>
                </a:tc>
                <a:tc>
                  <a:txBody>
                    <a:bodyPr/>
                    <a:lstStyle/>
                    <a:p>
                      <a:r>
                        <a:rPr lang="en-US" sz="800" dirty="0"/>
                        <a:t>297</a:t>
                      </a:r>
                      <a:endParaRPr lang="en-PK" sz="800" dirty="0"/>
                    </a:p>
                  </a:txBody>
                  <a:tcPr>
                    <a:solidFill>
                      <a:schemeClr val="accent1">
                        <a:lumMod val="75000"/>
                      </a:schemeClr>
                    </a:solidFill>
                  </a:tcPr>
                </a:tc>
                <a:tc>
                  <a:txBody>
                    <a:bodyPr/>
                    <a:lstStyle/>
                    <a:p>
                      <a:r>
                        <a:rPr lang="en-US" sz="800" dirty="0"/>
                        <a:t>298</a:t>
                      </a:r>
                      <a:endParaRPr lang="en-PK" sz="800" dirty="0"/>
                    </a:p>
                  </a:txBody>
                  <a:tcPr>
                    <a:solidFill>
                      <a:schemeClr val="accent1">
                        <a:lumMod val="75000"/>
                      </a:schemeClr>
                    </a:solidFill>
                  </a:tcPr>
                </a:tc>
                <a:tc>
                  <a:txBody>
                    <a:bodyPr/>
                    <a:lstStyle/>
                    <a:p>
                      <a:r>
                        <a:rPr lang="en-US" sz="800" dirty="0"/>
                        <a:t>299</a:t>
                      </a:r>
                      <a:endParaRPr lang="en-PK" sz="800" dirty="0"/>
                    </a:p>
                  </a:txBody>
                  <a:tcPr>
                    <a:solidFill>
                      <a:schemeClr val="accent1">
                        <a:lumMod val="75000"/>
                      </a:schemeClr>
                    </a:solidFill>
                  </a:tcPr>
                </a:tc>
                <a:tc>
                  <a:txBody>
                    <a:bodyPr/>
                    <a:lstStyle/>
                    <a:p>
                      <a:r>
                        <a:rPr lang="en-US" sz="800" dirty="0"/>
                        <a:t>…</a:t>
                      </a:r>
                      <a:endParaRPr lang="en-PK" sz="800" dirty="0"/>
                    </a:p>
                  </a:txBody>
                  <a:tcPr/>
                </a:tc>
                <a:tc>
                  <a:txBody>
                    <a:bodyPr/>
                    <a:lstStyle/>
                    <a:p>
                      <a:r>
                        <a:rPr lang="en-US" sz="800" dirty="0"/>
                        <a:t>…</a:t>
                      </a:r>
                      <a:endParaRPr lang="en-PK" sz="800" dirty="0"/>
                    </a:p>
                  </a:txBody>
                  <a:tcPr/>
                </a:tc>
                <a:extLst>
                  <a:ext uri="{0D108BD9-81ED-4DB2-BD59-A6C34878D82A}">
                    <a16:rowId xmlns:a16="http://schemas.microsoft.com/office/drawing/2014/main" val="1326620274"/>
                  </a:ext>
                </a:extLst>
              </a:tr>
            </a:tbl>
          </a:graphicData>
        </a:graphic>
      </p:graphicFrame>
      <p:sp>
        <p:nvSpPr>
          <p:cNvPr id="56" name="TextBox 55">
            <a:extLst>
              <a:ext uri="{FF2B5EF4-FFF2-40B4-BE49-F238E27FC236}">
                <a16:creationId xmlns:a16="http://schemas.microsoft.com/office/drawing/2014/main" id="{A7392B86-6BE4-44C9-8723-9BF8E5632AF6}"/>
              </a:ext>
            </a:extLst>
          </p:cNvPr>
          <p:cNvSpPr txBox="1"/>
          <p:nvPr/>
        </p:nvSpPr>
        <p:spPr>
          <a:xfrm>
            <a:off x="469133" y="4218756"/>
            <a:ext cx="486030" cy="369332"/>
          </a:xfrm>
          <a:prstGeom prst="rect">
            <a:avLst/>
          </a:prstGeom>
          <a:noFill/>
        </p:spPr>
        <p:txBody>
          <a:bodyPr wrap="square" rtlCol="0">
            <a:spAutoFit/>
          </a:bodyPr>
          <a:lstStyle/>
          <a:p>
            <a:r>
              <a:rPr lang="en-US" dirty="0"/>
              <a:t>A =</a:t>
            </a:r>
            <a:endParaRPr lang="en-PK" dirty="0"/>
          </a:p>
        </p:txBody>
      </p:sp>
      <p:sp>
        <p:nvSpPr>
          <p:cNvPr id="57" name="TextBox 56">
            <a:extLst>
              <a:ext uri="{FF2B5EF4-FFF2-40B4-BE49-F238E27FC236}">
                <a16:creationId xmlns:a16="http://schemas.microsoft.com/office/drawing/2014/main" id="{3CA8CE3D-F23D-4D94-BC53-23F7913158F5}"/>
              </a:ext>
            </a:extLst>
          </p:cNvPr>
          <p:cNvSpPr txBox="1"/>
          <p:nvPr/>
        </p:nvSpPr>
        <p:spPr>
          <a:xfrm>
            <a:off x="4409653" y="4590515"/>
            <a:ext cx="401072" cy="261610"/>
          </a:xfrm>
          <a:prstGeom prst="rect">
            <a:avLst/>
          </a:prstGeom>
          <a:noFill/>
        </p:spPr>
        <p:txBody>
          <a:bodyPr wrap="none" rtlCol="0">
            <a:spAutoFit/>
          </a:bodyPr>
          <a:lstStyle/>
          <a:p>
            <a:r>
              <a:rPr lang="en-US" sz="1100" b="1" dirty="0"/>
              <a:t>112</a:t>
            </a:r>
            <a:endParaRPr lang="en-PK" b="1" dirty="0"/>
          </a:p>
        </p:txBody>
      </p:sp>
      <p:sp>
        <p:nvSpPr>
          <p:cNvPr id="58" name="TextBox 57">
            <a:extLst>
              <a:ext uri="{FF2B5EF4-FFF2-40B4-BE49-F238E27FC236}">
                <a16:creationId xmlns:a16="http://schemas.microsoft.com/office/drawing/2014/main" id="{E6FDCE8D-6A43-4B00-9944-D2DF5C1B2E5B}"/>
              </a:ext>
            </a:extLst>
          </p:cNvPr>
          <p:cNvSpPr txBox="1"/>
          <p:nvPr/>
        </p:nvSpPr>
        <p:spPr>
          <a:xfrm>
            <a:off x="966433" y="4581643"/>
            <a:ext cx="401072" cy="261610"/>
          </a:xfrm>
          <a:prstGeom prst="rect">
            <a:avLst/>
          </a:prstGeom>
          <a:noFill/>
        </p:spPr>
        <p:txBody>
          <a:bodyPr wrap="none" rtlCol="0">
            <a:spAutoFit/>
          </a:bodyPr>
          <a:lstStyle/>
          <a:p>
            <a:r>
              <a:rPr lang="en-US" sz="1100" b="1" dirty="0"/>
              <a:t>100</a:t>
            </a:r>
            <a:endParaRPr lang="en-PK" b="1" dirty="0"/>
          </a:p>
        </p:txBody>
      </p:sp>
      <p:sp>
        <p:nvSpPr>
          <p:cNvPr id="59" name="TextBox 58">
            <a:extLst>
              <a:ext uri="{FF2B5EF4-FFF2-40B4-BE49-F238E27FC236}">
                <a16:creationId xmlns:a16="http://schemas.microsoft.com/office/drawing/2014/main" id="{41BEFE3B-7E16-41A0-AC64-05C6E14262E8}"/>
              </a:ext>
            </a:extLst>
          </p:cNvPr>
          <p:cNvSpPr txBox="1"/>
          <p:nvPr/>
        </p:nvSpPr>
        <p:spPr>
          <a:xfrm>
            <a:off x="2081113" y="4581643"/>
            <a:ext cx="401072" cy="261610"/>
          </a:xfrm>
          <a:prstGeom prst="rect">
            <a:avLst/>
          </a:prstGeom>
          <a:noFill/>
        </p:spPr>
        <p:txBody>
          <a:bodyPr wrap="none" rtlCol="0">
            <a:spAutoFit/>
          </a:bodyPr>
          <a:lstStyle/>
          <a:p>
            <a:r>
              <a:rPr lang="en-US" sz="1100" b="1" dirty="0"/>
              <a:t>104</a:t>
            </a:r>
            <a:endParaRPr lang="en-PK" b="1" dirty="0"/>
          </a:p>
        </p:txBody>
      </p:sp>
      <p:sp>
        <p:nvSpPr>
          <p:cNvPr id="60" name="TextBox 59">
            <a:extLst>
              <a:ext uri="{FF2B5EF4-FFF2-40B4-BE49-F238E27FC236}">
                <a16:creationId xmlns:a16="http://schemas.microsoft.com/office/drawing/2014/main" id="{0AA29965-49AE-4F7F-84BE-4BF5C09D3053}"/>
              </a:ext>
            </a:extLst>
          </p:cNvPr>
          <p:cNvSpPr txBox="1"/>
          <p:nvPr/>
        </p:nvSpPr>
        <p:spPr>
          <a:xfrm>
            <a:off x="3247697" y="4638735"/>
            <a:ext cx="401072" cy="261610"/>
          </a:xfrm>
          <a:prstGeom prst="rect">
            <a:avLst/>
          </a:prstGeom>
          <a:noFill/>
        </p:spPr>
        <p:txBody>
          <a:bodyPr wrap="none" rtlCol="0">
            <a:spAutoFit/>
          </a:bodyPr>
          <a:lstStyle/>
          <a:p>
            <a:r>
              <a:rPr lang="en-US" sz="1100" b="1" dirty="0"/>
              <a:t>108</a:t>
            </a:r>
            <a:endParaRPr lang="en-PK" b="1" dirty="0"/>
          </a:p>
        </p:txBody>
      </p:sp>
      <p:sp>
        <p:nvSpPr>
          <p:cNvPr id="61" name="TextBox 60">
            <a:extLst>
              <a:ext uri="{FF2B5EF4-FFF2-40B4-BE49-F238E27FC236}">
                <a16:creationId xmlns:a16="http://schemas.microsoft.com/office/drawing/2014/main" id="{1868C269-7DFB-4CD5-801C-977D75C4D8CC}"/>
              </a:ext>
            </a:extLst>
          </p:cNvPr>
          <p:cNvSpPr txBox="1"/>
          <p:nvPr/>
        </p:nvSpPr>
        <p:spPr>
          <a:xfrm>
            <a:off x="5589937" y="4610374"/>
            <a:ext cx="401072" cy="261610"/>
          </a:xfrm>
          <a:prstGeom prst="rect">
            <a:avLst/>
          </a:prstGeom>
          <a:noFill/>
        </p:spPr>
        <p:txBody>
          <a:bodyPr wrap="none" rtlCol="0">
            <a:spAutoFit/>
          </a:bodyPr>
          <a:lstStyle/>
          <a:p>
            <a:r>
              <a:rPr lang="en-US" sz="1100" b="1" dirty="0"/>
              <a:t>116</a:t>
            </a:r>
          </a:p>
        </p:txBody>
      </p:sp>
      <p:cxnSp>
        <p:nvCxnSpPr>
          <p:cNvPr id="67" name="Straight Arrow Connector 66">
            <a:extLst>
              <a:ext uri="{FF2B5EF4-FFF2-40B4-BE49-F238E27FC236}">
                <a16:creationId xmlns:a16="http://schemas.microsoft.com/office/drawing/2014/main" id="{3FC4134D-2B24-44CF-B294-09F1434464E0}"/>
              </a:ext>
            </a:extLst>
          </p:cNvPr>
          <p:cNvCxnSpPr/>
          <p:nvPr/>
        </p:nvCxnSpPr>
        <p:spPr>
          <a:xfrm flipV="1">
            <a:off x="1031259" y="4681588"/>
            <a:ext cx="541283" cy="8359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53A12071-DE65-4802-BDB0-F5B9FA2CBEB5}"/>
              </a:ext>
            </a:extLst>
          </p:cNvPr>
          <p:cNvCxnSpPr/>
          <p:nvPr/>
        </p:nvCxnSpPr>
        <p:spPr>
          <a:xfrm flipV="1">
            <a:off x="2278495" y="4658220"/>
            <a:ext cx="541283" cy="8359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7331AD50-1DF1-428A-B666-D1FDBDA0A917}"/>
              </a:ext>
            </a:extLst>
          </p:cNvPr>
          <p:cNvCxnSpPr/>
          <p:nvPr/>
        </p:nvCxnSpPr>
        <p:spPr>
          <a:xfrm flipV="1">
            <a:off x="3678384" y="4637032"/>
            <a:ext cx="541283" cy="8359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BB5E03CC-91EB-4F44-AD61-786414492D30}"/>
              </a:ext>
            </a:extLst>
          </p:cNvPr>
          <p:cNvCxnSpPr>
            <a:cxnSpLocks/>
          </p:cNvCxnSpPr>
          <p:nvPr/>
        </p:nvCxnSpPr>
        <p:spPr>
          <a:xfrm flipV="1">
            <a:off x="5091509" y="4607904"/>
            <a:ext cx="294742" cy="9643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CA5BF478-1F25-4A20-BE17-F155EA9D474D}"/>
              </a:ext>
            </a:extLst>
          </p:cNvPr>
          <p:cNvCxnSpPr/>
          <p:nvPr/>
        </p:nvCxnSpPr>
        <p:spPr>
          <a:xfrm flipV="1">
            <a:off x="5896830" y="4658220"/>
            <a:ext cx="541283" cy="8359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77" name="Table 77">
            <a:extLst>
              <a:ext uri="{FF2B5EF4-FFF2-40B4-BE49-F238E27FC236}">
                <a16:creationId xmlns:a16="http://schemas.microsoft.com/office/drawing/2014/main" id="{36DC07F8-A5F7-44CF-8D00-2E5E7760C81B}"/>
              </a:ext>
            </a:extLst>
          </p:cNvPr>
          <p:cNvGraphicFramePr>
            <a:graphicFrameLocks noGrp="1"/>
          </p:cNvGraphicFramePr>
          <p:nvPr/>
        </p:nvGraphicFramePr>
        <p:xfrm>
          <a:off x="1166969" y="4239534"/>
          <a:ext cx="9403688" cy="370840"/>
        </p:xfrm>
        <a:graphic>
          <a:graphicData uri="http://schemas.openxmlformats.org/drawingml/2006/table">
            <a:tbl>
              <a:tblPr firstRow="1" bandRow="1"/>
              <a:tblGrid>
                <a:gridCol w="1175461">
                  <a:extLst>
                    <a:ext uri="{9D8B030D-6E8A-4147-A177-3AD203B41FA5}">
                      <a16:colId xmlns:a16="http://schemas.microsoft.com/office/drawing/2014/main" val="2359153295"/>
                    </a:ext>
                  </a:extLst>
                </a:gridCol>
                <a:gridCol w="1175461">
                  <a:extLst>
                    <a:ext uri="{9D8B030D-6E8A-4147-A177-3AD203B41FA5}">
                      <a16:colId xmlns:a16="http://schemas.microsoft.com/office/drawing/2014/main" val="3118448267"/>
                    </a:ext>
                  </a:extLst>
                </a:gridCol>
                <a:gridCol w="1175461">
                  <a:extLst>
                    <a:ext uri="{9D8B030D-6E8A-4147-A177-3AD203B41FA5}">
                      <a16:colId xmlns:a16="http://schemas.microsoft.com/office/drawing/2014/main" val="3631139543"/>
                    </a:ext>
                  </a:extLst>
                </a:gridCol>
                <a:gridCol w="1175461">
                  <a:extLst>
                    <a:ext uri="{9D8B030D-6E8A-4147-A177-3AD203B41FA5}">
                      <a16:colId xmlns:a16="http://schemas.microsoft.com/office/drawing/2014/main" val="115813875"/>
                    </a:ext>
                  </a:extLst>
                </a:gridCol>
                <a:gridCol w="1175461">
                  <a:extLst>
                    <a:ext uri="{9D8B030D-6E8A-4147-A177-3AD203B41FA5}">
                      <a16:colId xmlns:a16="http://schemas.microsoft.com/office/drawing/2014/main" val="190234865"/>
                    </a:ext>
                  </a:extLst>
                </a:gridCol>
                <a:gridCol w="1175461">
                  <a:extLst>
                    <a:ext uri="{9D8B030D-6E8A-4147-A177-3AD203B41FA5}">
                      <a16:colId xmlns:a16="http://schemas.microsoft.com/office/drawing/2014/main" val="2497343601"/>
                    </a:ext>
                  </a:extLst>
                </a:gridCol>
                <a:gridCol w="1175461">
                  <a:extLst>
                    <a:ext uri="{9D8B030D-6E8A-4147-A177-3AD203B41FA5}">
                      <a16:colId xmlns:a16="http://schemas.microsoft.com/office/drawing/2014/main" val="3599792360"/>
                    </a:ext>
                  </a:extLst>
                </a:gridCol>
                <a:gridCol w="1175461">
                  <a:extLst>
                    <a:ext uri="{9D8B030D-6E8A-4147-A177-3AD203B41FA5}">
                      <a16:colId xmlns:a16="http://schemas.microsoft.com/office/drawing/2014/main" val="472886623"/>
                    </a:ext>
                  </a:extLst>
                </a:gridCol>
              </a:tblGrid>
              <a:tr h="370840">
                <a:tc>
                  <a:txBody>
                    <a:bodyPr/>
                    <a:lstStyle/>
                    <a:p>
                      <a:r>
                        <a:rPr lang="en-US" dirty="0"/>
                        <a:t>6</a:t>
                      </a:r>
                      <a:endParaRPr lang="en-PK" dirty="0"/>
                    </a:p>
                  </a:txBody>
                  <a:tcPr/>
                </a:tc>
                <a:tc>
                  <a:txBody>
                    <a:bodyPr/>
                    <a:lstStyle/>
                    <a:p>
                      <a:r>
                        <a:rPr lang="en-US" dirty="0"/>
                        <a:t>2</a:t>
                      </a:r>
                      <a:endParaRPr lang="en-PK" dirty="0"/>
                    </a:p>
                  </a:txBody>
                  <a:tcPr/>
                </a:tc>
                <a:tc>
                  <a:txBody>
                    <a:bodyPr/>
                    <a:lstStyle/>
                    <a:p>
                      <a:r>
                        <a:rPr lang="en-US" dirty="0"/>
                        <a:t>0</a:t>
                      </a:r>
                      <a:endParaRPr lang="en-PK" dirty="0"/>
                    </a:p>
                  </a:txBody>
                  <a:tcPr/>
                </a:tc>
                <a:tc>
                  <a:txBody>
                    <a:bodyPr/>
                    <a:lstStyle/>
                    <a:p>
                      <a:r>
                        <a:rPr lang="en-US" dirty="0"/>
                        <a:t>4</a:t>
                      </a:r>
                      <a:endParaRPr lang="en-PK" dirty="0"/>
                    </a:p>
                  </a:txBody>
                  <a:tcPr/>
                </a:tc>
                <a:tc>
                  <a:txBody>
                    <a:bodyPr/>
                    <a:lstStyle/>
                    <a:p>
                      <a:r>
                        <a:rPr lang="en-US" dirty="0"/>
                        <a:t>5</a:t>
                      </a:r>
                      <a:endParaRPr lang="en-PK" dirty="0"/>
                    </a:p>
                  </a:txBody>
                  <a:tcPr/>
                </a:tc>
                <a:tc>
                  <a:txBody>
                    <a:bodyPr/>
                    <a:lstStyle/>
                    <a:p>
                      <a:r>
                        <a:rPr lang="en-US" dirty="0"/>
                        <a:t>….</a:t>
                      </a:r>
                      <a:endParaRPr lang="en-PK" dirty="0"/>
                    </a:p>
                  </a:txBody>
                  <a:tcPr/>
                </a:tc>
                <a:tc>
                  <a:txBody>
                    <a:bodyPr/>
                    <a:lstStyle/>
                    <a:p>
                      <a:r>
                        <a:rPr lang="en-US" dirty="0"/>
                        <a:t>…</a:t>
                      </a:r>
                      <a:endParaRPr lang="en-PK" dirty="0"/>
                    </a:p>
                  </a:txBody>
                  <a:tcPr/>
                </a:tc>
                <a:tc>
                  <a:txBody>
                    <a:bodyPr/>
                    <a:lstStyle/>
                    <a:p>
                      <a:r>
                        <a:rPr lang="en-US" dirty="0"/>
                        <a:t>….</a:t>
                      </a:r>
                      <a:endParaRPr lang="en-PK" dirty="0"/>
                    </a:p>
                  </a:txBody>
                  <a:tcPr/>
                </a:tc>
                <a:extLst>
                  <a:ext uri="{0D108BD9-81ED-4DB2-BD59-A6C34878D82A}">
                    <a16:rowId xmlns:a16="http://schemas.microsoft.com/office/drawing/2014/main" val="80820361"/>
                  </a:ext>
                </a:extLst>
              </a:tr>
            </a:tbl>
          </a:graphicData>
        </a:graphic>
      </p:graphicFrame>
      <p:sp>
        <p:nvSpPr>
          <p:cNvPr id="78" name="TextBox 77">
            <a:extLst>
              <a:ext uri="{FF2B5EF4-FFF2-40B4-BE49-F238E27FC236}">
                <a16:creationId xmlns:a16="http://schemas.microsoft.com/office/drawing/2014/main" id="{CC8C52CE-2328-4E76-9F0E-69B8E5642526}"/>
              </a:ext>
            </a:extLst>
          </p:cNvPr>
          <p:cNvSpPr txBox="1"/>
          <p:nvPr/>
        </p:nvSpPr>
        <p:spPr>
          <a:xfrm>
            <a:off x="1587305" y="3798988"/>
            <a:ext cx="301686" cy="369332"/>
          </a:xfrm>
          <a:prstGeom prst="rect">
            <a:avLst/>
          </a:prstGeom>
          <a:noFill/>
        </p:spPr>
        <p:txBody>
          <a:bodyPr wrap="none" rtlCol="0">
            <a:spAutoFit/>
          </a:bodyPr>
          <a:lstStyle/>
          <a:p>
            <a:r>
              <a:rPr lang="en-US" dirty="0"/>
              <a:t>0</a:t>
            </a:r>
            <a:endParaRPr lang="en-PK" dirty="0"/>
          </a:p>
        </p:txBody>
      </p:sp>
      <p:sp>
        <p:nvSpPr>
          <p:cNvPr id="79" name="TextBox 78">
            <a:extLst>
              <a:ext uri="{FF2B5EF4-FFF2-40B4-BE49-F238E27FC236}">
                <a16:creationId xmlns:a16="http://schemas.microsoft.com/office/drawing/2014/main" id="{C9809C69-2180-481F-A060-9BBF958A81BE}"/>
              </a:ext>
            </a:extLst>
          </p:cNvPr>
          <p:cNvSpPr txBox="1"/>
          <p:nvPr/>
        </p:nvSpPr>
        <p:spPr>
          <a:xfrm>
            <a:off x="2708983" y="3744968"/>
            <a:ext cx="301686" cy="369332"/>
          </a:xfrm>
          <a:prstGeom prst="rect">
            <a:avLst/>
          </a:prstGeom>
          <a:noFill/>
        </p:spPr>
        <p:txBody>
          <a:bodyPr wrap="none" rtlCol="0">
            <a:spAutoFit/>
          </a:bodyPr>
          <a:lstStyle/>
          <a:p>
            <a:r>
              <a:rPr lang="en-US" dirty="0"/>
              <a:t>1</a:t>
            </a:r>
            <a:endParaRPr lang="en-PK" dirty="0"/>
          </a:p>
        </p:txBody>
      </p:sp>
      <p:sp>
        <p:nvSpPr>
          <p:cNvPr id="80" name="TextBox 79">
            <a:extLst>
              <a:ext uri="{FF2B5EF4-FFF2-40B4-BE49-F238E27FC236}">
                <a16:creationId xmlns:a16="http://schemas.microsoft.com/office/drawing/2014/main" id="{1276D3FE-903A-41A9-B03B-E968457397B5}"/>
              </a:ext>
            </a:extLst>
          </p:cNvPr>
          <p:cNvSpPr txBox="1"/>
          <p:nvPr/>
        </p:nvSpPr>
        <p:spPr>
          <a:xfrm>
            <a:off x="4002363" y="3759256"/>
            <a:ext cx="301686" cy="369332"/>
          </a:xfrm>
          <a:prstGeom prst="rect">
            <a:avLst/>
          </a:prstGeom>
          <a:noFill/>
        </p:spPr>
        <p:txBody>
          <a:bodyPr wrap="none" rtlCol="0">
            <a:spAutoFit/>
          </a:bodyPr>
          <a:lstStyle/>
          <a:p>
            <a:r>
              <a:rPr lang="en-US" dirty="0"/>
              <a:t>2</a:t>
            </a:r>
            <a:endParaRPr lang="en-PK" dirty="0"/>
          </a:p>
        </p:txBody>
      </p:sp>
      <p:sp>
        <p:nvSpPr>
          <p:cNvPr id="81" name="TextBox 80">
            <a:extLst>
              <a:ext uri="{FF2B5EF4-FFF2-40B4-BE49-F238E27FC236}">
                <a16:creationId xmlns:a16="http://schemas.microsoft.com/office/drawing/2014/main" id="{D9B86AB6-DC79-4CAD-843B-FA637A69B086}"/>
              </a:ext>
            </a:extLst>
          </p:cNvPr>
          <p:cNvSpPr txBox="1"/>
          <p:nvPr/>
        </p:nvSpPr>
        <p:spPr>
          <a:xfrm>
            <a:off x="5185982" y="3793402"/>
            <a:ext cx="301686" cy="369332"/>
          </a:xfrm>
          <a:prstGeom prst="rect">
            <a:avLst/>
          </a:prstGeom>
          <a:noFill/>
        </p:spPr>
        <p:txBody>
          <a:bodyPr wrap="none" rtlCol="0">
            <a:spAutoFit/>
          </a:bodyPr>
          <a:lstStyle/>
          <a:p>
            <a:r>
              <a:rPr lang="en-US" dirty="0"/>
              <a:t>3</a:t>
            </a:r>
            <a:endParaRPr lang="en-PK" dirty="0"/>
          </a:p>
        </p:txBody>
      </p:sp>
      <p:sp>
        <p:nvSpPr>
          <p:cNvPr id="82" name="TextBox 81">
            <a:extLst>
              <a:ext uri="{FF2B5EF4-FFF2-40B4-BE49-F238E27FC236}">
                <a16:creationId xmlns:a16="http://schemas.microsoft.com/office/drawing/2014/main" id="{678AE0A0-195E-453A-A524-11C304AA4F5C}"/>
              </a:ext>
            </a:extLst>
          </p:cNvPr>
          <p:cNvSpPr txBox="1"/>
          <p:nvPr/>
        </p:nvSpPr>
        <p:spPr>
          <a:xfrm>
            <a:off x="6256131" y="3750788"/>
            <a:ext cx="301686" cy="369332"/>
          </a:xfrm>
          <a:prstGeom prst="rect">
            <a:avLst/>
          </a:prstGeom>
          <a:noFill/>
        </p:spPr>
        <p:txBody>
          <a:bodyPr wrap="none" rtlCol="0">
            <a:spAutoFit/>
          </a:bodyPr>
          <a:lstStyle/>
          <a:p>
            <a:r>
              <a:rPr lang="en-US" dirty="0"/>
              <a:t>4</a:t>
            </a:r>
            <a:endParaRPr lang="en-PK" dirty="0"/>
          </a:p>
        </p:txBody>
      </p:sp>
      <p:sp>
        <p:nvSpPr>
          <p:cNvPr id="83" name="TextBox 82">
            <a:extLst>
              <a:ext uri="{FF2B5EF4-FFF2-40B4-BE49-F238E27FC236}">
                <a16:creationId xmlns:a16="http://schemas.microsoft.com/office/drawing/2014/main" id="{90F47B54-CC28-44A3-934C-4C2627FA8177}"/>
              </a:ext>
            </a:extLst>
          </p:cNvPr>
          <p:cNvSpPr txBox="1"/>
          <p:nvPr/>
        </p:nvSpPr>
        <p:spPr>
          <a:xfrm>
            <a:off x="7364315" y="3744968"/>
            <a:ext cx="301686" cy="369332"/>
          </a:xfrm>
          <a:prstGeom prst="rect">
            <a:avLst/>
          </a:prstGeom>
          <a:noFill/>
        </p:spPr>
        <p:txBody>
          <a:bodyPr wrap="none" rtlCol="0">
            <a:spAutoFit/>
          </a:bodyPr>
          <a:lstStyle/>
          <a:p>
            <a:r>
              <a:rPr lang="en-US" dirty="0"/>
              <a:t>5</a:t>
            </a:r>
            <a:endParaRPr lang="en-PK" dirty="0"/>
          </a:p>
        </p:txBody>
      </p:sp>
      <p:sp>
        <p:nvSpPr>
          <p:cNvPr id="84" name="TextBox 83">
            <a:extLst>
              <a:ext uri="{FF2B5EF4-FFF2-40B4-BE49-F238E27FC236}">
                <a16:creationId xmlns:a16="http://schemas.microsoft.com/office/drawing/2014/main" id="{02FBE406-BBDB-49AC-A0C8-6740F500B86A}"/>
              </a:ext>
            </a:extLst>
          </p:cNvPr>
          <p:cNvSpPr txBox="1"/>
          <p:nvPr/>
        </p:nvSpPr>
        <p:spPr>
          <a:xfrm>
            <a:off x="9841168" y="3759256"/>
            <a:ext cx="418704" cy="369332"/>
          </a:xfrm>
          <a:prstGeom prst="rect">
            <a:avLst/>
          </a:prstGeom>
          <a:noFill/>
        </p:spPr>
        <p:txBody>
          <a:bodyPr wrap="none" rtlCol="0">
            <a:spAutoFit/>
          </a:bodyPr>
          <a:lstStyle/>
          <a:p>
            <a:r>
              <a:rPr lang="en-US" dirty="0"/>
              <a:t>49</a:t>
            </a:r>
            <a:endParaRPr lang="en-PK" dirty="0"/>
          </a:p>
        </p:txBody>
      </p:sp>
      <p:sp>
        <p:nvSpPr>
          <p:cNvPr id="85" name="TextBox 84">
            <a:extLst>
              <a:ext uri="{FF2B5EF4-FFF2-40B4-BE49-F238E27FC236}">
                <a16:creationId xmlns:a16="http://schemas.microsoft.com/office/drawing/2014/main" id="{5105DB7D-3E9B-4919-9304-C8C070ABBFE7}"/>
              </a:ext>
            </a:extLst>
          </p:cNvPr>
          <p:cNvSpPr txBox="1"/>
          <p:nvPr/>
        </p:nvSpPr>
        <p:spPr>
          <a:xfrm>
            <a:off x="6790684" y="4638735"/>
            <a:ext cx="285656" cy="261610"/>
          </a:xfrm>
          <a:prstGeom prst="rect">
            <a:avLst/>
          </a:prstGeom>
          <a:noFill/>
        </p:spPr>
        <p:txBody>
          <a:bodyPr wrap="none" rtlCol="0">
            <a:spAutoFit/>
          </a:bodyPr>
          <a:lstStyle/>
          <a:p>
            <a:r>
              <a:rPr lang="en-US" sz="1100" b="1" dirty="0"/>
              <a:t>…</a:t>
            </a:r>
          </a:p>
        </p:txBody>
      </p:sp>
      <p:sp>
        <p:nvSpPr>
          <p:cNvPr id="86" name="TextBox 85">
            <a:extLst>
              <a:ext uri="{FF2B5EF4-FFF2-40B4-BE49-F238E27FC236}">
                <a16:creationId xmlns:a16="http://schemas.microsoft.com/office/drawing/2014/main" id="{2E520052-0B8B-4DC5-85AE-C0628A7C3296}"/>
              </a:ext>
            </a:extLst>
          </p:cNvPr>
          <p:cNvSpPr txBox="1"/>
          <p:nvPr/>
        </p:nvSpPr>
        <p:spPr>
          <a:xfrm>
            <a:off x="7932177" y="4638735"/>
            <a:ext cx="285656" cy="261610"/>
          </a:xfrm>
          <a:prstGeom prst="rect">
            <a:avLst/>
          </a:prstGeom>
          <a:noFill/>
        </p:spPr>
        <p:txBody>
          <a:bodyPr wrap="none" rtlCol="0">
            <a:spAutoFit/>
          </a:bodyPr>
          <a:lstStyle/>
          <a:p>
            <a:r>
              <a:rPr lang="en-US" sz="1100" b="1" dirty="0"/>
              <a:t>…</a:t>
            </a:r>
          </a:p>
        </p:txBody>
      </p:sp>
      <p:sp>
        <p:nvSpPr>
          <p:cNvPr id="87" name="TextBox 86">
            <a:extLst>
              <a:ext uri="{FF2B5EF4-FFF2-40B4-BE49-F238E27FC236}">
                <a16:creationId xmlns:a16="http://schemas.microsoft.com/office/drawing/2014/main" id="{2D27C7ED-C859-4EA8-A2C9-D0CC10E0EFA9}"/>
              </a:ext>
            </a:extLst>
          </p:cNvPr>
          <p:cNvSpPr txBox="1"/>
          <p:nvPr/>
        </p:nvSpPr>
        <p:spPr>
          <a:xfrm>
            <a:off x="9053573" y="4638735"/>
            <a:ext cx="401072" cy="261610"/>
          </a:xfrm>
          <a:prstGeom prst="rect">
            <a:avLst/>
          </a:prstGeom>
          <a:noFill/>
        </p:spPr>
        <p:txBody>
          <a:bodyPr wrap="none" rtlCol="0">
            <a:spAutoFit/>
          </a:bodyPr>
          <a:lstStyle/>
          <a:p>
            <a:r>
              <a:rPr lang="en-US" sz="1100" b="1" dirty="0"/>
              <a:t>296</a:t>
            </a:r>
          </a:p>
        </p:txBody>
      </p:sp>
      <p:sp>
        <p:nvSpPr>
          <p:cNvPr id="93" name="TextBox 92">
            <a:extLst>
              <a:ext uri="{FF2B5EF4-FFF2-40B4-BE49-F238E27FC236}">
                <a16:creationId xmlns:a16="http://schemas.microsoft.com/office/drawing/2014/main" id="{D967A356-F685-41E4-9B96-ED9BC2F6F251}"/>
              </a:ext>
            </a:extLst>
          </p:cNvPr>
          <p:cNvSpPr txBox="1"/>
          <p:nvPr/>
        </p:nvSpPr>
        <p:spPr>
          <a:xfrm>
            <a:off x="6634480" y="397996"/>
            <a:ext cx="4885877" cy="2646878"/>
          </a:xfrm>
          <a:prstGeom prst="rect">
            <a:avLst/>
          </a:prstGeom>
          <a:noFill/>
        </p:spPr>
        <p:txBody>
          <a:bodyPr wrap="square" rtlCol="0">
            <a:spAutoFit/>
          </a:bodyPr>
          <a:lstStyle/>
          <a:p>
            <a:endParaRPr lang="en-US" dirty="0"/>
          </a:p>
          <a:p>
            <a:r>
              <a:rPr lang="en-US" sz="2000" b="1" dirty="0"/>
              <a:t>Program:</a:t>
            </a:r>
          </a:p>
          <a:p>
            <a:endParaRPr lang="en-US" sz="2000" b="1" dirty="0"/>
          </a:p>
          <a:p>
            <a:r>
              <a:rPr lang="en-US" dirty="0"/>
              <a:t>int a[50], size = 5, num = 10, pos =3</a:t>
            </a:r>
          </a:p>
          <a:p>
            <a:r>
              <a:rPr lang="en-US" dirty="0"/>
              <a:t>for(</a:t>
            </a:r>
            <a:r>
              <a:rPr lang="en-US" dirty="0" err="1"/>
              <a:t>i</a:t>
            </a:r>
            <a:r>
              <a:rPr lang="en-US" dirty="0"/>
              <a:t> = size -1 , </a:t>
            </a:r>
            <a:r>
              <a:rPr lang="en-US" dirty="0" err="1"/>
              <a:t>i</a:t>
            </a:r>
            <a:r>
              <a:rPr lang="en-US" dirty="0"/>
              <a:t> &gt; = pos -1 ;  </a:t>
            </a:r>
            <a:r>
              <a:rPr lang="en-US" dirty="0" err="1"/>
              <a:t>i</a:t>
            </a:r>
            <a:r>
              <a:rPr lang="en-US" dirty="0"/>
              <a:t>--){</a:t>
            </a:r>
          </a:p>
          <a:p>
            <a:r>
              <a:rPr lang="en-US" dirty="0" err="1"/>
              <a:t>System.out.print</a:t>
            </a:r>
            <a:r>
              <a:rPr lang="en-US" dirty="0"/>
              <a:t>(a[i+1] = a[</a:t>
            </a:r>
            <a:r>
              <a:rPr lang="en-US" dirty="0" err="1"/>
              <a:t>i</a:t>
            </a:r>
            <a:r>
              <a:rPr lang="en-US" dirty="0"/>
              <a:t>])</a:t>
            </a:r>
          </a:p>
          <a:p>
            <a:r>
              <a:rPr lang="en-US" dirty="0"/>
              <a:t>}</a:t>
            </a:r>
          </a:p>
          <a:p>
            <a:r>
              <a:rPr lang="en-US" dirty="0"/>
              <a:t>a[pos-1] = num</a:t>
            </a:r>
          </a:p>
          <a:p>
            <a:r>
              <a:rPr lang="en-US" dirty="0"/>
              <a:t>size++</a:t>
            </a:r>
          </a:p>
        </p:txBody>
      </p:sp>
      <p:cxnSp>
        <p:nvCxnSpPr>
          <p:cNvPr id="95" name="Straight Arrow Connector 94">
            <a:extLst>
              <a:ext uri="{FF2B5EF4-FFF2-40B4-BE49-F238E27FC236}">
                <a16:creationId xmlns:a16="http://schemas.microsoft.com/office/drawing/2014/main" id="{A971410B-60B2-43EE-88E5-795D1B112FF7}"/>
              </a:ext>
            </a:extLst>
          </p:cNvPr>
          <p:cNvCxnSpPr>
            <a:endCxn id="80" idx="0"/>
          </p:cNvCxnSpPr>
          <p:nvPr/>
        </p:nvCxnSpPr>
        <p:spPr>
          <a:xfrm>
            <a:off x="4153206" y="3248025"/>
            <a:ext cx="0" cy="511231"/>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2" name="Title 1">
            <a:extLst>
              <a:ext uri="{FF2B5EF4-FFF2-40B4-BE49-F238E27FC236}">
                <a16:creationId xmlns:a16="http://schemas.microsoft.com/office/drawing/2014/main" id="{0FDF626B-424E-4728-94C8-C87E0D03BF8C}"/>
              </a:ext>
            </a:extLst>
          </p:cNvPr>
          <p:cNvSpPr txBox="1">
            <a:spLocks/>
          </p:cNvSpPr>
          <p:nvPr/>
        </p:nvSpPr>
        <p:spPr>
          <a:xfrm>
            <a:off x="228600" y="114956"/>
            <a:ext cx="3520093" cy="56608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a:solidFill>
                  <a:schemeClr val="accent1">
                    <a:lumMod val="50000"/>
                  </a:schemeClr>
                </a:solidFill>
                <a:latin typeface="+mn-lt"/>
              </a:rPr>
              <a:t>Operations on array</a:t>
            </a:r>
            <a:endParaRPr lang="en-PK" sz="2800" b="1" dirty="0">
              <a:solidFill>
                <a:schemeClr val="accent1">
                  <a:lumMod val="50000"/>
                </a:schemeClr>
              </a:solidFill>
              <a:latin typeface="+mn-lt"/>
            </a:endParaRPr>
          </a:p>
        </p:txBody>
      </p:sp>
    </p:spTree>
    <p:extLst>
      <p:ext uri="{BB962C8B-B14F-4D97-AF65-F5344CB8AC3E}">
        <p14:creationId xmlns:p14="http://schemas.microsoft.com/office/powerpoint/2010/main" val="34615442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5D68AAC-34C2-4C32-9705-6DCA1763B611}"/>
              </a:ext>
            </a:extLst>
          </p:cNvPr>
          <p:cNvSpPr txBox="1"/>
          <p:nvPr/>
        </p:nvSpPr>
        <p:spPr>
          <a:xfrm>
            <a:off x="536027" y="681037"/>
            <a:ext cx="1213666" cy="400110"/>
          </a:xfrm>
          <a:prstGeom prst="rect">
            <a:avLst/>
          </a:prstGeom>
          <a:noFill/>
        </p:spPr>
        <p:txBody>
          <a:bodyPr wrap="none" rtlCol="0">
            <a:spAutoFit/>
          </a:bodyPr>
          <a:lstStyle/>
          <a:p>
            <a:r>
              <a:rPr lang="en-US" sz="2000" b="1" dirty="0"/>
              <a:t>- Deleting</a:t>
            </a:r>
            <a:endParaRPr lang="en-PK" sz="2000" b="1" dirty="0"/>
          </a:p>
        </p:txBody>
      </p:sp>
      <p:graphicFrame>
        <p:nvGraphicFramePr>
          <p:cNvPr id="54" name="Table 10">
            <a:extLst>
              <a:ext uri="{FF2B5EF4-FFF2-40B4-BE49-F238E27FC236}">
                <a16:creationId xmlns:a16="http://schemas.microsoft.com/office/drawing/2014/main" id="{A4C755B6-1E81-49F2-A121-DC4F98781A8A}"/>
              </a:ext>
            </a:extLst>
          </p:cNvPr>
          <p:cNvGraphicFramePr>
            <a:graphicFrameLocks noGrp="1"/>
          </p:cNvGraphicFramePr>
          <p:nvPr/>
        </p:nvGraphicFramePr>
        <p:xfrm>
          <a:off x="110360" y="5572251"/>
          <a:ext cx="11971279" cy="785292"/>
        </p:xfrm>
        <a:graphic>
          <a:graphicData uri="http://schemas.openxmlformats.org/drawingml/2006/table">
            <a:tbl>
              <a:tblPr firstRow="1" bandRow="1"/>
              <a:tblGrid>
                <a:gridCol w="336330">
                  <a:extLst>
                    <a:ext uri="{9D8B030D-6E8A-4147-A177-3AD203B41FA5}">
                      <a16:colId xmlns:a16="http://schemas.microsoft.com/office/drawing/2014/main" val="1991603347"/>
                    </a:ext>
                  </a:extLst>
                </a:gridCol>
                <a:gridCol w="348849">
                  <a:extLst>
                    <a:ext uri="{9D8B030D-6E8A-4147-A177-3AD203B41FA5}">
                      <a16:colId xmlns:a16="http://schemas.microsoft.com/office/drawing/2014/main" val="2777920320"/>
                    </a:ext>
                  </a:extLst>
                </a:gridCol>
                <a:gridCol w="403075">
                  <a:extLst>
                    <a:ext uri="{9D8B030D-6E8A-4147-A177-3AD203B41FA5}">
                      <a16:colId xmlns:a16="http://schemas.microsoft.com/office/drawing/2014/main" val="1730664962"/>
                    </a:ext>
                  </a:extLst>
                </a:gridCol>
                <a:gridCol w="403075">
                  <a:extLst>
                    <a:ext uri="{9D8B030D-6E8A-4147-A177-3AD203B41FA5}">
                      <a16:colId xmlns:a16="http://schemas.microsoft.com/office/drawing/2014/main" val="328359006"/>
                    </a:ext>
                  </a:extLst>
                </a:gridCol>
                <a:gridCol w="403075">
                  <a:extLst>
                    <a:ext uri="{9D8B030D-6E8A-4147-A177-3AD203B41FA5}">
                      <a16:colId xmlns:a16="http://schemas.microsoft.com/office/drawing/2014/main" val="1921123748"/>
                    </a:ext>
                  </a:extLst>
                </a:gridCol>
                <a:gridCol w="403075">
                  <a:extLst>
                    <a:ext uri="{9D8B030D-6E8A-4147-A177-3AD203B41FA5}">
                      <a16:colId xmlns:a16="http://schemas.microsoft.com/office/drawing/2014/main" val="4049789088"/>
                    </a:ext>
                  </a:extLst>
                </a:gridCol>
                <a:gridCol w="403075">
                  <a:extLst>
                    <a:ext uri="{9D8B030D-6E8A-4147-A177-3AD203B41FA5}">
                      <a16:colId xmlns:a16="http://schemas.microsoft.com/office/drawing/2014/main" val="2928813005"/>
                    </a:ext>
                  </a:extLst>
                </a:gridCol>
                <a:gridCol w="403075">
                  <a:extLst>
                    <a:ext uri="{9D8B030D-6E8A-4147-A177-3AD203B41FA5}">
                      <a16:colId xmlns:a16="http://schemas.microsoft.com/office/drawing/2014/main" val="3782253894"/>
                    </a:ext>
                  </a:extLst>
                </a:gridCol>
                <a:gridCol w="403075">
                  <a:extLst>
                    <a:ext uri="{9D8B030D-6E8A-4147-A177-3AD203B41FA5}">
                      <a16:colId xmlns:a16="http://schemas.microsoft.com/office/drawing/2014/main" val="3817829416"/>
                    </a:ext>
                  </a:extLst>
                </a:gridCol>
                <a:gridCol w="403075">
                  <a:extLst>
                    <a:ext uri="{9D8B030D-6E8A-4147-A177-3AD203B41FA5}">
                      <a16:colId xmlns:a16="http://schemas.microsoft.com/office/drawing/2014/main" val="1299820905"/>
                    </a:ext>
                  </a:extLst>
                </a:gridCol>
                <a:gridCol w="403075">
                  <a:extLst>
                    <a:ext uri="{9D8B030D-6E8A-4147-A177-3AD203B41FA5}">
                      <a16:colId xmlns:a16="http://schemas.microsoft.com/office/drawing/2014/main" val="3032965131"/>
                    </a:ext>
                  </a:extLst>
                </a:gridCol>
                <a:gridCol w="403075">
                  <a:extLst>
                    <a:ext uri="{9D8B030D-6E8A-4147-A177-3AD203B41FA5}">
                      <a16:colId xmlns:a16="http://schemas.microsoft.com/office/drawing/2014/main" val="886807455"/>
                    </a:ext>
                  </a:extLst>
                </a:gridCol>
                <a:gridCol w="403075">
                  <a:extLst>
                    <a:ext uri="{9D8B030D-6E8A-4147-A177-3AD203B41FA5}">
                      <a16:colId xmlns:a16="http://schemas.microsoft.com/office/drawing/2014/main" val="876546229"/>
                    </a:ext>
                  </a:extLst>
                </a:gridCol>
                <a:gridCol w="403075">
                  <a:extLst>
                    <a:ext uri="{9D8B030D-6E8A-4147-A177-3AD203B41FA5}">
                      <a16:colId xmlns:a16="http://schemas.microsoft.com/office/drawing/2014/main" val="1319539717"/>
                    </a:ext>
                  </a:extLst>
                </a:gridCol>
                <a:gridCol w="403075">
                  <a:extLst>
                    <a:ext uri="{9D8B030D-6E8A-4147-A177-3AD203B41FA5}">
                      <a16:colId xmlns:a16="http://schemas.microsoft.com/office/drawing/2014/main" val="4204185453"/>
                    </a:ext>
                  </a:extLst>
                </a:gridCol>
                <a:gridCol w="403075">
                  <a:extLst>
                    <a:ext uri="{9D8B030D-6E8A-4147-A177-3AD203B41FA5}">
                      <a16:colId xmlns:a16="http://schemas.microsoft.com/office/drawing/2014/main" val="640086940"/>
                    </a:ext>
                  </a:extLst>
                </a:gridCol>
                <a:gridCol w="403075">
                  <a:extLst>
                    <a:ext uri="{9D8B030D-6E8A-4147-A177-3AD203B41FA5}">
                      <a16:colId xmlns:a16="http://schemas.microsoft.com/office/drawing/2014/main" val="1064806264"/>
                    </a:ext>
                  </a:extLst>
                </a:gridCol>
                <a:gridCol w="389453">
                  <a:extLst>
                    <a:ext uri="{9D8B030D-6E8A-4147-A177-3AD203B41FA5}">
                      <a16:colId xmlns:a16="http://schemas.microsoft.com/office/drawing/2014/main" val="3125860559"/>
                    </a:ext>
                  </a:extLst>
                </a:gridCol>
                <a:gridCol w="416697">
                  <a:extLst>
                    <a:ext uri="{9D8B030D-6E8A-4147-A177-3AD203B41FA5}">
                      <a16:colId xmlns:a16="http://schemas.microsoft.com/office/drawing/2014/main" val="1659920396"/>
                    </a:ext>
                  </a:extLst>
                </a:gridCol>
                <a:gridCol w="403075">
                  <a:extLst>
                    <a:ext uri="{9D8B030D-6E8A-4147-A177-3AD203B41FA5}">
                      <a16:colId xmlns:a16="http://schemas.microsoft.com/office/drawing/2014/main" val="1698152950"/>
                    </a:ext>
                  </a:extLst>
                </a:gridCol>
                <a:gridCol w="403075">
                  <a:extLst>
                    <a:ext uri="{9D8B030D-6E8A-4147-A177-3AD203B41FA5}">
                      <a16:colId xmlns:a16="http://schemas.microsoft.com/office/drawing/2014/main" val="242566887"/>
                    </a:ext>
                  </a:extLst>
                </a:gridCol>
                <a:gridCol w="403075">
                  <a:extLst>
                    <a:ext uri="{9D8B030D-6E8A-4147-A177-3AD203B41FA5}">
                      <a16:colId xmlns:a16="http://schemas.microsoft.com/office/drawing/2014/main" val="178817915"/>
                    </a:ext>
                  </a:extLst>
                </a:gridCol>
                <a:gridCol w="403075">
                  <a:extLst>
                    <a:ext uri="{9D8B030D-6E8A-4147-A177-3AD203B41FA5}">
                      <a16:colId xmlns:a16="http://schemas.microsoft.com/office/drawing/2014/main" val="229418129"/>
                    </a:ext>
                  </a:extLst>
                </a:gridCol>
                <a:gridCol w="403075">
                  <a:extLst>
                    <a:ext uri="{9D8B030D-6E8A-4147-A177-3AD203B41FA5}">
                      <a16:colId xmlns:a16="http://schemas.microsoft.com/office/drawing/2014/main" val="993903759"/>
                    </a:ext>
                  </a:extLst>
                </a:gridCol>
                <a:gridCol w="403075">
                  <a:extLst>
                    <a:ext uri="{9D8B030D-6E8A-4147-A177-3AD203B41FA5}">
                      <a16:colId xmlns:a16="http://schemas.microsoft.com/office/drawing/2014/main" val="340701534"/>
                    </a:ext>
                  </a:extLst>
                </a:gridCol>
                <a:gridCol w="403075">
                  <a:extLst>
                    <a:ext uri="{9D8B030D-6E8A-4147-A177-3AD203B41FA5}">
                      <a16:colId xmlns:a16="http://schemas.microsoft.com/office/drawing/2014/main" val="1312010169"/>
                    </a:ext>
                  </a:extLst>
                </a:gridCol>
                <a:gridCol w="403075">
                  <a:extLst>
                    <a:ext uri="{9D8B030D-6E8A-4147-A177-3AD203B41FA5}">
                      <a16:colId xmlns:a16="http://schemas.microsoft.com/office/drawing/2014/main" val="3153298406"/>
                    </a:ext>
                  </a:extLst>
                </a:gridCol>
                <a:gridCol w="403075">
                  <a:extLst>
                    <a:ext uri="{9D8B030D-6E8A-4147-A177-3AD203B41FA5}">
                      <a16:colId xmlns:a16="http://schemas.microsoft.com/office/drawing/2014/main" val="2959644073"/>
                    </a:ext>
                  </a:extLst>
                </a:gridCol>
                <a:gridCol w="403075">
                  <a:extLst>
                    <a:ext uri="{9D8B030D-6E8A-4147-A177-3AD203B41FA5}">
                      <a16:colId xmlns:a16="http://schemas.microsoft.com/office/drawing/2014/main" val="1609994553"/>
                    </a:ext>
                  </a:extLst>
                </a:gridCol>
                <a:gridCol w="403075">
                  <a:extLst>
                    <a:ext uri="{9D8B030D-6E8A-4147-A177-3AD203B41FA5}">
                      <a16:colId xmlns:a16="http://schemas.microsoft.com/office/drawing/2014/main" val="3118772683"/>
                    </a:ext>
                  </a:extLst>
                </a:gridCol>
              </a:tblGrid>
              <a:tr h="316664">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tc>
                  <a:txBody>
                    <a:bodyPr/>
                    <a:lstStyle/>
                    <a:p>
                      <a:endParaRPr lang="en-PK" sz="800"/>
                    </a:p>
                  </a:txBody>
                  <a:tcPr/>
                </a:tc>
                <a:extLst>
                  <a:ext uri="{0D108BD9-81ED-4DB2-BD59-A6C34878D82A}">
                    <a16:rowId xmlns:a16="http://schemas.microsoft.com/office/drawing/2014/main" val="906536351"/>
                  </a:ext>
                </a:extLst>
              </a:tr>
              <a:tr h="468628">
                <a:tc>
                  <a:txBody>
                    <a:bodyPr/>
                    <a:lstStyle/>
                    <a:p>
                      <a:r>
                        <a:rPr lang="en-US" sz="800" dirty="0"/>
                        <a:t>100</a:t>
                      </a:r>
                      <a:endParaRPr lang="en-PK" sz="800" dirty="0"/>
                    </a:p>
                  </a:txBody>
                  <a:tcPr>
                    <a:solidFill>
                      <a:schemeClr val="tx2"/>
                    </a:solidFill>
                  </a:tcPr>
                </a:tc>
                <a:tc>
                  <a:txBody>
                    <a:bodyPr/>
                    <a:lstStyle/>
                    <a:p>
                      <a:r>
                        <a:rPr lang="en-US" sz="800" dirty="0"/>
                        <a:t>101</a:t>
                      </a:r>
                      <a:endParaRPr lang="en-PK" sz="800" dirty="0"/>
                    </a:p>
                  </a:txBody>
                  <a:tcPr>
                    <a:solidFill>
                      <a:schemeClr val="tx2"/>
                    </a:solidFill>
                  </a:tcPr>
                </a:tc>
                <a:tc>
                  <a:txBody>
                    <a:bodyPr/>
                    <a:lstStyle/>
                    <a:p>
                      <a:r>
                        <a:rPr lang="en-US" sz="800" dirty="0"/>
                        <a:t>102</a:t>
                      </a:r>
                      <a:endParaRPr lang="en-PK" sz="800" dirty="0"/>
                    </a:p>
                  </a:txBody>
                  <a:tcPr>
                    <a:solidFill>
                      <a:schemeClr val="tx2"/>
                    </a:solidFill>
                  </a:tcPr>
                </a:tc>
                <a:tc>
                  <a:txBody>
                    <a:bodyPr/>
                    <a:lstStyle/>
                    <a:p>
                      <a:r>
                        <a:rPr lang="en-US" sz="800" dirty="0"/>
                        <a:t>103</a:t>
                      </a:r>
                      <a:endParaRPr lang="en-PK" sz="800" dirty="0"/>
                    </a:p>
                  </a:txBody>
                  <a:tcPr>
                    <a:solidFill>
                      <a:schemeClr val="tx2"/>
                    </a:solidFill>
                  </a:tcPr>
                </a:tc>
                <a:tc>
                  <a:txBody>
                    <a:bodyPr/>
                    <a:lstStyle/>
                    <a:p>
                      <a:r>
                        <a:rPr lang="en-US" sz="800" dirty="0"/>
                        <a:t>104</a:t>
                      </a:r>
                      <a:endParaRPr lang="en-PK" sz="800" dirty="0"/>
                    </a:p>
                  </a:txBody>
                  <a:tcPr>
                    <a:solidFill>
                      <a:srgbClr val="FF0000"/>
                    </a:solidFill>
                  </a:tcPr>
                </a:tc>
                <a:tc>
                  <a:txBody>
                    <a:bodyPr/>
                    <a:lstStyle/>
                    <a:p>
                      <a:r>
                        <a:rPr lang="en-US" sz="800" dirty="0"/>
                        <a:t>105</a:t>
                      </a:r>
                      <a:endParaRPr lang="en-PK" sz="800" dirty="0"/>
                    </a:p>
                  </a:txBody>
                  <a:tcPr>
                    <a:solidFill>
                      <a:srgbClr val="FF0000"/>
                    </a:solidFill>
                  </a:tcPr>
                </a:tc>
                <a:tc>
                  <a:txBody>
                    <a:bodyPr/>
                    <a:lstStyle/>
                    <a:p>
                      <a:r>
                        <a:rPr lang="en-US" sz="800" dirty="0"/>
                        <a:t>106</a:t>
                      </a:r>
                      <a:endParaRPr lang="en-PK" sz="800" dirty="0"/>
                    </a:p>
                  </a:txBody>
                  <a:tcPr>
                    <a:solidFill>
                      <a:srgbClr val="FF0000"/>
                    </a:solidFill>
                  </a:tcPr>
                </a:tc>
                <a:tc>
                  <a:txBody>
                    <a:bodyPr/>
                    <a:lstStyle/>
                    <a:p>
                      <a:r>
                        <a:rPr lang="en-US" sz="800" dirty="0"/>
                        <a:t>107</a:t>
                      </a:r>
                      <a:endParaRPr lang="en-PK" sz="800" dirty="0"/>
                    </a:p>
                  </a:txBody>
                  <a:tcPr>
                    <a:solidFill>
                      <a:srgbClr val="FF0000"/>
                    </a:solidFill>
                  </a:tcPr>
                </a:tc>
                <a:tc>
                  <a:txBody>
                    <a:bodyPr/>
                    <a:lstStyle/>
                    <a:p>
                      <a:r>
                        <a:rPr lang="en-US" sz="800" dirty="0"/>
                        <a:t>108</a:t>
                      </a:r>
                      <a:endParaRPr lang="en-PK" sz="800" dirty="0"/>
                    </a:p>
                  </a:txBody>
                  <a:tcPr>
                    <a:solidFill>
                      <a:srgbClr val="00B0F0"/>
                    </a:solidFill>
                  </a:tcPr>
                </a:tc>
                <a:tc>
                  <a:txBody>
                    <a:bodyPr/>
                    <a:lstStyle/>
                    <a:p>
                      <a:r>
                        <a:rPr lang="en-US" sz="800" dirty="0"/>
                        <a:t>109</a:t>
                      </a:r>
                      <a:endParaRPr lang="en-PK" sz="800" dirty="0"/>
                    </a:p>
                  </a:txBody>
                  <a:tcPr>
                    <a:solidFill>
                      <a:srgbClr val="00B0F0"/>
                    </a:solidFill>
                  </a:tcPr>
                </a:tc>
                <a:tc>
                  <a:txBody>
                    <a:bodyPr/>
                    <a:lstStyle/>
                    <a:p>
                      <a:r>
                        <a:rPr lang="en-US" sz="800" dirty="0"/>
                        <a:t>110</a:t>
                      </a:r>
                      <a:endParaRPr lang="en-PK" sz="800" dirty="0"/>
                    </a:p>
                  </a:txBody>
                  <a:tcPr>
                    <a:solidFill>
                      <a:srgbClr val="00B0F0"/>
                    </a:solidFill>
                  </a:tcPr>
                </a:tc>
                <a:tc>
                  <a:txBody>
                    <a:bodyPr/>
                    <a:lstStyle/>
                    <a:p>
                      <a:r>
                        <a:rPr lang="en-US" sz="800" dirty="0"/>
                        <a:t>111</a:t>
                      </a:r>
                      <a:endParaRPr lang="en-PK" sz="800" dirty="0"/>
                    </a:p>
                  </a:txBody>
                  <a:tcPr>
                    <a:solidFill>
                      <a:srgbClr val="00B0F0"/>
                    </a:solidFill>
                  </a:tcPr>
                </a:tc>
                <a:tc>
                  <a:txBody>
                    <a:bodyPr/>
                    <a:lstStyle/>
                    <a:p>
                      <a:r>
                        <a:rPr lang="en-US" sz="800" dirty="0"/>
                        <a:t>112</a:t>
                      </a:r>
                      <a:endParaRPr lang="en-PK" sz="800" dirty="0"/>
                    </a:p>
                  </a:txBody>
                  <a:tcPr>
                    <a:solidFill>
                      <a:schemeClr val="accent4">
                        <a:lumMod val="75000"/>
                      </a:schemeClr>
                    </a:solidFill>
                  </a:tcPr>
                </a:tc>
                <a:tc>
                  <a:txBody>
                    <a:bodyPr/>
                    <a:lstStyle/>
                    <a:p>
                      <a:r>
                        <a:rPr lang="en-US" sz="800" dirty="0"/>
                        <a:t>113</a:t>
                      </a:r>
                      <a:endParaRPr lang="en-PK" sz="800" dirty="0"/>
                    </a:p>
                  </a:txBody>
                  <a:tcPr>
                    <a:solidFill>
                      <a:schemeClr val="accent4">
                        <a:lumMod val="75000"/>
                      </a:schemeClr>
                    </a:solidFill>
                  </a:tcPr>
                </a:tc>
                <a:tc>
                  <a:txBody>
                    <a:bodyPr/>
                    <a:lstStyle/>
                    <a:p>
                      <a:r>
                        <a:rPr lang="en-US" sz="800" dirty="0"/>
                        <a:t>114</a:t>
                      </a:r>
                      <a:endParaRPr lang="en-PK" sz="800" dirty="0"/>
                    </a:p>
                  </a:txBody>
                  <a:tcPr>
                    <a:solidFill>
                      <a:schemeClr val="accent4">
                        <a:lumMod val="75000"/>
                      </a:schemeClr>
                    </a:solidFill>
                  </a:tcPr>
                </a:tc>
                <a:tc>
                  <a:txBody>
                    <a:bodyPr/>
                    <a:lstStyle/>
                    <a:p>
                      <a:r>
                        <a:rPr lang="en-US" sz="800" dirty="0"/>
                        <a:t>115</a:t>
                      </a:r>
                      <a:endParaRPr lang="en-PK" sz="800" dirty="0"/>
                    </a:p>
                  </a:txBody>
                  <a:tcPr>
                    <a:solidFill>
                      <a:schemeClr val="accent4">
                        <a:lumMod val="75000"/>
                      </a:schemeClr>
                    </a:solidFill>
                  </a:tcPr>
                </a:tc>
                <a:tc>
                  <a:txBody>
                    <a:bodyPr/>
                    <a:lstStyle/>
                    <a:p>
                      <a:r>
                        <a:rPr lang="en-US" sz="800" dirty="0"/>
                        <a:t>…</a:t>
                      </a:r>
                      <a:endParaRPr lang="en-PK" sz="800" dirty="0"/>
                    </a:p>
                  </a:txBody>
                  <a:tcPr>
                    <a:solidFill>
                      <a:srgbClr val="92D050"/>
                    </a:solidFill>
                  </a:tcPr>
                </a:tc>
                <a:tc>
                  <a:txBody>
                    <a:bodyPr/>
                    <a:lstStyle/>
                    <a:p>
                      <a:r>
                        <a:rPr lang="en-US" sz="800" dirty="0"/>
                        <a:t>…</a:t>
                      </a:r>
                      <a:endParaRPr lang="en-PK" sz="800" dirty="0"/>
                    </a:p>
                  </a:txBody>
                  <a:tcPr>
                    <a:solidFill>
                      <a:srgbClr val="92D050"/>
                    </a:solidFill>
                  </a:tcPr>
                </a:tc>
                <a:tc>
                  <a:txBody>
                    <a:bodyPr/>
                    <a:lstStyle/>
                    <a:p>
                      <a:r>
                        <a:rPr lang="en-US" sz="800" dirty="0"/>
                        <a:t>…</a:t>
                      </a:r>
                      <a:endParaRPr lang="en-PK" sz="800" dirty="0"/>
                    </a:p>
                  </a:txBody>
                  <a:tcPr>
                    <a:solidFill>
                      <a:srgbClr val="92D050"/>
                    </a:solidFill>
                  </a:tcPr>
                </a:tc>
                <a:tc>
                  <a:txBody>
                    <a:bodyPr/>
                    <a:lstStyle/>
                    <a:p>
                      <a:r>
                        <a:rPr lang="en-US" sz="800" dirty="0"/>
                        <a:t>…</a:t>
                      </a:r>
                      <a:endParaRPr lang="en-PK" sz="800" dirty="0"/>
                    </a:p>
                  </a:txBody>
                  <a:tcPr>
                    <a:solidFill>
                      <a:srgbClr val="92D050"/>
                    </a:solidFill>
                  </a:tcPr>
                </a:tc>
                <a:tc>
                  <a:txBody>
                    <a:bodyPr/>
                    <a:lstStyle/>
                    <a:p>
                      <a:r>
                        <a:rPr lang="en-US" sz="800" dirty="0"/>
                        <a:t>121</a:t>
                      </a:r>
                      <a:endParaRPr lang="en-PK" sz="800" dirty="0"/>
                    </a:p>
                  </a:txBody>
                  <a:tcPr>
                    <a:solidFill>
                      <a:schemeClr val="accent4"/>
                    </a:solidFill>
                  </a:tcPr>
                </a:tc>
                <a:tc>
                  <a:txBody>
                    <a:bodyPr/>
                    <a:lstStyle/>
                    <a:p>
                      <a:r>
                        <a:rPr lang="en-US" sz="800" dirty="0"/>
                        <a:t>122</a:t>
                      </a:r>
                      <a:endParaRPr lang="en-PK" sz="800" dirty="0"/>
                    </a:p>
                  </a:txBody>
                  <a:tcPr>
                    <a:solidFill>
                      <a:schemeClr val="accent4"/>
                    </a:solidFill>
                  </a:tcPr>
                </a:tc>
                <a:tc>
                  <a:txBody>
                    <a:bodyPr/>
                    <a:lstStyle/>
                    <a:p>
                      <a:r>
                        <a:rPr lang="en-US" sz="800" dirty="0"/>
                        <a:t>123</a:t>
                      </a:r>
                      <a:endParaRPr lang="en-PK" sz="800" dirty="0"/>
                    </a:p>
                  </a:txBody>
                  <a:tcPr>
                    <a:solidFill>
                      <a:schemeClr val="accent4"/>
                    </a:solidFill>
                  </a:tcPr>
                </a:tc>
                <a:tc>
                  <a:txBody>
                    <a:bodyPr/>
                    <a:lstStyle/>
                    <a:p>
                      <a:r>
                        <a:rPr lang="en-US" sz="800" dirty="0"/>
                        <a:t>124</a:t>
                      </a:r>
                      <a:endParaRPr lang="en-PK" sz="800" dirty="0"/>
                    </a:p>
                  </a:txBody>
                  <a:tcPr>
                    <a:solidFill>
                      <a:schemeClr val="accent4"/>
                    </a:solidFill>
                  </a:tcPr>
                </a:tc>
                <a:tc>
                  <a:txBody>
                    <a:bodyPr/>
                    <a:lstStyle/>
                    <a:p>
                      <a:r>
                        <a:rPr lang="en-US" sz="800" dirty="0"/>
                        <a:t>…</a:t>
                      </a:r>
                      <a:endParaRPr lang="en-PK" sz="800" dirty="0"/>
                    </a:p>
                  </a:txBody>
                  <a:tcPr>
                    <a:solidFill>
                      <a:schemeClr val="accent1">
                        <a:lumMod val="75000"/>
                      </a:schemeClr>
                    </a:solidFill>
                  </a:tcPr>
                </a:tc>
                <a:tc>
                  <a:txBody>
                    <a:bodyPr/>
                    <a:lstStyle/>
                    <a:p>
                      <a:r>
                        <a:rPr lang="en-US" sz="800" dirty="0"/>
                        <a:t>297</a:t>
                      </a:r>
                      <a:endParaRPr lang="en-PK" sz="800" dirty="0"/>
                    </a:p>
                  </a:txBody>
                  <a:tcPr>
                    <a:solidFill>
                      <a:schemeClr val="accent1">
                        <a:lumMod val="75000"/>
                      </a:schemeClr>
                    </a:solidFill>
                  </a:tcPr>
                </a:tc>
                <a:tc>
                  <a:txBody>
                    <a:bodyPr/>
                    <a:lstStyle/>
                    <a:p>
                      <a:r>
                        <a:rPr lang="en-US" sz="800" dirty="0"/>
                        <a:t>298</a:t>
                      </a:r>
                      <a:endParaRPr lang="en-PK" sz="800" dirty="0"/>
                    </a:p>
                  </a:txBody>
                  <a:tcPr>
                    <a:solidFill>
                      <a:schemeClr val="accent1">
                        <a:lumMod val="75000"/>
                      </a:schemeClr>
                    </a:solidFill>
                  </a:tcPr>
                </a:tc>
                <a:tc>
                  <a:txBody>
                    <a:bodyPr/>
                    <a:lstStyle/>
                    <a:p>
                      <a:r>
                        <a:rPr lang="en-US" sz="800" dirty="0"/>
                        <a:t>299</a:t>
                      </a:r>
                      <a:endParaRPr lang="en-PK" sz="800" dirty="0"/>
                    </a:p>
                  </a:txBody>
                  <a:tcPr>
                    <a:solidFill>
                      <a:schemeClr val="accent1">
                        <a:lumMod val="75000"/>
                      </a:schemeClr>
                    </a:solidFill>
                  </a:tcPr>
                </a:tc>
                <a:tc>
                  <a:txBody>
                    <a:bodyPr/>
                    <a:lstStyle/>
                    <a:p>
                      <a:r>
                        <a:rPr lang="en-US" sz="800" dirty="0"/>
                        <a:t>…</a:t>
                      </a:r>
                      <a:endParaRPr lang="en-PK" sz="800" dirty="0"/>
                    </a:p>
                  </a:txBody>
                  <a:tcPr/>
                </a:tc>
                <a:tc>
                  <a:txBody>
                    <a:bodyPr/>
                    <a:lstStyle/>
                    <a:p>
                      <a:r>
                        <a:rPr lang="en-US" sz="800" dirty="0"/>
                        <a:t>…</a:t>
                      </a:r>
                      <a:endParaRPr lang="en-PK" sz="800" dirty="0"/>
                    </a:p>
                  </a:txBody>
                  <a:tcPr/>
                </a:tc>
                <a:extLst>
                  <a:ext uri="{0D108BD9-81ED-4DB2-BD59-A6C34878D82A}">
                    <a16:rowId xmlns:a16="http://schemas.microsoft.com/office/drawing/2014/main" val="1326620274"/>
                  </a:ext>
                </a:extLst>
              </a:tr>
            </a:tbl>
          </a:graphicData>
        </a:graphic>
      </p:graphicFrame>
      <p:sp>
        <p:nvSpPr>
          <p:cNvPr id="56" name="TextBox 55">
            <a:extLst>
              <a:ext uri="{FF2B5EF4-FFF2-40B4-BE49-F238E27FC236}">
                <a16:creationId xmlns:a16="http://schemas.microsoft.com/office/drawing/2014/main" id="{A7392B86-6BE4-44C9-8723-9BF8E5632AF6}"/>
              </a:ext>
            </a:extLst>
          </p:cNvPr>
          <p:cNvSpPr txBox="1"/>
          <p:nvPr/>
        </p:nvSpPr>
        <p:spPr>
          <a:xfrm>
            <a:off x="469133" y="4218756"/>
            <a:ext cx="486030" cy="369332"/>
          </a:xfrm>
          <a:prstGeom prst="rect">
            <a:avLst/>
          </a:prstGeom>
          <a:noFill/>
        </p:spPr>
        <p:txBody>
          <a:bodyPr wrap="square" rtlCol="0">
            <a:spAutoFit/>
          </a:bodyPr>
          <a:lstStyle/>
          <a:p>
            <a:r>
              <a:rPr lang="en-US" dirty="0"/>
              <a:t>A =</a:t>
            </a:r>
            <a:endParaRPr lang="en-PK" dirty="0"/>
          </a:p>
        </p:txBody>
      </p:sp>
      <p:sp>
        <p:nvSpPr>
          <p:cNvPr id="57" name="TextBox 56">
            <a:extLst>
              <a:ext uri="{FF2B5EF4-FFF2-40B4-BE49-F238E27FC236}">
                <a16:creationId xmlns:a16="http://schemas.microsoft.com/office/drawing/2014/main" id="{3CA8CE3D-F23D-4D94-BC53-23F7913158F5}"/>
              </a:ext>
            </a:extLst>
          </p:cNvPr>
          <p:cNvSpPr txBox="1"/>
          <p:nvPr/>
        </p:nvSpPr>
        <p:spPr>
          <a:xfrm>
            <a:off x="4409653" y="4590515"/>
            <a:ext cx="401072" cy="261610"/>
          </a:xfrm>
          <a:prstGeom prst="rect">
            <a:avLst/>
          </a:prstGeom>
          <a:noFill/>
        </p:spPr>
        <p:txBody>
          <a:bodyPr wrap="none" rtlCol="0">
            <a:spAutoFit/>
          </a:bodyPr>
          <a:lstStyle/>
          <a:p>
            <a:r>
              <a:rPr lang="en-US" sz="1100" b="1" dirty="0"/>
              <a:t>112</a:t>
            </a:r>
            <a:endParaRPr lang="en-PK" b="1" dirty="0"/>
          </a:p>
        </p:txBody>
      </p:sp>
      <p:sp>
        <p:nvSpPr>
          <p:cNvPr id="58" name="TextBox 57">
            <a:extLst>
              <a:ext uri="{FF2B5EF4-FFF2-40B4-BE49-F238E27FC236}">
                <a16:creationId xmlns:a16="http://schemas.microsoft.com/office/drawing/2014/main" id="{E6FDCE8D-6A43-4B00-9944-D2DF5C1B2E5B}"/>
              </a:ext>
            </a:extLst>
          </p:cNvPr>
          <p:cNvSpPr txBox="1"/>
          <p:nvPr/>
        </p:nvSpPr>
        <p:spPr>
          <a:xfrm>
            <a:off x="966433" y="4581643"/>
            <a:ext cx="401072" cy="261610"/>
          </a:xfrm>
          <a:prstGeom prst="rect">
            <a:avLst/>
          </a:prstGeom>
          <a:noFill/>
        </p:spPr>
        <p:txBody>
          <a:bodyPr wrap="none" rtlCol="0">
            <a:spAutoFit/>
          </a:bodyPr>
          <a:lstStyle/>
          <a:p>
            <a:r>
              <a:rPr lang="en-US" sz="1100" b="1" dirty="0"/>
              <a:t>100</a:t>
            </a:r>
            <a:endParaRPr lang="en-PK" b="1" dirty="0"/>
          </a:p>
        </p:txBody>
      </p:sp>
      <p:sp>
        <p:nvSpPr>
          <p:cNvPr id="59" name="TextBox 58">
            <a:extLst>
              <a:ext uri="{FF2B5EF4-FFF2-40B4-BE49-F238E27FC236}">
                <a16:creationId xmlns:a16="http://schemas.microsoft.com/office/drawing/2014/main" id="{41BEFE3B-7E16-41A0-AC64-05C6E14262E8}"/>
              </a:ext>
            </a:extLst>
          </p:cNvPr>
          <p:cNvSpPr txBox="1"/>
          <p:nvPr/>
        </p:nvSpPr>
        <p:spPr>
          <a:xfrm>
            <a:off x="2081113" y="4581643"/>
            <a:ext cx="401072" cy="261610"/>
          </a:xfrm>
          <a:prstGeom prst="rect">
            <a:avLst/>
          </a:prstGeom>
          <a:noFill/>
        </p:spPr>
        <p:txBody>
          <a:bodyPr wrap="none" rtlCol="0">
            <a:spAutoFit/>
          </a:bodyPr>
          <a:lstStyle/>
          <a:p>
            <a:r>
              <a:rPr lang="en-US" sz="1100" b="1" dirty="0"/>
              <a:t>104</a:t>
            </a:r>
            <a:endParaRPr lang="en-PK" b="1" dirty="0"/>
          </a:p>
        </p:txBody>
      </p:sp>
      <p:sp>
        <p:nvSpPr>
          <p:cNvPr id="60" name="TextBox 59">
            <a:extLst>
              <a:ext uri="{FF2B5EF4-FFF2-40B4-BE49-F238E27FC236}">
                <a16:creationId xmlns:a16="http://schemas.microsoft.com/office/drawing/2014/main" id="{0AA29965-49AE-4F7F-84BE-4BF5C09D3053}"/>
              </a:ext>
            </a:extLst>
          </p:cNvPr>
          <p:cNvSpPr txBox="1"/>
          <p:nvPr/>
        </p:nvSpPr>
        <p:spPr>
          <a:xfrm>
            <a:off x="3247697" y="4638735"/>
            <a:ext cx="401072" cy="261610"/>
          </a:xfrm>
          <a:prstGeom prst="rect">
            <a:avLst/>
          </a:prstGeom>
          <a:noFill/>
        </p:spPr>
        <p:txBody>
          <a:bodyPr wrap="none" rtlCol="0">
            <a:spAutoFit/>
          </a:bodyPr>
          <a:lstStyle/>
          <a:p>
            <a:r>
              <a:rPr lang="en-US" sz="1100" b="1" dirty="0"/>
              <a:t>108</a:t>
            </a:r>
            <a:endParaRPr lang="en-PK" b="1" dirty="0"/>
          </a:p>
        </p:txBody>
      </p:sp>
      <p:sp>
        <p:nvSpPr>
          <p:cNvPr id="61" name="TextBox 60">
            <a:extLst>
              <a:ext uri="{FF2B5EF4-FFF2-40B4-BE49-F238E27FC236}">
                <a16:creationId xmlns:a16="http://schemas.microsoft.com/office/drawing/2014/main" id="{1868C269-7DFB-4CD5-801C-977D75C4D8CC}"/>
              </a:ext>
            </a:extLst>
          </p:cNvPr>
          <p:cNvSpPr txBox="1"/>
          <p:nvPr/>
        </p:nvSpPr>
        <p:spPr>
          <a:xfrm>
            <a:off x="5589937" y="4610374"/>
            <a:ext cx="401072" cy="261610"/>
          </a:xfrm>
          <a:prstGeom prst="rect">
            <a:avLst/>
          </a:prstGeom>
          <a:noFill/>
        </p:spPr>
        <p:txBody>
          <a:bodyPr wrap="none" rtlCol="0">
            <a:spAutoFit/>
          </a:bodyPr>
          <a:lstStyle/>
          <a:p>
            <a:r>
              <a:rPr lang="en-US" sz="1100" b="1" dirty="0"/>
              <a:t>116</a:t>
            </a:r>
          </a:p>
        </p:txBody>
      </p:sp>
      <p:cxnSp>
        <p:nvCxnSpPr>
          <p:cNvPr id="67" name="Straight Arrow Connector 66">
            <a:extLst>
              <a:ext uri="{FF2B5EF4-FFF2-40B4-BE49-F238E27FC236}">
                <a16:creationId xmlns:a16="http://schemas.microsoft.com/office/drawing/2014/main" id="{3FC4134D-2B24-44CF-B294-09F1434464E0}"/>
              </a:ext>
            </a:extLst>
          </p:cNvPr>
          <p:cNvCxnSpPr/>
          <p:nvPr/>
        </p:nvCxnSpPr>
        <p:spPr>
          <a:xfrm flipV="1">
            <a:off x="1031259" y="4681588"/>
            <a:ext cx="541283" cy="8359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53A12071-DE65-4802-BDB0-F5B9FA2CBEB5}"/>
              </a:ext>
            </a:extLst>
          </p:cNvPr>
          <p:cNvCxnSpPr/>
          <p:nvPr/>
        </p:nvCxnSpPr>
        <p:spPr>
          <a:xfrm flipV="1">
            <a:off x="2278495" y="4658220"/>
            <a:ext cx="541283" cy="8359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7331AD50-1DF1-428A-B666-D1FDBDA0A917}"/>
              </a:ext>
            </a:extLst>
          </p:cNvPr>
          <p:cNvCxnSpPr/>
          <p:nvPr/>
        </p:nvCxnSpPr>
        <p:spPr>
          <a:xfrm flipV="1">
            <a:off x="3678384" y="4637032"/>
            <a:ext cx="541283" cy="8359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BB5E03CC-91EB-4F44-AD61-786414492D30}"/>
              </a:ext>
            </a:extLst>
          </p:cNvPr>
          <p:cNvCxnSpPr>
            <a:cxnSpLocks/>
          </p:cNvCxnSpPr>
          <p:nvPr/>
        </p:nvCxnSpPr>
        <p:spPr>
          <a:xfrm flipV="1">
            <a:off x="5091509" y="4607904"/>
            <a:ext cx="294742" cy="9643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CA5BF478-1F25-4A20-BE17-F155EA9D474D}"/>
              </a:ext>
            </a:extLst>
          </p:cNvPr>
          <p:cNvCxnSpPr/>
          <p:nvPr/>
        </p:nvCxnSpPr>
        <p:spPr>
          <a:xfrm flipV="1">
            <a:off x="5896830" y="4658220"/>
            <a:ext cx="541283" cy="8359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77" name="Table 77">
            <a:extLst>
              <a:ext uri="{FF2B5EF4-FFF2-40B4-BE49-F238E27FC236}">
                <a16:creationId xmlns:a16="http://schemas.microsoft.com/office/drawing/2014/main" id="{36DC07F8-A5F7-44CF-8D00-2E5E7760C81B}"/>
              </a:ext>
            </a:extLst>
          </p:cNvPr>
          <p:cNvGraphicFramePr>
            <a:graphicFrameLocks noGrp="1"/>
          </p:cNvGraphicFramePr>
          <p:nvPr/>
        </p:nvGraphicFramePr>
        <p:xfrm>
          <a:off x="1166969" y="4239534"/>
          <a:ext cx="9403688" cy="370840"/>
        </p:xfrm>
        <a:graphic>
          <a:graphicData uri="http://schemas.openxmlformats.org/drawingml/2006/table">
            <a:tbl>
              <a:tblPr firstRow="1" bandRow="1"/>
              <a:tblGrid>
                <a:gridCol w="1175461">
                  <a:extLst>
                    <a:ext uri="{9D8B030D-6E8A-4147-A177-3AD203B41FA5}">
                      <a16:colId xmlns:a16="http://schemas.microsoft.com/office/drawing/2014/main" val="2359153295"/>
                    </a:ext>
                  </a:extLst>
                </a:gridCol>
                <a:gridCol w="1175461">
                  <a:extLst>
                    <a:ext uri="{9D8B030D-6E8A-4147-A177-3AD203B41FA5}">
                      <a16:colId xmlns:a16="http://schemas.microsoft.com/office/drawing/2014/main" val="3118448267"/>
                    </a:ext>
                  </a:extLst>
                </a:gridCol>
                <a:gridCol w="1175461">
                  <a:extLst>
                    <a:ext uri="{9D8B030D-6E8A-4147-A177-3AD203B41FA5}">
                      <a16:colId xmlns:a16="http://schemas.microsoft.com/office/drawing/2014/main" val="3631139543"/>
                    </a:ext>
                  </a:extLst>
                </a:gridCol>
                <a:gridCol w="1175461">
                  <a:extLst>
                    <a:ext uri="{9D8B030D-6E8A-4147-A177-3AD203B41FA5}">
                      <a16:colId xmlns:a16="http://schemas.microsoft.com/office/drawing/2014/main" val="115813875"/>
                    </a:ext>
                  </a:extLst>
                </a:gridCol>
                <a:gridCol w="1175461">
                  <a:extLst>
                    <a:ext uri="{9D8B030D-6E8A-4147-A177-3AD203B41FA5}">
                      <a16:colId xmlns:a16="http://schemas.microsoft.com/office/drawing/2014/main" val="190234865"/>
                    </a:ext>
                  </a:extLst>
                </a:gridCol>
                <a:gridCol w="1175461">
                  <a:extLst>
                    <a:ext uri="{9D8B030D-6E8A-4147-A177-3AD203B41FA5}">
                      <a16:colId xmlns:a16="http://schemas.microsoft.com/office/drawing/2014/main" val="2497343601"/>
                    </a:ext>
                  </a:extLst>
                </a:gridCol>
                <a:gridCol w="1175461">
                  <a:extLst>
                    <a:ext uri="{9D8B030D-6E8A-4147-A177-3AD203B41FA5}">
                      <a16:colId xmlns:a16="http://schemas.microsoft.com/office/drawing/2014/main" val="3599792360"/>
                    </a:ext>
                  </a:extLst>
                </a:gridCol>
                <a:gridCol w="1175461">
                  <a:extLst>
                    <a:ext uri="{9D8B030D-6E8A-4147-A177-3AD203B41FA5}">
                      <a16:colId xmlns:a16="http://schemas.microsoft.com/office/drawing/2014/main" val="472886623"/>
                    </a:ext>
                  </a:extLst>
                </a:gridCol>
              </a:tblGrid>
              <a:tr h="370840">
                <a:tc>
                  <a:txBody>
                    <a:bodyPr/>
                    <a:lstStyle/>
                    <a:p>
                      <a:r>
                        <a:rPr lang="en-US" dirty="0"/>
                        <a:t>6</a:t>
                      </a:r>
                      <a:endParaRPr lang="en-PK" dirty="0"/>
                    </a:p>
                  </a:txBody>
                  <a:tcPr/>
                </a:tc>
                <a:tc>
                  <a:txBody>
                    <a:bodyPr/>
                    <a:lstStyle/>
                    <a:p>
                      <a:r>
                        <a:rPr lang="en-US" strike="sngStrike" dirty="0"/>
                        <a:t>2</a:t>
                      </a:r>
                      <a:endParaRPr lang="en-PK" strike="sngStrike" dirty="0"/>
                    </a:p>
                  </a:txBody>
                  <a:tcPr/>
                </a:tc>
                <a:tc>
                  <a:txBody>
                    <a:bodyPr/>
                    <a:lstStyle/>
                    <a:p>
                      <a:r>
                        <a:rPr lang="en-US" dirty="0"/>
                        <a:t>0</a:t>
                      </a:r>
                      <a:endParaRPr lang="en-PK" dirty="0"/>
                    </a:p>
                  </a:txBody>
                  <a:tcPr/>
                </a:tc>
                <a:tc>
                  <a:txBody>
                    <a:bodyPr/>
                    <a:lstStyle/>
                    <a:p>
                      <a:r>
                        <a:rPr lang="en-US" dirty="0"/>
                        <a:t>4</a:t>
                      </a:r>
                      <a:endParaRPr lang="en-PK" dirty="0"/>
                    </a:p>
                  </a:txBody>
                  <a:tcPr/>
                </a:tc>
                <a:tc>
                  <a:txBody>
                    <a:bodyPr/>
                    <a:lstStyle/>
                    <a:p>
                      <a:r>
                        <a:rPr lang="en-US" dirty="0"/>
                        <a:t>5</a:t>
                      </a:r>
                      <a:endParaRPr lang="en-PK" dirty="0"/>
                    </a:p>
                  </a:txBody>
                  <a:tcPr/>
                </a:tc>
                <a:tc>
                  <a:txBody>
                    <a:bodyPr/>
                    <a:lstStyle/>
                    <a:p>
                      <a:r>
                        <a:rPr lang="en-US" dirty="0"/>
                        <a:t>….</a:t>
                      </a:r>
                      <a:endParaRPr lang="en-PK" dirty="0"/>
                    </a:p>
                  </a:txBody>
                  <a:tcPr/>
                </a:tc>
                <a:tc>
                  <a:txBody>
                    <a:bodyPr/>
                    <a:lstStyle/>
                    <a:p>
                      <a:r>
                        <a:rPr lang="en-US" dirty="0"/>
                        <a:t>…</a:t>
                      </a:r>
                      <a:endParaRPr lang="en-PK" dirty="0"/>
                    </a:p>
                  </a:txBody>
                  <a:tcPr/>
                </a:tc>
                <a:tc>
                  <a:txBody>
                    <a:bodyPr/>
                    <a:lstStyle/>
                    <a:p>
                      <a:r>
                        <a:rPr lang="en-US" dirty="0"/>
                        <a:t>….</a:t>
                      </a:r>
                      <a:endParaRPr lang="en-PK" dirty="0"/>
                    </a:p>
                  </a:txBody>
                  <a:tcPr/>
                </a:tc>
                <a:extLst>
                  <a:ext uri="{0D108BD9-81ED-4DB2-BD59-A6C34878D82A}">
                    <a16:rowId xmlns:a16="http://schemas.microsoft.com/office/drawing/2014/main" val="80820361"/>
                  </a:ext>
                </a:extLst>
              </a:tr>
            </a:tbl>
          </a:graphicData>
        </a:graphic>
      </p:graphicFrame>
      <p:sp>
        <p:nvSpPr>
          <p:cNvPr id="78" name="TextBox 77">
            <a:extLst>
              <a:ext uri="{FF2B5EF4-FFF2-40B4-BE49-F238E27FC236}">
                <a16:creationId xmlns:a16="http://schemas.microsoft.com/office/drawing/2014/main" id="{CC8C52CE-2328-4E76-9F0E-69B8E5642526}"/>
              </a:ext>
            </a:extLst>
          </p:cNvPr>
          <p:cNvSpPr txBox="1"/>
          <p:nvPr/>
        </p:nvSpPr>
        <p:spPr>
          <a:xfrm>
            <a:off x="1587305" y="3798988"/>
            <a:ext cx="301686" cy="369332"/>
          </a:xfrm>
          <a:prstGeom prst="rect">
            <a:avLst/>
          </a:prstGeom>
          <a:noFill/>
        </p:spPr>
        <p:txBody>
          <a:bodyPr wrap="none" rtlCol="0">
            <a:spAutoFit/>
          </a:bodyPr>
          <a:lstStyle/>
          <a:p>
            <a:r>
              <a:rPr lang="en-US" dirty="0"/>
              <a:t>0</a:t>
            </a:r>
            <a:endParaRPr lang="en-PK" dirty="0"/>
          </a:p>
        </p:txBody>
      </p:sp>
      <p:sp>
        <p:nvSpPr>
          <p:cNvPr id="79" name="TextBox 78">
            <a:extLst>
              <a:ext uri="{FF2B5EF4-FFF2-40B4-BE49-F238E27FC236}">
                <a16:creationId xmlns:a16="http://schemas.microsoft.com/office/drawing/2014/main" id="{C9809C69-2180-481F-A060-9BBF958A81BE}"/>
              </a:ext>
            </a:extLst>
          </p:cNvPr>
          <p:cNvSpPr txBox="1"/>
          <p:nvPr/>
        </p:nvSpPr>
        <p:spPr>
          <a:xfrm>
            <a:off x="2708983" y="3744968"/>
            <a:ext cx="301686" cy="369332"/>
          </a:xfrm>
          <a:prstGeom prst="rect">
            <a:avLst/>
          </a:prstGeom>
          <a:noFill/>
        </p:spPr>
        <p:txBody>
          <a:bodyPr wrap="none" rtlCol="0">
            <a:spAutoFit/>
          </a:bodyPr>
          <a:lstStyle/>
          <a:p>
            <a:r>
              <a:rPr lang="en-US" dirty="0"/>
              <a:t>1</a:t>
            </a:r>
            <a:endParaRPr lang="en-PK" dirty="0"/>
          </a:p>
        </p:txBody>
      </p:sp>
      <p:sp>
        <p:nvSpPr>
          <p:cNvPr id="80" name="TextBox 79">
            <a:extLst>
              <a:ext uri="{FF2B5EF4-FFF2-40B4-BE49-F238E27FC236}">
                <a16:creationId xmlns:a16="http://schemas.microsoft.com/office/drawing/2014/main" id="{1276D3FE-903A-41A9-B03B-E968457397B5}"/>
              </a:ext>
            </a:extLst>
          </p:cNvPr>
          <p:cNvSpPr txBox="1"/>
          <p:nvPr/>
        </p:nvSpPr>
        <p:spPr>
          <a:xfrm>
            <a:off x="4002363" y="3759256"/>
            <a:ext cx="301686" cy="369332"/>
          </a:xfrm>
          <a:prstGeom prst="rect">
            <a:avLst/>
          </a:prstGeom>
          <a:noFill/>
        </p:spPr>
        <p:txBody>
          <a:bodyPr wrap="none" rtlCol="0">
            <a:spAutoFit/>
          </a:bodyPr>
          <a:lstStyle/>
          <a:p>
            <a:r>
              <a:rPr lang="en-US" dirty="0"/>
              <a:t>2</a:t>
            </a:r>
            <a:endParaRPr lang="en-PK" dirty="0"/>
          </a:p>
        </p:txBody>
      </p:sp>
      <p:sp>
        <p:nvSpPr>
          <p:cNvPr id="81" name="TextBox 80">
            <a:extLst>
              <a:ext uri="{FF2B5EF4-FFF2-40B4-BE49-F238E27FC236}">
                <a16:creationId xmlns:a16="http://schemas.microsoft.com/office/drawing/2014/main" id="{D9B86AB6-DC79-4CAD-843B-FA637A69B086}"/>
              </a:ext>
            </a:extLst>
          </p:cNvPr>
          <p:cNvSpPr txBox="1"/>
          <p:nvPr/>
        </p:nvSpPr>
        <p:spPr>
          <a:xfrm>
            <a:off x="5185982" y="3793402"/>
            <a:ext cx="301686" cy="369332"/>
          </a:xfrm>
          <a:prstGeom prst="rect">
            <a:avLst/>
          </a:prstGeom>
          <a:noFill/>
        </p:spPr>
        <p:txBody>
          <a:bodyPr wrap="none" rtlCol="0">
            <a:spAutoFit/>
          </a:bodyPr>
          <a:lstStyle/>
          <a:p>
            <a:r>
              <a:rPr lang="en-US" dirty="0"/>
              <a:t>3</a:t>
            </a:r>
            <a:endParaRPr lang="en-PK" dirty="0"/>
          </a:p>
        </p:txBody>
      </p:sp>
      <p:sp>
        <p:nvSpPr>
          <p:cNvPr id="82" name="TextBox 81">
            <a:extLst>
              <a:ext uri="{FF2B5EF4-FFF2-40B4-BE49-F238E27FC236}">
                <a16:creationId xmlns:a16="http://schemas.microsoft.com/office/drawing/2014/main" id="{678AE0A0-195E-453A-A524-11C304AA4F5C}"/>
              </a:ext>
            </a:extLst>
          </p:cNvPr>
          <p:cNvSpPr txBox="1"/>
          <p:nvPr/>
        </p:nvSpPr>
        <p:spPr>
          <a:xfrm>
            <a:off x="6256131" y="3750788"/>
            <a:ext cx="301686" cy="369332"/>
          </a:xfrm>
          <a:prstGeom prst="rect">
            <a:avLst/>
          </a:prstGeom>
          <a:noFill/>
        </p:spPr>
        <p:txBody>
          <a:bodyPr wrap="none" rtlCol="0">
            <a:spAutoFit/>
          </a:bodyPr>
          <a:lstStyle/>
          <a:p>
            <a:r>
              <a:rPr lang="en-US" dirty="0"/>
              <a:t>4</a:t>
            </a:r>
            <a:endParaRPr lang="en-PK" dirty="0"/>
          </a:p>
        </p:txBody>
      </p:sp>
      <p:sp>
        <p:nvSpPr>
          <p:cNvPr id="83" name="TextBox 82">
            <a:extLst>
              <a:ext uri="{FF2B5EF4-FFF2-40B4-BE49-F238E27FC236}">
                <a16:creationId xmlns:a16="http://schemas.microsoft.com/office/drawing/2014/main" id="{90F47B54-CC28-44A3-934C-4C2627FA8177}"/>
              </a:ext>
            </a:extLst>
          </p:cNvPr>
          <p:cNvSpPr txBox="1"/>
          <p:nvPr/>
        </p:nvSpPr>
        <p:spPr>
          <a:xfrm>
            <a:off x="7364315" y="3744968"/>
            <a:ext cx="301686" cy="369332"/>
          </a:xfrm>
          <a:prstGeom prst="rect">
            <a:avLst/>
          </a:prstGeom>
          <a:noFill/>
        </p:spPr>
        <p:txBody>
          <a:bodyPr wrap="none" rtlCol="0">
            <a:spAutoFit/>
          </a:bodyPr>
          <a:lstStyle/>
          <a:p>
            <a:r>
              <a:rPr lang="en-US" dirty="0"/>
              <a:t>5</a:t>
            </a:r>
            <a:endParaRPr lang="en-PK" dirty="0"/>
          </a:p>
        </p:txBody>
      </p:sp>
      <p:sp>
        <p:nvSpPr>
          <p:cNvPr id="84" name="TextBox 83">
            <a:extLst>
              <a:ext uri="{FF2B5EF4-FFF2-40B4-BE49-F238E27FC236}">
                <a16:creationId xmlns:a16="http://schemas.microsoft.com/office/drawing/2014/main" id="{02FBE406-BBDB-49AC-A0C8-6740F500B86A}"/>
              </a:ext>
            </a:extLst>
          </p:cNvPr>
          <p:cNvSpPr txBox="1"/>
          <p:nvPr/>
        </p:nvSpPr>
        <p:spPr>
          <a:xfrm>
            <a:off x="9841168" y="3759256"/>
            <a:ext cx="418704" cy="369332"/>
          </a:xfrm>
          <a:prstGeom prst="rect">
            <a:avLst/>
          </a:prstGeom>
          <a:noFill/>
        </p:spPr>
        <p:txBody>
          <a:bodyPr wrap="none" rtlCol="0">
            <a:spAutoFit/>
          </a:bodyPr>
          <a:lstStyle/>
          <a:p>
            <a:r>
              <a:rPr lang="en-US" dirty="0"/>
              <a:t>49</a:t>
            </a:r>
            <a:endParaRPr lang="en-PK" dirty="0"/>
          </a:p>
        </p:txBody>
      </p:sp>
      <p:sp>
        <p:nvSpPr>
          <p:cNvPr id="85" name="TextBox 84">
            <a:extLst>
              <a:ext uri="{FF2B5EF4-FFF2-40B4-BE49-F238E27FC236}">
                <a16:creationId xmlns:a16="http://schemas.microsoft.com/office/drawing/2014/main" id="{5105DB7D-3E9B-4919-9304-C8C070ABBFE7}"/>
              </a:ext>
            </a:extLst>
          </p:cNvPr>
          <p:cNvSpPr txBox="1"/>
          <p:nvPr/>
        </p:nvSpPr>
        <p:spPr>
          <a:xfrm>
            <a:off x="6790684" y="4638735"/>
            <a:ext cx="285656" cy="261610"/>
          </a:xfrm>
          <a:prstGeom prst="rect">
            <a:avLst/>
          </a:prstGeom>
          <a:noFill/>
        </p:spPr>
        <p:txBody>
          <a:bodyPr wrap="none" rtlCol="0">
            <a:spAutoFit/>
          </a:bodyPr>
          <a:lstStyle/>
          <a:p>
            <a:r>
              <a:rPr lang="en-US" sz="1100" b="1" dirty="0"/>
              <a:t>…</a:t>
            </a:r>
          </a:p>
        </p:txBody>
      </p:sp>
      <p:sp>
        <p:nvSpPr>
          <p:cNvPr id="86" name="TextBox 85">
            <a:extLst>
              <a:ext uri="{FF2B5EF4-FFF2-40B4-BE49-F238E27FC236}">
                <a16:creationId xmlns:a16="http://schemas.microsoft.com/office/drawing/2014/main" id="{2E520052-0B8B-4DC5-85AE-C0628A7C3296}"/>
              </a:ext>
            </a:extLst>
          </p:cNvPr>
          <p:cNvSpPr txBox="1"/>
          <p:nvPr/>
        </p:nvSpPr>
        <p:spPr>
          <a:xfrm>
            <a:off x="7932177" y="4638735"/>
            <a:ext cx="285656" cy="261610"/>
          </a:xfrm>
          <a:prstGeom prst="rect">
            <a:avLst/>
          </a:prstGeom>
          <a:noFill/>
        </p:spPr>
        <p:txBody>
          <a:bodyPr wrap="none" rtlCol="0">
            <a:spAutoFit/>
          </a:bodyPr>
          <a:lstStyle/>
          <a:p>
            <a:r>
              <a:rPr lang="en-US" sz="1100" b="1" dirty="0"/>
              <a:t>…</a:t>
            </a:r>
          </a:p>
        </p:txBody>
      </p:sp>
      <p:sp>
        <p:nvSpPr>
          <p:cNvPr id="87" name="TextBox 86">
            <a:extLst>
              <a:ext uri="{FF2B5EF4-FFF2-40B4-BE49-F238E27FC236}">
                <a16:creationId xmlns:a16="http://schemas.microsoft.com/office/drawing/2014/main" id="{2D27C7ED-C859-4EA8-A2C9-D0CC10E0EFA9}"/>
              </a:ext>
            </a:extLst>
          </p:cNvPr>
          <p:cNvSpPr txBox="1"/>
          <p:nvPr/>
        </p:nvSpPr>
        <p:spPr>
          <a:xfrm>
            <a:off x="9053573" y="4638735"/>
            <a:ext cx="401072" cy="261610"/>
          </a:xfrm>
          <a:prstGeom prst="rect">
            <a:avLst/>
          </a:prstGeom>
          <a:noFill/>
        </p:spPr>
        <p:txBody>
          <a:bodyPr wrap="none" rtlCol="0">
            <a:spAutoFit/>
          </a:bodyPr>
          <a:lstStyle/>
          <a:p>
            <a:r>
              <a:rPr lang="en-US" sz="1100" b="1" dirty="0"/>
              <a:t>296</a:t>
            </a:r>
          </a:p>
        </p:txBody>
      </p:sp>
      <p:sp>
        <p:nvSpPr>
          <p:cNvPr id="93" name="TextBox 92">
            <a:extLst>
              <a:ext uri="{FF2B5EF4-FFF2-40B4-BE49-F238E27FC236}">
                <a16:creationId xmlns:a16="http://schemas.microsoft.com/office/drawing/2014/main" id="{D967A356-F685-41E4-9B96-ED9BC2F6F251}"/>
              </a:ext>
            </a:extLst>
          </p:cNvPr>
          <p:cNvSpPr txBox="1"/>
          <p:nvPr/>
        </p:nvSpPr>
        <p:spPr>
          <a:xfrm>
            <a:off x="6610634" y="148707"/>
            <a:ext cx="4885877" cy="3477875"/>
          </a:xfrm>
          <a:prstGeom prst="rect">
            <a:avLst/>
          </a:prstGeom>
          <a:noFill/>
        </p:spPr>
        <p:txBody>
          <a:bodyPr wrap="square" rtlCol="0">
            <a:spAutoFit/>
          </a:bodyPr>
          <a:lstStyle/>
          <a:p>
            <a:r>
              <a:rPr lang="en-US" sz="2000" b="1" dirty="0"/>
              <a:t>Program:</a:t>
            </a:r>
          </a:p>
          <a:p>
            <a:endParaRPr lang="en-US" sz="2000" b="1" dirty="0"/>
          </a:p>
          <a:p>
            <a:r>
              <a:rPr lang="en-US" dirty="0"/>
              <a:t>int a[50], size = 5,  pos =2</a:t>
            </a:r>
          </a:p>
          <a:p>
            <a:r>
              <a:rPr lang="en-US" dirty="0"/>
              <a:t>If (pos &lt;=0 || pos &gt;size){</a:t>
            </a:r>
          </a:p>
          <a:p>
            <a:r>
              <a:rPr lang="en-US" dirty="0" err="1"/>
              <a:t>System.out.println</a:t>
            </a:r>
            <a:r>
              <a:rPr lang="en-US" dirty="0"/>
              <a:t>(“Invalid Position”)</a:t>
            </a:r>
          </a:p>
          <a:p>
            <a:r>
              <a:rPr lang="en-US" dirty="0"/>
              <a:t>} </a:t>
            </a:r>
          </a:p>
          <a:p>
            <a:r>
              <a:rPr lang="en-US" dirty="0"/>
              <a:t>else{</a:t>
            </a:r>
          </a:p>
          <a:p>
            <a:r>
              <a:rPr lang="en-US" dirty="0"/>
              <a:t>for( I = pos – 1, </a:t>
            </a:r>
            <a:r>
              <a:rPr lang="en-US" dirty="0" err="1"/>
              <a:t>i</a:t>
            </a:r>
            <a:r>
              <a:rPr lang="en-US" dirty="0"/>
              <a:t>&lt;size -1 ; </a:t>
            </a:r>
            <a:r>
              <a:rPr lang="en-US" dirty="0" err="1"/>
              <a:t>i</a:t>
            </a:r>
            <a:r>
              <a:rPr lang="en-US" dirty="0"/>
              <a:t>++){</a:t>
            </a:r>
          </a:p>
          <a:p>
            <a:r>
              <a:rPr lang="en-US" dirty="0"/>
              <a:t>a[</a:t>
            </a:r>
            <a:r>
              <a:rPr lang="en-US" dirty="0" err="1"/>
              <a:t>i</a:t>
            </a:r>
            <a:r>
              <a:rPr lang="en-US" dirty="0"/>
              <a:t>] = a[i+1]</a:t>
            </a:r>
          </a:p>
          <a:p>
            <a:r>
              <a:rPr lang="en-US" dirty="0"/>
              <a:t>} </a:t>
            </a:r>
          </a:p>
          <a:p>
            <a:r>
              <a:rPr lang="en-US" dirty="0"/>
              <a:t>size--;</a:t>
            </a:r>
          </a:p>
          <a:p>
            <a:r>
              <a:rPr lang="en-US" dirty="0"/>
              <a:t>}</a:t>
            </a:r>
          </a:p>
        </p:txBody>
      </p:sp>
      <p:cxnSp>
        <p:nvCxnSpPr>
          <p:cNvPr id="95" name="Straight Arrow Connector 94">
            <a:extLst>
              <a:ext uri="{FF2B5EF4-FFF2-40B4-BE49-F238E27FC236}">
                <a16:creationId xmlns:a16="http://schemas.microsoft.com/office/drawing/2014/main" id="{A971410B-60B2-43EE-88E5-795D1B112FF7}"/>
              </a:ext>
            </a:extLst>
          </p:cNvPr>
          <p:cNvCxnSpPr>
            <a:cxnSpLocks/>
          </p:cNvCxnSpPr>
          <p:nvPr/>
        </p:nvCxnSpPr>
        <p:spPr>
          <a:xfrm>
            <a:off x="2819778" y="3248025"/>
            <a:ext cx="0" cy="511231"/>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3" name="Title 1">
            <a:extLst>
              <a:ext uri="{FF2B5EF4-FFF2-40B4-BE49-F238E27FC236}">
                <a16:creationId xmlns:a16="http://schemas.microsoft.com/office/drawing/2014/main" id="{B7091CCD-6697-446A-937D-D21BCD09BFDC}"/>
              </a:ext>
            </a:extLst>
          </p:cNvPr>
          <p:cNvSpPr txBox="1">
            <a:spLocks/>
          </p:cNvSpPr>
          <p:nvPr/>
        </p:nvSpPr>
        <p:spPr>
          <a:xfrm>
            <a:off x="228600" y="114956"/>
            <a:ext cx="3520093" cy="56608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a:solidFill>
                  <a:schemeClr val="accent1">
                    <a:lumMod val="50000"/>
                  </a:schemeClr>
                </a:solidFill>
                <a:latin typeface="+mn-lt"/>
              </a:rPr>
              <a:t>Operations on array</a:t>
            </a:r>
            <a:endParaRPr lang="en-PK" sz="2800" b="1" dirty="0">
              <a:solidFill>
                <a:schemeClr val="accent1">
                  <a:lumMod val="50000"/>
                </a:schemeClr>
              </a:solidFill>
              <a:latin typeface="+mn-lt"/>
            </a:endParaRPr>
          </a:p>
        </p:txBody>
      </p:sp>
    </p:spTree>
    <p:extLst>
      <p:ext uri="{BB962C8B-B14F-4D97-AF65-F5344CB8AC3E}">
        <p14:creationId xmlns:p14="http://schemas.microsoft.com/office/powerpoint/2010/main" val="28413199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0084B-14DB-4B94-86F4-DDDC4BF42115}"/>
              </a:ext>
            </a:extLst>
          </p:cNvPr>
          <p:cNvSpPr>
            <a:spLocks noGrp="1"/>
          </p:cNvSpPr>
          <p:nvPr>
            <p:ph type="title"/>
          </p:nvPr>
        </p:nvSpPr>
        <p:spPr/>
        <p:txBody>
          <a:bodyPr/>
          <a:lstStyle/>
          <a:p>
            <a:r>
              <a:rPr lang="en-US" b="1" dirty="0">
                <a:solidFill>
                  <a:schemeClr val="accent1">
                    <a:lumMod val="50000"/>
                  </a:schemeClr>
                </a:solidFill>
                <a:latin typeface="+mn-lt"/>
              </a:rPr>
              <a:t>Types of Array</a:t>
            </a:r>
            <a:endParaRPr lang="en-PK" b="1" dirty="0">
              <a:solidFill>
                <a:schemeClr val="accent1">
                  <a:lumMod val="50000"/>
                </a:schemeClr>
              </a:solidFill>
              <a:latin typeface="+mn-lt"/>
            </a:endParaRPr>
          </a:p>
        </p:txBody>
      </p:sp>
      <p:sp>
        <p:nvSpPr>
          <p:cNvPr id="3" name="Content Placeholder 2">
            <a:extLst>
              <a:ext uri="{FF2B5EF4-FFF2-40B4-BE49-F238E27FC236}">
                <a16:creationId xmlns:a16="http://schemas.microsoft.com/office/drawing/2014/main" id="{1D5EFBFF-7557-4054-92CA-0354BE1B07B7}"/>
              </a:ext>
            </a:extLst>
          </p:cNvPr>
          <p:cNvSpPr>
            <a:spLocks noGrp="1"/>
          </p:cNvSpPr>
          <p:nvPr>
            <p:ph idx="1"/>
          </p:nvPr>
        </p:nvSpPr>
        <p:spPr/>
        <p:txBody>
          <a:bodyPr/>
          <a:lstStyle/>
          <a:p>
            <a:r>
              <a:rPr lang="en-US" dirty="0"/>
              <a:t>1-Dimensional</a:t>
            </a:r>
          </a:p>
          <a:p>
            <a:r>
              <a:rPr lang="en-US" dirty="0"/>
              <a:t>2-Dimensional</a:t>
            </a:r>
          </a:p>
          <a:p>
            <a:r>
              <a:rPr lang="en-US" dirty="0"/>
              <a:t>Multi-Dimensional</a:t>
            </a:r>
            <a:endParaRPr lang="en-PK" dirty="0"/>
          </a:p>
        </p:txBody>
      </p:sp>
    </p:spTree>
    <p:extLst>
      <p:ext uri="{BB962C8B-B14F-4D97-AF65-F5344CB8AC3E}">
        <p14:creationId xmlns:p14="http://schemas.microsoft.com/office/powerpoint/2010/main" val="39592133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5D2FE-16AB-484E-B846-2ECBEE0C5592}"/>
              </a:ext>
            </a:extLst>
          </p:cNvPr>
          <p:cNvSpPr>
            <a:spLocks noGrp="1"/>
          </p:cNvSpPr>
          <p:nvPr>
            <p:ph type="title"/>
          </p:nvPr>
        </p:nvSpPr>
        <p:spPr>
          <a:xfrm>
            <a:off x="560407" y="23273"/>
            <a:ext cx="10515600" cy="718415"/>
          </a:xfrm>
        </p:spPr>
        <p:txBody>
          <a:bodyPr>
            <a:normAutofit/>
          </a:bodyPr>
          <a:lstStyle/>
          <a:p>
            <a:pPr algn="just"/>
            <a:r>
              <a:rPr lang="en-US" sz="2800" b="1" dirty="0">
                <a:solidFill>
                  <a:schemeClr val="accent1">
                    <a:lumMod val="50000"/>
                  </a:schemeClr>
                </a:solidFill>
                <a:latin typeface="+mn-lt"/>
              </a:rPr>
              <a:t>1 Dimensional Array</a:t>
            </a:r>
            <a:endParaRPr lang="en-PK" sz="2800" b="1" dirty="0">
              <a:solidFill>
                <a:schemeClr val="accent1">
                  <a:lumMod val="50000"/>
                </a:schemeClr>
              </a:solidFill>
              <a:latin typeface="+mn-lt"/>
            </a:endParaRPr>
          </a:p>
        </p:txBody>
      </p:sp>
      <p:sp>
        <p:nvSpPr>
          <p:cNvPr id="4" name="TextBox 3">
            <a:extLst>
              <a:ext uri="{FF2B5EF4-FFF2-40B4-BE49-F238E27FC236}">
                <a16:creationId xmlns:a16="http://schemas.microsoft.com/office/drawing/2014/main" id="{9B08E891-F5BB-4204-B7BA-1C48607EFD06}"/>
              </a:ext>
            </a:extLst>
          </p:cNvPr>
          <p:cNvSpPr txBox="1"/>
          <p:nvPr/>
        </p:nvSpPr>
        <p:spPr>
          <a:xfrm>
            <a:off x="254506" y="746491"/>
            <a:ext cx="11154136" cy="2230739"/>
          </a:xfrm>
          <a:prstGeom prst="rect">
            <a:avLst/>
          </a:prstGeom>
          <a:noFill/>
        </p:spPr>
        <p:txBody>
          <a:bodyPr wrap="square">
            <a:spAutoFit/>
          </a:bodyPr>
          <a:lstStyle/>
          <a:p>
            <a:pPr marL="742950" lvl="1" indent="-285750" algn="just">
              <a:lnSpc>
                <a:spcPct val="200000"/>
              </a:lnSpc>
              <a:buFont typeface="Arial" panose="020B0604020202020204" pitchFamily="34" charset="0"/>
              <a:buChar char="•"/>
            </a:pPr>
            <a:r>
              <a:rPr lang="en-PK" dirty="0">
                <a:effectLst/>
                <a:ea typeface="Calibri" panose="020F0502020204030204" pitchFamily="34" charset="0"/>
                <a:cs typeface="Arial" panose="020B0604020202020204" pitchFamily="34" charset="0"/>
              </a:rPr>
              <a:t>A one-dimensional array is also called a single dimensional array where the elements will be accessed in sequential order.</a:t>
            </a:r>
            <a:endParaRPr lang="en-US" dirty="0">
              <a:effectLst/>
              <a:ea typeface="Calibri" panose="020F0502020204030204" pitchFamily="34" charset="0"/>
              <a:cs typeface="Arial" panose="020B0604020202020204" pitchFamily="34" charset="0"/>
            </a:endParaRPr>
          </a:p>
          <a:p>
            <a:pPr marL="742950" lvl="1" indent="-285750" algn="just">
              <a:lnSpc>
                <a:spcPct val="200000"/>
              </a:lnSpc>
              <a:buFont typeface="Arial" panose="020B0604020202020204" pitchFamily="34" charset="0"/>
              <a:buChar char="•"/>
            </a:pPr>
            <a:r>
              <a:rPr lang="en-PK" dirty="0">
                <a:effectLst/>
                <a:ea typeface="Times New Roman" panose="02020603050405020304" pitchFamily="18" charset="0"/>
              </a:rPr>
              <a:t>This type of array will be accessed by the subscript of either a column or row index.</a:t>
            </a:r>
          </a:p>
          <a:p>
            <a:pPr marL="742950" lvl="1" indent="-285750" algn="just">
              <a:lnSpc>
                <a:spcPct val="200000"/>
              </a:lnSpc>
              <a:buFont typeface="Arial" panose="020B0604020202020204" pitchFamily="34" charset="0"/>
              <a:buChar char="•"/>
            </a:pPr>
            <a:endParaRPr lang="en-PK" dirty="0"/>
          </a:p>
        </p:txBody>
      </p:sp>
      <p:sp>
        <p:nvSpPr>
          <p:cNvPr id="17" name="TextBox 16">
            <a:extLst>
              <a:ext uri="{FF2B5EF4-FFF2-40B4-BE49-F238E27FC236}">
                <a16:creationId xmlns:a16="http://schemas.microsoft.com/office/drawing/2014/main" id="{6D8768D2-DD02-4FDB-B5BC-7DF80C471319}"/>
              </a:ext>
            </a:extLst>
          </p:cNvPr>
          <p:cNvSpPr txBox="1"/>
          <p:nvPr/>
        </p:nvSpPr>
        <p:spPr>
          <a:xfrm>
            <a:off x="783358" y="2406955"/>
            <a:ext cx="10754408" cy="2230739"/>
          </a:xfrm>
          <a:prstGeom prst="rect">
            <a:avLst/>
          </a:prstGeom>
          <a:noFill/>
        </p:spPr>
        <p:txBody>
          <a:bodyPr wrap="square">
            <a:spAutoFit/>
          </a:bodyPr>
          <a:lstStyle/>
          <a:p>
            <a:pPr marL="285750" indent="-285750" algn="just">
              <a:lnSpc>
                <a:spcPct val="200000"/>
              </a:lnSpc>
              <a:buFont typeface="Arial" panose="020B0604020202020204" pitchFamily="34" charset="0"/>
              <a:buChar char="•"/>
            </a:pPr>
            <a:r>
              <a:rPr lang="en-US" b="1" i="0" dirty="0">
                <a:solidFill>
                  <a:srgbClr val="3A3A3A"/>
                </a:solidFill>
                <a:effectLst/>
              </a:rPr>
              <a:t>One Dimensional Array in java </a:t>
            </a:r>
            <a:r>
              <a:rPr lang="en-US" b="0" i="0" dirty="0">
                <a:solidFill>
                  <a:srgbClr val="3A3A3A"/>
                </a:solidFill>
                <a:effectLst/>
              </a:rPr>
              <a:t>is always used with only one subscript([]). </a:t>
            </a:r>
          </a:p>
          <a:p>
            <a:pPr marL="285750" indent="-285750" algn="just">
              <a:lnSpc>
                <a:spcPct val="200000"/>
              </a:lnSpc>
              <a:buFont typeface="Arial" panose="020B0604020202020204" pitchFamily="34" charset="0"/>
              <a:buChar char="•"/>
            </a:pPr>
            <a:r>
              <a:rPr lang="en-US" b="0" i="0" dirty="0">
                <a:solidFill>
                  <a:srgbClr val="3A3A3A"/>
                </a:solidFill>
                <a:effectLst/>
              </a:rPr>
              <a:t>A </a:t>
            </a:r>
            <a:r>
              <a:rPr lang="en-US" b="1" i="0" dirty="0">
                <a:solidFill>
                  <a:srgbClr val="3A3A3A"/>
                </a:solidFill>
                <a:effectLst/>
              </a:rPr>
              <a:t>one-dimensional array</a:t>
            </a:r>
            <a:r>
              <a:rPr lang="en-US" b="0" i="0" dirty="0">
                <a:solidFill>
                  <a:srgbClr val="3A3A3A"/>
                </a:solidFill>
                <a:effectLst/>
              </a:rPr>
              <a:t> behaves likes a list of variables.</a:t>
            </a:r>
          </a:p>
          <a:p>
            <a:pPr marL="285750" indent="-285750" algn="just">
              <a:lnSpc>
                <a:spcPct val="200000"/>
              </a:lnSpc>
              <a:buFont typeface="Arial" panose="020B0604020202020204" pitchFamily="34" charset="0"/>
              <a:buChar char="•"/>
            </a:pPr>
            <a:r>
              <a:rPr lang="en-US" dirty="0">
                <a:solidFill>
                  <a:srgbClr val="3A3A3A"/>
                </a:solidFill>
              </a:rPr>
              <a:t>A</a:t>
            </a:r>
            <a:r>
              <a:rPr lang="en-US" b="0" i="0" dirty="0">
                <a:solidFill>
                  <a:srgbClr val="3A3A3A"/>
                </a:solidFill>
                <a:effectLst/>
              </a:rPr>
              <a:t>ccess the variables of an array by using an index in square brackets preceded by the name of that array. </a:t>
            </a:r>
          </a:p>
          <a:p>
            <a:pPr marL="285750" indent="-285750" algn="just">
              <a:lnSpc>
                <a:spcPct val="200000"/>
              </a:lnSpc>
              <a:buFont typeface="Arial" panose="020B0604020202020204" pitchFamily="34" charset="0"/>
              <a:buChar char="•"/>
            </a:pPr>
            <a:r>
              <a:rPr lang="en-US" b="0" i="0" dirty="0">
                <a:solidFill>
                  <a:srgbClr val="3A3A3A"/>
                </a:solidFill>
                <a:effectLst/>
              </a:rPr>
              <a:t>Index value should be an integer.</a:t>
            </a:r>
            <a:endParaRPr lang="en-PK" dirty="0"/>
          </a:p>
        </p:txBody>
      </p:sp>
      <p:sp>
        <p:nvSpPr>
          <p:cNvPr id="9" name="TextBox 8">
            <a:extLst>
              <a:ext uri="{FF2B5EF4-FFF2-40B4-BE49-F238E27FC236}">
                <a16:creationId xmlns:a16="http://schemas.microsoft.com/office/drawing/2014/main" id="{F16187CD-74C4-40C5-BA0A-2493D8887188}"/>
              </a:ext>
            </a:extLst>
          </p:cNvPr>
          <p:cNvSpPr txBox="1"/>
          <p:nvPr/>
        </p:nvSpPr>
        <p:spPr>
          <a:xfrm>
            <a:off x="783358" y="4586792"/>
            <a:ext cx="11294435" cy="171136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800" dirty="0"/>
              <a:t>A list of items can be given a common name individuals. Items can be referred using only one subscript Such variables are referred to a single subscript variable or a single dimensional array.</a:t>
            </a:r>
          </a:p>
          <a:p>
            <a:pPr marL="285750" indent="-285750">
              <a:lnSpc>
                <a:spcPct val="150000"/>
              </a:lnSpc>
              <a:buFont typeface="Arial" panose="020B0604020202020204" pitchFamily="34" charset="0"/>
              <a:buChar char="•"/>
            </a:pPr>
            <a:r>
              <a:rPr lang="en-US" sz="1800" dirty="0"/>
              <a:t>Linear arrays are also called single one dimensional array, since each element in the array is referred by a single subscript. In one dimensional array, the elements are represented in a single row.</a:t>
            </a:r>
            <a:endParaRPr lang="en-PK" sz="1800" dirty="0"/>
          </a:p>
        </p:txBody>
      </p:sp>
    </p:spTree>
    <p:extLst>
      <p:ext uri="{BB962C8B-B14F-4D97-AF65-F5344CB8AC3E}">
        <p14:creationId xmlns:p14="http://schemas.microsoft.com/office/powerpoint/2010/main" val="3246045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1000"/>
                                        <p:tgtEl>
                                          <p:spTgt spid="17"/>
                                        </p:tgtEl>
                                      </p:cBhvr>
                                    </p:animEffect>
                                    <p:anim calcmode="lin" valueType="num">
                                      <p:cBhvr>
                                        <p:cTn id="15" dur="1000" fill="hold"/>
                                        <p:tgtEl>
                                          <p:spTgt spid="17"/>
                                        </p:tgtEl>
                                        <p:attrNameLst>
                                          <p:attrName>ppt_x</p:attrName>
                                        </p:attrNameLst>
                                      </p:cBhvr>
                                      <p:tavLst>
                                        <p:tav tm="0">
                                          <p:val>
                                            <p:strVal val="#ppt_x"/>
                                          </p:val>
                                        </p:tav>
                                        <p:tav tm="100000">
                                          <p:val>
                                            <p:strVal val="#ppt_x"/>
                                          </p:val>
                                        </p:tav>
                                      </p:tavLst>
                                    </p:anim>
                                    <p:anim calcmode="lin" valueType="num">
                                      <p:cBhvr>
                                        <p:cTn id="16"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barn(inVertical)">
                                      <p:cBhvr>
                                        <p:cTn id="2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7" grpId="0"/>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0C9E92D-CA25-4F0C-BDAC-1BF10AA4BAAE}"/>
              </a:ext>
            </a:extLst>
          </p:cNvPr>
          <p:cNvSpPr txBox="1"/>
          <p:nvPr/>
        </p:nvSpPr>
        <p:spPr>
          <a:xfrm>
            <a:off x="86677" y="162580"/>
            <a:ext cx="8778240" cy="523220"/>
          </a:xfrm>
          <a:prstGeom prst="rect">
            <a:avLst/>
          </a:prstGeom>
          <a:noFill/>
        </p:spPr>
        <p:txBody>
          <a:bodyPr wrap="square">
            <a:spAutoFit/>
          </a:bodyPr>
          <a:lstStyle/>
          <a:p>
            <a:r>
              <a:rPr lang="en-US" sz="2800" b="1" dirty="0">
                <a:solidFill>
                  <a:schemeClr val="accent1">
                    <a:lumMod val="50000"/>
                  </a:schemeClr>
                </a:solidFill>
              </a:rPr>
              <a:t>Declare, Initialize and Assigning of Array</a:t>
            </a:r>
            <a:endParaRPr lang="en-PK" sz="2800" dirty="0"/>
          </a:p>
        </p:txBody>
      </p:sp>
      <p:sp>
        <p:nvSpPr>
          <p:cNvPr id="8" name="TextBox 7">
            <a:extLst>
              <a:ext uri="{FF2B5EF4-FFF2-40B4-BE49-F238E27FC236}">
                <a16:creationId xmlns:a16="http://schemas.microsoft.com/office/drawing/2014/main" id="{443BC116-A087-4FAA-B7E6-DDB590ECA423}"/>
              </a:ext>
            </a:extLst>
          </p:cNvPr>
          <p:cNvSpPr txBox="1"/>
          <p:nvPr/>
        </p:nvSpPr>
        <p:spPr>
          <a:xfrm>
            <a:off x="525780" y="5014555"/>
            <a:ext cx="6096000"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800" b="0" i="0" u="none" strike="noStrike" cap="none" normalizeH="0" baseline="0" dirty="0">
                <a:ln>
                  <a:noFill/>
                </a:ln>
                <a:solidFill>
                  <a:srgbClr val="000088"/>
                </a:solidFill>
                <a:effectLst/>
                <a:ea typeface="Times New Roman" panose="02020603050405020304" pitchFamily="18" charset="0"/>
                <a:cs typeface="Courier New" panose="02070309020205020404" pitchFamily="49" charset="0"/>
              </a:rPr>
              <a:t>double</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r>
              <a:rPr kumimoji="0" lang="en-US"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err="1">
                <a:ln>
                  <a:noFill/>
                </a:ln>
                <a:solidFill>
                  <a:srgbClr val="000000"/>
                </a:solidFill>
                <a:effectLst/>
                <a:ea typeface="Times New Roman" panose="02020603050405020304" pitchFamily="18" charset="0"/>
                <a:cs typeface="Courier New" panose="02070309020205020404" pitchFamily="49" charset="0"/>
              </a:rPr>
              <a:t>myList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000088"/>
                </a:solidFill>
                <a:effectLst/>
                <a:ea typeface="Times New Roman" panose="02020603050405020304" pitchFamily="18" charset="0"/>
                <a:cs typeface="Courier New" panose="02070309020205020404" pitchFamily="49" charset="0"/>
              </a:rPr>
              <a:t>new</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000088"/>
                </a:solidFill>
                <a:effectLst/>
                <a:ea typeface="Times New Roman" panose="02020603050405020304" pitchFamily="18" charset="0"/>
                <a:cs typeface="Courier New" panose="02070309020205020404" pitchFamily="49" charset="0"/>
              </a:rPr>
              <a:t>double</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6666"/>
                </a:solidFill>
                <a:effectLst/>
                <a:ea typeface="Times New Roman" panose="02020603050405020304" pitchFamily="18" charset="0"/>
                <a:cs typeface="Courier New" panose="02070309020205020404" pitchFamily="49" charset="0"/>
              </a:rPr>
              <a:t>10</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endParaRPr kumimoji="0" lang="en-PK" altLang="en-PK" sz="3200" b="0" i="0" u="none" strike="noStrike" cap="none" normalizeH="0" baseline="0" dirty="0">
              <a:ln>
                <a:noFill/>
              </a:ln>
              <a:solidFill>
                <a:schemeClr val="tx1"/>
              </a:solidFill>
              <a:effectLst/>
            </a:endParaRPr>
          </a:p>
        </p:txBody>
      </p:sp>
      <p:pic>
        <p:nvPicPr>
          <p:cNvPr id="9" name="Picture 8" descr="Java Array">
            <a:extLst>
              <a:ext uri="{FF2B5EF4-FFF2-40B4-BE49-F238E27FC236}">
                <a16:creationId xmlns:a16="http://schemas.microsoft.com/office/drawing/2014/main" id="{CF889348-01D4-423C-B5C6-70770846E00C}"/>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5761354" y="920670"/>
            <a:ext cx="6207125" cy="4052689"/>
          </a:xfrm>
          <a:prstGeom prst="rect">
            <a:avLst/>
          </a:prstGeom>
          <a:noFill/>
          <a:ln>
            <a:noFill/>
          </a:ln>
        </p:spPr>
      </p:pic>
      <p:sp>
        <p:nvSpPr>
          <p:cNvPr id="13" name="TextBox 12">
            <a:extLst>
              <a:ext uri="{FF2B5EF4-FFF2-40B4-BE49-F238E27FC236}">
                <a16:creationId xmlns:a16="http://schemas.microsoft.com/office/drawing/2014/main" id="{4FE8DBDA-EEF7-4F6D-A98A-8F4FE9414FDC}"/>
              </a:ext>
            </a:extLst>
          </p:cNvPr>
          <p:cNvSpPr txBox="1"/>
          <p:nvPr/>
        </p:nvSpPr>
        <p:spPr>
          <a:xfrm>
            <a:off x="317500" y="2823785"/>
            <a:ext cx="5003800" cy="923330"/>
          </a:xfrm>
          <a:prstGeom prst="rect">
            <a:avLst/>
          </a:prstGeom>
          <a:noFill/>
        </p:spPr>
        <p:txBody>
          <a:bodyPr wrap="square">
            <a:spAutoFit/>
          </a:bodyPr>
          <a:lstStyle/>
          <a:p>
            <a:pPr marL="285750" indent="-285750">
              <a:buFont typeface="Arial" panose="020B0604020202020204" pitchFamily="34" charset="0"/>
              <a:buChar char="•"/>
            </a:pPr>
            <a:r>
              <a:rPr lang="en-PK" sz="1800" dirty="0">
                <a:solidFill>
                  <a:srgbClr val="000000"/>
                </a:solidFill>
                <a:effectLst/>
                <a:ea typeface="Calibri" panose="020F0502020204030204" pitchFamily="34" charset="0"/>
              </a:rPr>
              <a:t>Following statement declares an array variable, </a:t>
            </a:r>
            <a:r>
              <a:rPr lang="en-PK" sz="1800" dirty="0" err="1">
                <a:solidFill>
                  <a:srgbClr val="000000"/>
                </a:solidFill>
                <a:effectLst/>
                <a:ea typeface="Calibri" panose="020F0502020204030204" pitchFamily="34" charset="0"/>
              </a:rPr>
              <a:t>myList</a:t>
            </a:r>
            <a:r>
              <a:rPr lang="en-PK" sz="1800" dirty="0">
                <a:solidFill>
                  <a:srgbClr val="000000"/>
                </a:solidFill>
                <a:effectLst/>
                <a:ea typeface="Calibri" panose="020F0502020204030204" pitchFamily="34" charset="0"/>
              </a:rPr>
              <a:t>, creates an array of 10 elements of double type and assigns its reference to </a:t>
            </a:r>
            <a:r>
              <a:rPr lang="en-PK" sz="1800" dirty="0" err="1">
                <a:solidFill>
                  <a:srgbClr val="000000"/>
                </a:solidFill>
                <a:effectLst/>
                <a:ea typeface="Calibri" panose="020F0502020204030204" pitchFamily="34" charset="0"/>
              </a:rPr>
              <a:t>myList</a:t>
            </a:r>
            <a:r>
              <a:rPr lang="en-US" dirty="0">
                <a:solidFill>
                  <a:srgbClr val="000000"/>
                </a:solidFill>
                <a:ea typeface="Calibri" panose="020F0502020204030204" pitchFamily="34" charset="0"/>
              </a:rPr>
              <a:t>.</a:t>
            </a:r>
            <a:endParaRPr lang="en-PK" dirty="0"/>
          </a:p>
        </p:txBody>
      </p:sp>
      <p:sp>
        <p:nvSpPr>
          <p:cNvPr id="15" name="TextBox 14">
            <a:extLst>
              <a:ext uri="{FF2B5EF4-FFF2-40B4-BE49-F238E27FC236}">
                <a16:creationId xmlns:a16="http://schemas.microsoft.com/office/drawing/2014/main" id="{626C52C2-7344-486E-8326-48DFE328AE4E}"/>
              </a:ext>
            </a:extLst>
          </p:cNvPr>
          <p:cNvSpPr txBox="1"/>
          <p:nvPr/>
        </p:nvSpPr>
        <p:spPr>
          <a:xfrm>
            <a:off x="206374" y="4032185"/>
            <a:ext cx="5791200" cy="646331"/>
          </a:xfrm>
          <a:prstGeom prst="rect">
            <a:avLst/>
          </a:prstGeom>
          <a:noFill/>
        </p:spPr>
        <p:txBody>
          <a:bodyPr wrap="square">
            <a:spAutoFit/>
          </a:bodyPr>
          <a:lstStyle/>
          <a:p>
            <a:pPr marL="316230" marR="30480" indent="-285750" algn="just">
              <a:spcBef>
                <a:spcPts val="600"/>
              </a:spcBef>
              <a:spcAft>
                <a:spcPts val="720"/>
              </a:spcAft>
              <a:buFont typeface="Arial" panose="020B0604020202020204" pitchFamily="34" charset="0"/>
              <a:buChar char="•"/>
            </a:pPr>
            <a:r>
              <a:rPr lang="en-US" dirty="0">
                <a:solidFill>
                  <a:srgbClr val="000000"/>
                </a:solidFill>
                <a:ea typeface="Times New Roman" panose="02020603050405020304" pitchFamily="18" charset="0"/>
              </a:rPr>
              <a:t>P</a:t>
            </a:r>
            <a:r>
              <a:rPr lang="en-PK" sz="1800" dirty="0" err="1">
                <a:solidFill>
                  <a:srgbClr val="000000"/>
                </a:solidFill>
                <a:effectLst/>
                <a:ea typeface="Times New Roman" panose="02020603050405020304" pitchFamily="18" charset="0"/>
              </a:rPr>
              <a:t>icture</a:t>
            </a:r>
            <a:r>
              <a:rPr lang="en-PK" sz="1800" dirty="0">
                <a:solidFill>
                  <a:srgbClr val="000000"/>
                </a:solidFill>
                <a:effectLst/>
                <a:ea typeface="Times New Roman" panose="02020603050405020304" pitchFamily="18" charset="0"/>
              </a:rPr>
              <a:t> represents array </a:t>
            </a:r>
            <a:r>
              <a:rPr lang="en-PK" sz="1800" dirty="0" err="1">
                <a:solidFill>
                  <a:srgbClr val="000000"/>
                </a:solidFill>
                <a:effectLst/>
                <a:ea typeface="Times New Roman" panose="02020603050405020304" pitchFamily="18" charset="0"/>
              </a:rPr>
              <a:t>myList</a:t>
            </a:r>
            <a:r>
              <a:rPr lang="en-PK" sz="1800" dirty="0">
                <a:solidFill>
                  <a:srgbClr val="000000"/>
                </a:solidFill>
                <a:effectLst/>
                <a:ea typeface="Times New Roman" panose="02020603050405020304" pitchFamily="18" charset="0"/>
              </a:rPr>
              <a:t>. Here, </a:t>
            </a:r>
            <a:r>
              <a:rPr lang="en-PK" sz="1800" dirty="0" err="1">
                <a:solidFill>
                  <a:srgbClr val="000000"/>
                </a:solidFill>
                <a:effectLst/>
                <a:ea typeface="Times New Roman" panose="02020603050405020304" pitchFamily="18" charset="0"/>
              </a:rPr>
              <a:t>myList</a:t>
            </a:r>
            <a:r>
              <a:rPr lang="en-PK" sz="1800" dirty="0">
                <a:solidFill>
                  <a:srgbClr val="000000"/>
                </a:solidFill>
                <a:effectLst/>
                <a:ea typeface="Times New Roman" panose="02020603050405020304" pitchFamily="18" charset="0"/>
              </a:rPr>
              <a:t> holds ten double values and the indices are from 0 to 9.</a:t>
            </a:r>
            <a:endParaRPr lang="en-PK" sz="1800" dirty="0">
              <a:effectLst/>
              <a:ea typeface="Times New Roman" panose="02020603050405020304" pitchFamily="18" charset="0"/>
            </a:endParaRPr>
          </a:p>
        </p:txBody>
      </p:sp>
      <p:sp>
        <p:nvSpPr>
          <p:cNvPr id="11" name="TextBox 10">
            <a:extLst>
              <a:ext uri="{FF2B5EF4-FFF2-40B4-BE49-F238E27FC236}">
                <a16:creationId xmlns:a16="http://schemas.microsoft.com/office/drawing/2014/main" id="{C80C9904-0F11-400C-BFD1-8F69221210CE}"/>
              </a:ext>
            </a:extLst>
          </p:cNvPr>
          <p:cNvSpPr txBox="1"/>
          <p:nvPr/>
        </p:nvSpPr>
        <p:spPr>
          <a:xfrm>
            <a:off x="627380" y="711547"/>
            <a:ext cx="6159500" cy="1711366"/>
          </a:xfrm>
          <a:prstGeom prst="rect">
            <a:avLst/>
          </a:prstGeom>
          <a:noFill/>
        </p:spPr>
        <p:txBody>
          <a:bodyPr wrap="square">
            <a:spAutoFit/>
          </a:bodyPr>
          <a:lstStyle/>
          <a:p>
            <a:pPr marL="0" marR="0" lvl="0" indent="0" algn="justLow" defTabSz="914400" rtl="0" eaLnBrk="0" fontAlgn="base" latinLnBrk="0" hangingPunct="0">
              <a:lnSpc>
                <a:spcPct val="150000"/>
              </a:lnSpc>
              <a:spcBef>
                <a:spcPct val="0"/>
              </a:spcBef>
              <a:spcAft>
                <a:spcPct val="0"/>
              </a:spcAft>
              <a:buClrTx/>
              <a:buSzTx/>
              <a:buFontTx/>
              <a:buNone/>
              <a:tabLst/>
            </a:pPr>
            <a:r>
              <a:rPr kumimoji="0" lang="en-PK" altLang="en-PK" b="1" i="0" u="none" strike="noStrike" cap="none" normalizeH="0" baseline="0" dirty="0">
                <a:ln>
                  <a:noFill/>
                </a:ln>
                <a:effectLst/>
                <a:cs typeface="Calibri" panose="020F0502020204030204" pitchFamily="34" charset="0"/>
              </a:rPr>
              <a:t>Creation of an array may involve three steps:</a:t>
            </a:r>
            <a:endParaRPr kumimoji="0" lang="en-PK" altLang="en-PK" b="1" i="0" u="none" strike="noStrike" cap="none" normalizeH="0" baseline="0" dirty="0">
              <a:ln>
                <a:noFill/>
              </a:ln>
              <a:effectLst/>
            </a:endParaRPr>
          </a:p>
          <a:p>
            <a:pPr marL="0" marR="0" lvl="0" indent="0" algn="justLow" defTabSz="914400" rtl="0" eaLnBrk="0" fontAlgn="base" latinLnBrk="0" hangingPunct="0">
              <a:lnSpc>
                <a:spcPct val="150000"/>
              </a:lnSpc>
              <a:spcBef>
                <a:spcPct val="0"/>
              </a:spcBef>
              <a:spcAft>
                <a:spcPct val="0"/>
              </a:spcAft>
              <a:buClrTx/>
              <a:buSzTx/>
              <a:buFontTx/>
              <a:buNone/>
              <a:tabLst/>
            </a:pPr>
            <a:r>
              <a:rPr kumimoji="0" lang="en-PK" altLang="en-PK" b="0" i="0" u="none" strike="noStrike" cap="none" normalizeH="0" baseline="0" dirty="0">
                <a:ln>
                  <a:noFill/>
                </a:ln>
                <a:effectLst/>
                <a:cs typeface="Calibri" panose="020F0502020204030204" pitchFamily="34" charset="0"/>
              </a:rPr>
              <a:t>1.</a:t>
            </a:r>
            <a:r>
              <a:rPr kumimoji="0" lang="en-PK" altLang="en-PK" b="0" i="0" u="none" strike="noStrike" cap="none" normalizeH="0" baseline="0" dirty="0">
                <a:ln>
                  <a:noFill/>
                </a:ln>
                <a:effectLst/>
                <a:cs typeface="Times New Roman" panose="02020603050405020304" pitchFamily="18" charset="0"/>
              </a:rPr>
              <a:t> </a:t>
            </a:r>
            <a:r>
              <a:rPr kumimoji="0" lang="en-PK" altLang="en-PK" b="0" i="0" u="none" strike="noStrike" cap="none" normalizeH="0" baseline="0" dirty="0">
                <a:ln>
                  <a:noFill/>
                </a:ln>
                <a:effectLst/>
                <a:cs typeface="Calibri" panose="020F0502020204030204" pitchFamily="34" charset="0"/>
              </a:rPr>
              <a:t>Declaring the array</a:t>
            </a:r>
            <a:endParaRPr kumimoji="0" lang="en-PK" altLang="en-PK" b="0" i="0" u="none" strike="noStrike" cap="none" normalizeH="0" baseline="0" dirty="0">
              <a:ln>
                <a:noFill/>
              </a:ln>
              <a:effectLst/>
            </a:endParaRPr>
          </a:p>
          <a:p>
            <a:pPr marL="0" marR="0" lvl="0" indent="0" algn="justLow" defTabSz="914400" rtl="0" eaLnBrk="0" fontAlgn="base" latinLnBrk="0" hangingPunct="0">
              <a:lnSpc>
                <a:spcPct val="150000"/>
              </a:lnSpc>
              <a:spcBef>
                <a:spcPct val="0"/>
              </a:spcBef>
              <a:spcAft>
                <a:spcPct val="0"/>
              </a:spcAft>
              <a:buClrTx/>
              <a:buSzTx/>
              <a:buFontTx/>
              <a:buNone/>
              <a:tabLst/>
            </a:pPr>
            <a:r>
              <a:rPr kumimoji="0" lang="en-PK" altLang="en-PK" b="0" i="0" u="none" strike="noStrike" cap="none" normalizeH="0" baseline="0" dirty="0">
                <a:ln>
                  <a:noFill/>
                </a:ln>
                <a:effectLst/>
                <a:cs typeface="Calibri" panose="020F0502020204030204" pitchFamily="34" charset="0"/>
              </a:rPr>
              <a:t>2.</a:t>
            </a:r>
            <a:r>
              <a:rPr kumimoji="0" lang="en-PK" altLang="en-PK" b="0" i="0" u="none" strike="noStrike" cap="none" normalizeH="0" baseline="0" dirty="0">
                <a:ln>
                  <a:noFill/>
                </a:ln>
                <a:effectLst/>
                <a:cs typeface="Times New Roman" panose="02020603050405020304" pitchFamily="18" charset="0"/>
              </a:rPr>
              <a:t> </a:t>
            </a:r>
            <a:r>
              <a:rPr kumimoji="0" lang="en-PK" altLang="en-PK" b="0" i="0" u="none" strike="noStrike" cap="none" normalizeH="0" baseline="0" dirty="0">
                <a:ln>
                  <a:noFill/>
                </a:ln>
                <a:effectLst/>
                <a:cs typeface="Calibri" panose="020F0502020204030204" pitchFamily="34" charset="0"/>
              </a:rPr>
              <a:t>Creating memory</a:t>
            </a:r>
            <a:endParaRPr kumimoji="0" lang="en-PK" altLang="en-PK" b="0" i="0" u="none" strike="noStrike" cap="none" normalizeH="0" baseline="0" dirty="0">
              <a:ln>
                <a:noFill/>
              </a:ln>
              <a:effectLst/>
            </a:endParaRPr>
          </a:p>
          <a:p>
            <a:pPr marL="0" marR="0" lvl="0" indent="0" algn="justLow" defTabSz="914400" rtl="0" eaLnBrk="0" fontAlgn="base" latinLnBrk="0" hangingPunct="0">
              <a:lnSpc>
                <a:spcPct val="150000"/>
              </a:lnSpc>
              <a:spcBef>
                <a:spcPct val="0"/>
              </a:spcBef>
              <a:spcAft>
                <a:spcPct val="0"/>
              </a:spcAft>
              <a:buClrTx/>
              <a:buSzTx/>
              <a:buFontTx/>
              <a:buNone/>
              <a:tabLst/>
            </a:pPr>
            <a:r>
              <a:rPr kumimoji="0" lang="en-PK" altLang="en-PK" b="0" i="0" u="none" strike="noStrike" cap="none" normalizeH="0" baseline="0" dirty="0">
                <a:ln>
                  <a:noFill/>
                </a:ln>
                <a:effectLst/>
                <a:cs typeface="Calibri" panose="020F0502020204030204" pitchFamily="34" charset="0"/>
              </a:rPr>
              <a:t>3.</a:t>
            </a:r>
            <a:r>
              <a:rPr kumimoji="0" lang="en-PK" altLang="en-PK" b="0" i="0" u="none" strike="noStrike" cap="none" normalizeH="0" baseline="0" dirty="0">
                <a:ln>
                  <a:noFill/>
                </a:ln>
                <a:effectLst/>
                <a:cs typeface="Times New Roman" panose="02020603050405020304" pitchFamily="18" charset="0"/>
              </a:rPr>
              <a:t> </a:t>
            </a:r>
            <a:r>
              <a:rPr kumimoji="0" lang="en-PK" altLang="en-PK" b="0" i="0" u="none" strike="noStrike" cap="none" normalizeH="0" baseline="0" dirty="0">
                <a:ln>
                  <a:noFill/>
                </a:ln>
                <a:effectLst/>
                <a:cs typeface="Calibri" panose="020F0502020204030204" pitchFamily="34" charset="0"/>
              </a:rPr>
              <a:t>Putting value into memory</a:t>
            </a:r>
            <a:endParaRPr kumimoji="0" lang="en-PK" altLang="en-PK" b="0" i="0" u="none" strike="noStrike" cap="none" normalizeH="0" baseline="0" dirty="0">
              <a:ln>
                <a:noFill/>
              </a:ln>
              <a:effectLst/>
            </a:endParaRPr>
          </a:p>
        </p:txBody>
      </p:sp>
    </p:spTree>
    <p:extLst>
      <p:ext uri="{BB962C8B-B14F-4D97-AF65-F5344CB8AC3E}">
        <p14:creationId xmlns:p14="http://schemas.microsoft.com/office/powerpoint/2010/main" val="2553108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barn(inVertical)">
                                      <p:cBhvr>
                                        <p:cTn id="14" dur="500"/>
                                        <p:tgtEl>
                                          <p:spTgt spid="13"/>
                                        </p:tgtEl>
                                      </p:cBhvr>
                                    </p:animEffect>
                                  </p:childTnLst>
                                </p:cTn>
                              </p:par>
                              <p:par>
                                <p:cTn id="15" presetID="16" presetClass="entr" presetSubtype="21"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barn(inVertical)">
                                      <p:cBhvr>
                                        <p:cTn id="17" dur="500"/>
                                        <p:tgtEl>
                                          <p:spTgt spid="15"/>
                                        </p:tgtEl>
                                      </p:cBhvr>
                                    </p:animEffect>
                                  </p:childTnLst>
                                </p:cTn>
                              </p:par>
                              <p:par>
                                <p:cTn id="18" presetID="16" presetClass="entr" presetSubtype="21"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barn(inVertical)">
                                      <p:cBhvr>
                                        <p:cTn id="20" dur="500"/>
                                        <p:tgtEl>
                                          <p:spTgt spid="8"/>
                                        </p:tgtEl>
                                      </p:cBhvr>
                                    </p:animEffect>
                                  </p:childTnLst>
                                </p:cTn>
                              </p:par>
                              <p:par>
                                <p:cTn id="21" presetID="16" presetClass="entr" presetSubtype="21"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barn(inVertical)">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 grpId="0"/>
      <p:bldP spid="15" grpId="0"/>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A730E-36F1-4E84-95AF-758E573AF817}"/>
              </a:ext>
            </a:extLst>
          </p:cNvPr>
          <p:cNvSpPr>
            <a:spLocks noGrp="1"/>
          </p:cNvSpPr>
          <p:nvPr>
            <p:ph type="title"/>
          </p:nvPr>
        </p:nvSpPr>
        <p:spPr>
          <a:xfrm>
            <a:off x="254000" y="159152"/>
            <a:ext cx="10515600" cy="598488"/>
          </a:xfrm>
        </p:spPr>
        <p:txBody>
          <a:bodyPr>
            <a:normAutofit/>
          </a:bodyPr>
          <a:lstStyle/>
          <a:p>
            <a:pPr algn="just"/>
            <a:r>
              <a:rPr lang="en-US" sz="2800" b="1" i="0" dirty="0">
                <a:solidFill>
                  <a:schemeClr val="accent1">
                    <a:lumMod val="50000"/>
                  </a:schemeClr>
                </a:solidFill>
                <a:effectLst/>
                <a:latin typeface="+mn-lt"/>
              </a:rPr>
              <a:t>Declaration of One-dimensional Array</a:t>
            </a:r>
          </a:p>
        </p:txBody>
      </p:sp>
      <p:sp>
        <p:nvSpPr>
          <p:cNvPr id="5" name="TextBox 4">
            <a:extLst>
              <a:ext uri="{FF2B5EF4-FFF2-40B4-BE49-F238E27FC236}">
                <a16:creationId xmlns:a16="http://schemas.microsoft.com/office/drawing/2014/main" id="{61E62275-2DB6-469A-91CF-1625D45563EC}"/>
              </a:ext>
            </a:extLst>
          </p:cNvPr>
          <p:cNvSpPr txBox="1"/>
          <p:nvPr/>
        </p:nvSpPr>
        <p:spPr>
          <a:xfrm>
            <a:off x="444057" y="1006754"/>
            <a:ext cx="10135486" cy="2126864"/>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b="0" i="0" dirty="0">
                <a:solidFill>
                  <a:srgbClr val="3A3A3A"/>
                </a:solidFill>
                <a:effectLst/>
              </a:rPr>
              <a:t>Before using the array, we must declare it. Like normal variables, must provide </a:t>
            </a:r>
            <a:r>
              <a:rPr lang="en-US" b="0" i="0" u="none" strike="noStrike" dirty="0">
                <a:solidFill>
                  <a:srgbClr val="14A6FA"/>
                </a:solidFill>
                <a:effectLst/>
                <a:hlinkClick r:id="rId2"/>
              </a:rPr>
              <a:t>data type</a:t>
            </a:r>
            <a:r>
              <a:rPr lang="en-US" b="0" i="0" dirty="0">
                <a:solidFill>
                  <a:srgbClr val="3A3A3A"/>
                </a:solidFill>
                <a:effectLst/>
              </a:rPr>
              <a:t> of array and name of an array.</a:t>
            </a:r>
          </a:p>
          <a:p>
            <a:pPr marL="285750" indent="-285750" algn="just">
              <a:lnSpc>
                <a:spcPct val="150000"/>
              </a:lnSpc>
              <a:buFont typeface="Arial" panose="020B0604020202020204" pitchFamily="34" charset="0"/>
              <a:buChar char="•"/>
            </a:pPr>
            <a:r>
              <a:rPr lang="en-US" b="0" i="0" dirty="0">
                <a:solidFill>
                  <a:srgbClr val="3A3A3A"/>
                </a:solidFill>
                <a:effectLst/>
              </a:rPr>
              <a:t>Data type means which type of elements we want to store in Array.</a:t>
            </a:r>
          </a:p>
          <a:p>
            <a:pPr marL="285750" indent="-285750" algn="just">
              <a:lnSpc>
                <a:spcPct val="150000"/>
              </a:lnSpc>
              <a:buFont typeface="Arial" panose="020B0604020202020204" pitchFamily="34" charset="0"/>
              <a:buChar char="•"/>
            </a:pPr>
            <a:r>
              <a:rPr lang="en-US" b="0" i="0" dirty="0">
                <a:solidFill>
                  <a:srgbClr val="3A3A3A"/>
                </a:solidFill>
                <a:effectLst/>
              </a:rPr>
              <a:t>So, we must specify the data type of array according to our needs. We also need to specify the name of an array so that we can use it later by name</a:t>
            </a:r>
            <a:endParaRPr lang="en-PK" dirty="0"/>
          </a:p>
        </p:txBody>
      </p:sp>
      <p:sp>
        <p:nvSpPr>
          <p:cNvPr id="7" name="TextBox 6">
            <a:extLst>
              <a:ext uri="{FF2B5EF4-FFF2-40B4-BE49-F238E27FC236}">
                <a16:creationId xmlns:a16="http://schemas.microsoft.com/office/drawing/2014/main" id="{2BAA8E52-C66F-4A93-8B42-8C490B6DD5C3}"/>
              </a:ext>
            </a:extLst>
          </p:cNvPr>
          <p:cNvSpPr txBox="1"/>
          <p:nvPr/>
        </p:nvSpPr>
        <p:spPr>
          <a:xfrm>
            <a:off x="907902" y="3510332"/>
            <a:ext cx="6097772" cy="1477328"/>
          </a:xfrm>
          <a:prstGeom prst="rect">
            <a:avLst/>
          </a:prstGeom>
          <a:noFill/>
        </p:spPr>
        <p:txBody>
          <a:bodyPr wrap="square">
            <a:spAutoFit/>
          </a:bodyPr>
          <a:lstStyle/>
          <a:p>
            <a:pPr algn="just"/>
            <a:r>
              <a:rPr lang="en-US" b="0" i="0" dirty="0">
                <a:solidFill>
                  <a:srgbClr val="000000"/>
                </a:solidFill>
                <a:effectLst/>
              </a:rPr>
              <a:t>datatype</a:t>
            </a:r>
            <a:r>
              <a:rPr lang="en-US" b="0" i="0" dirty="0">
                <a:solidFill>
                  <a:srgbClr val="777777"/>
                </a:solidFill>
                <a:effectLst/>
              </a:rPr>
              <a:t>[]</a:t>
            </a:r>
            <a:r>
              <a:rPr lang="en-US" b="0" i="0" dirty="0">
                <a:solidFill>
                  <a:srgbClr val="000000"/>
                </a:solidFill>
                <a:effectLst/>
              </a:rPr>
              <a:t> </a:t>
            </a:r>
            <a:r>
              <a:rPr lang="en-US" b="0" i="0" dirty="0" err="1">
                <a:solidFill>
                  <a:srgbClr val="000000"/>
                </a:solidFill>
                <a:effectLst/>
              </a:rPr>
              <a:t>arrayName</a:t>
            </a:r>
            <a:r>
              <a:rPr lang="en-US" b="0" i="0" dirty="0">
                <a:solidFill>
                  <a:srgbClr val="000000"/>
                </a:solidFill>
                <a:effectLst/>
              </a:rPr>
              <a:t>;</a:t>
            </a:r>
            <a:endParaRPr lang="en-US" b="0" i="0" dirty="0">
              <a:solidFill>
                <a:srgbClr val="444444"/>
              </a:solidFill>
              <a:effectLst/>
            </a:endParaRPr>
          </a:p>
          <a:p>
            <a:pPr algn="just"/>
            <a:r>
              <a:rPr lang="en-US" dirty="0">
                <a:solidFill>
                  <a:srgbClr val="000000"/>
                </a:solidFill>
              </a:rPr>
              <a:t>o</a:t>
            </a:r>
            <a:r>
              <a:rPr lang="en-US" b="0" i="0" dirty="0">
                <a:solidFill>
                  <a:srgbClr val="000000"/>
                </a:solidFill>
                <a:effectLst/>
              </a:rPr>
              <a:t>r </a:t>
            </a:r>
            <a:endParaRPr lang="en-US" b="0" i="0" dirty="0">
              <a:solidFill>
                <a:srgbClr val="AAAAAA"/>
              </a:solidFill>
              <a:effectLst/>
            </a:endParaRPr>
          </a:p>
          <a:p>
            <a:pPr algn="just"/>
            <a:r>
              <a:rPr lang="en-US" b="0" i="0" dirty="0">
                <a:solidFill>
                  <a:srgbClr val="000000"/>
                </a:solidFill>
                <a:effectLst/>
              </a:rPr>
              <a:t>datatype </a:t>
            </a:r>
            <a:r>
              <a:rPr lang="en-US" b="0" i="0" dirty="0" err="1">
                <a:solidFill>
                  <a:srgbClr val="000000"/>
                </a:solidFill>
                <a:effectLst/>
              </a:rPr>
              <a:t>arrayName</a:t>
            </a:r>
            <a:r>
              <a:rPr lang="en-US" b="0" i="0" dirty="0">
                <a:solidFill>
                  <a:srgbClr val="777777"/>
                </a:solidFill>
                <a:effectLst/>
              </a:rPr>
              <a:t>[]</a:t>
            </a:r>
            <a:r>
              <a:rPr lang="en-US" b="0" i="0" dirty="0">
                <a:solidFill>
                  <a:srgbClr val="000000"/>
                </a:solidFill>
                <a:effectLst/>
              </a:rPr>
              <a:t>;</a:t>
            </a:r>
            <a:endParaRPr lang="en-US" b="0" i="0" dirty="0">
              <a:solidFill>
                <a:srgbClr val="AAAAAA"/>
              </a:solidFill>
              <a:effectLst/>
            </a:endParaRPr>
          </a:p>
          <a:p>
            <a:pPr algn="just"/>
            <a:r>
              <a:rPr lang="en-US" dirty="0">
                <a:solidFill>
                  <a:srgbClr val="000000"/>
                </a:solidFill>
              </a:rPr>
              <a:t>o</a:t>
            </a:r>
            <a:r>
              <a:rPr lang="en-US" b="0" i="0" dirty="0">
                <a:solidFill>
                  <a:srgbClr val="000000"/>
                </a:solidFill>
                <a:effectLst/>
              </a:rPr>
              <a:t>r </a:t>
            </a:r>
            <a:endParaRPr lang="en-US" b="0" i="0" dirty="0">
              <a:solidFill>
                <a:srgbClr val="AAAAAA"/>
              </a:solidFill>
              <a:effectLst/>
            </a:endParaRPr>
          </a:p>
          <a:p>
            <a:pPr algn="just"/>
            <a:r>
              <a:rPr lang="en-US" b="0" i="0" dirty="0">
                <a:solidFill>
                  <a:srgbClr val="000000"/>
                </a:solidFill>
                <a:effectLst/>
              </a:rPr>
              <a:t>datatype </a:t>
            </a:r>
            <a:r>
              <a:rPr lang="en-US" b="0" i="0" dirty="0" err="1">
                <a:solidFill>
                  <a:srgbClr val="000000"/>
                </a:solidFill>
                <a:effectLst/>
              </a:rPr>
              <a:t>arrayName</a:t>
            </a:r>
            <a:r>
              <a:rPr lang="en-US" b="0" i="0" dirty="0">
                <a:solidFill>
                  <a:srgbClr val="777777"/>
                </a:solidFill>
                <a:effectLst/>
              </a:rPr>
              <a:t>[]</a:t>
            </a:r>
            <a:r>
              <a:rPr lang="en-US" b="0" i="0" dirty="0">
                <a:solidFill>
                  <a:srgbClr val="000000"/>
                </a:solidFill>
                <a:effectLst/>
              </a:rPr>
              <a:t>;</a:t>
            </a:r>
            <a:endParaRPr lang="en-US" b="0" i="0" dirty="0">
              <a:solidFill>
                <a:srgbClr val="AAAAAA"/>
              </a:solidFill>
              <a:effectLst/>
            </a:endParaRPr>
          </a:p>
        </p:txBody>
      </p:sp>
      <p:sp>
        <p:nvSpPr>
          <p:cNvPr id="9" name="TextBox 8">
            <a:extLst>
              <a:ext uri="{FF2B5EF4-FFF2-40B4-BE49-F238E27FC236}">
                <a16:creationId xmlns:a16="http://schemas.microsoft.com/office/drawing/2014/main" id="{461D4FE3-927F-4E7F-888E-611A8F7C7502}"/>
              </a:ext>
            </a:extLst>
          </p:cNvPr>
          <p:cNvSpPr txBox="1"/>
          <p:nvPr/>
        </p:nvSpPr>
        <p:spPr>
          <a:xfrm>
            <a:off x="444057" y="5146634"/>
            <a:ext cx="11453924" cy="1711366"/>
          </a:xfrm>
          <a:prstGeom prst="rect">
            <a:avLst/>
          </a:prstGeom>
          <a:noFill/>
        </p:spPr>
        <p:txBody>
          <a:bodyPr wrap="square">
            <a:spAutoFit/>
          </a:bodyPr>
          <a:lstStyle/>
          <a:p>
            <a:pPr algn="just">
              <a:lnSpc>
                <a:spcPct val="150000"/>
              </a:lnSpc>
              <a:buFont typeface="Arial" panose="020B0604020202020204" pitchFamily="34" charset="0"/>
              <a:buChar char="•"/>
            </a:pPr>
            <a:r>
              <a:rPr lang="en-US" b="1" i="0" dirty="0">
                <a:solidFill>
                  <a:srgbClr val="3A3A3A"/>
                </a:solidFill>
                <a:effectLst/>
              </a:rPr>
              <a:t>datatype</a:t>
            </a:r>
            <a:r>
              <a:rPr lang="en-US" b="0" i="0" dirty="0">
                <a:solidFill>
                  <a:srgbClr val="3A3A3A"/>
                </a:solidFill>
                <a:effectLst/>
              </a:rPr>
              <a:t> can be a </a:t>
            </a:r>
            <a:r>
              <a:rPr lang="en-US" b="1" i="0" dirty="0">
                <a:solidFill>
                  <a:srgbClr val="3A3A3A"/>
                </a:solidFill>
                <a:effectLst/>
              </a:rPr>
              <a:t>primitive data type</a:t>
            </a:r>
            <a:r>
              <a:rPr lang="en-US" b="0" i="0" dirty="0">
                <a:solidFill>
                  <a:srgbClr val="3A3A3A"/>
                </a:solidFill>
                <a:effectLst/>
              </a:rPr>
              <a:t>(int, char, Double, byte etc.) or</a:t>
            </a:r>
            <a:r>
              <a:rPr lang="en-US" b="1" i="0" dirty="0">
                <a:solidFill>
                  <a:srgbClr val="3A3A3A"/>
                </a:solidFill>
                <a:effectLst/>
              </a:rPr>
              <a:t> Non-primitive data</a:t>
            </a:r>
            <a:r>
              <a:rPr lang="en-US" b="0" i="0" dirty="0">
                <a:solidFill>
                  <a:srgbClr val="3A3A3A"/>
                </a:solidFill>
                <a:effectLst/>
              </a:rPr>
              <a:t> (Objects).</a:t>
            </a:r>
          </a:p>
          <a:p>
            <a:pPr algn="just">
              <a:lnSpc>
                <a:spcPct val="150000"/>
              </a:lnSpc>
              <a:buFont typeface="Arial" panose="020B0604020202020204" pitchFamily="34" charset="0"/>
              <a:buChar char="•"/>
            </a:pPr>
            <a:r>
              <a:rPr lang="en-US" b="1" i="0" dirty="0" err="1">
                <a:solidFill>
                  <a:srgbClr val="3A3A3A"/>
                </a:solidFill>
                <a:effectLst/>
              </a:rPr>
              <a:t>arrayName</a:t>
            </a:r>
            <a:r>
              <a:rPr lang="en-US" b="0" i="0" dirty="0">
                <a:solidFill>
                  <a:srgbClr val="3A3A3A"/>
                </a:solidFill>
                <a:effectLst/>
              </a:rPr>
              <a:t> is the name of an array</a:t>
            </a:r>
          </a:p>
          <a:p>
            <a:pPr algn="just">
              <a:lnSpc>
                <a:spcPct val="150000"/>
              </a:lnSpc>
              <a:buFont typeface="Arial" panose="020B0604020202020204" pitchFamily="34" charset="0"/>
              <a:buChar char="•"/>
            </a:pPr>
            <a:r>
              <a:rPr lang="en-US" b="1" i="0" dirty="0">
                <a:solidFill>
                  <a:srgbClr val="3A3A3A"/>
                </a:solidFill>
                <a:effectLst/>
              </a:rPr>
              <a:t>[ ] </a:t>
            </a:r>
            <a:r>
              <a:rPr lang="en-US" b="0" i="0" dirty="0">
                <a:solidFill>
                  <a:srgbClr val="3A3A3A"/>
                </a:solidFill>
                <a:effectLst/>
              </a:rPr>
              <a:t>is called subscript.</a:t>
            </a:r>
          </a:p>
          <a:p>
            <a:pPr algn="just">
              <a:lnSpc>
                <a:spcPct val="150000"/>
              </a:lnSpc>
              <a:buFont typeface="Arial" panose="020B0604020202020204" pitchFamily="34" charset="0"/>
              <a:buChar char="•"/>
            </a:pPr>
            <a:endParaRPr lang="en-US" b="0" i="0" dirty="0">
              <a:solidFill>
                <a:srgbClr val="3A3A3A"/>
              </a:solidFill>
              <a:effectLst/>
            </a:endParaRPr>
          </a:p>
        </p:txBody>
      </p:sp>
      <p:sp>
        <p:nvSpPr>
          <p:cNvPr id="13" name="TextBox 12">
            <a:extLst>
              <a:ext uri="{FF2B5EF4-FFF2-40B4-BE49-F238E27FC236}">
                <a16:creationId xmlns:a16="http://schemas.microsoft.com/office/drawing/2014/main" id="{85DA7B8F-1FCE-4A1F-9753-16031F567A62}"/>
              </a:ext>
            </a:extLst>
          </p:cNvPr>
          <p:cNvSpPr txBox="1"/>
          <p:nvPr/>
        </p:nvSpPr>
        <p:spPr>
          <a:xfrm>
            <a:off x="7992730" y="3510332"/>
            <a:ext cx="6097772" cy="1477328"/>
          </a:xfrm>
          <a:prstGeom prst="rect">
            <a:avLst/>
          </a:prstGeom>
          <a:noFill/>
        </p:spPr>
        <p:txBody>
          <a:bodyPr wrap="square">
            <a:spAutoFit/>
          </a:bodyPr>
          <a:lstStyle/>
          <a:p>
            <a:pPr algn="just"/>
            <a:r>
              <a:rPr lang="en-US" b="1" i="0" dirty="0">
                <a:solidFill>
                  <a:srgbClr val="286491"/>
                </a:solidFill>
                <a:effectLst/>
              </a:rPr>
              <a:t>int</a:t>
            </a:r>
            <a:r>
              <a:rPr lang="en-US" b="0" i="0" dirty="0">
                <a:solidFill>
                  <a:srgbClr val="777777"/>
                </a:solidFill>
                <a:effectLst/>
              </a:rPr>
              <a:t>[]</a:t>
            </a:r>
            <a:r>
              <a:rPr lang="en-US" b="0" i="0" dirty="0">
                <a:solidFill>
                  <a:srgbClr val="000000"/>
                </a:solidFill>
                <a:effectLst/>
              </a:rPr>
              <a:t> number;</a:t>
            </a:r>
          </a:p>
          <a:p>
            <a:pPr algn="just"/>
            <a:r>
              <a:rPr lang="en-US" b="0" i="0" dirty="0">
                <a:solidFill>
                  <a:srgbClr val="000000"/>
                </a:solidFill>
                <a:effectLst/>
              </a:rPr>
              <a:t>Or </a:t>
            </a:r>
            <a:endParaRPr lang="en-US" b="0" i="0" dirty="0">
              <a:solidFill>
                <a:srgbClr val="AAAAAA"/>
              </a:solidFill>
              <a:effectLst/>
            </a:endParaRPr>
          </a:p>
          <a:p>
            <a:pPr algn="just"/>
            <a:r>
              <a:rPr lang="en-US" b="1" i="0" dirty="0">
                <a:solidFill>
                  <a:srgbClr val="286491"/>
                </a:solidFill>
                <a:effectLst/>
              </a:rPr>
              <a:t>int</a:t>
            </a:r>
            <a:r>
              <a:rPr lang="en-US" b="0" i="0" dirty="0">
                <a:solidFill>
                  <a:srgbClr val="000000"/>
                </a:solidFill>
                <a:effectLst/>
              </a:rPr>
              <a:t> number</a:t>
            </a:r>
            <a:r>
              <a:rPr lang="en-US" b="0" i="0" dirty="0">
                <a:solidFill>
                  <a:srgbClr val="777777"/>
                </a:solidFill>
                <a:effectLst/>
              </a:rPr>
              <a:t>[]</a:t>
            </a:r>
            <a:r>
              <a:rPr lang="en-US" b="0" i="0" dirty="0">
                <a:solidFill>
                  <a:srgbClr val="000000"/>
                </a:solidFill>
                <a:effectLst/>
              </a:rPr>
              <a:t>;</a:t>
            </a:r>
            <a:endParaRPr lang="en-US" b="0" i="0" dirty="0">
              <a:solidFill>
                <a:srgbClr val="AAAAAA"/>
              </a:solidFill>
              <a:effectLst/>
            </a:endParaRPr>
          </a:p>
          <a:p>
            <a:pPr algn="just"/>
            <a:r>
              <a:rPr lang="en-US" b="0" i="0" dirty="0">
                <a:solidFill>
                  <a:srgbClr val="000000"/>
                </a:solidFill>
                <a:effectLst/>
              </a:rPr>
              <a:t>or</a:t>
            </a:r>
            <a:endParaRPr lang="en-US" b="0" i="0" dirty="0">
              <a:solidFill>
                <a:srgbClr val="AAAAAA"/>
              </a:solidFill>
              <a:effectLst/>
            </a:endParaRPr>
          </a:p>
          <a:p>
            <a:pPr algn="just"/>
            <a:r>
              <a:rPr lang="en-US" b="1" i="0" dirty="0">
                <a:solidFill>
                  <a:srgbClr val="286491"/>
                </a:solidFill>
                <a:effectLst/>
              </a:rPr>
              <a:t>int</a:t>
            </a:r>
            <a:r>
              <a:rPr lang="en-US" b="0" i="0" dirty="0">
                <a:solidFill>
                  <a:srgbClr val="000000"/>
                </a:solidFill>
                <a:effectLst/>
              </a:rPr>
              <a:t> </a:t>
            </a:r>
            <a:r>
              <a:rPr lang="en-US" b="0" i="0" dirty="0">
                <a:solidFill>
                  <a:srgbClr val="777777"/>
                </a:solidFill>
                <a:effectLst/>
              </a:rPr>
              <a:t>[]</a:t>
            </a:r>
            <a:r>
              <a:rPr lang="en-US" b="0" i="0" dirty="0">
                <a:solidFill>
                  <a:srgbClr val="000000"/>
                </a:solidFill>
                <a:effectLst/>
              </a:rPr>
              <a:t>number; </a:t>
            </a:r>
            <a:endParaRPr lang="en-US" b="0" i="0" dirty="0">
              <a:solidFill>
                <a:srgbClr val="AAAAAA"/>
              </a:solidFill>
              <a:effectLst/>
            </a:endParaRPr>
          </a:p>
        </p:txBody>
      </p:sp>
    </p:spTree>
    <p:extLst>
      <p:ext uri="{BB962C8B-B14F-4D97-AF65-F5344CB8AC3E}">
        <p14:creationId xmlns:p14="http://schemas.microsoft.com/office/powerpoint/2010/main" val="1149655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D66F2-B22B-419F-B32D-4332EB57E425}"/>
              </a:ext>
            </a:extLst>
          </p:cNvPr>
          <p:cNvSpPr>
            <a:spLocks noGrp="1"/>
          </p:cNvSpPr>
          <p:nvPr>
            <p:ph type="title"/>
          </p:nvPr>
        </p:nvSpPr>
        <p:spPr>
          <a:xfrm>
            <a:off x="317500" y="306549"/>
            <a:ext cx="10515600" cy="616946"/>
          </a:xfrm>
        </p:spPr>
        <p:txBody>
          <a:bodyPr>
            <a:noAutofit/>
          </a:bodyPr>
          <a:lstStyle/>
          <a:p>
            <a:r>
              <a:rPr lang="en-US" sz="2800" b="1" i="0" dirty="0">
                <a:solidFill>
                  <a:schemeClr val="accent1">
                    <a:lumMod val="50000"/>
                  </a:schemeClr>
                </a:solidFill>
                <a:effectLst/>
                <a:latin typeface="+mn-lt"/>
              </a:rPr>
              <a:t>Construction/Creation of One-dimensional array</a:t>
            </a:r>
            <a:br>
              <a:rPr lang="en-US" sz="2800" b="1" i="0" dirty="0">
                <a:solidFill>
                  <a:schemeClr val="accent1">
                    <a:lumMod val="50000"/>
                  </a:schemeClr>
                </a:solidFill>
                <a:effectLst/>
                <a:latin typeface="+mn-lt"/>
              </a:rPr>
            </a:br>
            <a:endParaRPr lang="en-PK" sz="2800" b="1" dirty="0">
              <a:solidFill>
                <a:schemeClr val="accent1">
                  <a:lumMod val="50000"/>
                </a:schemeClr>
              </a:solidFill>
              <a:latin typeface="+mn-lt"/>
            </a:endParaRPr>
          </a:p>
        </p:txBody>
      </p:sp>
      <p:sp>
        <p:nvSpPr>
          <p:cNvPr id="5" name="TextBox 4">
            <a:extLst>
              <a:ext uri="{FF2B5EF4-FFF2-40B4-BE49-F238E27FC236}">
                <a16:creationId xmlns:a16="http://schemas.microsoft.com/office/drawing/2014/main" id="{613E3B94-32EE-4DA4-9861-5B3183BA484D}"/>
              </a:ext>
            </a:extLst>
          </p:cNvPr>
          <p:cNvSpPr txBox="1"/>
          <p:nvPr/>
        </p:nvSpPr>
        <p:spPr>
          <a:xfrm>
            <a:off x="588778" y="785914"/>
            <a:ext cx="11285722" cy="2126864"/>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b="0" i="0" dirty="0">
                <a:solidFill>
                  <a:srgbClr val="3A3A3A"/>
                </a:solidFill>
                <a:effectLst/>
              </a:rPr>
              <a:t>For the creation of an array new keyword is used with a </a:t>
            </a:r>
            <a:r>
              <a:rPr lang="en-US" b="1" i="0" dirty="0">
                <a:solidFill>
                  <a:srgbClr val="3A3A3A"/>
                </a:solidFill>
                <a:effectLst/>
              </a:rPr>
              <a:t>data type</a:t>
            </a:r>
            <a:r>
              <a:rPr lang="en-US" b="0" i="0" dirty="0">
                <a:solidFill>
                  <a:srgbClr val="3A3A3A"/>
                </a:solidFill>
                <a:effectLst/>
              </a:rPr>
              <a:t> of array.</a:t>
            </a:r>
          </a:p>
          <a:p>
            <a:pPr marL="285750" indent="-285750" algn="just">
              <a:lnSpc>
                <a:spcPct val="150000"/>
              </a:lnSpc>
              <a:buFont typeface="Arial" panose="020B0604020202020204" pitchFamily="34" charset="0"/>
              <a:buChar char="•"/>
            </a:pPr>
            <a:r>
              <a:rPr lang="en-US" b="0" i="0" dirty="0">
                <a:solidFill>
                  <a:srgbClr val="3A3A3A"/>
                </a:solidFill>
                <a:effectLst/>
              </a:rPr>
              <a:t>You must specify the size of the array. </a:t>
            </a:r>
          </a:p>
          <a:p>
            <a:pPr marL="285750" indent="-285750" algn="just">
              <a:lnSpc>
                <a:spcPct val="150000"/>
              </a:lnSpc>
              <a:buFont typeface="Arial" panose="020B0604020202020204" pitchFamily="34" charset="0"/>
              <a:buChar char="•"/>
            </a:pPr>
            <a:r>
              <a:rPr lang="en-US" b="0" i="0" dirty="0">
                <a:solidFill>
                  <a:srgbClr val="3A3A3A"/>
                </a:solidFill>
                <a:effectLst/>
              </a:rPr>
              <a:t>The size should be an integer value or a variable that contains an integer value. </a:t>
            </a:r>
          </a:p>
          <a:p>
            <a:pPr marL="285750" indent="-285750" algn="just">
              <a:lnSpc>
                <a:spcPct val="150000"/>
              </a:lnSpc>
              <a:buFont typeface="Arial" panose="020B0604020202020204" pitchFamily="34" charset="0"/>
              <a:buChar char="•"/>
            </a:pPr>
            <a:r>
              <a:rPr lang="en-US" b="0" i="0" dirty="0">
                <a:solidFill>
                  <a:srgbClr val="3A3A3A"/>
                </a:solidFill>
                <a:effectLst/>
              </a:rPr>
              <a:t>How many elements you can store an array directly depends upon the size of an array.</a:t>
            </a:r>
          </a:p>
          <a:p>
            <a:pPr marL="285750" indent="-285750" algn="just">
              <a:lnSpc>
                <a:spcPct val="150000"/>
              </a:lnSpc>
              <a:buFont typeface="Arial" panose="020B0604020202020204" pitchFamily="34" charset="0"/>
              <a:buChar char="•"/>
            </a:pPr>
            <a:endParaRPr lang="en-PK" dirty="0"/>
          </a:p>
        </p:txBody>
      </p:sp>
      <p:sp>
        <p:nvSpPr>
          <p:cNvPr id="7" name="TextBox 6">
            <a:extLst>
              <a:ext uri="{FF2B5EF4-FFF2-40B4-BE49-F238E27FC236}">
                <a16:creationId xmlns:a16="http://schemas.microsoft.com/office/drawing/2014/main" id="{337A1AAC-ABC0-481C-B123-1134DE5651DA}"/>
              </a:ext>
            </a:extLst>
          </p:cNvPr>
          <p:cNvSpPr txBox="1"/>
          <p:nvPr/>
        </p:nvSpPr>
        <p:spPr>
          <a:xfrm>
            <a:off x="3047114" y="2728112"/>
            <a:ext cx="6097772" cy="369332"/>
          </a:xfrm>
          <a:prstGeom prst="rect">
            <a:avLst/>
          </a:prstGeom>
          <a:noFill/>
        </p:spPr>
        <p:txBody>
          <a:bodyPr wrap="square">
            <a:spAutoFit/>
          </a:bodyPr>
          <a:lstStyle/>
          <a:p>
            <a:r>
              <a:rPr lang="en-US" b="0" i="0" dirty="0" err="1">
                <a:solidFill>
                  <a:srgbClr val="000000"/>
                </a:solidFill>
                <a:effectLst/>
              </a:rPr>
              <a:t>arrayName</a:t>
            </a:r>
            <a:r>
              <a:rPr lang="en-US" b="0" i="0" dirty="0">
                <a:solidFill>
                  <a:srgbClr val="000000"/>
                </a:solidFill>
                <a:effectLst/>
              </a:rPr>
              <a:t> = </a:t>
            </a:r>
            <a:r>
              <a:rPr lang="en-US" b="0" i="0" dirty="0">
                <a:solidFill>
                  <a:srgbClr val="4DA0D2"/>
                </a:solidFill>
                <a:effectLst/>
              </a:rPr>
              <a:t>new</a:t>
            </a:r>
            <a:r>
              <a:rPr lang="en-US" b="0" i="0" dirty="0">
                <a:solidFill>
                  <a:srgbClr val="000000"/>
                </a:solidFill>
                <a:effectLst/>
              </a:rPr>
              <a:t> </a:t>
            </a:r>
            <a:r>
              <a:rPr lang="en-US" b="0" i="0" dirty="0" err="1">
                <a:solidFill>
                  <a:srgbClr val="000000"/>
                </a:solidFill>
                <a:effectLst/>
              </a:rPr>
              <a:t>DataType</a:t>
            </a:r>
            <a:r>
              <a:rPr lang="en-US" b="0" i="0" dirty="0">
                <a:solidFill>
                  <a:srgbClr val="777777"/>
                </a:solidFill>
                <a:effectLst/>
              </a:rPr>
              <a:t>[</a:t>
            </a:r>
            <a:r>
              <a:rPr lang="en-US" b="0" i="0" dirty="0">
                <a:solidFill>
                  <a:srgbClr val="000000"/>
                </a:solidFill>
                <a:effectLst/>
              </a:rPr>
              <a:t>size</a:t>
            </a:r>
            <a:r>
              <a:rPr lang="en-US" b="0" i="0" dirty="0">
                <a:solidFill>
                  <a:srgbClr val="777777"/>
                </a:solidFill>
                <a:effectLst/>
              </a:rPr>
              <a:t>]</a:t>
            </a:r>
            <a:r>
              <a:rPr lang="en-US" b="0" i="0" dirty="0">
                <a:solidFill>
                  <a:srgbClr val="000000"/>
                </a:solidFill>
                <a:effectLst/>
              </a:rPr>
              <a:t>; </a:t>
            </a:r>
            <a:endParaRPr lang="en-PK" dirty="0"/>
          </a:p>
        </p:txBody>
      </p:sp>
      <p:sp>
        <p:nvSpPr>
          <p:cNvPr id="9" name="TextBox 8">
            <a:extLst>
              <a:ext uri="{FF2B5EF4-FFF2-40B4-BE49-F238E27FC236}">
                <a16:creationId xmlns:a16="http://schemas.microsoft.com/office/drawing/2014/main" id="{CF6E0E11-D82B-40D4-957D-5C1F0AD26191}"/>
              </a:ext>
            </a:extLst>
          </p:cNvPr>
          <p:cNvSpPr txBox="1"/>
          <p:nvPr/>
        </p:nvSpPr>
        <p:spPr>
          <a:xfrm>
            <a:off x="741178" y="3331170"/>
            <a:ext cx="10220547" cy="1711366"/>
          </a:xfrm>
          <a:prstGeom prst="rect">
            <a:avLst/>
          </a:prstGeom>
          <a:noFill/>
        </p:spPr>
        <p:txBody>
          <a:bodyPr wrap="square">
            <a:spAutoFit/>
          </a:bodyPr>
          <a:lstStyle/>
          <a:p>
            <a:pPr>
              <a:lnSpc>
                <a:spcPct val="150000"/>
              </a:lnSpc>
            </a:pPr>
            <a:r>
              <a:rPr lang="en-US" b="1" i="0" dirty="0">
                <a:solidFill>
                  <a:srgbClr val="3A3A3A"/>
                </a:solidFill>
                <a:effectLst/>
              </a:rPr>
              <a:t>new Datatype[size]: </a:t>
            </a:r>
            <a:r>
              <a:rPr lang="en-US" b="0" i="0" dirty="0">
                <a:solidFill>
                  <a:srgbClr val="3A3A3A"/>
                </a:solidFill>
                <a:effectLst/>
              </a:rPr>
              <a:t>It creates an array in heap memory. Because an</a:t>
            </a:r>
            <a:r>
              <a:rPr lang="en-US" b="1" i="0" dirty="0">
                <a:solidFill>
                  <a:srgbClr val="3A3A3A"/>
                </a:solidFill>
                <a:effectLst/>
              </a:rPr>
              <a:t> </a:t>
            </a:r>
            <a:r>
              <a:rPr lang="en-US" b="0" i="0" dirty="0">
                <a:solidFill>
                  <a:srgbClr val="3A3A3A"/>
                </a:solidFill>
                <a:effectLst/>
              </a:rPr>
              <a:t>array is an object, so it stored in </a:t>
            </a:r>
            <a:r>
              <a:rPr lang="en-US" b="1" i="0" dirty="0">
                <a:solidFill>
                  <a:srgbClr val="3A3A3A"/>
                </a:solidFill>
                <a:effectLst/>
              </a:rPr>
              <a:t>heap</a:t>
            </a:r>
            <a:r>
              <a:rPr lang="en-US" b="0" i="0" dirty="0">
                <a:solidFill>
                  <a:srgbClr val="3A3A3A"/>
                </a:solidFill>
                <a:effectLst/>
              </a:rPr>
              <a:t> memory.</a:t>
            </a:r>
          </a:p>
          <a:p>
            <a:pPr>
              <a:lnSpc>
                <a:spcPct val="150000"/>
              </a:lnSpc>
            </a:pPr>
            <a:r>
              <a:rPr lang="en-US" b="1" i="0" dirty="0" err="1">
                <a:solidFill>
                  <a:srgbClr val="3A3A3A"/>
                </a:solidFill>
                <a:effectLst/>
              </a:rPr>
              <a:t>arrayName</a:t>
            </a:r>
            <a:r>
              <a:rPr lang="en-US" b="1" i="0" dirty="0">
                <a:solidFill>
                  <a:srgbClr val="3A3A3A"/>
                </a:solidFill>
                <a:effectLst/>
              </a:rPr>
              <a:t>:</a:t>
            </a:r>
            <a:r>
              <a:rPr lang="en-US" b="0" i="0" dirty="0">
                <a:solidFill>
                  <a:srgbClr val="3A3A3A"/>
                </a:solidFill>
                <a:effectLst/>
              </a:rPr>
              <a:t> Assignment operator assigns the newly created array to the reference of variable </a:t>
            </a:r>
            <a:r>
              <a:rPr lang="en-US" b="1" i="0" dirty="0" err="1">
                <a:solidFill>
                  <a:srgbClr val="3A3A3A"/>
                </a:solidFill>
                <a:effectLst/>
              </a:rPr>
              <a:t>arrayName</a:t>
            </a:r>
            <a:r>
              <a:rPr lang="en-US" b="0" i="0" dirty="0">
                <a:solidFill>
                  <a:srgbClr val="3A3A3A"/>
                </a:solidFill>
                <a:effectLst/>
              </a:rPr>
              <a:t>. We can access the elements of an array by use of array names.</a:t>
            </a:r>
            <a:endParaRPr lang="en-PK" dirty="0"/>
          </a:p>
        </p:txBody>
      </p:sp>
      <p:sp>
        <p:nvSpPr>
          <p:cNvPr id="11" name="TextBox 10">
            <a:extLst>
              <a:ext uri="{FF2B5EF4-FFF2-40B4-BE49-F238E27FC236}">
                <a16:creationId xmlns:a16="http://schemas.microsoft.com/office/drawing/2014/main" id="{5D88B80B-09EC-42C2-ABEA-EDAA9A4F3851}"/>
              </a:ext>
            </a:extLst>
          </p:cNvPr>
          <p:cNvSpPr txBox="1"/>
          <p:nvPr/>
        </p:nvSpPr>
        <p:spPr>
          <a:xfrm>
            <a:off x="2252478" y="5460928"/>
            <a:ext cx="9061598" cy="369332"/>
          </a:xfrm>
          <a:prstGeom prst="rect">
            <a:avLst/>
          </a:prstGeom>
          <a:noFill/>
        </p:spPr>
        <p:txBody>
          <a:bodyPr wrap="square">
            <a:spAutoFit/>
          </a:bodyPr>
          <a:lstStyle/>
          <a:p>
            <a:r>
              <a:rPr lang="en-US" b="0" i="0" dirty="0">
                <a:solidFill>
                  <a:srgbClr val="000000"/>
                </a:solidFill>
                <a:effectLst/>
              </a:rPr>
              <a:t>number = </a:t>
            </a:r>
            <a:r>
              <a:rPr lang="en-US" b="0" i="0" dirty="0">
                <a:solidFill>
                  <a:srgbClr val="4DA0D2"/>
                </a:solidFill>
                <a:effectLst/>
              </a:rPr>
              <a:t>new</a:t>
            </a:r>
            <a:r>
              <a:rPr lang="en-US" b="0" i="0" dirty="0">
                <a:solidFill>
                  <a:srgbClr val="000000"/>
                </a:solidFill>
                <a:effectLst/>
              </a:rPr>
              <a:t> </a:t>
            </a:r>
            <a:r>
              <a:rPr lang="en-US" b="1" i="0" dirty="0">
                <a:solidFill>
                  <a:srgbClr val="286491"/>
                </a:solidFill>
                <a:effectLst/>
              </a:rPr>
              <a:t>int</a:t>
            </a:r>
            <a:r>
              <a:rPr lang="en-US" b="0" i="0" dirty="0">
                <a:solidFill>
                  <a:srgbClr val="777777"/>
                </a:solidFill>
                <a:effectLst/>
              </a:rPr>
              <a:t>[</a:t>
            </a:r>
            <a:r>
              <a:rPr lang="en-US" b="0" i="0" dirty="0">
                <a:solidFill>
                  <a:srgbClr val="009999"/>
                </a:solidFill>
                <a:effectLst/>
              </a:rPr>
              <a:t>10</a:t>
            </a:r>
            <a:r>
              <a:rPr lang="en-US" b="0" i="0" dirty="0">
                <a:solidFill>
                  <a:srgbClr val="777777"/>
                </a:solidFill>
                <a:effectLst/>
              </a:rPr>
              <a:t>]</a:t>
            </a:r>
            <a:r>
              <a:rPr lang="en-US" b="0" i="0" dirty="0">
                <a:solidFill>
                  <a:srgbClr val="000000"/>
                </a:solidFill>
                <a:effectLst/>
              </a:rPr>
              <a:t>; </a:t>
            </a:r>
            <a:r>
              <a:rPr lang="en-US" b="0" i="0" dirty="0">
                <a:solidFill>
                  <a:srgbClr val="9999AA"/>
                </a:solidFill>
                <a:effectLst/>
              </a:rPr>
              <a:t>// allocating memory to array</a:t>
            </a:r>
            <a:endParaRPr lang="en-PK" dirty="0"/>
          </a:p>
        </p:txBody>
      </p:sp>
    </p:spTree>
    <p:extLst>
      <p:ext uri="{BB962C8B-B14F-4D97-AF65-F5344CB8AC3E}">
        <p14:creationId xmlns:p14="http://schemas.microsoft.com/office/powerpoint/2010/main" val="7487006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396ABDE-0A7D-4D5E-9278-A7A9F583E5CD}"/>
              </a:ext>
            </a:extLst>
          </p:cNvPr>
          <p:cNvSpPr>
            <a:spLocks noGrp="1"/>
          </p:cNvSpPr>
          <p:nvPr>
            <p:ph type="title"/>
          </p:nvPr>
        </p:nvSpPr>
        <p:spPr>
          <a:xfrm>
            <a:off x="368300" y="341358"/>
            <a:ext cx="10515600" cy="694915"/>
          </a:xfrm>
        </p:spPr>
        <p:txBody>
          <a:bodyPr>
            <a:noAutofit/>
          </a:bodyPr>
          <a:lstStyle/>
          <a:p>
            <a:r>
              <a:rPr lang="en-US" sz="2800" b="1" i="0" dirty="0">
                <a:solidFill>
                  <a:schemeClr val="accent1">
                    <a:lumMod val="50000"/>
                  </a:schemeClr>
                </a:solidFill>
                <a:effectLst/>
                <a:latin typeface="+mn-lt"/>
              </a:rPr>
              <a:t>Construction/Creation of</a:t>
            </a:r>
            <a:r>
              <a:rPr lang="en-US" sz="2800" b="0" i="0" dirty="0">
                <a:solidFill>
                  <a:schemeClr val="accent1">
                    <a:lumMod val="50000"/>
                  </a:schemeClr>
                </a:solidFill>
                <a:effectLst/>
                <a:latin typeface="+mn-lt"/>
              </a:rPr>
              <a:t> </a:t>
            </a:r>
            <a:r>
              <a:rPr lang="en-US" sz="2800" b="1" i="0" dirty="0">
                <a:solidFill>
                  <a:schemeClr val="accent1">
                    <a:lumMod val="50000"/>
                  </a:schemeClr>
                </a:solidFill>
                <a:effectLst/>
                <a:latin typeface="+mn-lt"/>
              </a:rPr>
              <a:t>One-dimensional array</a:t>
            </a:r>
            <a:br>
              <a:rPr lang="en-US" sz="2800" b="0" i="0" dirty="0">
                <a:solidFill>
                  <a:schemeClr val="accent1">
                    <a:lumMod val="50000"/>
                  </a:schemeClr>
                </a:solidFill>
                <a:effectLst/>
                <a:latin typeface="+mn-lt"/>
              </a:rPr>
            </a:br>
            <a:endParaRPr lang="en-PK" sz="2800" dirty="0">
              <a:solidFill>
                <a:schemeClr val="accent1">
                  <a:lumMod val="50000"/>
                </a:schemeClr>
              </a:solidFill>
              <a:latin typeface="+mn-lt"/>
            </a:endParaRPr>
          </a:p>
        </p:txBody>
      </p:sp>
      <p:sp>
        <p:nvSpPr>
          <p:cNvPr id="7" name="TextBox 6">
            <a:extLst>
              <a:ext uri="{FF2B5EF4-FFF2-40B4-BE49-F238E27FC236}">
                <a16:creationId xmlns:a16="http://schemas.microsoft.com/office/drawing/2014/main" id="{A1A68438-EA57-4072-9528-69CB1A9547BF}"/>
              </a:ext>
            </a:extLst>
          </p:cNvPr>
          <p:cNvSpPr txBox="1"/>
          <p:nvPr/>
        </p:nvSpPr>
        <p:spPr>
          <a:xfrm>
            <a:off x="384804" y="1289604"/>
            <a:ext cx="5241296" cy="3373359"/>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b="0" i="0" dirty="0">
                <a:solidFill>
                  <a:srgbClr val="3A3A3A"/>
                </a:solidFill>
                <a:effectLst/>
              </a:rPr>
              <a:t>In this example </a:t>
            </a:r>
            <a:r>
              <a:rPr lang="en-US" b="1" i="0" dirty="0">
                <a:solidFill>
                  <a:srgbClr val="3A3A3A"/>
                </a:solidFill>
                <a:effectLst/>
              </a:rPr>
              <a:t>new int[10] </a:t>
            </a:r>
            <a:r>
              <a:rPr lang="en-US" b="0" i="0" dirty="0">
                <a:solidFill>
                  <a:srgbClr val="3A3A3A"/>
                </a:solidFill>
                <a:effectLst/>
              </a:rPr>
              <a:t>creates a new array of </a:t>
            </a:r>
            <a:r>
              <a:rPr lang="en-US" b="1" i="0" dirty="0">
                <a:solidFill>
                  <a:srgbClr val="3A3A3A"/>
                </a:solidFill>
                <a:effectLst/>
              </a:rPr>
              <a:t>int </a:t>
            </a:r>
            <a:r>
              <a:rPr lang="en-US" b="0" i="0" dirty="0">
                <a:solidFill>
                  <a:srgbClr val="3A3A3A"/>
                </a:solidFill>
                <a:effectLst/>
              </a:rPr>
              <a:t>type in </a:t>
            </a:r>
            <a:r>
              <a:rPr lang="en-US" b="1" i="0" dirty="0">
                <a:solidFill>
                  <a:srgbClr val="3A3A3A"/>
                </a:solidFill>
                <a:effectLst/>
              </a:rPr>
              <a:t>heap</a:t>
            </a:r>
            <a:r>
              <a:rPr lang="en-US" b="0" i="0" dirty="0">
                <a:solidFill>
                  <a:srgbClr val="3A3A3A"/>
                </a:solidFill>
                <a:effectLst/>
              </a:rPr>
              <a:t> memory. The assignment operator assigns the array object to the reference variable number. Now you can access the array by use of the </a:t>
            </a:r>
            <a:r>
              <a:rPr lang="en-US" b="1" i="0" dirty="0">
                <a:solidFill>
                  <a:srgbClr val="3A3A3A"/>
                </a:solidFill>
                <a:effectLst/>
              </a:rPr>
              <a:t>number</a:t>
            </a:r>
            <a:r>
              <a:rPr lang="en-US" b="0" i="0" dirty="0">
                <a:solidFill>
                  <a:srgbClr val="3A3A3A"/>
                </a:solidFill>
                <a:effectLst/>
              </a:rPr>
              <a:t>. You can access each value of array by using numbers with subscript([]). We must have to use only one subscript([]) for One dimensional array in java.</a:t>
            </a:r>
            <a:endParaRPr lang="en-PK" dirty="0"/>
          </a:p>
        </p:txBody>
      </p:sp>
      <p:sp>
        <p:nvSpPr>
          <p:cNvPr id="9" name="TextBox 8">
            <a:extLst>
              <a:ext uri="{FF2B5EF4-FFF2-40B4-BE49-F238E27FC236}">
                <a16:creationId xmlns:a16="http://schemas.microsoft.com/office/drawing/2014/main" id="{A294AFAC-7E93-4699-9284-032657B33B60}"/>
              </a:ext>
            </a:extLst>
          </p:cNvPr>
          <p:cNvSpPr txBox="1"/>
          <p:nvPr/>
        </p:nvSpPr>
        <p:spPr>
          <a:xfrm>
            <a:off x="1308100" y="920272"/>
            <a:ext cx="8413012" cy="369332"/>
          </a:xfrm>
          <a:prstGeom prst="rect">
            <a:avLst/>
          </a:prstGeom>
          <a:noFill/>
        </p:spPr>
        <p:txBody>
          <a:bodyPr wrap="square">
            <a:spAutoFit/>
          </a:bodyPr>
          <a:lstStyle/>
          <a:p>
            <a:r>
              <a:rPr lang="en-US" b="0" i="0" dirty="0">
                <a:solidFill>
                  <a:srgbClr val="000000"/>
                </a:solidFill>
                <a:effectLst/>
              </a:rPr>
              <a:t>number = </a:t>
            </a:r>
            <a:r>
              <a:rPr lang="en-US" b="0" i="0" dirty="0">
                <a:solidFill>
                  <a:srgbClr val="4DA0D2"/>
                </a:solidFill>
                <a:effectLst/>
              </a:rPr>
              <a:t>new</a:t>
            </a:r>
            <a:r>
              <a:rPr lang="en-US" b="0" i="0" dirty="0">
                <a:solidFill>
                  <a:srgbClr val="000000"/>
                </a:solidFill>
                <a:effectLst/>
              </a:rPr>
              <a:t> </a:t>
            </a:r>
            <a:r>
              <a:rPr lang="en-US" b="1" i="0" dirty="0">
                <a:solidFill>
                  <a:srgbClr val="286491"/>
                </a:solidFill>
                <a:effectLst/>
              </a:rPr>
              <a:t>int</a:t>
            </a:r>
            <a:r>
              <a:rPr lang="en-US" b="0" i="0" dirty="0">
                <a:solidFill>
                  <a:srgbClr val="777777"/>
                </a:solidFill>
                <a:effectLst/>
              </a:rPr>
              <a:t>[</a:t>
            </a:r>
            <a:r>
              <a:rPr lang="en-US" b="0" i="0" dirty="0">
                <a:solidFill>
                  <a:srgbClr val="009999"/>
                </a:solidFill>
                <a:effectLst/>
              </a:rPr>
              <a:t>10</a:t>
            </a:r>
            <a:r>
              <a:rPr lang="en-US" b="0" i="0" dirty="0">
                <a:solidFill>
                  <a:srgbClr val="777777"/>
                </a:solidFill>
                <a:effectLst/>
              </a:rPr>
              <a:t>]</a:t>
            </a:r>
            <a:r>
              <a:rPr lang="en-US" b="0" i="0" dirty="0">
                <a:solidFill>
                  <a:srgbClr val="000000"/>
                </a:solidFill>
                <a:effectLst/>
              </a:rPr>
              <a:t>; </a:t>
            </a:r>
            <a:r>
              <a:rPr lang="en-US" b="0" i="0" dirty="0">
                <a:solidFill>
                  <a:srgbClr val="9999AA"/>
                </a:solidFill>
                <a:effectLst/>
              </a:rPr>
              <a:t>// allocating memory to array</a:t>
            </a:r>
            <a:endParaRPr lang="en-PK" dirty="0"/>
          </a:p>
        </p:txBody>
      </p:sp>
      <p:sp>
        <p:nvSpPr>
          <p:cNvPr id="11" name="TextBox 10">
            <a:extLst>
              <a:ext uri="{FF2B5EF4-FFF2-40B4-BE49-F238E27FC236}">
                <a16:creationId xmlns:a16="http://schemas.microsoft.com/office/drawing/2014/main" id="{D1D15E21-4DE0-49B7-9853-E97E2B1AC3F6}"/>
              </a:ext>
            </a:extLst>
          </p:cNvPr>
          <p:cNvSpPr txBox="1"/>
          <p:nvPr/>
        </p:nvSpPr>
        <p:spPr>
          <a:xfrm>
            <a:off x="476879" y="4662963"/>
            <a:ext cx="5384171" cy="1711366"/>
          </a:xfrm>
          <a:prstGeom prst="rect">
            <a:avLst/>
          </a:prstGeom>
          <a:noFill/>
        </p:spPr>
        <p:txBody>
          <a:bodyPr wrap="square">
            <a:spAutoFit/>
          </a:bodyPr>
          <a:lstStyle/>
          <a:p>
            <a:pPr algn="just">
              <a:lnSpc>
                <a:spcPct val="150000"/>
              </a:lnSpc>
            </a:pPr>
            <a:r>
              <a:rPr lang="en-US" b="1" i="0" dirty="0">
                <a:solidFill>
                  <a:srgbClr val="3A3A3A"/>
                </a:solidFill>
                <a:effectLst/>
              </a:rPr>
              <a:t>Note:</a:t>
            </a:r>
            <a:r>
              <a:rPr lang="en-US" b="0" i="0" dirty="0">
                <a:solidFill>
                  <a:srgbClr val="3A3A3A"/>
                </a:solidFill>
                <a:effectLst/>
              </a:rPr>
              <a:t> When we are creating a new array the elements in the array will automatically be initialized by their default values. For e.g. : </a:t>
            </a:r>
            <a:r>
              <a:rPr lang="en-US" b="1" i="0" dirty="0">
                <a:solidFill>
                  <a:srgbClr val="3A3A3A"/>
                </a:solidFill>
                <a:effectLst/>
              </a:rPr>
              <a:t>zero</a:t>
            </a:r>
            <a:r>
              <a:rPr lang="en-US" b="0" i="0" dirty="0">
                <a:solidFill>
                  <a:srgbClr val="3A3A3A"/>
                </a:solidFill>
                <a:effectLst/>
              </a:rPr>
              <a:t> (int types), </a:t>
            </a:r>
            <a:r>
              <a:rPr lang="en-US" b="1" i="0" dirty="0">
                <a:solidFill>
                  <a:srgbClr val="3A3A3A"/>
                </a:solidFill>
                <a:effectLst/>
              </a:rPr>
              <a:t>false</a:t>
            </a:r>
            <a:r>
              <a:rPr lang="en-US" b="0" i="0" dirty="0">
                <a:solidFill>
                  <a:srgbClr val="3A3A3A"/>
                </a:solidFill>
                <a:effectLst/>
              </a:rPr>
              <a:t> (</a:t>
            </a:r>
            <a:r>
              <a:rPr lang="en-US" b="0" i="0" dirty="0" err="1">
                <a:solidFill>
                  <a:srgbClr val="3A3A3A"/>
                </a:solidFill>
                <a:effectLst/>
              </a:rPr>
              <a:t>boolean</a:t>
            </a:r>
            <a:r>
              <a:rPr lang="en-US" b="0" i="0" dirty="0">
                <a:solidFill>
                  <a:srgbClr val="3A3A3A"/>
                </a:solidFill>
                <a:effectLst/>
              </a:rPr>
              <a:t>), or </a:t>
            </a:r>
            <a:r>
              <a:rPr lang="en-US" b="1" i="0" dirty="0">
                <a:solidFill>
                  <a:srgbClr val="3A3A3A"/>
                </a:solidFill>
                <a:effectLst/>
              </a:rPr>
              <a:t>null</a:t>
            </a:r>
            <a:r>
              <a:rPr lang="en-US" b="0" i="0" dirty="0">
                <a:solidFill>
                  <a:srgbClr val="3A3A3A"/>
                </a:solidFill>
                <a:effectLst/>
              </a:rPr>
              <a:t> (for object types).</a:t>
            </a:r>
            <a:endParaRPr lang="en-PK" dirty="0"/>
          </a:p>
        </p:txBody>
      </p:sp>
      <p:pic>
        <p:nvPicPr>
          <p:cNvPr id="14" name="Picture 13">
            <a:extLst>
              <a:ext uri="{FF2B5EF4-FFF2-40B4-BE49-F238E27FC236}">
                <a16:creationId xmlns:a16="http://schemas.microsoft.com/office/drawing/2014/main" id="{D1C7AA8A-F763-4CC7-86C0-3F06271434AD}"/>
              </a:ext>
            </a:extLst>
          </p:cNvPr>
          <p:cNvPicPr>
            <a:picLocks noChangeAspect="1"/>
          </p:cNvPicPr>
          <p:nvPr/>
        </p:nvPicPr>
        <p:blipFill>
          <a:blip r:embed="rId2"/>
          <a:stretch>
            <a:fillRect/>
          </a:stretch>
        </p:blipFill>
        <p:spPr>
          <a:xfrm>
            <a:off x="6096000" y="1289604"/>
            <a:ext cx="5943600" cy="4343400"/>
          </a:xfrm>
          <a:prstGeom prst="rect">
            <a:avLst/>
          </a:prstGeom>
        </p:spPr>
      </p:pic>
    </p:spTree>
    <p:extLst>
      <p:ext uri="{BB962C8B-B14F-4D97-AF65-F5344CB8AC3E}">
        <p14:creationId xmlns:p14="http://schemas.microsoft.com/office/powerpoint/2010/main" val="19347200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One dimensional array in java">
            <a:extLst>
              <a:ext uri="{FF2B5EF4-FFF2-40B4-BE49-F238E27FC236}">
                <a16:creationId xmlns:a16="http://schemas.microsoft.com/office/drawing/2014/main" id="{2E40E7A6-B941-4C21-A8ED-BB9B812334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4375" y="821586"/>
            <a:ext cx="5139832" cy="576971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5B93C316-1B3C-426E-BE60-43A3A8AD12C4}"/>
              </a:ext>
            </a:extLst>
          </p:cNvPr>
          <p:cNvSpPr txBox="1"/>
          <p:nvPr/>
        </p:nvSpPr>
        <p:spPr>
          <a:xfrm>
            <a:off x="666603" y="1600144"/>
            <a:ext cx="6097772" cy="3338735"/>
          </a:xfrm>
          <a:prstGeom prst="rect">
            <a:avLst/>
          </a:prstGeom>
          <a:noFill/>
        </p:spPr>
        <p:txBody>
          <a:bodyPr wrap="square">
            <a:spAutoFit/>
          </a:bodyPr>
          <a:lstStyle/>
          <a:p>
            <a:pPr marL="285750" indent="-285750" algn="just">
              <a:lnSpc>
                <a:spcPct val="200000"/>
              </a:lnSpc>
              <a:buFont typeface="Arial" panose="020B0604020202020204" pitchFamily="34" charset="0"/>
              <a:buChar char="•"/>
            </a:pPr>
            <a:r>
              <a:rPr lang="en-US" b="0" i="0" dirty="0">
                <a:solidFill>
                  <a:srgbClr val="3A3A3A"/>
                </a:solidFill>
                <a:effectLst/>
              </a:rPr>
              <a:t>The index of an array starts from 0 and ends with length-1. The first element of an array is number[0], second is number[1] and so on. If the length of an array is n, the last element will be </a:t>
            </a:r>
            <a:r>
              <a:rPr lang="en-US" b="0" i="0" dirty="0" err="1">
                <a:solidFill>
                  <a:srgbClr val="3A3A3A"/>
                </a:solidFill>
                <a:effectLst/>
              </a:rPr>
              <a:t>arrayName</a:t>
            </a:r>
            <a:r>
              <a:rPr lang="en-US" b="0" i="0" dirty="0">
                <a:solidFill>
                  <a:srgbClr val="3A3A3A"/>
                </a:solidFill>
                <a:effectLst/>
              </a:rPr>
              <a:t>[length-1]. Since the length of the number array is 10, the last element of the array is number[9]. </a:t>
            </a:r>
            <a:endParaRPr lang="en-PK" dirty="0"/>
          </a:p>
        </p:txBody>
      </p:sp>
      <p:sp>
        <p:nvSpPr>
          <p:cNvPr id="9" name="TextBox 8">
            <a:extLst>
              <a:ext uri="{FF2B5EF4-FFF2-40B4-BE49-F238E27FC236}">
                <a16:creationId xmlns:a16="http://schemas.microsoft.com/office/drawing/2014/main" id="{A9FCDAED-14AD-414D-A2F9-EDB7361214A4}"/>
              </a:ext>
            </a:extLst>
          </p:cNvPr>
          <p:cNvSpPr txBox="1"/>
          <p:nvPr/>
        </p:nvSpPr>
        <p:spPr>
          <a:xfrm>
            <a:off x="443910" y="458604"/>
            <a:ext cx="10871790" cy="523220"/>
          </a:xfrm>
          <a:prstGeom prst="rect">
            <a:avLst/>
          </a:prstGeom>
          <a:noFill/>
        </p:spPr>
        <p:txBody>
          <a:bodyPr wrap="square">
            <a:spAutoFit/>
          </a:bodyPr>
          <a:lstStyle/>
          <a:p>
            <a:pPr algn="l"/>
            <a:r>
              <a:rPr lang="en-US" sz="2800" b="1" i="0" dirty="0">
                <a:solidFill>
                  <a:schemeClr val="accent1">
                    <a:lumMod val="50000"/>
                  </a:schemeClr>
                </a:solidFill>
                <a:effectLst/>
              </a:rPr>
              <a:t>Memory Representation after Construction / Creation of Array</a:t>
            </a:r>
            <a:endParaRPr lang="en-US" sz="2800" b="0" i="0" dirty="0">
              <a:solidFill>
                <a:schemeClr val="accent1">
                  <a:lumMod val="50000"/>
                </a:schemeClr>
              </a:solidFill>
              <a:effectLst/>
            </a:endParaRPr>
          </a:p>
        </p:txBody>
      </p:sp>
    </p:spTree>
    <p:extLst>
      <p:ext uri="{BB962C8B-B14F-4D97-AF65-F5344CB8AC3E}">
        <p14:creationId xmlns:p14="http://schemas.microsoft.com/office/powerpoint/2010/main" val="20722623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0D4E1BD-71DB-4DD4-8003-C3981FB6A6FE}"/>
              </a:ext>
            </a:extLst>
          </p:cNvPr>
          <p:cNvSpPr txBox="1"/>
          <p:nvPr/>
        </p:nvSpPr>
        <p:spPr>
          <a:xfrm>
            <a:off x="267881" y="189613"/>
            <a:ext cx="6097772" cy="523220"/>
          </a:xfrm>
          <a:prstGeom prst="rect">
            <a:avLst/>
          </a:prstGeom>
          <a:noFill/>
        </p:spPr>
        <p:txBody>
          <a:bodyPr wrap="square">
            <a:spAutoFit/>
          </a:bodyPr>
          <a:lstStyle/>
          <a:p>
            <a:pPr algn="l"/>
            <a:r>
              <a:rPr lang="en-US" sz="2800" b="1" i="0" dirty="0">
                <a:solidFill>
                  <a:schemeClr val="accent1">
                    <a:lumMod val="50000"/>
                  </a:schemeClr>
                </a:solidFill>
                <a:effectLst/>
              </a:rPr>
              <a:t>Initialization of One-dimensional array</a:t>
            </a:r>
            <a:endParaRPr lang="en-US" sz="2800" b="0" i="0" dirty="0">
              <a:solidFill>
                <a:schemeClr val="accent1">
                  <a:lumMod val="50000"/>
                </a:schemeClr>
              </a:solidFill>
              <a:effectLst/>
            </a:endParaRPr>
          </a:p>
        </p:txBody>
      </p:sp>
      <p:sp>
        <p:nvSpPr>
          <p:cNvPr id="7" name="TextBox 6">
            <a:extLst>
              <a:ext uri="{FF2B5EF4-FFF2-40B4-BE49-F238E27FC236}">
                <a16:creationId xmlns:a16="http://schemas.microsoft.com/office/drawing/2014/main" id="{4D08A7B7-8BAE-4E8D-AF37-BB019AF512DC}"/>
              </a:ext>
            </a:extLst>
          </p:cNvPr>
          <p:cNvSpPr txBox="1"/>
          <p:nvPr/>
        </p:nvSpPr>
        <p:spPr>
          <a:xfrm>
            <a:off x="369481" y="2435282"/>
            <a:ext cx="6097772" cy="369332"/>
          </a:xfrm>
          <a:prstGeom prst="rect">
            <a:avLst/>
          </a:prstGeom>
          <a:noFill/>
        </p:spPr>
        <p:txBody>
          <a:bodyPr wrap="square">
            <a:spAutoFit/>
          </a:bodyPr>
          <a:lstStyle/>
          <a:p>
            <a:r>
              <a:rPr lang="en-US" b="1" i="0" dirty="0">
                <a:solidFill>
                  <a:srgbClr val="3A3A3A"/>
                </a:solidFill>
                <a:effectLst/>
              </a:rPr>
              <a:t>Some point about Initialization:</a:t>
            </a:r>
            <a:endParaRPr lang="en-PK" b="1" dirty="0"/>
          </a:p>
        </p:txBody>
      </p:sp>
      <p:sp>
        <p:nvSpPr>
          <p:cNvPr id="9" name="TextBox 8">
            <a:extLst>
              <a:ext uri="{FF2B5EF4-FFF2-40B4-BE49-F238E27FC236}">
                <a16:creationId xmlns:a16="http://schemas.microsoft.com/office/drawing/2014/main" id="{C0758ED9-8782-4BAB-B1DB-2F44AE792AC5}"/>
              </a:ext>
            </a:extLst>
          </p:cNvPr>
          <p:cNvSpPr txBox="1"/>
          <p:nvPr/>
        </p:nvSpPr>
        <p:spPr>
          <a:xfrm>
            <a:off x="788727" y="3030991"/>
            <a:ext cx="10859978" cy="1711366"/>
          </a:xfrm>
          <a:prstGeom prst="rect">
            <a:avLst/>
          </a:prstGeom>
          <a:noFill/>
        </p:spPr>
        <p:txBody>
          <a:bodyPr wrap="square">
            <a:spAutoFit/>
          </a:bodyPr>
          <a:lstStyle/>
          <a:p>
            <a:pPr algn="l">
              <a:lnSpc>
                <a:spcPct val="150000"/>
              </a:lnSpc>
              <a:buFont typeface="Arial" panose="020B0604020202020204" pitchFamily="34" charset="0"/>
              <a:buChar char="•"/>
            </a:pPr>
            <a:r>
              <a:rPr lang="en-US" b="0" i="0" dirty="0">
                <a:solidFill>
                  <a:srgbClr val="3A3A3A"/>
                </a:solidFill>
                <a:effectLst/>
              </a:rPr>
              <a:t>If you choose </a:t>
            </a:r>
            <a:r>
              <a:rPr lang="en-US" b="1" i="0" dirty="0">
                <a:solidFill>
                  <a:srgbClr val="3A3A3A"/>
                </a:solidFill>
                <a:effectLst/>
              </a:rPr>
              <a:t>datatype</a:t>
            </a:r>
            <a:r>
              <a:rPr lang="en-US" b="0" i="0" dirty="0">
                <a:solidFill>
                  <a:srgbClr val="3A3A3A"/>
                </a:solidFill>
                <a:effectLst/>
              </a:rPr>
              <a:t> of an array is int then values should be int type. It means a type of value is totally dependent on </a:t>
            </a:r>
            <a:r>
              <a:rPr lang="en-US" b="1" i="0" dirty="0">
                <a:solidFill>
                  <a:srgbClr val="3A3A3A"/>
                </a:solidFill>
                <a:effectLst/>
              </a:rPr>
              <a:t>datatype </a:t>
            </a:r>
            <a:r>
              <a:rPr lang="en-US" b="0" i="0" dirty="0">
                <a:solidFill>
                  <a:srgbClr val="3A3A3A"/>
                </a:solidFill>
                <a:effectLst/>
              </a:rPr>
              <a:t>of an array.</a:t>
            </a:r>
          </a:p>
          <a:p>
            <a:pPr algn="l">
              <a:lnSpc>
                <a:spcPct val="150000"/>
              </a:lnSpc>
              <a:buFont typeface="Arial" panose="020B0604020202020204" pitchFamily="34" charset="0"/>
              <a:buChar char="•"/>
            </a:pPr>
            <a:r>
              <a:rPr lang="en-US" b="0" i="0" dirty="0">
                <a:solidFill>
                  <a:srgbClr val="3A3A3A"/>
                </a:solidFill>
                <a:effectLst/>
              </a:rPr>
              <a:t>Value1 will be store at 0 indexes, value2 in 1 index and so on.</a:t>
            </a:r>
          </a:p>
          <a:p>
            <a:pPr algn="l">
              <a:lnSpc>
                <a:spcPct val="150000"/>
              </a:lnSpc>
              <a:buFont typeface="Arial" panose="020B0604020202020204" pitchFamily="34" charset="0"/>
              <a:buChar char="•"/>
            </a:pPr>
            <a:r>
              <a:rPr lang="en-US" b="0" i="0" dirty="0">
                <a:solidFill>
                  <a:srgbClr val="3A3A3A"/>
                </a:solidFill>
                <a:effectLst/>
              </a:rPr>
              <a:t>The size of the array depends upon how many values you are providing at the time of initialization.</a:t>
            </a:r>
          </a:p>
        </p:txBody>
      </p:sp>
      <p:sp>
        <p:nvSpPr>
          <p:cNvPr id="11" name="TextBox 10">
            <a:extLst>
              <a:ext uri="{FF2B5EF4-FFF2-40B4-BE49-F238E27FC236}">
                <a16:creationId xmlns:a16="http://schemas.microsoft.com/office/drawing/2014/main" id="{A7952452-AD7E-4298-83E1-00A5FCD5182E}"/>
              </a:ext>
            </a:extLst>
          </p:cNvPr>
          <p:cNvSpPr txBox="1"/>
          <p:nvPr/>
        </p:nvSpPr>
        <p:spPr>
          <a:xfrm>
            <a:off x="2294564" y="5219021"/>
            <a:ext cx="10167384" cy="369332"/>
          </a:xfrm>
          <a:prstGeom prst="rect">
            <a:avLst/>
          </a:prstGeom>
          <a:noFill/>
        </p:spPr>
        <p:txBody>
          <a:bodyPr wrap="square">
            <a:spAutoFit/>
          </a:bodyPr>
          <a:lstStyle/>
          <a:p>
            <a:r>
              <a:rPr lang="en-US" b="1" i="0" dirty="0">
                <a:solidFill>
                  <a:srgbClr val="286491"/>
                </a:solidFill>
                <a:effectLst/>
              </a:rPr>
              <a:t>int</a:t>
            </a:r>
            <a:r>
              <a:rPr lang="en-US" b="0" i="0" dirty="0">
                <a:solidFill>
                  <a:srgbClr val="000000"/>
                </a:solidFill>
                <a:effectLst/>
              </a:rPr>
              <a:t> number</a:t>
            </a:r>
            <a:r>
              <a:rPr lang="en-US" b="0" i="0" dirty="0">
                <a:solidFill>
                  <a:srgbClr val="777777"/>
                </a:solidFill>
                <a:effectLst/>
              </a:rPr>
              <a:t>[]</a:t>
            </a:r>
            <a:r>
              <a:rPr lang="en-US" b="0" i="0" dirty="0">
                <a:solidFill>
                  <a:srgbClr val="000000"/>
                </a:solidFill>
                <a:effectLst/>
              </a:rPr>
              <a:t> = </a:t>
            </a:r>
            <a:r>
              <a:rPr lang="en-US" b="0" i="0" dirty="0">
                <a:solidFill>
                  <a:srgbClr val="777777"/>
                </a:solidFill>
                <a:effectLst/>
              </a:rPr>
              <a:t>{</a:t>
            </a:r>
            <a:r>
              <a:rPr lang="en-US" b="0" i="0" dirty="0">
                <a:solidFill>
                  <a:srgbClr val="009999"/>
                </a:solidFill>
                <a:effectLst/>
              </a:rPr>
              <a:t>11</a:t>
            </a:r>
            <a:r>
              <a:rPr lang="en-US" b="0" i="0" dirty="0">
                <a:solidFill>
                  <a:srgbClr val="000000"/>
                </a:solidFill>
                <a:effectLst/>
              </a:rPr>
              <a:t>, </a:t>
            </a:r>
            <a:r>
              <a:rPr lang="en-US" b="0" i="0" dirty="0">
                <a:solidFill>
                  <a:srgbClr val="009999"/>
                </a:solidFill>
                <a:effectLst/>
              </a:rPr>
              <a:t>22</a:t>
            </a:r>
            <a:r>
              <a:rPr lang="en-US" b="0" i="0" dirty="0">
                <a:solidFill>
                  <a:srgbClr val="000000"/>
                </a:solidFill>
                <a:effectLst/>
              </a:rPr>
              <a:t>, </a:t>
            </a:r>
            <a:r>
              <a:rPr lang="en-US" b="0" i="0" dirty="0">
                <a:solidFill>
                  <a:srgbClr val="009999"/>
                </a:solidFill>
                <a:effectLst/>
              </a:rPr>
              <a:t>33</a:t>
            </a:r>
            <a:r>
              <a:rPr lang="en-US" b="0" i="0" dirty="0">
                <a:solidFill>
                  <a:srgbClr val="000000"/>
                </a:solidFill>
                <a:effectLst/>
              </a:rPr>
              <a:t> </a:t>
            </a:r>
            <a:r>
              <a:rPr lang="en-US" b="0" i="0" dirty="0">
                <a:solidFill>
                  <a:srgbClr val="009999"/>
                </a:solidFill>
                <a:effectLst/>
              </a:rPr>
              <a:t>44</a:t>
            </a:r>
            <a:r>
              <a:rPr lang="en-US" b="0" i="0" dirty="0">
                <a:solidFill>
                  <a:srgbClr val="000000"/>
                </a:solidFill>
                <a:effectLst/>
              </a:rPr>
              <a:t>, </a:t>
            </a:r>
            <a:r>
              <a:rPr lang="en-US" b="0" i="0" dirty="0">
                <a:solidFill>
                  <a:srgbClr val="009999"/>
                </a:solidFill>
                <a:effectLst/>
              </a:rPr>
              <a:t>55</a:t>
            </a:r>
            <a:r>
              <a:rPr lang="en-US" b="0" i="0" dirty="0">
                <a:solidFill>
                  <a:srgbClr val="000000"/>
                </a:solidFill>
                <a:effectLst/>
              </a:rPr>
              <a:t>, </a:t>
            </a:r>
            <a:r>
              <a:rPr lang="en-US" b="0" i="0" dirty="0">
                <a:solidFill>
                  <a:srgbClr val="009999"/>
                </a:solidFill>
                <a:effectLst/>
              </a:rPr>
              <a:t>66</a:t>
            </a:r>
            <a:r>
              <a:rPr lang="en-US" b="0" i="0" dirty="0">
                <a:solidFill>
                  <a:srgbClr val="000000"/>
                </a:solidFill>
                <a:effectLst/>
              </a:rPr>
              <a:t>, </a:t>
            </a:r>
            <a:r>
              <a:rPr lang="en-US" b="0" i="0" dirty="0">
                <a:solidFill>
                  <a:srgbClr val="009999"/>
                </a:solidFill>
                <a:effectLst/>
              </a:rPr>
              <a:t>77</a:t>
            </a:r>
            <a:r>
              <a:rPr lang="en-US" b="0" i="0" dirty="0">
                <a:solidFill>
                  <a:srgbClr val="000000"/>
                </a:solidFill>
                <a:effectLst/>
              </a:rPr>
              <a:t>, </a:t>
            </a:r>
            <a:r>
              <a:rPr lang="en-US" b="0" i="0" dirty="0">
                <a:solidFill>
                  <a:srgbClr val="009999"/>
                </a:solidFill>
                <a:effectLst/>
              </a:rPr>
              <a:t>88</a:t>
            </a:r>
            <a:r>
              <a:rPr lang="en-US" b="0" i="0" dirty="0">
                <a:solidFill>
                  <a:srgbClr val="000000"/>
                </a:solidFill>
                <a:effectLst/>
              </a:rPr>
              <a:t>, </a:t>
            </a:r>
            <a:r>
              <a:rPr lang="en-US" b="0" i="0" dirty="0">
                <a:solidFill>
                  <a:srgbClr val="009999"/>
                </a:solidFill>
                <a:effectLst/>
              </a:rPr>
              <a:t>99</a:t>
            </a:r>
            <a:r>
              <a:rPr lang="en-US" b="0" i="0" dirty="0">
                <a:solidFill>
                  <a:srgbClr val="000000"/>
                </a:solidFill>
                <a:effectLst/>
              </a:rPr>
              <a:t>, </a:t>
            </a:r>
            <a:r>
              <a:rPr lang="en-US" b="0" i="0" dirty="0">
                <a:solidFill>
                  <a:srgbClr val="009999"/>
                </a:solidFill>
                <a:effectLst/>
              </a:rPr>
              <a:t>100</a:t>
            </a:r>
            <a:r>
              <a:rPr lang="en-US" b="0" i="0" dirty="0">
                <a:solidFill>
                  <a:srgbClr val="777777"/>
                </a:solidFill>
                <a:effectLst/>
              </a:rPr>
              <a:t>}</a:t>
            </a:r>
            <a:endParaRPr lang="en-PK" dirty="0"/>
          </a:p>
        </p:txBody>
      </p:sp>
      <p:sp>
        <p:nvSpPr>
          <p:cNvPr id="13" name="TextBox 12">
            <a:extLst>
              <a:ext uri="{FF2B5EF4-FFF2-40B4-BE49-F238E27FC236}">
                <a16:creationId xmlns:a16="http://schemas.microsoft.com/office/drawing/2014/main" id="{C25B3AD0-4B52-45C2-B3CD-8AD23920DDBE}"/>
              </a:ext>
            </a:extLst>
          </p:cNvPr>
          <p:cNvSpPr txBox="1"/>
          <p:nvPr/>
        </p:nvSpPr>
        <p:spPr>
          <a:xfrm>
            <a:off x="852819" y="5872099"/>
            <a:ext cx="10486362" cy="369332"/>
          </a:xfrm>
          <a:prstGeom prst="rect">
            <a:avLst/>
          </a:prstGeom>
          <a:noFill/>
        </p:spPr>
        <p:txBody>
          <a:bodyPr wrap="square">
            <a:spAutoFit/>
          </a:bodyPr>
          <a:lstStyle/>
          <a:p>
            <a:pPr marL="285750" indent="-285750">
              <a:buFont typeface="Arial" panose="020B0604020202020204" pitchFamily="34" charset="0"/>
              <a:buChar char="•"/>
            </a:pPr>
            <a:r>
              <a:rPr lang="en-US" b="0" i="0" dirty="0">
                <a:solidFill>
                  <a:srgbClr val="3A3A3A"/>
                </a:solidFill>
                <a:effectLst/>
              </a:rPr>
              <a:t>It’s created an array of int type as you see we are initializing it during declaration.</a:t>
            </a:r>
            <a:endParaRPr lang="en-PK" dirty="0"/>
          </a:p>
        </p:txBody>
      </p:sp>
      <p:sp>
        <p:nvSpPr>
          <p:cNvPr id="15" name="TextBox 14">
            <a:extLst>
              <a:ext uri="{FF2B5EF4-FFF2-40B4-BE49-F238E27FC236}">
                <a16:creationId xmlns:a16="http://schemas.microsoft.com/office/drawing/2014/main" id="{525B2929-D9A8-413B-B827-D98F3AA5D51A}"/>
              </a:ext>
            </a:extLst>
          </p:cNvPr>
          <p:cNvSpPr txBox="1"/>
          <p:nvPr/>
        </p:nvSpPr>
        <p:spPr>
          <a:xfrm>
            <a:off x="709722" y="1638979"/>
            <a:ext cx="10390669" cy="369332"/>
          </a:xfrm>
          <a:prstGeom prst="rect">
            <a:avLst/>
          </a:prstGeom>
          <a:noFill/>
        </p:spPr>
        <p:txBody>
          <a:bodyPr wrap="square">
            <a:spAutoFit/>
          </a:bodyPr>
          <a:lstStyle/>
          <a:p>
            <a:r>
              <a:rPr lang="en-US" b="0" i="0" dirty="0" err="1">
                <a:solidFill>
                  <a:srgbClr val="000000"/>
                </a:solidFill>
                <a:effectLst/>
              </a:rPr>
              <a:t>dataType</a:t>
            </a:r>
            <a:r>
              <a:rPr lang="en-US" b="0" i="0" dirty="0">
                <a:solidFill>
                  <a:srgbClr val="000000"/>
                </a:solidFill>
                <a:effectLst/>
              </a:rPr>
              <a:t> </a:t>
            </a:r>
            <a:r>
              <a:rPr lang="en-US" b="0" i="0" dirty="0" err="1">
                <a:solidFill>
                  <a:srgbClr val="000000"/>
                </a:solidFill>
                <a:effectLst/>
              </a:rPr>
              <a:t>arrayName</a:t>
            </a:r>
            <a:r>
              <a:rPr lang="en-US" b="0" i="0" dirty="0">
                <a:solidFill>
                  <a:srgbClr val="777777"/>
                </a:solidFill>
                <a:effectLst/>
              </a:rPr>
              <a:t>[]</a:t>
            </a:r>
            <a:r>
              <a:rPr lang="en-US" b="0" i="0" dirty="0">
                <a:solidFill>
                  <a:srgbClr val="000000"/>
                </a:solidFill>
                <a:effectLst/>
              </a:rPr>
              <a:t> = </a:t>
            </a:r>
            <a:r>
              <a:rPr lang="en-US" b="0" i="0" dirty="0">
                <a:solidFill>
                  <a:srgbClr val="777777"/>
                </a:solidFill>
                <a:effectLst/>
              </a:rPr>
              <a:t>{</a:t>
            </a:r>
            <a:r>
              <a:rPr lang="en-US" b="0" i="0" dirty="0">
                <a:solidFill>
                  <a:srgbClr val="000000"/>
                </a:solidFill>
                <a:effectLst/>
              </a:rPr>
              <a:t>value1, value2, …</a:t>
            </a:r>
            <a:r>
              <a:rPr lang="en-US" b="0" i="0" dirty="0" err="1">
                <a:solidFill>
                  <a:srgbClr val="000000"/>
                </a:solidFill>
                <a:effectLst/>
              </a:rPr>
              <a:t>valueN</a:t>
            </a:r>
            <a:r>
              <a:rPr lang="en-US" b="0" i="0" dirty="0">
                <a:solidFill>
                  <a:srgbClr val="777777"/>
                </a:solidFill>
                <a:effectLst/>
              </a:rPr>
              <a:t>}</a:t>
            </a:r>
            <a:r>
              <a:rPr lang="en-US" b="0" i="0" dirty="0">
                <a:solidFill>
                  <a:srgbClr val="000000"/>
                </a:solidFill>
                <a:effectLst/>
              </a:rPr>
              <a:t> </a:t>
            </a:r>
            <a:endParaRPr lang="en-PK" dirty="0"/>
          </a:p>
        </p:txBody>
      </p:sp>
      <p:sp>
        <p:nvSpPr>
          <p:cNvPr id="17" name="TextBox 16">
            <a:extLst>
              <a:ext uri="{FF2B5EF4-FFF2-40B4-BE49-F238E27FC236}">
                <a16:creationId xmlns:a16="http://schemas.microsoft.com/office/drawing/2014/main" id="{1035646E-4ECE-4779-A381-B3738C1911B9}"/>
              </a:ext>
            </a:extLst>
          </p:cNvPr>
          <p:cNvSpPr txBox="1"/>
          <p:nvPr/>
        </p:nvSpPr>
        <p:spPr>
          <a:xfrm>
            <a:off x="667192" y="885586"/>
            <a:ext cx="11103049" cy="646331"/>
          </a:xfrm>
          <a:prstGeom prst="rect">
            <a:avLst/>
          </a:prstGeom>
          <a:noFill/>
        </p:spPr>
        <p:txBody>
          <a:bodyPr wrap="square">
            <a:spAutoFit/>
          </a:bodyPr>
          <a:lstStyle/>
          <a:p>
            <a:pPr marL="285750" indent="-285750">
              <a:buFont typeface="Arial" panose="020B0604020202020204" pitchFamily="34" charset="0"/>
              <a:buChar char="•"/>
            </a:pPr>
            <a:r>
              <a:rPr lang="en-US" b="0" i="0" dirty="0">
                <a:solidFill>
                  <a:srgbClr val="3A3A3A"/>
                </a:solidFill>
                <a:effectLst/>
              </a:rPr>
              <a:t>You can also construct an array by initializing the array at declaration time. If you are initializing the array it is another way to construct an array.</a:t>
            </a:r>
            <a:endParaRPr lang="en-PK" dirty="0"/>
          </a:p>
        </p:txBody>
      </p:sp>
    </p:spTree>
    <p:extLst>
      <p:ext uri="{BB962C8B-B14F-4D97-AF65-F5344CB8AC3E}">
        <p14:creationId xmlns:p14="http://schemas.microsoft.com/office/powerpoint/2010/main" val="9475062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One dimensional array in java">
            <a:extLst>
              <a:ext uri="{FF2B5EF4-FFF2-40B4-BE49-F238E27FC236}">
                <a16:creationId xmlns:a16="http://schemas.microsoft.com/office/drawing/2014/main" id="{9110C312-5976-41F1-9FF8-672CC7B0AB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54383" y="560726"/>
            <a:ext cx="5864826" cy="549171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B65378E9-4009-4229-B42F-AE1EDBC718CF}"/>
              </a:ext>
            </a:extLst>
          </p:cNvPr>
          <p:cNvSpPr txBox="1"/>
          <p:nvPr/>
        </p:nvSpPr>
        <p:spPr>
          <a:xfrm>
            <a:off x="273788" y="1320036"/>
            <a:ext cx="6097772" cy="369332"/>
          </a:xfrm>
          <a:prstGeom prst="rect">
            <a:avLst/>
          </a:prstGeom>
          <a:noFill/>
        </p:spPr>
        <p:txBody>
          <a:bodyPr wrap="square">
            <a:spAutoFit/>
          </a:bodyPr>
          <a:lstStyle/>
          <a:p>
            <a:pPr algn="l"/>
            <a:r>
              <a:rPr lang="en-US" b="1" i="0" dirty="0">
                <a:solidFill>
                  <a:srgbClr val="3A3A3A"/>
                </a:solidFill>
                <a:effectLst/>
              </a:rPr>
              <a:t>Example of an Array</a:t>
            </a:r>
            <a:endParaRPr lang="en-US" b="0" i="0" dirty="0">
              <a:solidFill>
                <a:srgbClr val="3A3A3A"/>
              </a:solidFill>
              <a:effectLst/>
            </a:endParaRPr>
          </a:p>
        </p:txBody>
      </p:sp>
      <p:sp>
        <p:nvSpPr>
          <p:cNvPr id="10" name="TextBox 9">
            <a:extLst>
              <a:ext uri="{FF2B5EF4-FFF2-40B4-BE49-F238E27FC236}">
                <a16:creationId xmlns:a16="http://schemas.microsoft.com/office/drawing/2014/main" id="{E551140F-55B2-4308-90AF-61F72BC02882}"/>
              </a:ext>
            </a:extLst>
          </p:cNvPr>
          <p:cNvSpPr txBox="1"/>
          <p:nvPr/>
        </p:nvSpPr>
        <p:spPr>
          <a:xfrm>
            <a:off x="752549" y="2183199"/>
            <a:ext cx="6097772" cy="3170099"/>
          </a:xfrm>
          <a:prstGeom prst="rect">
            <a:avLst/>
          </a:prstGeom>
          <a:noFill/>
        </p:spPr>
        <p:txBody>
          <a:bodyPr wrap="square">
            <a:spAutoFit/>
          </a:bodyPr>
          <a:lstStyle/>
          <a:p>
            <a:pPr algn="l"/>
            <a:r>
              <a:rPr lang="en-US" sz="2000" b="0" i="0" dirty="0">
                <a:solidFill>
                  <a:srgbClr val="000000"/>
                </a:solidFill>
                <a:effectLst/>
              </a:rPr>
              <a:t>public </a:t>
            </a:r>
            <a:r>
              <a:rPr lang="en-US" sz="2000" b="1" i="0" dirty="0">
                <a:solidFill>
                  <a:srgbClr val="286491"/>
                </a:solidFill>
                <a:effectLst/>
              </a:rPr>
              <a:t>class</a:t>
            </a:r>
            <a:r>
              <a:rPr lang="en-US" sz="2000" b="0" i="0" dirty="0">
                <a:solidFill>
                  <a:srgbClr val="000000"/>
                </a:solidFill>
                <a:effectLst/>
              </a:rPr>
              <a:t> </a:t>
            </a:r>
            <a:r>
              <a:rPr lang="en-US" sz="2000" b="0" i="0" dirty="0" err="1">
                <a:solidFill>
                  <a:srgbClr val="000000"/>
                </a:solidFill>
                <a:effectLst/>
              </a:rPr>
              <a:t>MyExample</a:t>
            </a:r>
            <a:r>
              <a:rPr lang="en-US" sz="2000" b="0" i="0" dirty="0">
                <a:solidFill>
                  <a:srgbClr val="000000"/>
                </a:solidFill>
                <a:effectLst/>
              </a:rPr>
              <a:t> </a:t>
            </a:r>
            <a:endParaRPr lang="en-US" sz="2000" b="0" i="0" dirty="0">
              <a:solidFill>
                <a:srgbClr val="AAAAAA"/>
              </a:solidFill>
              <a:effectLst/>
            </a:endParaRPr>
          </a:p>
          <a:p>
            <a:pPr algn="l"/>
            <a:r>
              <a:rPr lang="en-US" sz="2000" b="0" i="0" dirty="0">
                <a:solidFill>
                  <a:srgbClr val="777777"/>
                </a:solidFill>
                <a:effectLst/>
              </a:rPr>
              <a:t>{</a:t>
            </a:r>
            <a:endParaRPr lang="en-US" sz="2000" b="0" i="0" dirty="0">
              <a:solidFill>
                <a:srgbClr val="AAAAAA"/>
              </a:solidFill>
              <a:effectLst/>
            </a:endParaRPr>
          </a:p>
          <a:p>
            <a:pPr algn="l"/>
            <a:r>
              <a:rPr lang="en-US" sz="2000" b="0" i="0" dirty="0">
                <a:solidFill>
                  <a:srgbClr val="000000"/>
                </a:solidFill>
                <a:effectLst/>
              </a:rPr>
              <a:t>public static </a:t>
            </a:r>
            <a:r>
              <a:rPr lang="en-US" sz="2000" b="1" i="0" dirty="0">
                <a:solidFill>
                  <a:srgbClr val="286491"/>
                </a:solidFill>
                <a:effectLst/>
              </a:rPr>
              <a:t>void</a:t>
            </a:r>
            <a:r>
              <a:rPr lang="en-US" sz="2000" b="0" i="0" dirty="0">
                <a:solidFill>
                  <a:srgbClr val="000000"/>
                </a:solidFill>
                <a:effectLst/>
              </a:rPr>
              <a:t> </a:t>
            </a:r>
            <a:r>
              <a:rPr lang="en-US" sz="2000" b="0" i="0" dirty="0">
                <a:solidFill>
                  <a:srgbClr val="0086B3"/>
                </a:solidFill>
                <a:effectLst/>
              </a:rPr>
              <a:t>main</a:t>
            </a:r>
            <a:r>
              <a:rPr lang="en-US" sz="2000" b="0" i="0" dirty="0">
                <a:solidFill>
                  <a:srgbClr val="777777"/>
                </a:solidFill>
                <a:effectLst/>
              </a:rPr>
              <a:t>(</a:t>
            </a:r>
            <a:r>
              <a:rPr lang="en-US" sz="2000" b="0" i="0" dirty="0">
                <a:solidFill>
                  <a:srgbClr val="000000"/>
                </a:solidFill>
                <a:effectLst/>
              </a:rPr>
              <a:t>String</a:t>
            </a:r>
            <a:r>
              <a:rPr lang="en-US" sz="2000" b="0" i="0" dirty="0">
                <a:solidFill>
                  <a:srgbClr val="777777"/>
                </a:solidFill>
                <a:effectLst/>
              </a:rPr>
              <a:t>[]</a:t>
            </a:r>
            <a:r>
              <a:rPr lang="en-US" sz="2000" b="0" i="0" dirty="0">
                <a:solidFill>
                  <a:srgbClr val="000000"/>
                </a:solidFill>
                <a:effectLst/>
              </a:rPr>
              <a:t> </a:t>
            </a:r>
            <a:r>
              <a:rPr lang="en-US" sz="2000" b="0" i="0" dirty="0" err="1">
                <a:solidFill>
                  <a:srgbClr val="000000"/>
                </a:solidFill>
                <a:effectLst/>
              </a:rPr>
              <a:t>args</a:t>
            </a:r>
            <a:r>
              <a:rPr lang="en-US" sz="2000" b="0" i="0" dirty="0">
                <a:solidFill>
                  <a:srgbClr val="777777"/>
                </a:solidFill>
                <a:effectLst/>
              </a:rPr>
              <a:t>)</a:t>
            </a:r>
            <a:r>
              <a:rPr lang="en-US" sz="2000" b="0" i="0" dirty="0">
                <a:solidFill>
                  <a:srgbClr val="000000"/>
                </a:solidFill>
                <a:effectLst/>
              </a:rPr>
              <a:t> </a:t>
            </a:r>
            <a:endParaRPr lang="en-US" sz="2000" b="0" i="0" dirty="0">
              <a:solidFill>
                <a:srgbClr val="AAAAAA"/>
              </a:solidFill>
              <a:effectLst/>
            </a:endParaRPr>
          </a:p>
          <a:p>
            <a:pPr algn="l"/>
            <a:r>
              <a:rPr lang="en-US" sz="2000" b="0" i="0" dirty="0">
                <a:solidFill>
                  <a:srgbClr val="777777"/>
                </a:solidFill>
                <a:effectLst/>
              </a:rPr>
              <a:t>{</a:t>
            </a:r>
            <a:endParaRPr lang="en-US" sz="2000" b="0" i="0" dirty="0">
              <a:solidFill>
                <a:srgbClr val="AAAAAA"/>
              </a:solidFill>
              <a:effectLst/>
            </a:endParaRPr>
          </a:p>
          <a:p>
            <a:pPr algn="l"/>
            <a:r>
              <a:rPr lang="en-US" sz="2000" b="0" i="0" dirty="0">
                <a:solidFill>
                  <a:srgbClr val="000000"/>
                </a:solidFill>
                <a:effectLst/>
              </a:rPr>
              <a:t>Object obj = </a:t>
            </a:r>
            <a:r>
              <a:rPr lang="en-US" sz="2000" b="1" i="0" dirty="0">
                <a:solidFill>
                  <a:srgbClr val="286491"/>
                </a:solidFill>
                <a:effectLst/>
              </a:rPr>
              <a:t>new</a:t>
            </a:r>
            <a:r>
              <a:rPr lang="en-US" sz="2000" b="0" i="0" dirty="0">
                <a:solidFill>
                  <a:srgbClr val="000000"/>
                </a:solidFill>
                <a:effectLst/>
              </a:rPr>
              <a:t> int</a:t>
            </a:r>
            <a:r>
              <a:rPr lang="en-US" sz="2000" b="0" i="0" dirty="0">
                <a:solidFill>
                  <a:srgbClr val="777777"/>
                </a:solidFill>
                <a:effectLst/>
              </a:rPr>
              <a:t>[]</a:t>
            </a:r>
            <a:r>
              <a:rPr lang="en-US" sz="2000" b="0" i="0" dirty="0">
                <a:solidFill>
                  <a:srgbClr val="000000"/>
                </a:solidFill>
                <a:effectLst/>
              </a:rPr>
              <a:t> </a:t>
            </a:r>
            <a:r>
              <a:rPr lang="en-US" sz="2000" b="0" i="0" dirty="0">
                <a:solidFill>
                  <a:srgbClr val="777777"/>
                </a:solidFill>
                <a:effectLst/>
              </a:rPr>
              <a:t>{</a:t>
            </a:r>
            <a:r>
              <a:rPr lang="en-US" sz="2000" b="0" i="0" dirty="0">
                <a:solidFill>
                  <a:srgbClr val="000000"/>
                </a:solidFill>
                <a:effectLst/>
              </a:rPr>
              <a:t> </a:t>
            </a:r>
            <a:r>
              <a:rPr lang="en-US" sz="2000" b="0" i="0" dirty="0">
                <a:solidFill>
                  <a:srgbClr val="009999"/>
                </a:solidFill>
                <a:effectLst/>
              </a:rPr>
              <a:t>1</a:t>
            </a:r>
            <a:r>
              <a:rPr lang="en-US" sz="2000" b="0" i="0" dirty="0">
                <a:solidFill>
                  <a:srgbClr val="000000"/>
                </a:solidFill>
                <a:effectLst/>
              </a:rPr>
              <a:t>, </a:t>
            </a:r>
            <a:r>
              <a:rPr lang="en-US" sz="2000" b="0" i="0" dirty="0">
                <a:solidFill>
                  <a:srgbClr val="009999"/>
                </a:solidFill>
                <a:effectLst/>
              </a:rPr>
              <a:t>2</a:t>
            </a:r>
            <a:r>
              <a:rPr lang="en-US" sz="2000" b="0" i="0" dirty="0">
                <a:solidFill>
                  <a:srgbClr val="000000"/>
                </a:solidFill>
                <a:effectLst/>
              </a:rPr>
              <a:t>, </a:t>
            </a:r>
            <a:r>
              <a:rPr lang="en-US" sz="2000" b="0" i="0" dirty="0">
                <a:solidFill>
                  <a:srgbClr val="009999"/>
                </a:solidFill>
                <a:effectLst/>
              </a:rPr>
              <a:t>3</a:t>
            </a:r>
            <a:r>
              <a:rPr lang="en-US" sz="2000" b="0" i="0" dirty="0">
                <a:solidFill>
                  <a:srgbClr val="000000"/>
                </a:solidFill>
                <a:effectLst/>
              </a:rPr>
              <a:t> </a:t>
            </a:r>
            <a:r>
              <a:rPr lang="en-US" sz="2000" b="0" i="0" dirty="0">
                <a:solidFill>
                  <a:srgbClr val="777777"/>
                </a:solidFill>
                <a:effectLst/>
              </a:rPr>
              <a:t>}</a:t>
            </a:r>
            <a:r>
              <a:rPr lang="en-US" sz="2000" b="0" i="0" dirty="0">
                <a:solidFill>
                  <a:srgbClr val="000000"/>
                </a:solidFill>
                <a:effectLst/>
              </a:rPr>
              <a:t>;</a:t>
            </a:r>
            <a:endParaRPr lang="en-US" sz="2000" b="0" i="0" dirty="0">
              <a:solidFill>
                <a:srgbClr val="AAAAAA"/>
              </a:solidFill>
              <a:effectLst/>
            </a:endParaRPr>
          </a:p>
          <a:p>
            <a:pPr algn="l"/>
            <a:r>
              <a:rPr lang="en-US" sz="2000" b="0" i="0" dirty="0">
                <a:solidFill>
                  <a:srgbClr val="000000"/>
                </a:solidFill>
                <a:effectLst/>
              </a:rPr>
              <a:t>int</a:t>
            </a:r>
            <a:r>
              <a:rPr lang="en-US" sz="2000" b="0" i="0" dirty="0">
                <a:solidFill>
                  <a:srgbClr val="777777"/>
                </a:solidFill>
                <a:effectLst/>
              </a:rPr>
              <a:t>[]</a:t>
            </a:r>
            <a:r>
              <a:rPr lang="en-US" sz="2000" b="0" i="0" dirty="0">
                <a:solidFill>
                  <a:srgbClr val="000000"/>
                </a:solidFill>
                <a:effectLst/>
              </a:rPr>
              <a:t> </a:t>
            </a:r>
            <a:r>
              <a:rPr lang="en-US" sz="2000" b="0" i="0" dirty="0" err="1">
                <a:solidFill>
                  <a:srgbClr val="000000"/>
                </a:solidFill>
                <a:effectLst/>
              </a:rPr>
              <a:t>someArray</a:t>
            </a:r>
            <a:r>
              <a:rPr lang="en-US" sz="2000" b="0" i="0" dirty="0">
                <a:solidFill>
                  <a:srgbClr val="000000"/>
                </a:solidFill>
                <a:effectLst/>
              </a:rPr>
              <a:t> = </a:t>
            </a:r>
            <a:r>
              <a:rPr lang="en-US" sz="2000" b="0" i="0" dirty="0">
                <a:solidFill>
                  <a:srgbClr val="777777"/>
                </a:solidFill>
                <a:effectLst/>
              </a:rPr>
              <a:t>(</a:t>
            </a:r>
            <a:r>
              <a:rPr lang="en-US" sz="2000" b="0" i="0" dirty="0">
                <a:solidFill>
                  <a:srgbClr val="000000"/>
                </a:solidFill>
                <a:effectLst/>
              </a:rPr>
              <a:t>int</a:t>
            </a:r>
            <a:r>
              <a:rPr lang="en-US" sz="2000" b="0" i="0" dirty="0">
                <a:solidFill>
                  <a:srgbClr val="777777"/>
                </a:solidFill>
                <a:effectLst/>
              </a:rPr>
              <a:t>[])</a:t>
            </a:r>
            <a:r>
              <a:rPr lang="en-US" sz="2000" b="0" i="0" dirty="0">
                <a:solidFill>
                  <a:srgbClr val="000000"/>
                </a:solidFill>
                <a:effectLst/>
              </a:rPr>
              <a:t>obj;</a:t>
            </a:r>
            <a:endParaRPr lang="en-US" sz="2000" b="0" i="0" dirty="0">
              <a:solidFill>
                <a:srgbClr val="AAAAAA"/>
              </a:solidFill>
              <a:effectLst/>
            </a:endParaRPr>
          </a:p>
          <a:p>
            <a:pPr algn="l"/>
            <a:r>
              <a:rPr lang="en-US" sz="2000" b="1" i="0" dirty="0">
                <a:solidFill>
                  <a:srgbClr val="286491"/>
                </a:solidFill>
                <a:effectLst/>
              </a:rPr>
              <a:t>for</a:t>
            </a:r>
            <a:r>
              <a:rPr lang="en-US" sz="2000" b="0" i="0" dirty="0">
                <a:solidFill>
                  <a:srgbClr val="000000"/>
                </a:solidFill>
                <a:effectLst/>
              </a:rPr>
              <a:t> </a:t>
            </a:r>
            <a:r>
              <a:rPr lang="en-US" sz="2000" b="0" i="0" dirty="0">
                <a:solidFill>
                  <a:srgbClr val="777777"/>
                </a:solidFill>
                <a:effectLst/>
              </a:rPr>
              <a:t>(</a:t>
            </a:r>
            <a:r>
              <a:rPr lang="en-US" sz="2000" b="0" i="0" dirty="0">
                <a:solidFill>
                  <a:srgbClr val="000000"/>
                </a:solidFill>
                <a:effectLst/>
              </a:rPr>
              <a:t>int </a:t>
            </a:r>
            <a:r>
              <a:rPr lang="en-US" sz="2000" b="0" i="0" dirty="0" err="1">
                <a:solidFill>
                  <a:srgbClr val="000000"/>
                </a:solidFill>
                <a:effectLst/>
              </a:rPr>
              <a:t>i</a:t>
            </a:r>
            <a:r>
              <a:rPr lang="en-US" sz="2000" b="0" i="0" dirty="0">
                <a:solidFill>
                  <a:srgbClr val="000000"/>
                </a:solidFill>
                <a:effectLst/>
              </a:rPr>
              <a:t> </a:t>
            </a:r>
            <a:r>
              <a:rPr lang="en-US" sz="2000" b="0" i="0" dirty="0">
                <a:solidFill>
                  <a:srgbClr val="777777"/>
                </a:solidFill>
                <a:effectLst/>
              </a:rPr>
              <a:t>:</a:t>
            </a:r>
            <a:r>
              <a:rPr lang="en-US" sz="2000" b="0" i="0" dirty="0">
                <a:solidFill>
                  <a:srgbClr val="000000"/>
                </a:solidFill>
                <a:effectLst/>
              </a:rPr>
              <a:t> </a:t>
            </a:r>
            <a:r>
              <a:rPr lang="en-US" sz="2000" b="0" i="0" dirty="0" err="1">
                <a:solidFill>
                  <a:srgbClr val="000000"/>
                </a:solidFill>
                <a:effectLst/>
              </a:rPr>
              <a:t>someArray</a:t>
            </a:r>
            <a:r>
              <a:rPr lang="en-US" sz="2000" b="0" i="0" dirty="0">
                <a:solidFill>
                  <a:srgbClr val="777777"/>
                </a:solidFill>
                <a:effectLst/>
              </a:rPr>
              <a:t>)</a:t>
            </a:r>
            <a:r>
              <a:rPr lang="en-US" sz="2000" b="0" i="0" dirty="0">
                <a:solidFill>
                  <a:srgbClr val="000000"/>
                </a:solidFill>
                <a:effectLst/>
              </a:rPr>
              <a:t> </a:t>
            </a:r>
            <a:endParaRPr lang="en-US" sz="2000" b="0" i="0" dirty="0">
              <a:solidFill>
                <a:srgbClr val="AAAAAA"/>
              </a:solidFill>
              <a:effectLst/>
            </a:endParaRPr>
          </a:p>
          <a:p>
            <a:pPr algn="l"/>
            <a:r>
              <a:rPr lang="en-US" sz="2000" b="0" i="0" dirty="0" err="1">
                <a:solidFill>
                  <a:srgbClr val="000000"/>
                </a:solidFill>
                <a:effectLst/>
              </a:rPr>
              <a:t>System.</a:t>
            </a:r>
            <a:r>
              <a:rPr lang="en-US" sz="2000" b="0" i="0" dirty="0" err="1">
                <a:solidFill>
                  <a:srgbClr val="0086B3"/>
                </a:solidFill>
                <a:effectLst/>
              </a:rPr>
              <a:t>out</a:t>
            </a:r>
            <a:r>
              <a:rPr lang="en-US" sz="2000" b="0" i="0" dirty="0" err="1">
                <a:solidFill>
                  <a:srgbClr val="000000"/>
                </a:solidFill>
                <a:effectLst/>
              </a:rPr>
              <a:t>.</a:t>
            </a:r>
            <a:r>
              <a:rPr lang="en-US" sz="2000" b="0" i="0" dirty="0" err="1">
                <a:solidFill>
                  <a:srgbClr val="0086B3"/>
                </a:solidFill>
                <a:effectLst/>
              </a:rPr>
              <a:t>print</a:t>
            </a:r>
            <a:r>
              <a:rPr lang="en-US" sz="2000" b="0" i="0" dirty="0">
                <a:solidFill>
                  <a:srgbClr val="777777"/>
                </a:solidFill>
                <a:effectLst/>
              </a:rPr>
              <a:t>(</a:t>
            </a:r>
            <a:r>
              <a:rPr lang="en-US" sz="2000" b="0" i="0" dirty="0" err="1">
                <a:solidFill>
                  <a:srgbClr val="000000"/>
                </a:solidFill>
                <a:effectLst/>
              </a:rPr>
              <a:t>i</a:t>
            </a:r>
            <a:r>
              <a:rPr lang="en-US" sz="2000" b="0" i="0" dirty="0">
                <a:solidFill>
                  <a:srgbClr val="000000"/>
                </a:solidFill>
                <a:effectLst/>
              </a:rPr>
              <a:t> + </a:t>
            </a:r>
            <a:r>
              <a:rPr lang="en-US" sz="2000" b="0" i="0" dirty="0">
                <a:solidFill>
                  <a:srgbClr val="DD1144"/>
                </a:solidFill>
                <a:effectLst/>
              </a:rPr>
              <a:t>" "</a:t>
            </a:r>
            <a:r>
              <a:rPr lang="en-US" sz="2000" b="0" i="0" dirty="0">
                <a:solidFill>
                  <a:srgbClr val="777777"/>
                </a:solidFill>
                <a:effectLst/>
              </a:rPr>
              <a:t>)</a:t>
            </a:r>
            <a:r>
              <a:rPr lang="en-US" sz="2000" b="0" i="0" dirty="0">
                <a:solidFill>
                  <a:srgbClr val="000000"/>
                </a:solidFill>
                <a:effectLst/>
              </a:rPr>
              <a:t>;</a:t>
            </a:r>
            <a:endParaRPr lang="en-US" sz="2000" b="0" i="0" dirty="0">
              <a:solidFill>
                <a:srgbClr val="AAAAAA"/>
              </a:solidFill>
              <a:effectLst/>
            </a:endParaRPr>
          </a:p>
          <a:p>
            <a:pPr algn="l"/>
            <a:r>
              <a:rPr lang="en-US" sz="2000" b="0" i="0" dirty="0">
                <a:solidFill>
                  <a:srgbClr val="777777"/>
                </a:solidFill>
                <a:effectLst/>
              </a:rPr>
              <a:t>}</a:t>
            </a:r>
            <a:endParaRPr lang="en-US" sz="2000" b="0" i="0" dirty="0">
              <a:solidFill>
                <a:srgbClr val="AAAAAA"/>
              </a:solidFill>
              <a:effectLst/>
            </a:endParaRPr>
          </a:p>
          <a:p>
            <a:pPr algn="l"/>
            <a:r>
              <a:rPr lang="en-US" sz="2000" b="0" i="0" dirty="0">
                <a:solidFill>
                  <a:srgbClr val="777777"/>
                </a:solidFill>
                <a:effectLst/>
              </a:rPr>
              <a:t>}</a:t>
            </a:r>
            <a:endParaRPr lang="en-US" sz="2000" b="0" i="0" dirty="0">
              <a:solidFill>
                <a:srgbClr val="444444"/>
              </a:solidFill>
              <a:effectLst/>
            </a:endParaRPr>
          </a:p>
        </p:txBody>
      </p:sp>
      <p:sp>
        <p:nvSpPr>
          <p:cNvPr id="11" name="TextBox 10">
            <a:extLst>
              <a:ext uri="{FF2B5EF4-FFF2-40B4-BE49-F238E27FC236}">
                <a16:creationId xmlns:a16="http://schemas.microsoft.com/office/drawing/2014/main" id="{41A54F6D-EBAA-451C-BC13-0F4BCC4EB0CB}"/>
              </a:ext>
            </a:extLst>
          </p:cNvPr>
          <p:cNvSpPr txBox="1"/>
          <p:nvPr/>
        </p:nvSpPr>
        <p:spPr>
          <a:xfrm>
            <a:off x="273788" y="299116"/>
            <a:ext cx="9848112" cy="523220"/>
          </a:xfrm>
          <a:prstGeom prst="rect">
            <a:avLst/>
          </a:prstGeom>
          <a:noFill/>
        </p:spPr>
        <p:txBody>
          <a:bodyPr wrap="square">
            <a:spAutoFit/>
          </a:bodyPr>
          <a:lstStyle/>
          <a:p>
            <a:pPr algn="l"/>
            <a:r>
              <a:rPr lang="en-US" sz="2800" b="1" i="0" dirty="0">
                <a:solidFill>
                  <a:schemeClr val="accent1">
                    <a:lumMod val="50000"/>
                  </a:schemeClr>
                </a:solidFill>
                <a:effectLst/>
              </a:rPr>
              <a:t>Memory Representation after Initialization</a:t>
            </a:r>
            <a:endParaRPr lang="en-US" sz="2800" b="0" i="0" dirty="0">
              <a:solidFill>
                <a:schemeClr val="accent1">
                  <a:lumMod val="50000"/>
                </a:schemeClr>
              </a:solidFill>
              <a:effectLst/>
            </a:endParaRPr>
          </a:p>
        </p:txBody>
      </p:sp>
    </p:spTree>
    <p:extLst>
      <p:ext uri="{BB962C8B-B14F-4D97-AF65-F5344CB8AC3E}">
        <p14:creationId xmlns:p14="http://schemas.microsoft.com/office/powerpoint/2010/main" val="40796401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51ACB9E-C7B7-4C39-824A-DAB62A176E49}"/>
              </a:ext>
            </a:extLst>
          </p:cNvPr>
          <p:cNvSpPr txBox="1"/>
          <p:nvPr/>
        </p:nvSpPr>
        <p:spPr>
          <a:xfrm>
            <a:off x="497840" y="179237"/>
            <a:ext cx="6096000" cy="523220"/>
          </a:xfrm>
          <a:prstGeom prst="rect">
            <a:avLst/>
          </a:prstGeom>
          <a:noFill/>
        </p:spPr>
        <p:txBody>
          <a:bodyPr wrap="square">
            <a:spAutoFit/>
          </a:bodyPr>
          <a:lstStyle/>
          <a:p>
            <a:r>
              <a:rPr lang="en-US" sz="2800" b="1" dirty="0">
                <a:solidFill>
                  <a:schemeClr val="accent1">
                    <a:lumMod val="50000"/>
                  </a:schemeClr>
                </a:solidFill>
              </a:rPr>
              <a:t>Accessing the Elements of an Array</a:t>
            </a:r>
            <a:endParaRPr lang="en-PK" sz="2800" dirty="0"/>
          </a:p>
        </p:txBody>
      </p:sp>
      <p:sp>
        <p:nvSpPr>
          <p:cNvPr id="7" name="TextBox 6">
            <a:extLst>
              <a:ext uri="{FF2B5EF4-FFF2-40B4-BE49-F238E27FC236}">
                <a16:creationId xmlns:a16="http://schemas.microsoft.com/office/drawing/2014/main" id="{50D402F8-B57B-48C8-B793-31CE4186222C}"/>
              </a:ext>
            </a:extLst>
          </p:cNvPr>
          <p:cNvSpPr txBox="1"/>
          <p:nvPr/>
        </p:nvSpPr>
        <p:spPr>
          <a:xfrm>
            <a:off x="680718" y="1120256"/>
            <a:ext cx="10566400" cy="369332"/>
          </a:xfrm>
          <a:prstGeom prst="rect">
            <a:avLst/>
          </a:prstGeom>
          <a:noFill/>
        </p:spPr>
        <p:txBody>
          <a:bodyPr wrap="square">
            <a:spAutoFit/>
          </a:bodyPr>
          <a:lstStyle/>
          <a:p>
            <a:pPr marL="285750" marR="0" indent="-285750">
              <a:spcBef>
                <a:spcPts val="1440"/>
              </a:spcBef>
              <a:spcAft>
                <a:spcPts val="1440"/>
              </a:spcAft>
              <a:buFont typeface="Arial" panose="020B0604020202020204" pitchFamily="34" charset="0"/>
              <a:buChar char="•"/>
            </a:pPr>
            <a:r>
              <a:rPr lang="en-US" sz="1800" dirty="0">
                <a:solidFill>
                  <a:srgbClr val="000000"/>
                </a:solidFill>
                <a:effectLst/>
                <a:ea typeface="Times New Roman" panose="02020603050405020304" pitchFamily="18" charset="0"/>
              </a:rPr>
              <a:t>A</a:t>
            </a:r>
            <a:r>
              <a:rPr lang="en-PK" sz="1800" dirty="0" err="1">
                <a:solidFill>
                  <a:srgbClr val="000000"/>
                </a:solidFill>
                <a:effectLst/>
                <a:ea typeface="Times New Roman" panose="02020603050405020304" pitchFamily="18" charset="0"/>
              </a:rPr>
              <a:t>ccess</a:t>
            </a:r>
            <a:r>
              <a:rPr lang="en-US" sz="1800" dirty="0" err="1">
                <a:solidFill>
                  <a:srgbClr val="000000"/>
                </a:solidFill>
                <a:effectLst/>
                <a:ea typeface="Times New Roman" panose="02020603050405020304" pitchFamily="18" charset="0"/>
              </a:rPr>
              <a:t>ing</a:t>
            </a:r>
            <a:r>
              <a:rPr lang="en-PK" sz="1800" dirty="0">
                <a:solidFill>
                  <a:srgbClr val="000000"/>
                </a:solidFill>
                <a:effectLst/>
                <a:ea typeface="Times New Roman" panose="02020603050405020304" pitchFamily="18" charset="0"/>
              </a:rPr>
              <a:t> an array element by referring to the index number.</a:t>
            </a:r>
            <a:endParaRPr lang="en-PK" sz="1800" dirty="0">
              <a:effectLst/>
              <a:ea typeface="Times New Roman" panose="02020603050405020304" pitchFamily="18" charset="0"/>
            </a:endParaRPr>
          </a:p>
        </p:txBody>
      </p:sp>
      <p:sp>
        <p:nvSpPr>
          <p:cNvPr id="8" name="TextBox 7">
            <a:extLst>
              <a:ext uri="{FF2B5EF4-FFF2-40B4-BE49-F238E27FC236}">
                <a16:creationId xmlns:a16="http://schemas.microsoft.com/office/drawing/2014/main" id="{0B20D2AD-E43F-4E0D-B985-B3F103735FB1}"/>
              </a:ext>
            </a:extLst>
          </p:cNvPr>
          <p:cNvSpPr txBox="1"/>
          <p:nvPr/>
        </p:nvSpPr>
        <p:spPr>
          <a:xfrm>
            <a:off x="680718" y="2021120"/>
            <a:ext cx="1668662" cy="369332"/>
          </a:xfrm>
          <a:prstGeom prst="rect">
            <a:avLst/>
          </a:prstGeom>
          <a:noFill/>
        </p:spPr>
        <p:txBody>
          <a:bodyPr wrap="none" rtlCol="0">
            <a:spAutoFit/>
          </a:bodyPr>
          <a:lstStyle/>
          <a:p>
            <a:r>
              <a:rPr lang="en-US" b="1" dirty="0"/>
              <a:t>Other Example:</a:t>
            </a:r>
            <a:endParaRPr lang="en-PK" b="1" dirty="0"/>
          </a:p>
        </p:txBody>
      </p:sp>
      <p:sp>
        <p:nvSpPr>
          <p:cNvPr id="9" name="Rectangle 1">
            <a:extLst>
              <a:ext uri="{FF2B5EF4-FFF2-40B4-BE49-F238E27FC236}">
                <a16:creationId xmlns:a16="http://schemas.microsoft.com/office/drawing/2014/main" id="{455707BE-A183-4B2E-AF21-674FD6052201}"/>
              </a:ext>
            </a:extLst>
          </p:cNvPr>
          <p:cNvSpPr>
            <a:spLocks noChangeArrowheads="1"/>
          </p:cNvSpPr>
          <p:nvPr/>
        </p:nvSpPr>
        <p:spPr bwMode="auto">
          <a:xfrm>
            <a:off x="0" y="-63739"/>
            <a:ext cx="65" cy="58467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52352" rIns="0" bIns="15235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endParaRPr>
          </a:p>
        </p:txBody>
      </p:sp>
      <p:sp>
        <p:nvSpPr>
          <p:cNvPr id="11" name="TextBox 10">
            <a:extLst>
              <a:ext uri="{FF2B5EF4-FFF2-40B4-BE49-F238E27FC236}">
                <a16:creationId xmlns:a16="http://schemas.microsoft.com/office/drawing/2014/main" id="{8663C7FF-CF15-458A-9EAD-D0B22A1F1CCF}"/>
              </a:ext>
            </a:extLst>
          </p:cNvPr>
          <p:cNvSpPr txBox="1"/>
          <p:nvPr/>
        </p:nvSpPr>
        <p:spPr>
          <a:xfrm>
            <a:off x="865040" y="2663386"/>
            <a:ext cx="6096000" cy="92333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800" b="0" i="0" u="none" strike="noStrike" cap="none" normalizeH="0" baseline="0" dirty="0">
                <a:ln>
                  <a:noFill/>
                </a:ln>
                <a:solidFill>
                  <a:srgbClr val="DD4A68"/>
                </a:solidFill>
                <a:effectLst/>
                <a:ea typeface="Times New Roman" panose="02020603050405020304" pitchFamily="18" charset="0"/>
                <a:cs typeface="Courier New" panose="02070309020205020404" pitchFamily="49" charset="0"/>
              </a:rPr>
              <a:t>String</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DengXian Light" panose="02010600030101010101" pitchFamily="2" charset="-122"/>
                <a:cs typeface="Courier New" panose="02070309020205020404" pitchFamily="49" charset="0"/>
              </a:rPr>
              <a:t> cars </a:t>
            </a:r>
            <a:r>
              <a:rPr kumimoji="0" lang="en-PK" altLang="en-PK" sz="1800" b="0" i="0" u="none" strike="noStrike" cap="none" normalizeH="0" baseline="0" dirty="0">
                <a:ln>
                  <a:noFill/>
                </a:ln>
                <a:solidFill>
                  <a:srgbClr val="9A6E3A"/>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DengXian Light" panose="02010600030101010101" pitchFamily="2" charset="-122"/>
                <a:cs typeface="Courier New" panose="02070309020205020404" pitchFamily="49" charset="0"/>
              </a:rPr>
              <a:t> </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669900"/>
                </a:solidFill>
                <a:effectLst/>
                <a:ea typeface="Times New Roman" panose="02020603050405020304" pitchFamily="18" charset="0"/>
                <a:cs typeface="Courier New" panose="02070309020205020404" pitchFamily="49" charset="0"/>
              </a:rPr>
              <a:t>"Volvo"</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DengXian Light" panose="02010600030101010101" pitchFamily="2" charset="-122"/>
                <a:cs typeface="Courier New" panose="02070309020205020404" pitchFamily="49" charset="0"/>
              </a:rPr>
              <a:t> </a:t>
            </a:r>
            <a:r>
              <a:rPr kumimoji="0" lang="en-PK" altLang="en-PK" sz="1800" b="0" i="0" u="none" strike="noStrike" cap="none" normalizeH="0" baseline="0" dirty="0">
                <a:ln>
                  <a:noFill/>
                </a:ln>
                <a:solidFill>
                  <a:srgbClr val="669900"/>
                </a:solidFill>
                <a:effectLst/>
                <a:ea typeface="Times New Roman" panose="02020603050405020304" pitchFamily="18" charset="0"/>
                <a:cs typeface="Courier New" panose="02070309020205020404" pitchFamily="49" charset="0"/>
              </a:rPr>
              <a:t>"BMW"</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DengXian Light" panose="02010600030101010101" pitchFamily="2" charset="-122"/>
                <a:cs typeface="Courier New" panose="02070309020205020404" pitchFamily="49" charset="0"/>
              </a:rPr>
              <a:t> </a:t>
            </a:r>
            <a:r>
              <a:rPr kumimoji="0" lang="en-PK" altLang="en-PK" sz="1800" b="0" i="0" u="none" strike="noStrike" cap="none" normalizeH="0" baseline="0" dirty="0">
                <a:ln>
                  <a:noFill/>
                </a:ln>
                <a:solidFill>
                  <a:srgbClr val="669900"/>
                </a:solidFill>
                <a:effectLst/>
                <a:ea typeface="Times New Roman" panose="02020603050405020304" pitchFamily="18" charset="0"/>
                <a:cs typeface="Courier New" panose="02070309020205020404" pitchFamily="49" charset="0"/>
              </a:rPr>
              <a:t>"Ford"</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DengXian Light" panose="02010600030101010101" pitchFamily="2" charset="-122"/>
                <a:cs typeface="Courier New" panose="02070309020205020404" pitchFamily="49" charset="0"/>
              </a:rPr>
              <a:t> </a:t>
            </a:r>
            <a:r>
              <a:rPr kumimoji="0" lang="en-PK" altLang="en-PK" sz="1800" b="0" i="0" u="none" strike="noStrike" cap="none" normalizeH="0" baseline="0" dirty="0">
                <a:ln>
                  <a:noFill/>
                </a:ln>
                <a:solidFill>
                  <a:srgbClr val="669900"/>
                </a:solidFill>
                <a:effectLst/>
                <a:ea typeface="Times New Roman" panose="02020603050405020304" pitchFamily="18" charset="0"/>
                <a:cs typeface="Courier New" panose="02070309020205020404" pitchFamily="49" charset="0"/>
              </a:rPr>
              <a:t>"Mazda"</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endParaRPr kumimoji="0" lang="en-US"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800" b="0" i="0" u="none" strike="noStrike" cap="none" normalizeH="0" baseline="0" dirty="0" err="1">
                <a:ln>
                  <a:noFill/>
                </a:ln>
                <a:solidFill>
                  <a:srgbClr val="DD4A68"/>
                </a:solidFill>
                <a:effectLst/>
                <a:ea typeface="Times New Roman" panose="02020603050405020304" pitchFamily="18" charset="0"/>
                <a:cs typeface="Courier New" panose="02070309020205020404" pitchFamily="49" charset="0"/>
              </a:rPr>
              <a:t>System</a:t>
            </a:r>
            <a:r>
              <a:rPr kumimoji="0" lang="en-PK" altLang="en-PK" sz="1800" b="0" i="0" u="none" strike="noStrike" cap="none" normalizeH="0" baseline="0" dirty="0" err="1">
                <a:ln>
                  <a:noFill/>
                </a:ln>
                <a:solidFill>
                  <a:srgbClr val="999999"/>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err="1">
                <a:ln>
                  <a:noFill/>
                </a:ln>
                <a:solidFill>
                  <a:srgbClr val="000000"/>
                </a:solidFill>
                <a:effectLst/>
                <a:ea typeface="DengXian Light" panose="02010600030101010101" pitchFamily="2" charset="-122"/>
                <a:cs typeface="Courier New" panose="02070309020205020404" pitchFamily="49" charset="0"/>
              </a:rPr>
              <a:t>out</a:t>
            </a:r>
            <a:r>
              <a:rPr kumimoji="0" lang="en-PK" altLang="en-PK" sz="1800" b="0" i="0" u="none" strike="noStrike" cap="none" normalizeH="0" baseline="0" dirty="0" err="1">
                <a:ln>
                  <a:noFill/>
                </a:ln>
                <a:solidFill>
                  <a:srgbClr val="999999"/>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err="1">
                <a:ln>
                  <a:noFill/>
                </a:ln>
                <a:solidFill>
                  <a:srgbClr val="DD4A68"/>
                </a:solidFill>
                <a:effectLst/>
                <a:ea typeface="Times New Roman" panose="02020603050405020304" pitchFamily="18" charset="0"/>
                <a:cs typeface="Courier New" panose="02070309020205020404" pitchFamily="49" charset="0"/>
              </a:rPr>
              <a:t>println</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DengXian Light" panose="02010600030101010101" pitchFamily="2" charset="-122"/>
                <a:cs typeface="Courier New" panose="02070309020205020404" pitchFamily="49" charset="0"/>
              </a:rPr>
              <a:t>cars</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990055"/>
                </a:solidFill>
                <a:effectLst/>
                <a:ea typeface="Times New Roman" panose="02020603050405020304" pitchFamily="18" charset="0"/>
                <a:cs typeface="Courier New" panose="02070309020205020404" pitchFamily="49" charset="0"/>
              </a:rPr>
              <a:t>0</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endParaRPr kumimoji="0" lang="en-US"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800" b="0" i="0" u="none" strike="noStrike" cap="none" normalizeH="0" baseline="0" dirty="0">
                <a:ln>
                  <a:noFill/>
                </a:ln>
                <a:solidFill>
                  <a:srgbClr val="708090"/>
                </a:solidFill>
                <a:effectLst/>
                <a:ea typeface="Times New Roman" panose="02020603050405020304" pitchFamily="18" charset="0"/>
                <a:cs typeface="Courier New" panose="02070309020205020404" pitchFamily="49" charset="0"/>
              </a:rPr>
              <a:t>// Outputs Volvo</a:t>
            </a:r>
            <a:endParaRPr kumimoji="0" lang="en-PK" altLang="en-PK" sz="3200" b="0" i="0" u="none" strike="noStrike" cap="none" normalizeH="0" baseline="0" dirty="0">
              <a:ln>
                <a:noFill/>
              </a:ln>
              <a:solidFill>
                <a:schemeClr val="tx1"/>
              </a:solidFill>
              <a:effectLst/>
            </a:endParaRPr>
          </a:p>
        </p:txBody>
      </p:sp>
      <p:sp>
        <p:nvSpPr>
          <p:cNvPr id="17" name="Rectangle 2">
            <a:extLst>
              <a:ext uri="{FF2B5EF4-FFF2-40B4-BE49-F238E27FC236}">
                <a16:creationId xmlns:a16="http://schemas.microsoft.com/office/drawing/2014/main" id="{1D99A195-CE15-4A4D-97D1-C90AB81A67B7}"/>
              </a:ext>
            </a:extLst>
          </p:cNvPr>
          <p:cNvSpPr>
            <a:spLocks noChangeArrowheads="1"/>
          </p:cNvSpPr>
          <p:nvPr/>
        </p:nvSpPr>
        <p:spPr bwMode="auto">
          <a:xfrm>
            <a:off x="0" y="-63739"/>
            <a:ext cx="65" cy="58467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52352" rIns="0" bIns="15235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endParaRPr>
          </a:p>
        </p:txBody>
      </p:sp>
      <p:sp>
        <p:nvSpPr>
          <p:cNvPr id="21" name="TextBox 20">
            <a:extLst>
              <a:ext uri="{FF2B5EF4-FFF2-40B4-BE49-F238E27FC236}">
                <a16:creationId xmlns:a16="http://schemas.microsoft.com/office/drawing/2014/main" id="{939CAC38-04E0-449B-9040-46CC27E7CC7A}"/>
              </a:ext>
            </a:extLst>
          </p:cNvPr>
          <p:cNvSpPr txBox="1"/>
          <p:nvPr/>
        </p:nvSpPr>
        <p:spPr>
          <a:xfrm>
            <a:off x="6390640" y="1979973"/>
            <a:ext cx="5801360" cy="1754326"/>
          </a:xfrm>
          <a:prstGeom prst="rect">
            <a:avLst/>
          </a:prstGeom>
          <a:noFill/>
        </p:spPr>
        <p:txBody>
          <a:bodyPr wrap="square">
            <a:spAutoFit/>
          </a:bodyPr>
          <a:lstStyle/>
          <a:p>
            <a:r>
              <a:rPr lang="en-PK" dirty="0"/>
              <a:t>public class Main {</a:t>
            </a:r>
          </a:p>
          <a:p>
            <a:r>
              <a:rPr lang="en-PK" dirty="0"/>
              <a:t>  public static void main(String[] </a:t>
            </a:r>
            <a:r>
              <a:rPr lang="en-PK" dirty="0" err="1"/>
              <a:t>args</a:t>
            </a:r>
            <a:r>
              <a:rPr lang="en-PK" dirty="0"/>
              <a:t>) {</a:t>
            </a:r>
          </a:p>
          <a:p>
            <a:r>
              <a:rPr lang="en-PK" dirty="0"/>
              <a:t>    String[] cars = {"Volvo", "BMW", "Ford", "Mazda"};</a:t>
            </a:r>
          </a:p>
          <a:p>
            <a:r>
              <a:rPr lang="en-PK" dirty="0"/>
              <a:t>    </a:t>
            </a:r>
            <a:r>
              <a:rPr lang="en-PK" dirty="0" err="1"/>
              <a:t>System.out.println</a:t>
            </a:r>
            <a:r>
              <a:rPr lang="en-PK" dirty="0"/>
              <a:t>(cars[0]);</a:t>
            </a:r>
          </a:p>
          <a:p>
            <a:r>
              <a:rPr lang="en-PK" dirty="0"/>
              <a:t>  }</a:t>
            </a:r>
          </a:p>
          <a:p>
            <a:r>
              <a:rPr lang="en-PK" dirty="0"/>
              <a:t>}</a:t>
            </a:r>
          </a:p>
        </p:txBody>
      </p:sp>
      <p:sp>
        <p:nvSpPr>
          <p:cNvPr id="22" name="Rectangle 3">
            <a:extLst>
              <a:ext uri="{FF2B5EF4-FFF2-40B4-BE49-F238E27FC236}">
                <a16:creationId xmlns:a16="http://schemas.microsoft.com/office/drawing/2014/main" id="{DAB10BE8-59A2-49A2-8909-46129D8BF0C2}"/>
              </a:ext>
            </a:extLst>
          </p:cNvPr>
          <p:cNvSpPr>
            <a:spLocks noChangeArrowheads="1"/>
          </p:cNvSpPr>
          <p:nvPr/>
        </p:nvSpPr>
        <p:spPr bwMode="auto">
          <a:xfrm>
            <a:off x="0" y="-63739"/>
            <a:ext cx="65" cy="58467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52352" rIns="0" bIns="15235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9250036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ADE6A84-9409-4B04-AD93-5262E9BFFF93}"/>
              </a:ext>
            </a:extLst>
          </p:cNvPr>
          <p:cNvSpPr txBox="1"/>
          <p:nvPr/>
        </p:nvSpPr>
        <p:spPr>
          <a:xfrm>
            <a:off x="327719" y="304828"/>
            <a:ext cx="6096000" cy="461665"/>
          </a:xfrm>
          <a:prstGeom prst="rect">
            <a:avLst/>
          </a:prstGeom>
          <a:noFill/>
        </p:spPr>
        <p:txBody>
          <a:bodyPr wrap="square">
            <a:spAutoFit/>
          </a:bodyPr>
          <a:lstStyle/>
          <a:p>
            <a:r>
              <a:rPr lang="en-PK" sz="2400" b="1" dirty="0">
                <a:solidFill>
                  <a:schemeClr val="accent1">
                    <a:lumMod val="50000"/>
                  </a:schemeClr>
                </a:solidFill>
                <a:effectLst/>
                <a:ea typeface="Calibri" panose="020F0502020204030204" pitchFamily="34" charset="0"/>
              </a:rPr>
              <a:t>Change</a:t>
            </a:r>
            <a:r>
              <a:rPr lang="en-US" sz="2400" b="1" dirty="0">
                <a:solidFill>
                  <a:schemeClr val="accent1">
                    <a:lumMod val="50000"/>
                  </a:schemeClr>
                </a:solidFill>
                <a:effectLst/>
                <a:ea typeface="Calibri" panose="020F0502020204030204" pitchFamily="34" charset="0"/>
              </a:rPr>
              <a:t>s</a:t>
            </a:r>
            <a:r>
              <a:rPr lang="en-PK" sz="2400" b="1" dirty="0">
                <a:solidFill>
                  <a:schemeClr val="accent1">
                    <a:lumMod val="50000"/>
                  </a:schemeClr>
                </a:solidFill>
                <a:effectLst/>
                <a:ea typeface="Calibri" panose="020F0502020204030204" pitchFamily="34" charset="0"/>
              </a:rPr>
              <a:t> </a:t>
            </a:r>
            <a:r>
              <a:rPr lang="en-US" sz="2400" b="1" dirty="0">
                <a:solidFill>
                  <a:schemeClr val="accent1">
                    <a:lumMod val="50000"/>
                  </a:schemeClr>
                </a:solidFill>
                <a:effectLst/>
                <a:ea typeface="Calibri" panose="020F0502020204030204" pitchFamily="34" charset="0"/>
              </a:rPr>
              <a:t>on</a:t>
            </a:r>
            <a:r>
              <a:rPr lang="en-PK" sz="2400" b="1" dirty="0">
                <a:solidFill>
                  <a:schemeClr val="accent1">
                    <a:lumMod val="50000"/>
                  </a:schemeClr>
                </a:solidFill>
                <a:effectLst/>
                <a:ea typeface="Calibri" panose="020F0502020204030204" pitchFamily="34" charset="0"/>
              </a:rPr>
              <a:t> Array Element</a:t>
            </a:r>
            <a:r>
              <a:rPr lang="en-US" sz="2400" b="1" dirty="0">
                <a:solidFill>
                  <a:schemeClr val="accent1">
                    <a:lumMod val="50000"/>
                  </a:schemeClr>
                </a:solidFill>
                <a:effectLst/>
                <a:ea typeface="Calibri" panose="020F0502020204030204" pitchFamily="34" charset="0"/>
              </a:rPr>
              <a:t>s</a:t>
            </a:r>
            <a:endParaRPr lang="en-PK" sz="2400" dirty="0">
              <a:solidFill>
                <a:schemeClr val="accent1">
                  <a:lumMod val="50000"/>
                </a:schemeClr>
              </a:solidFill>
            </a:endParaRPr>
          </a:p>
        </p:txBody>
      </p:sp>
      <p:sp>
        <p:nvSpPr>
          <p:cNvPr id="7" name="TextBox 6">
            <a:extLst>
              <a:ext uri="{FF2B5EF4-FFF2-40B4-BE49-F238E27FC236}">
                <a16:creationId xmlns:a16="http://schemas.microsoft.com/office/drawing/2014/main" id="{E16DF275-D450-44CA-9EE7-E8BF6ACBCD7D}"/>
              </a:ext>
            </a:extLst>
          </p:cNvPr>
          <p:cNvSpPr txBox="1"/>
          <p:nvPr/>
        </p:nvSpPr>
        <p:spPr>
          <a:xfrm>
            <a:off x="559694" y="1608671"/>
            <a:ext cx="10566400" cy="369332"/>
          </a:xfrm>
          <a:prstGeom prst="rect">
            <a:avLst/>
          </a:prstGeom>
          <a:noFill/>
        </p:spPr>
        <p:txBody>
          <a:bodyPr wrap="square">
            <a:spAutoFit/>
          </a:bodyPr>
          <a:lstStyle/>
          <a:p>
            <a:pPr marL="285750" indent="-285750">
              <a:buFont typeface="Arial" panose="020B0604020202020204" pitchFamily="34" charset="0"/>
              <a:buChar char="•"/>
            </a:pPr>
            <a:r>
              <a:rPr lang="en-PK" sz="1800" dirty="0">
                <a:solidFill>
                  <a:srgbClr val="000000"/>
                </a:solidFill>
                <a:effectLst/>
                <a:latin typeface="Verdana" panose="020B0604030504040204" pitchFamily="34" charset="0"/>
                <a:ea typeface="Calibri" panose="020F0502020204030204" pitchFamily="34" charset="0"/>
                <a:cs typeface="Arial" panose="020B0604020202020204" pitchFamily="34" charset="0"/>
              </a:rPr>
              <a:t>To change the value of a specific element, refer to the index number</a:t>
            </a:r>
            <a:r>
              <a:rPr lang="en-US" sz="1800" dirty="0">
                <a:solidFill>
                  <a:srgbClr val="000000"/>
                </a:solidFill>
                <a:effectLst/>
                <a:latin typeface="Verdana" panose="020B0604030504040204" pitchFamily="34" charset="0"/>
                <a:ea typeface="Calibri" panose="020F0502020204030204" pitchFamily="34" charset="0"/>
                <a:cs typeface="Arial" panose="020B0604020202020204" pitchFamily="34" charset="0"/>
              </a:rPr>
              <a:t>.</a:t>
            </a:r>
            <a:endParaRPr lang="en-PK" dirty="0"/>
          </a:p>
        </p:txBody>
      </p:sp>
      <p:sp>
        <p:nvSpPr>
          <p:cNvPr id="8" name="TextBox 7">
            <a:extLst>
              <a:ext uri="{FF2B5EF4-FFF2-40B4-BE49-F238E27FC236}">
                <a16:creationId xmlns:a16="http://schemas.microsoft.com/office/drawing/2014/main" id="{A273D77A-85F8-4F92-8DC1-8B8CB5B03085}"/>
              </a:ext>
            </a:extLst>
          </p:cNvPr>
          <p:cNvSpPr txBox="1"/>
          <p:nvPr/>
        </p:nvSpPr>
        <p:spPr>
          <a:xfrm>
            <a:off x="489333" y="2136582"/>
            <a:ext cx="1059521" cy="369332"/>
          </a:xfrm>
          <a:prstGeom prst="rect">
            <a:avLst/>
          </a:prstGeom>
          <a:noFill/>
        </p:spPr>
        <p:txBody>
          <a:bodyPr wrap="none" rtlCol="0">
            <a:spAutoFit/>
          </a:bodyPr>
          <a:lstStyle/>
          <a:p>
            <a:r>
              <a:rPr lang="en-US" b="1" dirty="0"/>
              <a:t>Example:</a:t>
            </a:r>
            <a:endParaRPr lang="en-PK" b="1" dirty="0"/>
          </a:p>
        </p:txBody>
      </p:sp>
      <p:sp>
        <p:nvSpPr>
          <p:cNvPr id="9" name="TextBox 8">
            <a:extLst>
              <a:ext uri="{FF2B5EF4-FFF2-40B4-BE49-F238E27FC236}">
                <a16:creationId xmlns:a16="http://schemas.microsoft.com/office/drawing/2014/main" id="{D8BF063F-36F3-481B-8F98-545BA25823CE}"/>
              </a:ext>
            </a:extLst>
          </p:cNvPr>
          <p:cNvSpPr txBox="1"/>
          <p:nvPr/>
        </p:nvSpPr>
        <p:spPr>
          <a:xfrm>
            <a:off x="814454" y="2978760"/>
            <a:ext cx="6096000"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800" b="0" i="0" u="none" strike="noStrike" cap="none" normalizeH="0" baseline="0" dirty="0">
                <a:ln>
                  <a:noFill/>
                </a:ln>
                <a:solidFill>
                  <a:srgbClr val="000000"/>
                </a:solidFill>
                <a:effectLst/>
                <a:latin typeface="Consolas" panose="020B0609020204030204" pitchFamily="49" charset="0"/>
                <a:ea typeface="DengXian Light" panose="02010600030101010101" pitchFamily="2" charset="-122"/>
                <a:cs typeface="Courier New" panose="02070309020205020404" pitchFamily="49" charset="0"/>
              </a:rPr>
              <a:t>cars</a:t>
            </a:r>
            <a:r>
              <a:rPr kumimoji="0" lang="en-PK" altLang="en-PK" sz="1800" b="0" i="0" u="none" strike="noStrike" cap="none" normalizeH="0" baseline="0" dirty="0">
                <a:ln>
                  <a:noFill/>
                </a:ln>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990055"/>
                </a:solidFill>
                <a:effectLst/>
                <a:latin typeface="Consolas" panose="020B0609020204030204" pitchFamily="49" charset="0"/>
                <a:ea typeface="Times New Roman" panose="02020603050405020304" pitchFamily="18" charset="0"/>
                <a:cs typeface="Courier New" panose="02070309020205020404" pitchFamily="49" charset="0"/>
              </a:rPr>
              <a:t>0</a:t>
            </a:r>
            <a:r>
              <a:rPr kumimoji="0" lang="en-PK" altLang="en-PK" sz="1800" b="0" i="0" u="none" strike="noStrike" cap="none" normalizeH="0" baseline="0" dirty="0">
                <a:ln>
                  <a:noFill/>
                </a:ln>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latin typeface="Consolas" panose="020B0609020204030204" pitchFamily="49" charset="0"/>
                <a:ea typeface="DengXian Light" panose="02010600030101010101" pitchFamily="2" charset="-122"/>
                <a:cs typeface="Courier New" panose="02070309020205020404" pitchFamily="49" charset="0"/>
              </a:rPr>
              <a:t> </a:t>
            </a:r>
            <a:r>
              <a:rPr kumimoji="0" lang="en-PK" altLang="en-PK" sz="1800" b="0" i="0" u="none" strike="noStrike" cap="none" normalizeH="0" baseline="0" dirty="0">
                <a:ln>
                  <a:noFill/>
                </a:ln>
                <a:solidFill>
                  <a:srgbClr val="9A6E3A"/>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latin typeface="Consolas" panose="020B0609020204030204" pitchFamily="49" charset="0"/>
                <a:ea typeface="DengXian Light" panose="02010600030101010101" pitchFamily="2" charset="-122"/>
                <a:cs typeface="Courier New" panose="02070309020205020404" pitchFamily="49" charset="0"/>
              </a:rPr>
              <a:t> </a:t>
            </a:r>
            <a:r>
              <a:rPr kumimoji="0" lang="en-PK" altLang="en-PK" sz="1800" b="0" i="0" u="none" strike="noStrike" cap="none" normalizeH="0" baseline="0" dirty="0">
                <a:ln>
                  <a:noFill/>
                </a:ln>
                <a:solidFill>
                  <a:srgbClr val="669900"/>
                </a:solidFill>
                <a:effectLst/>
                <a:latin typeface="Consolas" panose="020B0609020204030204" pitchFamily="49" charset="0"/>
                <a:ea typeface="Times New Roman" panose="02020603050405020304" pitchFamily="18" charset="0"/>
                <a:cs typeface="Courier New" panose="02070309020205020404" pitchFamily="49" charset="0"/>
              </a:rPr>
              <a:t>"Opel"</a:t>
            </a:r>
            <a:r>
              <a:rPr kumimoji="0" lang="en-PK" altLang="en-PK" sz="1800" b="0" i="0" u="none" strike="noStrike" cap="none" normalizeH="0" baseline="0" dirty="0">
                <a:ln>
                  <a:noFill/>
                </a:ln>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kumimoji="0" lang="en-PK" altLang="en-PK" sz="32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78681FD4-79C9-4687-88E0-DB8EE4E549AF}"/>
              </a:ext>
            </a:extLst>
          </p:cNvPr>
          <p:cNvSpPr txBox="1"/>
          <p:nvPr/>
        </p:nvSpPr>
        <p:spPr>
          <a:xfrm>
            <a:off x="4525394" y="2283334"/>
            <a:ext cx="6197600" cy="147732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800" b="0" i="0" u="none" strike="noStrike" cap="none" normalizeH="0" baseline="0" dirty="0">
                <a:ln>
                  <a:noFill/>
                </a:ln>
                <a:solidFill>
                  <a:srgbClr val="DD4A68"/>
                </a:solidFill>
                <a:effectLst/>
                <a:latin typeface="Consolas" panose="020B0609020204030204" pitchFamily="49" charset="0"/>
                <a:ea typeface="Times New Roman" panose="02020603050405020304" pitchFamily="18" charset="0"/>
                <a:cs typeface="Courier New" panose="02070309020205020404" pitchFamily="49" charset="0"/>
              </a:rPr>
              <a:t>String</a:t>
            </a:r>
            <a:r>
              <a:rPr kumimoji="0" lang="en-PK" altLang="en-PK" sz="1800" b="0" i="0" u="none" strike="noStrike" cap="none" normalizeH="0" baseline="0" dirty="0">
                <a:ln>
                  <a:noFill/>
                </a:ln>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latin typeface="Consolas" panose="020B0609020204030204" pitchFamily="49" charset="0"/>
                <a:ea typeface="DengXian Light" panose="02010600030101010101" pitchFamily="2" charset="-122"/>
                <a:cs typeface="Courier New" panose="02070309020205020404" pitchFamily="49" charset="0"/>
              </a:rPr>
              <a:t> cars </a:t>
            </a:r>
            <a:r>
              <a:rPr kumimoji="0" lang="en-PK" altLang="en-PK" sz="1800" b="0" i="0" u="none" strike="noStrike" cap="none" normalizeH="0" baseline="0" dirty="0">
                <a:ln>
                  <a:noFill/>
                </a:ln>
                <a:solidFill>
                  <a:srgbClr val="9A6E3A"/>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latin typeface="Consolas" panose="020B0609020204030204" pitchFamily="49" charset="0"/>
                <a:ea typeface="DengXian Light" panose="02010600030101010101" pitchFamily="2" charset="-122"/>
                <a:cs typeface="Courier New" panose="02070309020205020404" pitchFamily="49" charset="0"/>
              </a:rPr>
              <a:t> </a:t>
            </a:r>
            <a:r>
              <a:rPr kumimoji="0" lang="en-PK" altLang="en-PK" sz="1800" b="0" i="0" u="none" strike="noStrike" cap="none" normalizeH="0" baseline="0" dirty="0">
                <a:ln>
                  <a:noFill/>
                </a:ln>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669900"/>
                </a:solidFill>
                <a:effectLst/>
                <a:latin typeface="Consolas" panose="020B0609020204030204" pitchFamily="49" charset="0"/>
                <a:ea typeface="Times New Roman" panose="02020603050405020304" pitchFamily="18" charset="0"/>
                <a:cs typeface="Courier New" panose="02070309020205020404" pitchFamily="49" charset="0"/>
              </a:rPr>
              <a:t>"Volvo"</a:t>
            </a:r>
            <a:r>
              <a:rPr kumimoji="0" lang="en-PK" altLang="en-PK" sz="1800" b="0" i="0" u="none" strike="noStrike" cap="none" normalizeH="0" baseline="0" dirty="0">
                <a:ln>
                  <a:noFill/>
                </a:ln>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latin typeface="Consolas" panose="020B0609020204030204" pitchFamily="49" charset="0"/>
                <a:ea typeface="DengXian Light" panose="02010600030101010101" pitchFamily="2" charset="-122"/>
                <a:cs typeface="Courier New" panose="02070309020205020404" pitchFamily="49" charset="0"/>
              </a:rPr>
              <a:t> </a:t>
            </a:r>
            <a:r>
              <a:rPr kumimoji="0" lang="en-PK" altLang="en-PK" sz="1800" b="0" i="0" u="none" strike="noStrike" cap="none" normalizeH="0" baseline="0" dirty="0">
                <a:ln>
                  <a:noFill/>
                </a:ln>
                <a:solidFill>
                  <a:srgbClr val="669900"/>
                </a:solidFill>
                <a:effectLst/>
                <a:latin typeface="Consolas" panose="020B0609020204030204" pitchFamily="49" charset="0"/>
                <a:ea typeface="Times New Roman" panose="02020603050405020304" pitchFamily="18" charset="0"/>
                <a:cs typeface="Courier New" panose="02070309020205020404" pitchFamily="49" charset="0"/>
              </a:rPr>
              <a:t>"BMW"</a:t>
            </a:r>
            <a:r>
              <a:rPr kumimoji="0" lang="en-PK" altLang="en-PK" sz="1800" b="0" i="0" u="none" strike="noStrike" cap="none" normalizeH="0" baseline="0" dirty="0">
                <a:ln>
                  <a:noFill/>
                </a:ln>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latin typeface="Consolas" panose="020B0609020204030204" pitchFamily="49" charset="0"/>
                <a:ea typeface="DengXian Light" panose="02010600030101010101" pitchFamily="2" charset="-122"/>
                <a:cs typeface="Courier New" panose="02070309020205020404" pitchFamily="49" charset="0"/>
              </a:rPr>
              <a:t> </a:t>
            </a:r>
            <a:r>
              <a:rPr kumimoji="0" lang="en-PK" altLang="en-PK" sz="1800" b="0" i="0" u="none" strike="noStrike" cap="none" normalizeH="0" baseline="0" dirty="0">
                <a:ln>
                  <a:noFill/>
                </a:ln>
                <a:solidFill>
                  <a:srgbClr val="669900"/>
                </a:solidFill>
                <a:effectLst/>
                <a:latin typeface="Consolas" panose="020B0609020204030204" pitchFamily="49" charset="0"/>
                <a:ea typeface="Times New Roman" panose="02020603050405020304" pitchFamily="18" charset="0"/>
                <a:cs typeface="Courier New" panose="02070309020205020404" pitchFamily="49" charset="0"/>
              </a:rPr>
              <a:t>"Ford"</a:t>
            </a:r>
            <a:r>
              <a:rPr kumimoji="0" lang="en-PK" altLang="en-PK" sz="1800" b="0" i="0" u="none" strike="noStrike" cap="none" normalizeH="0" baseline="0" dirty="0">
                <a:ln>
                  <a:noFill/>
                </a:ln>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latin typeface="Consolas" panose="020B0609020204030204" pitchFamily="49" charset="0"/>
                <a:ea typeface="DengXian Light" panose="02010600030101010101" pitchFamily="2" charset="-122"/>
                <a:cs typeface="Courier New" panose="02070309020205020404" pitchFamily="49" charset="0"/>
              </a:rPr>
              <a:t> </a:t>
            </a:r>
            <a:r>
              <a:rPr kumimoji="0" lang="en-PK" altLang="en-PK" sz="1800" b="0" i="0" u="none" strike="noStrike" cap="none" normalizeH="0" baseline="0" dirty="0">
                <a:ln>
                  <a:noFill/>
                </a:ln>
                <a:solidFill>
                  <a:srgbClr val="669900"/>
                </a:solidFill>
                <a:effectLst/>
                <a:latin typeface="Consolas" panose="020B0609020204030204" pitchFamily="49" charset="0"/>
                <a:ea typeface="Times New Roman" panose="02020603050405020304" pitchFamily="18" charset="0"/>
                <a:cs typeface="Courier New" panose="02070309020205020404" pitchFamily="49" charset="0"/>
              </a:rPr>
              <a:t>"Mazda"</a:t>
            </a:r>
            <a:r>
              <a:rPr kumimoji="0" lang="en-PK" altLang="en-PK" sz="1800" b="0" i="0" u="none" strike="noStrike" cap="none" normalizeH="0" baseline="0" dirty="0">
                <a:ln>
                  <a:noFill/>
                </a:ln>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kumimoji="0" lang="en-US" altLang="en-PK" sz="1800" b="0" i="0" u="none" strike="noStrike" cap="none" normalizeH="0" baseline="0" dirty="0">
              <a:ln>
                <a:noFill/>
              </a:ln>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800" b="0" i="0" u="none" strike="noStrike" cap="none" normalizeH="0" baseline="0" dirty="0">
                <a:ln>
                  <a:noFill/>
                </a:ln>
                <a:solidFill>
                  <a:srgbClr val="000000"/>
                </a:solidFill>
                <a:effectLst/>
                <a:latin typeface="Consolas" panose="020B0609020204030204" pitchFamily="49" charset="0"/>
                <a:ea typeface="DengXian Light" panose="02010600030101010101" pitchFamily="2" charset="-122"/>
                <a:cs typeface="Courier New" panose="02070309020205020404" pitchFamily="49" charset="0"/>
              </a:rPr>
              <a:t>cars</a:t>
            </a:r>
            <a:r>
              <a:rPr kumimoji="0" lang="en-PK" altLang="en-PK" sz="1800" b="0" i="0" u="none" strike="noStrike" cap="none" normalizeH="0" baseline="0" dirty="0">
                <a:ln>
                  <a:noFill/>
                </a:ln>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990055"/>
                </a:solidFill>
                <a:effectLst/>
                <a:latin typeface="Consolas" panose="020B0609020204030204" pitchFamily="49" charset="0"/>
                <a:ea typeface="Times New Roman" panose="02020603050405020304" pitchFamily="18" charset="0"/>
                <a:cs typeface="Courier New" panose="02070309020205020404" pitchFamily="49" charset="0"/>
              </a:rPr>
              <a:t>0</a:t>
            </a:r>
            <a:r>
              <a:rPr kumimoji="0" lang="en-PK" altLang="en-PK" sz="1800" b="0" i="0" u="none" strike="noStrike" cap="none" normalizeH="0" baseline="0" dirty="0">
                <a:ln>
                  <a:noFill/>
                </a:ln>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latin typeface="Consolas" panose="020B0609020204030204" pitchFamily="49" charset="0"/>
                <a:ea typeface="DengXian Light" panose="02010600030101010101" pitchFamily="2" charset="-122"/>
                <a:cs typeface="Courier New" panose="02070309020205020404" pitchFamily="49" charset="0"/>
              </a:rPr>
              <a:t> </a:t>
            </a:r>
            <a:r>
              <a:rPr kumimoji="0" lang="en-PK" altLang="en-PK" sz="1800" b="0" i="0" u="none" strike="noStrike" cap="none" normalizeH="0" baseline="0" dirty="0">
                <a:ln>
                  <a:noFill/>
                </a:ln>
                <a:solidFill>
                  <a:srgbClr val="9A6E3A"/>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latin typeface="Consolas" panose="020B0609020204030204" pitchFamily="49" charset="0"/>
                <a:ea typeface="DengXian Light" panose="02010600030101010101" pitchFamily="2" charset="-122"/>
                <a:cs typeface="Courier New" panose="02070309020205020404" pitchFamily="49" charset="0"/>
              </a:rPr>
              <a:t> </a:t>
            </a:r>
            <a:r>
              <a:rPr kumimoji="0" lang="en-PK" altLang="en-PK" sz="1800" b="0" i="0" u="none" strike="noStrike" cap="none" normalizeH="0" baseline="0" dirty="0">
                <a:ln>
                  <a:noFill/>
                </a:ln>
                <a:solidFill>
                  <a:srgbClr val="669900"/>
                </a:solidFill>
                <a:effectLst/>
                <a:latin typeface="Consolas" panose="020B0609020204030204" pitchFamily="49" charset="0"/>
                <a:ea typeface="Times New Roman" panose="02020603050405020304" pitchFamily="18" charset="0"/>
                <a:cs typeface="Courier New" panose="02070309020205020404" pitchFamily="49" charset="0"/>
              </a:rPr>
              <a:t>"Opel"</a:t>
            </a:r>
            <a:r>
              <a:rPr kumimoji="0" lang="en-PK" altLang="en-PK" sz="1800" b="0" i="0" u="none" strike="noStrike" cap="none" normalizeH="0" baseline="0" dirty="0">
                <a:ln>
                  <a:noFill/>
                </a:ln>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kumimoji="0" lang="en-US" altLang="en-PK" sz="1800" b="0" i="0" u="none" strike="noStrike" cap="none" normalizeH="0" baseline="0" dirty="0">
              <a:ln>
                <a:noFill/>
              </a:ln>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800" b="0" i="0" u="none" strike="noStrike" cap="none" normalizeH="0" baseline="0" dirty="0" err="1">
                <a:ln>
                  <a:noFill/>
                </a:ln>
                <a:solidFill>
                  <a:srgbClr val="DD4A68"/>
                </a:solidFill>
                <a:effectLst/>
                <a:latin typeface="Consolas" panose="020B0609020204030204" pitchFamily="49" charset="0"/>
                <a:ea typeface="Times New Roman" panose="02020603050405020304" pitchFamily="18" charset="0"/>
                <a:cs typeface="Courier New" panose="02070309020205020404" pitchFamily="49" charset="0"/>
              </a:rPr>
              <a:t>System</a:t>
            </a:r>
            <a:r>
              <a:rPr kumimoji="0" lang="en-PK" altLang="en-PK" sz="1800" b="0" i="0" u="none" strike="noStrike" cap="none" normalizeH="0" baseline="0" dirty="0" err="1">
                <a:ln>
                  <a:noFill/>
                </a:ln>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PK" altLang="en-PK" sz="1800" b="0" i="0" u="none" strike="noStrike" cap="none" normalizeH="0" baseline="0" dirty="0" err="1">
                <a:ln>
                  <a:noFill/>
                </a:ln>
                <a:solidFill>
                  <a:srgbClr val="000000"/>
                </a:solidFill>
                <a:effectLst/>
                <a:latin typeface="Consolas" panose="020B0609020204030204" pitchFamily="49" charset="0"/>
                <a:ea typeface="DengXian Light" panose="02010600030101010101" pitchFamily="2" charset="-122"/>
                <a:cs typeface="Courier New" panose="02070309020205020404" pitchFamily="49" charset="0"/>
              </a:rPr>
              <a:t>out</a:t>
            </a:r>
            <a:r>
              <a:rPr kumimoji="0" lang="en-PK" altLang="en-PK" sz="1800" b="0" i="0" u="none" strike="noStrike" cap="none" normalizeH="0" baseline="0" dirty="0" err="1">
                <a:ln>
                  <a:noFill/>
                </a:ln>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PK" altLang="en-PK" sz="1800" b="0" i="0" u="none" strike="noStrike" cap="none" normalizeH="0" baseline="0" dirty="0" err="1">
                <a:ln>
                  <a:noFill/>
                </a:ln>
                <a:solidFill>
                  <a:srgbClr val="DD4A68"/>
                </a:solidFill>
                <a:effectLst/>
                <a:latin typeface="Consolas" panose="020B0609020204030204" pitchFamily="49" charset="0"/>
                <a:ea typeface="Times New Roman" panose="02020603050405020304" pitchFamily="18" charset="0"/>
                <a:cs typeface="Courier New" panose="02070309020205020404" pitchFamily="49" charset="0"/>
              </a:rPr>
              <a:t>println</a:t>
            </a:r>
            <a:r>
              <a:rPr kumimoji="0" lang="en-PK" altLang="en-PK" sz="1800" b="0" i="0" u="none" strike="noStrike" cap="none" normalizeH="0" baseline="0" dirty="0">
                <a:ln>
                  <a:noFill/>
                </a:ln>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latin typeface="Consolas" panose="020B0609020204030204" pitchFamily="49" charset="0"/>
                <a:ea typeface="DengXian Light" panose="02010600030101010101" pitchFamily="2" charset="-122"/>
                <a:cs typeface="Courier New" panose="02070309020205020404" pitchFamily="49" charset="0"/>
              </a:rPr>
              <a:t>cars</a:t>
            </a:r>
            <a:r>
              <a:rPr kumimoji="0" lang="en-PK" altLang="en-PK" sz="1800" b="0" i="0" u="none" strike="noStrike" cap="none" normalizeH="0" baseline="0" dirty="0">
                <a:ln>
                  <a:noFill/>
                </a:ln>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990055"/>
                </a:solidFill>
                <a:effectLst/>
                <a:latin typeface="Consolas" panose="020B0609020204030204" pitchFamily="49" charset="0"/>
                <a:ea typeface="Times New Roman" panose="02020603050405020304" pitchFamily="18" charset="0"/>
                <a:cs typeface="Courier New" panose="02070309020205020404" pitchFamily="49" charset="0"/>
              </a:rPr>
              <a:t>0</a:t>
            </a:r>
            <a:r>
              <a:rPr kumimoji="0" lang="en-PK" altLang="en-PK" sz="1800" b="0" i="0" u="none" strike="noStrike" cap="none" normalizeH="0" baseline="0" dirty="0">
                <a:ln>
                  <a:noFill/>
                </a:ln>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kumimoji="0" lang="en-US" altLang="en-PK" sz="1800" b="0" i="0" u="none" strike="noStrike" cap="none" normalizeH="0" baseline="0" dirty="0">
              <a:ln>
                <a:noFill/>
              </a:ln>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800" b="0" i="0" u="none" strike="noStrike" cap="none" normalizeH="0" baseline="0" dirty="0">
                <a:ln>
                  <a:noFill/>
                </a:ln>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Now outputs Opel instead of Volvo</a:t>
            </a:r>
            <a:endParaRPr kumimoji="0" lang="en-PK" altLang="en-PK"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900531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A43D6-37FB-4478-B1F8-EAEF57A5A1B0}"/>
              </a:ext>
            </a:extLst>
          </p:cNvPr>
          <p:cNvSpPr>
            <a:spLocks noGrp="1"/>
          </p:cNvSpPr>
          <p:nvPr>
            <p:ph type="title"/>
          </p:nvPr>
        </p:nvSpPr>
        <p:spPr>
          <a:xfrm>
            <a:off x="675640" y="426720"/>
            <a:ext cx="10515600" cy="518160"/>
          </a:xfrm>
        </p:spPr>
        <p:txBody>
          <a:bodyPr>
            <a:normAutofit/>
          </a:bodyPr>
          <a:lstStyle/>
          <a:p>
            <a:r>
              <a:rPr lang="en-PK" sz="2800" b="1" dirty="0">
                <a:solidFill>
                  <a:schemeClr val="accent1">
                    <a:lumMod val="50000"/>
                  </a:schemeClr>
                </a:solidFill>
                <a:effectLst/>
                <a:latin typeface="+mn-lt"/>
                <a:ea typeface="DengXian Light" panose="02010600030101010101" pitchFamily="2" charset="-122"/>
                <a:cs typeface="Times New Roman" panose="02020603050405020304" pitchFamily="18" charset="0"/>
              </a:rPr>
              <a:t>Array Length</a:t>
            </a:r>
            <a:endParaRPr lang="en-PK" sz="2800" dirty="0">
              <a:solidFill>
                <a:schemeClr val="accent1">
                  <a:lumMod val="50000"/>
                </a:schemeClr>
              </a:solidFill>
              <a:latin typeface="+mn-lt"/>
            </a:endParaRPr>
          </a:p>
        </p:txBody>
      </p:sp>
      <p:sp>
        <p:nvSpPr>
          <p:cNvPr id="7" name="TextBox 6">
            <a:extLst>
              <a:ext uri="{FF2B5EF4-FFF2-40B4-BE49-F238E27FC236}">
                <a16:creationId xmlns:a16="http://schemas.microsoft.com/office/drawing/2014/main" id="{E8853350-E3B1-4715-8EE8-BD904666948B}"/>
              </a:ext>
            </a:extLst>
          </p:cNvPr>
          <p:cNvSpPr txBox="1"/>
          <p:nvPr/>
        </p:nvSpPr>
        <p:spPr>
          <a:xfrm>
            <a:off x="675640" y="1404559"/>
            <a:ext cx="8717280" cy="400110"/>
          </a:xfrm>
          <a:prstGeom prst="rect">
            <a:avLst/>
          </a:prstGeom>
          <a:noFill/>
        </p:spPr>
        <p:txBody>
          <a:bodyPr wrap="square">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PK" altLang="en-PK" sz="1800" b="0" i="0" u="none" strike="noStrike" cap="none" normalizeH="0" baseline="0" dirty="0">
                <a:ln>
                  <a:noFill/>
                </a:ln>
                <a:solidFill>
                  <a:srgbClr val="000000"/>
                </a:solidFill>
                <a:effectLst/>
                <a:ea typeface="Calibri" panose="020F0502020204030204" pitchFamily="34" charset="0"/>
                <a:cs typeface="Arial" panose="020B0604020202020204" pitchFamily="34" charset="0"/>
              </a:rPr>
              <a:t>To find out how many elements an array has, use the </a:t>
            </a:r>
            <a:r>
              <a:rPr kumimoji="0" lang="en-PK" altLang="en-PK" sz="2000" b="0" i="0" u="none" strike="noStrike" cap="none" normalizeH="0" baseline="0" dirty="0">
                <a:ln>
                  <a:noFill/>
                </a:ln>
                <a:solidFill>
                  <a:srgbClr val="DC143C"/>
                </a:solidFill>
                <a:effectLst/>
                <a:ea typeface="Calibri" panose="020F0502020204030204" pitchFamily="34" charset="0"/>
                <a:cs typeface="Courier New" panose="02070309020205020404" pitchFamily="49" charset="0"/>
              </a:rPr>
              <a:t>length</a:t>
            </a:r>
            <a:r>
              <a:rPr kumimoji="0" lang="en-PK" altLang="en-PK" sz="1800" b="0" i="0" u="none" strike="noStrike" cap="none" normalizeH="0" baseline="0" dirty="0">
                <a:ln>
                  <a:noFill/>
                </a:ln>
                <a:solidFill>
                  <a:srgbClr val="000000"/>
                </a:solidFill>
                <a:effectLst/>
                <a:ea typeface="Calibri" panose="020F0502020204030204" pitchFamily="34" charset="0"/>
                <a:cs typeface="Arial" panose="020B0604020202020204" pitchFamily="34" charset="0"/>
              </a:rPr>
              <a:t> property</a:t>
            </a:r>
            <a:r>
              <a:rPr kumimoji="0" lang="en-US" altLang="en-PK" sz="1800" b="0" i="0" u="none" strike="noStrike" cap="none" normalizeH="0" baseline="0" dirty="0">
                <a:ln>
                  <a:noFill/>
                </a:ln>
                <a:solidFill>
                  <a:srgbClr val="000000"/>
                </a:solidFill>
                <a:effectLst/>
                <a:ea typeface="Calibri" panose="020F0502020204030204" pitchFamily="34" charset="0"/>
                <a:cs typeface="Arial" panose="020B0604020202020204" pitchFamily="34" charset="0"/>
              </a:rPr>
              <a:t>.</a:t>
            </a:r>
            <a:r>
              <a:rPr kumimoji="0" lang="en-PK" altLang="en-PK" sz="1100" b="0" i="0" u="none" strike="noStrike" cap="none" normalizeH="0" baseline="0" dirty="0">
                <a:ln>
                  <a:noFill/>
                </a:ln>
                <a:solidFill>
                  <a:schemeClr val="tx1"/>
                </a:solidFill>
                <a:effectLst/>
              </a:rPr>
              <a:t> </a:t>
            </a:r>
            <a:endParaRPr kumimoji="0" lang="en-PK" altLang="en-PK" sz="3200" b="0" i="0" u="none" strike="noStrike" cap="none" normalizeH="0" baseline="0" dirty="0">
              <a:ln>
                <a:noFill/>
              </a:ln>
              <a:solidFill>
                <a:schemeClr val="tx1"/>
              </a:solidFill>
              <a:effectLst/>
            </a:endParaRPr>
          </a:p>
        </p:txBody>
      </p:sp>
      <p:sp>
        <p:nvSpPr>
          <p:cNvPr id="8" name="TextBox 7">
            <a:extLst>
              <a:ext uri="{FF2B5EF4-FFF2-40B4-BE49-F238E27FC236}">
                <a16:creationId xmlns:a16="http://schemas.microsoft.com/office/drawing/2014/main" id="{94948812-A7BC-4F7A-9831-4C90DBC4E547}"/>
              </a:ext>
            </a:extLst>
          </p:cNvPr>
          <p:cNvSpPr txBox="1"/>
          <p:nvPr/>
        </p:nvSpPr>
        <p:spPr>
          <a:xfrm>
            <a:off x="699599" y="2177574"/>
            <a:ext cx="1059521" cy="369332"/>
          </a:xfrm>
          <a:prstGeom prst="rect">
            <a:avLst/>
          </a:prstGeom>
          <a:noFill/>
        </p:spPr>
        <p:txBody>
          <a:bodyPr wrap="none" rtlCol="0">
            <a:spAutoFit/>
          </a:bodyPr>
          <a:lstStyle/>
          <a:p>
            <a:r>
              <a:rPr lang="en-US" b="1" dirty="0"/>
              <a:t>Example:</a:t>
            </a:r>
            <a:endParaRPr lang="en-PK" b="1" dirty="0"/>
          </a:p>
        </p:txBody>
      </p:sp>
      <p:sp>
        <p:nvSpPr>
          <p:cNvPr id="9" name="Rectangle 3">
            <a:extLst>
              <a:ext uri="{FF2B5EF4-FFF2-40B4-BE49-F238E27FC236}">
                <a16:creationId xmlns:a16="http://schemas.microsoft.com/office/drawing/2014/main" id="{CBA23870-1785-49F0-9266-5481B895F3EC}"/>
              </a:ext>
            </a:extLst>
          </p:cNvPr>
          <p:cNvSpPr>
            <a:spLocks noChangeArrowheads="1"/>
          </p:cNvSpPr>
          <p:nvPr/>
        </p:nvSpPr>
        <p:spPr bwMode="auto">
          <a:xfrm>
            <a:off x="0" y="-63739"/>
            <a:ext cx="65" cy="58467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52352" rIns="0" bIns="15235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endParaRPr>
          </a:p>
        </p:txBody>
      </p:sp>
      <p:sp>
        <p:nvSpPr>
          <p:cNvPr id="11" name="TextBox 10">
            <a:extLst>
              <a:ext uri="{FF2B5EF4-FFF2-40B4-BE49-F238E27FC236}">
                <a16:creationId xmlns:a16="http://schemas.microsoft.com/office/drawing/2014/main" id="{0D9FB9DB-E5DF-49B6-9AF9-9F92F96B15F4}"/>
              </a:ext>
            </a:extLst>
          </p:cNvPr>
          <p:cNvSpPr txBox="1"/>
          <p:nvPr/>
        </p:nvSpPr>
        <p:spPr>
          <a:xfrm>
            <a:off x="1229360" y="2664459"/>
            <a:ext cx="9408160" cy="92333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800" b="0" i="0" u="none" strike="noStrike" cap="none" normalizeH="0" baseline="0" dirty="0">
                <a:ln>
                  <a:noFill/>
                </a:ln>
                <a:solidFill>
                  <a:srgbClr val="DD4A68"/>
                </a:solidFill>
                <a:effectLst/>
                <a:ea typeface="Times New Roman" panose="02020603050405020304" pitchFamily="18" charset="0"/>
                <a:cs typeface="Courier New" panose="02070309020205020404" pitchFamily="49" charset="0"/>
              </a:rPr>
              <a:t>String</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r>
              <a:rPr kumimoji="0" lang="en-US"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cars </a:t>
            </a:r>
            <a:r>
              <a:rPr kumimoji="0" lang="en-PK" altLang="en-PK" sz="1800" b="0" i="0" u="none" strike="noStrike" cap="none" normalizeH="0" baseline="0" dirty="0">
                <a:ln>
                  <a:noFill/>
                </a:ln>
                <a:solidFill>
                  <a:srgbClr val="9A6E3A"/>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669900"/>
                </a:solidFill>
                <a:effectLst/>
                <a:ea typeface="Times New Roman" panose="02020603050405020304" pitchFamily="18" charset="0"/>
                <a:cs typeface="Courier New" panose="02070309020205020404" pitchFamily="49" charset="0"/>
              </a:rPr>
              <a:t>"Volvo"</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669900"/>
                </a:solidFill>
                <a:effectLst/>
                <a:ea typeface="Times New Roman" panose="02020603050405020304" pitchFamily="18" charset="0"/>
                <a:cs typeface="Courier New" panose="02070309020205020404" pitchFamily="49" charset="0"/>
              </a:rPr>
              <a:t>"BMW"</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669900"/>
                </a:solidFill>
                <a:effectLst/>
                <a:ea typeface="Times New Roman" panose="02020603050405020304" pitchFamily="18" charset="0"/>
                <a:cs typeface="Courier New" panose="02070309020205020404" pitchFamily="49" charset="0"/>
              </a:rPr>
              <a:t>"Ford"</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669900"/>
                </a:solidFill>
                <a:effectLst/>
                <a:ea typeface="Times New Roman" panose="02020603050405020304" pitchFamily="18" charset="0"/>
                <a:cs typeface="Courier New" panose="02070309020205020404" pitchFamily="49" charset="0"/>
              </a:rPr>
              <a:t>"Mazda"</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endParaRPr kumimoji="0" lang="en-US"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800" b="0" i="0" u="none" strike="noStrike" cap="none" normalizeH="0" baseline="0" dirty="0" err="1">
                <a:ln>
                  <a:noFill/>
                </a:ln>
                <a:solidFill>
                  <a:srgbClr val="DD4A68"/>
                </a:solidFill>
                <a:effectLst/>
                <a:ea typeface="Times New Roman" panose="02020603050405020304" pitchFamily="18" charset="0"/>
                <a:cs typeface="Courier New" panose="02070309020205020404" pitchFamily="49" charset="0"/>
              </a:rPr>
              <a:t>System</a:t>
            </a:r>
            <a:r>
              <a:rPr kumimoji="0" lang="en-PK" altLang="en-PK" sz="1800" b="0" i="0" u="none" strike="noStrike" cap="none" normalizeH="0" baseline="0" dirty="0" err="1">
                <a:ln>
                  <a:noFill/>
                </a:ln>
                <a:solidFill>
                  <a:srgbClr val="999999"/>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err="1">
                <a:ln>
                  <a:noFill/>
                </a:ln>
                <a:solidFill>
                  <a:srgbClr val="000000"/>
                </a:solidFill>
                <a:effectLst/>
                <a:ea typeface="Times New Roman" panose="02020603050405020304" pitchFamily="18" charset="0"/>
                <a:cs typeface="Courier New" panose="02070309020205020404" pitchFamily="49" charset="0"/>
              </a:rPr>
              <a:t>out</a:t>
            </a:r>
            <a:r>
              <a:rPr kumimoji="0" lang="en-PK" altLang="en-PK" sz="1800" b="0" i="0" u="none" strike="noStrike" cap="none" normalizeH="0" baseline="0" dirty="0" err="1">
                <a:ln>
                  <a:noFill/>
                </a:ln>
                <a:solidFill>
                  <a:srgbClr val="999999"/>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err="1">
                <a:ln>
                  <a:noFill/>
                </a:ln>
                <a:solidFill>
                  <a:srgbClr val="DD4A68"/>
                </a:solidFill>
                <a:effectLst/>
                <a:ea typeface="Times New Roman" panose="02020603050405020304" pitchFamily="18" charset="0"/>
                <a:cs typeface="Courier New" panose="02070309020205020404" pitchFamily="49" charset="0"/>
              </a:rPr>
              <a:t>println</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err="1">
                <a:ln>
                  <a:noFill/>
                </a:ln>
                <a:solidFill>
                  <a:srgbClr val="000000"/>
                </a:solidFill>
                <a:effectLst/>
                <a:ea typeface="Times New Roman" panose="02020603050405020304" pitchFamily="18" charset="0"/>
                <a:cs typeface="Courier New" panose="02070309020205020404" pitchFamily="49" charset="0"/>
              </a:rPr>
              <a:t>cars</a:t>
            </a:r>
            <a:r>
              <a:rPr kumimoji="0" lang="en-PK" altLang="en-PK" sz="1800" b="0" i="0" u="none" strike="noStrike" cap="none" normalizeH="0" baseline="0" dirty="0" err="1">
                <a:ln>
                  <a:noFill/>
                </a:ln>
                <a:solidFill>
                  <a:srgbClr val="999999"/>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err="1">
                <a:ln>
                  <a:noFill/>
                </a:ln>
                <a:solidFill>
                  <a:srgbClr val="000000"/>
                </a:solidFill>
                <a:effectLst/>
                <a:ea typeface="Times New Roman" panose="02020603050405020304" pitchFamily="18" charset="0"/>
                <a:cs typeface="Courier New" panose="02070309020205020404" pitchFamily="49" charset="0"/>
              </a:rPr>
              <a:t>length</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endParaRPr kumimoji="0" lang="en-US"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800" b="0" i="0" u="none" strike="noStrike" cap="none" normalizeH="0" baseline="0" dirty="0">
                <a:ln>
                  <a:noFill/>
                </a:ln>
                <a:solidFill>
                  <a:srgbClr val="708090"/>
                </a:solidFill>
                <a:effectLst/>
                <a:ea typeface="Times New Roman" panose="02020603050405020304" pitchFamily="18" charset="0"/>
                <a:cs typeface="Courier New" panose="02070309020205020404" pitchFamily="49" charset="0"/>
              </a:rPr>
              <a:t>// Outputs 4</a:t>
            </a:r>
            <a:endParaRPr kumimoji="0" lang="en-PK" altLang="en-PK" sz="32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2782434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1DFAA07-826B-4284-AD70-477DB4E4F0F0}"/>
              </a:ext>
            </a:extLst>
          </p:cNvPr>
          <p:cNvSpPr txBox="1"/>
          <p:nvPr/>
        </p:nvSpPr>
        <p:spPr>
          <a:xfrm>
            <a:off x="558800" y="366874"/>
            <a:ext cx="10160000" cy="530017"/>
          </a:xfrm>
          <a:prstGeom prst="rect">
            <a:avLst/>
          </a:prstGeom>
          <a:noFill/>
        </p:spPr>
        <p:txBody>
          <a:bodyPr wrap="square">
            <a:spAutoFit/>
          </a:bodyPr>
          <a:lstStyle/>
          <a:p>
            <a:pPr marL="0" marR="0">
              <a:lnSpc>
                <a:spcPct val="107000"/>
              </a:lnSpc>
              <a:spcBef>
                <a:spcPts val="750"/>
              </a:spcBef>
              <a:spcAft>
                <a:spcPts val="750"/>
              </a:spcAft>
            </a:pPr>
            <a:r>
              <a:rPr lang="en-PK" sz="2800" b="1" dirty="0">
                <a:solidFill>
                  <a:schemeClr val="accent1">
                    <a:lumMod val="50000"/>
                  </a:schemeClr>
                </a:solidFill>
                <a:effectLst/>
                <a:ea typeface="DengXian Light" panose="02010600030101010101" pitchFamily="2" charset="-122"/>
                <a:cs typeface="Times New Roman" panose="02020603050405020304" pitchFamily="18" charset="0"/>
              </a:rPr>
              <a:t>Loop Through an Array</a:t>
            </a:r>
            <a:r>
              <a:rPr lang="en-US" sz="2800" b="1" dirty="0">
                <a:solidFill>
                  <a:schemeClr val="accent1">
                    <a:lumMod val="50000"/>
                  </a:schemeClr>
                </a:solidFill>
                <a:effectLst/>
                <a:ea typeface="DengXian Light" panose="02010600030101010101" pitchFamily="2" charset="-122"/>
                <a:cs typeface="Times New Roman" panose="02020603050405020304" pitchFamily="18" charset="0"/>
              </a:rPr>
              <a:t> / Processing of Array</a:t>
            </a:r>
            <a:endParaRPr lang="en-PK" sz="1600" b="1" dirty="0">
              <a:solidFill>
                <a:schemeClr val="accent1">
                  <a:lumMod val="50000"/>
                </a:schemeClr>
              </a:solidFill>
              <a:effectLst/>
              <a:ea typeface="DengXian Light" panose="02010600030101010101" pitchFamily="2" charset="-122"/>
              <a:cs typeface="Times New Roman" panose="02020603050405020304" pitchFamily="18" charset="0"/>
            </a:endParaRPr>
          </a:p>
        </p:txBody>
      </p:sp>
      <p:sp>
        <p:nvSpPr>
          <p:cNvPr id="8" name="TextBox 7">
            <a:extLst>
              <a:ext uri="{FF2B5EF4-FFF2-40B4-BE49-F238E27FC236}">
                <a16:creationId xmlns:a16="http://schemas.microsoft.com/office/drawing/2014/main" id="{ABE505D6-60F6-43F6-BC03-4D7985F2C19C}"/>
              </a:ext>
            </a:extLst>
          </p:cNvPr>
          <p:cNvSpPr txBox="1"/>
          <p:nvPr/>
        </p:nvSpPr>
        <p:spPr>
          <a:xfrm>
            <a:off x="716280" y="1987116"/>
            <a:ext cx="10850880" cy="646331"/>
          </a:xfrm>
          <a:prstGeom prst="rect">
            <a:avLst/>
          </a:prstGeom>
          <a:noFill/>
        </p:spPr>
        <p:txBody>
          <a:bodyPr wrap="square">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PK" altLang="en-PK" sz="1800" b="0" i="0" u="none" strike="noStrike" cap="none" normalizeH="0" baseline="0" dirty="0">
                <a:ln>
                  <a:noFill/>
                </a:ln>
                <a:solidFill>
                  <a:srgbClr val="000000"/>
                </a:solidFill>
                <a:effectLst/>
                <a:ea typeface="Times New Roman" panose="02020603050405020304" pitchFamily="18" charset="0"/>
              </a:rPr>
              <a:t>You can loop through the array elements with the </a:t>
            </a:r>
            <a:r>
              <a:rPr kumimoji="0" lang="en-PK" altLang="en-PK" sz="1400" b="0" i="0" u="none" strike="noStrike" cap="none" normalizeH="0" baseline="0" dirty="0">
                <a:ln>
                  <a:noFill/>
                </a:ln>
                <a:solidFill>
                  <a:srgbClr val="DC143C"/>
                </a:solidFill>
                <a:effectLst/>
                <a:ea typeface="Times New Roman" panose="02020603050405020304" pitchFamily="18" charset="0"/>
                <a:cs typeface="Courier New" panose="02070309020205020404" pitchFamily="49" charset="0"/>
              </a:rPr>
              <a:t>for</a:t>
            </a:r>
            <a:r>
              <a:rPr kumimoji="0" lang="en-PK" altLang="en-PK" sz="1800" b="0" i="0" u="none" strike="noStrike" cap="none" normalizeH="0" baseline="0" dirty="0">
                <a:ln>
                  <a:noFill/>
                </a:ln>
                <a:solidFill>
                  <a:srgbClr val="000000"/>
                </a:solidFill>
                <a:effectLst/>
                <a:ea typeface="Times New Roman" panose="02020603050405020304" pitchFamily="18" charset="0"/>
              </a:rPr>
              <a:t> loop, and use the </a:t>
            </a:r>
            <a:r>
              <a:rPr kumimoji="0" lang="en-PK" altLang="en-PK" sz="1400" b="0" i="0" u="none" strike="noStrike" cap="none" normalizeH="0" baseline="0" dirty="0">
                <a:ln>
                  <a:noFill/>
                </a:ln>
                <a:solidFill>
                  <a:srgbClr val="DC143C"/>
                </a:solidFill>
                <a:effectLst/>
                <a:ea typeface="Times New Roman" panose="02020603050405020304" pitchFamily="18" charset="0"/>
                <a:cs typeface="Courier New" panose="02070309020205020404" pitchFamily="49" charset="0"/>
              </a:rPr>
              <a:t>length</a:t>
            </a:r>
            <a:r>
              <a:rPr kumimoji="0" lang="en-PK" altLang="en-PK" sz="1800" b="0" i="0" u="none" strike="noStrike" cap="none" normalizeH="0" baseline="0" dirty="0">
                <a:ln>
                  <a:noFill/>
                </a:ln>
                <a:solidFill>
                  <a:srgbClr val="000000"/>
                </a:solidFill>
                <a:effectLst/>
                <a:ea typeface="Times New Roman" panose="02020603050405020304" pitchFamily="18" charset="0"/>
              </a:rPr>
              <a:t> property to specify how many times the loop should run.</a:t>
            </a:r>
            <a:endParaRPr kumimoji="0" lang="en-PK" altLang="en-PK" sz="3200" b="0" i="0" u="none" strike="noStrike" cap="none" normalizeH="0" baseline="0" dirty="0">
              <a:ln>
                <a:noFill/>
              </a:ln>
              <a:solidFill>
                <a:schemeClr val="tx1"/>
              </a:solidFill>
              <a:effectLst/>
            </a:endParaRPr>
          </a:p>
        </p:txBody>
      </p:sp>
      <p:sp>
        <p:nvSpPr>
          <p:cNvPr id="10" name="TextBox 9">
            <a:extLst>
              <a:ext uri="{FF2B5EF4-FFF2-40B4-BE49-F238E27FC236}">
                <a16:creationId xmlns:a16="http://schemas.microsoft.com/office/drawing/2014/main" id="{EC0DE1CB-181D-4E93-97E7-36640E3406E2}"/>
              </a:ext>
            </a:extLst>
          </p:cNvPr>
          <p:cNvSpPr txBox="1"/>
          <p:nvPr/>
        </p:nvSpPr>
        <p:spPr>
          <a:xfrm>
            <a:off x="716280" y="2986841"/>
            <a:ext cx="6096000" cy="369332"/>
          </a:xfrm>
          <a:prstGeom prst="rect">
            <a:avLst/>
          </a:prstGeom>
          <a:noFill/>
        </p:spPr>
        <p:txBody>
          <a:bodyPr wrap="square">
            <a:spAutoFit/>
          </a:bodyPr>
          <a:lstStyle/>
          <a:p>
            <a:r>
              <a:rPr lang="en-US" b="1" dirty="0"/>
              <a:t>Example:</a:t>
            </a:r>
            <a:endParaRPr lang="en-PK" b="1" dirty="0"/>
          </a:p>
        </p:txBody>
      </p:sp>
      <p:sp>
        <p:nvSpPr>
          <p:cNvPr id="11" name="Rectangle 2">
            <a:extLst>
              <a:ext uri="{FF2B5EF4-FFF2-40B4-BE49-F238E27FC236}">
                <a16:creationId xmlns:a16="http://schemas.microsoft.com/office/drawing/2014/main" id="{992270F3-29CE-4CC0-A8C6-8A51A2195637}"/>
              </a:ext>
            </a:extLst>
          </p:cNvPr>
          <p:cNvSpPr>
            <a:spLocks noChangeArrowheads="1"/>
          </p:cNvSpPr>
          <p:nvPr/>
        </p:nvSpPr>
        <p:spPr bwMode="auto">
          <a:xfrm>
            <a:off x="0" y="-63739"/>
            <a:ext cx="65" cy="58467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52352" rIns="0" bIns="15235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endParaRPr>
          </a:p>
        </p:txBody>
      </p:sp>
      <p:sp>
        <p:nvSpPr>
          <p:cNvPr id="13" name="TextBox 12">
            <a:extLst>
              <a:ext uri="{FF2B5EF4-FFF2-40B4-BE49-F238E27FC236}">
                <a16:creationId xmlns:a16="http://schemas.microsoft.com/office/drawing/2014/main" id="{44777E8C-EEED-41A7-B99E-1B58D9B31F63}"/>
              </a:ext>
            </a:extLst>
          </p:cNvPr>
          <p:cNvSpPr txBox="1"/>
          <p:nvPr/>
        </p:nvSpPr>
        <p:spPr>
          <a:xfrm>
            <a:off x="1061720" y="3501828"/>
            <a:ext cx="10160000" cy="2126864"/>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PK" altLang="en-PK" sz="1800" b="0" i="0" u="none" strike="noStrike" cap="none" normalizeH="0" baseline="0" dirty="0">
                <a:ln>
                  <a:noFill/>
                </a:ln>
                <a:solidFill>
                  <a:srgbClr val="DD4A68"/>
                </a:solidFill>
                <a:effectLst/>
                <a:ea typeface="Times New Roman" panose="02020603050405020304" pitchFamily="18" charset="0"/>
                <a:cs typeface="Courier New" panose="02070309020205020404" pitchFamily="49" charset="0"/>
              </a:rPr>
              <a:t>String</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cars </a:t>
            </a:r>
            <a:r>
              <a:rPr kumimoji="0" lang="en-PK" altLang="en-PK" sz="1800" b="0" i="0" u="none" strike="noStrike" cap="none" normalizeH="0" baseline="0" dirty="0">
                <a:ln>
                  <a:noFill/>
                </a:ln>
                <a:solidFill>
                  <a:srgbClr val="9A6E3A"/>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669900"/>
                </a:solidFill>
                <a:effectLst/>
                <a:ea typeface="Times New Roman" panose="02020603050405020304" pitchFamily="18" charset="0"/>
                <a:cs typeface="Courier New" panose="02070309020205020404" pitchFamily="49" charset="0"/>
              </a:rPr>
              <a:t>"Volvo"</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669900"/>
                </a:solidFill>
                <a:effectLst/>
                <a:ea typeface="Times New Roman" panose="02020603050405020304" pitchFamily="18" charset="0"/>
                <a:cs typeface="Courier New" panose="02070309020205020404" pitchFamily="49" charset="0"/>
              </a:rPr>
              <a:t>"BMW"</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669900"/>
                </a:solidFill>
                <a:effectLst/>
                <a:ea typeface="Times New Roman" panose="02020603050405020304" pitchFamily="18" charset="0"/>
                <a:cs typeface="Courier New" panose="02070309020205020404" pitchFamily="49" charset="0"/>
              </a:rPr>
              <a:t>"Ford"</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669900"/>
                </a:solidFill>
                <a:effectLst/>
                <a:ea typeface="Times New Roman" panose="02020603050405020304" pitchFamily="18" charset="0"/>
                <a:cs typeface="Courier New" panose="02070309020205020404" pitchFamily="49" charset="0"/>
              </a:rPr>
              <a:t>"Mazda"</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endParaRPr kumimoji="0" lang="en-US"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PK" altLang="en-PK" sz="1800" b="0" i="0" u="none" strike="noStrike" cap="none" normalizeH="0" baseline="0" dirty="0">
                <a:ln>
                  <a:noFill/>
                </a:ln>
                <a:solidFill>
                  <a:srgbClr val="0077AA"/>
                </a:solidFill>
                <a:effectLst/>
                <a:ea typeface="Times New Roman" panose="02020603050405020304" pitchFamily="18" charset="0"/>
                <a:cs typeface="Courier New" panose="02070309020205020404" pitchFamily="49" charset="0"/>
              </a:rPr>
              <a:t>for</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77AA"/>
                </a:solidFill>
                <a:effectLst/>
                <a:ea typeface="Times New Roman" panose="02020603050405020304" pitchFamily="18" charset="0"/>
                <a:cs typeface="Courier New" panose="02070309020205020404" pitchFamily="49" charset="0"/>
              </a:rPr>
              <a:t>int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err="1">
                <a:ln>
                  <a:noFill/>
                </a:ln>
                <a:solidFill>
                  <a:srgbClr val="000000"/>
                </a:solidFill>
                <a:effectLst/>
                <a:ea typeface="Times New Roman" panose="02020603050405020304" pitchFamily="18" charset="0"/>
                <a:cs typeface="Courier New" panose="02070309020205020404" pitchFamily="49" charset="0"/>
              </a:rPr>
              <a:t>i</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9A6E3A"/>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990055"/>
                </a:solidFill>
                <a:effectLst/>
                <a:ea typeface="Times New Roman" panose="02020603050405020304" pitchFamily="18" charset="0"/>
                <a:cs typeface="Courier New" panose="02070309020205020404" pitchFamily="49" charset="0"/>
              </a:rPr>
              <a:t>0</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err="1">
                <a:ln>
                  <a:noFill/>
                </a:ln>
                <a:solidFill>
                  <a:srgbClr val="000000"/>
                </a:solidFill>
                <a:effectLst/>
                <a:ea typeface="Times New Roman" panose="02020603050405020304" pitchFamily="18" charset="0"/>
                <a:cs typeface="Courier New" panose="02070309020205020404" pitchFamily="49" charset="0"/>
              </a:rPr>
              <a:t>i</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9A6E3A"/>
                </a:solidFill>
                <a:effectLst/>
                <a:ea typeface="Times New Roman" panose="02020603050405020304" pitchFamily="18" charset="0"/>
                <a:cs typeface="Courier New" panose="02070309020205020404" pitchFamily="49" charset="0"/>
              </a:rPr>
              <a:t>&lt;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err="1">
                <a:ln>
                  <a:noFill/>
                </a:ln>
                <a:solidFill>
                  <a:srgbClr val="000000"/>
                </a:solidFill>
                <a:effectLst/>
                <a:ea typeface="Times New Roman" panose="02020603050405020304" pitchFamily="18" charset="0"/>
                <a:cs typeface="Courier New" panose="02070309020205020404" pitchFamily="49" charset="0"/>
              </a:rPr>
              <a:t>cars</a:t>
            </a:r>
            <a:r>
              <a:rPr kumimoji="0" lang="en-PK" altLang="en-PK" sz="1800" b="0" i="0" u="none" strike="noStrike" cap="none" normalizeH="0" baseline="0" dirty="0" err="1">
                <a:ln>
                  <a:noFill/>
                </a:ln>
                <a:solidFill>
                  <a:srgbClr val="999999"/>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err="1">
                <a:ln>
                  <a:noFill/>
                </a:ln>
                <a:solidFill>
                  <a:srgbClr val="000000"/>
                </a:solidFill>
                <a:effectLst/>
                <a:ea typeface="Times New Roman" panose="02020603050405020304" pitchFamily="18" charset="0"/>
                <a:cs typeface="Courier New" panose="02070309020205020404" pitchFamily="49" charset="0"/>
              </a:rPr>
              <a:t>length</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err="1">
                <a:ln>
                  <a:noFill/>
                </a:ln>
                <a:solidFill>
                  <a:srgbClr val="000000"/>
                </a:solidFill>
                <a:effectLst/>
                <a:ea typeface="Times New Roman" panose="02020603050405020304" pitchFamily="18" charset="0"/>
                <a:cs typeface="Courier New" panose="02070309020205020404" pitchFamily="49" charset="0"/>
              </a:rPr>
              <a:t>i</a:t>
            </a:r>
            <a:r>
              <a:rPr kumimoji="0" lang="en-PK" altLang="en-PK" sz="1800" b="0" i="0" u="none" strike="noStrike" cap="none" normalizeH="0" baseline="0" dirty="0">
                <a:ln>
                  <a:noFill/>
                </a:ln>
                <a:solidFill>
                  <a:srgbClr val="9A6E3A"/>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endParaRPr kumimoji="0" lang="en-US"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endParaRPr kumimoji="0" lang="en-US"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err="1">
                <a:ln>
                  <a:noFill/>
                </a:ln>
                <a:solidFill>
                  <a:srgbClr val="DD4A68"/>
                </a:solidFill>
                <a:effectLst/>
                <a:ea typeface="Times New Roman" panose="02020603050405020304" pitchFamily="18" charset="0"/>
                <a:cs typeface="Courier New" panose="02070309020205020404" pitchFamily="49" charset="0"/>
              </a:rPr>
              <a:t>System</a:t>
            </a:r>
            <a:r>
              <a:rPr kumimoji="0" lang="en-PK" altLang="en-PK" sz="1800" b="0" i="0" u="none" strike="noStrike" cap="none" normalizeH="0" baseline="0" dirty="0" err="1">
                <a:ln>
                  <a:noFill/>
                </a:ln>
                <a:solidFill>
                  <a:srgbClr val="999999"/>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err="1">
                <a:ln>
                  <a:noFill/>
                </a:ln>
                <a:solidFill>
                  <a:srgbClr val="000000"/>
                </a:solidFill>
                <a:effectLst/>
                <a:ea typeface="Times New Roman" panose="02020603050405020304" pitchFamily="18" charset="0"/>
                <a:cs typeface="Courier New" panose="02070309020205020404" pitchFamily="49" charset="0"/>
              </a:rPr>
              <a:t>out</a:t>
            </a:r>
            <a:r>
              <a:rPr kumimoji="0" lang="en-PK" altLang="en-PK" sz="1800" b="0" i="0" u="none" strike="noStrike" cap="none" normalizeH="0" baseline="0" dirty="0" err="1">
                <a:ln>
                  <a:noFill/>
                </a:ln>
                <a:solidFill>
                  <a:srgbClr val="999999"/>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err="1">
                <a:ln>
                  <a:noFill/>
                </a:ln>
                <a:solidFill>
                  <a:srgbClr val="DD4A68"/>
                </a:solidFill>
                <a:effectLst/>
                <a:ea typeface="Times New Roman" panose="02020603050405020304" pitchFamily="18" charset="0"/>
                <a:cs typeface="Courier New" panose="02070309020205020404" pitchFamily="49" charset="0"/>
              </a:rPr>
              <a:t>println</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cars</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err="1">
                <a:ln>
                  <a:noFill/>
                </a:ln>
                <a:solidFill>
                  <a:srgbClr val="000000"/>
                </a:solidFill>
                <a:effectLst/>
                <a:ea typeface="Times New Roman" panose="02020603050405020304" pitchFamily="18" charset="0"/>
                <a:cs typeface="Courier New" panose="02070309020205020404" pitchFamily="49" charset="0"/>
              </a:rPr>
              <a:t>i</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endParaRPr kumimoji="0" lang="en-US"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endParaRPr kumimoji="0" lang="en-PK" altLang="en-PK" sz="3200" b="0" i="0" u="none" strike="noStrike" cap="none" normalizeH="0" baseline="0" dirty="0">
              <a:ln>
                <a:noFill/>
              </a:ln>
              <a:solidFill>
                <a:schemeClr val="tx1"/>
              </a:solidFill>
              <a:effectLst/>
            </a:endParaRPr>
          </a:p>
        </p:txBody>
      </p:sp>
      <p:sp>
        <p:nvSpPr>
          <p:cNvPr id="16" name="Rectangle 3">
            <a:extLst>
              <a:ext uri="{FF2B5EF4-FFF2-40B4-BE49-F238E27FC236}">
                <a16:creationId xmlns:a16="http://schemas.microsoft.com/office/drawing/2014/main" id="{78E459D6-19B3-442C-9A7A-A84622D797C5}"/>
              </a:ext>
            </a:extLst>
          </p:cNvPr>
          <p:cNvSpPr>
            <a:spLocks noChangeArrowheads="1"/>
          </p:cNvSpPr>
          <p:nvPr/>
        </p:nvSpPr>
        <p:spPr bwMode="auto">
          <a:xfrm>
            <a:off x="0" y="-63739"/>
            <a:ext cx="65" cy="58467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52352" rIns="0" bIns="15235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endParaRPr>
          </a:p>
        </p:txBody>
      </p:sp>
      <p:sp>
        <p:nvSpPr>
          <p:cNvPr id="20" name="TextBox 19">
            <a:extLst>
              <a:ext uri="{FF2B5EF4-FFF2-40B4-BE49-F238E27FC236}">
                <a16:creationId xmlns:a16="http://schemas.microsoft.com/office/drawing/2014/main" id="{DB3F2ED5-23FC-4157-BB8A-D32D54A75C1D}"/>
              </a:ext>
            </a:extLst>
          </p:cNvPr>
          <p:cNvSpPr txBox="1"/>
          <p:nvPr/>
        </p:nvSpPr>
        <p:spPr>
          <a:xfrm>
            <a:off x="670560" y="1042279"/>
            <a:ext cx="10942320" cy="646331"/>
          </a:xfrm>
          <a:prstGeom prst="rect">
            <a:avLst/>
          </a:prstGeom>
          <a:noFill/>
        </p:spPr>
        <p:txBody>
          <a:bodyPr wrap="square">
            <a:spAutoFit/>
          </a:bodyPr>
          <a:lstStyle/>
          <a:p>
            <a:pPr marL="316230" marR="30480" indent="-285750" algn="just">
              <a:spcBef>
                <a:spcPts val="600"/>
              </a:spcBef>
              <a:spcAft>
                <a:spcPts val="720"/>
              </a:spcAft>
              <a:buFont typeface="Arial" panose="020B0604020202020204" pitchFamily="34" charset="0"/>
              <a:buChar char="•"/>
            </a:pPr>
            <a:r>
              <a:rPr lang="en-PK" sz="1800" dirty="0">
                <a:solidFill>
                  <a:srgbClr val="000000"/>
                </a:solidFill>
                <a:effectLst/>
                <a:ea typeface="Times New Roman" panose="02020603050405020304" pitchFamily="18" charset="0"/>
              </a:rPr>
              <a:t>When processing array elements, we often use either </a:t>
            </a:r>
            <a:r>
              <a:rPr lang="en-PK" sz="1800" b="1" dirty="0">
                <a:solidFill>
                  <a:srgbClr val="000000"/>
                </a:solidFill>
                <a:effectLst/>
                <a:ea typeface="Times New Roman" panose="02020603050405020304" pitchFamily="18" charset="0"/>
              </a:rPr>
              <a:t>for</a:t>
            </a:r>
            <a:r>
              <a:rPr lang="en-PK" sz="1800" dirty="0">
                <a:solidFill>
                  <a:srgbClr val="000000"/>
                </a:solidFill>
                <a:effectLst/>
                <a:ea typeface="Times New Roman" panose="02020603050405020304" pitchFamily="18" charset="0"/>
              </a:rPr>
              <a:t> loop or </a:t>
            </a:r>
            <a:r>
              <a:rPr lang="en-PK" sz="1800" b="1" dirty="0">
                <a:solidFill>
                  <a:srgbClr val="000000"/>
                </a:solidFill>
                <a:effectLst/>
                <a:ea typeface="Times New Roman" panose="02020603050405020304" pitchFamily="18" charset="0"/>
              </a:rPr>
              <a:t>foreach</a:t>
            </a:r>
            <a:r>
              <a:rPr lang="en-PK" sz="1800" dirty="0">
                <a:solidFill>
                  <a:srgbClr val="000000"/>
                </a:solidFill>
                <a:effectLst/>
                <a:ea typeface="Times New Roman" panose="02020603050405020304" pitchFamily="18" charset="0"/>
              </a:rPr>
              <a:t> loop because all of the elements in an array are of the same type and the size of the array is known.</a:t>
            </a:r>
            <a:endParaRPr lang="en-PK" sz="1800" dirty="0">
              <a:effectLst/>
              <a:ea typeface="Times New Roman" panose="02020603050405020304" pitchFamily="18" charset="0"/>
            </a:endParaRPr>
          </a:p>
        </p:txBody>
      </p:sp>
    </p:spTree>
    <p:extLst>
      <p:ext uri="{BB962C8B-B14F-4D97-AF65-F5344CB8AC3E}">
        <p14:creationId xmlns:p14="http://schemas.microsoft.com/office/powerpoint/2010/main" val="23013136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D0C6F6E-C70A-4EDD-85DB-F34C03BAD7F3}"/>
              </a:ext>
            </a:extLst>
          </p:cNvPr>
          <p:cNvSpPr txBox="1"/>
          <p:nvPr/>
        </p:nvSpPr>
        <p:spPr>
          <a:xfrm>
            <a:off x="426720" y="417674"/>
            <a:ext cx="6096000" cy="532903"/>
          </a:xfrm>
          <a:prstGeom prst="rect">
            <a:avLst/>
          </a:prstGeom>
          <a:noFill/>
        </p:spPr>
        <p:txBody>
          <a:bodyPr wrap="square">
            <a:spAutoFit/>
          </a:bodyPr>
          <a:lstStyle/>
          <a:p>
            <a:pPr marL="0" marR="0">
              <a:lnSpc>
                <a:spcPct val="107000"/>
              </a:lnSpc>
              <a:spcBef>
                <a:spcPts val="750"/>
              </a:spcBef>
              <a:spcAft>
                <a:spcPts val="750"/>
              </a:spcAft>
            </a:pPr>
            <a:r>
              <a:rPr lang="en-PK" sz="2800" b="1" dirty="0">
                <a:solidFill>
                  <a:schemeClr val="accent1">
                    <a:lumMod val="50000"/>
                  </a:schemeClr>
                </a:solidFill>
                <a:effectLst/>
                <a:ea typeface="DengXian Light" panose="02010600030101010101" pitchFamily="2" charset="-122"/>
                <a:cs typeface="Times New Roman" panose="02020603050405020304" pitchFamily="18" charset="0"/>
              </a:rPr>
              <a:t>Loop Through an Array with For-Each</a:t>
            </a:r>
          </a:p>
        </p:txBody>
      </p:sp>
      <p:sp>
        <p:nvSpPr>
          <p:cNvPr id="7" name="TextBox 6">
            <a:extLst>
              <a:ext uri="{FF2B5EF4-FFF2-40B4-BE49-F238E27FC236}">
                <a16:creationId xmlns:a16="http://schemas.microsoft.com/office/drawing/2014/main" id="{DE25FB6F-1EEE-49B5-8C66-21B0ED0CD379}"/>
              </a:ext>
            </a:extLst>
          </p:cNvPr>
          <p:cNvSpPr txBox="1"/>
          <p:nvPr/>
        </p:nvSpPr>
        <p:spPr>
          <a:xfrm>
            <a:off x="426720" y="1165275"/>
            <a:ext cx="11650980" cy="1282402"/>
          </a:xfrm>
          <a:prstGeom prst="rect">
            <a:avLst/>
          </a:prstGeom>
          <a:noFill/>
        </p:spPr>
        <p:txBody>
          <a:bodyPr wrap="square">
            <a:spAutoFit/>
          </a:bodyPr>
          <a:lstStyle/>
          <a:p>
            <a:pPr marL="285750" indent="-285750">
              <a:spcBef>
                <a:spcPts val="1440"/>
              </a:spcBef>
              <a:spcAft>
                <a:spcPts val="1440"/>
              </a:spcAft>
              <a:buFont typeface="Arial" panose="020B0604020202020204" pitchFamily="34" charset="0"/>
              <a:buChar char="•"/>
            </a:pPr>
            <a:r>
              <a:rPr lang="en-PK" sz="1800" dirty="0">
                <a:solidFill>
                  <a:srgbClr val="000000"/>
                </a:solidFill>
                <a:effectLst/>
                <a:ea typeface="Times New Roman" panose="02020603050405020304" pitchFamily="18" charset="0"/>
              </a:rPr>
              <a:t>JDK 1.5 introduced a new for loop known as foreach loop or enhanced for loop, which enables you to traverse the complete array sequentially without using an index variable.</a:t>
            </a:r>
            <a:endParaRPr lang="en-US" sz="1800" dirty="0">
              <a:solidFill>
                <a:srgbClr val="000000"/>
              </a:solidFill>
              <a:effectLst/>
              <a:ea typeface="Times New Roman" panose="02020603050405020304" pitchFamily="18" charset="0"/>
            </a:endParaRPr>
          </a:p>
          <a:p>
            <a:pPr marL="285750" marR="0" indent="-285750">
              <a:spcBef>
                <a:spcPts val="1440"/>
              </a:spcBef>
              <a:spcAft>
                <a:spcPts val="1440"/>
              </a:spcAft>
              <a:buFont typeface="Arial" panose="020B0604020202020204" pitchFamily="34" charset="0"/>
              <a:buChar char="•"/>
            </a:pPr>
            <a:r>
              <a:rPr lang="en-PK" sz="1800" dirty="0">
                <a:solidFill>
                  <a:srgbClr val="000000"/>
                </a:solidFill>
                <a:effectLst/>
                <a:ea typeface="Times New Roman" panose="02020603050405020304" pitchFamily="18" charset="0"/>
              </a:rPr>
              <a:t>There is also a "</a:t>
            </a:r>
            <a:r>
              <a:rPr lang="en-PK" sz="1800" b="1" dirty="0">
                <a:solidFill>
                  <a:srgbClr val="000000"/>
                </a:solidFill>
                <a:effectLst/>
                <a:ea typeface="Times New Roman" panose="02020603050405020304" pitchFamily="18" charset="0"/>
              </a:rPr>
              <a:t>for-each</a:t>
            </a:r>
            <a:r>
              <a:rPr lang="en-PK" sz="1800" dirty="0">
                <a:solidFill>
                  <a:srgbClr val="000000"/>
                </a:solidFill>
                <a:effectLst/>
                <a:ea typeface="Times New Roman" panose="02020603050405020304" pitchFamily="18" charset="0"/>
              </a:rPr>
              <a:t>" loop, which is used exclusively to loop through elements in arrays:</a:t>
            </a:r>
            <a:endParaRPr lang="en-PK" sz="1800" dirty="0">
              <a:effectLst/>
              <a:ea typeface="Times New Roman" panose="02020603050405020304" pitchFamily="18" charset="0"/>
            </a:endParaRPr>
          </a:p>
        </p:txBody>
      </p:sp>
      <p:sp>
        <p:nvSpPr>
          <p:cNvPr id="9" name="TextBox 8">
            <a:extLst>
              <a:ext uri="{FF2B5EF4-FFF2-40B4-BE49-F238E27FC236}">
                <a16:creationId xmlns:a16="http://schemas.microsoft.com/office/drawing/2014/main" id="{093ED574-5C27-4047-8E4B-235CF0BD3451}"/>
              </a:ext>
            </a:extLst>
          </p:cNvPr>
          <p:cNvSpPr txBox="1"/>
          <p:nvPr/>
        </p:nvSpPr>
        <p:spPr>
          <a:xfrm>
            <a:off x="640080" y="2684269"/>
            <a:ext cx="6096000" cy="373692"/>
          </a:xfrm>
          <a:prstGeom prst="rect">
            <a:avLst/>
          </a:prstGeom>
          <a:noFill/>
        </p:spPr>
        <p:txBody>
          <a:bodyPr wrap="square">
            <a:spAutoFit/>
          </a:bodyPr>
          <a:lstStyle/>
          <a:p>
            <a:pPr marL="0" marR="0">
              <a:lnSpc>
                <a:spcPct val="107000"/>
              </a:lnSpc>
              <a:spcBef>
                <a:spcPts val="750"/>
              </a:spcBef>
              <a:spcAft>
                <a:spcPts val="750"/>
              </a:spcAft>
            </a:pPr>
            <a:r>
              <a:rPr lang="en-PK" sz="1800" b="1" dirty="0">
                <a:solidFill>
                  <a:srgbClr val="000000"/>
                </a:solidFill>
                <a:effectLst/>
                <a:ea typeface="DengXian Light" panose="02010600030101010101" pitchFamily="2" charset="-122"/>
                <a:cs typeface="Times New Roman" panose="02020603050405020304" pitchFamily="18" charset="0"/>
              </a:rPr>
              <a:t>Syntax</a:t>
            </a:r>
            <a:endParaRPr lang="en-PK" sz="1200" b="1" dirty="0">
              <a:solidFill>
                <a:srgbClr val="1F3763"/>
              </a:solidFill>
              <a:effectLst/>
              <a:ea typeface="DengXian Light" panose="02010600030101010101" pitchFamily="2" charset="-122"/>
              <a:cs typeface="Times New Roman" panose="02020603050405020304" pitchFamily="18" charset="0"/>
            </a:endParaRPr>
          </a:p>
        </p:txBody>
      </p:sp>
      <p:sp>
        <p:nvSpPr>
          <p:cNvPr id="10" name="Rectangle 1">
            <a:extLst>
              <a:ext uri="{FF2B5EF4-FFF2-40B4-BE49-F238E27FC236}">
                <a16:creationId xmlns:a16="http://schemas.microsoft.com/office/drawing/2014/main" id="{F9514866-8514-46C4-9AC3-6A54D33720B8}"/>
              </a:ext>
            </a:extLst>
          </p:cNvPr>
          <p:cNvSpPr>
            <a:spLocks noChangeArrowheads="1"/>
          </p:cNvSpPr>
          <p:nvPr/>
        </p:nvSpPr>
        <p:spPr bwMode="auto">
          <a:xfrm>
            <a:off x="0" y="-63739"/>
            <a:ext cx="65" cy="58467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52352" rIns="0" bIns="15235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endParaRPr>
          </a:p>
        </p:txBody>
      </p:sp>
      <p:sp>
        <p:nvSpPr>
          <p:cNvPr id="12" name="TextBox 11">
            <a:extLst>
              <a:ext uri="{FF2B5EF4-FFF2-40B4-BE49-F238E27FC236}">
                <a16:creationId xmlns:a16="http://schemas.microsoft.com/office/drawing/2014/main" id="{3B1CFCCE-1E28-4B4B-A057-30B58741B5B5}"/>
              </a:ext>
            </a:extLst>
          </p:cNvPr>
          <p:cNvSpPr txBox="1"/>
          <p:nvPr/>
        </p:nvSpPr>
        <p:spPr>
          <a:xfrm>
            <a:off x="830580" y="3102393"/>
            <a:ext cx="6096000" cy="92333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800" b="0" i="0" u="none" strike="noStrike" cap="none" normalizeH="0" baseline="0" dirty="0">
                <a:ln>
                  <a:noFill/>
                </a:ln>
                <a:solidFill>
                  <a:srgbClr val="0077AA"/>
                </a:solidFill>
                <a:effectLst/>
                <a:ea typeface="Times New Roman" panose="02020603050405020304" pitchFamily="18" charset="0"/>
                <a:cs typeface="Courier New" panose="02070309020205020404" pitchFamily="49" charset="0"/>
              </a:rPr>
              <a:t>for</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r>
              <a:rPr kumimoji="0" lang="en-PK" altLang="en-PK" sz="1800" b="0" i="1"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type</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1"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variable</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9A6E3A"/>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1" u="none" strike="noStrike" cap="none" normalizeH="0" baseline="0" dirty="0" err="1">
                <a:ln>
                  <a:noFill/>
                </a:ln>
                <a:solidFill>
                  <a:srgbClr val="000000"/>
                </a:solidFill>
                <a:effectLst/>
                <a:ea typeface="Times New Roman" panose="02020603050405020304" pitchFamily="18" charset="0"/>
                <a:cs typeface="Courier New" panose="02070309020205020404" pitchFamily="49" charset="0"/>
              </a:rPr>
              <a:t>arrayname</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endParaRPr kumimoji="0" lang="en-US"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endParaRPr kumimoji="0" lang="en-US"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endParaRPr kumimoji="0" lang="en-PK" altLang="en-PK" sz="3200" b="0" i="0" u="none" strike="noStrike" cap="none" normalizeH="0" baseline="0" dirty="0">
              <a:ln>
                <a:noFill/>
              </a:ln>
              <a:solidFill>
                <a:schemeClr val="tx1"/>
              </a:solidFill>
              <a:effectLst/>
            </a:endParaRPr>
          </a:p>
        </p:txBody>
      </p:sp>
      <p:sp>
        <p:nvSpPr>
          <p:cNvPr id="14" name="TextBox 13">
            <a:extLst>
              <a:ext uri="{FF2B5EF4-FFF2-40B4-BE49-F238E27FC236}">
                <a16:creationId xmlns:a16="http://schemas.microsoft.com/office/drawing/2014/main" id="{0F97C0D3-ED1F-455E-9ED2-C13A7B474A27}"/>
              </a:ext>
            </a:extLst>
          </p:cNvPr>
          <p:cNvSpPr txBox="1"/>
          <p:nvPr/>
        </p:nvSpPr>
        <p:spPr>
          <a:xfrm>
            <a:off x="1084580" y="4764487"/>
            <a:ext cx="8999220" cy="1708416"/>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PK" altLang="en-PK" sz="1800" b="0" i="0" u="none" strike="noStrike" cap="none" normalizeH="0" baseline="0" dirty="0">
                <a:ln>
                  <a:noFill/>
                </a:ln>
                <a:solidFill>
                  <a:srgbClr val="DD4A68"/>
                </a:solidFill>
                <a:effectLst/>
                <a:ea typeface="Times New Roman" panose="02020603050405020304" pitchFamily="18" charset="0"/>
                <a:cs typeface="Courier New" panose="02070309020205020404" pitchFamily="49" charset="0"/>
              </a:rPr>
              <a:t>String</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cars </a:t>
            </a:r>
            <a:r>
              <a:rPr kumimoji="0" lang="en-PK" altLang="en-PK" sz="1800" b="0" i="0" u="none" strike="noStrike" cap="none" normalizeH="0" baseline="0" dirty="0">
                <a:ln>
                  <a:noFill/>
                </a:ln>
                <a:solidFill>
                  <a:srgbClr val="9A6E3A"/>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669900"/>
                </a:solidFill>
                <a:effectLst/>
                <a:ea typeface="Times New Roman" panose="02020603050405020304" pitchFamily="18" charset="0"/>
                <a:cs typeface="Courier New" panose="02070309020205020404" pitchFamily="49" charset="0"/>
              </a:rPr>
              <a:t>"Volvo"</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669900"/>
                </a:solidFill>
                <a:effectLst/>
                <a:ea typeface="Times New Roman" panose="02020603050405020304" pitchFamily="18" charset="0"/>
                <a:cs typeface="Courier New" panose="02070309020205020404" pitchFamily="49" charset="0"/>
              </a:rPr>
              <a:t>"BMW"</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669900"/>
                </a:solidFill>
                <a:effectLst/>
                <a:ea typeface="Times New Roman" panose="02020603050405020304" pitchFamily="18" charset="0"/>
                <a:cs typeface="Courier New" panose="02070309020205020404" pitchFamily="49" charset="0"/>
              </a:rPr>
              <a:t>"Ford"</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669900"/>
                </a:solidFill>
                <a:effectLst/>
                <a:ea typeface="Times New Roman" panose="02020603050405020304" pitchFamily="18" charset="0"/>
                <a:cs typeface="Courier New" panose="02070309020205020404" pitchFamily="49" charset="0"/>
              </a:rPr>
              <a:t>"Mazda"</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endParaRPr kumimoji="0" lang="en-US"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PK" altLang="en-PK" sz="1800" b="0" i="0" u="none" strike="noStrike" cap="none" normalizeH="0" baseline="0" dirty="0">
                <a:ln>
                  <a:noFill/>
                </a:ln>
                <a:solidFill>
                  <a:srgbClr val="0077AA"/>
                </a:solidFill>
                <a:effectLst/>
                <a:ea typeface="Times New Roman" panose="02020603050405020304" pitchFamily="18" charset="0"/>
                <a:cs typeface="Courier New" panose="02070309020205020404" pitchFamily="49" charset="0"/>
              </a:rPr>
              <a:t>for</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DD4A68"/>
                </a:solidFill>
                <a:effectLst/>
                <a:ea typeface="Times New Roman" panose="02020603050405020304" pitchFamily="18" charset="0"/>
                <a:cs typeface="Courier New" panose="02070309020205020404" pitchFamily="49" charset="0"/>
              </a:rPr>
              <a:t>String</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err="1">
                <a:ln>
                  <a:noFill/>
                </a:ln>
                <a:solidFill>
                  <a:srgbClr val="000000"/>
                </a:solidFill>
                <a:effectLst/>
                <a:ea typeface="Times New Roman" panose="02020603050405020304" pitchFamily="18" charset="0"/>
                <a:cs typeface="Courier New" panose="02070309020205020404" pitchFamily="49" charset="0"/>
              </a:rPr>
              <a:t>i</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9A6E3A"/>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cars</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endParaRPr kumimoji="0" lang="en-US"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PK" altLang="en-PK" sz="1800" b="0" i="0" u="none" strike="noStrike" cap="none" normalizeH="0" baseline="0" dirty="0" err="1">
                <a:ln>
                  <a:noFill/>
                </a:ln>
                <a:solidFill>
                  <a:srgbClr val="DD4A68"/>
                </a:solidFill>
                <a:effectLst/>
                <a:ea typeface="Times New Roman" panose="02020603050405020304" pitchFamily="18" charset="0"/>
                <a:cs typeface="Courier New" panose="02070309020205020404" pitchFamily="49" charset="0"/>
              </a:rPr>
              <a:t>System</a:t>
            </a:r>
            <a:r>
              <a:rPr kumimoji="0" lang="en-PK" altLang="en-PK" sz="1800" b="0" i="0" u="none" strike="noStrike" cap="none" normalizeH="0" baseline="0" dirty="0" err="1">
                <a:ln>
                  <a:noFill/>
                </a:ln>
                <a:solidFill>
                  <a:srgbClr val="999999"/>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err="1">
                <a:ln>
                  <a:noFill/>
                </a:ln>
                <a:solidFill>
                  <a:srgbClr val="000000"/>
                </a:solidFill>
                <a:effectLst/>
                <a:ea typeface="Times New Roman" panose="02020603050405020304" pitchFamily="18" charset="0"/>
                <a:cs typeface="Courier New" panose="02070309020205020404" pitchFamily="49" charset="0"/>
              </a:rPr>
              <a:t>out</a:t>
            </a:r>
            <a:r>
              <a:rPr kumimoji="0" lang="en-PK" altLang="en-PK" sz="1800" b="0" i="0" u="none" strike="noStrike" cap="none" normalizeH="0" baseline="0" dirty="0" err="1">
                <a:ln>
                  <a:noFill/>
                </a:ln>
                <a:solidFill>
                  <a:srgbClr val="999999"/>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err="1">
                <a:ln>
                  <a:noFill/>
                </a:ln>
                <a:solidFill>
                  <a:srgbClr val="DD4A68"/>
                </a:solidFill>
                <a:effectLst/>
                <a:ea typeface="Times New Roman" panose="02020603050405020304" pitchFamily="18" charset="0"/>
                <a:cs typeface="Courier New" panose="02070309020205020404" pitchFamily="49" charset="0"/>
              </a:rPr>
              <a:t>println</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err="1">
                <a:ln>
                  <a:noFill/>
                </a:ln>
                <a:solidFill>
                  <a:srgbClr val="000000"/>
                </a:solidFill>
                <a:effectLst/>
                <a:ea typeface="Times New Roman" panose="02020603050405020304" pitchFamily="18" charset="0"/>
                <a:cs typeface="Courier New" panose="02070309020205020404" pitchFamily="49" charset="0"/>
              </a:rPr>
              <a:t>i</a:t>
            </a: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endParaRPr kumimoji="0" lang="en-US"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PK" altLang="en-PK" sz="1800" b="0" i="0" u="none" strike="noStrike" cap="none" normalizeH="0" baseline="0" dirty="0">
                <a:ln>
                  <a:noFill/>
                </a:ln>
                <a:solidFill>
                  <a:srgbClr val="999999"/>
                </a:solidFill>
                <a:effectLst/>
                <a:ea typeface="Times New Roman" panose="02020603050405020304" pitchFamily="18" charset="0"/>
                <a:cs typeface="Courier New" panose="02070309020205020404" pitchFamily="49" charset="0"/>
              </a:rPr>
              <a:t>}</a:t>
            </a:r>
            <a:endParaRPr kumimoji="0" lang="en-PK" altLang="en-PK" sz="3200" b="0" i="0" u="none" strike="noStrike" cap="none" normalizeH="0" baseline="0" dirty="0">
              <a:ln>
                <a:noFill/>
              </a:ln>
              <a:solidFill>
                <a:schemeClr val="tx1"/>
              </a:solidFill>
              <a:effectLst/>
            </a:endParaRPr>
          </a:p>
        </p:txBody>
      </p:sp>
      <p:sp>
        <p:nvSpPr>
          <p:cNvPr id="15" name="TextBox 14">
            <a:extLst>
              <a:ext uri="{FF2B5EF4-FFF2-40B4-BE49-F238E27FC236}">
                <a16:creationId xmlns:a16="http://schemas.microsoft.com/office/drawing/2014/main" id="{66B51DA9-05E2-42DB-A4FD-7AA71E67CD79}"/>
              </a:ext>
            </a:extLst>
          </p:cNvPr>
          <p:cNvSpPr txBox="1"/>
          <p:nvPr/>
        </p:nvSpPr>
        <p:spPr>
          <a:xfrm>
            <a:off x="640080" y="4258390"/>
            <a:ext cx="6096000" cy="369332"/>
          </a:xfrm>
          <a:prstGeom prst="rect">
            <a:avLst/>
          </a:prstGeom>
          <a:noFill/>
        </p:spPr>
        <p:txBody>
          <a:bodyPr wrap="square">
            <a:spAutoFit/>
          </a:bodyPr>
          <a:lstStyle/>
          <a:p>
            <a:r>
              <a:rPr lang="en-US" b="1" dirty="0"/>
              <a:t>Example:</a:t>
            </a:r>
            <a:endParaRPr lang="en-PK" b="1" dirty="0"/>
          </a:p>
        </p:txBody>
      </p:sp>
    </p:spTree>
    <p:extLst>
      <p:ext uri="{BB962C8B-B14F-4D97-AF65-F5344CB8AC3E}">
        <p14:creationId xmlns:p14="http://schemas.microsoft.com/office/powerpoint/2010/main" val="38439225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2344D-0B63-4DC3-9336-B3C107876196}"/>
              </a:ext>
            </a:extLst>
          </p:cNvPr>
          <p:cNvSpPr>
            <a:spLocks noGrp="1"/>
          </p:cNvSpPr>
          <p:nvPr>
            <p:ph type="title"/>
          </p:nvPr>
        </p:nvSpPr>
        <p:spPr>
          <a:xfrm>
            <a:off x="355600" y="270377"/>
            <a:ext cx="10515600" cy="831165"/>
          </a:xfrm>
        </p:spPr>
        <p:txBody>
          <a:bodyPr>
            <a:normAutofit/>
          </a:bodyPr>
          <a:lstStyle/>
          <a:p>
            <a:r>
              <a:rPr lang="en-PK" sz="2800" b="1" dirty="0">
                <a:solidFill>
                  <a:schemeClr val="accent1">
                    <a:lumMod val="50000"/>
                  </a:schemeClr>
                </a:solidFill>
                <a:effectLst/>
                <a:latin typeface="+mn-lt"/>
                <a:ea typeface="DengXian Light" panose="02010600030101010101" pitchFamily="2" charset="-122"/>
                <a:cs typeface="Times New Roman" panose="02020603050405020304" pitchFamily="18" charset="0"/>
              </a:rPr>
              <a:t>Passing Arrays to Methods</a:t>
            </a:r>
            <a:endParaRPr lang="en-PK" sz="2800" dirty="0">
              <a:solidFill>
                <a:schemeClr val="accent1">
                  <a:lumMod val="50000"/>
                </a:schemeClr>
              </a:solidFill>
              <a:latin typeface="+mn-lt"/>
            </a:endParaRPr>
          </a:p>
        </p:txBody>
      </p:sp>
      <p:sp>
        <p:nvSpPr>
          <p:cNvPr id="5" name="TextBox 4">
            <a:extLst>
              <a:ext uri="{FF2B5EF4-FFF2-40B4-BE49-F238E27FC236}">
                <a16:creationId xmlns:a16="http://schemas.microsoft.com/office/drawing/2014/main" id="{DFC31AA1-455D-4CAD-8860-F0B38B5803DA}"/>
              </a:ext>
            </a:extLst>
          </p:cNvPr>
          <p:cNvSpPr txBox="1"/>
          <p:nvPr/>
        </p:nvSpPr>
        <p:spPr>
          <a:xfrm>
            <a:off x="749300" y="1027906"/>
            <a:ext cx="10871200" cy="646331"/>
          </a:xfrm>
          <a:prstGeom prst="rect">
            <a:avLst/>
          </a:prstGeom>
          <a:noFill/>
        </p:spPr>
        <p:txBody>
          <a:bodyPr wrap="square">
            <a:spAutoFit/>
          </a:bodyPr>
          <a:lstStyle/>
          <a:p>
            <a:pPr marL="285750" indent="-285750">
              <a:buFont typeface="Arial" panose="020B0604020202020204" pitchFamily="34" charset="0"/>
              <a:buChar char="•"/>
            </a:pPr>
            <a:r>
              <a:rPr lang="en-PK" sz="1800" dirty="0">
                <a:solidFill>
                  <a:srgbClr val="000000"/>
                </a:solidFill>
                <a:effectLst/>
                <a:ea typeface="Calibri" panose="020F0502020204030204" pitchFamily="34" charset="0"/>
              </a:rPr>
              <a:t>you can pass primitive type values to methods, you can also pass arrays to methods. For example, the following method displays the elements in an </a:t>
            </a:r>
            <a:r>
              <a:rPr lang="en-PK" sz="1800" b="1" dirty="0">
                <a:solidFill>
                  <a:srgbClr val="000000"/>
                </a:solidFill>
                <a:effectLst/>
                <a:ea typeface="Calibri" panose="020F0502020204030204" pitchFamily="34" charset="0"/>
              </a:rPr>
              <a:t>int</a:t>
            </a:r>
            <a:r>
              <a:rPr lang="en-PK" sz="1800" dirty="0">
                <a:solidFill>
                  <a:srgbClr val="000000"/>
                </a:solidFill>
                <a:effectLst/>
                <a:ea typeface="Calibri" panose="020F0502020204030204" pitchFamily="34" charset="0"/>
              </a:rPr>
              <a:t> array</a:t>
            </a:r>
            <a:r>
              <a:rPr lang="en-US" sz="1800" dirty="0">
                <a:solidFill>
                  <a:srgbClr val="000000"/>
                </a:solidFill>
                <a:effectLst/>
                <a:ea typeface="Calibri" panose="020F0502020204030204" pitchFamily="34" charset="0"/>
              </a:rPr>
              <a:t>.</a:t>
            </a:r>
            <a:endParaRPr lang="en-PK" dirty="0"/>
          </a:p>
        </p:txBody>
      </p:sp>
      <p:sp>
        <p:nvSpPr>
          <p:cNvPr id="7" name="TextBox 6">
            <a:extLst>
              <a:ext uri="{FF2B5EF4-FFF2-40B4-BE49-F238E27FC236}">
                <a16:creationId xmlns:a16="http://schemas.microsoft.com/office/drawing/2014/main" id="{45F5406B-E1C3-4C50-9F79-E8EA2797BD12}"/>
              </a:ext>
            </a:extLst>
          </p:cNvPr>
          <p:cNvSpPr txBox="1"/>
          <p:nvPr/>
        </p:nvSpPr>
        <p:spPr>
          <a:xfrm>
            <a:off x="622300" y="5295780"/>
            <a:ext cx="6096000" cy="373757"/>
          </a:xfrm>
          <a:prstGeom prst="rect">
            <a:avLst/>
          </a:prstGeom>
          <a:noFill/>
        </p:spPr>
        <p:txBody>
          <a:bodyPr wrap="square">
            <a:spAutoFit/>
          </a:bodyPr>
          <a:lstStyle/>
          <a:p>
            <a:pPr marL="0" marR="0">
              <a:lnSpc>
                <a:spcPct val="107000"/>
              </a:lnSpc>
              <a:spcBef>
                <a:spcPts val="200"/>
              </a:spcBef>
              <a:spcAft>
                <a:spcPts val="0"/>
              </a:spcAft>
            </a:pPr>
            <a:r>
              <a:rPr lang="en-PK" sz="1800" b="1" dirty="0">
                <a:solidFill>
                  <a:srgbClr val="1F3763"/>
                </a:solidFill>
                <a:effectLst/>
                <a:ea typeface="DengXian Light" panose="02010600030101010101" pitchFamily="2" charset="-122"/>
                <a:cs typeface="Times New Roman" panose="02020603050405020304" pitchFamily="18" charset="0"/>
              </a:rPr>
              <a:t>Example</a:t>
            </a:r>
          </a:p>
        </p:txBody>
      </p:sp>
      <p:sp>
        <p:nvSpPr>
          <p:cNvPr id="10" name="TextBox 9">
            <a:extLst>
              <a:ext uri="{FF2B5EF4-FFF2-40B4-BE49-F238E27FC236}">
                <a16:creationId xmlns:a16="http://schemas.microsoft.com/office/drawing/2014/main" id="{AB4566F9-1EAE-429E-B055-71247659DAF9}"/>
              </a:ext>
            </a:extLst>
          </p:cNvPr>
          <p:cNvSpPr txBox="1"/>
          <p:nvPr/>
        </p:nvSpPr>
        <p:spPr>
          <a:xfrm>
            <a:off x="749300" y="2150107"/>
            <a:ext cx="6096000" cy="2126864"/>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PK" altLang="en-PK" sz="1800" b="0" i="0" u="none" strike="noStrike" cap="none" normalizeH="0" baseline="0" dirty="0">
                <a:ln>
                  <a:noFill/>
                </a:ln>
                <a:solidFill>
                  <a:srgbClr val="000088"/>
                </a:solidFill>
                <a:effectLst/>
                <a:ea typeface="Times New Roman" panose="02020603050405020304" pitchFamily="18" charset="0"/>
                <a:cs typeface="Courier New" panose="02070309020205020404" pitchFamily="49" charset="0"/>
              </a:rPr>
              <a:t>public</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000088"/>
                </a:solidFill>
                <a:effectLst/>
                <a:ea typeface="Times New Roman" panose="02020603050405020304" pitchFamily="18" charset="0"/>
                <a:cs typeface="Courier New" panose="02070309020205020404" pitchFamily="49" charset="0"/>
              </a:rPr>
              <a:t>static</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000088"/>
                </a:solidFill>
                <a:effectLst/>
                <a:ea typeface="Times New Roman" panose="02020603050405020304" pitchFamily="18" charset="0"/>
                <a:cs typeface="Courier New" panose="02070309020205020404" pitchFamily="49" charset="0"/>
              </a:rPr>
              <a:t>void</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err="1">
                <a:ln>
                  <a:noFill/>
                </a:ln>
                <a:solidFill>
                  <a:srgbClr val="000000"/>
                </a:solidFill>
                <a:effectLst/>
                <a:ea typeface="Times New Roman" panose="02020603050405020304" pitchFamily="18" charset="0"/>
                <a:cs typeface="Courier New" panose="02070309020205020404" pitchFamily="49" charset="0"/>
              </a:rPr>
              <a:t>printArray</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88"/>
                </a:solidFill>
                <a:effectLst/>
                <a:ea typeface="Times New Roman" panose="02020603050405020304" pitchFamily="18" charset="0"/>
                <a:cs typeface="Courier New" panose="02070309020205020404" pitchFamily="49" charset="0"/>
              </a:rPr>
              <a:t>int</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array</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endParaRPr kumimoji="0" lang="en-US"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000088"/>
                </a:solidFill>
                <a:effectLst/>
                <a:ea typeface="Times New Roman" panose="02020603050405020304" pitchFamily="18" charset="0"/>
                <a:cs typeface="Courier New" panose="02070309020205020404" pitchFamily="49" charset="0"/>
              </a:rPr>
              <a:t>for</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88"/>
                </a:solidFill>
                <a:effectLst/>
                <a:ea typeface="Times New Roman" panose="02020603050405020304" pitchFamily="18" charset="0"/>
                <a:cs typeface="Courier New" panose="02070309020205020404" pitchFamily="49" charset="0"/>
              </a:rPr>
              <a:t>int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err="1">
                <a:ln>
                  <a:noFill/>
                </a:ln>
                <a:solidFill>
                  <a:srgbClr val="000000"/>
                </a:solidFill>
                <a:effectLst/>
                <a:ea typeface="Times New Roman" panose="02020603050405020304" pitchFamily="18" charset="0"/>
                <a:cs typeface="Courier New" panose="02070309020205020404" pitchFamily="49" charset="0"/>
              </a:rPr>
              <a:t>i</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006666"/>
                </a:solidFill>
                <a:effectLst/>
                <a:ea typeface="Times New Roman" panose="02020603050405020304" pitchFamily="18" charset="0"/>
                <a:cs typeface="Courier New" panose="02070309020205020404" pitchFamily="49" charset="0"/>
              </a:rPr>
              <a:t>0</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err="1">
                <a:ln>
                  <a:noFill/>
                </a:ln>
                <a:solidFill>
                  <a:srgbClr val="000000"/>
                </a:solidFill>
                <a:effectLst/>
                <a:ea typeface="Times New Roman" panose="02020603050405020304" pitchFamily="18" charset="0"/>
                <a:cs typeface="Courier New" panose="02070309020205020404" pitchFamily="49" charset="0"/>
              </a:rPr>
              <a:t>i</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&lt;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err="1">
                <a:ln>
                  <a:noFill/>
                </a:ln>
                <a:solidFill>
                  <a:srgbClr val="000000"/>
                </a:solidFill>
                <a:effectLst/>
                <a:ea typeface="Times New Roman" panose="02020603050405020304" pitchFamily="18" charset="0"/>
                <a:cs typeface="Courier New" panose="02070309020205020404" pitchFamily="49" charset="0"/>
              </a:rPr>
              <a:t>array</a:t>
            </a:r>
            <a:r>
              <a:rPr kumimoji="0" lang="en-PK" altLang="en-PK" sz="1800" b="0" i="0" u="none" strike="noStrike" cap="none" normalizeH="0" baseline="0" dirty="0" err="1">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err="1">
                <a:ln>
                  <a:noFill/>
                </a:ln>
                <a:solidFill>
                  <a:srgbClr val="000000"/>
                </a:solidFill>
                <a:effectLst/>
                <a:ea typeface="Times New Roman" panose="02020603050405020304" pitchFamily="18" charset="0"/>
                <a:cs typeface="Courier New" panose="02070309020205020404" pitchFamily="49" charset="0"/>
              </a:rPr>
              <a:t>length</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err="1">
                <a:ln>
                  <a:noFill/>
                </a:ln>
                <a:solidFill>
                  <a:srgbClr val="000000"/>
                </a:solidFill>
                <a:effectLst/>
                <a:ea typeface="Times New Roman" panose="02020603050405020304" pitchFamily="18" charset="0"/>
                <a:cs typeface="Courier New" panose="02070309020205020404" pitchFamily="49" charset="0"/>
              </a:rPr>
              <a:t>i</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endParaRPr kumimoji="0" lang="en-US"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PK" altLang="en-PK" sz="1800" b="0" i="0" u="none" strike="noStrike" cap="none" normalizeH="0" baseline="0" dirty="0" err="1">
                <a:ln>
                  <a:noFill/>
                </a:ln>
                <a:solidFill>
                  <a:srgbClr val="660066"/>
                </a:solidFill>
                <a:effectLst/>
                <a:ea typeface="Times New Roman" panose="02020603050405020304" pitchFamily="18" charset="0"/>
                <a:cs typeface="Courier New" panose="02070309020205020404" pitchFamily="49" charset="0"/>
              </a:rPr>
              <a:t>System</a:t>
            </a:r>
            <a:r>
              <a:rPr kumimoji="0" lang="en-PK" altLang="en-PK" sz="1800" b="0" i="0" u="none" strike="noStrike" cap="none" normalizeH="0" baseline="0" dirty="0" err="1">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err="1">
                <a:ln>
                  <a:noFill/>
                </a:ln>
                <a:solidFill>
                  <a:srgbClr val="000088"/>
                </a:solidFill>
                <a:effectLst/>
                <a:ea typeface="Times New Roman" panose="02020603050405020304" pitchFamily="18" charset="0"/>
                <a:cs typeface="Courier New" panose="02070309020205020404" pitchFamily="49" charset="0"/>
              </a:rPr>
              <a:t>out</a:t>
            </a:r>
            <a:r>
              <a:rPr kumimoji="0" lang="en-PK" altLang="en-PK" sz="1800" b="0" i="0" u="none" strike="noStrike" cap="none" normalizeH="0" baseline="0" dirty="0" err="1">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err="1">
                <a:ln>
                  <a:noFill/>
                </a:ln>
                <a:solidFill>
                  <a:srgbClr val="000088"/>
                </a:solidFill>
                <a:effectLst/>
                <a:ea typeface="Times New Roman" panose="02020603050405020304" pitchFamily="18" charset="0"/>
                <a:cs typeface="Courier New" panose="02070309020205020404" pitchFamily="49" charset="0"/>
              </a:rPr>
              <a:t>print</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array</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err="1">
                <a:ln>
                  <a:noFill/>
                </a:ln>
                <a:solidFill>
                  <a:srgbClr val="000000"/>
                </a:solidFill>
                <a:effectLst/>
                <a:ea typeface="Times New Roman" panose="02020603050405020304" pitchFamily="18" charset="0"/>
                <a:cs typeface="Courier New" panose="02070309020205020404" pitchFamily="49" charset="0"/>
              </a:rPr>
              <a:t>i</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0088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endParaRPr kumimoji="0" lang="en-US"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endParaRPr kumimoji="0" lang="en-US"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endParaRPr kumimoji="0" lang="en-PK" altLang="en-PK" sz="3200" b="0" i="0" u="none" strike="noStrike" cap="none" normalizeH="0" baseline="0" dirty="0">
              <a:ln>
                <a:noFill/>
              </a:ln>
              <a:solidFill>
                <a:schemeClr val="tx1"/>
              </a:solidFill>
              <a:effectLst/>
            </a:endParaRPr>
          </a:p>
        </p:txBody>
      </p:sp>
      <p:sp>
        <p:nvSpPr>
          <p:cNvPr id="12" name="TextBox 11">
            <a:extLst>
              <a:ext uri="{FF2B5EF4-FFF2-40B4-BE49-F238E27FC236}">
                <a16:creationId xmlns:a16="http://schemas.microsoft.com/office/drawing/2014/main" id="{7329A08E-760C-4F2D-BA3A-674B3DB3CA17}"/>
              </a:ext>
            </a:extLst>
          </p:cNvPr>
          <p:cNvSpPr txBox="1"/>
          <p:nvPr/>
        </p:nvSpPr>
        <p:spPr>
          <a:xfrm>
            <a:off x="749300" y="4421566"/>
            <a:ext cx="10185400" cy="646331"/>
          </a:xfrm>
          <a:prstGeom prst="rect">
            <a:avLst/>
          </a:prstGeom>
          <a:noFill/>
        </p:spPr>
        <p:txBody>
          <a:bodyPr wrap="square">
            <a:spAutoFit/>
          </a:bodyPr>
          <a:lstStyle/>
          <a:p>
            <a:pPr marL="316230" marR="30480" indent="-285750" algn="just">
              <a:spcBef>
                <a:spcPts val="600"/>
              </a:spcBef>
              <a:spcAft>
                <a:spcPts val="720"/>
              </a:spcAft>
              <a:buFont typeface="Arial" panose="020B0604020202020204" pitchFamily="34" charset="0"/>
              <a:buChar char="•"/>
            </a:pPr>
            <a:r>
              <a:rPr lang="en-PK" sz="1800" dirty="0">
                <a:solidFill>
                  <a:srgbClr val="000000"/>
                </a:solidFill>
                <a:effectLst/>
                <a:ea typeface="Times New Roman" panose="02020603050405020304" pitchFamily="18" charset="0"/>
              </a:rPr>
              <a:t>You can invoke it by passing an array. For example, the following statement invokes the </a:t>
            </a:r>
            <a:r>
              <a:rPr lang="en-PK" sz="1800" dirty="0" err="1">
                <a:solidFill>
                  <a:srgbClr val="000000"/>
                </a:solidFill>
                <a:effectLst/>
                <a:ea typeface="Times New Roman" panose="02020603050405020304" pitchFamily="18" charset="0"/>
              </a:rPr>
              <a:t>printArray</a:t>
            </a:r>
            <a:r>
              <a:rPr lang="en-PK" sz="1800" dirty="0">
                <a:solidFill>
                  <a:srgbClr val="000000"/>
                </a:solidFill>
                <a:effectLst/>
                <a:ea typeface="Times New Roman" panose="02020603050405020304" pitchFamily="18" charset="0"/>
              </a:rPr>
              <a:t> method to display 3, 1, 2, 6, 4, and 2</a:t>
            </a:r>
            <a:r>
              <a:rPr lang="en-US" sz="1800" dirty="0">
                <a:solidFill>
                  <a:srgbClr val="000000"/>
                </a:solidFill>
                <a:effectLst/>
                <a:ea typeface="Times New Roman" panose="02020603050405020304" pitchFamily="18" charset="0"/>
              </a:rPr>
              <a:t>.</a:t>
            </a:r>
            <a:endParaRPr lang="en-PK" sz="1800" dirty="0">
              <a:effectLst/>
              <a:ea typeface="Times New Roman" panose="02020603050405020304" pitchFamily="18" charset="0"/>
            </a:endParaRPr>
          </a:p>
        </p:txBody>
      </p:sp>
      <p:sp>
        <p:nvSpPr>
          <p:cNvPr id="13" name="TextBox 12">
            <a:extLst>
              <a:ext uri="{FF2B5EF4-FFF2-40B4-BE49-F238E27FC236}">
                <a16:creationId xmlns:a16="http://schemas.microsoft.com/office/drawing/2014/main" id="{61865BC0-2EA5-4C89-A931-7E555B3266AE}"/>
              </a:ext>
            </a:extLst>
          </p:cNvPr>
          <p:cNvSpPr txBox="1"/>
          <p:nvPr/>
        </p:nvSpPr>
        <p:spPr>
          <a:xfrm>
            <a:off x="355600" y="1714644"/>
            <a:ext cx="6096000" cy="373757"/>
          </a:xfrm>
          <a:prstGeom prst="rect">
            <a:avLst/>
          </a:prstGeom>
          <a:noFill/>
        </p:spPr>
        <p:txBody>
          <a:bodyPr wrap="square">
            <a:spAutoFit/>
          </a:bodyPr>
          <a:lstStyle/>
          <a:p>
            <a:pPr marL="0" marR="0">
              <a:lnSpc>
                <a:spcPct val="107000"/>
              </a:lnSpc>
              <a:spcBef>
                <a:spcPts val="200"/>
              </a:spcBef>
              <a:spcAft>
                <a:spcPts val="0"/>
              </a:spcAft>
            </a:pPr>
            <a:r>
              <a:rPr lang="en-PK" sz="1800" b="1" dirty="0">
                <a:solidFill>
                  <a:srgbClr val="1F3763"/>
                </a:solidFill>
                <a:effectLst/>
                <a:ea typeface="DengXian Light" panose="02010600030101010101" pitchFamily="2" charset="-122"/>
                <a:cs typeface="Times New Roman" panose="02020603050405020304" pitchFamily="18" charset="0"/>
              </a:rPr>
              <a:t>Example</a:t>
            </a:r>
          </a:p>
        </p:txBody>
      </p:sp>
      <p:sp>
        <p:nvSpPr>
          <p:cNvPr id="16" name="TextBox 15">
            <a:extLst>
              <a:ext uri="{FF2B5EF4-FFF2-40B4-BE49-F238E27FC236}">
                <a16:creationId xmlns:a16="http://schemas.microsoft.com/office/drawing/2014/main" id="{34C186A6-5EC6-4E07-92E0-190035CA2C6D}"/>
              </a:ext>
            </a:extLst>
          </p:cNvPr>
          <p:cNvSpPr txBox="1"/>
          <p:nvPr/>
        </p:nvSpPr>
        <p:spPr>
          <a:xfrm>
            <a:off x="1384300" y="5953557"/>
            <a:ext cx="6096000"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800" b="0" i="0" u="none" strike="noStrike" cap="none" normalizeH="0" baseline="0" dirty="0" err="1">
                <a:ln>
                  <a:noFill/>
                </a:ln>
                <a:solidFill>
                  <a:srgbClr val="000000"/>
                </a:solidFill>
                <a:effectLst/>
                <a:ea typeface="Times New Roman" panose="02020603050405020304" pitchFamily="18" charset="0"/>
                <a:cs typeface="Courier New" panose="02070309020205020404" pitchFamily="49" charset="0"/>
              </a:rPr>
              <a:t>printArray</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88"/>
                </a:solidFill>
                <a:effectLst/>
                <a:ea typeface="Times New Roman" panose="02020603050405020304" pitchFamily="18" charset="0"/>
                <a:cs typeface="Courier New" panose="02070309020205020404" pitchFamily="49" charset="0"/>
              </a:rPr>
              <a:t>new</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000088"/>
                </a:solidFill>
                <a:effectLst/>
                <a:ea typeface="Times New Roman" panose="02020603050405020304" pitchFamily="18" charset="0"/>
                <a:cs typeface="Courier New" panose="02070309020205020404" pitchFamily="49" charset="0"/>
              </a:rPr>
              <a:t>int</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6666"/>
                </a:solidFill>
                <a:effectLst/>
                <a:ea typeface="Times New Roman" panose="02020603050405020304" pitchFamily="18" charset="0"/>
                <a:cs typeface="Courier New" panose="02070309020205020404" pitchFamily="49" charset="0"/>
              </a:rPr>
              <a:t>3</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006666"/>
                </a:solidFill>
                <a:effectLst/>
                <a:ea typeface="Times New Roman" panose="02020603050405020304" pitchFamily="18" charset="0"/>
                <a:cs typeface="Courier New" panose="02070309020205020404" pitchFamily="49" charset="0"/>
              </a:rPr>
              <a:t>1</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006666"/>
                </a:solidFill>
                <a:effectLst/>
                <a:ea typeface="Times New Roman" panose="02020603050405020304" pitchFamily="18" charset="0"/>
                <a:cs typeface="Courier New" panose="02070309020205020404" pitchFamily="49" charset="0"/>
              </a:rPr>
              <a:t>2</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006666"/>
                </a:solidFill>
                <a:effectLst/>
                <a:ea typeface="Times New Roman" panose="02020603050405020304" pitchFamily="18" charset="0"/>
                <a:cs typeface="Courier New" panose="02070309020205020404" pitchFamily="49" charset="0"/>
              </a:rPr>
              <a:t>6</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006666"/>
                </a:solidFill>
                <a:effectLst/>
                <a:ea typeface="Times New Roman" panose="02020603050405020304" pitchFamily="18" charset="0"/>
                <a:cs typeface="Courier New" panose="02070309020205020404" pitchFamily="49" charset="0"/>
              </a:rPr>
              <a:t>4</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006666"/>
                </a:solidFill>
                <a:effectLst/>
                <a:ea typeface="Times New Roman" panose="02020603050405020304" pitchFamily="18" charset="0"/>
                <a:cs typeface="Courier New" panose="02070309020205020404" pitchFamily="49" charset="0"/>
              </a:rPr>
              <a:t>2</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endParaRPr kumimoji="0" lang="en-PK" altLang="en-PK" sz="32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4969112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2AC64C6-65B6-4570-8456-4E349441E152}"/>
              </a:ext>
            </a:extLst>
          </p:cNvPr>
          <p:cNvSpPr txBox="1"/>
          <p:nvPr/>
        </p:nvSpPr>
        <p:spPr>
          <a:xfrm>
            <a:off x="431800" y="258099"/>
            <a:ext cx="6096000" cy="530145"/>
          </a:xfrm>
          <a:prstGeom prst="rect">
            <a:avLst/>
          </a:prstGeom>
          <a:noFill/>
        </p:spPr>
        <p:txBody>
          <a:bodyPr wrap="square">
            <a:spAutoFit/>
          </a:bodyPr>
          <a:lstStyle/>
          <a:p>
            <a:pPr marL="0" marR="0">
              <a:lnSpc>
                <a:spcPct val="107000"/>
              </a:lnSpc>
              <a:spcBef>
                <a:spcPts val="200"/>
              </a:spcBef>
              <a:spcAft>
                <a:spcPts val="0"/>
              </a:spcAft>
            </a:pPr>
            <a:r>
              <a:rPr lang="en-PK" sz="2800" b="1" dirty="0">
                <a:solidFill>
                  <a:schemeClr val="accent1">
                    <a:lumMod val="50000"/>
                  </a:schemeClr>
                </a:solidFill>
                <a:effectLst/>
                <a:ea typeface="DengXian Light" panose="02010600030101010101" pitchFamily="2" charset="-122"/>
                <a:cs typeface="Times New Roman" panose="02020603050405020304" pitchFamily="18" charset="0"/>
              </a:rPr>
              <a:t>Returning an Array from a Method</a:t>
            </a:r>
          </a:p>
        </p:txBody>
      </p:sp>
      <p:sp>
        <p:nvSpPr>
          <p:cNvPr id="9" name="TextBox 8">
            <a:extLst>
              <a:ext uri="{FF2B5EF4-FFF2-40B4-BE49-F238E27FC236}">
                <a16:creationId xmlns:a16="http://schemas.microsoft.com/office/drawing/2014/main" id="{EA304EEC-7992-442C-9E0A-B9CB1C301D3B}"/>
              </a:ext>
            </a:extLst>
          </p:cNvPr>
          <p:cNvSpPr txBox="1"/>
          <p:nvPr/>
        </p:nvSpPr>
        <p:spPr>
          <a:xfrm>
            <a:off x="558800" y="973435"/>
            <a:ext cx="10515600" cy="646331"/>
          </a:xfrm>
          <a:prstGeom prst="rect">
            <a:avLst/>
          </a:prstGeom>
          <a:noFill/>
        </p:spPr>
        <p:txBody>
          <a:bodyPr wrap="square">
            <a:spAutoFit/>
          </a:bodyPr>
          <a:lstStyle/>
          <a:p>
            <a:pPr marL="285750" indent="-285750">
              <a:buFont typeface="Arial" panose="020B0604020202020204" pitchFamily="34" charset="0"/>
              <a:buChar char="•"/>
            </a:pPr>
            <a:r>
              <a:rPr lang="en-PK" sz="1800" dirty="0">
                <a:solidFill>
                  <a:srgbClr val="000000"/>
                </a:solidFill>
                <a:effectLst/>
                <a:ea typeface="Calibri" panose="020F0502020204030204" pitchFamily="34" charset="0"/>
              </a:rPr>
              <a:t>A method may also return an array. For example, the following method returns an array that is the reversal of another array</a:t>
            </a:r>
            <a:r>
              <a:rPr lang="en-US" sz="1800" dirty="0">
                <a:solidFill>
                  <a:srgbClr val="000000"/>
                </a:solidFill>
                <a:effectLst/>
                <a:ea typeface="Calibri" panose="020F0502020204030204" pitchFamily="34" charset="0"/>
              </a:rPr>
              <a:t>.</a:t>
            </a:r>
            <a:endParaRPr lang="en-PK" dirty="0"/>
          </a:p>
        </p:txBody>
      </p:sp>
      <p:sp>
        <p:nvSpPr>
          <p:cNvPr id="11" name="TextBox 10">
            <a:extLst>
              <a:ext uri="{FF2B5EF4-FFF2-40B4-BE49-F238E27FC236}">
                <a16:creationId xmlns:a16="http://schemas.microsoft.com/office/drawing/2014/main" id="{D21CE036-3EFB-4608-B04A-964D2377E51E}"/>
              </a:ext>
            </a:extLst>
          </p:cNvPr>
          <p:cNvSpPr txBox="1"/>
          <p:nvPr/>
        </p:nvSpPr>
        <p:spPr>
          <a:xfrm>
            <a:off x="558800" y="1875839"/>
            <a:ext cx="6096000" cy="373757"/>
          </a:xfrm>
          <a:prstGeom prst="rect">
            <a:avLst/>
          </a:prstGeom>
          <a:noFill/>
        </p:spPr>
        <p:txBody>
          <a:bodyPr wrap="square">
            <a:spAutoFit/>
          </a:bodyPr>
          <a:lstStyle/>
          <a:p>
            <a:pPr marL="0" marR="0">
              <a:lnSpc>
                <a:spcPct val="107000"/>
              </a:lnSpc>
              <a:spcBef>
                <a:spcPts val="200"/>
              </a:spcBef>
              <a:spcAft>
                <a:spcPts val="0"/>
              </a:spcAft>
            </a:pPr>
            <a:r>
              <a:rPr lang="en-PK" sz="1800" b="1" dirty="0">
                <a:solidFill>
                  <a:srgbClr val="1F3763"/>
                </a:solidFill>
                <a:effectLst/>
                <a:ea typeface="DengXian Light" panose="02010600030101010101" pitchFamily="2" charset="-122"/>
                <a:cs typeface="Times New Roman" panose="02020603050405020304" pitchFamily="18" charset="0"/>
              </a:rPr>
              <a:t>Example</a:t>
            </a:r>
          </a:p>
        </p:txBody>
      </p:sp>
      <p:sp>
        <p:nvSpPr>
          <p:cNvPr id="14" name="TextBox 13">
            <a:extLst>
              <a:ext uri="{FF2B5EF4-FFF2-40B4-BE49-F238E27FC236}">
                <a16:creationId xmlns:a16="http://schemas.microsoft.com/office/drawing/2014/main" id="{505F44D3-6CC5-4C89-8E39-2DA46B303CB6}"/>
              </a:ext>
            </a:extLst>
          </p:cNvPr>
          <p:cNvSpPr txBox="1"/>
          <p:nvPr/>
        </p:nvSpPr>
        <p:spPr>
          <a:xfrm>
            <a:off x="558800" y="2505670"/>
            <a:ext cx="9982200" cy="2957861"/>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PK" altLang="en-PK" sz="1800" b="0" i="0" u="none" strike="noStrike" cap="none" normalizeH="0" baseline="0" dirty="0">
                <a:ln>
                  <a:noFill/>
                </a:ln>
                <a:solidFill>
                  <a:srgbClr val="000088"/>
                </a:solidFill>
                <a:effectLst/>
                <a:ea typeface="Times New Roman" panose="02020603050405020304" pitchFamily="18" charset="0"/>
                <a:cs typeface="Courier New" panose="02070309020205020404" pitchFamily="49" charset="0"/>
              </a:rPr>
              <a:t>public</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000088"/>
                </a:solidFill>
                <a:effectLst/>
                <a:ea typeface="Times New Roman" panose="02020603050405020304" pitchFamily="18" charset="0"/>
                <a:cs typeface="Courier New" panose="02070309020205020404" pitchFamily="49" charset="0"/>
              </a:rPr>
              <a:t>static</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000088"/>
                </a:solidFill>
                <a:effectLst/>
                <a:ea typeface="Times New Roman" panose="02020603050405020304" pitchFamily="18" charset="0"/>
                <a:cs typeface="Courier New" panose="02070309020205020404" pitchFamily="49" charset="0"/>
              </a:rPr>
              <a:t>int</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reverse</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88"/>
                </a:solidFill>
                <a:effectLst/>
                <a:ea typeface="Times New Roman" panose="02020603050405020304" pitchFamily="18" charset="0"/>
                <a:cs typeface="Courier New" panose="02070309020205020404" pitchFamily="49" charset="0"/>
              </a:rPr>
              <a:t>int</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list</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endParaRPr kumimoji="0" lang="en-US"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endParaRPr kumimoji="0" lang="en-US"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000088"/>
                </a:solidFill>
                <a:effectLst/>
                <a:ea typeface="Times New Roman" panose="02020603050405020304" pitchFamily="18" charset="0"/>
                <a:cs typeface="Courier New" panose="02070309020205020404" pitchFamily="49" charset="0"/>
              </a:rPr>
              <a:t>int</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result </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000088"/>
                </a:solidFill>
                <a:effectLst/>
                <a:ea typeface="Times New Roman" panose="02020603050405020304" pitchFamily="18" charset="0"/>
                <a:cs typeface="Courier New" panose="02070309020205020404" pitchFamily="49" charset="0"/>
              </a:rPr>
              <a:t>new</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000088"/>
                </a:solidFill>
                <a:effectLst/>
                <a:ea typeface="Times New Roman" panose="02020603050405020304" pitchFamily="18" charset="0"/>
                <a:cs typeface="Courier New" panose="02070309020205020404" pitchFamily="49" charset="0"/>
              </a:rPr>
              <a:t>int</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err="1">
                <a:ln>
                  <a:noFill/>
                </a:ln>
                <a:solidFill>
                  <a:srgbClr val="000000"/>
                </a:solidFill>
                <a:effectLst/>
                <a:ea typeface="Times New Roman" panose="02020603050405020304" pitchFamily="18" charset="0"/>
                <a:cs typeface="Courier New" panose="02070309020205020404" pitchFamily="49" charset="0"/>
              </a:rPr>
              <a:t>list</a:t>
            </a:r>
            <a:r>
              <a:rPr kumimoji="0" lang="en-PK" altLang="en-PK" sz="1800" b="0" i="0" u="none" strike="noStrike" cap="none" normalizeH="0" baseline="0" dirty="0" err="1">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err="1">
                <a:ln>
                  <a:noFill/>
                </a:ln>
                <a:solidFill>
                  <a:srgbClr val="000000"/>
                </a:solidFill>
                <a:effectLst/>
                <a:ea typeface="Times New Roman" panose="02020603050405020304" pitchFamily="18" charset="0"/>
                <a:cs typeface="Courier New" panose="02070309020205020404" pitchFamily="49" charset="0"/>
              </a:rPr>
              <a:t>length</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endParaRPr kumimoji="0" lang="en-US"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000088"/>
                </a:solidFill>
                <a:effectLst/>
                <a:ea typeface="Times New Roman" panose="02020603050405020304" pitchFamily="18" charset="0"/>
                <a:cs typeface="Courier New" panose="02070309020205020404" pitchFamily="49" charset="0"/>
              </a:rPr>
              <a:t>for</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88"/>
                </a:solidFill>
                <a:effectLst/>
                <a:ea typeface="Times New Roman" panose="02020603050405020304" pitchFamily="18" charset="0"/>
                <a:cs typeface="Courier New" panose="02070309020205020404" pitchFamily="49" charset="0"/>
              </a:rPr>
              <a:t>int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err="1">
                <a:ln>
                  <a:noFill/>
                </a:ln>
                <a:solidFill>
                  <a:srgbClr val="000000"/>
                </a:solidFill>
                <a:effectLst/>
                <a:ea typeface="Times New Roman" panose="02020603050405020304" pitchFamily="18" charset="0"/>
                <a:cs typeface="Courier New" panose="02070309020205020404" pitchFamily="49" charset="0"/>
              </a:rPr>
              <a:t>i</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006666"/>
                </a:solidFill>
                <a:effectLst/>
                <a:ea typeface="Times New Roman" panose="02020603050405020304" pitchFamily="18" charset="0"/>
                <a:cs typeface="Courier New" panose="02070309020205020404" pitchFamily="49" charset="0"/>
              </a:rPr>
              <a:t>0</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j </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err="1">
                <a:ln>
                  <a:noFill/>
                </a:ln>
                <a:solidFill>
                  <a:srgbClr val="000000"/>
                </a:solidFill>
                <a:effectLst/>
                <a:ea typeface="Times New Roman" panose="02020603050405020304" pitchFamily="18" charset="0"/>
                <a:cs typeface="Courier New" panose="02070309020205020404" pitchFamily="49" charset="0"/>
              </a:rPr>
              <a:t>result</a:t>
            </a:r>
            <a:r>
              <a:rPr kumimoji="0" lang="en-PK" altLang="en-PK" sz="1800" b="0" i="0" u="none" strike="noStrike" cap="none" normalizeH="0" baseline="0" dirty="0" err="1">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err="1">
                <a:ln>
                  <a:noFill/>
                </a:ln>
                <a:solidFill>
                  <a:srgbClr val="000000"/>
                </a:solidFill>
                <a:effectLst/>
                <a:ea typeface="Times New Roman" panose="02020603050405020304" pitchFamily="18" charset="0"/>
                <a:cs typeface="Courier New" panose="02070309020205020404" pitchFamily="49" charset="0"/>
              </a:rPr>
              <a:t>length</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006666"/>
                </a:solidFill>
                <a:effectLst/>
                <a:ea typeface="Times New Roman" panose="02020603050405020304" pitchFamily="18" charset="0"/>
                <a:cs typeface="Courier New" panose="02070309020205020404" pitchFamily="49" charset="0"/>
              </a:rPr>
              <a:t>1</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r>
              <a:rPr lang="en-US" altLang="en-PK" dirty="0">
                <a:solidFill>
                  <a:srgbClr val="666600"/>
                </a:solidFill>
                <a:ea typeface="Times New Roman" panose="02020603050405020304" pitchFamily="18" charset="0"/>
                <a:cs typeface="Courier New" panose="02070309020205020404" pitchFamily="49" charset="0"/>
              </a:rPr>
              <a:t> </a:t>
            </a:r>
            <a:r>
              <a:rPr kumimoji="0" lang="en-PK" altLang="en-PK" sz="1800" b="0" i="0" u="none" strike="noStrike" cap="none" normalizeH="0" baseline="0" dirty="0" err="1">
                <a:ln>
                  <a:noFill/>
                </a:ln>
                <a:solidFill>
                  <a:srgbClr val="000000"/>
                </a:solidFill>
                <a:effectLst/>
                <a:ea typeface="Times New Roman" panose="02020603050405020304" pitchFamily="18" charset="0"/>
                <a:cs typeface="Courier New" panose="02070309020205020404" pitchFamily="49" charset="0"/>
              </a:rPr>
              <a:t>i</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&lt;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err="1">
                <a:ln>
                  <a:noFill/>
                </a:ln>
                <a:solidFill>
                  <a:srgbClr val="000000"/>
                </a:solidFill>
                <a:effectLst/>
                <a:ea typeface="Times New Roman" panose="02020603050405020304" pitchFamily="18" charset="0"/>
                <a:cs typeface="Courier New" panose="02070309020205020404" pitchFamily="49" charset="0"/>
              </a:rPr>
              <a:t>list</a:t>
            </a:r>
            <a:r>
              <a:rPr kumimoji="0" lang="en-PK" altLang="en-PK" sz="1800" b="0" i="0" u="none" strike="noStrike" cap="none" normalizeH="0" baseline="0" dirty="0" err="1">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err="1">
                <a:ln>
                  <a:noFill/>
                </a:ln>
                <a:solidFill>
                  <a:srgbClr val="000000"/>
                </a:solidFill>
                <a:effectLst/>
                <a:ea typeface="Times New Roman" panose="02020603050405020304" pitchFamily="18" charset="0"/>
                <a:cs typeface="Courier New" panose="02070309020205020404" pitchFamily="49" charset="0"/>
              </a:rPr>
              <a:t>length</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err="1">
                <a:ln>
                  <a:noFill/>
                </a:ln>
                <a:solidFill>
                  <a:srgbClr val="000000"/>
                </a:solidFill>
                <a:effectLst/>
                <a:ea typeface="Times New Roman" panose="02020603050405020304" pitchFamily="18" charset="0"/>
                <a:cs typeface="Courier New" panose="02070309020205020404" pitchFamily="49" charset="0"/>
              </a:rPr>
              <a:t>i</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j</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endParaRPr kumimoji="0" lang="en-US"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result</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j</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list</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r>
              <a:rPr kumimoji="0" lang="en-PK" altLang="en-PK" sz="1800" b="0" i="0" u="none" strike="noStrike" cap="none" normalizeH="0" baseline="0" dirty="0" err="1">
                <a:ln>
                  <a:noFill/>
                </a:ln>
                <a:solidFill>
                  <a:srgbClr val="000000"/>
                </a:solidFill>
                <a:effectLst/>
                <a:ea typeface="Times New Roman" panose="02020603050405020304" pitchFamily="18" charset="0"/>
                <a:cs typeface="Courier New" panose="02070309020205020404" pitchFamily="49" charset="0"/>
              </a:rPr>
              <a:t>i</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endParaRPr kumimoji="0" lang="en-US"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endParaRPr kumimoji="0" lang="en-US"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a:ln>
                  <a:noFill/>
                </a:ln>
                <a:solidFill>
                  <a:srgbClr val="000088"/>
                </a:solidFill>
                <a:effectLst/>
                <a:ea typeface="Times New Roman" panose="02020603050405020304" pitchFamily="18" charset="0"/>
                <a:cs typeface="Courier New" panose="02070309020205020404" pitchFamily="49" charset="0"/>
              </a:rPr>
              <a:t>return</a:t>
            </a:r>
            <a:r>
              <a:rPr kumimoji="0" lang="en-PK" altLang="en-PK" sz="18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 result</a:t>
            </a:r>
            <a:r>
              <a:rPr kumimoji="0" lang="en-PK" altLang="en-PK" sz="1800" b="0" i="0" u="none" strike="noStrike" cap="none" normalizeH="0" baseline="0" dirty="0">
                <a:ln>
                  <a:noFill/>
                </a:ln>
                <a:solidFill>
                  <a:srgbClr val="666600"/>
                </a:solidFill>
                <a:effectLst/>
                <a:ea typeface="Times New Roman" panose="02020603050405020304" pitchFamily="18" charset="0"/>
                <a:cs typeface="Courier New" panose="02070309020205020404" pitchFamily="49" charset="0"/>
              </a:rPr>
              <a:t>;}</a:t>
            </a:r>
            <a:endParaRPr kumimoji="0" lang="en-PK" altLang="en-PK" sz="32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4401847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40585-C8B1-4B52-BBDC-0D214194C2DB}"/>
              </a:ext>
            </a:extLst>
          </p:cNvPr>
          <p:cNvSpPr>
            <a:spLocks noGrp="1"/>
          </p:cNvSpPr>
          <p:nvPr>
            <p:ph type="title"/>
          </p:nvPr>
        </p:nvSpPr>
        <p:spPr>
          <a:xfrm>
            <a:off x="266700" y="299243"/>
            <a:ext cx="10515600" cy="763588"/>
          </a:xfrm>
        </p:spPr>
        <p:txBody>
          <a:bodyPr>
            <a:normAutofit/>
          </a:bodyPr>
          <a:lstStyle/>
          <a:p>
            <a:r>
              <a:rPr lang="en-PK" sz="2800" b="1" dirty="0">
                <a:solidFill>
                  <a:schemeClr val="accent1">
                    <a:lumMod val="50000"/>
                  </a:schemeClr>
                </a:solidFill>
                <a:effectLst/>
                <a:latin typeface="+mn-lt"/>
                <a:ea typeface="DengXian Light" panose="02010600030101010101" pitchFamily="2" charset="-122"/>
              </a:rPr>
              <a:t>What happens if we try to access element outside the array size?</a:t>
            </a:r>
            <a:endParaRPr lang="en-PK" sz="6000" dirty="0">
              <a:solidFill>
                <a:schemeClr val="accent1">
                  <a:lumMod val="50000"/>
                </a:schemeClr>
              </a:solidFill>
              <a:latin typeface="+mn-lt"/>
            </a:endParaRPr>
          </a:p>
        </p:txBody>
      </p:sp>
      <p:sp>
        <p:nvSpPr>
          <p:cNvPr id="3" name="Content Placeholder 2">
            <a:extLst>
              <a:ext uri="{FF2B5EF4-FFF2-40B4-BE49-F238E27FC236}">
                <a16:creationId xmlns:a16="http://schemas.microsoft.com/office/drawing/2014/main" id="{9B24BA8B-7FB5-4176-820E-BE02B091D615}"/>
              </a:ext>
            </a:extLst>
          </p:cNvPr>
          <p:cNvSpPr>
            <a:spLocks noGrp="1"/>
          </p:cNvSpPr>
          <p:nvPr>
            <p:ph idx="1"/>
          </p:nvPr>
        </p:nvSpPr>
        <p:spPr>
          <a:xfrm>
            <a:off x="393700" y="1062830"/>
            <a:ext cx="10515600" cy="2150269"/>
          </a:xfrm>
        </p:spPr>
        <p:txBody>
          <a:bodyPr>
            <a:normAutofit/>
          </a:bodyPr>
          <a:lstStyle/>
          <a:p>
            <a:pPr>
              <a:lnSpc>
                <a:spcPct val="200000"/>
              </a:lnSpc>
            </a:pPr>
            <a:r>
              <a:rPr lang="en-PK" sz="1800" dirty="0">
                <a:solidFill>
                  <a:srgbClr val="40424E"/>
                </a:solidFill>
                <a:effectLst/>
                <a:ea typeface="Times New Roman" panose="02020603050405020304" pitchFamily="18" charset="0"/>
              </a:rPr>
              <a:t>JVM throws </a:t>
            </a:r>
            <a:r>
              <a:rPr lang="en-PK" sz="1800" b="1" dirty="0" err="1">
                <a:solidFill>
                  <a:srgbClr val="40424E"/>
                </a:solidFill>
                <a:effectLst/>
                <a:ea typeface="DengXian Light" panose="02010600030101010101" pitchFamily="2" charset="-122"/>
              </a:rPr>
              <a:t>ArrayIndexOutOfBoundsException</a:t>
            </a:r>
            <a:r>
              <a:rPr lang="en-PK" sz="1800" dirty="0">
                <a:solidFill>
                  <a:srgbClr val="40424E"/>
                </a:solidFill>
                <a:effectLst/>
                <a:ea typeface="Times New Roman" panose="02020603050405020304" pitchFamily="18" charset="0"/>
              </a:rPr>
              <a:t> to indicate that array has been accessed with an illegal index. The index is either negative or greater than or equal to size of array.</a:t>
            </a:r>
            <a:endParaRPr lang="en-PK" sz="1800" dirty="0">
              <a:effectLst/>
              <a:ea typeface="Times New Roman" panose="02020603050405020304" pitchFamily="18" charset="0"/>
            </a:endParaRPr>
          </a:p>
          <a:p>
            <a:pPr>
              <a:lnSpc>
                <a:spcPct val="200000"/>
              </a:lnSpc>
            </a:pPr>
            <a:endParaRPr lang="en-PK" dirty="0"/>
          </a:p>
        </p:txBody>
      </p:sp>
      <p:sp>
        <p:nvSpPr>
          <p:cNvPr id="4" name="TextBox 3">
            <a:extLst>
              <a:ext uri="{FF2B5EF4-FFF2-40B4-BE49-F238E27FC236}">
                <a16:creationId xmlns:a16="http://schemas.microsoft.com/office/drawing/2014/main" id="{30E99EA3-7072-42DC-986D-959D25A2B37A}"/>
              </a:ext>
            </a:extLst>
          </p:cNvPr>
          <p:cNvSpPr txBox="1"/>
          <p:nvPr/>
        </p:nvSpPr>
        <p:spPr>
          <a:xfrm>
            <a:off x="707254" y="2659102"/>
            <a:ext cx="1059521" cy="369332"/>
          </a:xfrm>
          <a:prstGeom prst="rect">
            <a:avLst/>
          </a:prstGeom>
          <a:noFill/>
        </p:spPr>
        <p:txBody>
          <a:bodyPr wrap="none" rtlCol="0">
            <a:spAutoFit/>
          </a:bodyPr>
          <a:lstStyle/>
          <a:p>
            <a:r>
              <a:rPr lang="en-US" b="1" dirty="0"/>
              <a:t>Example:</a:t>
            </a:r>
            <a:endParaRPr lang="en-PK" b="1" dirty="0"/>
          </a:p>
        </p:txBody>
      </p:sp>
      <p:sp>
        <p:nvSpPr>
          <p:cNvPr id="8" name="TextBox 7">
            <a:extLst>
              <a:ext uri="{FF2B5EF4-FFF2-40B4-BE49-F238E27FC236}">
                <a16:creationId xmlns:a16="http://schemas.microsoft.com/office/drawing/2014/main" id="{17438FF8-23CC-4C4D-A026-4DCF5B240DAF}"/>
              </a:ext>
            </a:extLst>
          </p:cNvPr>
          <p:cNvSpPr txBox="1"/>
          <p:nvPr/>
        </p:nvSpPr>
        <p:spPr>
          <a:xfrm>
            <a:off x="946150" y="3213098"/>
            <a:ext cx="8616950" cy="2944781"/>
          </a:xfrm>
          <a:prstGeom prst="rect">
            <a:avLst/>
          </a:prstGeom>
          <a:noFill/>
        </p:spPr>
        <p:txBody>
          <a:bodyPr wrap="square">
            <a:spAutoFit/>
          </a:bodyPr>
          <a:lstStyle/>
          <a:p>
            <a:pPr algn="l">
              <a:lnSpc>
                <a:spcPct val="150000"/>
              </a:lnSpc>
            </a:pPr>
            <a:r>
              <a:rPr lang="en-US" b="1" i="0" dirty="0">
                <a:solidFill>
                  <a:srgbClr val="006699"/>
                </a:solidFill>
                <a:effectLst/>
              </a:rPr>
              <a:t>public</a:t>
            </a:r>
            <a:r>
              <a:rPr lang="en-US" b="0" i="0" dirty="0">
                <a:solidFill>
                  <a:srgbClr val="000000"/>
                </a:solidFill>
                <a:effectLst/>
              </a:rPr>
              <a:t> </a:t>
            </a:r>
            <a:r>
              <a:rPr lang="en-US" b="1" i="0" dirty="0">
                <a:solidFill>
                  <a:srgbClr val="006699"/>
                </a:solidFill>
                <a:effectLst/>
              </a:rPr>
              <a:t>class</a:t>
            </a:r>
            <a:r>
              <a:rPr lang="en-US" b="0" i="0" dirty="0">
                <a:solidFill>
                  <a:srgbClr val="000000"/>
                </a:solidFill>
                <a:effectLst/>
              </a:rPr>
              <a:t> </a:t>
            </a:r>
            <a:r>
              <a:rPr lang="en-US" b="0" i="0" dirty="0" err="1">
                <a:solidFill>
                  <a:srgbClr val="000000"/>
                </a:solidFill>
                <a:effectLst/>
              </a:rPr>
              <a:t>TestArrayException</a:t>
            </a:r>
            <a:r>
              <a:rPr lang="en-US" b="0" i="0" dirty="0">
                <a:solidFill>
                  <a:srgbClr val="000000"/>
                </a:solidFill>
                <a:effectLst/>
              </a:rPr>
              <a:t>{  </a:t>
            </a:r>
          </a:p>
          <a:p>
            <a:pPr algn="l">
              <a:lnSpc>
                <a:spcPct val="150000"/>
              </a:lnSpc>
            </a:pPr>
            <a:r>
              <a:rPr lang="en-US" b="1" i="0" dirty="0">
                <a:solidFill>
                  <a:srgbClr val="006699"/>
                </a:solidFill>
                <a:effectLst/>
              </a:rPr>
              <a:t>public</a:t>
            </a:r>
            <a:r>
              <a:rPr lang="en-US" b="0" i="0" dirty="0">
                <a:solidFill>
                  <a:srgbClr val="000000"/>
                </a:solidFill>
                <a:effectLst/>
              </a:rPr>
              <a:t> </a:t>
            </a:r>
            <a:r>
              <a:rPr lang="en-US" b="1" i="0" dirty="0">
                <a:solidFill>
                  <a:srgbClr val="006699"/>
                </a:solidFill>
                <a:effectLst/>
              </a:rPr>
              <a:t>static</a:t>
            </a:r>
            <a:r>
              <a:rPr lang="en-US" b="0" i="0" dirty="0">
                <a:solidFill>
                  <a:srgbClr val="000000"/>
                </a:solidFill>
                <a:effectLst/>
              </a:rPr>
              <a:t> </a:t>
            </a:r>
            <a:r>
              <a:rPr lang="en-US" b="1" i="0" dirty="0">
                <a:solidFill>
                  <a:srgbClr val="006699"/>
                </a:solidFill>
                <a:effectLst/>
              </a:rPr>
              <a:t>void</a:t>
            </a:r>
            <a:r>
              <a:rPr lang="en-US" b="0" i="0" dirty="0">
                <a:solidFill>
                  <a:srgbClr val="000000"/>
                </a:solidFill>
                <a:effectLst/>
              </a:rPr>
              <a:t> main(String </a:t>
            </a:r>
            <a:r>
              <a:rPr lang="en-US" b="0" i="0" dirty="0" err="1">
                <a:solidFill>
                  <a:srgbClr val="000000"/>
                </a:solidFill>
                <a:effectLst/>
              </a:rPr>
              <a:t>args</a:t>
            </a:r>
            <a:r>
              <a:rPr lang="en-US" b="0" i="0" dirty="0">
                <a:solidFill>
                  <a:srgbClr val="000000"/>
                </a:solidFill>
                <a:effectLst/>
              </a:rPr>
              <a:t>[]){  </a:t>
            </a:r>
          </a:p>
          <a:p>
            <a:pPr algn="l">
              <a:lnSpc>
                <a:spcPct val="150000"/>
              </a:lnSpc>
            </a:pPr>
            <a:r>
              <a:rPr lang="en-US" b="1" i="0" dirty="0">
                <a:solidFill>
                  <a:srgbClr val="006699"/>
                </a:solidFill>
                <a:effectLst/>
              </a:rPr>
              <a:t>int</a:t>
            </a:r>
            <a:r>
              <a:rPr lang="en-US" b="0" i="0" dirty="0">
                <a:solidFill>
                  <a:srgbClr val="000000"/>
                </a:solidFill>
                <a:effectLst/>
              </a:rPr>
              <a:t> </a:t>
            </a:r>
            <a:r>
              <a:rPr lang="en-US" b="0" i="0" dirty="0" err="1">
                <a:solidFill>
                  <a:srgbClr val="000000"/>
                </a:solidFill>
                <a:effectLst/>
              </a:rPr>
              <a:t>arr</a:t>
            </a:r>
            <a:r>
              <a:rPr lang="en-US" b="0" i="0" dirty="0">
                <a:solidFill>
                  <a:srgbClr val="000000"/>
                </a:solidFill>
                <a:effectLst/>
              </a:rPr>
              <a:t>[]={</a:t>
            </a:r>
            <a:r>
              <a:rPr lang="en-US" b="0" i="0" dirty="0">
                <a:solidFill>
                  <a:srgbClr val="C00000"/>
                </a:solidFill>
                <a:effectLst/>
              </a:rPr>
              <a:t>50</a:t>
            </a:r>
            <a:r>
              <a:rPr lang="en-US" b="0" i="0" dirty="0">
                <a:solidFill>
                  <a:srgbClr val="000000"/>
                </a:solidFill>
                <a:effectLst/>
              </a:rPr>
              <a:t>,</a:t>
            </a:r>
            <a:r>
              <a:rPr lang="en-US" b="0" i="0" dirty="0">
                <a:solidFill>
                  <a:srgbClr val="C00000"/>
                </a:solidFill>
                <a:effectLst/>
              </a:rPr>
              <a:t>60</a:t>
            </a:r>
            <a:r>
              <a:rPr lang="en-US" b="0" i="0" dirty="0">
                <a:solidFill>
                  <a:srgbClr val="000000"/>
                </a:solidFill>
                <a:effectLst/>
              </a:rPr>
              <a:t>,</a:t>
            </a:r>
            <a:r>
              <a:rPr lang="en-US" b="0" i="0" dirty="0">
                <a:solidFill>
                  <a:srgbClr val="C00000"/>
                </a:solidFill>
                <a:effectLst/>
              </a:rPr>
              <a:t>70</a:t>
            </a:r>
            <a:r>
              <a:rPr lang="en-US" b="0" i="0" dirty="0">
                <a:solidFill>
                  <a:srgbClr val="000000"/>
                </a:solidFill>
                <a:effectLst/>
              </a:rPr>
              <a:t>,</a:t>
            </a:r>
            <a:r>
              <a:rPr lang="en-US" b="0" i="0" dirty="0">
                <a:solidFill>
                  <a:srgbClr val="C00000"/>
                </a:solidFill>
                <a:effectLst/>
              </a:rPr>
              <a:t>80</a:t>
            </a:r>
            <a:r>
              <a:rPr lang="en-US" b="0" i="0" dirty="0">
                <a:solidFill>
                  <a:srgbClr val="000000"/>
                </a:solidFill>
                <a:effectLst/>
              </a:rPr>
              <a:t>};  </a:t>
            </a:r>
          </a:p>
          <a:p>
            <a:pPr algn="l">
              <a:lnSpc>
                <a:spcPct val="150000"/>
              </a:lnSpc>
            </a:pPr>
            <a:r>
              <a:rPr lang="en-US" b="1" i="0" dirty="0">
                <a:solidFill>
                  <a:srgbClr val="006699"/>
                </a:solidFill>
                <a:effectLst/>
              </a:rPr>
              <a:t>for</a:t>
            </a:r>
            <a:r>
              <a:rPr lang="en-US" b="0" i="0" dirty="0">
                <a:solidFill>
                  <a:srgbClr val="000000"/>
                </a:solidFill>
                <a:effectLst/>
              </a:rPr>
              <a:t>(</a:t>
            </a:r>
            <a:r>
              <a:rPr lang="en-US" b="1" i="0" dirty="0" err="1">
                <a:solidFill>
                  <a:srgbClr val="006699"/>
                </a:solidFill>
                <a:effectLst/>
              </a:rPr>
              <a:t>inAt</a:t>
            </a:r>
            <a:r>
              <a:rPr lang="en-US" b="0" i="0" dirty="0">
                <a:solidFill>
                  <a:srgbClr val="000000"/>
                </a:solidFill>
                <a:effectLst/>
              </a:rPr>
              <a:t> </a:t>
            </a:r>
            <a:r>
              <a:rPr lang="en-US" b="0" i="0" dirty="0" err="1">
                <a:solidFill>
                  <a:srgbClr val="000000"/>
                </a:solidFill>
                <a:effectLst/>
              </a:rPr>
              <a:t>i</a:t>
            </a:r>
            <a:r>
              <a:rPr lang="en-US" b="0" i="0" dirty="0">
                <a:solidFill>
                  <a:srgbClr val="000000"/>
                </a:solidFill>
                <a:effectLst/>
              </a:rPr>
              <a:t>=</a:t>
            </a:r>
            <a:r>
              <a:rPr lang="en-US" b="0" i="0" dirty="0">
                <a:solidFill>
                  <a:srgbClr val="C00000"/>
                </a:solidFill>
                <a:effectLst/>
              </a:rPr>
              <a:t>0</a:t>
            </a:r>
            <a:r>
              <a:rPr lang="en-US" b="0" i="0" dirty="0">
                <a:solidFill>
                  <a:srgbClr val="000000"/>
                </a:solidFill>
                <a:effectLst/>
              </a:rPr>
              <a:t>;i&lt;=</a:t>
            </a:r>
            <a:r>
              <a:rPr lang="en-US" b="0" i="0" dirty="0" err="1">
                <a:solidFill>
                  <a:srgbClr val="000000"/>
                </a:solidFill>
                <a:effectLst/>
              </a:rPr>
              <a:t>arr.length;i</a:t>
            </a:r>
            <a:r>
              <a:rPr lang="en-US" b="0" i="0" dirty="0">
                <a:solidFill>
                  <a:srgbClr val="000000"/>
                </a:solidFill>
                <a:effectLst/>
              </a:rPr>
              <a:t>++){  </a:t>
            </a:r>
          </a:p>
          <a:p>
            <a:pPr algn="l">
              <a:lnSpc>
                <a:spcPct val="150000"/>
              </a:lnSpc>
            </a:pPr>
            <a:r>
              <a:rPr lang="en-US" b="0" i="0" dirty="0" err="1">
                <a:solidFill>
                  <a:srgbClr val="000000"/>
                </a:solidFill>
                <a:effectLst/>
              </a:rPr>
              <a:t>System.out.println</a:t>
            </a:r>
            <a:r>
              <a:rPr lang="en-US" b="0" i="0" dirty="0">
                <a:solidFill>
                  <a:srgbClr val="000000"/>
                </a:solidFill>
                <a:effectLst/>
              </a:rPr>
              <a:t>(</a:t>
            </a:r>
            <a:r>
              <a:rPr lang="en-US" b="0" i="0" dirty="0" err="1">
                <a:solidFill>
                  <a:srgbClr val="000000"/>
                </a:solidFill>
                <a:effectLst/>
              </a:rPr>
              <a:t>arr</a:t>
            </a:r>
            <a:r>
              <a:rPr lang="en-US" b="0" i="0" dirty="0">
                <a:solidFill>
                  <a:srgbClr val="000000"/>
                </a:solidFill>
                <a:effectLst/>
              </a:rPr>
              <a:t>[</a:t>
            </a:r>
            <a:r>
              <a:rPr lang="en-US" b="0" i="0" dirty="0" err="1">
                <a:solidFill>
                  <a:srgbClr val="000000"/>
                </a:solidFill>
                <a:effectLst/>
              </a:rPr>
              <a:t>i</a:t>
            </a:r>
            <a:r>
              <a:rPr lang="en-US" b="0" i="0" dirty="0">
                <a:solidFill>
                  <a:srgbClr val="000000"/>
                </a:solidFill>
                <a:effectLst/>
              </a:rPr>
              <a:t>]);  </a:t>
            </a:r>
          </a:p>
          <a:p>
            <a:pPr algn="l">
              <a:lnSpc>
                <a:spcPct val="150000"/>
              </a:lnSpc>
            </a:pPr>
            <a:r>
              <a:rPr lang="en-US" b="0" i="0" dirty="0">
                <a:solidFill>
                  <a:srgbClr val="000000"/>
                </a:solidFill>
                <a:effectLst/>
              </a:rPr>
              <a:t>}  </a:t>
            </a:r>
          </a:p>
          <a:p>
            <a:pPr algn="l">
              <a:lnSpc>
                <a:spcPct val="150000"/>
              </a:lnSpc>
            </a:pPr>
            <a:r>
              <a:rPr lang="en-US" b="0" i="0" dirty="0">
                <a:solidFill>
                  <a:srgbClr val="000000"/>
                </a:solidFill>
                <a:effectLst/>
              </a:rPr>
              <a:t>}}</a:t>
            </a:r>
          </a:p>
        </p:txBody>
      </p:sp>
    </p:spTree>
    <p:extLst>
      <p:ext uri="{BB962C8B-B14F-4D97-AF65-F5344CB8AC3E}">
        <p14:creationId xmlns:p14="http://schemas.microsoft.com/office/powerpoint/2010/main" val="5309783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1C610-7E1E-4C53-8296-459938366712}"/>
              </a:ext>
            </a:extLst>
          </p:cNvPr>
          <p:cNvSpPr>
            <a:spLocks noGrp="1"/>
          </p:cNvSpPr>
          <p:nvPr>
            <p:ph type="title"/>
          </p:nvPr>
        </p:nvSpPr>
        <p:spPr>
          <a:xfrm>
            <a:off x="235098" y="90968"/>
            <a:ext cx="10515600" cy="687388"/>
          </a:xfrm>
        </p:spPr>
        <p:txBody>
          <a:bodyPr>
            <a:normAutofit/>
          </a:bodyPr>
          <a:lstStyle/>
          <a:p>
            <a:r>
              <a:rPr lang="en-US" sz="2800" b="1" dirty="0">
                <a:solidFill>
                  <a:schemeClr val="accent1">
                    <a:lumMod val="50000"/>
                  </a:schemeClr>
                </a:solidFill>
                <a:latin typeface="+mn-lt"/>
              </a:rPr>
              <a:t>Arrays of Objects:</a:t>
            </a:r>
            <a:endParaRPr lang="en-PK" sz="2800" b="1" dirty="0">
              <a:solidFill>
                <a:schemeClr val="accent1">
                  <a:lumMod val="50000"/>
                </a:schemeClr>
              </a:solidFill>
              <a:latin typeface="+mn-lt"/>
            </a:endParaRPr>
          </a:p>
        </p:txBody>
      </p:sp>
      <p:sp>
        <p:nvSpPr>
          <p:cNvPr id="4" name="TextBox 3">
            <a:extLst>
              <a:ext uri="{FF2B5EF4-FFF2-40B4-BE49-F238E27FC236}">
                <a16:creationId xmlns:a16="http://schemas.microsoft.com/office/drawing/2014/main" id="{B951E07A-D84F-4773-9E82-8F61CD85A2A4}"/>
              </a:ext>
            </a:extLst>
          </p:cNvPr>
          <p:cNvSpPr txBox="1"/>
          <p:nvPr/>
        </p:nvSpPr>
        <p:spPr>
          <a:xfrm>
            <a:off x="571500" y="868659"/>
            <a:ext cx="6097772" cy="369332"/>
          </a:xfrm>
          <a:prstGeom prst="rect">
            <a:avLst/>
          </a:prstGeom>
          <a:noFill/>
        </p:spPr>
        <p:txBody>
          <a:bodyPr wrap="square">
            <a:spAutoFit/>
          </a:bodyPr>
          <a:lstStyle/>
          <a:p>
            <a:pPr marL="285750" indent="-285750">
              <a:buFont typeface="Arial" panose="020B0604020202020204" pitchFamily="34" charset="0"/>
              <a:buChar char="•"/>
            </a:pPr>
            <a:r>
              <a:rPr lang="en-US" b="0" i="0" dirty="0">
                <a:solidFill>
                  <a:srgbClr val="3A3A3A"/>
                </a:solidFill>
                <a:effectLst/>
              </a:rPr>
              <a:t>An array can store primitive or non- primitive data types. </a:t>
            </a:r>
            <a:endParaRPr lang="en-PK" dirty="0"/>
          </a:p>
        </p:txBody>
      </p:sp>
      <p:sp>
        <p:nvSpPr>
          <p:cNvPr id="5" name="TextBox 4">
            <a:extLst>
              <a:ext uri="{FF2B5EF4-FFF2-40B4-BE49-F238E27FC236}">
                <a16:creationId xmlns:a16="http://schemas.microsoft.com/office/drawing/2014/main" id="{4D8CB3C7-355C-4729-8A68-35EB6DDE8276}"/>
              </a:ext>
            </a:extLst>
          </p:cNvPr>
          <p:cNvSpPr txBox="1"/>
          <p:nvPr/>
        </p:nvSpPr>
        <p:spPr>
          <a:xfrm>
            <a:off x="571499" y="1696227"/>
            <a:ext cx="1059521" cy="369332"/>
          </a:xfrm>
          <a:prstGeom prst="rect">
            <a:avLst/>
          </a:prstGeom>
          <a:noFill/>
        </p:spPr>
        <p:txBody>
          <a:bodyPr wrap="none" rtlCol="0">
            <a:spAutoFit/>
          </a:bodyPr>
          <a:lstStyle/>
          <a:p>
            <a:r>
              <a:rPr lang="en-US" b="1" dirty="0"/>
              <a:t>Example:</a:t>
            </a:r>
            <a:endParaRPr lang="en-PK" b="1" dirty="0"/>
          </a:p>
        </p:txBody>
      </p:sp>
      <p:sp>
        <p:nvSpPr>
          <p:cNvPr id="7" name="TextBox 6">
            <a:extLst>
              <a:ext uri="{FF2B5EF4-FFF2-40B4-BE49-F238E27FC236}">
                <a16:creationId xmlns:a16="http://schemas.microsoft.com/office/drawing/2014/main" id="{46983464-5150-4F0E-8065-820DA0773F2D}"/>
              </a:ext>
            </a:extLst>
          </p:cNvPr>
          <p:cNvSpPr txBox="1"/>
          <p:nvPr/>
        </p:nvSpPr>
        <p:spPr>
          <a:xfrm>
            <a:off x="1101260" y="2163247"/>
            <a:ext cx="6097772" cy="646331"/>
          </a:xfrm>
          <a:prstGeom prst="rect">
            <a:avLst/>
          </a:prstGeom>
          <a:noFill/>
        </p:spPr>
        <p:txBody>
          <a:bodyPr wrap="square">
            <a:spAutoFit/>
          </a:bodyPr>
          <a:lstStyle/>
          <a:p>
            <a:pPr marL="285750" indent="-285750">
              <a:buFont typeface="Arial" panose="020B0604020202020204" pitchFamily="34" charset="0"/>
              <a:buChar char="•"/>
            </a:pPr>
            <a:r>
              <a:rPr lang="en-US" b="0" i="0" dirty="0">
                <a:solidFill>
                  <a:srgbClr val="3A3A3A"/>
                </a:solidFill>
                <a:effectLst/>
              </a:rPr>
              <a:t>To store a record of students. </a:t>
            </a:r>
          </a:p>
          <a:p>
            <a:pPr marL="285750" indent="-285750">
              <a:buFont typeface="Arial" panose="020B0604020202020204" pitchFamily="34" charset="0"/>
              <a:buChar char="•"/>
            </a:pPr>
            <a:endParaRPr lang="en-PK" dirty="0"/>
          </a:p>
        </p:txBody>
      </p:sp>
      <p:sp>
        <p:nvSpPr>
          <p:cNvPr id="9" name="TextBox 8">
            <a:extLst>
              <a:ext uri="{FF2B5EF4-FFF2-40B4-BE49-F238E27FC236}">
                <a16:creationId xmlns:a16="http://schemas.microsoft.com/office/drawing/2014/main" id="{03A0C2D2-1B67-43DF-A9AB-5E5F548BE101}"/>
              </a:ext>
            </a:extLst>
          </p:cNvPr>
          <p:cNvSpPr txBox="1"/>
          <p:nvPr/>
        </p:nvSpPr>
        <p:spPr>
          <a:xfrm>
            <a:off x="1101260" y="3004954"/>
            <a:ext cx="11049885" cy="646331"/>
          </a:xfrm>
          <a:prstGeom prst="rect">
            <a:avLst/>
          </a:prstGeom>
          <a:noFill/>
        </p:spPr>
        <p:txBody>
          <a:bodyPr wrap="square">
            <a:spAutoFit/>
          </a:bodyPr>
          <a:lstStyle/>
          <a:p>
            <a:pPr marL="285750" indent="-285750">
              <a:buFont typeface="Arial" panose="020B0604020202020204" pitchFamily="34" charset="0"/>
              <a:buChar char="•"/>
            </a:pPr>
            <a:r>
              <a:rPr lang="en-US" b="0" i="0" dirty="0">
                <a:solidFill>
                  <a:srgbClr val="3A3A3A"/>
                </a:solidFill>
                <a:effectLst/>
              </a:rPr>
              <a:t> Each Student has some information like </a:t>
            </a:r>
            <a:r>
              <a:rPr lang="en-US" b="0" i="0" dirty="0" err="1">
                <a:solidFill>
                  <a:srgbClr val="3A3A3A"/>
                </a:solidFill>
                <a:effectLst/>
              </a:rPr>
              <a:t>rollNo</a:t>
            </a:r>
            <a:r>
              <a:rPr lang="en-US" b="0" i="0" dirty="0">
                <a:solidFill>
                  <a:srgbClr val="3A3A3A"/>
                </a:solidFill>
                <a:effectLst/>
              </a:rPr>
              <a:t>, name, </a:t>
            </a:r>
            <a:r>
              <a:rPr lang="en-US" b="0" i="0" dirty="0" err="1">
                <a:solidFill>
                  <a:srgbClr val="3A3A3A"/>
                </a:solidFill>
                <a:effectLst/>
              </a:rPr>
              <a:t>className</a:t>
            </a:r>
            <a:r>
              <a:rPr lang="en-US" b="0" i="0" dirty="0">
                <a:solidFill>
                  <a:srgbClr val="3A3A3A"/>
                </a:solidFill>
                <a:effectLst/>
              </a:rPr>
              <a:t>, etc. So can store objects of Student in an Array. That’s why we are calling this Array of objects. An Array of objects each index value can store an object.</a:t>
            </a:r>
            <a:endParaRPr lang="en-PK" dirty="0"/>
          </a:p>
        </p:txBody>
      </p:sp>
      <p:sp>
        <p:nvSpPr>
          <p:cNvPr id="11" name="TextBox 10">
            <a:extLst>
              <a:ext uri="{FF2B5EF4-FFF2-40B4-BE49-F238E27FC236}">
                <a16:creationId xmlns:a16="http://schemas.microsoft.com/office/drawing/2014/main" id="{EE032590-AD54-4334-8899-159E757FD2E0}"/>
              </a:ext>
            </a:extLst>
          </p:cNvPr>
          <p:cNvSpPr txBox="1"/>
          <p:nvPr/>
        </p:nvSpPr>
        <p:spPr>
          <a:xfrm>
            <a:off x="1101260" y="4194469"/>
            <a:ext cx="10922297" cy="646331"/>
          </a:xfrm>
          <a:prstGeom prst="rect">
            <a:avLst/>
          </a:prstGeom>
          <a:noFill/>
        </p:spPr>
        <p:txBody>
          <a:bodyPr wrap="square">
            <a:spAutoFit/>
          </a:bodyPr>
          <a:lstStyle/>
          <a:p>
            <a:pPr marL="285750" indent="-285750">
              <a:buFont typeface="Arial" panose="020B0604020202020204" pitchFamily="34" charset="0"/>
              <a:buChar char="•"/>
            </a:pPr>
            <a:r>
              <a:rPr lang="en-US" b="0" i="0" dirty="0">
                <a:solidFill>
                  <a:srgbClr val="3A3A3A"/>
                </a:solidFill>
                <a:effectLst/>
              </a:rPr>
              <a:t>Create a class Student that holds information about a student. We want to hold a number of student records so we will use an array of objects in the java.</a:t>
            </a:r>
            <a:endParaRPr lang="en-PK" dirty="0"/>
          </a:p>
        </p:txBody>
      </p:sp>
    </p:spTree>
    <p:extLst>
      <p:ext uri="{BB962C8B-B14F-4D97-AF65-F5344CB8AC3E}">
        <p14:creationId xmlns:p14="http://schemas.microsoft.com/office/powerpoint/2010/main" val="3101327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1000"/>
                                        <p:tgtEl>
                                          <p:spTgt spid="9"/>
                                        </p:tgtEl>
                                      </p:cBhvr>
                                    </p:animEffect>
                                    <p:anim calcmode="lin" valueType="num">
                                      <p:cBhvr>
                                        <p:cTn id="23" dur="1000" fill="hold"/>
                                        <p:tgtEl>
                                          <p:spTgt spid="9"/>
                                        </p:tgtEl>
                                        <p:attrNameLst>
                                          <p:attrName>ppt_x</p:attrName>
                                        </p:attrNameLst>
                                      </p:cBhvr>
                                      <p:tavLst>
                                        <p:tav tm="0">
                                          <p:val>
                                            <p:strVal val="#ppt_x"/>
                                          </p:val>
                                        </p:tav>
                                        <p:tav tm="100000">
                                          <p:val>
                                            <p:strVal val="#ppt_x"/>
                                          </p:val>
                                        </p:tav>
                                      </p:tavLst>
                                    </p:anim>
                                    <p:anim calcmode="lin" valueType="num">
                                      <p:cBhvr>
                                        <p:cTn id="24" dur="1000" fill="hold"/>
                                        <p:tgtEl>
                                          <p:spTgt spid="9"/>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1000"/>
                                        <p:tgtEl>
                                          <p:spTgt spid="11"/>
                                        </p:tgtEl>
                                      </p:cBhvr>
                                    </p:animEffect>
                                    <p:anim calcmode="lin" valueType="num">
                                      <p:cBhvr>
                                        <p:cTn id="28" dur="1000" fill="hold"/>
                                        <p:tgtEl>
                                          <p:spTgt spid="11"/>
                                        </p:tgtEl>
                                        <p:attrNameLst>
                                          <p:attrName>ppt_x</p:attrName>
                                        </p:attrNameLst>
                                      </p:cBhvr>
                                      <p:tavLst>
                                        <p:tav tm="0">
                                          <p:val>
                                            <p:strVal val="#ppt_x"/>
                                          </p:val>
                                        </p:tav>
                                        <p:tav tm="100000">
                                          <p:val>
                                            <p:strVal val="#ppt_x"/>
                                          </p:val>
                                        </p:tav>
                                      </p:tavLst>
                                    </p:anim>
                                    <p:anim calcmode="lin" valueType="num">
                                      <p:cBhvr>
                                        <p:cTn id="2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P spid="9" grpId="0"/>
      <p:bldP spid="1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1AB51B-C8F3-46A6-A4C2-0BFDF4E592C2}"/>
              </a:ext>
            </a:extLst>
          </p:cNvPr>
          <p:cNvSpPr txBox="1"/>
          <p:nvPr/>
        </p:nvSpPr>
        <p:spPr>
          <a:xfrm>
            <a:off x="3402419" y="-7720"/>
            <a:ext cx="9837775" cy="6740307"/>
          </a:xfrm>
          <a:prstGeom prst="rect">
            <a:avLst/>
          </a:prstGeom>
          <a:noFill/>
        </p:spPr>
        <p:txBody>
          <a:bodyPr wrap="square">
            <a:spAutoFit/>
          </a:bodyPr>
          <a:lstStyle/>
          <a:p>
            <a:pPr algn="l"/>
            <a:r>
              <a:rPr lang="en-US" b="1" i="0" dirty="0">
                <a:solidFill>
                  <a:srgbClr val="286491"/>
                </a:solidFill>
                <a:effectLst/>
                <a:latin typeface="inherit"/>
              </a:rPr>
              <a:t>public</a:t>
            </a:r>
            <a:r>
              <a:rPr lang="en-US" b="0" i="0" dirty="0">
                <a:solidFill>
                  <a:srgbClr val="000000"/>
                </a:solidFill>
                <a:effectLst/>
                <a:latin typeface="inherit"/>
              </a:rPr>
              <a:t> </a:t>
            </a:r>
            <a:r>
              <a:rPr lang="en-US" b="1" i="0" dirty="0">
                <a:solidFill>
                  <a:srgbClr val="286491"/>
                </a:solidFill>
                <a:effectLst/>
                <a:latin typeface="inherit"/>
              </a:rPr>
              <a:t>class</a:t>
            </a:r>
            <a:r>
              <a:rPr lang="en-US" b="0" i="0" dirty="0">
                <a:solidFill>
                  <a:srgbClr val="000000"/>
                </a:solidFill>
                <a:effectLst/>
                <a:latin typeface="inherit"/>
              </a:rPr>
              <a:t> Student </a:t>
            </a:r>
            <a:endParaRPr lang="en-US" b="0" i="0" dirty="0">
              <a:solidFill>
                <a:srgbClr val="AAAAAA"/>
              </a:solidFill>
              <a:effectLst/>
              <a:latin typeface="Source Code Pro"/>
            </a:endParaRPr>
          </a:p>
          <a:p>
            <a:pPr algn="l"/>
            <a:r>
              <a:rPr lang="en-US" b="0" i="0" dirty="0">
                <a:solidFill>
                  <a:srgbClr val="777777"/>
                </a:solidFill>
                <a:effectLst/>
                <a:latin typeface="inherit"/>
              </a:rPr>
              <a:t>{</a:t>
            </a:r>
            <a:endParaRPr lang="en-US" b="0" i="0" dirty="0">
              <a:solidFill>
                <a:srgbClr val="AAAAAA"/>
              </a:solidFill>
              <a:effectLst/>
              <a:latin typeface="Source Code Pro"/>
            </a:endParaRPr>
          </a:p>
          <a:p>
            <a:pPr algn="l"/>
            <a:r>
              <a:rPr lang="en-US" b="1" i="0" dirty="0">
                <a:solidFill>
                  <a:srgbClr val="286491"/>
                </a:solidFill>
                <a:effectLst/>
                <a:latin typeface="inherit"/>
              </a:rPr>
              <a:t>int</a:t>
            </a:r>
            <a:r>
              <a:rPr lang="en-US" b="0" i="0" dirty="0">
                <a:solidFill>
                  <a:srgbClr val="000000"/>
                </a:solidFill>
                <a:effectLst/>
                <a:latin typeface="inherit"/>
              </a:rPr>
              <a:t> </a:t>
            </a:r>
            <a:r>
              <a:rPr lang="en-US" b="0" i="0" dirty="0" err="1">
                <a:solidFill>
                  <a:srgbClr val="000000"/>
                </a:solidFill>
                <a:effectLst/>
                <a:latin typeface="inherit"/>
              </a:rPr>
              <a:t>rollNo</a:t>
            </a:r>
            <a:r>
              <a:rPr lang="en-US" b="0" i="0" dirty="0">
                <a:solidFill>
                  <a:srgbClr val="000000"/>
                </a:solidFill>
                <a:effectLst/>
                <a:latin typeface="inherit"/>
              </a:rPr>
              <a:t>;</a:t>
            </a:r>
            <a:endParaRPr lang="en-US" b="0" i="0" dirty="0">
              <a:solidFill>
                <a:srgbClr val="AAAAAA"/>
              </a:solidFill>
              <a:effectLst/>
              <a:latin typeface="Source Code Pro"/>
            </a:endParaRPr>
          </a:p>
          <a:p>
            <a:pPr algn="l"/>
            <a:r>
              <a:rPr lang="en-US" b="1" i="0" dirty="0">
                <a:solidFill>
                  <a:srgbClr val="286491"/>
                </a:solidFill>
                <a:effectLst/>
                <a:latin typeface="inherit"/>
              </a:rPr>
              <a:t>String</a:t>
            </a:r>
            <a:r>
              <a:rPr lang="en-US" b="0" i="0" dirty="0">
                <a:solidFill>
                  <a:srgbClr val="000000"/>
                </a:solidFill>
                <a:effectLst/>
                <a:latin typeface="inherit"/>
              </a:rPr>
              <a:t> name;</a:t>
            </a:r>
            <a:endParaRPr lang="en-US" b="0" i="0" dirty="0">
              <a:solidFill>
                <a:srgbClr val="AAAAAA"/>
              </a:solidFill>
              <a:effectLst/>
              <a:latin typeface="Source Code Pro"/>
            </a:endParaRPr>
          </a:p>
          <a:p>
            <a:pPr algn="l"/>
            <a:r>
              <a:rPr lang="en-US" b="1" i="0" dirty="0">
                <a:solidFill>
                  <a:srgbClr val="286491"/>
                </a:solidFill>
                <a:effectLst/>
                <a:latin typeface="inherit"/>
              </a:rPr>
              <a:t>String</a:t>
            </a:r>
            <a:r>
              <a:rPr lang="en-US" b="0" i="0" dirty="0">
                <a:solidFill>
                  <a:srgbClr val="000000"/>
                </a:solidFill>
                <a:effectLst/>
                <a:latin typeface="inherit"/>
              </a:rPr>
              <a:t> </a:t>
            </a:r>
            <a:r>
              <a:rPr lang="en-US" b="0" i="0" dirty="0" err="1">
                <a:solidFill>
                  <a:srgbClr val="000000"/>
                </a:solidFill>
                <a:effectLst/>
                <a:latin typeface="inherit"/>
              </a:rPr>
              <a:t>className</a:t>
            </a:r>
            <a:r>
              <a:rPr lang="en-US" b="0" i="0" dirty="0">
                <a:solidFill>
                  <a:srgbClr val="000000"/>
                </a:solidFill>
                <a:effectLst/>
                <a:latin typeface="inherit"/>
              </a:rPr>
              <a:t>;</a:t>
            </a:r>
            <a:endParaRPr lang="en-US" b="0" i="0" dirty="0">
              <a:solidFill>
                <a:srgbClr val="AAAAAA"/>
              </a:solidFill>
              <a:effectLst/>
              <a:latin typeface="Source Code Pro"/>
            </a:endParaRPr>
          </a:p>
          <a:p>
            <a:pPr algn="l"/>
            <a:r>
              <a:rPr lang="en-US" b="1" i="0" dirty="0">
                <a:solidFill>
                  <a:srgbClr val="286491"/>
                </a:solidFill>
                <a:effectLst/>
                <a:latin typeface="inherit"/>
              </a:rPr>
              <a:t>public</a:t>
            </a:r>
            <a:r>
              <a:rPr lang="en-US" b="0" i="0" dirty="0">
                <a:solidFill>
                  <a:srgbClr val="000000"/>
                </a:solidFill>
                <a:effectLst/>
                <a:latin typeface="inherit"/>
              </a:rPr>
              <a:t> </a:t>
            </a:r>
            <a:r>
              <a:rPr lang="en-US" b="1" i="0" dirty="0">
                <a:solidFill>
                  <a:srgbClr val="286491"/>
                </a:solidFill>
                <a:effectLst/>
                <a:latin typeface="inherit"/>
              </a:rPr>
              <a:t>int</a:t>
            </a:r>
            <a:r>
              <a:rPr lang="en-US" b="0" i="0" dirty="0">
                <a:solidFill>
                  <a:srgbClr val="000000"/>
                </a:solidFill>
                <a:effectLst/>
                <a:latin typeface="inherit"/>
              </a:rPr>
              <a:t> </a:t>
            </a:r>
            <a:r>
              <a:rPr lang="en-US" b="0" i="0" dirty="0" err="1">
                <a:solidFill>
                  <a:srgbClr val="0086B3"/>
                </a:solidFill>
                <a:effectLst/>
                <a:latin typeface="inherit"/>
              </a:rPr>
              <a:t>getRollNo</a:t>
            </a:r>
            <a:r>
              <a:rPr lang="en-US" b="0" i="0" dirty="0">
                <a:solidFill>
                  <a:srgbClr val="777777"/>
                </a:solidFill>
                <a:effectLst/>
                <a:latin typeface="inherit"/>
              </a:rPr>
              <a:t>()</a:t>
            </a:r>
            <a:r>
              <a:rPr lang="en-US" b="0" i="0" dirty="0">
                <a:solidFill>
                  <a:srgbClr val="000000"/>
                </a:solidFill>
                <a:effectLst/>
                <a:latin typeface="inherit"/>
              </a:rPr>
              <a:t> </a:t>
            </a:r>
            <a:r>
              <a:rPr lang="en-US" b="0" i="0" dirty="0">
                <a:solidFill>
                  <a:srgbClr val="777777"/>
                </a:solidFill>
                <a:effectLst/>
                <a:latin typeface="inherit"/>
              </a:rPr>
              <a:t>{</a:t>
            </a:r>
            <a:endParaRPr lang="en-US" b="0" i="0" dirty="0">
              <a:solidFill>
                <a:srgbClr val="AAAAAA"/>
              </a:solidFill>
              <a:effectLst/>
              <a:latin typeface="Source Code Pro"/>
            </a:endParaRPr>
          </a:p>
          <a:p>
            <a:pPr algn="l"/>
            <a:r>
              <a:rPr lang="en-US" b="1" i="0" dirty="0">
                <a:solidFill>
                  <a:srgbClr val="286491"/>
                </a:solidFill>
                <a:effectLst/>
                <a:latin typeface="inherit"/>
              </a:rPr>
              <a:t>return</a:t>
            </a:r>
            <a:r>
              <a:rPr lang="en-US" b="0" i="0" dirty="0">
                <a:solidFill>
                  <a:srgbClr val="000000"/>
                </a:solidFill>
                <a:effectLst/>
                <a:latin typeface="inherit"/>
              </a:rPr>
              <a:t> </a:t>
            </a:r>
            <a:r>
              <a:rPr lang="en-US" b="0" i="0" dirty="0" err="1">
                <a:solidFill>
                  <a:srgbClr val="000000"/>
                </a:solidFill>
                <a:effectLst/>
                <a:latin typeface="inherit"/>
              </a:rPr>
              <a:t>rollNo</a:t>
            </a:r>
            <a:r>
              <a:rPr lang="en-US" b="0" i="0" dirty="0">
                <a:solidFill>
                  <a:srgbClr val="000000"/>
                </a:solidFill>
                <a:effectLst/>
                <a:latin typeface="inherit"/>
              </a:rPr>
              <a:t>;</a:t>
            </a:r>
            <a:endParaRPr lang="en-US" b="0" i="0" dirty="0">
              <a:solidFill>
                <a:srgbClr val="AAAAAA"/>
              </a:solidFill>
              <a:effectLst/>
              <a:latin typeface="Source Code Pro"/>
            </a:endParaRPr>
          </a:p>
          <a:p>
            <a:pPr algn="l"/>
            <a:r>
              <a:rPr lang="en-US" b="0" i="0" dirty="0">
                <a:solidFill>
                  <a:srgbClr val="777777"/>
                </a:solidFill>
                <a:effectLst/>
                <a:latin typeface="inherit"/>
              </a:rPr>
              <a:t>}</a:t>
            </a:r>
            <a:endParaRPr lang="en-US" b="0" i="0" dirty="0">
              <a:solidFill>
                <a:srgbClr val="AAAAAA"/>
              </a:solidFill>
              <a:effectLst/>
              <a:latin typeface="Source Code Pro"/>
            </a:endParaRPr>
          </a:p>
          <a:p>
            <a:pPr algn="l"/>
            <a:r>
              <a:rPr lang="en-US" b="1" i="0" dirty="0">
                <a:solidFill>
                  <a:srgbClr val="286491"/>
                </a:solidFill>
                <a:effectLst/>
                <a:latin typeface="inherit"/>
              </a:rPr>
              <a:t>public</a:t>
            </a:r>
            <a:r>
              <a:rPr lang="en-US" b="0" i="0" dirty="0">
                <a:solidFill>
                  <a:srgbClr val="000000"/>
                </a:solidFill>
                <a:effectLst/>
                <a:latin typeface="inherit"/>
              </a:rPr>
              <a:t> </a:t>
            </a:r>
            <a:r>
              <a:rPr lang="en-US" b="1" i="0" dirty="0">
                <a:solidFill>
                  <a:srgbClr val="286491"/>
                </a:solidFill>
                <a:effectLst/>
                <a:latin typeface="inherit"/>
              </a:rPr>
              <a:t>void</a:t>
            </a:r>
            <a:r>
              <a:rPr lang="en-US" b="0" i="0" dirty="0">
                <a:solidFill>
                  <a:srgbClr val="000000"/>
                </a:solidFill>
                <a:effectLst/>
                <a:latin typeface="inherit"/>
              </a:rPr>
              <a:t> </a:t>
            </a:r>
            <a:r>
              <a:rPr lang="en-US" b="0" i="0" dirty="0" err="1">
                <a:solidFill>
                  <a:srgbClr val="0086B3"/>
                </a:solidFill>
                <a:effectLst/>
                <a:latin typeface="inherit"/>
              </a:rPr>
              <a:t>setRollNo</a:t>
            </a:r>
            <a:r>
              <a:rPr lang="en-US" b="0" i="0" dirty="0">
                <a:solidFill>
                  <a:srgbClr val="777777"/>
                </a:solidFill>
                <a:effectLst/>
                <a:latin typeface="inherit"/>
              </a:rPr>
              <a:t>(</a:t>
            </a:r>
            <a:r>
              <a:rPr lang="en-US" b="1" i="0" dirty="0">
                <a:solidFill>
                  <a:srgbClr val="286491"/>
                </a:solidFill>
                <a:effectLst/>
                <a:latin typeface="inherit"/>
              </a:rPr>
              <a:t>int</a:t>
            </a:r>
            <a:r>
              <a:rPr lang="en-US" b="0" i="0" dirty="0">
                <a:solidFill>
                  <a:srgbClr val="000000"/>
                </a:solidFill>
                <a:effectLst/>
                <a:latin typeface="inherit"/>
              </a:rPr>
              <a:t> </a:t>
            </a:r>
            <a:r>
              <a:rPr lang="en-US" b="0" i="0" dirty="0" err="1">
                <a:solidFill>
                  <a:srgbClr val="000000"/>
                </a:solidFill>
                <a:effectLst/>
                <a:latin typeface="inherit"/>
              </a:rPr>
              <a:t>rollNo</a:t>
            </a:r>
            <a:r>
              <a:rPr lang="en-US" b="0" i="0" dirty="0">
                <a:solidFill>
                  <a:srgbClr val="777777"/>
                </a:solidFill>
                <a:effectLst/>
                <a:latin typeface="inherit"/>
              </a:rPr>
              <a:t>)</a:t>
            </a:r>
            <a:r>
              <a:rPr lang="en-US" b="0" i="0" dirty="0">
                <a:solidFill>
                  <a:srgbClr val="000000"/>
                </a:solidFill>
                <a:effectLst/>
                <a:latin typeface="inherit"/>
              </a:rPr>
              <a:t> </a:t>
            </a:r>
            <a:r>
              <a:rPr lang="en-US" b="0" i="0" dirty="0">
                <a:solidFill>
                  <a:srgbClr val="777777"/>
                </a:solidFill>
                <a:effectLst/>
                <a:latin typeface="inherit"/>
              </a:rPr>
              <a:t>{</a:t>
            </a:r>
            <a:endParaRPr lang="en-US" b="0" i="0" dirty="0">
              <a:solidFill>
                <a:srgbClr val="AAAAAA"/>
              </a:solidFill>
              <a:effectLst/>
              <a:latin typeface="Source Code Pro"/>
            </a:endParaRPr>
          </a:p>
          <a:p>
            <a:pPr algn="l"/>
            <a:r>
              <a:rPr lang="en-US" b="1" i="0" dirty="0" err="1">
                <a:solidFill>
                  <a:srgbClr val="990073"/>
                </a:solidFill>
                <a:effectLst/>
                <a:latin typeface="inherit"/>
              </a:rPr>
              <a:t>this</a:t>
            </a:r>
            <a:r>
              <a:rPr lang="en-US" b="0" i="0" dirty="0" err="1">
                <a:solidFill>
                  <a:srgbClr val="000000"/>
                </a:solidFill>
                <a:effectLst/>
                <a:latin typeface="inherit"/>
              </a:rPr>
              <a:t>.</a:t>
            </a:r>
            <a:r>
              <a:rPr lang="en-US" b="0" i="0" dirty="0" err="1">
                <a:solidFill>
                  <a:srgbClr val="0086B3"/>
                </a:solidFill>
                <a:effectLst/>
                <a:latin typeface="inherit"/>
              </a:rPr>
              <a:t>rollNo</a:t>
            </a:r>
            <a:r>
              <a:rPr lang="en-US" b="0" i="0" dirty="0">
                <a:solidFill>
                  <a:srgbClr val="000000"/>
                </a:solidFill>
                <a:effectLst/>
                <a:latin typeface="inherit"/>
              </a:rPr>
              <a:t> = </a:t>
            </a:r>
            <a:r>
              <a:rPr lang="en-US" b="0" i="0" dirty="0" err="1">
                <a:solidFill>
                  <a:srgbClr val="000000"/>
                </a:solidFill>
                <a:effectLst/>
                <a:latin typeface="inherit"/>
              </a:rPr>
              <a:t>rollNo</a:t>
            </a:r>
            <a:r>
              <a:rPr lang="en-US" b="0" i="0" dirty="0">
                <a:solidFill>
                  <a:srgbClr val="000000"/>
                </a:solidFill>
                <a:effectLst/>
                <a:latin typeface="inherit"/>
              </a:rPr>
              <a:t>;</a:t>
            </a:r>
            <a:endParaRPr lang="en-US" b="0" i="0" dirty="0">
              <a:solidFill>
                <a:srgbClr val="AAAAAA"/>
              </a:solidFill>
              <a:effectLst/>
              <a:latin typeface="Source Code Pro"/>
            </a:endParaRPr>
          </a:p>
          <a:p>
            <a:pPr algn="l"/>
            <a:r>
              <a:rPr lang="en-US" b="0" i="0" dirty="0">
                <a:solidFill>
                  <a:srgbClr val="777777"/>
                </a:solidFill>
                <a:effectLst/>
                <a:latin typeface="inherit"/>
              </a:rPr>
              <a:t>}</a:t>
            </a:r>
            <a:endParaRPr lang="en-US" b="0" i="0" dirty="0">
              <a:solidFill>
                <a:srgbClr val="AAAAAA"/>
              </a:solidFill>
              <a:effectLst/>
              <a:latin typeface="Source Code Pro"/>
            </a:endParaRPr>
          </a:p>
          <a:p>
            <a:pPr algn="l"/>
            <a:r>
              <a:rPr lang="en-US" b="1" i="0" dirty="0">
                <a:solidFill>
                  <a:srgbClr val="286491"/>
                </a:solidFill>
                <a:effectLst/>
                <a:latin typeface="inherit"/>
              </a:rPr>
              <a:t>public</a:t>
            </a:r>
            <a:r>
              <a:rPr lang="en-US" b="0" i="0" dirty="0">
                <a:solidFill>
                  <a:srgbClr val="000000"/>
                </a:solidFill>
                <a:effectLst/>
                <a:latin typeface="inherit"/>
              </a:rPr>
              <a:t> </a:t>
            </a:r>
            <a:r>
              <a:rPr lang="en-US" b="1" i="0" dirty="0">
                <a:solidFill>
                  <a:srgbClr val="286491"/>
                </a:solidFill>
                <a:effectLst/>
                <a:latin typeface="inherit"/>
              </a:rPr>
              <a:t>String</a:t>
            </a:r>
            <a:r>
              <a:rPr lang="en-US" b="0" i="0" dirty="0">
                <a:solidFill>
                  <a:srgbClr val="000000"/>
                </a:solidFill>
                <a:effectLst/>
                <a:latin typeface="inherit"/>
              </a:rPr>
              <a:t> </a:t>
            </a:r>
            <a:r>
              <a:rPr lang="en-US" b="0" i="0" dirty="0" err="1">
                <a:solidFill>
                  <a:srgbClr val="0086B3"/>
                </a:solidFill>
                <a:effectLst/>
                <a:latin typeface="inherit"/>
              </a:rPr>
              <a:t>getName</a:t>
            </a:r>
            <a:r>
              <a:rPr lang="en-US" b="0" i="0" dirty="0">
                <a:solidFill>
                  <a:srgbClr val="777777"/>
                </a:solidFill>
                <a:effectLst/>
                <a:latin typeface="inherit"/>
              </a:rPr>
              <a:t>()</a:t>
            </a:r>
            <a:r>
              <a:rPr lang="en-US" b="0" i="0" dirty="0">
                <a:solidFill>
                  <a:srgbClr val="000000"/>
                </a:solidFill>
                <a:effectLst/>
                <a:latin typeface="inherit"/>
              </a:rPr>
              <a:t> </a:t>
            </a:r>
            <a:r>
              <a:rPr lang="en-US" b="0" i="0" dirty="0">
                <a:solidFill>
                  <a:srgbClr val="777777"/>
                </a:solidFill>
                <a:effectLst/>
                <a:latin typeface="inherit"/>
              </a:rPr>
              <a:t>{</a:t>
            </a:r>
            <a:endParaRPr lang="en-US" b="0" i="0" dirty="0">
              <a:solidFill>
                <a:srgbClr val="AAAAAA"/>
              </a:solidFill>
              <a:effectLst/>
              <a:latin typeface="Source Code Pro"/>
            </a:endParaRPr>
          </a:p>
          <a:p>
            <a:pPr algn="l"/>
            <a:r>
              <a:rPr lang="en-US" b="1" i="0" dirty="0">
                <a:solidFill>
                  <a:srgbClr val="286491"/>
                </a:solidFill>
                <a:effectLst/>
                <a:latin typeface="inherit"/>
              </a:rPr>
              <a:t>return</a:t>
            </a:r>
            <a:r>
              <a:rPr lang="en-US" b="0" i="0" dirty="0">
                <a:solidFill>
                  <a:srgbClr val="000000"/>
                </a:solidFill>
                <a:effectLst/>
                <a:latin typeface="inherit"/>
              </a:rPr>
              <a:t> name;</a:t>
            </a:r>
            <a:endParaRPr lang="en-US" b="0" i="0" dirty="0">
              <a:solidFill>
                <a:srgbClr val="AAAAAA"/>
              </a:solidFill>
              <a:effectLst/>
              <a:latin typeface="Source Code Pro"/>
            </a:endParaRPr>
          </a:p>
          <a:p>
            <a:pPr algn="l"/>
            <a:r>
              <a:rPr lang="en-US" b="0" i="0" dirty="0">
                <a:solidFill>
                  <a:srgbClr val="777777"/>
                </a:solidFill>
                <a:effectLst/>
                <a:latin typeface="inherit"/>
              </a:rPr>
              <a:t>}</a:t>
            </a:r>
            <a:endParaRPr lang="en-US" b="0" i="0" dirty="0">
              <a:solidFill>
                <a:srgbClr val="AAAAAA"/>
              </a:solidFill>
              <a:effectLst/>
              <a:latin typeface="Source Code Pro"/>
            </a:endParaRPr>
          </a:p>
          <a:p>
            <a:pPr algn="l"/>
            <a:r>
              <a:rPr lang="en-US" b="1" i="0" dirty="0">
                <a:solidFill>
                  <a:srgbClr val="286491"/>
                </a:solidFill>
                <a:effectLst/>
                <a:latin typeface="inherit"/>
              </a:rPr>
              <a:t>public</a:t>
            </a:r>
            <a:r>
              <a:rPr lang="en-US" b="0" i="0" dirty="0">
                <a:solidFill>
                  <a:srgbClr val="000000"/>
                </a:solidFill>
                <a:effectLst/>
                <a:latin typeface="inherit"/>
              </a:rPr>
              <a:t> </a:t>
            </a:r>
            <a:r>
              <a:rPr lang="en-US" b="1" i="0" dirty="0">
                <a:solidFill>
                  <a:srgbClr val="286491"/>
                </a:solidFill>
                <a:effectLst/>
                <a:latin typeface="inherit"/>
              </a:rPr>
              <a:t>void</a:t>
            </a:r>
            <a:r>
              <a:rPr lang="en-US" b="0" i="0" dirty="0">
                <a:solidFill>
                  <a:srgbClr val="000000"/>
                </a:solidFill>
                <a:effectLst/>
                <a:latin typeface="inherit"/>
              </a:rPr>
              <a:t> </a:t>
            </a:r>
            <a:r>
              <a:rPr lang="en-US" b="0" i="0" dirty="0" err="1">
                <a:solidFill>
                  <a:srgbClr val="0086B3"/>
                </a:solidFill>
                <a:effectLst/>
                <a:latin typeface="inherit"/>
              </a:rPr>
              <a:t>setName</a:t>
            </a:r>
            <a:r>
              <a:rPr lang="en-US" b="0" i="0" dirty="0">
                <a:solidFill>
                  <a:srgbClr val="777777"/>
                </a:solidFill>
                <a:effectLst/>
                <a:latin typeface="inherit"/>
              </a:rPr>
              <a:t>(</a:t>
            </a:r>
            <a:r>
              <a:rPr lang="en-US" b="1" i="0" dirty="0">
                <a:solidFill>
                  <a:srgbClr val="286491"/>
                </a:solidFill>
                <a:effectLst/>
                <a:latin typeface="inherit"/>
              </a:rPr>
              <a:t>String</a:t>
            </a:r>
            <a:r>
              <a:rPr lang="en-US" b="0" i="0" dirty="0">
                <a:solidFill>
                  <a:srgbClr val="000000"/>
                </a:solidFill>
                <a:effectLst/>
                <a:latin typeface="inherit"/>
              </a:rPr>
              <a:t> name</a:t>
            </a:r>
            <a:r>
              <a:rPr lang="en-US" b="0" i="0" dirty="0">
                <a:solidFill>
                  <a:srgbClr val="777777"/>
                </a:solidFill>
                <a:effectLst/>
                <a:latin typeface="inherit"/>
              </a:rPr>
              <a:t>)</a:t>
            </a:r>
            <a:r>
              <a:rPr lang="en-US" b="0" i="0" dirty="0">
                <a:solidFill>
                  <a:srgbClr val="000000"/>
                </a:solidFill>
                <a:effectLst/>
                <a:latin typeface="inherit"/>
              </a:rPr>
              <a:t> </a:t>
            </a:r>
            <a:r>
              <a:rPr lang="en-US" b="0" i="0" dirty="0">
                <a:solidFill>
                  <a:srgbClr val="777777"/>
                </a:solidFill>
                <a:effectLst/>
                <a:latin typeface="inherit"/>
              </a:rPr>
              <a:t>{</a:t>
            </a:r>
            <a:endParaRPr lang="en-US" b="0" i="0" dirty="0">
              <a:solidFill>
                <a:srgbClr val="AAAAAA"/>
              </a:solidFill>
              <a:effectLst/>
              <a:latin typeface="Source Code Pro"/>
            </a:endParaRPr>
          </a:p>
          <a:p>
            <a:pPr algn="l"/>
            <a:r>
              <a:rPr lang="en-US" b="1" i="0" dirty="0">
                <a:solidFill>
                  <a:srgbClr val="990073"/>
                </a:solidFill>
                <a:effectLst/>
                <a:latin typeface="inherit"/>
              </a:rPr>
              <a:t>this</a:t>
            </a:r>
            <a:r>
              <a:rPr lang="en-US" b="0" i="0" dirty="0">
                <a:solidFill>
                  <a:srgbClr val="000000"/>
                </a:solidFill>
                <a:effectLst/>
                <a:latin typeface="inherit"/>
              </a:rPr>
              <a:t>.</a:t>
            </a:r>
            <a:r>
              <a:rPr lang="en-US" b="0" i="0" dirty="0">
                <a:solidFill>
                  <a:srgbClr val="0086B3"/>
                </a:solidFill>
                <a:effectLst/>
                <a:latin typeface="inherit"/>
              </a:rPr>
              <a:t>name</a:t>
            </a:r>
            <a:r>
              <a:rPr lang="en-US" b="0" i="0" dirty="0">
                <a:solidFill>
                  <a:srgbClr val="000000"/>
                </a:solidFill>
                <a:effectLst/>
                <a:latin typeface="inherit"/>
              </a:rPr>
              <a:t> = name;</a:t>
            </a:r>
            <a:endParaRPr lang="en-US" b="0" i="0" dirty="0">
              <a:solidFill>
                <a:srgbClr val="AAAAAA"/>
              </a:solidFill>
              <a:effectLst/>
              <a:latin typeface="Source Code Pro"/>
            </a:endParaRPr>
          </a:p>
          <a:p>
            <a:pPr algn="l"/>
            <a:r>
              <a:rPr lang="en-US" b="0" i="0" dirty="0">
                <a:solidFill>
                  <a:srgbClr val="777777"/>
                </a:solidFill>
                <a:effectLst/>
                <a:latin typeface="inherit"/>
              </a:rPr>
              <a:t>}</a:t>
            </a:r>
            <a:endParaRPr lang="en-US" b="0" i="0" dirty="0">
              <a:solidFill>
                <a:srgbClr val="AAAAAA"/>
              </a:solidFill>
              <a:effectLst/>
              <a:latin typeface="Source Code Pro"/>
            </a:endParaRPr>
          </a:p>
          <a:p>
            <a:pPr algn="l"/>
            <a:r>
              <a:rPr lang="en-US" b="1" i="0" dirty="0">
                <a:solidFill>
                  <a:srgbClr val="286491"/>
                </a:solidFill>
                <a:effectLst/>
                <a:latin typeface="inherit"/>
              </a:rPr>
              <a:t>public</a:t>
            </a:r>
            <a:r>
              <a:rPr lang="en-US" b="0" i="0" dirty="0">
                <a:solidFill>
                  <a:srgbClr val="000000"/>
                </a:solidFill>
                <a:effectLst/>
                <a:latin typeface="inherit"/>
              </a:rPr>
              <a:t> </a:t>
            </a:r>
            <a:r>
              <a:rPr lang="en-US" b="1" i="0" dirty="0">
                <a:solidFill>
                  <a:srgbClr val="286491"/>
                </a:solidFill>
                <a:effectLst/>
                <a:latin typeface="inherit"/>
              </a:rPr>
              <a:t>String</a:t>
            </a:r>
            <a:r>
              <a:rPr lang="en-US" b="0" i="0" dirty="0">
                <a:solidFill>
                  <a:srgbClr val="000000"/>
                </a:solidFill>
                <a:effectLst/>
                <a:latin typeface="inherit"/>
              </a:rPr>
              <a:t> </a:t>
            </a:r>
            <a:r>
              <a:rPr lang="en-US" b="0" i="0" dirty="0" err="1">
                <a:solidFill>
                  <a:srgbClr val="0086B3"/>
                </a:solidFill>
                <a:effectLst/>
                <a:latin typeface="inherit"/>
              </a:rPr>
              <a:t>getClassName</a:t>
            </a:r>
            <a:r>
              <a:rPr lang="en-US" b="0" i="0" dirty="0">
                <a:solidFill>
                  <a:srgbClr val="777777"/>
                </a:solidFill>
                <a:effectLst/>
                <a:latin typeface="inherit"/>
              </a:rPr>
              <a:t>()</a:t>
            </a:r>
            <a:r>
              <a:rPr lang="en-US" b="0" i="0" dirty="0">
                <a:solidFill>
                  <a:srgbClr val="000000"/>
                </a:solidFill>
                <a:effectLst/>
                <a:latin typeface="inherit"/>
              </a:rPr>
              <a:t> </a:t>
            </a:r>
            <a:r>
              <a:rPr lang="en-US" b="0" i="0" dirty="0">
                <a:solidFill>
                  <a:srgbClr val="777777"/>
                </a:solidFill>
                <a:effectLst/>
                <a:latin typeface="inherit"/>
              </a:rPr>
              <a:t>{</a:t>
            </a:r>
            <a:endParaRPr lang="en-US" b="0" i="0" dirty="0">
              <a:solidFill>
                <a:srgbClr val="AAAAAA"/>
              </a:solidFill>
              <a:effectLst/>
              <a:latin typeface="Source Code Pro"/>
            </a:endParaRPr>
          </a:p>
          <a:p>
            <a:pPr algn="l"/>
            <a:r>
              <a:rPr lang="en-US" b="1" i="0" dirty="0">
                <a:solidFill>
                  <a:srgbClr val="286491"/>
                </a:solidFill>
                <a:effectLst/>
                <a:latin typeface="inherit"/>
              </a:rPr>
              <a:t>return</a:t>
            </a:r>
            <a:r>
              <a:rPr lang="en-US" b="0" i="0" dirty="0">
                <a:solidFill>
                  <a:srgbClr val="000000"/>
                </a:solidFill>
                <a:effectLst/>
                <a:latin typeface="inherit"/>
              </a:rPr>
              <a:t> </a:t>
            </a:r>
            <a:r>
              <a:rPr lang="en-US" b="0" i="0" dirty="0" err="1">
                <a:solidFill>
                  <a:srgbClr val="000000"/>
                </a:solidFill>
                <a:effectLst/>
                <a:latin typeface="inherit"/>
              </a:rPr>
              <a:t>className</a:t>
            </a:r>
            <a:r>
              <a:rPr lang="en-US" b="0" i="0" dirty="0">
                <a:solidFill>
                  <a:srgbClr val="000000"/>
                </a:solidFill>
                <a:effectLst/>
                <a:latin typeface="inherit"/>
              </a:rPr>
              <a:t>;</a:t>
            </a:r>
            <a:endParaRPr lang="en-US" b="0" i="0" dirty="0">
              <a:solidFill>
                <a:srgbClr val="AAAAAA"/>
              </a:solidFill>
              <a:effectLst/>
              <a:latin typeface="Source Code Pro"/>
            </a:endParaRPr>
          </a:p>
          <a:p>
            <a:pPr algn="l"/>
            <a:r>
              <a:rPr lang="en-US" b="0" i="0" dirty="0">
                <a:solidFill>
                  <a:srgbClr val="777777"/>
                </a:solidFill>
                <a:effectLst/>
                <a:latin typeface="inherit"/>
              </a:rPr>
              <a:t>}</a:t>
            </a:r>
            <a:endParaRPr lang="en-US" b="0" i="0" dirty="0">
              <a:solidFill>
                <a:srgbClr val="AAAAAA"/>
              </a:solidFill>
              <a:effectLst/>
              <a:latin typeface="Source Code Pro"/>
            </a:endParaRPr>
          </a:p>
          <a:p>
            <a:pPr algn="l"/>
            <a:r>
              <a:rPr lang="en-US" b="1" i="0" dirty="0">
                <a:solidFill>
                  <a:srgbClr val="286491"/>
                </a:solidFill>
                <a:effectLst/>
                <a:latin typeface="inherit"/>
              </a:rPr>
              <a:t>public</a:t>
            </a:r>
            <a:r>
              <a:rPr lang="en-US" b="0" i="0" dirty="0">
                <a:solidFill>
                  <a:srgbClr val="000000"/>
                </a:solidFill>
                <a:effectLst/>
                <a:latin typeface="inherit"/>
              </a:rPr>
              <a:t> </a:t>
            </a:r>
            <a:r>
              <a:rPr lang="en-US" b="1" i="0" dirty="0">
                <a:solidFill>
                  <a:srgbClr val="286491"/>
                </a:solidFill>
                <a:effectLst/>
                <a:latin typeface="inherit"/>
              </a:rPr>
              <a:t>void</a:t>
            </a:r>
            <a:r>
              <a:rPr lang="en-US" b="0" i="0" dirty="0">
                <a:solidFill>
                  <a:srgbClr val="000000"/>
                </a:solidFill>
                <a:effectLst/>
                <a:latin typeface="inherit"/>
              </a:rPr>
              <a:t> </a:t>
            </a:r>
            <a:r>
              <a:rPr lang="en-US" b="0" i="0" dirty="0" err="1">
                <a:solidFill>
                  <a:srgbClr val="0086B3"/>
                </a:solidFill>
                <a:effectLst/>
                <a:latin typeface="inherit"/>
              </a:rPr>
              <a:t>setClassName</a:t>
            </a:r>
            <a:r>
              <a:rPr lang="en-US" b="0" i="0" dirty="0">
                <a:solidFill>
                  <a:srgbClr val="777777"/>
                </a:solidFill>
                <a:effectLst/>
                <a:latin typeface="inherit"/>
              </a:rPr>
              <a:t>(</a:t>
            </a:r>
            <a:r>
              <a:rPr lang="en-US" b="1" i="0" dirty="0">
                <a:solidFill>
                  <a:srgbClr val="286491"/>
                </a:solidFill>
                <a:effectLst/>
                <a:latin typeface="inherit"/>
              </a:rPr>
              <a:t>String</a:t>
            </a:r>
            <a:r>
              <a:rPr lang="en-US" b="0" i="0" dirty="0">
                <a:solidFill>
                  <a:srgbClr val="000000"/>
                </a:solidFill>
                <a:effectLst/>
                <a:latin typeface="inherit"/>
              </a:rPr>
              <a:t> </a:t>
            </a:r>
            <a:r>
              <a:rPr lang="en-US" b="0" i="0" dirty="0" err="1">
                <a:solidFill>
                  <a:srgbClr val="000000"/>
                </a:solidFill>
                <a:effectLst/>
                <a:latin typeface="inherit"/>
              </a:rPr>
              <a:t>className</a:t>
            </a:r>
            <a:r>
              <a:rPr lang="en-US" b="0" i="0" dirty="0">
                <a:solidFill>
                  <a:srgbClr val="777777"/>
                </a:solidFill>
                <a:effectLst/>
                <a:latin typeface="inherit"/>
              </a:rPr>
              <a:t>)</a:t>
            </a:r>
            <a:r>
              <a:rPr lang="en-US" b="0" i="0" dirty="0">
                <a:solidFill>
                  <a:srgbClr val="000000"/>
                </a:solidFill>
                <a:effectLst/>
                <a:latin typeface="inherit"/>
              </a:rPr>
              <a:t> </a:t>
            </a:r>
            <a:r>
              <a:rPr lang="en-US" b="0" i="0" dirty="0">
                <a:solidFill>
                  <a:srgbClr val="777777"/>
                </a:solidFill>
                <a:effectLst/>
                <a:latin typeface="inherit"/>
              </a:rPr>
              <a:t>{</a:t>
            </a:r>
            <a:endParaRPr lang="en-US" b="0" i="0" dirty="0">
              <a:solidFill>
                <a:srgbClr val="AAAAAA"/>
              </a:solidFill>
              <a:effectLst/>
              <a:latin typeface="Source Code Pro"/>
            </a:endParaRPr>
          </a:p>
          <a:p>
            <a:pPr algn="l"/>
            <a:r>
              <a:rPr lang="en-US" b="1" i="0" dirty="0" err="1">
                <a:solidFill>
                  <a:srgbClr val="990073"/>
                </a:solidFill>
                <a:effectLst/>
                <a:latin typeface="inherit"/>
              </a:rPr>
              <a:t>this</a:t>
            </a:r>
            <a:r>
              <a:rPr lang="en-US" b="0" i="0" dirty="0" err="1">
                <a:solidFill>
                  <a:srgbClr val="000000"/>
                </a:solidFill>
                <a:effectLst/>
                <a:latin typeface="inherit"/>
              </a:rPr>
              <a:t>.</a:t>
            </a:r>
            <a:r>
              <a:rPr lang="en-US" b="0" i="0" dirty="0" err="1">
                <a:solidFill>
                  <a:srgbClr val="0086B3"/>
                </a:solidFill>
                <a:effectLst/>
                <a:latin typeface="inherit"/>
              </a:rPr>
              <a:t>className</a:t>
            </a:r>
            <a:r>
              <a:rPr lang="en-US" b="0" i="0" dirty="0">
                <a:solidFill>
                  <a:srgbClr val="000000"/>
                </a:solidFill>
                <a:effectLst/>
                <a:latin typeface="inherit"/>
              </a:rPr>
              <a:t> = </a:t>
            </a:r>
            <a:r>
              <a:rPr lang="en-US" b="0" i="0" dirty="0" err="1">
                <a:solidFill>
                  <a:srgbClr val="000000"/>
                </a:solidFill>
                <a:effectLst/>
                <a:latin typeface="inherit"/>
              </a:rPr>
              <a:t>className</a:t>
            </a:r>
            <a:r>
              <a:rPr lang="en-US" b="0" i="0" dirty="0">
                <a:solidFill>
                  <a:srgbClr val="000000"/>
                </a:solidFill>
                <a:effectLst/>
                <a:latin typeface="inherit"/>
              </a:rPr>
              <a:t>;</a:t>
            </a:r>
            <a:endParaRPr lang="en-US" b="0" i="0" dirty="0">
              <a:solidFill>
                <a:srgbClr val="AAAAAA"/>
              </a:solidFill>
              <a:effectLst/>
              <a:latin typeface="Source Code Pro"/>
            </a:endParaRPr>
          </a:p>
          <a:p>
            <a:pPr algn="l"/>
            <a:r>
              <a:rPr lang="en-US" b="0" i="0" dirty="0">
                <a:solidFill>
                  <a:srgbClr val="777777"/>
                </a:solidFill>
                <a:effectLst/>
                <a:latin typeface="inherit"/>
              </a:rPr>
              <a:t>}</a:t>
            </a:r>
            <a:endParaRPr lang="en-US" b="0" i="0" dirty="0">
              <a:solidFill>
                <a:srgbClr val="AAAAAA"/>
              </a:solidFill>
              <a:effectLst/>
              <a:latin typeface="Source Code Pro"/>
            </a:endParaRPr>
          </a:p>
          <a:p>
            <a:pPr algn="l"/>
            <a:r>
              <a:rPr lang="en-US" b="0" i="0" dirty="0">
                <a:solidFill>
                  <a:srgbClr val="777777"/>
                </a:solidFill>
                <a:effectLst/>
                <a:latin typeface="inherit"/>
              </a:rPr>
              <a:t>}</a:t>
            </a:r>
            <a:endParaRPr lang="en-US" b="0" i="0" dirty="0">
              <a:solidFill>
                <a:srgbClr val="444444"/>
              </a:solidFill>
              <a:effectLst/>
              <a:latin typeface="Source Code Pro"/>
            </a:endParaRPr>
          </a:p>
        </p:txBody>
      </p:sp>
      <p:sp>
        <p:nvSpPr>
          <p:cNvPr id="6" name="TextBox 5">
            <a:extLst>
              <a:ext uri="{FF2B5EF4-FFF2-40B4-BE49-F238E27FC236}">
                <a16:creationId xmlns:a16="http://schemas.microsoft.com/office/drawing/2014/main" id="{3E325F83-2173-49A2-AEC7-401F031AB599}"/>
              </a:ext>
            </a:extLst>
          </p:cNvPr>
          <p:cNvSpPr txBox="1"/>
          <p:nvPr/>
        </p:nvSpPr>
        <p:spPr>
          <a:xfrm>
            <a:off x="1867" y="626377"/>
            <a:ext cx="1059521" cy="369332"/>
          </a:xfrm>
          <a:prstGeom prst="rect">
            <a:avLst/>
          </a:prstGeom>
          <a:noFill/>
        </p:spPr>
        <p:txBody>
          <a:bodyPr wrap="none" rtlCol="0">
            <a:spAutoFit/>
          </a:bodyPr>
          <a:lstStyle/>
          <a:p>
            <a:r>
              <a:rPr lang="en-US" b="1" dirty="0"/>
              <a:t>Example:</a:t>
            </a:r>
            <a:endParaRPr lang="en-PK" b="1" dirty="0"/>
          </a:p>
        </p:txBody>
      </p:sp>
      <p:sp>
        <p:nvSpPr>
          <p:cNvPr id="7" name="Title 1">
            <a:extLst>
              <a:ext uri="{FF2B5EF4-FFF2-40B4-BE49-F238E27FC236}">
                <a16:creationId xmlns:a16="http://schemas.microsoft.com/office/drawing/2014/main" id="{6F23D5C5-02FE-46DD-9801-80FAB4A88B84}"/>
              </a:ext>
            </a:extLst>
          </p:cNvPr>
          <p:cNvSpPr>
            <a:spLocks noGrp="1"/>
          </p:cNvSpPr>
          <p:nvPr>
            <p:ph type="title"/>
          </p:nvPr>
        </p:nvSpPr>
        <p:spPr>
          <a:xfrm>
            <a:off x="235098" y="90968"/>
            <a:ext cx="10515600" cy="687388"/>
          </a:xfrm>
        </p:spPr>
        <p:txBody>
          <a:bodyPr>
            <a:normAutofit/>
          </a:bodyPr>
          <a:lstStyle/>
          <a:p>
            <a:r>
              <a:rPr lang="en-US" sz="2800" b="1" dirty="0">
                <a:solidFill>
                  <a:schemeClr val="accent1">
                    <a:lumMod val="50000"/>
                  </a:schemeClr>
                </a:solidFill>
                <a:latin typeface="+mn-lt"/>
              </a:rPr>
              <a:t>Arrays of Objects:</a:t>
            </a:r>
            <a:endParaRPr lang="en-PK" sz="2800" b="1" dirty="0">
              <a:solidFill>
                <a:schemeClr val="accent1">
                  <a:lumMod val="50000"/>
                </a:schemeClr>
              </a:solidFill>
              <a:latin typeface="+mn-lt"/>
            </a:endParaRPr>
          </a:p>
        </p:txBody>
      </p:sp>
      <p:sp>
        <p:nvSpPr>
          <p:cNvPr id="8" name="Footer Placeholder 2">
            <a:extLst>
              <a:ext uri="{FF2B5EF4-FFF2-40B4-BE49-F238E27FC236}">
                <a16:creationId xmlns:a16="http://schemas.microsoft.com/office/drawing/2014/main" id="{3E099558-96DD-4442-B10D-2BEF9A29C848}"/>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 Hafeez Babar  (MUET-SZAB)                                                                                                                                                                                                             hafeez.babar@muetkhp.edu.pk</a:t>
            </a:r>
            <a:endParaRPr lang="en-PK" b="1" dirty="0">
              <a:solidFill>
                <a:schemeClr val="accent1"/>
              </a:solidFill>
            </a:endParaRPr>
          </a:p>
        </p:txBody>
      </p:sp>
    </p:spTree>
    <p:extLst>
      <p:ext uri="{BB962C8B-B14F-4D97-AF65-F5344CB8AC3E}">
        <p14:creationId xmlns:p14="http://schemas.microsoft.com/office/powerpoint/2010/main" val="33150755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1DAD33E-41F9-4776-9510-6731BB7794B8}"/>
              </a:ext>
            </a:extLst>
          </p:cNvPr>
          <p:cNvSpPr txBox="1"/>
          <p:nvPr/>
        </p:nvSpPr>
        <p:spPr>
          <a:xfrm>
            <a:off x="2060058" y="74235"/>
            <a:ext cx="6097772" cy="6709529"/>
          </a:xfrm>
          <a:prstGeom prst="rect">
            <a:avLst/>
          </a:prstGeom>
          <a:noFill/>
        </p:spPr>
        <p:txBody>
          <a:bodyPr wrap="square">
            <a:spAutoFit/>
          </a:bodyPr>
          <a:lstStyle/>
          <a:p>
            <a:pPr algn="l"/>
            <a:r>
              <a:rPr lang="en-US" sz="1600" b="1" i="0" dirty="0">
                <a:solidFill>
                  <a:srgbClr val="286491"/>
                </a:solidFill>
                <a:effectLst/>
                <a:latin typeface="inherit"/>
              </a:rPr>
              <a:t>class</a:t>
            </a:r>
            <a:r>
              <a:rPr lang="en-US" sz="1600" b="0" i="0" dirty="0">
                <a:solidFill>
                  <a:srgbClr val="000000"/>
                </a:solidFill>
                <a:effectLst/>
                <a:latin typeface="inherit"/>
              </a:rPr>
              <a:t> </a:t>
            </a:r>
            <a:r>
              <a:rPr lang="en-US" sz="1600" b="0" i="0" dirty="0" err="1">
                <a:solidFill>
                  <a:srgbClr val="000000"/>
                </a:solidFill>
                <a:effectLst/>
                <a:latin typeface="inherit"/>
              </a:rPr>
              <a:t>StudentRecord</a:t>
            </a:r>
            <a:endParaRPr lang="en-US" sz="1600" b="0" i="0" dirty="0">
              <a:solidFill>
                <a:srgbClr val="AAAAAA"/>
              </a:solidFill>
              <a:effectLst/>
              <a:latin typeface="Source Code Pro"/>
            </a:endParaRPr>
          </a:p>
          <a:p>
            <a:pPr algn="l"/>
            <a:r>
              <a:rPr lang="en-US" sz="1600" b="0" i="0" dirty="0">
                <a:solidFill>
                  <a:srgbClr val="777777"/>
                </a:solidFill>
                <a:effectLst/>
                <a:latin typeface="inherit"/>
              </a:rPr>
              <a:t>{</a:t>
            </a:r>
            <a:endParaRPr lang="en-US" sz="1600" b="0" i="0" dirty="0">
              <a:solidFill>
                <a:srgbClr val="AAAAAA"/>
              </a:solidFill>
              <a:effectLst/>
              <a:latin typeface="Source Code Pro"/>
            </a:endParaRPr>
          </a:p>
          <a:p>
            <a:pPr algn="l"/>
            <a:r>
              <a:rPr lang="en-US" sz="1600" b="1" i="0" dirty="0">
                <a:solidFill>
                  <a:srgbClr val="286491"/>
                </a:solidFill>
                <a:effectLst/>
                <a:latin typeface="inherit"/>
              </a:rPr>
              <a:t>public</a:t>
            </a:r>
            <a:r>
              <a:rPr lang="en-US" sz="1600" b="0" i="0" dirty="0">
                <a:solidFill>
                  <a:srgbClr val="000000"/>
                </a:solidFill>
                <a:effectLst/>
                <a:latin typeface="inherit"/>
              </a:rPr>
              <a:t> </a:t>
            </a:r>
            <a:r>
              <a:rPr lang="en-US" sz="1600" b="1" i="0" dirty="0">
                <a:solidFill>
                  <a:srgbClr val="286491"/>
                </a:solidFill>
                <a:effectLst/>
                <a:latin typeface="inherit"/>
              </a:rPr>
              <a:t>static</a:t>
            </a:r>
            <a:r>
              <a:rPr lang="en-US" sz="1600" b="0" i="0" dirty="0">
                <a:solidFill>
                  <a:srgbClr val="000000"/>
                </a:solidFill>
                <a:effectLst/>
                <a:latin typeface="inherit"/>
              </a:rPr>
              <a:t> </a:t>
            </a:r>
            <a:r>
              <a:rPr lang="en-US" sz="1600" b="1" i="0" dirty="0">
                <a:solidFill>
                  <a:srgbClr val="286491"/>
                </a:solidFill>
                <a:effectLst/>
                <a:latin typeface="inherit"/>
              </a:rPr>
              <a:t>void</a:t>
            </a:r>
            <a:r>
              <a:rPr lang="en-US" sz="1600" b="0" i="0" dirty="0">
                <a:solidFill>
                  <a:srgbClr val="000000"/>
                </a:solidFill>
                <a:effectLst/>
                <a:latin typeface="inherit"/>
              </a:rPr>
              <a:t> </a:t>
            </a:r>
            <a:r>
              <a:rPr lang="en-US" sz="1600" b="0" i="0" dirty="0">
                <a:solidFill>
                  <a:srgbClr val="0086B3"/>
                </a:solidFill>
                <a:effectLst/>
                <a:latin typeface="inherit"/>
              </a:rPr>
              <a:t>main</a:t>
            </a:r>
            <a:r>
              <a:rPr lang="en-US" sz="1600" b="0" i="0" dirty="0">
                <a:solidFill>
                  <a:srgbClr val="777777"/>
                </a:solidFill>
                <a:effectLst/>
                <a:latin typeface="inherit"/>
              </a:rPr>
              <a:t>(</a:t>
            </a:r>
            <a:r>
              <a:rPr lang="en-US" sz="1600" b="1" i="0" dirty="0">
                <a:solidFill>
                  <a:srgbClr val="286491"/>
                </a:solidFill>
                <a:effectLst/>
                <a:latin typeface="inherit"/>
              </a:rPr>
              <a:t>String</a:t>
            </a:r>
            <a:r>
              <a:rPr lang="en-US" sz="1600" b="0" i="0" dirty="0">
                <a:solidFill>
                  <a:srgbClr val="777777"/>
                </a:solidFill>
                <a:effectLst/>
                <a:latin typeface="inherit"/>
              </a:rPr>
              <a:t>[]</a:t>
            </a:r>
            <a:r>
              <a:rPr lang="en-US" sz="1600" b="0" i="0" dirty="0">
                <a:solidFill>
                  <a:srgbClr val="000000"/>
                </a:solidFill>
                <a:effectLst/>
                <a:latin typeface="inherit"/>
              </a:rPr>
              <a:t> </a:t>
            </a:r>
            <a:r>
              <a:rPr lang="en-US" sz="1600" b="0" i="0" dirty="0" err="1">
                <a:solidFill>
                  <a:srgbClr val="000000"/>
                </a:solidFill>
                <a:effectLst/>
                <a:latin typeface="inherit"/>
              </a:rPr>
              <a:t>args</a:t>
            </a:r>
            <a:r>
              <a:rPr lang="en-US" sz="1600" b="0" i="0" dirty="0">
                <a:solidFill>
                  <a:srgbClr val="777777"/>
                </a:solidFill>
                <a:effectLst/>
                <a:latin typeface="inherit"/>
              </a:rPr>
              <a:t>)</a:t>
            </a:r>
            <a:r>
              <a:rPr lang="en-US" sz="1600" b="0" i="0" dirty="0">
                <a:solidFill>
                  <a:srgbClr val="000000"/>
                </a:solidFill>
                <a:effectLst/>
                <a:latin typeface="inherit"/>
              </a:rPr>
              <a:t> </a:t>
            </a:r>
            <a:endParaRPr lang="en-US" sz="1600" b="0" i="0" dirty="0">
              <a:solidFill>
                <a:srgbClr val="AAAAAA"/>
              </a:solidFill>
              <a:effectLst/>
              <a:latin typeface="Source Code Pro"/>
            </a:endParaRPr>
          </a:p>
          <a:p>
            <a:pPr algn="l"/>
            <a:r>
              <a:rPr lang="en-US" sz="1600" b="0" i="0" dirty="0">
                <a:solidFill>
                  <a:srgbClr val="777777"/>
                </a:solidFill>
                <a:effectLst/>
                <a:latin typeface="inherit"/>
              </a:rPr>
              <a:t>{</a:t>
            </a:r>
            <a:endParaRPr lang="en-US" sz="1600" b="0" i="0" dirty="0">
              <a:solidFill>
                <a:srgbClr val="AAAAAA"/>
              </a:solidFill>
              <a:effectLst/>
              <a:latin typeface="Source Code Pro"/>
            </a:endParaRPr>
          </a:p>
          <a:p>
            <a:pPr algn="l"/>
            <a:r>
              <a:rPr lang="en-US" sz="1600" b="0" i="0" dirty="0">
                <a:solidFill>
                  <a:srgbClr val="000000"/>
                </a:solidFill>
                <a:effectLst/>
                <a:latin typeface="inherit"/>
              </a:rPr>
              <a:t>Student</a:t>
            </a:r>
            <a:r>
              <a:rPr lang="en-US" sz="1600" b="0" i="0" dirty="0">
                <a:solidFill>
                  <a:srgbClr val="777777"/>
                </a:solidFill>
                <a:effectLst/>
                <a:latin typeface="inherit"/>
              </a:rPr>
              <a:t>[]</a:t>
            </a:r>
            <a:r>
              <a:rPr lang="en-US" sz="1600" b="0" i="0" dirty="0">
                <a:solidFill>
                  <a:srgbClr val="000000"/>
                </a:solidFill>
                <a:effectLst/>
                <a:latin typeface="inherit"/>
              </a:rPr>
              <a:t> </a:t>
            </a:r>
            <a:r>
              <a:rPr lang="en-US" sz="1600" b="0" i="0" dirty="0" err="1">
                <a:solidFill>
                  <a:srgbClr val="000000"/>
                </a:solidFill>
                <a:effectLst/>
                <a:latin typeface="inherit"/>
              </a:rPr>
              <a:t>recordOfStudent</a:t>
            </a:r>
            <a:r>
              <a:rPr lang="en-US" sz="1600" b="0" i="0" dirty="0">
                <a:solidFill>
                  <a:srgbClr val="000000"/>
                </a:solidFill>
                <a:effectLst/>
                <a:latin typeface="inherit"/>
              </a:rPr>
              <a:t> = </a:t>
            </a:r>
            <a:r>
              <a:rPr lang="en-US" sz="1600" b="0" i="0" dirty="0">
                <a:solidFill>
                  <a:srgbClr val="4DA0D2"/>
                </a:solidFill>
                <a:effectLst/>
                <a:latin typeface="inherit"/>
              </a:rPr>
              <a:t>new</a:t>
            </a:r>
            <a:r>
              <a:rPr lang="en-US" sz="1600" b="0" i="0" dirty="0">
                <a:solidFill>
                  <a:srgbClr val="000000"/>
                </a:solidFill>
                <a:effectLst/>
                <a:latin typeface="inherit"/>
              </a:rPr>
              <a:t> Student</a:t>
            </a:r>
            <a:r>
              <a:rPr lang="en-US" sz="1600" b="0" i="0" dirty="0">
                <a:solidFill>
                  <a:srgbClr val="777777"/>
                </a:solidFill>
                <a:effectLst/>
                <a:latin typeface="inherit"/>
              </a:rPr>
              <a:t>[</a:t>
            </a:r>
            <a:r>
              <a:rPr lang="en-US" sz="1600" b="0" i="0" dirty="0">
                <a:solidFill>
                  <a:srgbClr val="009999"/>
                </a:solidFill>
                <a:effectLst/>
                <a:latin typeface="inherit"/>
              </a:rPr>
              <a:t>3</a:t>
            </a:r>
            <a:r>
              <a:rPr lang="en-US" sz="1600" b="0" i="0" dirty="0">
                <a:solidFill>
                  <a:srgbClr val="777777"/>
                </a:solidFill>
                <a:effectLst/>
                <a:latin typeface="inherit"/>
              </a:rPr>
              <a:t>]</a:t>
            </a:r>
            <a:r>
              <a:rPr lang="en-US" sz="1600" b="0" i="0" dirty="0">
                <a:solidFill>
                  <a:srgbClr val="000000"/>
                </a:solidFill>
                <a:effectLst/>
                <a:latin typeface="inherit"/>
              </a:rPr>
              <a:t>;</a:t>
            </a:r>
            <a:endParaRPr lang="en-US" sz="1600" b="0" i="0" dirty="0">
              <a:solidFill>
                <a:srgbClr val="AAAAAA"/>
              </a:solidFill>
              <a:effectLst/>
              <a:latin typeface="Source Code Pro"/>
            </a:endParaRPr>
          </a:p>
          <a:p>
            <a:pPr algn="l"/>
            <a:r>
              <a:rPr lang="en-US" sz="1600" b="0" i="0" dirty="0">
                <a:solidFill>
                  <a:srgbClr val="9999AA"/>
                </a:solidFill>
                <a:effectLst/>
                <a:latin typeface="inherit"/>
              </a:rPr>
              <a:t>// First student record</a:t>
            </a:r>
            <a:endParaRPr lang="en-US" sz="1600" b="0" i="0" dirty="0">
              <a:solidFill>
                <a:srgbClr val="AAAAAA"/>
              </a:solidFill>
              <a:effectLst/>
              <a:latin typeface="Source Code Pro"/>
            </a:endParaRPr>
          </a:p>
          <a:p>
            <a:pPr algn="l"/>
            <a:r>
              <a:rPr lang="en-US" sz="1600" b="0" i="0" dirty="0">
                <a:solidFill>
                  <a:srgbClr val="000000"/>
                </a:solidFill>
                <a:effectLst/>
                <a:latin typeface="inherit"/>
              </a:rPr>
              <a:t>Student </a:t>
            </a:r>
            <a:r>
              <a:rPr lang="en-US" sz="1600" b="0" i="0" dirty="0" err="1">
                <a:solidFill>
                  <a:srgbClr val="000000"/>
                </a:solidFill>
                <a:effectLst/>
                <a:latin typeface="inherit"/>
              </a:rPr>
              <a:t>firstStudent</a:t>
            </a:r>
            <a:r>
              <a:rPr lang="en-US" sz="1600" b="0" i="0" dirty="0">
                <a:solidFill>
                  <a:srgbClr val="000000"/>
                </a:solidFill>
                <a:effectLst/>
                <a:latin typeface="inherit"/>
              </a:rPr>
              <a:t> = </a:t>
            </a:r>
            <a:r>
              <a:rPr lang="en-US" sz="1600" b="0" i="0" dirty="0">
                <a:solidFill>
                  <a:srgbClr val="4DA0D2"/>
                </a:solidFill>
                <a:effectLst/>
                <a:latin typeface="inherit"/>
              </a:rPr>
              <a:t>new</a:t>
            </a:r>
            <a:r>
              <a:rPr lang="en-US" sz="1600" b="0" i="0" dirty="0">
                <a:solidFill>
                  <a:srgbClr val="000000"/>
                </a:solidFill>
                <a:effectLst/>
                <a:latin typeface="inherit"/>
              </a:rPr>
              <a:t> </a:t>
            </a:r>
            <a:r>
              <a:rPr lang="en-US" sz="1600" b="0" i="0" dirty="0">
                <a:solidFill>
                  <a:srgbClr val="0086B3"/>
                </a:solidFill>
                <a:effectLst/>
                <a:latin typeface="inherit"/>
              </a:rPr>
              <a:t>Student</a:t>
            </a:r>
            <a:r>
              <a:rPr lang="en-US" sz="1600" b="0" i="0" dirty="0">
                <a:solidFill>
                  <a:srgbClr val="777777"/>
                </a:solidFill>
                <a:effectLst/>
                <a:latin typeface="inherit"/>
              </a:rPr>
              <a:t>()</a:t>
            </a:r>
            <a:r>
              <a:rPr lang="en-US" sz="1600" b="0" i="0" dirty="0">
                <a:solidFill>
                  <a:srgbClr val="000000"/>
                </a:solidFill>
                <a:effectLst/>
                <a:latin typeface="inherit"/>
              </a:rPr>
              <a:t>;</a:t>
            </a:r>
            <a:endParaRPr lang="en-US" sz="1600" b="0" i="0" dirty="0">
              <a:solidFill>
                <a:srgbClr val="AAAAAA"/>
              </a:solidFill>
              <a:effectLst/>
              <a:latin typeface="Source Code Pro"/>
            </a:endParaRPr>
          </a:p>
          <a:p>
            <a:pPr algn="l"/>
            <a:r>
              <a:rPr lang="en-US" sz="1600" b="0" i="0" dirty="0" err="1">
                <a:solidFill>
                  <a:srgbClr val="000000"/>
                </a:solidFill>
                <a:effectLst/>
                <a:latin typeface="inherit"/>
              </a:rPr>
              <a:t>firstStudent.</a:t>
            </a:r>
            <a:r>
              <a:rPr lang="en-US" sz="1600" b="0" i="0" dirty="0" err="1">
                <a:solidFill>
                  <a:srgbClr val="0086B3"/>
                </a:solidFill>
                <a:effectLst/>
                <a:latin typeface="inherit"/>
              </a:rPr>
              <a:t>setRollNo</a:t>
            </a:r>
            <a:r>
              <a:rPr lang="en-US" sz="1600" b="0" i="0" dirty="0">
                <a:solidFill>
                  <a:srgbClr val="777777"/>
                </a:solidFill>
                <a:effectLst/>
                <a:latin typeface="inherit"/>
              </a:rPr>
              <a:t>(</a:t>
            </a:r>
            <a:r>
              <a:rPr lang="en-US" sz="1600" b="0" i="0" dirty="0">
                <a:solidFill>
                  <a:srgbClr val="009999"/>
                </a:solidFill>
                <a:effectLst/>
                <a:latin typeface="inherit"/>
              </a:rPr>
              <a:t>1</a:t>
            </a:r>
            <a:r>
              <a:rPr lang="en-US" sz="1600" b="0" i="0" dirty="0">
                <a:solidFill>
                  <a:srgbClr val="777777"/>
                </a:solidFill>
                <a:effectLst/>
                <a:latin typeface="inherit"/>
              </a:rPr>
              <a:t>)</a:t>
            </a:r>
            <a:r>
              <a:rPr lang="en-US" sz="1600" b="0" i="0" dirty="0">
                <a:solidFill>
                  <a:srgbClr val="000000"/>
                </a:solidFill>
                <a:effectLst/>
                <a:latin typeface="inherit"/>
              </a:rPr>
              <a:t>;</a:t>
            </a:r>
            <a:endParaRPr lang="en-US" sz="1600" b="0" i="0" dirty="0">
              <a:solidFill>
                <a:srgbClr val="AAAAAA"/>
              </a:solidFill>
              <a:effectLst/>
              <a:latin typeface="Source Code Pro"/>
            </a:endParaRPr>
          </a:p>
          <a:p>
            <a:pPr algn="l"/>
            <a:r>
              <a:rPr lang="en-US" sz="1600" b="0" i="0" dirty="0" err="1">
                <a:solidFill>
                  <a:srgbClr val="000000"/>
                </a:solidFill>
                <a:effectLst/>
                <a:latin typeface="inherit"/>
              </a:rPr>
              <a:t>firstStudent.</a:t>
            </a:r>
            <a:r>
              <a:rPr lang="en-US" sz="1600" b="0" i="0" dirty="0" err="1">
                <a:solidFill>
                  <a:srgbClr val="0086B3"/>
                </a:solidFill>
                <a:effectLst/>
                <a:latin typeface="inherit"/>
              </a:rPr>
              <a:t>setName</a:t>
            </a:r>
            <a:r>
              <a:rPr lang="en-US" sz="1600" b="0" i="0" dirty="0">
                <a:solidFill>
                  <a:srgbClr val="777777"/>
                </a:solidFill>
                <a:effectLst/>
                <a:latin typeface="inherit"/>
              </a:rPr>
              <a:t>(</a:t>
            </a:r>
            <a:r>
              <a:rPr lang="en-US" sz="1600" b="0" i="0" dirty="0">
                <a:solidFill>
                  <a:srgbClr val="DD1144"/>
                </a:solidFill>
                <a:effectLst/>
                <a:latin typeface="inherit"/>
              </a:rPr>
              <a:t>"Ravi </a:t>
            </a:r>
            <a:r>
              <a:rPr lang="en-US" sz="1600" b="0" i="0" dirty="0" err="1">
                <a:solidFill>
                  <a:srgbClr val="DD1144"/>
                </a:solidFill>
                <a:effectLst/>
                <a:latin typeface="inherit"/>
              </a:rPr>
              <a:t>kant</a:t>
            </a:r>
            <a:r>
              <a:rPr lang="en-US" sz="1600" b="0" i="0" dirty="0">
                <a:solidFill>
                  <a:srgbClr val="DD1144"/>
                </a:solidFill>
                <a:effectLst/>
                <a:latin typeface="inherit"/>
              </a:rPr>
              <a:t>"</a:t>
            </a:r>
            <a:r>
              <a:rPr lang="en-US" sz="1600" b="0" i="0" dirty="0">
                <a:solidFill>
                  <a:srgbClr val="777777"/>
                </a:solidFill>
                <a:effectLst/>
                <a:latin typeface="inherit"/>
              </a:rPr>
              <a:t>)</a:t>
            </a:r>
            <a:r>
              <a:rPr lang="en-US" sz="1600" b="0" i="0" dirty="0">
                <a:solidFill>
                  <a:srgbClr val="000000"/>
                </a:solidFill>
                <a:effectLst/>
                <a:latin typeface="inherit"/>
              </a:rPr>
              <a:t>;</a:t>
            </a:r>
            <a:endParaRPr lang="en-US" sz="1600" b="0" i="0" dirty="0">
              <a:solidFill>
                <a:srgbClr val="AAAAAA"/>
              </a:solidFill>
              <a:effectLst/>
              <a:latin typeface="Source Code Pro"/>
            </a:endParaRPr>
          </a:p>
          <a:p>
            <a:pPr algn="l"/>
            <a:r>
              <a:rPr lang="en-US" sz="1600" b="0" i="0" dirty="0" err="1">
                <a:solidFill>
                  <a:srgbClr val="000000"/>
                </a:solidFill>
                <a:effectLst/>
                <a:latin typeface="inherit"/>
              </a:rPr>
              <a:t>firstStudent.</a:t>
            </a:r>
            <a:r>
              <a:rPr lang="en-US" sz="1600" b="0" i="0" dirty="0" err="1">
                <a:solidFill>
                  <a:srgbClr val="0086B3"/>
                </a:solidFill>
                <a:effectLst/>
                <a:latin typeface="inherit"/>
              </a:rPr>
              <a:t>setClassName</a:t>
            </a:r>
            <a:r>
              <a:rPr lang="en-US" sz="1600" b="0" i="0" dirty="0">
                <a:solidFill>
                  <a:srgbClr val="777777"/>
                </a:solidFill>
                <a:effectLst/>
                <a:latin typeface="inherit"/>
              </a:rPr>
              <a:t>(</a:t>
            </a:r>
            <a:r>
              <a:rPr lang="en-US" sz="1600" b="0" i="0" dirty="0">
                <a:solidFill>
                  <a:srgbClr val="DD1144"/>
                </a:solidFill>
                <a:effectLst/>
                <a:latin typeface="inherit"/>
              </a:rPr>
              <a:t>"MCA"</a:t>
            </a:r>
            <a:r>
              <a:rPr lang="en-US" sz="1600" b="0" i="0" dirty="0">
                <a:solidFill>
                  <a:srgbClr val="777777"/>
                </a:solidFill>
                <a:effectLst/>
                <a:latin typeface="inherit"/>
              </a:rPr>
              <a:t>)</a:t>
            </a:r>
            <a:r>
              <a:rPr lang="en-US" sz="1600" b="0" i="0" dirty="0">
                <a:solidFill>
                  <a:srgbClr val="000000"/>
                </a:solidFill>
                <a:effectLst/>
                <a:latin typeface="inherit"/>
              </a:rPr>
              <a:t>;</a:t>
            </a:r>
            <a:endParaRPr lang="en-US" sz="1600" b="0" i="0" dirty="0">
              <a:solidFill>
                <a:srgbClr val="AAAAAA"/>
              </a:solidFill>
              <a:effectLst/>
              <a:latin typeface="Source Code Pro"/>
            </a:endParaRPr>
          </a:p>
          <a:p>
            <a:pPr algn="l"/>
            <a:r>
              <a:rPr lang="en-US" sz="1600" b="0" i="0" dirty="0" err="1">
                <a:solidFill>
                  <a:srgbClr val="000000"/>
                </a:solidFill>
                <a:effectLst/>
                <a:latin typeface="inherit"/>
              </a:rPr>
              <a:t>recordOfStudent</a:t>
            </a:r>
            <a:r>
              <a:rPr lang="en-US" sz="1600" b="0" i="0" dirty="0">
                <a:solidFill>
                  <a:srgbClr val="777777"/>
                </a:solidFill>
                <a:effectLst/>
                <a:latin typeface="inherit"/>
              </a:rPr>
              <a:t>[</a:t>
            </a:r>
            <a:r>
              <a:rPr lang="en-US" sz="1600" b="0" i="0" dirty="0">
                <a:solidFill>
                  <a:srgbClr val="009999"/>
                </a:solidFill>
                <a:effectLst/>
                <a:latin typeface="inherit"/>
              </a:rPr>
              <a:t>0</a:t>
            </a:r>
            <a:r>
              <a:rPr lang="en-US" sz="1600" b="0" i="0" dirty="0">
                <a:solidFill>
                  <a:srgbClr val="777777"/>
                </a:solidFill>
                <a:effectLst/>
                <a:latin typeface="inherit"/>
              </a:rPr>
              <a:t>]</a:t>
            </a:r>
            <a:r>
              <a:rPr lang="en-US" sz="1600" b="0" i="0" dirty="0">
                <a:solidFill>
                  <a:srgbClr val="000000"/>
                </a:solidFill>
                <a:effectLst/>
                <a:latin typeface="inherit"/>
              </a:rPr>
              <a:t> = </a:t>
            </a:r>
            <a:r>
              <a:rPr lang="en-US" sz="1600" b="0" i="0" dirty="0" err="1">
                <a:solidFill>
                  <a:srgbClr val="000000"/>
                </a:solidFill>
                <a:effectLst/>
                <a:latin typeface="inherit"/>
              </a:rPr>
              <a:t>firstStudent</a:t>
            </a:r>
            <a:r>
              <a:rPr lang="en-US" sz="1600" b="0" i="0" dirty="0">
                <a:solidFill>
                  <a:srgbClr val="000000"/>
                </a:solidFill>
                <a:effectLst/>
                <a:latin typeface="inherit"/>
              </a:rPr>
              <a:t>;</a:t>
            </a:r>
            <a:endParaRPr lang="en-US" sz="1600" b="0" i="0" dirty="0">
              <a:solidFill>
                <a:srgbClr val="AAAAAA"/>
              </a:solidFill>
              <a:effectLst/>
              <a:latin typeface="Source Code Pro"/>
            </a:endParaRPr>
          </a:p>
          <a:p>
            <a:pPr algn="l"/>
            <a:r>
              <a:rPr lang="en-US" sz="1600" b="0" i="0" dirty="0">
                <a:solidFill>
                  <a:srgbClr val="9999AA"/>
                </a:solidFill>
                <a:effectLst/>
                <a:latin typeface="inherit"/>
              </a:rPr>
              <a:t>// Second student record</a:t>
            </a:r>
            <a:endParaRPr lang="en-US" sz="1600" b="0" i="0" dirty="0">
              <a:solidFill>
                <a:srgbClr val="AAAAAA"/>
              </a:solidFill>
              <a:effectLst/>
              <a:latin typeface="Source Code Pro"/>
            </a:endParaRPr>
          </a:p>
          <a:p>
            <a:pPr algn="l"/>
            <a:r>
              <a:rPr lang="en-US" sz="1600" b="0" i="0" dirty="0">
                <a:solidFill>
                  <a:srgbClr val="000000"/>
                </a:solidFill>
                <a:effectLst/>
                <a:latin typeface="inherit"/>
              </a:rPr>
              <a:t>Student </a:t>
            </a:r>
            <a:r>
              <a:rPr lang="en-US" sz="1600" b="0" i="0" dirty="0" err="1">
                <a:solidFill>
                  <a:srgbClr val="000000"/>
                </a:solidFill>
                <a:effectLst/>
                <a:latin typeface="inherit"/>
              </a:rPr>
              <a:t>secondStudent</a:t>
            </a:r>
            <a:r>
              <a:rPr lang="en-US" sz="1600" b="0" i="0" dirty="0">
                <a:solidFill>
                  <a:srgbClr val="000000"/>
                </a:solidFill>
                <a:effectLst/>
                <a:latin typeface="inherit"/>
              </a:rPr>
              <a:t> = </a:t>
            </a:r>
            <a:r>
              <a:rPr lang="en-US" sz="1600" b="0" i="0" dirty="0">
                <a:solidFill>
                  <a:srgbClr val="4DA0D2"/>
                </a:solidFill>
                <a:effectLst/>
                <a:latin typeface="inherit"/>
              </a:rPr>
              <a:t>new</a:t>
            </a:r>
            <a:r>
              <a:rPr lang="en-US" sz="1600" b="0" i="0" dirty="0">
                <a:solidFill>
                  <a:srgbClr val="000000"/>
                </a:solidFill>
                <a:effectLst/>
                <a:latin typeface="inherit"/>
              </a:rPr>
              <a:t> </a:t>
            </a:r>
            <a:r>
              <a:rPr lang="en-US" sz="1600" b="0" i="0" dirty="0">
                <a:solidFill>
                  <a:srgbClr val="0086B3"/>
                </a:solidFill>
                <a:effectLst/>
                <a:latin typeface="inherit"/>
              </a:rPr>
              <a:t>Student</a:t>
            </a:r>
            <a:r>
              <a:rPr lang="en-US" sz="1600" b="0" i="0" dirty="0">
                <a:solidFill>
                  <a:srgbClr val="777777"/>
                </a:solidFill>
                <a:effectLst/>
                <a:latin typeface="inherit"/>
              </a:rPr>
              <a:t>()</a:t>
            </a:r>
            <a:r>
              <a:rPr lang="en-US" sz="1600" b="0" i="0" dirty="0">
                <a:solidFill>
                  <a:srgbClr val="000000"/>
                </a:solidFill>
                <a:effectLst/>
                <a:latin typeface="inherit"/>
              </a:rPr>
              <a:t>;</a:t>
            </a:r>
            <a:endParaRPr lang="en-US" sz="1600" b="0" i="0" dirty="0">
              <a:solidFill>
                <a:srgbClr val="AAAAAA"/>
              </a:solidFill>
              <a:effectLst/>
              <a:latin typeface="Source Code Pro"/>
            </a:endParaRPr>
          </a:p>
          <a:p>
            <a:pPr algn="l"/>
            <a:r>
              <a:rPr lang="en-US" sz="1600" b="0" i="0" dirty="0" err="1">
                <a:solidFill>
                  <a:srgbClr val="000000"/>
                </a:solidFill>
                <a:effectLst/>
                <a:latin typeface="inherit"/>
              </a:rPr>
              <a:t>secondStudent.</a:t>
            </a:r>
            <a:r>
              <a:rPr lang="en-US" sz="1600" b="0" i="0" dirty="0" err="1">
                <a:solidFill>
                  <a:srgbClr val="0086B3"/>
                </a:solidFill>
                <a:effectLst/>
                <a:latin typeface="inherit"/>
              </a:rPr>
              <a:t>setRollNo</a:t>
            </a:r>
            <a:r>
              <a:rPr lang="en-US" sz="1600" b="0" i="0" dirty="0">
                <a:solidFill>
                  <a:srgbClr val="777777"/>
                </a:solidFill>
                <a:effectLst/>
                <a:latin typeface="inherit"/>
              </a:rPr>
              <a:t>(</a:t>
            </a:r>
            <a:r>
              <a:rPr lang="en-US" sz="1600" b="0" i="0" dirty="0">
                <a:solidFill>
                  <a:srgbClr val="009999"/>
                </a:solidFill>
                <a:effectLst/>
                <a:latin typeface="inherit"/>
              </a:rPr>
              <a:t>2</a:t>
            </a:r>
            <a:r>
              <a:rPr lang="en-US" sz="1600" b="0" i="0" dirty="0">
                <a:solidFill>
                  <a:srgbClr val="777777"/>
                </a:solidFill>
                <a:effectLst/>
                <a:latin typeface="inherit"/>
              </a:rPr>
              <a:t>)</a:t>
            </a:r>
            <a:r>
              <a:rPr lang="en-US" sz="1600" b="0" i="0" dirty="0">
                <a:solidFill>
                  <a:srgbClr val="000000"/>
                </a:solidFill>
                <a:effectLst/>
                <a:latin typeface="inherit"/>
              </a:rPr>
              <a:t>;</a:t>
            </a:r>
            <a:endParaRPr lang="en-US" sz="1600" b="0" i="0" dirty="0">
              <a:solidFill>
                <a:srgbClr val="AAAAAA"/>
              </a:solidFill>
              <a:effectLst/>
              <a:latin typeface="Source Code Pro"/>
            </a:endParaRPr>
          </a:p>
          <a:p>
            <a:pPr algn="l"/>
            <a:r>
              <a:rPr lang="en-US" sz="1600" b="0" i="0" dirty="0" err="1">
                <a:solidFill>
                  <a:srgbClr val="000000"/>
                </a:solidFill>
                <a:effectLst/>
                <a:latin typeface="inherit"/>
              </a:rPr>
              <a:t>secondStudent.</a:t>
            </a:r>
            <a:r>
              <a:rPr lang="en-US" sz="1600" b="0" i="0" dirty="0" err="1">
                <a:solidFill>
                  <a:srgbClr val="0086B3"/>
                </a:solidFill>
                <a:effectLst/>
                <a:latin typeface="inherit"/>
              </a:rPr>
              <a:t>setName</a:t>
            </a:r>
            <a:r>
              <a:rPr lang="en-US" sz="1600" b="0" i="0" dirty="0">
                <a:solidFill>
                  <a:srgbClr val="777777"/>
                </a:solidFill>
                <a:effectLst/>
                <a:latin typeface="inherit"/>
              </a:rPr>
              <a:t>(</a:t>
            </a:r>
            <a:r>
              <a:rPr lang="en-US" sz="1600" b="0" i="0" dirty="0">
                <a:solidFill>
                  <a:srgbClr val="DD1144"/>
                </a:solidFill>
                <a:effectLst/>
                <a:latin typeface="inherit"/>
              </a:rPr>
              <a:t>"Rama"</a:t>
            </a:r>
            <a:r>
              <a:rPr lang="en-US" sz="1600" b="0" i="0" dirty="0">
                <a:solidFill>
                  <a:srgbClr val="777777"/>
                </a:solidFill>
                <a:effectLst/>
                <a:latin typeface="inherit"/>
              </a:rPr>
              <a:t>)</a:t>
            </a:r>
            <a:r>
              <a:rPr lang="en-US" sz="1600" b="0" i="0" dirty="0">
                <a:solidFill>
                  <a:srgbClr val="000000"/>
                </a:solidFill>
                <a:effectLst/>
                <a:latin typeface="inherit"/>
              </a:rPr>
              <a:t>;</a:t>
            </a:r>
            <a:endParaRPr lang="en-US" sz="1600" b="0" i="0" dirty="0">
              <a:solidFill>
                <a:srgbClr val="AAAAAA"/>
              </a:solidFill>
              <a:effectLst/>
              <a:latin typeface="Source Code Pro"/>
            </a:endParaRPr>
          </a:p>
          <a:p>
            <a:pPr algn="l"/>
            <a:r>
              <a:rPr lang="en-US" sz="1600" b="0" i="0" dirty="0" err="1">
                <a:solidFill>
                  <a:srgbClr val="000000"/>
                </a:solidFill>
                <a:effectLst/>
                <a:latin typeface="inherit"/>
              </a:rPr>
              <a:t>secondStudent.</a:t>
            </a:r>
            <a:r>
              <a:rPr lang="en-US" sz="1600" b="0" i="0" dirty="0" err="1">
                <a:solidFill>
                  <a:srgbClr val="0086B3"/>
                </a:solidFill>
                <a:effectLst/>
                <a:latin typeface="inherit"/>
              </a:rPr>
              <a:t>setClassName</a:t>
            </a:r>
            <a:r>
              <a:rPr lang="en-US" sz="1600" b="0" i="0" dirty="0">
                <a:solidFill>
                  <a:srgbClr val="777777"/>
                </a:solidFill>
                <a:effectLst/>
                <a:latin typeface="inherit"/>
              </a:rPr>
              <a:t>(</a:t>
            </a:r>
            <a:r>
              <a:rPr lang="en-US" sz="1600" b="0" i="0" dirty="0">
                <a:solidFill>
                  <a:srgbClr val="DD1144"/>
                </a:solidFill>
                <a:effectLst/>
                <a:latin typeface="inherit"/>
              </a:rPr>
              <a:t>"MCA"</a:t>
            </a:r>
            <a:r>
              <a:rPr lang="en-US" sz="1600" b="0" i="0" dirty="0">
                <a:solidFill>
                  <a:srgbClr val="777777"/>
                </a:solidFill>
                <a:effectLst/>
                <a:latin typeface="inherit"/>
              </a:rPr>
              <a:t>)</a:t>
            </a:r>
            <a:r>
              <a:rPr lang="en-US" sz="1600" b="0" i="0" dirty="0">
                <a:solidFill>
                  <a:srgbClr val="000000"/>
                </a:solidFill>
                <a:effectLst/>
                <a:latin typeface="inherit"/>
              </a:rPr>
              <a:t>;</a:t>
            </a:r>
            <a:endParaRPr lang="en-US" sz="1600" b="0" i="0" dirty="0">
              <a:solidFill>
                <a:srgbClr val="AAAAAA"/>
              </a:solidFill>
              <a:effectLst/>
              <a:latin typeface="Source Code Pro"/>
            </a:endParaRPr>
          </a:p>
          <a:p>
            <a:pPr algn="l"/>
            <a:r>
              <a:rPr lang="en-US" sz="1600" b="0" i="0" dirty="0" err="1">
                <a:solidFill>
                  <a:srgbClr val="000000"/>
                </a:solidFill>
                <a:effectLst/>
                <a:latin typeface="inherit"/>
              </a:rPr>
              <a:t>recordOfStudent</a:t>
            </a:r>
            <a:r>
              <a:rPr lang="en-US" sz="1600" b="0" i="0" dirty="0">
                <a:solidFill>
                  <a:srgbClr val="777777"/>
                </a:solidFill>
                <a:effectLst/>
                <a:latin typeface="inherit"/>
              </a:rPr>
              <a:t>[</a:t>
            </a:r>
            <a:r>
              <a:rPr lang="en-US" sz="1600" b="0" i="0" dirty="0">
                <a:solidFill>
                  <a:srgbClr val="009999"/>
                </a:solidFill>
                <a:effectLst/>
                <a:latin typeface="inherit"/>
              </a:rPr>
              <a:t>1</a:t>
            </a:r>
            <a:r>
              <a:rPr lang="en-US" sz="1600" b="0" i="0" dirty="0">
                <a:solidFill>
                  <a:srgbClr val="777777"/>
                </a:solidFill>
                <a:effectLst/>
                <a:latin typeface="inherit"/>
              </a:rPr>
              <a:t>]</a:t>
            </a:r>
            <a:r>
              <a:rPr lang="en-US" sz="1600" b="0" i="0" dirty="0">
                <a:solidFill>
                  <a:srgbClr val="000000"/>
                </a:solidFill>
                <a:effectLst/>
                <a:latin typeface="inherit"/>
              </a:rPr>
              <a:t> = </a:t>
            </a:r>
            <a:r>
              <a:rPr lang="en-US" sz="1600" b="0" i="0" dirty="0" err="1">
                <a:solidFill>
                  <a:srgbClr val="000000"/>
                </a:solidFill>
                <a:effectLst/>
                <a:latin typeface="inherit"/>
              </a:rPr>
              <a:t>secondStudent</a:t>
            </a:r>
            <a:r>
              <a:rPr lang="en-US" sz="1600" b="0" i="0" dirty="0">
                <a:solidFill>
                  <a:srgbClr val="000000"/>
                </a:solidFill>
                <a:effectLst/>
                <a:latin typeface="inherit"/>
              </a:rPr>
              <a:t>;</a:t>
            </a:r>
            <a:endParaRPr lang="en-US" sz="1600" b="0" i="0" dirty="0">
              <a:solidFill>
                <a:srgbClr val="AAAAAA"/>
              </a:solidFill>
              <a:effectLst/>
              <a:latin typeface="Source Code Pro"/>
            </a:endParaRPr>
          </a:p>
          <a:p>
            <a:pPr algn="l"/>
            <a:r>
              <a:rPr lang="en-US" sz="1600" b="0" i="0" dirty="0">
                <a:solidFill>
                  <a:srgbClr val="9999AA"/>
                </a:solidFill>
                <a:effectLst/>
                <a:latin typeface="inherit"/>
              </a:rPr>
              <a:t>// Third student record</a:t>
            </a:r>
            <a:endParaRPr lang="en-US" sz="1600" b="0" i="0" dirty="0">
              <a:solidFill>
                <a:srgbClr val="AAAAAA"/>
              </a:solidFill>
              <a:effectLst/>
              <a:latin typeface="Source Code Pro"/>
            </a:endParaRPr>
          </a:p>
          <a:p>
            <a:pPr algn="l"/>
            <a:r>
              <a:rPr lang="en-US" sz="1600" b="0" i="0" dirty="0">
                <a:solidFill>
                  <a:srgbClr val="000000"/>
                </a:solidFill>
                <a:effectLst/>
                <a:latin typeface="inherit"/>
              </a:rPr>
              <a:t>Student </a:t>
            </a:r>
            <a:r>
              <a:rPr lang="en-US" sz="1600" b="0" i="0" dirty="0" err="1">
                <a:solidFill>
                  <a:srgbClr val="000000"/>
                </a:solidFill>
                <a:effectLst/>
                <a:latin typeface="inherit"/>
              </a:rPr>
              <a:t>thirdStudent</a:t>
            </a:r>
            <a:r>
              <a:rPr lang="en-US" sz="1600" b="0" i="0" dirty="0">
                <a:solidFill>
                  <a:srgbClr val="000000"/>
                </a:solidFill>
                <a:effectLst/>
                <a:latin typeface="inherit"/>
              </a:rPr>
              <a:t> = </a:t>
            </a:r>
            <a:r>
              <a:rPr lang="en-US" sz="1600" b="0" i="0" dirty="0">
                <a:solidFill>
                  <a:srgbClr val="4DA0D2"/>
                </a:solidFill>
                <a:effectLst/>
                <a:latin typeface="inherit"/>
              </a:rPr>
              <a:t>new</a:t>
            </a:r>
            <a:r>
              <a:rPr lang="en-US" sz="1600" b="0" i="0" dirty="0">
                <a:solidFill>
                  <a:srgbClr val="000000"/>
                </a:solidFill>
                <a:effectLst/>
                <a:latin typeface="inherit"/>
              </a:rPr>
              <a:t> </a:t>
            </a:r>
            <a:r>
              <a:rPr lang="en-US" sz="1600" b="0" i="0" dirty="0">
                <a:solidFill>
                  <a:srgbClr val="0086B3"/>
                </a:solidFill>
                <a:effectLst/>
                <a:latin typeface="inherit"/>
              </a:rPr>
              <a:t>Student</a:t>
            </a:r>
            <a:r>
              <a:rPr lang="en-US" sz="1600" b="0" i="0" dirty="0">
                <a:solidFill>
                  <a:srgbClr val="777777"/>
                </a:solidFill>
                <a:effectLst/>
                <a:latin typeface="inherit"/>
              </a:rPr>
              <a:t>()</a:t>
            </a:r>
            <a:r>
              <a:rPr lang="en-US" sz="1600" b="0" i="0" dirty="0">
                <a:solidFill>
                  <a:srgbClr val="000000"/>
                </a:solidFill>
                <a:effectLst/>
                <a:latin typeface="inherit"/>
              </a:rPr>
              <a:t>;</a:t>
            </a:r>
            <a:endParaRPr lang="en-US" sz="1600" b="0" i="0" dirty="0">
              <a:solidFill>
                <a:srgbClr val="AAAAAA"/>
              </a:solidFill>
              <a:effectLst/>
              <a:latin typeface="Source Code Pro"/>
            </a:endParaRPr>
          </a:p>
          <a:p>
            <a:pPr algn="l"/>
            <a:r>
              <a:rPr lang="en-US" sz="1600" b="0" i="0" dirty="0" err="1">
                <a:solidFill>
                  <a:srgbClr val="000000"/>
                </a:solidFill>
                <a:effectLst/>
                <a:latin typeface="inherit"/>
              </a:rPr>
              <a:t>thirdStudent.</a:t>
            </a:r>
            <a:r>
              <a:rPr lang="en-US" sz="1600" b="0" i="0" dirty="0" err="1">
                <a:solidFill>
                  <a:srgbClr val="0086B3"/>
                </a:solidFill>
                <a:effectLst/>
                <a:latin typeface="inherit"/>
              </a:rPr>
              <a:t>setRollNo</a:t>
            </a:r>
            <a:r>
              <a:rPr lang="en-US" sz="1600" b="0" i="0" dirty="0">
                <a:solidFill>
                  <a:srgbClr val="777777"/>
                </a:solidFill>
                <a:effectLst/>
                <a:latin typeface="inherit"/>
              </a:rPr>
              <a:t>(</a:t>
            </a:r>
            <a:r>
              <a:rPr lang="en-US" sz="1600" b="0" i="0" dirty="0">
                <a:solidFill>
                  <a:srgbClr val="009999"/>
                </a:solidFill>
                <a:effectLst/>
                <a:latin typeface="inherit"/>
              </a:rPr>
              <a:t>3</a:t>
            </a:r>
            <a:r>
              <a:rPr lang="en-US" sz="1600" b="0" i="0" dirty="0">
                <a:solidFill>
                  <a:srgbClr val="777777"/>
                </a:solidFill>
                <a:effectLst/>
                <a:latin typeface="inherit"/>
              </a:rPr>
              <a:t>)</a:t>
            </a:r>
            <a:r>
              <a:rPr lang="en-US" sz="1600" b="0" i="0" dirty="0">
                <a:solidFill>
                  <a:srgbClr val="000000"/>
                </a:solidFill>
                <a:effectLst/>
                <a:latin typeface="inherit"/>
              </a:rPr>
              <a:t>;</a:t>
            </a:r>
            <a:endParaRPr lang="en-US" sz="1600" b="0" i="0" dirty="0">
              <a:solidFill>
                <a:srgbClr val="AAAAAA"/>
              </a:solidFill>
              <a:effectLst/>
              <a:latin typeface="Source Code Pro"/>
            </a:endParaRPr>
          </a:p>
          <a:p>
            <a:pPr algn="l"/>
            <a:r>
              <a:rPr lang="en-US" sz="1600" b="0" i="0" dirty="0" err="1">
                <a:solidFill>
                  <a:srgbClr val="000000"/>
                </a:solidFill>
                <a:effectLst/>
                <a:latin typeface="inherit"/>
              </a:rPr>
              <a:t>thirdStudent.</a:t>
            </a:r>
            <a:r>
              <a:rPr lang="en-US" sz="1600" b="0" i="0" dirty="0" err="1">
                <a:solidFill>
                  <a:srgbClr val="0086B3"/>
                </a:solidFill>
                <a:effectLst/>
                <a:latin typeface="inherit"/>
              </a:rPr>
              <a:t>setName</a:t>
            </a:r>
            <a:r>
              <a:rPr lang="en-US" sz="1600" b="0" i="0" dirty="0">
                <a:solidFill>
                  <a:srgbClr val="777777"/>
                </a:solidFill>
                <a:effectLst/>
                <a:latin typeface="inherit"/>
              </a:rPr>
              <a:t>(</a:t>
            </a:r>
            <a:r>
              <a:rPr lang="en-US" sz="1600" b="0" i="0" dirty="0">
                <a:solidFill>
                  <a:srgbClr val="DD1144"/>
                </a:solidFill>
                <a:effectLst/>
                <a:latin typeface="inherit"/>
              </a:rPr>
              <a:t>"</a:t>
            </a:r>
            <a:r>
              <a:rPr lang="en-US" sz="1600" b="0" i="0" dirty="0" err="1">
                <a:solidFill>
                  <a:srgbClr val="DD1144"/>
                </a:solidFill>
                <a:effectLst/>
                <a:latin typeface="inherit"/>
              </a:rPr>
              <a:t>Radhe</a:t>
            </a:r>
            <a:r>
              <a:rPr lang="en-US" sz="1600" b="0" i="0" dirty="0">
                <a:solidFill>
                  <a:srgbClr val="DD1144"/>
                </a:solidFill>
                <a:effectLst/>
                <a:latin typeface="inherit"/>
              </a:rPr>
              <a:t>"</a:t>
            </a:r>
            <a:r>
              <a:rPr lang="en-US" sz="1600" b="0" i="0" dirty="0">
                <a:solidFill>
                  <a:srgbClr val="777777"/>
                </a:solidFill>
                <a:effectLst/>
                <a:latin typeface="inherit"/>
              </a:rPr>
              <a:t>)</a:t>
            </a:r>
            <a:r>
              <a:rPr lang="en-US" sz="1600" b="0" i="0" dirty="0">
                <a:solidFill>
                  <a:srgbClr val="000000"/>
                </a:solidFill>
                <a:effectLst/>
                <a:latin typeface="inherit"/>
              </a:rPr>
              <a:t>;</a:t>
            </a:r>
            <a:endParaRPr lang="en-US" sz="1600" b="0" i="0" dirty="0">
              <a:solidFill>
                <a:srgbClr val="AAAAAA"/>
              </a:solidFill>
              <a:effectLst/>
              <a:latin typeface="Source Code Pro"/>
            </a:endParaRPr>
          </a:p>
          <a:p>
            <a:pPr algn="l"/>
            <a:r>
              <a:rPr lang="en-US" sz="1600" b="0" i="0" dirty="0" err="1">
                <a:solidFill>
                  <a:srgbClr val="000000"/>
                </a:solidFill>
                <a:effectLst/>
                <a:latin typeface="inherit"/>
              </a:rPr>
              <a:t>thirdStudent.</a:t>
            </a:r>
            <a:r>
              <a:rPr lang="en-US" sz="1600" b="0" i="0" dirty="0" err="1">
                <a:solidFill>
                  <a:srgbClr val="0086B3"/>
                </a:solidFill>
                <a:effectLst/>
                <a:latin typeface="inherit"/>
              </a:rPr>
              <a:t>setClassName</a:t>
            </a:r>
            <a:r>
              <a:rPr lang="en-US" sz="1600" b="0" i="0" dirty="0">
                <a:solidFill>
                  <a:srgbClr val="777777"/>
                </a:solidFill>
                <a:effectLst/>
                <a:latin typeface="inherit"/>
              </a:rPr>
              <a:t>(</a:t>
            </a:r>
            <a:r>
              <a:rPr lang="en-US" sz="1600" b="0" i="0" dirty="0">
                <a:solidFill>
                  <a:srgbClr val="DD1144"/>
                </a:solidFill>
                <a:effectLst/>
                <a:latin typeface="inherit"/>
              </a:rPr>
              <a:t>"MCA"</a:t>
            </a:r>
            <a:r>
              <a:rPr lang="en-US" sz="1600" b="0" i="0" dirty="0">
                <a:solidFill>
                  <a:srgbClr val="777777"/>
                </a:solidFill>
                <a:effectLst/>
                <a:latin typeface="inherit"/>
              </a:rPr>
              <a:t>)</a:t>
            </a:r>
            <a:r>
              <a:rPr lang="en-US" sz="1600" b="0" i="0" dirty="0">
                <a:solidFill>
                  <a:srgbClr val="000000"/>
                </a:solidFill>
                <a:effectLst/>
                <a:latin typeface="inherit"/>
              </a:rPr>
              <a:t>;</a:t>
            </a:r>
            <a:endParaRPr lang="en-US" sz="1600" b="0" i="0" dirty="0">
              <a:solidFill>
                <a:srgbClr val="AAAAAA"/>
              </a:solidFill>
              <a:effectLst/>
              <a:latin typeface="Source Code Pro"/>
            </a:endParaRPr>
          </a:p>
          <a:p>
            <a:pPr algn="l"/>
            <a:r>
              <a:rPr lang="en-US" sz="1600" b="0" i="0" dirty="0" err="1">
                <a:solidFill>
                  <a:srgbClr val="000000"/>
                </a:solidFill>
                <a:effectLst/>
                <a:latin typeface="inherit"/>
              </a:rPr>
              <a:t>recordOfStudent</a:t>
            </a:r>
            <a:r>
              <a:rPr lang="en-US" sz="1600" b="0" i="0" dirty="0">
                <a:solidFill>
                  <a:srgbClr val="777777"/>
                </a:solidFill>
                <a:effectLst/>
                <a:latin typeface="inherit"/>
              </a:rPr>
              <a:t>[</a:t>
            </a:r>
            <a:r>
              <a:rPr lang="en-US" sz="1600" b="0" i="0" dirty="0">
                <a:solidFill>
                  <a:srgbClr val="009999"/>
                </a:solidFill>
                <a:effectLst/>
                <a:latin typeface="inherit"/>
              </a:rPr>
              <a:t>2</a:t>
            </a:r>
            <a:r>
              <a:rPr lang="en-US" sz="1600" b="0" i="0" dirty="0">
                <a:solidFill>
                  <a:srgbClr val="777777"/>
                </a:solidFill>
                <a:effectLst/>
                <a:latin typeface="inherit"/>
              </a:rPr>
              <a:t>]</a:t>
            </a:r>
            <a:r>
              <a:rPr lang="en-US" sz="1600" b="0" i="0" dirty="0">
                <a:solidFill>
                  <a:srgbClr val="000000"/>
                </a:solidFill>
                <a:effectLst/>
                <a:latin typeface="inherit"/>
              </a:rPr>
              <a:t> = </a:t>
            </a:r>
            <a:r>
              <a:rPr lang="en-US" sz="1600" b="0" i="0" dirty="0" err="1">
                <a:solidFill>
                  <a:srgbClr val="000000"/>
                </a:solidFill>
                <a:effectLst/>
                <a:latin typeface="inherit"/>
              </a:rPr>
              <a:t>thirdStudent</a:t>
            </a:r>
            <a:r>
              <a:rPr lang="en-US" sz="1600" b="0" i="0" dirty="0">
                <a:solidFill>
                  <a:srgbClr val="000000"/>
                </a:solidFill>
                <a:effectLst/>
                <a:latin typeface="inherit"/>
              </a:rPr>
              <a:t>;</a:t>
            </a:r>
            <a:endParaRPr lang="en-US" sz="1600" b="0" i="0" dirty="0">
              <a:solidFill>
                <a:srgbClr val="AAAAAA"/>
              </a:solidFill>
              <a:effectLst/>
              <a:latin typeface="Source Code Pro"/>
            </a:endParaRPr>
          </a:p>
          <a:p>
            <a:pPr algn="l"/>
            <a:r>
              <a:rPr lang="en-US" sz="1600" b="0" i="0" dirty="0">
                <a:solidFill>
                  <a:srgbClr val="9999AA"/>
                </a:solidFill>
                <a:effectLst/>
                <a:latin typeface="inherit"/>
              </a:rPr>
              <a:t>// print record of all student</a:t>
            </a:r>
            <a:endParaRPr lang="en-US" sz="1600" b="0" i="0" dirty="0">
              <a:solidFill>
                <a:srgbClr val="AAAAAA"/>
              </a:solidFill>
              <a:effectLst/>
              <a:latin typeface="Source Code Pro"/>
            </a:endParaRPr>
          </a:p>
          <a:p>
            <a:pPr algn="l"/>
            <a:r>
              <a:rPr lang="en-US" sz="1600" b="0" i="0" dirty="0" err="1">
                <a:solidFill>
                  <a:srgbClr val="0086B3"/>
                </a:solidFill>
                <a:effectLst/>
                <a:latin typeface="inherit"/>
              </a:rPr>
              <a:t>displayStduentRecord</a:t>
            </a:r>
            <a:r>
              <a:rPr lang="en-US" sz="1600" b="0" i="0" dirty="0">
                <a:solidFill>
                  <a:srgbClr val="777777"/>
                </a:solidFill>
                <a:effectLst/>
                <a:latin typeface="inherit"/>
              </a:rPr>
              <a:t>(</a:t>
            </a:r>
            <a:r>
              <a:rPr lang="en-US" sz="1600" b="0" i="0" dirty="0" err="1">
                <a:solidFill>
                  <a:srgbClr val="000000"/>
                </a:solidFill>
                <a:effectLst/>
                <a:latin typeface="inherit"/>
              </a:rPr>
              <a:t>recordOfStudent</a:t>
            </a:r>
            <a:r>
              <a:rPr lang="en-US" sz="1600" b="0" i="0" dirty="0">
                <a:solidFill>
                  <a:srgbClr val="777777"/>
                </a:solidFill>
                <a:effectLst/>
                <a:latin typeface="inherit"/>
              </a:rPr>
              <a:t>)</a:t>
            </a:r>
            <a:r>
              <a:rPr lang="en-US" sz="1600" b="0" i="0" dirty="0">
                <a:solidFill>
                  <a:srgbClr val="000000"/>
                </a:solidFill>
                <a:effectLst/>
                <a:latin typeface="inherit"/>
              </a:rPr>
              <a:t>;</a:t>
            </a:r>
            <a:endParaRPr lang="en-US" sz="1600" b="0" i="0" dirty="0">
              <a:solidFill>
                <a:srgbClr val="AAAAAA"/>
              </a:solidFill>
              <a:effectLst/>
              <a:latin typeface="Source Code Pro"/>
            </a:endParaRPr>
          </a:p>
          <a:p>
            <a:pPr algn="l"/>
            <a:r>
              <a:rPr lang="en-US" sz="1600" b="0" i="0" dirty="0">
                <a:solidFill>
                  <a:srgbClr val="777777"/>
                </a:solidFill>
                <a:effectLst/>
                <a:latin typeface="inherit"/>
              </a:rPr>
              <a:t>}</a:t>
            </a:r>
            <a:endParaRPr lang="en-US" sz="1600" b="0" i="0" dirty="0">
              <a:solidFill>
                <a:srgbClr val="444444"/>
              </a:solidFill>
              <a:effectLst/>
              <a:latin typeface="Source Code Pro"/>
            </a:endParaRPr>
          </a:p>
        </p:txBody>
      </p:sp>
      <p:sp>
        <p:nvSpPr>
          <p:cNvPr id="9" name="TextBox 8">
            <a:extLst>
              <a:ext uri="{FF2B5EF4-FFF2-40B4-BE49-F238E27FC236}">
                <a16:creationId xmlns:a16="http://schemas.microsoft.com/office/drawing/2014/main" id="{933DC09C-3909-4295-BC43-5481B92B5664}"/>
              </a:ext>
            </a:extLst>
          </p:cNvPr>
          <p:cNvSpPr txBox="1"/>
          <p:nvPr/>
        </p:nvSpPr>
        <p:spPr>
          <a:xfrm>
            <a:off x="6265235" y="1678862"/>
            <a:ext cx="6097772" cy="2862322"/>
          </a:xfrm>
          <a:prstGeom prst="rect">
            <a:avLst/>
          </a:prstGeom>
          <a:noFill/>
        </p:spPr>
        <p:txBody>
          <a:bodyPr wrap="square">
            <a:spAutoFit/>
          </a:bodyPr>
          <a:lstStyle/>
          <a:p>
            <a:pPr algn="l"/>
            <a:r>
              <a:rPr lang="en-US" sz="1600" b="1" i="0" dirty="0">
                <a:solidFill>
                  <a:srgbClr val="286491"/>
                </a:solidFill>
                <a:effectLst/>
                <a:latin typeface="inherit"/>
              </a:rPr>
              <a:t>public</a:t>
            </a:r>
            <a:r>
              <a:rPr lang="en-US" sz="1600" b="0" i="0" dirty="0">
                <a:solidFill>
                  <a:srgbClr val="000000"/>
                </a:solidFill>
                <a:effectLst/>
                <a:latin typeface="inherit"/>
              </a:rPr>
              <a:t> </a:t>
            </a:r>
            <a:r>
              <a:rPr lang="en-US" sz="1600" b="1" i="0" dirty="0">
                <a:solidFill>
                  <a:srgbClr val="286491"/>
                </a:solidFill>
                <a:effectLst/>
                <a:latin typeface="inherit"/>
              </a:rPr>
              <a:t>static</a:t>
            </a:r>
            <a:r>
              <a:rPr lang="en-US" sz="1600" b="0" i="0" dirty="0">
                <a:solidFill>
                  <a:srgbClr val="000000"/>
                </a:solidFill>
                <a:effectLst/>
                <a:latin typeface="inherit"/>
              </a:rPr>
              <a:t> </a:t>
            </a:r>
            <a:r>
              <a:rPr lang="en-US" sz="1600" b="1" i="0" dirty="0">
                <a:solidFill>
                  <a:srgbClr val="286491"/>
                </a:solidFill>
                <a:effectLst/>
                <a:latin typeface="inherit"/>
              </a:rPr>
              <a:t>void</a:t>
            </a:r>
            <a:r>
              <a:rPr lang="en-US" sz="1600" b="0" i="0" dirty="0">
                <a:solidFill>
                  <a:srgbClr val="000000"/>
                </a:solidFill>
                <a:effectLst/>
                <a:latin typeface="inherit"/>
              </a:rPr>
              <a:t> </a:t>
            </a:r>
            <a:r>
              <a:rPr lang="en-US" sz="1600" b="0" i="0" dirty="0" err="1">
                <a:solidFill>
                  <a:srgbClr val="0086B3"/>
                </a:solidFill>
                <a:effectLst/>
                <a:latin typeface="inherit"/>
              </a:rPr>
              <a:t>displayStduentRecord</a:t>
            </a:r>
            <a:r>
              <a:rPr lang="en-US" sz="1600" b="0" i="0" dirty="0">
                <a:solidFill>
                  <a:srgbClr val="777777"/>
                </a:solidFill>
                <a:effectLst/>
                <a:latin typeface="inherit"/>
              </a:rPr>
              <a:t>(</a:t>
            </a:r>
            <a:r>
              <a:rPr lang="en-US" sz="1600" b="0" i="0" dirty="0">
                <a:solidFill>
                  <a:srgbClr val="000000"/>
                </a:solidFill>
                <a:effectLst/>
                <a:latin typeface="inherit"/>
              </a:rPr>
              <a:t>Student</a:t>
            </a:r>
            <a:r>
              <a:rPr lang="en-US" sz="1600" b="0" i="0" dirty="0">
                <a:solidFill>
                  <a:srgbClr val="777777"/>
                </a:solidFill>
                <a:effectLst/>
                <a:latin typeface="inherit"/>
              </a:rPr>
              <a:t>[]</a:t>
            </a:r>
            <a:r>
              <a:rPr lang="en-US" sz="1600" b="0" i="0" dirty="0">
                <a:solidFill>
                  <a:srgbClr val="000000"/>
                </a:solidFill>
                <a:effectLst/>
                <a:latin typeface="inherit"/>
              </a:rPr>
              <a:t> </a:t>
            </a:r>
            <a:r>
              <a:rPr lang="en-US" sz="1600" b="0" i="0" dirty="0" err="1">
                <a:solidFill>
                  <a:srgbClr val="000000"/>
                </a:solidFill>
                <a:effectLst/>
                <a:latin typeface="inherit"/>
              </a:rPr>
              <a:t>recordOfStudent</a:t>
            </a:r>
            <a:r>
              <a:rPr lang="en-US" sz="1600" b="0" i="0" dirty="0">
                <a:solidFill>
                  <a:srgbClr val="777777"/>
                </a:solidFill>
                <a:effectLst/>
                <a:latin typeface="inherit"/>
              </a:rPr>
              <a:t>)</a:t>
            </a:r>
            <a:endParaRPr lang="en-US" sz="1600" b="0" i="0" dirty="0">
              <a:solidFill>
                <a:srgbClr val="AAAAAA"/>
              </a:solidFill>
              <a:effectLst/>
              <a:latin typeface="Source Code Pro"/>
            </a:endParaRPr>
          </a:p>
          <a:p>
            <a:pPr algn="l"/>
            <a:r>
              <a:rPr lang="en-US" sz="1600" b="0" i="0" dirty="0">
                <a:solidFill>
                  <a:srgbClr val="777777"/>
                </a:solidFill>
                <a:effectLst/>
                <a:latin typeface="inherit"/>
              </a:rPr>
              <a:t>{</a:t>
            </a:r>
            <a:endParaRPr lang="en-US" sz="1600" b="0" i="0" dirty="0">
              <a:solidFill>
                <a:srgbClr val="AAAAAA"/>
              </a:solidFill>
              <a:effectLst/>
              <a:latin typeface="Source Code Pro"/>
            </a:endParaRPr>
          </a:p>
          <a:p>
            <a:pPr algn="l"/>
            <a:r>
              <a:rPr lang="en-US" sz="1600" b="1" i="0" dirty="0">
                <a:solidFill>
                  <a:srgbClr val="286491"/>
                </a:solidFill>
                <a:effectLst/>
                <a:latin typeface="inherit"/>
              </a:rPr>
              <a:t>for</a:t>
            </a:r>
            <a:r>
              <a:rPr lang="en-US" sz="1600" b="0" i="0" dirty="0">
                <a:solidFill>
                  <a:srgbClr val="777777"/>
                </a:solidFill>
                <a:effectLst/>
                <a:latin typeface="inherit"/>
              </a:rPr>
              <a:t>(</a:t>
            </a:r>
            <a:r>
              <a:rPr lang="en-US" sz="1600" b="1" i="0" dirty="0">
                <a:solidFill>
                  <a:srgbClr val="286491"/>
                </a:solidFill>
                <a:effectLst/>
                <a:latin typeface="inherit"/>
              </a:rPr>
              <a:t>int</a:t>
            </a:r>
            <a:r>
              <a:rPr lang="en-US" sz="1600" b="0" i="0" dirty="0">
                <a:solidFill>
                  <a:srgbClr val="000000"/>
                </a:solidFill>
                <a:effectLst/>
                <a:latin typeface="inherit"/>
              </a:rPr>
              <a:t> </a:t>
            </a:r>
            <a:r>
              <a:rPr lang="en-US" sz="1600" b="0" i="0" dirty="0" err="1">
                <a:solidFill>
                  <a:srgbClr val="000000"/>
                </a:solidFill>
                <a:effectLst/>
                <a:latin typeface="inherit"/>
              </a:rPr>
              <a:t>i</a:t>
            </a:r>
            <a:r>
              <a:rPr lang="en-US" sz="1600" b="0" i="0" dirty="0">
                <a:solidFill>
                  <a:srgbClr val="000000"/>
                </a:solidFill>
                <a:effectLst/>
                <a:latin typeface="inherit"/>
              </a:rPr>
              <a:t> = </a:t>
            </a:r>
            <a:r>
              <a:rPr lang="en-US" sz="1600" b="0" i="0" dirty="0">
                <a:solidFill>
                  <a:srgbClr val="009999"/>
                </a:solidFill>
                <a:effectLst/>
                <a:latin typeface="inherit"/>
              </a:rPr>
              <a:t>0</a:t>
            </a:r>
            <a:r>
              <a:rPr lang="en-US" sz="1600" b="0" i="0" dirty="0">
                <a:solidFill>
                  <a:srgbClr val="000000"/>
                </a:solidFill>
                <a:effectLst/>
                <a:latin typeface="inherit"/>
              </a:rPr>
              <a:t>; </a:t>
            </a:r>
            <a:r>
              <a:rPr lang="en-US" sz="1600" b="0" i="0" dirty="0" err="1">
                <a:solidFill>
                  <a:srgbClr val="000000"/>
                </a:solidFill>
                <a:effectLst/>
                <a:latin typeface="inherit"/>
              </a:rPr>
              <a:t>i</a:t>
            </a:r>
            <a:r>
              <a:rPr lang="en-US" sz="1600" b="0" i="0" dirty="0">
                <a:solidFill>
                  <a:srgbClr val="000000"/>
                </a:solidFill>
                <a:effectLst/>
                <a:latin typeface="inherit"/>
              </a:rPr>
              <a:t> </a:t>
            </a:r>
            <a:r>
              <a:rPr lang="en-US" sz="1600" b="0" i="0" dirty="0">
                <a:solidFill>
                  <a:srgbClr val="777777"/>
                </a:solidFill>
                <a:effectLst/>
                <a:latin typeface="inherit"/>
              </a:rPr>
              <a:t>&lt;</a:t>
            </a:r>
            <a:r>
              <a:rPr lang="en-US" sz="1600" b="0" i="0" dirty="0">
                <a:solidFill>
                  <a:srgbClr val="000000"/>
                </a:solidFill>
                <a:effectLst/>
                <a:latin typeface="inherit"/>
              </a:rPr>
              <a:t> </a:t>
            </a:r>
            <a:r>
              <a:rPr lang="en-US" sz="1600" b="0" i="0" dirty="0" err="1">
                <a:solidFill>
                  <a:srgbClr val="000000"/>
                </a:solidFill>
                <a:effectLst/>
                <a:latin typeface="inherit"/>
              </a:rPr>
              <a:t>recordOfStudent.</a:t>
            </a:r>
            <a:r>
              <a:rPr lang="en-US" sz="1600" b="0" i="0" dirty="0" err="1">
                <a:solidFill>
                  <a:srgbClr val="0086B3"/>
                </a:solidFill>
                <a:effectLst/>
                <a:latin typeface="inherit"/>
              </a:rPr>
              <a:t>length</a:t>
            </a:r>
            <a:r>
              <a:rPr lang="en-US" sz="1600" b="0" i="0" dirty="0">
                <a:solidFill>
                  <a:srgbClr val="000000"/>
                </a:solidFill>
                <a:effectLst/>
                <a:latin typeface="inherit"/>
              </a:rPr>
              <a:t>; </a:t>
            </a:r>
            <a:r>
              <a:rPr lang="en-US" sz="1600" b="0" i="0" dirty="0" err="1">
                <a:solidFill>
                  <a:srgbClr val="000000"/>
                </a:solidFill>
                <a:effectLst/>
                <a:latin typeface="inherit"/>
              </a:rPr>
              <a:t>i</a:t>
            </a:r>
            <a:r>
              <a:rPr lang="en-US" sz="1600" b="0" i="0" dirty="0">
                <a:solidFill>
                  <a:srgbClr val="000000"/>
                </a:solidFill>
                <a:effectLst/>
                <a:latin typeface="inherit"/>
              </a:rPr>
              <a:t>++</a:t>
            </a:r>
            <a:r>
              <a:rPr lang="en-US" sz="1600" b="0" i="0" dirty="0">
                <a:solidFill>
                  <a:srgbClr val="777777"/>
                </a:solidFill>
                <a:effectLst/>
                <a:latin typeface="inherit"/>
              </a:rPr>
              <a:t>)</a:t>
            </a:r>
            <a:endParaRPr lang="en-US" sz="1600" b="0" i="0" dirty="0">
              <a:solidFill>
                <a:srgbClr val="AAAAAA"/>
              </a:solidFill>
              <a:effectLst/>
              <a:latin typeface="Source Code Pro"/>
            </a:endParaRPr>
          </a:p>
          <a:p>
            <a:pPr algn="l"/>
            <a:r>
              <a:rPr lang="en-US" sz="1600" b="0" i="0" dirty="0">
                <a:solidFill>
                  <a:srgbClr val="777777"/>
                </a:solidFill>
                <a:effectLst/>
                <a:latin typeface="inherit"/>
              </a:rPr>
              <a:t>{</a:t>
            </a:r>
            <a:endParaRPr lang="en-US" sz="1600" b="0" i="0" dirty="0">
              <a:solidFill>
                <a:srgbClr val="AAAAAA"/>
              </a:solidFill>
              <a:effectLst/>
              <a:latin typeface="Source Code Pro"/>
            </a:endParaRPr>
          </a:p>
          <a:p>
            <a:pPr algn="l"/>
            <a:r>
              <a:rPr lang="en-US" sz="1600" b="0" i="0" dirty="0">
                <a:solidFill>
                  <a:srgbClr val="000000"/>
                </a:solidFill>
                <a:effectLst/>
                <a:latin typeface="inherit"/>
              </a:rPr>
              <a:t>Student </a:t>
            </a:r>
            <a:r>
              <a:rPr lang="en-US" sz="1600" b="0" i="0" dirty="0" err="1">
                <a:solidFill>
                  <a:srgbClr val="000000"/>
                </a:solidFill>
                <a:effectLst/>
                <a:latin typeface="inherit"/>
              </a:rPr>
              <a:t>stduent</a:t>
            </a:r>
            <a:r>
              <a:rPr lang="en-US" sz="1600" b="0" i="0" dirty="0">
                <a:solidFill>
                  <a:srgbClr val="000000"/>
                </a:solidFill>
                <a:effectLst/>
                <a:latin typeface="inherit"/>
              </a:rPr>
              <a:t> = </a:t>
            </a:r>
            <a:r>
              <a:rPr lang="en-US" sz="1600" b="0" i="0" dirty="0" err="1">
                <a:solidFill>
                  <a:srgbClr val="000000"/>
                </a:solidFill>
                <a:effectLst/>
                <a:latin typeface="inherit"/>
              </a:rPr>
              <a:t>recordOfStudent</a:t>
            </a:r>
            <a:r>
              <a:rPr lang="en-US" sz="1600" b="0" i="0" dirty="0">
                <a:solidFill>
                  <a:srgbClr val="777777"/>
                </a:solidFill>
                <a:effectLst/>
                <a:latin typeface="inherit"/>
              </a:rPr>
              <a:t>[</a:t>
            </a:r>
            <a:r>
              <a:rPr lang="en-US" sz="1600" b="0" i="0" dirty="0" err="1">
                <a:solidFill>
                  <a:srgbClr val="000000"/>
                </a:solidFill>
                <a:effectLst/>
                <a:latin typeface="inherit"/>
              </a:rPr>
              <a:t>i</a:t>
            </a:r>
            <a:r>
              <a:rPr lang="en-US" sz="1600" b="0" i="0" dirty="0">
                <a:solidFill>
                  <a:srgbClr val="777777"/>
                </a:solidFill>
                <a:effectLst/>
                <a:latin typeface="inherit"/>
              </a:rPr>
              <a:t>]</a:t>
            </a:r>
            <a:r>
              <a:rPr lang="en-US" sz="1600" b="0" i="0" dirty="0">
                <a:solidFill>
                  <a:srgbClr val="000000"/>
                </a:solidFill>
                <a:effectLst/>
                <a:latin typeface="inherit"/>
              </a:rPr>
              <a:t>;</a:t>
            </a:r>
            <a:endParaRPr lang="en-US" sz="1600" b="0" i="0" dirty="0">
              <a:solidFill>
                <a:srgbClr val="AAAAAA"/>
              </a:solidFill>
              <a:effectLst/>
              <a:latin typeface="Source Code Pro"/>
            </a:endParaRPr>
          </a:p>
          <a:p>
            <a:pPr algn="l"/>
            <a:r>
              <a:rPr lang="en-US" sz="1600" b="0" i="0" dirty="0" err="1">
                <a:solidFill>
                  <a:srgbClr val="000000"/>
                </a:solidFill>
                <a:effectLst/>
                <a:latin typeface="inherit"/>
              </a:rPr>
              <a:t>System.</a:t>
            </a:r>
            <a:r>
              <a:rPr lang="en-US" sz="1600" b="0" i="0" dirty="0" err="1">
                <a:solidFill>
                  <a:srgbClr val="0086B3"/>
                </a:solidFill>
                <a:effectLst/>
                <a:latin typeface="inherit"/>
              </a:rPr>
              <a:t>out</a:t>
            </a:r>
            <a:r>
              <a:rPr lang="en-US" sz="1600" b="0" i="0" dirty="0" err="1">
                <a:solidFill>
                  <a:srgbClr val="000000"/>
                </a:solidFill>
                <a:effectLst/>
                <a:latin typeface="inherit"/>
              </a:rPr>
              <a:t>.</a:t>
            </a:r>
            <a:r>
              <a:rPr lang="en-US" sz="1600" b="0" i="0" dirty="0" err="1">
                <a:solidFill>
                  <a:srgbClr val="0086B3"/>
                </a:solidFill>
                <a:effectLst/>
                <a:latin typeface="inherit"/>
              </a:rPr>
              <a:t>println</a:t>
            </a:r>
            <a:r>
              <a:rPr lang="en-US" sz="1600" b="0" i="0" dirty="0">
                <a:solidFill>
                  <a:srgbClr val="777777"/>
                </a:solidFill>
                <a:effectLst/>
                <a:latin typeface="inherit"/>
              </a:rPr>
              <a:t>(</a:t>
            </a:r>
            <a:r>
              <a:rPr lang="en-US" sz="1600" b="0" i="0" dirty="0">
                <a:solidFill>
                  <a:srgbClr val="DD1144"/>
                </a:solidFill>
                <a:effectLst/>
                <a:latin typeface="inherit"/>
              </a:rPr>
              <a:t>"Student </a:t>
            </a:r>
            <a:r>
              <a:rPr lang="en-US" sz="1600" b="0" i="0" dirty="0" err="1">
                <a:solidFill>
                  <a:srgbClr val="DD1144"/>
                </a:solidFill>
                <a:effectLst/>
                <a:latin typeface="inherit"/>
              </a:rPr>
              <a:t>rollNo</a:t>
            </a:r>
            <a:r>
              <a:rPr lang="en-US" sz="1600" b="0" i="0" dirty="0">
                <a:solidFill>
                  <a:srgbClr val="DD1144"/>
                </a:solidFill>
                <a:effectLst/>
                <a:latin typeface="inherit"/>
              </a:rPr>
              <a:t> = "</a:t>
            </a:r>
            <a:r>
              <a:rPr lang="en-US" sz="1600" b="0" i="0" dirty="0">
                <a:solidFill>
                  <a:srgbClr val="000000"/>
                </a:solidFill>
                <a:effectLst/>
                <a:latin typeface="inherit"/>
              </a:rPr>
              <a:t>+</a:t>
            </a:r>
            <a:r>
              <a:rPr lang="en-US" sz="1600" b="0" i="0" dirty="0" err="1">
                <a:solidFill>
                  <a:srgbClr val="000000"/>
                </a:solidFill>
                <a:effectLst/>
                <a:latin typeface="inherit"/>
              </a:rPr>
              <a:t>stduent.</a:t>
            </a:r>
            <a:r>
              <a:rPr lang="en-US" sz="1600" b="0" i="0" dirty="0" err="1">
                <a:solidFill>
                  <a:srgbClr val="0086B3"/>
                </a:solidFill>
                <a:effectLst/>
                <a:latin typeface="inherit"/>
              </a:rPr>
              <a:t>getRollNo</a:t>
            </a:r>
            <a:r>
              <a:rPr lang="en-US" sz="1600" b="0" i="0" dirty="0">
                <a:solidFill>
                  <a:srgbClr val="777777"/>
                </a:solidFill>
                <a:effectLst/>
                <a:latin typeface="inherit"/>
              </a:rPr>
              <a:t>())</a:t>
            </a:r>
            <a:r>
              <a:rPr lang="en-US" sz="1600" b="0" i="0" dirty="0">
                <a:solidFill>
                  <a:srgbClr val="000000"/>
                </a:solidFill>
                <a:effectLst/>
                <a:latin typeface="inherit"/>
              </a:rPr>
              <a:t>;</a:t>
            </a:r>
            <a:endParaRPr lang="en-US" sz="1600" b="0" i="0" dirty="0">
              <a:solidFill>
                <a:srgbClr val="AAAAAA"/>
              </a:solidFill>
              <a:effectLst/>
              <a:latin typeface="Source Code Pro"/>
            </a:endParaRPr>
          </a:p>
          <a:p>
            <a:pPr algn="l"/>
            <a:r>
              <a:rPr lang="en-US" sz="1600" b="0" i="0" dirty="0" err="1">
                <a:solidFill>
                  <a:srgbClr val="000000"/>
                </a:solidFill>
                <a:effectLst/>
                <a:latin typeface="inherit"/>
              </a:rPr>
              <a:t>System.</a:t>
            </a:r>
            <a:r>
              <a:rPr lang="en-US" sz="1600" b="0" i="0" dirty="0" err="1">
                <a:solidFill>
                  <a:srgbClr val="0086B3"/>
                </a:solidFill>
                <a:effectLst/>
                <a:latin typeface="inherit"/>
              </a:rPr>
              <a:t>out</a:t>
            </a:r>
            <a:r>
              <a:rPr lang="en-US" sz="1600" b="0" i="0" dirty="0" err="1">
                <a:solidFill>
                  <a:srgbClr val="000000"/>
                </a:solidFill>
                <a:effectLst/>
                <a:latin typeface="inherit"/>
              </a:rPr>
              <a:t>.</a:t>
            </a:r>
            <a:r>
              <a:rPr lang="en-US" sz="1600" b="0" i="0" dirty="0" err="1">
                <a:solidFill>
                  <a:srgbClr val="0086B3"/>
                </a:solidFill>
                <a:effectLst/>
                <a:latin typeface="inherit"/>
              </a:rPr>
              <a:t>println</a:t>
            </a:r>
            <a:r>
              <a:rPr lang="en-US" sz="1600" b="0" i="0" dirty="0">
                <a:solidFill>
                  <a:srgbClr val="777777"/>
                </a:solidFill>
                <a:effectLst/>
                <a:latin typeface="inherit"/>
              </a:rPr>
              <a:t>(</a:t>
            </a:r>
            <a:r>
              <a:rPr lang="en-US" sz="1600" b="0" i="0" dirty="0">
                <a:solidFill>
                  <a:srgbClr val="DD1144"/>
                </a:solidFill>
                <a:effectLst/>
                <a:latin typeface="inherit"/>
              </a:rPr>
              <a:t>"Student Name = "</a:t>
            </a:r>
            <a:r>
              <a:rPr lang="en-US" sz="1600" b="0" i="0" dirty="0">
                <a:solidFill>
                  <a:srgbClr val="000000"/>
                </a:solidFill>
                <a:effectLst/>
                <a:latin typeface="inherit"/>
              </a:rPr>
              <a:t>+</a:t>
            </a:r>
            <a:r>
              <a:rPr lang="en-US" sz="1600" b="0" i="0" dirty="0" err="1">
                <a:solidFill>
                  <a:srgbClr val="000000"/>
                </a:solidFill>
                <a:effectLst/>
                <a:latin typeface="inherit"/>
              </a:rPr>
              <a:t>stduent.</a:t>
            </a:r>
            <a:r>
              <a:rPr lang="en-US" sz="1600" b="0" i="0" dirty="0" err="1">
                <a:solidFill>
                  <a:srgbClr val="0086B3"/>
                </a:solidFill>
                <a:effectLst/>
                <a:latin typeface="inherit"/>
              </a:rPr>
              <a:t>getName</a:t>
            </a:r>
            <a:r>
              <a:rPr lang="en-US" sz="1600" b="0" i="0" dirty="0">
                <a:solidFill>
                  <a:srgbClr val="777777"/>
                </a:solidFill>
                <a:effectLst/>
                <a:latin typeface="inherit"/>
              </a:rPr>
              <a:t>())</a:t>
            </a:r>
            <a:r>
              <a:rPr lang="en-US" sz="1600" b="0" i="0" dirty="0">
                <a:solidFill>
                  <a:srgbClr val="000000"/>
                </a:solidFill>
                <a:effectLst/>
                <a:latin typeface="inherit"/>
              </a:rPr>
              <a:t>;</a:t>
            </a:r>
            <a:endParaRPr lang="en-US" sz="1600" b="0" i="0" dirty="0">
              <a:solidFill>
                <a:srgbClr val="AAAAAA"/>
              </a:solidFill>
              <a:effectLst/>
              <a:latin typeface="Source Code Pro"/>
            </a:endParaRPr>
          </a:p>
          <a:p>
            <a:pPr algn="l"/>
            <a:r>
              <a:rPr lang="en-US" sz="1600" b="0" i="0" dirty="0" err="1">
                <a:solidFill>
                  <a:srgbClr val="000000"/>
                </a:solidFill>
                <a:effectLst/>
                <a:latin typeface="inherit"/>
              </a:rPr>
              <a:t>System.</a:t>
            </a:r>
            <a:r>
              <a:rPr lang="en-US" sz="1600" b="0" i="0" dirty="0" err="1">
                <a:solidFill>
                  <a:srgbClr val="0086B3"/>
                </a:solidFill>
                <a:effectLst/>
                <a:latin typeface="inherit"/>
              </a:rPr>
              <a:t>out</a:t>
            </a:r>
            <a:r>
              <a:rPr lang="en-US" sz="1600" b="0" i="0" dirty="0" err="1">
                <a:solidFill>
                  <a:srgbClr val="000000"/>
                </a:solidFill>
                <a:effectLst/>
                <a:latin typeface="inherit"/>
              </a:rPr>
              <a:t>.</a:t>
            </a:r>
            <a:r>
              <a:rPr lang="en-US" sz="1600" b="0" i="0" dirty="0" err="1">
                <a:solidFill>
                  <a:srgbClr val="0086B3"/>
                </a:solidFill>
                <a:effectLst/>
                <a:latin typeface="inherit"/>
              </a:rPr>
              <a:t>println</a:t>
            </a:r>
            <a:r>
              <a:rPr lang="en-US" sz="1600" b="0" i="0" dirty="0">
                <a:solidFill>
                  <a:srgbClr val="777777"/>
                </a:solidFill>
                <a:effectLst/>
                <a:latin typeface="inherit"/>
              </a:rPr>
              <a:t>(</a:t>
            </a:r>
            <a:r>
              <a:rPr lang="en-US" sz="1600" b="0" i="0" dirty="0">
                <a:solidFill>
                  <a:srgbClr val="DD1144"/>
                </a:solidFill>
                <a:effectLst/>
                <a:latin typeface="inherit"/>
              </a:rPr>
              <a:t>"Student class = "</a:t>
            </a:r>
            <a:r>
              <a:rPr lang="en-US" sz="1600" b="0" i="0" dirty="0">
                <a:solidFill>
                  <a:srgbClr val="000000"/>
                </a:solidFill>
                <a:effectLst/>
                <a:latin typeface="inherit"/>
              </a:rPr>
              <a:t>+</a:t>
            </a:r>
            <a:r>
              <a:rPr lang="en-US" sz="1600" b="0" i="0" dirty="0" err="1">
                <a:solidFill>
                  <a:srgbClr val="000000"/>
                </a:solidFill>
                <a:effectLst/>
                <a:latin typeface="inherit"/>
              </a:rPr>
              <a:t>stduent.</a:t>
            </a:r>
            <a:r>
              <a:rPr lang="en-US" sz="1600" b="0" i="0" dirty="0" err="1">
                <a:solidFill>
                  <a:srgbClr val="0086B3"/>
                </a:solidFill>
                <a:effectLst/>
                <a:latin typeface="inherit"/>
              </a:rPr>
              <a:t>getClassName</a:t>
            </a:r>
            <a:r>
              <a:rPr lang="en-US" sz="1600" b="0" i="0" dirty="0">
                <a:solidFill>
                  <a:srgbClr val="777777"/>
                </a:solidFill>
                <a:effectLst/>
                <a:latin typeface="inherit"/>
              </a:rPr>
              <a:t>())</a:t>
            </a:r>
            <a:r>
              <a:rPr lang="en-US" sz="1600" b="0" i="0" dirty="0">
                <a:solidFill>
                  <a:srgbClr val="000000"/>
                </a:solidFill>
                <a:effectLst/>
                <a:latin typeface="inherit"/>
              </a:rPr>
              <a:t>;</a:t>
            </a:r>
            <a:endParaRPr lang="en-US" sz="1600" b="0" i="0" dirty="0">
              <a:solidFill>
                <a:srgbClr val="AAAAAA"/>
              </a:solidFill>
              <a:effectLst/>
              <a:latin typeface="Source Code Pro"/>
            </a:endParaRPr>
          </a:p>
          <a:p>
            <a:pPr algn="l"/>
            <a:r>
              <a:rPr lang="en-US" sz="1600" b="0" i="0" dirty="0">
                <a:solidFill>
                  <a:srgbClr val="777777"/>
                </a:solidFill>
                <a:effectLst/>
                <a:latin typeface="inherit"/>
              </a:rPr>
              <a:t>}</a:t>
            </a:r>
            <a:endParaRPr lang="en-US" sz="1600" b="0" i="0" dirty="0">
              <a:solidFill>
                <a:srgbClr val="AAAAAA"/>
              </a:solidFill>
              <a:effectLst/>
              <a:latin typeface="Source Code Pro"/>
            </a:endParaRPr>
          </a:p>
          <a:p>
            <a:pPr algn="l"/>
            <a:r>
              <a:rPr lang="en-US" sz="1600" b="0" i="0" dirty="0">
                <a:solidFill>
                  <a:srgbClr val="777777"/>
                </a:solidFill>
                <a:effectLst/>
                <a:latin typeface="inherit"/>
              </a:rPr>
              <a:t>}</a:t>
            </a:r>
            <a:endParaRPr lang="en-US" sz="1600" b="0" i="0" dirty="0">
              <a:solidFill>
                <a:srgbClr val="AAAAAA"/>
              </a:solidFill>
              <a:effectLst/>
              <a:latin typeface="Source Code Pro"/>
            </a:endParaRPr>
          </a:p>
          <a:p>
            <a:pPr algn="l"/>
            <a:r>
              <a:rPr lang="en-US" sz="1600" b="0" i="0" dirty="0">
                <a:solidFill>
                  <a:srgbClr val="777777"/>
                </a:solidFill>
                <a:effectLst/>
                <a:latin typeface="inherit"/>
              </a:rPr>
              <a:t>}</a:t>
            </a:r>
            <a:endParaRPr lang="en-US" sz="1600" b="0" i="0" dirty="0">
              <a:solidFill>
                <a:srgbClr val="444444"/>
              </a:solidFill>
              <a:effectLst/>
              <a:latin typeface="Source Code Pro"/>
            </a:endParaRPr>
          </a:p>
        </p:txBody>
      </p:sp>
      <p:sp>
        <p:nvSpPr>
          <p:cNvPr id="10" name="TextBox 9">
            <a:extLst>
              <a:ext uri="{FF2B5EF4-FFF2-40B4-BE49-F238E27FC236}">
                <a16:creationId xmlns:a16="http://schemas.microsoft.com/office/drawing/2014/main" id="{4CF0E734-CD43-4992-8B5C-401BFEAD4056}"/>
              </a:ext>
            </a:extLst>
          </p:cNvPr>
          <p:cNvSpPr txBox="1"/>
          <p:nvPr/>
        </p:nvSpPr>
        <p:spPr>
          <a:xfrm>
            <a:off x="0" y="203238"/>
            <a:ext cx="1059521" cy="369332"/>
          </a:xfrm>
          <a:prstGeom prst="rect">
            <a:avLst/>
          </a:prstGeom>
          <a:noFill/>
        </p:spPr>
        <p:txBody>
          <a:bodyPr wrap="none" rtlCol="0">
            <a:spAutoFit/>
          </a:bodyPr>
          <a:lstStyle/>
          <a:p>
            <a:r>
              <a:rPr lang="en-US" b="1" dirty="0"/>
              <a:t>Example:</a:t>
            </a:r>
            <a:endParaRPr lang="en-PK" b="1" dirty="0"/>
          </a:p>
        </p:txBody>
      </p:sp>
      <p:sp>
        <p:nvSpPr>
          <p:cNvPr id="11" name="Title 1">
            <a:extLst>
              <a:ext uri="{FF2B5EF4-FFF2-40B4-BE49-F238E27FC236}">
                <a16:creationId xmlns:a16="http://schemas.microsoft.com/office/drawing/2014/main" id="{D6C6C47C-1869-45D4-8562-2461AC2F3E79}"/>
              </a:ext>
            </a:extLst>
          </p:cNvPr>
          <p:cNvSpPr>
            <a:spLocks noGrp="1"/>
          </p:cNvSpPr>
          <p:nvPr>
            <p:ph type="title"/>
          </p:nvPr>
        </p:nvSpPr>
        <p:spPr>
          <a:xfrm>
            <a:off x="0" y="-180247"/>
            <a:ext cx="10515600" cy="687388"/>
          </a:xfrm>
        </p:spPr>
        <p:txBody>
          <a:bodyPr>
            <a:normAutofit/>
          </a:bodyPr>
          <a:lstStyle/>
          <a:p>
            <a:r>
              <a:rPr lang="en-US" sz="2000" b="1" dirty="0">
                <a:solidFill>
                  <a:schemeClr val="accent1">
                    <a:lumMod val="50000"/>
                  </a:schemeClr>
                </a:solidFill>
                <a:latin typeface="+mn-lt"/>
              </a:rPr>
              <a:t>Arrays of Objects:</a:t>
            </a:r>
            <a:endParaRPr lang="en-PK" sz="2000" b="1" dirty="0">
              <a:solidFill>
                <a:schemeClr val="accent1">
                  <a:lumMod val="50000"/>
                </a:schemeClr>
              </a:solidFill>
              <a:latin typeface="+mn-lt"/>
            </a:endParaRPr>
          </a:p>
        </p:txBody>
      </p:sp>
    </p:spTree>
    <p:extLst>
      <p:ext uri="{BB962C8B-B14F-4D97-AF65-F5344CB8AC3E}">
        <p14:creationId xmlns:p14="http://schemas.microsoft.com/office/powerpoint/2010/main" val="8433567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906538F-AA7D-402E-87C5-596A5B0CFEF2}"/>
              </a:ext>
            </a:extLst>
          </p:cNvPr>
          <p:cNvSpPr txBox="1"/>
          <p:nvPr/>
        </p:nvSpPr>
        <p:spPr>
          <a:xfrm>
            <a:off x="1234558" y="697519"/>
            <a:ext cx="6097772" cy="369332"/>
          </a:xfrm>
          <a:prstGeom prst="rect">
            <a:avLst/>
          </a:prstGeom>
          <a:noFill/>
        </p:spPr>
        <p:txBody>
          <a:bodyPr wrap="square">
            <a:spAutoFit/>
          </a:bodyPr>
          <a:lstStyle/>
          <a:p>
            <a:pPr algn="just"/>
            <a:r>
              <a:rPr lang="en-US" b="0" i="0" dirty="0">
                <a:solidFill>
                  <a:srgbClr val="000000"/>
                </a:solidFill>
                <a:effectLst/>
              </a:rPr>
              <a:t>Student</a:t>
            </a:r>
            <a:r>
              <a:rPr lang="en-US" b="0" i="0" dirty="0">
                <a:solidFill>
                  <a:srgbClr val="777777"/>
                </a:solidFill>
                <a:effectLst/>
              </a:rPr>
              <a:t>[]</a:t>
            </a:r>
            <a:r>
              <a:rPr lang="en-US" b="0" i="0" dirty="0">
                <a:solidFill>
                  <a:srgbClr val="000000"/>
                </a:solidFill>
                <a:effectLst/>
              </a:rPr>
              <a:t> </a:t>
            </a:r>
            <a:r>
              <a:rPr lang="en-US" b="0" i="0" dirty="0" err="1">
                <a:solidFill>
                  <a:srgbClr val="000000"/>
                </a:solidFill>
                <a:effectLst/>
              </a:rPr>
              <a:t>recordOfStudent</a:t>
            </a:r>
            <a:r>
              <a:rPr lang="en-US" b="0" i="0" dirty="0">
                <a:solidFill>
                  <a:srgbClr val="000000"/>
                </a:solidFill>
                <a:effectLst/>
              </a:rPr>
              <a:t> = </a:t>
            </a:r>
            <a:r>
              <a:rPr lang="en-US" b="0" i="0" dirty="0">
                <a:solidFill>
                  <a:srgbClr val="4DA0D2"/>
                </a:solidFill>
                <a:effectLst/>
              </a:rPr>
              <a:t>new</a:t>
            </a:r>
            <a:r>
              <a:rPr lang="en-US" b="0" i="0" dirty="0">
                <a:solidFill>
                  <a:srgbClr val="000000"/>
                </a:solidFill>
                <a:effectLst/>
              </a:rPr>
              <a:t> Student</a:t>
            </a:r>
            <a:r>
              <a:rPr lang="en-US" b="0" i="0" dirty="0">
                <a:solidFill>
                  <a:srgbClr val="777777"/>
                </a:solidFill>
                <a:effectLst/>
              </a:rPr>
              <a:t>[</a:t>
            </a:r>
            <a:r>
              <a:rPr lang="en-US" b="0" i="0" dirty="0">
                <a:solidFill>
                  <a:srgbClr val="009999"/>
                </a:solidFill>
                <a:effectLst/>
              </a:rPr>
              <a:t>3</a:t>
            </a:r>
            <a:r>
              <a:rPr lang="en-US" b="0" i="0" dirty="0">
                <a:solidFill>
                  <a:srgbClr val="777777"/>
                </a:solidFill>
                <a:effectLst/>
              </a:rPr>
              <a:t>]</a:t>
            </a:r>
            <a:r>
              <a:rPr lang="en-US" b="0" i="0" dirty="0">
                <a:solidFill>
                  <a:srgbClr val="000000"/>
                </a:solidFill>
                <a:effectLst/>
              </a:rPr>
              <a:t>;</a:t>
            </a:r>
            <a:endParaRPr lang="en-PK" dirty="0"/>
          </a:p>
        </p:txBody>
      </p:sp>
      <p:sp>
        <p:nvSpPr>
          <p:cNvPr id="7" name="TextBox 6">
            <a:extLst>
              <a:ext uri="{FF2B5EF4-FFF2-40B4-BE49-F238E27FC236}">
                <a16:creationId xmlns:a16="http://schemas.microsoft.com/office/drawing/2014/main" id="{17973F9E-4F4B-4F18-AF1E-BE3D8EDB595B}"/>
              </a:ext>
            </a:extLst>
          </p:cNvPr>
          <p:cNvSpPr txBox="1"/>
          <p:nvPr/>
        </p:nvSpPr>
        <p:spPr>
          <a:xfrm>
            <a:off x="619345" y="1148892"/>
            <a:ext cx="10470413" cy="1122743"/>
          </a:xfrm>
          <a:prstGeom prst="rect">
            <a:avLst/>
          </a:prstGeom>
          <a:noFill/>
        </p:spPr>
        <p:txBody>
          <a:bodyPr wrap="square">
            <a:spAutoFit/>
          </a:bodyPr>
          <a:lstStyle/>
          <a:p>
            <a:pPr marL="285750" indent="-285750" algn="just">
              <a:lnSpc>
                <a:spcPct val="200000"/>
              </a:lnSpc>
              <a:buFont typeface="Arial" panose="020B0604020202020204" pitchFamily="34" charset="0"/>
              <a:buChar char="•"/>
            </a:pPr>
            <a:r>
              <a:rPr lang="en-US" b="0" i="0" dirty="0">
                <a:solidFill>
                  <a:srgbClr val="3A3A3A"/>
                </a:solidFill>
                <a:effectLst/>
              </a:rPr>
              <a:t>It can store three objects of Student. You can change the size of the Array according to your requirements. After the creation of an array of objects, we initialized the value of each index.</a:t>
            </a:r>
            <a:endParaRPr lang="en-PK" dirty="0"/>
          </a:p>
        </p:txBody>
      </p:sp>
      <p:sp>
        <p:nvSpPr>
          <p:cNvPr id="9" name="TextBox 8">
            <a:extLst>
              <a:ext uri="{FF2B5EF4-FFF2-40B4-BE49-F238E27FC236}">
                <a16:creationId xmlns:a16="http://schemas.microsoft.com/office/drawing/2014/main" id="{05F561D7-DF29-41D3-A5B5-219A9BCF910B}"/>
              </a:ext>
            </a:extLst>
          </p:cNvPr>
          <p:cNvSpPr txBox="1"/>
          <p:nvPr/>
        </p:nvSpPr>
        <p:spPr>
          <a:xfrm>
            <a:off x="898746" y="2638173"/>
            <a:ext cx="6097772" cy="1676741"/>
          </a:xfrm>
          <a:prstGeom prst="rect">
            <a:avLst/>
          </a:prstGeom>
          <a:noFill/>
        </p:spPr>
        <p:txBody>
          <a:bodyPr wrap="square">
            <a:spAutoFit/>
          </a:bodyPr>
          <a:lstStyle/>
          <a:p>
            <a:pPr algn="just">
              <a:lnSpc>
                <a:spcPct val="200000"/>
              </a:lnSpc>
            </a:pPr>
            <a:r>
              <a:rPr lang="en-US" b="0" i="0" dirty="0" err="1">
                <a:solidFill>
                  <a:srgbClr val="000000"/>
                </a:solidFill>
                <a:effectLst/>
              </a:rPr>
              <a:t>recordOfStudent</a:t>
            </a:r>
            <a:r>
              <a:rPr lang="en-US" b="0" i="0" dirty="0">
                <a:solidFill>
                  <a:srgbClr val="777777"/>
                </a:solidFill>
                <a:effectLst/>
              </a:rPr>
              <a:t>[</a:t>
            </a:r>
            <a:r>
              <a:rPr lang="en-US" b="0" i="0" dirty="0">
                <a:solidFill>
                  <a:srgbClr val="009999"/>
                </a:solidFill>
                <a:effectLst/>
              </a:rPr>
              <a:t>0</a:t>
            </a:r>
            <a:r>
              <a:rPr lang="en-US" b="0" i="0" dirty="0">
                <a:solidFill>
                  <a:srgbClr val="777777"/>
                </a:solidFill>
                <a:effectLst/>
              </a:rPr>
              <a:t>]</a:t>
            </a:r>
            <a:r>
              <a:rPr lang="en-US" b="0" i="0" dirty="0">
                <a:solidFill>
                  <a:srgbClr val="000000"/>
                </a:solidFill>
                <a:effectLst/>
              </a:rPr>
              <a:t> = </a:t>
            </a:r>
            <a:r>
              <a:rPr lang="en-US" b="0" i="0" dirty="0" err="1">
                <a:solidFill>
                  <a:srgbClr val="000000"/>
                </a:solidFill>
                <a:effectLst/>
              </a:rPr>
              <a:t>firstStudent</a:t>
            </a:r>
            <a:r>
              <a:rPr lang="en-US" b="0" i="0" dirty="0">
                <a:solidFill>
                  <a:srgbClr val="000000"/>
                </a:solidFill>
                <a:effectLst/>
              </a:rPr>
              <a:t>;</a:t>
            </a:r>
            <a:endParaRPr lang="en-US" b="0" i="0" dirty="0">
              <a:solidFill>
                <a:srgbClr val="444444"/>
              </a:solidFill>
              <a:effectLst/>
            </a:endParaRPr>
          </a:p>
          <a:p>
            <a:pPr algn="just">
              <a:lnSpc>
                <a:spcPct val="200000"/>
              </a:lnSpc>
            </a:pPr>
            <a:r>
              <a:rPr lang="en-US" b="0" i="0" dirty="0" err="1">
                <a:solidFill>
                  <a:srgbClr val="000000"/>
                </a:solidFill>
                <a:effectLst/>
              </a:rPr>
              <a:t>recordOfStudent</a:t>
            </a:r>
            <a:r>
              <a:rPr lang="en-US" b="0" i="0" dirty="0">
                <a:solidFill>
                  <a:srgbClr val="777777"/>
                </a:solidFill>
                <a:effectLst/>
              </a:rPr>
              <a:t>[</a:t>
            </a:r>
            <a:r>
              <a:rPr lang="en-US" b="0" i="0" dirty="0">
                <a:solidFill>
                  <a:srgbClr val="009999"/>
                </a:solidFill>
                <a:effectLst/>
              </a:rPr>
              <a:t>1</a:t>
            </a:r>
            <a:r>
              <a:rPr lang="en-US" b="0" i="0" dirty="0">
                <a:solidFill>
                  <a:srgbClr val="777777"/>
                </a:solidFill>
                <a:effectLst/>
              </a:rPr>
              <a:t>]</a:t>
            </a:r>
            <a:r>
              <a:rPr lang="en-US" b="0" i="0" dirty="0">
                <a:solidFill>
                  <a:srgbClr val="000000"/>
                </a:solidFill>
                <a:effectLst/>
              </a:rPr>
              <a:t> = </a:t>
            </a:r>
            <a:r>
              <a:rPr lang="en-US" b="0" i="0" dirty="0" err="1">
                <a:solidFill>
                  <a:srgbClr val="000000"/>
                </a:solidFill>
                <a:effectLst/>
              </a:rPr>
              <a:t>firstStudent</a:t>
            </a:r>
            <a:r>
              <a:rPr lang="en-US" b="0" i="0" dirty="0">
                <a:solidFill>
                  <a:srgbClr val="000000"/>
                </a:solidFill>
                <a:effectLst/>
              </a:rPr>
              <a:t>;</a:t>
            </a:r>
            <a:endParaRPr lang="en-US" b="0" i="0" dirty="0">
              <a:solidFill>
                <a:srgbClr val="AAAAAA"/>
              </a:solidFill>
              <a:effectLst/>
            </a:endParaRPr>
          </a:p>
          <a:p>
            <a:pPr algn="just">
              <a:lnSpc>
                <a:spcPct val="200000"/>
              </a:lnSpc>
            </a:pPr>
            <a:r>
              <a:rPr lang="en-US" b="0" i="0" dirty="0" err="1">
                <a:solidFill>
                  <a:srgbClr val="000000"/>
                </a:solidFill>
                <a:effectLst/>
              </a:rPr>
              <a:t>recordOfStudent</a:t>
            </a:r>
            <a:r>
              <a:rPr lang="en-US" b="0" i="0" dirty="0">
                <a:solidFill>
                  <a:srgbClr val="777777"/>
                </a:solidFill>
                <a:effectLst/>
              </a:rPr>
              <a:t>[</a:t>
            </a:r>
            <a:r>
              <a:rPr lang="en-US" b="0" i="0" dirty="0">
                <a:solidFill>
                  <a:srgbClr val="009999"/>
                </a:solidFill>
                <a:effectLst/>
              </a:rPr>
              <a:t>2</a:t>
            </a:r>
            <a:r>
              <a:rPr lang="en-US" b="0" i="0" dirty="0">
                <a:solidFill>
                  <a:srgbClr val="777777"/>
                </a:solidFill>
                <a:effectLst/>
              </a:rPr>
              <a:t>]</a:t>
            </a:r>
            <a:r>
              <a:rPr lang="en-US" b="0" i="0" dirty="0">
                <a:solidFill>
                  <a:srgbClr val="000000"/>
                </a:solidFill>
                <a:effectLst/>
              </a:rPr>
              <a:t> = </a:t>
            </a:r>
            <a:r>
              <a:rPr lang="en-US" b="0" i="0" dirty="0" err="1">
                <a:solidFill>
                  <a:srgbClr val="000000"/>
                </a:solidFill>
                <a:effectLst/>
              </a:rPr>
              <a:t>firstStudent</a:t>
            </a:r>
            <a:r>
              <a:rPr lang="en-US" b="0" i="0" dirty="0">
                <a:solidFill>
                  <a:srgbClr val="000000"/>
                </a:solidFill>
                <a:effectLst/>
              </a:rPr>
              <a:t>;</a:t>
            </a:r>
            <a:endParaRPr lang="en-US" b="0" i="0" dirty="0">
              <a:solidFill>
                <a:srgbClr val="AAAAAA"/>
              </a:solidFill>
              <a:effectLst/>
            </a:endParaRPr>
          </a:p>
        </p:txBody>
      </p:sp>
      <p:sp>
        <p:nvSpPr>
          <p:cNvPr id="12" name="TextBox 11">
            <a:extLst>
              <a:ext uri="{FF2B5EF4-FFF2-40B4-BE49-F238E27FC236}">
                <a16:creationId xmlns:a16="http://schemas.microsoft.com/office/drawing/2014/main" id="{20E00C95-94E4-4934-ACDC-5FCB7E961145}"/>
              </a:ext>
            </a:extLst>
          </p:cNvPr>
          <p:cNvSpPr txBox="1"/>
          <p:nvPr/>
        </p:nvSpPr>
        <p:spPr>
          <a:xfrm>
            <a:off x="401380" y="5177802"/>
            <a:ext cx="10688378" cy="1122743"/>
          </a:xfrm>
          <a:prstGeom prst="rect">
            <a:avLst/>
          </a:prstGeom>
          <a:noFill/>
        </p:spPr>
        <p:txBody>
          <a:bodyPr wrap="square">
            <a:spAutoFit/>
          </a:bodyPr>
          <a:lstStyle/>
          <a:p>
            <a:pPr marL="285750" indent="-285750" algn="just">
              <a:lnSpc>
                <a:spcPct val="200000"/>
              </a:lnSpc>
              <a:buFont typeface="Arial" panose="020B0604020202020204" pitchFamily="34" charset="0"/>
              <a:buChar char="•"/>
            </a:pPr>
            <a:r>
              <a:rPr lang="en-US" b="0" i="0" dirty="0">
                <a:solidFill>
                  <a:srgbClr val="3A3A3A"/>
                </a:solidFill>
                <a:effectLst/>
              </a:rPr>
              <a:t>Now, the </a:t>
            </a:r>
            <a:r>
              <a:rPr lang="en-US" b="1" i="0" dirty="0" err="1">
                <a:solidFill>
                  <a:srgbClr val="3A3A3A"/>
                </a:solidFill>
                <a:effectLst/>
              </a:rPr>
              <a:t>recordOfStudent</a:t>
            </a:r>
            <a:r>
              <a:rPr lang="en-US" b="0" i="0" dirty="0">
                <a:solidFill>
                  <a:srgbClr val="3A3A3A"/>
                </a:solidFill>
                <a:effectLst/>
              </a:rPr>
              <a:t> contains three objects of Student. We are displaying the record of the students by accessing the Array. You can simply access an array by use of subscripts.</a:t>
            </a:r>
            <a:endParaRPr lang="en-PK" dirty="0"/>
          </a:p>
        </p:txBody>
      </p:sp>
      <p:sp>
        <p:nvSpPr>
          <p:cNvPr id="14" name="TextBox 13">
            <a:extLst>
              <a:ext uri="{FF2B5EF4-FFF2-40B4-BE49-F238E27FC236}">
                <a16:creationId xmlns:a16="http://schemas.microsoft.com/office/drawing/2014/main" id="{21355A7A-9583-4202-B7A3-6A848AC555C6}"/>
              </a:ext>
            </a:extLst>
          </p:cNvPr>
          <p:cNvSpPr txBox="1"/>
          <p:nvPr/>
        </p:nvSpPr>
        <p:spPr>
          <a:xfrm>
            <a:off x="0" y="47157"/>
            <a:ext cx="6096000" cy="523220"/>
          </a:xfrm>
          <a:prstGeom prst="rect">
            <a:avLst/>
          </a:prstGeom>
          <a:noFill/>
        </p:spPr>
        <p:txBody>
          <a:bodyPr wrap="square">
            <a:spAutoFit/>
          </a:bodyPr>
          <a:lstStyle/>
          <a:p>
            <a:pPr algn="just"/>
            <a:r>
              <a:rPr lang="en-US" sz="2800" b="1" dirty="0">
                <a:solidFill>
                  <a:schemeClr val="accent1">
                    <a:lumMod val="50000"/>
                  </a:schemeClr>
                </a:solidFill>
              </a:rPr>
              <a:t>Arrays of Objects:</a:t>
            </a:r>
            <a:endParaRPr lang="en-PK" sz="2800" dirty="0"/>
          </a:p>
        </p:txBody>
      </p:sp>
      <p:pic>
        <p:nvPicPr>
          <p:cNvPr id="15" name="Picture 14">
            <a:extLst>
              <a:ext uri="{FF2B5EF4-FFF2-40B4-BE49-F238E27FC236}">
                <a16:creationId xmlns:a16="http://schemas.microsoft.com/office/drawing/2014/main" id="{B28AFB49-25CF-46E5-93EE-7B2019767963}"/>
              </a:ext>
            </a:extLst>
          </p:cNvPr>
          <p:cNvPicPr>
            <a:picLocks noChangeAspect="1"/>
          </p:cNvPicPr>
          <p:nvPr/>
        </p:nvPicPr>
        <p:blipFill>
          <a:blip r:embed="rId2"/>
          <a:stretch>
            <a:fillRect/>
          </a:stretch>
        </p:blipFill>
        <p:spPr>
          <a:xfrm>
            <a:off x="5854551" y="2741056"/>
            <a:ext cx="6067425" cy="2028825"/>
          </a:xfrm>
          <a:prstGeom prst="rect">
            <a:avLst/>
          </a:prstGeom>
        </p:spPr>
      </p:pic>
    </p:spTree>
    <p:extLst>
      <p:ext uri="{BB962C8B-B14F-4D97-AF65-F5344CB8AC3E}">
        <p14:creationId xmlns:p14="http://schemas.microsoft.com/office/powerpoint/2010/main" val="30905756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62F139F-E7D7-4DAA-9C7D-29CDD735A672}"/>
              </a:ext>
            </a:extLst>
          </p:cNvPr>
          <p:cNvSpPr>
            <a:spLocks noGrp="1"/>
          </p:cNvSpPr>
          <p:nvPr>
            <p:ph type="title"/>
          </p:nvPr>
        </p:nvSpPr>
        <p:spPr>
          <a:xfrm>
            <a:off x="560406" y="57480"/>
            <a:ext cx="10515600" cy="718415"/>
          </a:xfrm>
        </p:spPr>
        <p:txBody>
          <a:bodyPr>
            <a:normAutofit/>
          </a:bodyPr>
          <a:lstStyle/>
          <a:p>
            <a:r>
              <a:rPr lang="en-US" sz="2800" b="1" dirty="0">
                <a:solidFill>
                  <a:schemeClr val="accent1">
                    <a:lumMod val="50000"/>
                  </a:schemeClr>
                </a:solidFill>
                <a:latin typeface="+mn-lt"/>
              </a:rPr>
              <a:t>2 Dimensional Array</a:t>
            </a:r>
            <a:endParaRPr lang="en-PK" sz="2800" b="1" dirty="0">
              <a:solidFill>
                <a:schemeClr val="accent1">
                  <a:lumMod val="50000"/>
                </a:schemeClr>
              </a:solidFill>
              <a:latin typeface="+mn-lt"/>
            </a:endParaRPr>
          </a:p>
        </p:txBody>
      </p:sp>
      <p:sp>
        <p:nvSpPr>
          <p:cNvPr id="12" name="TextBox 11">
            <a:extLst>
              <a:ext uri="{FF2B5EF4-FFF2-40B4-BE49-F238E27FC236}">
                <a16:creationId xmlns:a16="http://schemas.microsoft.com/office/drawing/2014/main" id="{AC279DC0-9AD8-42C4-AA2A-119D5053C756}"/>
              </a:ext>
            </a:extLst>
          </p:cNvPr>
          <p:cNvSpPr txBox="1"/>
          <p:nvPr/>
        </p:nvSpPr>
        <p:spPr>
          <a:xfrm>
            <a:off x="560406" y="552375"/>
            <a:ext cx="10820805" cy="6108724"/>
          </a:xfrm>
          <a:prstGeom prst="rect">
            <a:avLst/>
          </a:prstGeom>
          <a:noFill/>
        </p:spPr>
        <p:txBody>
          <a:bodyPr wrap="square">
            <a:spAutoFit/>
          </a:bodyPr>
          <a:lstStyle/>
          <a:p>
            <a:pPr marL="285750" indent="-285750" algn="just">
              <a:lnSpc>
                <a:spcPct val="200000"/>
              </a:lnSpc>
              <a:buFont typeface="Arial" panose="020B0604020202020204" pitchFamily="34" charset="0"/>
              <a:buChar char="•"/>
            </a:pPr>
            <a:r>
              <a:rPr lang="en-US" b="0" i="0" dirty="0">
                <a:effectLst/>
              </a:rPr>
              <a:t>A 2D array is stored in the computer's memory one row following another.</a:t>
            </a:r>
          </a:p>
          <a:p>
            <a:pPr marL="285750" indent="-285750" algn="just">
              <a:lnSpc>
                <a:spcPct val="200000"/>
              </a:lnSpc>
              <a:buFont typeface="Arial" panose="020B0604020202020204" pitchFamily="34" charset="0"/>
              <a:buChar char="•"/>
            </a:pPr>
            <a:r>
              <a:rPr lang="en-US" b="0" i="0" dirty="0">
                <a:effectLst/>
              </a:rPr>
              <a:t>The address of the first byte of memory is considered as the memory location of the entire 2D array.</a:t>
            </a:r>
            <a:endParaRPr lang="en-US" dirty="0"/>
          </a:p>
          <a:p>
            <a:pPr marL="285750" indent="-285750" algn="just">
              <a:lnSpc>
                <a:spcPct val="200000"/>
              </a:lnSpc>
              <a:buFont typeface="Arial" panose="020B0604020202020204" pitchFamily="34" charset="0"/>
              <a:buChar char="•"/>
            </a:pPr>
            <a:r>
              <a:rPr lang="en-US" b="0" i="0" dirty="0">
                <a:effectLst/>
              </a:rPr>
              <a:t>Knowing the address of the first byte of memory, the compiler can easily compute to find the memory location of any other elements in the 2D array provided the number of columns in the array is known.</a:t>
            </a:r>
          </a:p>
          <a:p>
            <a:pPr marL="742950" lvl="1" indent="-285750" algn="just">
              <a:lnSpc>
                <a:spcPct val="200000"/>
              </a:lnSpc>
              <a:buFont typeface="Arial" panose="020B0604020202020204" pitchFamily="34" charset="0"/>
              <a:buChar char="•"/>
            </a:pPr>
            <a:r>
              <a:rPr lang="en-US" b="0" i="0" dirty="0">
                <a:effectLst/>
              </a:rPr>
              <a:t>If each data value of the array requires B bytes of memory, and if the array has C columns, then the memory location of an element such as score[m][n] is (m*</a:t>
            </a:r>
            <a:r>
              <a:rPr lang="en-US" b="0" i="0" dirty="0" err="1">
                <a:effectLst/>
              </a:rPr>
              <a:t>c+n</a:t>
            </a:r>
            <a:r>
              <a:rPr lang="en-US" b="0" i="0" dirty="0">
                <a:effectLst/>
              </a:rPr>
              <a:t>)*B from the address of the first byte.</a:t>
            </a:r>
            <a:endParaRPr lang="en-US" dirty="0"/>
          </a:p>
          <a:p>
            <a:pPr marL="285750" indent="-285750" algn="just">
              <a:lnSpc>
                <a:spcPct val="200000"/>
              </a:lnSpc>
              <a:buFont typeface="Arial" panose="020B0604020202020204" pitchFamily="34" charset="0"/>
              <a:buChar char="•"/>
            </a:pPr>
            <a:r>
              <a:rPr lang="en-US" b="0" i="0" dirty="0">
                <a:effectLst/>
              </a:rPr>
              <a:t>Note that to find the memory location of any element, there is no need to know the total number of rows in the array, i.e. the size of the first dimension. Of course the size of the first dimension is needed to prevent reading or storing data that is out of bounds.</a:t>
            </a:r>
          </a:p>
          <a:p>
            <a:pPr marL="285750" indent="-285750" algn="just">
              <a:lnSpc>
                <a:spcPct val="200000"/>
              </a:lnSpc>
              <a:buFont typeface="Arial" panose="020B0604020202020204" pitchFamily="34" charset="0"/>
              <a:buChar char="•"/>
            </a:pPr>
            <a:r>
              <a:rPr lang="en-US" b="0" i="0" dirty="0">
                <a:effectLst/>
              </a:rPr>
              <a:t>Again one should not think of a 2D array as just an array with two indexes. You should think of it as an array of arrays.</a:t>
            </a:r>
            <a:endParaRPr lang="en-PK" dirty="0"/>
          </a:p>
        </p:txBody>
      </p:sp>
    </p:spTree>
    <p:extLst>
      <p:ext uri="{BB962C8B-B14F-4D97-AF65-F5344CB8AC3E}">
        <p14:creationId xmlns:p14="http://schemas.microsoft.com/office/powerpoint/2010/main" val="1009177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5BA5928-77C5-4D93-A3DB-723555CAFE17}"/>
              </a:ext>
            </a:extLst>
          </p:cNvPr>
          <p:cNvSpPr txBox="1"/>
          <p:nvPr/>
        </p:nvSpPr>
        <p:spPr>
          <a:xfrm>
            <a:off x="477457" y="1135103"/>
            <a:ext cx="11351870" cy="1709571"/>
          </a:xfrm>
          <a:prstGeom prst="rect">
            <a:avLst/>
          </a:prstGeom>
          <a:noFill/>
        </p:spPr>
        <p:txBody>
          <a:bodyPr wrap="square">
            <a:spAutoFit/>
          </a:bodyPr>
          <a:lstStyle/>
          <a:p>
            <a:pPr>
              <a:lnSpc>
                <a:spcPct val="150000"/>
              </a:lnSpc>
            </a:pPr>
            <a:r>
              <a:rPr lang="en-US" b="0" i="0" dirty="0">
                <a:effectLst/>
              </a:rPr>
              <a:t>A 2D array’s elements are stored in continuous memory locations. It can be represented in memory using any of the following two ways: </a:t>
            </a:r>
          </a:p>
          <a:p>
            <a:pPr>
              <a:lnSpc>
                <a:spcPct val="150000"/>
              </a:lnSpc>
            </a:pPr>
            <a:r>
              <a:rPr lang="en-US" b="1" i="0" dirty="0">
                <a:effectLst/>
              </a:rPr>
              <a:t>1.Column-Major Order</a:t>
            </a:r>
            <a:br>
              <a:rPr lang="en-US" b="1" dirty="0"/>
            </a:br>
            <a:r>
              <a:rPr lang="en-US" b="1" i="0" dirty="0">
                <a:effectLst/>
              </a:rPr>
              <a:t>2. Row-Major Order</a:t>
            </a:r>
            <a:endParaRPr lang="en-PK" b="1" dirty="0"/>
          </a:p>
        </p:txBody>
      </p:sp>
      <p:sp>
        <p:nvSpPr>
          <p:cNvPr id="6" name="Title 1">
            <a:extLst>
              <a:ext uri="{FF2B5EF4-FFF2-40B4-BE49-F238E27FC236}">
                <a16:creationId xmlns:a16="http://schemas.microsoft.com/office/drawing/2014/main" id="{76968A25-DC11-4A15-8892-CA7E34C62463}"/>
              </a:ext>
            </a:extLst>
          </p:cNvPr>
          <p:cNvSpPr>
            <a:spLocks noGrp="1"/>
          </p:cNvSpPr>
          <p:nvPr>
            <p:ph type="title"/>
          </p:nvPr>
        </p:nvSpPr>
        <p:spPr>
          <a:xfrm>
            <a:off x="242907" y="72371"/>
            <a:ext cx="10515600" cy="718415"/>
          </a:xfrm>
        </p:spPr>
        <p:txBody>
          <a:bodyPr>
            <a:normAutofit/>
          </a:bodyPr>
          <a:lstStyle/>
          <a:p>
            <a:r>
              <a:rPr lang="en-US" sz="2800" b="1" dirty="0">
                <a:solidFill>
                  <a:schemeClr val="accent1">
                    <a:lumMod val="50000"/>
                  </a:schemeClr>
                </a:solidFill>
                <a:latin typeface="+mn-lt"/>
              </a:rPr>
              <a:t>2 Dimensional Array</a:t>
            </a:r>
            <a:endParaRPr lang="en-PK" sz="2800" b="1" dirty="0">
              <a:solidFill>
                <a:schemeClr val="accent1">
                  <a:lumMod val="50000"/>
                </a:schemeClr>
              </a:solidFill>
              <a:latin typeface="+mn-lt"/>
            </a:endParaRPr>
          </a:p>
        </p:txBody>
      </p:sp>
      <p:sp>
        <p:nvSpPr>
          <p:cNvPr id="7" name="Rectangle 1">
            <a:extLst>
              <a:ext uri="{FF2B5EF4-FFF2-40B4-BE49-F238E27FC236}">
                <a16:creationId xmlns:a16="http://schemas.microsoft.com/office/drawing/2014/main" id="{1E40A9BC-E37E-4563-AF44-345B0D99A982}"/>
              </a:ext>
            </a:extLst>
          </p:cNvPr>
          <p:cNvSpPr>
            <a:spLocks noChangeArrowheads="1"/>
          </p:cNvSpPr>
          <p:nvPr/>
        </p:nvSpPr>
        <p:spPr bwMode="auto">
          <a:xfrm>
            <a:off x="362673" y="3180534"/>
            <a:ext cx="5230021" cy="2542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PK" altLang="en-PK" b="1" i="0" u="none" strike="noStrike" cap="none" normalizeH="0" baseline="0" dirty="0">
                <a:ln>
                  <a:noFill/>
                </a:ln>
                <a:effectLst/>
                <a:latin typeface="+mn-lt"/>
                <a:cs typeface="Arial" panose="020B0604020202020204" pitchFamily="34" charset="0"/>
              </a:rPr>
              <a:t>Column-Major</a:t>
            </a:r>
            <a:r>
              <a:rPr kumimoji="0" lang="en-US" altLang="en-PK" b="1" i="0" u="none" strike="noStrike" cap="none" normalizeH="0" baseline="0" dirty="0">
                <a:ln>
                  <a:noFill/>
                </a:ln>
                <a:effectLst/>
                <a:latin typeface="+mn-lt"/>
                <a:cs typeface="Arial" panose="020B0604020202020204" pitchFamily="34" charset="0"/>
              </a:rPr>
              <a:t> </a:t>
            </a:r>
            <a:r>
              <a:rPr lang="en-US" altLang="en-PK" b="1" dirty="0">
                <a:latin typeface="+mn-lt"/>
                <a:cs typeface="Arial" panose="020B0604020202020204" pitchFamily="34" charset="0"/>
              </a:rPr>
              <a:t>O</a:t>
            </a:r>
            <a:r>
              <a:rPr kumimoji="0" lang="en-PK" altLang="en-PK" b="1" i="0" u="none" strike="noStrike" cap="none" normalizeH="0" baseline="0" dirty="0" err="1">
                <a:ln>
                  <a:noFill/>
                </a:ln>
                <a:effectLst/>
                <a:latin typeface="+mn-lt"/>
                <a:cs typeface="Arial" panose="020B0604020202020204" pitchFamily="34" charset="0"/>
              </a:rPr>
              <a:t>rder</a:t>
            </a:r>
            <a:r>
              <a:rPr kumimoji="0" lang="en-PK" altLang="en-PK" b="1" i="0" u="none" strike="noStrike" cap="none" normalizeH="0" baseline="0" dirty="0">
                <a:ln>
                  <a:noFill/>
                </a:ln>
                <a:effectLst/>
                <a:latin typeface="+mn-lt"/>
                <a:cs typeface="Arial" panose="020B0604020202020204" pitchFamily="34" charset="0"/>
              </a:rPr>
              <a:t>:</a:t>
            </a:r>
            <a:endParaRPr kumimoji="0" lang="en-US" altLang="en-PK" b="0" i="0" u="none" strike="noStrike" cap="none" normalizeH="0" baseline="0" dirty="0">
              <a:ln>
                <a:noFill/>
              </a:ln>
              <a:effectLst/>
              <a:latin typeface="+mn-lt"/>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PK" altLang="en-PK" b="0" i="0" u="none" strike="noStrike" cap="none" normalizeH="0" baseline="0" dirty="0">
                <a:ln>
                  <a:noFill/>
                </a:ln>
                <a:effectLst/>
                <a:latin typeface="+mn-lt"/>
                <a:cs typeface="Arial" panose="020B0604020202020204" pitchFamily="34" charset="0"/>
              </a:rPr>
              <a:t>In this method the elements are stored column wise, i.e. m elements of first column are stored in first m locations, m elements of second column are stored in next m locations and so on. E.g.</a:t>
            </a:r>
            <a:br>
              <a:rPr kumimoji="0" lang="en-PK" altLang="en-PK" b="0" i="0" u="none" strike="noStrike" cap="none" normalizeH="0" baseline="0" dirty="0">
                <a:ln>
                  <a:noFill/>
                </a:ln>
                <a:effectLst/>
                <a:latin typeface="+mn-lt"/>
              </a:rPr>
            </a:br>
            <a:r>
              <a:rPr kumimoji="0" lang="en-PK" altLang="en-PK" b="0" i="0" u="none" strike="noStrike" cap="none" normalizeH="0" baseline="0" dirty="0">
                <a:ln>
                  <a:noFill/>
                </a:ln>
                <a:effectLst/>
                <a:latin typeface="+mn-lt"/>
                <a:cs typeface="Arial" panose="020B0604020202020204" pitchFamily="34" charset="0"/>
              </a:rPr>
              <a:t>A 3 x 4 array will stored as </a:t>
            </a:r>
            <a:r>
              <a:rPr kumimoji="0" lang="en-US" altLang="en-PK" b="0" i="0" u="none" strike="noStrike" cap="none" normalizeH="0" baseline="0" dirty="0">
                <a:ln>
                  <a:noFill/>
                </a:ln>
                <a:effectLst/>
                <a:latin typeface="+mn-lt"/>
                <a:cs typeface="Arial" panose="020B0604020202020204" pitchFamily="34" charset="0"/>
              </a:rPr>
              <a:t>illustrated in Fig.</a:t>
            </a:r>
            <a:endParaRPr kumimoji="0" lang="en-PK" altLang="en-PK" b="0" i="0" u="none" strike="noStrike" cap="none" normalizeH="0" baseline="0" dirty="0">
              <a:ln>
                <a:noFill/>
              </a:ln>
              <a:effectLst/>
              <a:latin typeface="+mn-lt"/>
            </a:endParaRPr>
          </a:p>
        </p:txBody>
      </p:sp>
      <p:pic>
        <p:nvPicPr>
          <p:cNvPr id="1026" name="Picture 2">
            <a:extLst>
              <a:ext uri="{FF2B5EF4-FFF2-40B4-BE49-F238E27FC236}">
                <a16:creationId xmlns:a16="http://schemas.microsoft.com/office/drawing/2014/main" id="{6B62FB58-9701-4366-93CB-DDFAFA8EFE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28603" y="1686907"/>
            <a:ext cx="5900724" cy="47544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38650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C96E0D1-8984-4C35-9516-52C344A58044}"/>
              </a:ext>
            </a:extLst>
          </p:cNvPr>
          <p:cNvSpPr>
            <a:spLocks noGrp="1"/>
          </p:cNvSpPr>
          <p:nvPr>
            <p:ph type="title"/>
          </p:nvPr>
        </p:nvSpPr>
        <p:spPr>
          <a:xfrm>
            <a:off x="560407" y="416688"/>
            <a:ext cx="10515600" cy="718415"/>
          </a:xfrm>
        </p:spPr>
        <p:txBody>
          <a:bodyPr>
            <a:normAutofit/>
          </a:bodyPr>
          <a:lstStyle/>
          <a:p>
            <a:r>
              <a:rPr lang="en-US" sz="2800" b="1" dirty="0">
                <a:solidFill>
                  <a:schemeClr val="accent1">
                    <a:lumMod val="50000"/>
                  </a:schemeClr>
                </a:solidFill>
                <a:latin typeface="+mn-lt"/>
              </a:rPr>
              <a:t>2 Dimensional Array</a:t>
            </a:r>
            <a:endParaRPr lang="en-PK" sz="2800" b="1" dirty="0">
              <a:solidFill>
                <a:schemeClr val="accent1">
                  <a:lumMod val="50000"/>
                </a:schemeClr>
              </a:solidFill>
              <a:latin typeface="+mn-lt"/>
            </a:endParaRPr>
          </a:p>
        </p:txBody>
      </p:sp>
      <p:sp>
        <p:nvSpPr>
          <p:cNvPr id="6" name="Rectangle 3">
            <a:extLst>
              <a:ext uri="{FF2B5EF4-FFF2-40B4-BE49-F238E27FC236}">
                <a16:creationId xmlns:a16="http://schemas.microsoft.com/office/drawing/2014/main" id="{E42611AD-B0A8-48FB-9585-882F1C6D51EB}"/>
              </a:ext>
            </a:extLst>
          </p:cNvPr>
          <p:cNvSpPr>
            <a:spLocks noChangeArrowheads="1"/>
          </p:cNvSpPr>
          <p:nvPr/>
        </p:nvSpPr>
        <p:spPr bwMode="auto">
          <a:xfrm>
            <a:off x="560407" y="1205802"/>
            <a:ext cx="5329412" cy="4126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250000"/>
              </a:lnSpc>
              <a:spcBef>
                <a:spcPct val="0"/>
              </a:spcBef>
              <a:spcAft>
                <a:spcPct val="0"/>
              </a:spcAft>
              <a:buClrTx/>
              <a:buSzTx/>
              <a:buFontTx/>
              <a:buNone/>
              <a:tabLst/>
            </a:pPr>
            <a:r>
              <a:rPr kumimoji="0" lang="en-PK" altLang="en-PK" b="1" i="0" u="none" strike="noStrike" cap="none" normalizeH="0" baseline="0" dirty="0">
                <a:ln>
                  <a:noFill/>
                </a:ln>
                <a:solidFill>
                  <a:srgbClr val="303030"/>
                </a:solidFill>
                <a:effectLst/>
                <a:latin typeface="Arial" panose="020B0604020202020204" pitchFamily="34" charset="0"/>
                <a:cs typeface="Arial" panose="020B0604020202020204" pitchFamily="34" charset="0"/>
              </a:rPr>
              <a:t>2.Row-Major Order:</a:t>
            </a:r>
            <a:endParaRPr kumimoji="0" lang="en-US" altLang="en-PK"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250000"/>
              </a:lnSpc>
              <a:spcBef>
                <a:spcPct val="0"/>
              </a:spcBef>
              <a:spcAft>
                <a:spcPct val="0"/>
              </a:spcAft>
              <a:buClrTx/>
              <a:buSzTx/>
              <a:buFontTx/>
              <a:buNone/>
              <a:tabLst/>
            </a:pPr>
            <a:r>
              <a:rPr kumimoji="0" lang="en-PK" altLang="en-PK" b="0" i="0" u="none" strike="noStrike" cap="none" normalizeH="0" baseline="0" dirty="0">
                <a:ln>
                  <a:noFill/>
                </a:ln>
                <a:solidFill>
                  <a:srgbClr val="303030"/>
                </a:solidFill>
                <a:effectLst/>
                <a:latin typeface="Arial" panose="020B0604020202020204" pitchFamily="34" charset="0"/>
                <a:cs typeface="Arial" panose="020B0604020202020204" pitchFamily="34" charset="0"/>
              </a:rPr>
              <a:t>In this method the elements are stored row wise, i.e. n elements of first row are stored in first n locations, n elements of second row are stored in next n locations and so on. E.g.</a:t>
            </a:r>
            <a:br>
              <a:rPr kumimoji="0" lang="en-PK" altLang="en-PK" b="0" i="0" u="none" strike="noStrike" cap="none" normalizeH="0" baseline="0" dirty="0">
                <a:ln>
                  <a:noFill/>
                </a:ln>
                <a:solidFill>
                  <a:schemeClr val="tx1"/>
                </a:solidFill>
                <a:effectLst/>
              </a:rPr>
            </a:br>
            <a:r>
              <a:rPr kumimoji="0" lang="en-PK" altLang="en-PK" b="0" i="0" u="none" strike="noStrike" cap="none" normalizeH="0" baseline="0" dirty="0">
                <a:ln>
                  <a:noFill/>
                </a:ln>
                <a:solidFill>
                  <a:srgbClr val="303030"/>
                </a:solidFill>
                <a:effectLst/>
                <a:latin typeface="Arial" panose="020B0604020202020204" pitchFamily="34" charset="0"/>
                <a:cs typeface="Arial" panose="020B0604020202020204" pitchFamily="34" charset="0"/>
              </a:rPr>
              <a:t>A 3 x 4 array will stored as </a:t>
            </a:r>
            <a:r>
              <a:rPr kumimoji="0" lang="en-US" altLang="en-PK" b="0" i="0" u="none" strike="noStrike" cap="none" normalizeH="0" baseline="0" dirty="0">
                <a:ln>
                  <a:noFill/>
                </a:ln>
                <a:solidFill>
                  <a:srgbClr val="303030"/>
                </a:solidFill>
                <a:effectLst/>
                <a:latin typeface="Arial" panose="020B0604020202020204" pitchFamily="34" charset="0"/>
                <a:cs typeface="Arial" panose="020B0604020202020204" pitchFamily="34" charset="0"/>
              </a:rPr>
              <a:t>illustrated in Fig.</a:t>
            </a:r>
            <a:r>
              <a:rPr kumimoji="0" lang="en-PK" altLang="en-PK" b="0" i="0" u="none" strike="noStrike" cap="none" normalizeH="0" baseline="0" dirty="0">
                <a:ln>
                  <a:noFill/>
                </a:ln>
                <a:solidFill>
                  <a:schemeClr val="tx1"/>
                </a:solidFill>
                <a:effectLst/>
                <a:latin typeface="Arial" panose="020B0604020202020204" pitchFamily="34" charset="0"/>
              </a:rPr>
              <a:t>   </a:t>
            </a:r>
          </a:p>
        </p:txBody>
      </p:sp>
      <p:pic>
        <p:nvPicPr>
          <p:cNvPr id="2052" name="Picture 4">
            <a:extLst>
              <a:ext uri="{FF2B5EF4-FFF2-40B4-BE49-F238E27FC236}">
                <a16:creationId xmlns:a16="http://schemas.microsoft.com/office/drawing/2014/main" id="{8808D24B-A443-4190-88F6-5D6745F846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89484" y="864973"/>
            <a:ext cx="6002516" cy="57740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49269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FA4E3-582A-48D8-B163-A30776DF6681}"/>
              </a:ext>
            </a:extLst>
          </p:cNvPr>
          <p:cNvSpPr>
            <a:spLocks noGrp="1"/>
          </p:cNvSpPr>
          <p:nvPr>
            <p:ph type="title"/>
          </p:nvPr>
        </p:nvSpPr>
        <p:spPr>
          <a:xfrm>
            <a:off x="317205" y="393405"/>
            <a:ext cx="10515600" cy="627432"/>
          </a:xfrm>
        </p:spPr>
        <p:txBody>
          <a:bodyPr>
            <a:normAutofit/>
          </a:bodyPr>
          <a:lstStyle/>
          <a:p>
            <a:r>
              <a:rPr lang="en-US" sz="2800" b="1" dirty="0">
                <a:solidFill>
                  <a:schemeClr val="accent1">
                    <a:lumMod val="50000"/>
                  </a:schemeClr>
                </a:solidFill>
                <a:latin typeface="+mn-lt"/>
              </a:rPr>
              <a:t>Declaration of 2 Dimensional Array</a:t>
            </a:r>
            <a:endParaRPr lang="en-PK" sz="2800" b="1" dirty="0">
              <a:solidFill>
                <a:schemeClr val="accent1">
                  <a:lumMod val="50000"/>
                </a:schemeClr>
              </a:solidFill>
              <a:latin typeface="+mn-lt"/>
            </a:endParaRPr>
          </a:p>
        </p:txBody>
      </p:sp>
      <p:sp>
        <p:nvSpPr>
          <p:cNvPr id="5" name="TextBox 4">
            <a:extLst>
              <a:ext uri="{FF2B5EF4-FFF2-40B4-BE49-F238E27FC236}">
                <a16:creationId xmlns:a16="http://schemas.microsoft.com/office/drawing/2014/main" id="{ED5C833F-0C66-4E9B-B49E-3DD5422B48E4}"/>
              </a:ext>
            </a:extLst>
          </p:cNvPr>
          <p:cNvSpPr txBox="1"/>
          <p:nvPr/>
        </p:nvSpPr>
        <p:spPr>
          <a:xfrm>
            <a:off x="901109" y="1191145"/>
            <a:ext cx="6097772" cy="2784737"/>
          </a:xfrm>
          <a:prstGeom prst="rect">
            <a:avLst/>
          </a:prstGeom>
          <a:noFill/>
        </p:spPr>
        <p:txBody>
          <a:bodyPr wrap="square">
            <a:spAutoFit/>
          </a:bodyPr>
          <a:lstStyle/>
          <a:p>
            <a:pPr algn="l">
              <a:lnSpc>
                <a:spcPct val="200000"/>
              </a:lnSpc>
            </a:pPr>
            <a:r>
              <a:rPr lang="en-US" b="0" i="0" dirty="0">
                <a:solidFill>
                  <a:srgbClr val="000000"/>
                </a:solidFill>
                <a:effectLst/>
              </a:rPr>
              <a:t>datatype</a:t>
            </a:r>
            <a:r>
              <a:rPr lang="en-US" b="0" i="0" dirty="0">
                <a:solidFill>
                  <a:srgbClr val="777777"/>
                </a:solidFill>
                <a:effectLst/>
              </a:rPr>
              <a:t>[][]</a:t>
            </a:r>
            <a:r>
              <a:rPr lang="en-US" b="0" i="0" dirty="0">
                <a:solidFill>
                  <a:srgbClr val="000000"/>
                </a:solidFill>
                <a:effectLst/>
              </a:rPr>
              <a:t> </a:t>
            </a:r>
            <a:r>
              <a:rPr lang="en-US" b="0" i="0" dirty="0" err="1">
                <a:solidFill>
                  <a:srgbClr val="000000"/>
                </a:solidFill>
                <a:effectLst/>
              </a:rPr>
              <a:t>arrayName</a:t>
            </a:r>
            <a:r>
              <a:rPr lang="en-US" b="0" i="0" dirty="0">
                <a:solidFill>
                  <a:srgbClr val="000000"/>
                </a:solidFill>
                <a:effectLst/>
              </a:rPr>
              <a:t>;</a:t>
            </a:r>
            <a:endParaRPr lang="en-US" b="0" i="0" dirty="0">
              <a:solidFill>
                <a:srgbClr val="444444"/>
              </a:solidFill>
              <a:effectLst/>
            </a:endParaRPr>
          </a:p>
          <a:p>
            <a:pPr algn="l">
              <a:lnSpc>
                <a:spcPct val="200000"/>
              </a:lnSpc>
            </a:pPr>
            <a:r>
              <a:rPr lang="en-US" b="0" i="0" dirty="0">
                <a:solidFill>
                  <a:srgbClr val="000000"/>
                </a:solidFill>
                <a:effectLst/>
              </a:rPr>
              <a:t>Or </a:t>
            </a:r>
            <a:endParaRPr lang="en-US" b="0" i="0" dirty="0">
              <a:solidFill>
                <a:srgbClr val="AAAAAA"/>
              </a:solidFill>
              <a:effectLst/>
            </a:endParaRPr>
          </a:p>
          <a:p>
            <a:pPr algn="l">
              <a:lnSpc>
                <a:spcPct val="200000"/>
              </a:lnSpc>
            </a:pPr>
            <a:r>
              <a:rPr lang="en-US" b="0" i="0" dirty="0">
                <a:solidFill>
                  <a:srgbClr val="000000"/>
                </a:solidFill>
                <a:effectLst/>
              </a:rPr>
              <a:t>datatype </a:t>
            </a:r>
            <a:r>
              <a:rPr lang="en-US" b="0" i="0" dirty="0" err="1">
                <a:solidFill>
                  <a:srgbClr val="000000"/>
                </a:solidFill>
                <a:effectLst/>
              </a:rPr>
              <a:t>arrayName</a:t>
            </a:r>
            <a:r>
              <a:rPr lang="en-US" b="0" i="0" dirty="0">
                <a:solidFill>
                  <a:srgbClr val="777777"/>
                </a:solidFill>
                <a:effectLst/>
              </a:rPr>
              <a:t>[][]</a:t>
            </a:r>
            <a:r>
              <a:rPr lang="en-US" b="0" i="0" dirty="0">
                <a:solidFill>
                  <a:srgbClr val="000000"/>
                </a:solidFill>
                <a:effectLst/>
              </a:rPr>
              <a:t>;</a:t>
            </a:r>
            <a:endParaRPr lang="en-US" b="0" i="0" dirty="0">
              <a:solidFill>
                <a:srgbClr val="AAAAAA"/>
              </a:solidFill>
              <a:effectLst/>
            </a:endParaRPr>
          </a:p>
          <a:p>
            <a:pPr algn="l">
              <a:lnSpc>
                <a:spcPct val="200000"/>
              </a:lnSpc>
            </a:pPr>
            <a:r>
              <a:rPr lang="en-US" b="0" i="0" dirty="0">
                <a:solidFill>
                  <a:srgbClr val="000000"/>
                </a:solidFill>
                <a:effectLst/>
              </a:rPr>
              <a:t>Or </a:t>
            </a:r>
            <a:endParaRPr lang="en-US" b="0" i="0" dirty="0">
              <a:solidFill>
                <a:srgbClr val="AAAAAA"/>
              </a:solidFill>
              <a:effectLst/>
            </a:endParaRPr>
          </a:p>
          <a:p>
            <a:pPr algn="l">
              <a:lnSpc>
                <a:spcPct val="200000"/>
              </a:lnSpc>
            </a:pPr>
            <a:r>
              <a:rPr lang="en-US" b="0" i="0" dirty="0">
                <a:solidFill>
                  <a:srgbClr val="000000"/>
                </a:solidFill>
                <a:effectLst/>
              </a:rPr>
              <a:t>datatype </a:t>
            </a:r>
            <a:r>
              <a:rPr lang="en-US" b="0" i="0" dirty="0">
                <a:solidFill>
                  <a:srgbClr val="777777"/>
                </a:solidFill>
                <a:effectLst/>
              </a:rPr>
              <a:t>[][]</a:t>
            </a:r>
            <a:r>
              <a:rPr lang="en-US" b="0" i="0" dirty="0" err="1">
                <a:solidFill>
                  <a:srgbClr val="000000"/>
                </a:solidFill>
                <a:effectLst/>
              </a:rPr>
              <a:t>arrayName</a:t>
            </a:r>
            <a:r>
              <a:rPr lang="en-US" b="0" i="0" dirty="0">
                <a:solidFill>
                  <a:srgbClr val="000000"/>
                </a:solidFill>
                <a:effectLst/>
              </a:rPr>
              <a:t>; </a:t>
            </a:r>
            <a:endParaRPr lang="en-US" b="0" i="0" dirty="0">
              <a:solidFill>
                <a:srgbClr val="AAAAAA"/>
              </a:solidFill>
              <a:effectLst/>
            </a:endParaRPr>
          </a:p>
        </p:txBody>
      </p:sp>
      <p:sp>
        <p:nvSpPr>
          <p:cNvPr id="8" name="TextBox 7">
            <a:extLst>
              <a:ext uri="{FF2B5EF4-FFF2-40B4-BE49-F238E27FC236}">
                <a16:creationId xmlns:a16="http://schemas.microsoft.com/office/drawing/2014/main" id="{CB9CFA4B-C8EB-40A9-9C4E-C2C443D5A832}"/>
              </a:ext>
            </a:extLst>
          </p:cNvPr>
          <p:cNvSpPr txBox="1"/>
          <p:nvPr/>
        </p:nvSpPr>
        <p:spPr>
          <a:xfrm>
            <a:off x="6416750" y="1191145"/>
            <a:ext cx="6097772" cy="2784737"/>
          </a:xfrm>
          <a:prstGeom prst="rect">
            <a:avLst/>
          </a:prstGeom>
          <a:noFill/>
        </p:spPr>
        <p:txBody>
          <a:bodyPr wrap="square">
            <a:spAutoFit/>
          </a:bodyPr>
          <a:lstStyle/>
          <a:p>
            <a:pPr algn="l">
              <a:lnSpc>
                <a:spcPct val="200000"/>
              </a:lnSpc>
            </a:pPr>
            <a:r>
              <a:rPr lang="en-US" b="1" i="0" dirty="0">
                <a:solidFill>
                  <a:srgbClr val="286491"/>
                </a:solidFill>
                <a:effectLst/>
              </a:rPr>
              <a:t>int</a:t>
            </a:r>
            <a:r>
              <a:rPr lang="en-US" b="0" i="0" dirty="0">
                <a:solidFill>
                  <a:srgbClr val="777777"/>
                </a:solidFill>
                <a:effectLst/>
              </a:rPr>
              <a:t>[][]</a:t>
            </a:r>
            <a:r>
              <a:rPr lang="en-US" b="0" i="0" dirty="0">
                <a:solidFill>
                  <a:srgbClr val="000000"/>
                </a:solidFill>
                <a:effectLst/>
              </a:rPr>
              <a:t> number; </a:t>
            </a:r>
            <a:endParaRPr lang="en-US" b="0" i="0" dirty="0">
              <a:solidFill>
                <a:srgbClr val="AAAAAA"/>
              </a:solidFill>
              <a:effectLst/>
            </a:endParaRPr>
          </a:p>
          <a:p>
            <a:pPr algn="l">
              <a:lnSpc>
                <a:spcPct val="200000"/>
              </a:lnSpc>
            </a:pPr>
            <a:r>
              <a:rPr lang="en-US" b="0" i="0" dirty="0">
                <a:solidFill>
                  <a:srgbClr val="000000"/>
                </a:solidFill>
                <a:effectLst/>
              </a:rPr>
              <a:t>Or</a:t>
            </a:r>
            <a:endParaRPr lang="en-US" b="0" i="0" dirty="0">
              <a:solidFill>
                <a:srgbClr val="AAAAAA"/>
              </a:solidFill>
              <a:effectLst/>
            </a:endParaRPr>
          </a:p>
          <a:p>
            <a:pPr algn="l">
              <a:lnSpc>
                <a:spcPct val="200000"/>
              </a:lnSpc>
            </a:pPr>
            <a:r>
              <a:rPr lang="en-US" b="1" i="0" dirty="0">
                <a:solidFill>
                  <a:srgbClr val="286491"/>
                </a:solidFill>
                <a:effectLst/>
              </a:rPr>
              <a:t>int</a:t>
            </a:r>
            <a:r>
              <a:rPr lang="en-US" b="0" i="0" dirty="0">
                <a:solidFill>
                  <a:srgbClr val="000000"/>
                </a:solidFill>
                <a:effectLst/>
              </a:rPr>
              <a:t> number</a:t>
            </a:r>
            <a:r>
              <a:rPr lang="en-US" b="0" i="0" dirty="0">
                <a:solidFill>
                  <a:srgbClr val="777777"/>
                </a:solidFill>
                <a:effectLst/>
              </a:rPr>
              <a:t>[][]</a:t>
            </a:r>
            <a:r>
              <a:rPr lang="en-US" b="0" i="0" dirty="0">
                <a:solidFill>
                  <a:srgbClr val="000000"/>
                </a:solidFill>
                <a:effectLst/>
              </a:rPr>
              <a:t>;</a:t>
            </a:r>
            <a:endParaRPr lang="en-US" b="0" i="0" dirty="0">
              <a:solidFill>
                <a:srgbClr val="AAAAAA"/>
              </a:solidFill>
              <a:effectLst/>
            </a:endParaRPr>
          </a:p>
          <a:p>
            <a:pPr algn="l">
              <a:lnSpc>
                <a:spcPct val="200000"/>
              </a:lnSpc>
            </a:pPr>
            <a:r>
              <a:rPr lang="en-US" b="0" i="0" dirty="0">
                <a:solidFill>
                  <a:srgbClr val="000000"/>
                </a:solidFill>
                <a:effectLst/>
              </a:rPr>
              <a:t>Or </a:t>
            </a:r>
            <a:endParaRPr lang="en-US" b="0" i="0" dirty="0">
              <a:solidFill>
                <a:srgbClr val="AAAAAA"/>
              </a:solidFill>
              <a:effectLst/>
            </a:endParaRPr>
          </a:p>
          <a:p>
            <a:pPr algn="l">
              <a:lnSpc>
                <a:spcPct val="200000"/>
              </a:lnSpc>
            </a:pPr>
            <a:r>
              <a:rPr lang="en-US" b="1" i="0" dirty="0">
                <a:solidFill>
                  <a:srgbClr val="286491"/>
                </a:solidFill>
                <a:effectLst/>
              </a:rPr>
              <a:t>int</a:t>
            </a:r>
            <a:r>
              <a:rPr lang="en-US" b="0" i="0" dirty="0">
                <a:solidFill>
                  <a:srgbClr val="000000"/>
                </a:solidFill>
                <a:effectLst/>
              </a:rPr>
              <a:t> </a:t>
            </a:r>
            <a:r>
              <a:rPr lang="en-US" b="0" i="0" dirty="0">
                <a:solidFill>
                  <a:srgbClr val="777777"/>
                </a:solidFill>
                <a:effectLst/>
              </a:rPr>
              <a:t>[][]</a:t>
            </a:r>
            <a:r>
              <a:rPr lang="en-US" b="0" i="0" dirty="0">
                <a:solidFill>
                  <a:srgbClr val="000000"/>
                </a:solidFill>
                <a:effectLst/>
              </a:rPr>
              <a:t>number; </a:t>
            </a:r>
            <a:endParaRPr lang="en-US" b="0" i="0" dirty="0">
              <a:solidFill>
                <a:srgbClr val="AAAAAA"/>
              </a:solidFill>
              <a:effectLst/>
            </a:endParaRPr>
          </a:p>
        </p:txBody>
      </p:sp>
      <p:sp>
        <p:nvSpPr>
          <p:cNvPr id="10" name="TextBox 9">
            <a:extLst>
              <a:ext uri="{FF2B5EF4-FFF2-40B4-BE49-F238E27FC236}">
                <a16:creationId xmlns:a16="http://schemas.microsoft.com/office/drawing/2014/main" id="{778F097F-CD11-42BF-B48D-F2967F67BFD7}"/>
              </a:ext>
            </a:extLst>
          </p:cNvPr>
          <p:cNvSpPr txBox="1"/>
          <p:nvPr/>
        </p:nvSpPr>
        <p:spPr>
          <a:xfrm>
            <a:off x="685801" y="4544112"/>
            <a:ext cx="11233298" cy="1122743"/>
          </a:xfrm>
          <a:prstGeom prst="rect">
            <a:avLst/>
          </a:prstGeom>
          <a:noFill/>
        </p:spPr>
        <p:txBody>
          <a:bodyPr wrap="square">
            <a:spAutoFit/>
          </a:bodyPr>
          <a:lstStyle/>
          <a:p>
            <a:pPr marL="285750" indent="-285750">
              <a:lnSpc>
                <a:spcPct val="200000"/>
              </a:lnSpc>
              <a:buFont typeface="Arial" panose="020B0604020202020204" pitchFamily="34" charset="0"/>
              <a:buChar char="•"/>
            </a:pPr>
            <a:r>
              <a:rPr lang="en-US" b="0" i="0" dirty="0">
                <a:solidFill>
                  <a:srgbClr val="3A3A3A"/>
                </a:solidFill>
                <a:effectLst/>
              </a:rPr>
              <a:t>Here </a:t>
            </a:r>
            <a:r>
              <a:rPr lang="en-US" b="1" i="0" dirty="0">
                <a:solidFill>
                  <a:srgbClr val="3A3A3A"/>
                </a:solidFill>
                <a:effectLst/>
              </a:rPr>
              <a:t>int </a:t>
            </a:r>
            <a:r>
              <a:rPr lang="en-US" b="0" i="0" dirty="0">
                <a:solidFill>
                  <a:srgbClr val="3A3A3A"/>
                </a:solidFill>
                <a:effectLst/>
              </a:rPr>
              <a:t>is </a:t>
            </a:r>
            <a:r>
              <a:rPr lang="en-US" b="1" i="0" dirty="0">
                <a:solidFill>
                  <a:srgbClr val="3A3A3A"/>
                </a:solidFill>
                <a:effectLst/>
              </a:rPr>
              <a:t>datatype </a:t>
            </a:r>
            <a:r>
              <a:rPr lang="en-US" b="0" i="0" dirty="0">
                <a:solidFill>
                  <a:srgbClr val="3A3A3A"/>
                </a:solidFill>
                <a:effectLst/>
              </a:rPr>
              <a:t>and </a:t>
            </a:r>
            <a:r>
              <a:rPr lang="en-US" b="1" i="0" dirty="0">
                <a:solidFill>
                  <a:srgbClr val="3A3A3A"/>
                </a:solidFill>
                <a:effectLst/>
              </a:rPr>
              <a:t>number </a:t>
            </a:r>
            <a:r>
              <a:rPr lang="en-US" b="0" i="0" dirty="0">
                <a:solidFill>
                  <a:srgbClr val="3A3A3A"/>
                </a:solidFill>
                <a:effectLst/>
              </a:rPr>
              <a:t>is the </a:t>
            </a:r>
            <a:r>
              <a:rPr lang="en-US" b="1" i="0" dirty="0">
                <a:solidFill>
                  <a:srgbClr val="3A3A3A"/>
                </a:solidFill>
                <a:effectLst/>
              </a:rPr>
              <a:t>name </a:t>
            </a:r>
            <a:r>
              <a:rPr lang="en-US" b="0" i="0" dirty="0">
                <a:solidFill>
                  <a:srgbClr val="3A3A3A"/>
                </a:solidFill>
                <a:effectLst/>
              </a:rPr>
              <a:t>of the two-dimensional array. Two subscripts [][] is used to defined as a two-dimensional array.</a:t>
            </a:r>
            <a:endParaRPr lang="en-PK" dirty="0"/>
          </a:p>
        </p:txBody>
      </p:sp>
    </p:spTree>
    <p:extLst>
      <p:ext uri="{BB962C8B-B14F-4D97-AF65-F5344CB8AC3E}">
        <p14:creationId xmlns:p14="http://schemas.microsoft.com/office/powerpoint/2010/main" val="23588294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FE956-F195-4594-8A70-266E4E46E6ED}"/>
              </a:ext>
            </a:extLst>
          </p:cNvPr>
          <p:cNvSpPr>
            <a:spLocks noGrp="1"/>
          </p:cNvSpPr>
          <p:nvPr>
            <p:ph type="title"/>
          </p:nvPr>
        </p:nvSpPr>
        <p:spPr>
          <a:xfrm>
            <a:off x="177800" y="261629"/>
            <a:ext cx="10515600" cy="954088"/>
          </a:xfrm>
        </p:spPr>
        <p:txBody>
          <a:bodyPr>
            <a:normAutofit/>
          </a:bodyPr>
          <a:lstStyle/>
          <a:p>
            <a:r>
              <a:rPr lang="en-US" sz="2800" b="1" i="0" dirty="0">
                <a:solidFill>
                  <a:schemeClr val="accent1">
                    <a:lumMod val="50000"/>
                  </a:schemeClr>
                </a:solidFill>
                <a:effectLst/>
                <a:latin typeface="+mn-lt"/>
              </a:rPr>
              <a:t>Construction / Creation of two-dimensional array</a:t>
            </a:r>
            <a:br>
              <a:rPr lang="en-US" sz="2800" b="1" i="0" dirty="0">
                <a:solidFill>
                  <a:schemeClr val="accent1">
                    <a:lumMod val="50000"/>
                  </a:schemeClr>
                </a:solidFill>
                <a:effectLst/>
                <a:latin typeface="+mn-lt"/>
              </a:rPr>
            </a:br>
            <a:endParaRPr lang="en-PK" sz="2800" b="1" dirty="0">
              <a:solidFill>
                <a:schemeClr val="accent1">
                  <a:lumMod val="50000"/>
                </a:schemeClr>
              </a:solidFill>
              <a:latin typeface="+mn-lt"/>
            </a:endParaRPr>
          </a:p>
        </p:txBody>
      </p:sp>
      <p:sp>
        <p:nvSpPr>
          <p:cNvPr id="5" name="TextBox 4">
            <a:extLst>
              <a:ext uri="{FF2B5EF4-FFF2-40B4-BE49-F238E27FC236}">
                <a16:creationId xmlns:a16="http://schemas.microsoft.com/office/drawing/2014/main" id="{4645FADD-1F3D-49C6-A75A-0A13D183332C}"/>
              </a:ext>
            </a:extLst>
          </p:cNvPr>
          <p:cNvSpPr txBox="1"/>
          <p:nvPr/>
        </p:nvSpPr>
        <p:spPr>
          <a:xfrm>
            <a:off x="791976" y="738673"/>
            <a:ext cx="10974572" cy="295786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b="0" i="0" dirty="0">
                <a:solidFill>
                  <a:srgbClr val="3A3A3A"/>
                </a:solidFill>
                <a:effectLst/>
              </a:rPr>
              <a:t>The new keyword is used with the data type of array.</a:t>
            </a:r>
          </a:p>
          <a:p>
            <a:pPr marL="285750" indent="-285750">
              <a:lnSpc>
                <a:spcPct val="150000"/>
              </a:lnSpc>
              <a:buFont typeface="Arial" panose="020B0604020202020204" pitchFamily="34" charset="0"/>
              <a:buChar char="•"/>
            </a:pPr>
            <a:r>
              <a:rPr lang="en-US" b="0" i="0" dirty="0">
                <a:solidFill>
                  <a:srgbClr val="3A3A3A"/>
                </a:solidFill>
                <a:effectLst/>
              </a:rPr>
              <a:t>There are two subscripts for the size of an array, is the size of the matrix. </a:t>
            </a:r>
          </a:p>
          <a:p>
            <a:pPr marL="285750" indent="-285750">
              <a:lnSpc>
                <a:spcPct val="150000"/>
              </a:lnSpc>
              <a:buFont typeface="Arial" panose="020B0604020202020204" pitchFamily="34" charset="0"/>
              <a:buChar char="•"/>
            </a:pPr>
            <a:r>
              <a:rPr lang="en-US" dirty="0">
                <a:solidFill>
                  <a:srgbClr val="3A3A3A"/>
                </a:solidFill>
              </a:rPr>
              <a:t>	</a:t>
            </a:r>
            <a:r>
              <a:rPr lang="en-US" b="0" i="0" dirty="0">
                <a:solidFill>
                  <a:srgbClr val="3A3A3A"/>
                </a:solidFill>
                <a:effectLst/>
              </a:rPr>
              <a:t>The first subscript is used to define the number of rows in the matrix.</a:t>
            </a:r>
          </a:p>
          <a:p>
            <a:pPr marL="285750" indent="-285750">
              <a:lnSpc>
                <a:spcPct val="150000"/>
              </a:lnSpc>
              <a:buFont typeface="Arial" panose="020B0604020202020204" pitchFamily="34" charset="0"/>
              <a:buChar char="•"/>
            </a:pPr>
            <a:r>
              <a:rPr lang="en-US" dirty="0">
                <a:solidFill>
                  <a:srgbClr val="3A3A3A"/>
                </a:solidFill>
              </a:rPr>
              <a:t>	S</a:t>
            </a:r>
            <a:r>
              <a:rPr lang="en-US" b="0" i="0" dirty="0">
                <a:solidFill>
                  <a:srgbClr val="3A3A3A"/>
                </a:solidFill>
                <a:effectLst/>
              </a:rPr>
              <a:t>econd one is for the number of columns.</a:t>
            </a:r>
          </a:p>
          <a:p>
            <a:pPr marL="285750" indent="-285750">
              <a:lnSpc>
                <a:spcPct val="150000"/>
              </a:lnSpc>
              <a:buFont typeface="Arial" panose="020B0604020202020204" pitchFamily="34" charset="0"/>
              <a:buChar char="•"/>
            </a:pPr>
            <a:endParaRPr lang="en-US" dirty="0">
              <a:solidFill>
                <a:srgbClr val="3A3A3A"/>
              </a:solidFill>
            </a:endParaRPr>
          </a:p>
          <a:p>
            <a:pPr marL="285750" indent="-285750">
              <a:lnSpc>
                <a:spcPct val="150000"/>
              </a:lnSpc>
              <a:buFont typeface="Arial" panose="020B0604020202020204" pitchFamily="34" charset="0"/>
              <a:buChar char="•"/>
            </a:pPr>
            <a:r>
              <a:rPr lang="en-US" b="0" i="0" dirty="0">
                <a:solidFill>
                  <a:srgbClr val="3A3A3A"/>
                </a:solidFill>
                <a:effectLst/>
              </a:rPr>
              <a:t>You must specify the size of the array because how many number elements you can store an array directly depends upon the size of the array.</a:t>
            </a:r>
          </a:p>
        </p:txBody>
      </p:sp>
      <p:sp>
        <p:nvSpPr>
          <p:cNvPr id="7" name="TextBox 6">
            <a:extLst>
              <a:ext uri="{FF2B5EF4-FFF2-40B4-BE49-F238E27FC236}">
                <a16:creationId xmlns:a16="http://schemas.microsoft.com/office/drawing/2014/main" id="{65AFFFC1-EC10-49B8-8F15-4623189C5476}"/>
              </a:ext>
            </a:extLst>
          </p:cNvPr>
          <p:cNvSpPr txBox="1"/>
          <p:nvPr/>
        </p:nvSpPr>
        <p:spPr>
          <a:xfrm>
            <a:off x="3461193" y="3845105"/>
            <a:ext cx="6097772" cy="369332"/>
          </a:xfrm>
          <a:prstGeom prst="rect">
            <a:avLst/>
          </a:prstGeom>
          <a:noFill/>
        </p:spPr>
        <p:txBody>
          <a:bodyPr wrap="square">
            <a:spAutoFit/>
          </a:bodyPr>
          <a:lstStyle/>
          <a:p>
            <a:r>
              <a:rPr lang="en-US" b="0" i="0" dirty="0" err="1">
                <a:solidFill>
                  <a:srgbClr val="000000"/>
                </a:solidFill>
                <a:effectLst/>
              </a:rPr>
              <a:t>arrayName</a:t>
            </a:r>
            <a:r>
              <a:rPr lang="en-US" b="0" i="0" dirty="0">
                <a:solidFill>
                  <a:srgbClr val="000000"/>
                </a:solidFill>
                <a:effectLst/>
              </a:rPr>
              <a:t> = </a:t>
            </a:r>
            <a:r>
              <a:rPr lang="en-US" b="0" i="0" dirty="0">
                <a:solidFill>
                  <a:srgbClr val="4DA0D2"/>
                </a:solidFill>
                <a:effectLst/>
              </a:rPr>
              <a:t>new</a:t>
            </a:r>
            <a:r>
              <a:rPr lang="en-US" b="0" i="0" dirty="0">
                <a:solidFill>
                  <a:srgbClr val="000000"/>
                </a:solidFill>
                <a:effectLst/>
              </a:rPr>
              <a:t> </a:t>
            </a:r>
            <a:r>
              <a:rPr lang="en-US" b="0" i="0" dirty="0" err="1">
                <a:solidFill>
                  <a:srgbClr val="000000"/>
                </a:solidFill>
                <a:effectLst/>
              </a:rPr>
              <a:t>DataType</a:t>
            </a:r>
            <a:r>
              <a:rPr lang="en-US" b="0" i="0" dirty="0">
                <a:solidFill>
                  <a:srgbClr val="777777"/>
                </a:solidFill>
                <a:effectLst/>
              </a:rPr>
              <a:t>[</a:t>
            </a:r>
            <a:r>
              <a:rPr lang="en-US" b="0" i="0" dirty="0">
                <a:solidFill>
                  <a:srgbClr val="000000"/>
                </a:solidFill>
                <a:effectLst/>
              </a:rPr>
              <a:t>size</a:t>
            </a:r>
            <a:r>
              <a:rPr lang="en-US" b="0" i="0" dirty="0">
                <a:solidFill>
                  <a:srgbClr val="777777"/>
                </a:solidFill>
                <a:effectLst/>
              </a:rPr>
              <a:t>][</a:t>
            </a:r>
            <a:r>
              <a:rPr lang="en-US" b="0" i="0" dirty="0">
                <a:solidFill>
                  <a:srgbClr val="000000"/>
                </a:solidFill>
                <a:effectLst/>
              </a:rPr>
              <a:t>size</a:t>
            </a:r>
            <a:r>
              <a:rPr lang="en-US" b="0" i="0" dirty="0">
                <a:solidFill>
                  <a:srgbClr val="777777"/>
                </a:solidFill>
                <a:effectLst/>
              </a:rPr>
              <a:t>]</a:t>
            </a:r>
            <a:r>
              <a:rPr lang="en-US" b="0" i="0" dirty="0">
                <a:solidFill>
                  <a:srgbClr val="000000"/>
                </a:solidFill>
                <a:effectLst/>
              </a:rPr>
              <a:t>;</a:t>
            </a:r>
            <a:endParaRPr lang="en-PK" dirty="0"/>
          </a:p>
        </p:txBody>
      </p:sp>
      <p:sp>
        <p:nvSpPr>
          <p:cNvPr id="9" name="TextBox 8">
            <a:extLst>
              <a:ext uri="{FF2B5EF4-FFF2-40B4-BE49-F238E27FC236}">
                <a16:creationId xmlns:a16="http://schemas.microsoft.com/office/drawing/2014/main" id="{B2695F52-9E1E-47A3-8E73-13ECAD3089EA}"/>
              </a:ext>
            </a:extLst>
          </p:cNvPr>
          <p:cNvSpPr txBox="1"/>
          <p:nvPr/>
        </p:nvSpPr>
        <p:spPr>
          <a:xfrm>
            <a:off x="844696" y="4310107"/>
            <a:ext cx="10869133" cy="129586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b="1" i="0" dirty="0">
                <a:solidFill>
                  <a:srgbClr val="3A3A3A"/>
                </a:solidFill>
                <a:effectLst/>
              </a:rPr>
              <a:t>new Datatype[size][size] : </a:t>
            </a:r>
            <a:r>
              <a:rPr lang="en-US" b="0" i="0" dirty="0">
                <a:solidFill>
                  <a:srgbClr val="3A3A3A"/>
                </a:solidFill>
                <a:effectLst/>
              </a:rPr>
              <a:t>It creates an array in heap memory. Because an array is an object, so it stored in heap memory. The first subscript size will define the number of row and second subscript used for the number of columns.</a:t>
            </a:r>
            <a:endParaRPr lang="en-PK" dirty="0"/>
          </a:p>
        </p:txBody>
      </p:sp>
      <p:sp>
        <p:nvSpPr>
          <p:cNvPr id="11" name="TextBox 10">
            <a:extLst>
              <a:ext uri="{FF2B5EF4-FFF2-40B4-BE49-F238E27FC236}">
                <a16:creationId xmlns:a16="http://schemas.microsoft.com/office/drawing/2014/main" id="{2360E94F-F1BC-472A-949B-D28AD5EE5780}"/>
              </a:ext>
            </a:extLst>
          </p:cNvPr>
          <p:cNvSpPr txBox="1"/>
          <p:nvPr/>
        </p:nvSpPr>
        <p:spPr>
          <a:xfrm>
            <a:off x="838200" y="5586755"/>
            <a:ext cx="10974572" cy="369332"/>
          </a:xfrm>
          <a:prstGeom prst="rect">
            <a:avLst/>
          </a:prstGeom>
          <a:noFill/>
        </p:spPr>
        <p:txBody>
          <a:bodyPr wrap="square">
            <a:spAutoFit/>
          </a:bodyPr>
          <a:lstStyle/>
          <a:p>
            <a:r>
              <a:rPr lang="en-US" b="1" i="0" dirty="0" err="1">
                <a:solidFill>
                  <a:srgbClr val="3A3A3A"/>
                </a:solidFill>
                <a:effectLst/>
              </a:rPr>
              <a:t>arrayName</a:t>
            </a:r>
            <a:r>
              <a:rPr lang="en-US" b="1" i="0" dirty="0">
                <a:solidFill>
                  <a:srgbClr val="3A3A3A"/>
                </a:solidFill>
                <a:effectLst/>
              </a:rPr>
              <a:t>:</a:t>
            </a:r>
            <a:r>
              <a:rPr lang="en-US" b="0" i="0" dirty="0">
                <a:solidFill>
                  <a:srgbClr val="3A3A3A"/>
                </a:solidFill>
                <a:effectLst/>
              </a:rPr>
              <a:t> Assignment operator assigns the newly created array to the reference of variable </a:t>
            </a:r>
            <a:r>
              <a:rPr lang="en-US" b="1" i="0" dirty="0" err="1">
                <a:solidFill>
                  <a:srgbClr val="3A3A3A"/>
                </a:solidFill>
                <a:effectLst/>
              </a:rPr>
              <a:t>arrayName</a:t>
            </a:r>
            <a:r>
              <a:rPr lang="en-US" b="0" i="0" dirty="0">
                <a:solidFill>
                  <a:srgbClr val="3A3A3A"/>
                </a:solidFill>
                <a:effectLst/>
              </a:rPr>
              <a:t>.</a:t>
            </a:r>
            <a:endParaRPr lang="en-PK" dirty="0"/>
          </a:p>
        </p:txBody>
      </p:sp>
      <p:sp>
        <p:nvSpPr>
          <p:cNvPr id="13" name="TextBox 12">
            <a:extLst>
              <a:ext uri="{FF2B5EF4-FFF2-40B4-BE49-F238E27FC236}">
                <a16:creationId xmlns:a16="http://schemas.microsoft.com/office/drawing/2014/main" id="{FE9FDEC4-F603-47D6-A742-96EC30EBD1D5}"/>
              </a:ext>
            </a:extLst>
          </p:cNvPr>
          <p:cNvSpPr txBox="1"/>
          <p:nvPr/>
        </p:nvSpPr>
        <p:spPr>
          <a:xfrm>
            <a:off x="3013738" y="6050406"/>
            <a:ext cx="8700091" cy="369332"/>
          </a:xfrm>
          <a:prstGeom prst="rect">
            <a:avLst/>
          </a:prstGeom>
          <a:noFill/>
        </p:spPr>
        <p:txBody>
          <a:bodyPr wrap="square">
            <a:spAutoFit/>
          </a:bodyPr>
          <a:lstStyle/>
          <a:p>
            <a:r>
              <a:rPr lang="en-US" b="0" i="0" dirty="0">
                <a:solidFill>
                  <a:srgbClr val="000000"/>
                </a:solidFill>
                <a:effectLst/>
              </a:rPr>
              <a:t>number = </a:t>
            </a:r>
            <a:r>
              <a:rPr lang="en-US" b="0" i="0" dirty="0">
                <a:solidFill>
                  <a:srgbClr val="4DA0D2"/>
                </a:solidFill>
                <a:effectLst/>
              </a:rPr>
              <a:t>new</a:t>
            </a:r>
            <a:r>
              <a:rPr lang="en-US" b="0" i="0" dirty="0">
                <a:solidFill>
                  <a:srgbClr val="000000"/>
                </a:solidFill>
                <a:effectLst/>
              </a:rPr>
              <a:t> </a:t>
            </a:r>
            <a:r>
              <a:rPr lang="en-US" b="1" i="0" dirty="0">
                <a:solidFill>
                  <a:srgbClr val="286491"/>
                </a:solidFill>
                <a:effectLst/>
              </a:rPr>
              <a:t>int</a:t>
            </a:r>
            <a:r>
              <a:rPr lang="en-US" b="0" i="0" dirty="0">
                <a:solidFill>
                  <a:srgbClr val="777777"/>
                </a:solidFill>
                <a:effectLst/>
              </a:rPr>
              <a:t>[</a:t>
            </a:r>
            <a:r>
              <a:rPr lang="en-US" b="0" i="0" dirty="0">
                <a:solidFill>
                  <a:srgbClr val="009999"/>
                </a:solidFill>
                <a:effectLst/>
              </a:rPr>
              <a:t>3</a:t>
            </a:r>
            <a:r>
              <a:rPr lang="en-US" b="0" i="0" dirty="0">
                <a:solidFill>
                  <a:srgbClr val="777777"/>
                </a:solidFill>
                <a:effectLst/>
              </a:rPr>
              <a:t>][</a:t>
            </a:r>
            <a:r>
              <a:rPr lang="en-US" b="0" i="0" dirty="0">
                <a:solidFill>
                  <a:srgbClr val="009999"/>
                </a:solidFill>
                <a:effectLst/>
              </a:rPr>
              <a:t>3</a:t>
            </a:r>
            <a:r>
              <a:rPr lang="en-US" b="0" i="0" dirty="0">
                <a:solidFill>
                  <a:srgbClr val="777777"/>
                </a:solidFill>
                <a:effectLst/>
              </a:rPr>
              <a:t>]</a:t>
            </a:r>
            <a:r>
              <a:rPr lang="en-US" b="0" i="0" dirty="0">
                <a:solidFill>
                  <a:srgbClr val="000000"/>
                </a:solidFill>
                <a:effectLst/>
              </a:rPr>
              <a:t>; </a:t>
            </a:r>
            <a:r>
              <a:rPr lang="en-US" b="0" i="0" dirty="0">
                <a:solidFill>
                  <a:srgbClr val="9999AA"/>
                </a:solidFill>
                <a:effectLst/>
              </a:rPr>
              <a:t>// allocating memory to array</a:t>
            </a:r>
            <a:endParaRPr lang="en-PK" dirty="0"/>
          </a:p>
        </p:txBody>
      </p:sp>
    </p:spTree>
    <p:extLst>
      <p:ext uri="{BB962C8B-B14F-4D97-AF65-F5344CB8AC3E}">
        <p14:creationId xmlns:p14="http://schemas.microsoft.com/office/powerpoint/2010/main" val="34039703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E687C-9347-4B66-9BCB-C8D4BD7AB2D9}"/>
              </a:ext>
            </a:extLst>
          </p:cNvPr>
          <p:cNvSpPr>
            <a:spLocks noGrp="1"/>
          </p:cNvSpPr>
          <p:nvPr>
            <p:ph type="title"/>
          </p:nvPr>
        </p:nvSpPr>
        <p:spPr>
          <a:xfrm>
            <a:off x="317500" y="176248"/>
            <a:ext cx="10515600" cy="757220"/>
          </a:xfrm>
        </p:spPr>
        <p:txBody>
          <a:bodyPr>
            <a:noAutofit/>
          </a:bodyPr>
          <a:lstStyle/>
          <a:p>
            <a:r>
              <a:rPr lang="en-US" sz="2800" b="1" i="0" dirty="0">
                <a:solidFill>
                  <a:schemeClr val="accent1">
                    <a:lumMod val="50000"/>
                  </a:schemeClr>
                </a:solidFill>
                <a:effectLst/>
                <a:latin typeface="+mn-lt"/>
              </a:rPr>
              <a:t>Memory Representation</a:t>
            </a:r>
            <a:r>
              <a:rPr lang="en-US" sz="2800" b="0" i="0" dirty="0">
                <a:solidFill>
                  <a:schemeClr val="accent1">
                    <a:lumMod val="50000"/>
                  </a:schemeClr>
                </a:solidFill>
                <a:effectLst/>
                <a:latin typeface="+mn-lt"/>
              </a:rPr>
              <a:t> </a:t>
            </a:r>
            <a:r>
              <a:rPr lang="en-US" sz="2800" b="1" i="0" dirty="0">
                <a:solidFill>
                  <a:schemeClr val="accent1">
                    <a:lumMod val="50000"/>
                  </a:schemeClr>
                </a:solidFill>
                <a:effectLst/>
                <a:latin typeface="+mn-lt"/>
              </a:rPr>
              <a:t>after Construction</a:t>
            </a:r>
            <a:br>
              <a:rPr lang="en-US" sz="2800" b="0" i="0" dirty="0">
                <a:solidFill>
                  <a:schemeClr val="accent1">
                    <a:lumMod val="50000"/>
                  </a:schemeClr>
                </a:solidFill>
                <a:effectLst/>
                <a:latin typeface="+mn-lt"/>
              </a:rPr>
            </a:br>
            <a:endParaRPr lang="en-PK" sz="2800" dirty="0">
              <a:solidFill>
                <a:schemeClr val="accent1">
                  <a:lumMod val="50000"/>
                </a:schemeClr>
              </a:solidFill>
              <a:latin typeface="+mn-lt"/>
            </a:endParaRPr>
          </a:p>
        </p:txBody>
      </p:sp>
      <p:pic>
        <p:nvPicPr>
          <p:cNvPr id="4" name="Picture 3">
            <a:extLst>
              <a:ext uri="{FF2B5EF4-FFF2-40B4-BE49-F238E27FC236}">
                <a16:creationId xmlns:a16="http://schemas.microsoft.com/office/drawing/2014/main" id="{E81FC326-1C8C-4714-B001-C8538518F382}"/>
              </a:ext>
            </a:extLst>
          </p:cNvPr>
          <p:cNvPicPr>
            <a:picLocks noChangeAspect="1"/>
          </p:cNvPicPr>
          <p:nvPr/>
        </p:nvPicPr>
        <p:blipFill>
          <a:blip r:embed="rId2"/>
          <a:stretch>
            <a:fillRect/>
          </a:stretch>
        </p:blipFill>
        <p:spPr>
          <a:xfrm>
            <a:off x="4648200" y="1375968"/>
            <a:ext cx="6803018" cy="4731938"/>
          </a:xfrm>
          <a:prstGeom prst="rect">
            <a:avLst/>
          </a:prstGeom>
        </p:spPr>
      </p:pic>
      <p:sp>
        <p:nvSpPr>
          <p:cNvPr id="5" name="TextBox 4">
            <a:extLst>
              <a:ext uri="{FF2B5EF4-FFF2-40B4-BE49-F238E27FC236}">
                <a16:creationId xmlns:a16="http://schemas.microsoft.com/office/drawing/2014/main" id="{94263298-E254-4921-8F59-F186F7F0BEF4}"/>
              </a:ext>
            </a:extLst>
          </p:cNvPr>
          <p:cNvSpPr txBox="1"/>
          <p:nvPr/>
        </p:nvSpPr>
        <p:spPr>
          <a:xfrm>
            <a:off x="1230991" y="1935865"/>
            <a:ext cx="1673507" cy="369332"/>
          </a:xfrm>
          <a:prstGeom prst="rect">
            <a:avLst/>
          </a:prstGeom>
          <a:noFill/>
        </p:spPr>
        <p:txBody>
          <a:bodyPr wrap="square" rtlCol="0">
            <a:spAutoFit/>
          </a:bodyPr>
          <a:lstStyle/>
          <a:p>
            <a:r>
              <a:rPr lang="en-US" dirty="0">
                <a:solidFill>
                  <a:schemeClr val="accent2">
                    <a:lumMod val="75000"/>
                  </a:schemeClr>
                </a:solidFill>
              </a:rPr>
              <a:t>Int [3][4]</a:t>
            </a:r>
            <a:endParaRPr lang="en-PK" dirty="0">
              <a:solidFill>
                <a:schemeClr val="accent2">
                  <a:lumMod val="75000"/>
                </a:schemeClr>
              </a:solidFill>
            </a:endParaRPr>
          </a:p>
        </p:txBody>
      </p:sp>
      <p:sp>
        <p:nvSpPr>
          <p:cNvPr id="6" name="TextBox 5">
            <a:extLst>
              <a:ext uri="{FF2B5EF4-FFF2-40B4-BE49-F238E27FC236}">
                <a16:creationId xmlns:a16="http://schemas.microsoft.com/office/drawing/2014/main" id="{F93C62B6-AED5-4EC8-BCC5-2B9C2FF381EB}"/>
              </a:ext>
            </a:extLst>
          </p:cNvPr>
          <p:cNvSpPr txBox="1"/>
          <p:nvPr/>
        </p:nvSpPr>
        <p:spPr>
          <a:xfrm>
            <a:off x="785241" y="1375968"/>
            <a:ext cx="1356077" cy="369332"/>
          </a:xfrm>
          <a:prstGeom prst="rect">
            <a:avLst/>
          </a:prstGeom>
          <a:noFill/>
        </p:spPr>
        <p:txBody>
          <a:bodyPr wrap="none" rtlCol="0">
            <a:spAutoFit/>
          </a:bodyPr>
          <a:lstStyle/>
          <a:p>
            <a:r>
              <a:rPr lang="en-US" b="1" dirty="0"/>
              <a:t>For example</a:t>
            </a:r>
            <a:endParaRPr lang="en-PK" b="1" dirty="0"/>
          </a:p>
        </p:txBody>
      </p:sp>
      <p:sp>
        <p:nvSpPr>
          <p:cNvPr id="8" name="TextBox 7">
            <a:extLst>
              <a:ext uri="{FF2B5EF4-FFF2-40B4-BE49-F238E27FC236}">
                <a16:creationId xmlns:a16="http://schemas.microsoft.com/office/drawing/2014/main" id="{48955E5A-D452-414A-BA95-6425FBB660D2}"/>
              </a:ext>
            </a:extLst>
          </p:cNvPr>
          <p:cNvSpPr txBox="1"/>
          <p:nvPr/>
        </p:nvSpPr>
        <p:spPr>
          <a:xfrm>
            <a:off x="561223" y="2747697"/>
            <a:ext cx="4086977" cy="1122743"/>
          </a:xfrm>
          <a:prstGeom prst="rect">
            <a:avLst/>
          </a:prstGeom>
          <a:noFill/>
        </p:spPr>
        <p:txBody>
          <a:bodyPr wrap="square">
            <a:spAutoFit/>
          </a:bodyPr>
          <a:lstStyle/>
          <a:p>
            <a:pPr algn="just">
              <a:lnSpc>
                <a:spcPct val="200000"/>
              </a:lnSpc>
            </a:pPr>
            <a:r>
              <a:rPr lang="en-US" b="0" i="0" dirty="0">
                <a:solidFill>
                  <a:srgbClr val="3A3A3A"/>
                </a:solidFill>
                <a:effectLst/>
              </a:rPr>
              <a:t>The first element of array is number[0][0], second is number[0][1] and so on.</a:t>
            </a:r>
            <a:endParaRPr lang="en-PK" dirty="0"/>
          </a:p>
        </p:txBody>
      </p:sp>
    </p:spTree>
    <p:extLst>
      <p:ext uri="{BB962C8B-B14F-4D97-AF65-F5344CB8AC3E}">
        <p14:creationId xmlns:p14="http://schemas.microsoft.com/office/powerpoint/2010/main" val="40126009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44A6C-334D-4C00-9573-2151C5333832}"/>
              </a:ext>
            </a:extLst>
          </p:cNvPr>
          <p:cNvSpPr>
            <a:spLocks noGrp="1"/>
          </p:cNvSpPr>
          <p:nvPr>
            <p:ph type="title"/>
          </p:nvPr>
        </p:nvSpPr>
        <p:spPr>
          <a:xfrm>
            <a:off x="152400" y="248015"/>
            <a:ext cx="10515600" cy="839788"/>
          </a:xfrm>
        </p:spPr>
        <p:txBody>
          <a:bodyPr>
            <a:normAutofit fontScale="90000"/>
          </a:bodyPr>
          <a:lstStyle/>
          <a:p>
            <a:r>
              <a:rPr lang="en-US" sz="2800" b="1" i="0" dirty="0">
                <a:solidFill>
                  <a:schemeClr val="accent1">
                    <a:lumMod val="50000"/>
                  </a:schemeClr>
                </a:solidFill>
                <a:effectLst/>
                <a:latin typeface="+mn-lt"/>
              </a:rPr>
              <a:t>Initialization of two-dimensional array</a:t>
            </a:r>
            <a:br>
              <a:rPr lang="en-US" sz="2800" b="0" i="0" dirty="0">
                <a:solidFill>
                  <a:schemeClr val="accent1">
                    <a:lumMod val="50000"/>
                  </a:schemeClr>
                </a:solidFill>
                <a:effectLst/>
                <a:latin typeface="+mn-lt"/>
              </a:rPr>
            </a:br>
            <a:endParaRPr lang="en-PK" sz="2800" dirty="0">
              <a:solidFill>
                <a:schemeClr val="accent1">
                  <a:lumMod val="50000"/>
                </a:schemeClr>
              </a:solidFill>
              <a:latin typeface="+mn-lt"/>
            </a:endParaRPr>
          </a:p>
        </p:txBody>
      </p:sp>
      <p:sp>
        <p:nvSpPr>
          <p:cNvPr id="5" name="TextBox 4">
            <a:extLst>
              <a:ext uri="{FF2B5EF4-FFF2-40B4-BE49-F238E27FC236}">
                <a16:creationId xmlns:a16="http://schemas.microsoft.com/office/drawing/2014/main" id="{37BA7714-DE72-4079-A631-A6CFD6DD69AB}"/>
              </a:ext>
            </a:extLst>
          </p:cNvPr>
          <p:cNvSpPr txBox="1"/>
          <p:nvPr/>
        </p:nvSpPr>
        <p:spPr>
          <a:xfrm>
            <a:off x="768202" y="811250"/>
            <a:ext cx="10655595" cy="1122743"/>
          </a:xfrm>
          <a:prstGeom prst="rect">
            <a:avLst/>
          </a:prstGeom>
          <a:noFill/>
        </p:spPr>
        <p:txBody>
          <a:bodyPr wrap="square">
            <a:spAutoFit/>
          </a:bodyPr>
          <a:lstStyle/>
          <a:p>
            <a:pPr marL="285750" indent="-285750">
              <a:lnSpc>
                <a:spcPct val="200000"/>
              </a:lnSpc>
              <a:buFont typeface="Arial" panose="020B0604020202020204" pitchFamily="34" charset="0"/>
              <a:buChar char="•"/>
            </a:pPr>
            <a:r>
              <a:rPr lang="en-US" b="0" i="0" dirty="0">
                <a:solidFill>
                  <a:srgbClr val="3A3A3A"/>
                </a:solidFill>
                <a:effectLst/>
              </a:rPr>
              <a:t>You can provide value to an array at declaration time. </a:t>
            </a:r>
          </a:p>
          <a:p>
            <a:pPr marL="285750" indent="-285750">
              <a:lnSpc>
                <a:spcPct val="200000"/>
              </a:lnSpc>
              <a:buFont typeface="Arial" panose="020B0604020202020204" pitchFamily="34" charset="0"/>
              <a:buChar char="•"/>
            </a:pPr>
            <a:r>
              <a:rPr lang="en-US" dirty="0">
                <a:solidFill>
                  <a:srgbClr val="3A3A3A"/>
                </a:solidFill>
              </a:rPr>
              <a:t>S</a:t>
            </a:r>
            <a:r>
              <a:rPr lang="en-US" b="0" i="0" dirty="0">
                <a:solidFill>
                  <a:srgbClr val="3A3A3A"/>
                </a:solidFill>
                <a:effectLst/>
              </a:rPr>
              <a:t>yntax of the initialization of two-dimensional array it differs from the one-dimensional array.</a:t>
            </a:r>
            <a:endParaRPr lang="en-PK" dirty="0"/>
          </a:p>
        </p:txBody>
      </p:sp>
      <p:sp>
        <p:nvSpPr>
          <p:cNvPr id="7" name="TextBox 6">
            <a:extLst>
              <a:ext uri="{FF2B5EF4-FFF2-40B4-BE49-F238E27FC236}">
                <a16:creationId xmlns:a16="http://schemas.microsoft.com/office/drawing/2014/main" id="{0394B4FA-EB9B-491C-8BE5-C3999CD88ED5}"/>
              </a:ext>
            </a:extLst>
          </p:cNvPr>
          <p:cNvSpPr txBox="1"/>
          <p:nvPr/>
        </p:nvSpPr>
        <p:spPr>
          <a:xfrm>
            <a:off x="1741376" y="1819501"/>
            <a:ext cx="9015524" cy="2126864"/>
          </a:xfrm>
          <a:prstGeom prst="rect">
            <a:avLst/>
          </a:prstGeom>
          <a:noFill/>
        </p:spPr>
        <p:txBody>
          <a:bodyPr wrap="square">
            <a:spAutoFit/>
          </a:bodyPr>
          <a:lstStyle/>
          <a:p>
            <a:pPr algn="l">
              <a:lnSpc>
                <a:spcPct val="150000"/>
              </a:lnSpc>
            </a:pPr>
            <a:r>
              <a:rPr lang="en-US" b="0" i="0" dirty="0" err="1">
                <a:solidFill>
                  <a:srgbClr val="000000"/>
                </a:solidFill>
                <a:effectLst/>
              </a:rPr>
              <a:t>dataType</a:t>
            </a:r>
            <a:r>
              <a:rPr lang="en-US" b="0" i="0" dirty="0">
                <a:solidFill>
                  <a:srgbClr val="000000"/>
                </a:solidFill>
                <a:effectLst/>
              </a:rPr>
              <a:t> </a:t>
            </a:r>
            <a:r>
              <a:rPr lang="en-US" b="0" i="0" dirty="0" err="1">
                <a:solidFill>
                  <a:srgbClr val="000000"/>
                </a:solidFill>
                <a:effectLst/>
              </a:rPr>
              <a:t>arrayName</a:t>
            </a:r>
            <a:r>
              <a:rPr lang="en-US" b="0" i="0" dirty="0">
                <a:solidFill>
                  <a:srgbClr val="777777"/>
                </a:solidFill>
                <a:effectLst/>
              </a:rPr>
              <a:t>[][]</a:t>
            </a:r>
            <a:r>
              <a:rPr lang="en-US" b="0" i="0" dirty="0">
                <a:solidFill>
                  <a:srgbClr val="000000"/>
                </a:solidFill>
                <a:effectLst/>
              </a:rPr>
              <a:t> = </a:t>
            </a:r>
            <a:r>
              <a:rPr lang="en-US" b="0" i="0" dirty="0">
                <a:solidFill>
                  <a:srgbClr val="777777"/>
                </a:solidFill>
                <a:effectLst/>
              </a:rPr>
              <a:t>{</a:t>
            </a:r>
            <a:r>
              <a:rPr lang="en-US" b="0" i="0" dirty="0">
                <a:solidFill>
                  <a:srgbClr val="000000"/>
                </a:solidFill>
                <a:effectLst/>
              </a:rPr>
              <a:t> </a:t>
            </a:r>
            <a:endParaRPr lang="en-US" b="0" i="0" dirty="0">
              <a:solidFill>
                <a:srgbClr val="AAAAAA"/>
              </a:solidFill>
              <a:effectLst/>
            </a:endParaRPr>
          </a:p>
          <a:p>
            <a:pPr algn="l">
              <a:lnSpc>
                <a:spcPct val="150000"/>
              </a:lnSpc>
            </a:pPr>
            <a:r>
              <a:rPr lang="en-US" b="0" i="0" dirty="0">
                <a:solidFill>
                  <a:srgbClr val="777777"/>
                </a:solidFill>
                <a:effectLst/>
              </a:rPr>
              <a:t>{</a:t>
            </a:r>
            <a:r>
              <a:rPr lang="en-US" b="0" i="0" dirty="0">
                <a:solidFill>
                  <a:srgbClr val="000000"/>
                </a:solidFill>
                <a:effectLst/>
              </a:rPr>
              <a:t>value1, value2, …</a:t>
            </a:r>
            <a:r>
              <a:rPr lang="en-US" b="0" i="0" dirty="0" err="1">
                <a:solidFill>
                  <a:srgbClr val="000000"/>
                </a:solidFill>
                <a:effectLst/>
              </a:rPr>
              <a:t>valueN</a:t>
            </a:r>
            <a:r>
              <a:rPr lang="en-US" b="0" i="0" dirty="0">
                <a:solidFill>
                  <a:srgbClr val="777777"/>
                </a:solidFill>
                <a:effectLst/>
              </a:rPr>
              <a:t>}</a:t>
            </a:r>
            <a:r>
              <a:rPr lang="en-US" b="0" i="0" dirty="0">
                <a:solidFill>
                  <a:srgbClr val="000000"/>
                </a:solidFill>
                <a:effectLst/>
              </a:rPr>
              <a:t>, </a:t>
            </a:r>
            <a:endParaRPr lang="en-US" b="0" i="0" dirty="0">
              <a:solidFill>
                <a:srgbClr val="AAAAAA"/>
              </a:solidFill>
              <a:effectLst/>
            </a:endParaRPr>
          </a:p>
          <a:p>
            <a:pPr algn="l">
              <a:lnSpc>
                <a:spcPct val="150000"/>
              </a:lnSpc>
            </a:pPr>
            <a:r>
              <a:rPr lang="en-US" b="0" i="0" dirty="0">
                <a:solidFill>
                  <a:srgbClr val="777777"/>
                </a:solidFill>
                <a:effectLst/>
              </a:rPr>
              <a:t>{</a:t>
            </a:r>
            <a:r>
              <a:rPr lang="en-US" b="0" i="0" dirty="0">
                <a:solidFill>
                  <a:srgbClr val="000000"/>
                </a:solidFill>
                <a:effectLst/>
              </a:rPr>
              <a:t>value1, value2, …</a:t>
            </a:r>
            <a:r>
              <a:rPr lang="en-US" b="0" i="0" dirty="0" err="1">
                <a:solidFill>
                  <a:srgbClr val="000000"/>
                </a:solidFill>
                <a:effectLst/>
              </a:rPr>
              <a:t>valueN</a:t>
            </a:r>
            <a:r>
              <a:rPr lang="en-US" b="0" i="0" dirty="0">
                <a:solidFill>
                  <a:srgbClr val="777777"/>
                </a:solidFill>
                <a:effectLst/>
              </a:rPr>
              <a:t>}</a:t>
            </a:r>
            <a:r>
              <a:rPr lang="en-US" b="0" i="0" dirty="0">
                <a:solidFill>
                  <a:srgbClr val="000000"/>
                </a:solidFill>
                <a:effectLst/>
              </a:rPr>
              <a:t>,</a:t>
            </a:r>
            <a:endParaRPr lang="en-US" b="0" i="0" dirty="0">
              <a:solidFill>
                <a:srgbClr val="AAAAAA"/>
              </a:solidFill>
              <a:effectLst/>
            </a:endParaRPr>
          </a:p>
          <a:p>
            <a:pPr algn="l">
              <a:lnSpc>
                <a:spcPct val="150000"/>
              </a:lnSpc>
            </a:pPr>
            <a:r>
              <a:rPr lang="en-US" b="0" i="0" dirty="0">
                <a:solidFill>
                  <a:srgbClr val="777777"/>
                </a:solidFill>
                <a:effectLst/>
              </a:rPr>
              <a:t>{</a:t>
            </a:r>
            <a:r>
              <a:rPr lang="en-US" b="0" i="0" dirty="0">
                <a:solidFill>
                  <a:srgbClr val="000000"/>
                </a:solidFill>
                <a:effectLst/>
              </a:rPr>
              <a:t>value1, value2, …</a:t>
            </a:r>
            <a:r>
              <a:rPr lang="en-US" b="0" i="0" dirty="0" err="1">
                <a:solidFill>
                  <a:srgbClr val="000000"/>
                </a:solidFill>
                <a:effectLst/>
              </a:rPr>
              <a:t>valueN</a:t>
            </a:r>
            <a:r>
              <a:rPr lang="en-US" b="0" i="0" dirty="0">
                <a:solidFill>
                  <a:srgbClr val="777777"/>
                </a:solidFill>
                <a:effectLst/>
              </a:rPr>
              <a:t>}</a:t>
            </a:r>
            <a:r>
              <a:rPr lang="en-US" b="0" i="0" dirty="0">
                <a:solidFill>
                  <a:srgbClr val="000000"/>
                </a:solidFill>
                <a:effectLst/>
              </a:rPr>
              <a:t>,</a:t>
            </a:r>
            <a:endParaRPr lang="en-US" b="0" i="0" dirty="0">
              <a:solidFill>
                <a:srgbClr val="AAAAAA"/>
              </a:solidFill>
              <a:effectLst/>
            </a:endParaRPr>
          </a:p>
          <a:p>
            <a:pPr algn="l">
              <a:lnSpc>
                <a:spcPct val="150000"/>
              </a:lnSpc>
            </a:pPr>
            <a:r>
              <a:rPr lang="en-US" b="0" i="0" dirty="0">
                <a:solidFill>
                  <a:srgbClr val="777777"/>
                </a:solidFill>
                <a:effectLst/>
              </a:rPr>
              <a:t>}</a:t>
            </a:r>
            <a:r>
              <a:rPr lang="en-US" b="0" i="0" dirty="0">
                <a:solidFill>
                  <a:srgbClr val="000000"/>
                </a:solidFill>
                <a:effectLst/>
              </a:rPr>
              <a:t>; </a:t>
            </a:r>
            <a:endParaRPr lang="en-US" b="0" i="0" dirty="0">
              <a:solidFill>
                <a:srgbClr val="444444"/>
              </a:solidFill>
              <a:effectLst/>
            </a:endParaRPr>
          </a:p>
        </p:txBody>
      </p:sp>
      <p:sp>
        <p:nvSpPr>
          <p:cNvPr id="9" name="TextBox 8">
            <a:extLst>
              <a:ext uri="{FF2B5EF4-FFF2-40B4-BE49-F238E27FC236}">
                <a16:creationId xmlns:a16="http://schemas.microsoft.com/office/drawing/2014/main" id="{55F7EE84-1EA2-4D7A-B656-8F89A4905067}"/>
              </a:ext>
            </a:extLst>
          </p:cNvPr>
          <p:cNvSpPr txBox="1"/>
          <p:nvPr/>
        </p:nvSpPr>
        <p:spPr>
          <a:xfrm>
            <a:off x="768202" y="4030077"/>
            <a:ext cx="6097772" cy="369332"/>
          </a:xfrm>
          <a:prstGeom prst="rect">
            <a:avLst/>
          </a:prstGeom>
          <a:noFill/>
        </p:spPr>
        <p:txBody>
          <a:bodyPr wrap="square">
            <a:spAutoFit/>
          </a:bodyPr>
          <a:lstStyle/>
          <a:p>
            <a:pPr marL="285750" indent="-285750">
              <a:buFont typeface="Arial" panose="020B0604020202020204" pitchFamily="34" charset="0"/>
              <a:buChar char="•"/>
            </a:pPr>
            <a:r>
              <a:rPr lang="en-US" b="0" i="0" dirty="0">
                <a:solidFill>
                  <a:srgbClr val="3A3A3A"/>
                </a:solidFill>
                <a:effectLst/>
              </a:rPr>
              <a:t>It’s created an array and initializes it during declaration.</a:t>
            </a:r>
            <a:endParaRPr lang="en-PK" dirty="0"/>
          </a:p>
        </p:txBody>
      </p:sp>
      <p:sp>
        <p:nvSpPr>
          <p:cNvPr id="11" name="TextBox 10">
            <a:extLst>
              <a:ext uri="{FF2B5EF4-FFF2-40B4-BE49-F238E27FC236}">
                <a16:creationId xmlns:a16="http://schemas.microsoft.com/office/drawing/2014/main" id="{77285A70-FEAB-4CF6-81C3-F84F13EC24AC}"/>
              </a:ext>
            </a:extLst>
          </p:cNvPr>
          <p:cNvSpPr txBox="1"/>
          <p:nvPr/>
        </p:nvSpPr>
        <p:spPr>
          <a:xfrm>
            <a:off x="1741376" y="4366518"/>
            <a:ext cx="6097772" cy="2126864"/>
          </a:xfrm>
          <a:prstGeom prst="rect">
            <a:avLst/>
          </a:prstGeom>
          <a:noFill/>
        </p:spPr>
        <p:txBody>
          <a:bodyPr wrap="square">
            <a:spAutoFit/>
          </a:bodyPr>
          <a:lstStyle/>
          <a:p>
            <a:pPr algn="l">
              <a:lnSpc>
                <a:spcPct val="150000"/>
              </a:lnSpc>
            </a:pPr>
            <a:r>
              <a:rPr lang="en-US" b="0" i="0" dirty="0">
                <a:solidFill>
                  <a:srgbClr val="000000"/>
                </a:solidFill>
                <a:effectLst/>
              </a:rPr>
              <a:t>int</a:t>
            </a:r>
            <a:r>
              <a:rPr lang="en-US" b="0" i="0" dirty="0">
                <a:solidFill>
                  <a:srgbClr val="777777"/>
                </a:solidFill>
                <a:effectLst/>
              </a:rPr>
              <a:t>[][]</a:t>
            </a:r>
            <a:r>
              <a:rPr lang="en-US" b="0" i="0" dirty="0">
                <a:solidFill>
                  <a:srgbClr val="000000"/>
                </a:solidFill>
                <a:effectLst/>
              </a:rPr>
              <a:t> number = </a:t>
            </a:r>
            <a:r>
              <a:rPr lang="en-US" b="0" i="0" dirty="0">
                <a:solidFill>
                  <a:srgbClr val="777777"/>
                </a:solidFill>
                <a:effectLst/>
              </a:rPr>
              <a:t>{</a:t>
            </a:r>
            <a:endParaRPr lang="en-US" b="0" i="0" dirty="0">
              <a:solidFill>
                <a:srgbClr val="444444"/>
              </a:solidFill>
              <a:effectLst/>
            </a:endParaRPr>
          </a:p>
          <a:p>
            <a:pPr algn="l">
              <a:lnSpc>
                <a:spcPct val="150000"/>
              </a:lnSpc>
            </a:pPr>
            <a:r>
              <a:rPr lang="en-US" b="0" i="0" dirty="0">
                <a:solidFill>
                  <a:srgbClr val="777777"/>
                </a:solidFill>
                <a:effectLst/>
              </a:rPr>
              <a:t>{</a:t>
            </a:r>
            <a:r>
              <a:rPr lang="en-US" b="0" i="0" dirty="0">
                <a:solidFill>
                  <a:srgbClr val="009999"/>
                </a:solidFill>
                <a:effectLst/>
              </a:rPr>
              <a:t>11</a:t>
            </a:r>
            <a:r>
              <a:rPr lang="en-US" b="0" i="0" dirty="0">
                <a:solidFill>
                  <a:srgbClr val="000000"/>
                </a:solidFill>
                <a:effectLst/>
              </a:rPr>
              <a:t>, </a:t>
            </a:r>
            <a:r>
              <a:rPr lang="en-US" b="0" i="0" dirty="0">
                <a:solidFill>
                  <a:srgbClr val="009999"/>
                </a:solidFill>
                <a:effectLst/>
              </a:rPr>
              <a:t>22</a:t>
            </a:r>
            <a:r>
              <a:rPr lang="en-US" b="0" i="0" dirty="0">
                <a:solidFill>
                  <a:srgbClr val="000000"/>
                </a:solidFill>
                <a:effectLst/>
              </a:rPr>
              <a:t>, </a:t>
            </a:r>
            <a:r>
              <a:rPr lang="en-US" b="0" i="0" dirty="0">
                <a:solidFill>
                  <a:srgbClr val="009999"/>
                </a:solidFill>
                <a:effectLst/>
              </a:rPr>
              <a:t>33</a:t>
            </a:r>
            <a:r>
              <a:rPr lang="en-US" b="0" i="0" dirty="0">
                <a:solidFill>
                  <a:srgbClr val="777777"/>
                </a:solidFill>
                <a:effectLst/>
              </a:rPr>
              <a:t>}</a:t>
            </a:r>
            <a:r>
              <a:rPr lang="en-US" b="0" i="0" dirty="0">
                <a:solidFill>
                  <a:srgbClr val="000000"/>
                </a:solidFill>
                <a:effectLst/>
              </a:rPr>
              <a:t>,</a:t>
            </a:r>
            <a:endParaRPr lang="en-US" b="0" i="0" dirty="0">
              <a:solidFill>
                <a:srgbClr val="AAAAAA"/>
              </a:solidFill>
              <a:effectLst/>
            </a:endParaRPr>
          </a:p>
          <a:p>
            <a:pPr algn="l">
              <a:lnSpc>
                <a:spcPct val="150000"/>
              </a:lnSpc>
            </a:pPr>
            <a:r>
              <a:rPr lang="en-US" b="0" i="0" dirty="0">
                <a:solidFill>
                  <a:srgbClr val="777777"/>
                </a:solidFill>
                <a:effectLst/>
              </a:rPr>
              <a:t>{</a:t>
            </a:r>
            <a:r>
              <a:rPr lang="en-US" b="0" i="0" dirty="0">
                <a:solidFill>
                  <a:srgbClr val="009999"/>
                </a:solidFill>
                <a:effectLst/>
              </a:rPr>
              <a:t>44</a:t>
            </a:r>
            <a:r>
              <a:rPr lang="en-US" b="0" i="0" dirty="0">
                <a:solidFill>
                  <a:srgbClr val="000000"/>
                </a:solidFill>
                <a:effectLst/>
              </a:rPr>
              <a:t>, </a:t>
            </a:r>
            <a:r>
              <a:rPr lang="en-US" b="0" i="0" dirty="0">
                <a:solidFill>
                  <a:srgbClr val="009999"/>
                </a:solidFill>
                <a:effectLst/>
              </a:rPr>
              <a:t>55</a:t>
            </a:r>
            <a:r>
              <a:rPr lang="en-US" b="0" i="0" dirty="0">
                <a:solidFill>
                  <a:srgbClr val="000000"/>
                </a:solidFill>
                <a:effectLst/>
              </a:rPr>
              <a:t>, </a:t>
            </a:r>
            <a:r>
              <a:rPr lang="en-US" b="0" i="0" dirty="0">
                <a:solidFill>
                  <a:srgbClr val="009999"/>
                </a:solidFill>
                <a:effectLst/>
              </a:rPr>
              <a:t>66</a:t>
            </a:r>
            <a:r>
              <a:rPr lang="en-US" b="0" i="0" dirty="0">
                <a:solidFill>
                  <a:srgbClr val="777777"/>
                </a:solidFill>
                <a:effectLst/>
              </a:rPr>
              <a:t>}</a:t>
            </a:r>
            <a:r>
              <a:rPr lang="en-US" b="0" i="0" dirty="0">
                <a:solidFill>
                  <a:srgbClr val="000000"/>
                </a:solidFill>
                <a:effectLst/>
              </a:rPr>
              <a:t>,</a:t>
            </a:r>
            <a:endParaRPr lang="en-US" b="0" i="0" dirty="0">
              <a:solidFill>
                <a:srgbClr val="AAAAAA"/>
              </a:solidFill>
              <a:effectLst/>
            </a:endParaRPr>
          </a:p>
          <a:p>
            <a:pPr algn="l">
              <a:lnSpc>
                <a:spcPct val="150000"/>
              </a:lnSpc>
            </a:pPr>
            <a:r>
              <a:rPr lang="en-US" b="0" i="0" dirty="0">
                <a:solidFill>
                  <a:srgbClr val="777777"/>
                </a:solidFill>
                <a:effectLst/>
              </a:rPr>
              <a:t>{</a:t>
            </a:r>
            <a:r>
              <a:rPr lang="en-US" b="0" i="0" dirty="0">
                <a:solidFill>
                  <a:srgbClr val="009999"/>
                </a:solidFill>
                <a:effectLst/>
              </a:rPr>
              <a:t>77</a:t>
            </a:r>
            <a:r>
              <a:rPr lang="en-US" b="0" i="0" dirty="0">
                <a:solidFill>
                  <a:srgbClr val="000000"/>
                </a:solidFill>
                <a:effectLst/>
              </a:rPr>
              <a:t>, </a:t>
            </a:r>
            <a:r>
              <a:rPr lang="en-US" b="0" i="0" dirty="0">
                <a:solidFill>
                  <a:srgbClr val="009999"/>
                </a:solidFill>
                <a:effectLst/>
              </a:rPr>
              <a:t>88</a:t>
            </a:r>
            <a:r>
              <a:rPr lang="en-US" b="0" i="0" dirty="0">
                <a:solidFill>
                  <a:srgbClr val="000000"/>
                </a:solidFill>
                <a:effectLst/>
              </a:rPr>
              <a:t>, </a:t>
            </a:r>
            <a:r>
              <a:rPr lang="en-US" b="0" i="0" dirty="0">
                <a:solidFill>
                  <a:srgbClr val="009999"/>
                </a:solidFill>
                <a:effectLst/>
              </a:rPr>
              <a:t>99</a:t>
            </a:r>
            <a:r>
              <a:rPr lang="en-US" b="0" i="0" dirty="0">
                <a:solidFill>
                  <a:srgbClr val="777777"/>
                </a:solidFill>
                <a:effectLst/>
              </a:rPr>
              <a:t>}</a:t>
            </a:r>
            <a:r>
              <a:rPr lang="en-US" b="0" i="0" dirty="0">
                <a:solidFill>
                  <a:srgbClr val="000000"/>
                </a:solidFill>
                <a:effectLst/>
              </a:rPr>
              <a:t>,</a:t>
            </a:r>
            <a:endParaRPr lang="en-US" b="0" i="0" dirty="0">
              <a:solidFill>
                <a:srgbClr val="AAAAAA"/>
              </a:solidFill>
              <a:effectLst/>
            </a:endParaRPr>
          </a:p>
          <a:p>
            <a:pPr algn="l">
              <a:lnSpc>
                <a:spcPct val="150000"/>
              </a:lnSpc>
            </a:pPr>
            <a:r>
              <a:rPr lang="en-US" b="0" i="0" dirty="0">
                <a:solidFill>
                  <a:srgbClr val="777777"/>
                </a:solidFill>
                <a:effectLst/>
              </a:rPr>
              <a:t>}</a:t>
            </a:r>
            <a:r>
              <a:rPr lang="en-US" b="0" i="0" dirty="0">
                <a:solidFill>
                  <a:srgbClr val="000000"/>
                </a:solidFill>
                <a:effectLst/>
              </a:rPr>
              <a:t>;</a:t>
            </a:r>
            <a:endParaRPr lang="en-US" b="0" i="0" dirty="0">
              <a:solidFill>
                <a:srgbClr val="AAAAAA"/>
              </a:solidFill>
              <a:effectLst/>
            </a:endParaRPr>
          </a:p>
        </p:txBody>
      </p:sp>
    </p:spTree>
    <p:extLst>
      <p:ext uri="{BB962C8B-B14F-4D97-AF65-F5344CB8AC3E}">
        <p14:creationId xmlns:p14="http://schemas.microsoft.com/office/powerpoint/2010/main" val="29028378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54202-E16E-4157-81C5-520A552A71D6}"/>
              </a:ext>
            </a:extLst>
          </p:cNvPr>
          <p:cNvSpPr>
            <a:spLocks noGrp="1"/>
          </p:cNvSpPr>
          <p:nvPr>
            <p:ph type="title"/>
          </p:nvPr>
        </p:nvSpPr>
        <p:spPr>
          <a:xfrm>
            <a:off x="202020" y="204599"/>
            <a:ext cx="10515600" cy="794601"/>
          </a:xfrm>
        </p:spPr>
        <p:txBody>
          <a:bodyPr>
            <a:normAutofit fontScale="90000"/>
          </a:bodyPr>
          <a:lstStyle/>
          <a:p>
            <a:r>
              <a:rPr lang="en-US" sz="2800" b="1" i="0" dirty="0">
                <a:solidFill>
                  <a:schemeClr val="accent1">
                    <a:lumMod val="50000"/>
                  </a:schemeClr>
                </a:solidFill>
                <a:effectLst/>
                <a:latin typeface="+mn-lt"/>
              </a:rPr>
              <a:t>Memory Representation after Initialization</a:t>
            </a:r>
            <a:br>
              <a:rPr lang="en-US" sz="2800" b="1" i="0" dirty="0">
                <a:solidFill>
                  <a:schemeClr val="accent1">
                    <a:lumMod val="50000"/>
                  </a:schemeClr>
                </a:solidFill>
                <a:effectLst/>
                <a:latin typeface="+mn-lt"/>
              </a:rPr>
            </a:br>
            <a:endParaRPr lang="en-PK" sz="2800" b="1" dirty="0">
              <a:solidFill>
                <a:schemeClr val="accent1">
                  <a:lumMod val="50000"/>
                </a:schemeClr>
              </a:solidFill>
              <a:latin typeface="+mn-lt"/>
            </a:endParaRPr>
          </a:p>
        </p:txBody>
      </p:sp>
      <p:graphicFrame>
        <p:nvGraphicFramePr>
          <p:cNvPr id="4" name="Table 3">
            <a:extLst>
              <a:ext uri="{FF2B5EF4-FFF2-40B4-BE49-F238E27FC236}">
                <a16:creationId xmlns:a16="http://schemas.microsoft.com/office/drawing/2014/main" id="{D96A2F1A-DB2A-4154-AE1A-296609EB6A6D}"/>
              </a:ext>
            </a:extLst>
          </p:cNvPr>
          <p:cNvGraphicFramePr>
            <a:graphicFrameLocks noGrp="1"/>
          </p:cNvGraphicFramePr>
          <p:nvPr>
            <p:extLst>
              <p:ext uri="{D42A27DB-BD31-4B8C-83A1-F6EECF244321}">
                <p14:modId xmlns:p14="http://schemas.microsoft.com/office/powerpoint/2010/main" val="770710956"/>
              </p:ext>
            </p:extLst>
          </p:nvPr>
        </p:nvGraphicFramePr>
        <p:xfrm>
          <a:off x="4727648" y="946497"/>
          <a:ext cx="6358272" cy="2343599"/>
        </p:xfrm>
        <a:graphic>
          <a:graphicData uri="http://schemas.openxmlformats.org/drawingml/2006/table">
            <a:tbl>
              <a:tblPr>
                <a:tableStyleId>{7DF18680-E054-41AD-8BC1-D1AEF772440D}</a:tableStyleId>
              </a:tblPr>
              <a:tblGrid>
                <a:gridCol w="1589568">
                  <a:extLst>
                    <a:ext uri="{9D8B030D-6E8A-4147-A177-3AD203B41FA5}">
                      <a16:colId xmlns:a16="http://schemas.microsoft.com/office/drawing/2014/main" val="1529380969"/>
                    </a:ext>
                  </a:extLst>
                </a:gridCol>
                <a:gridCol w="1589568">
                  <a:extLst>
                    <a:ext uri="{9D8B030D-6E8A-4147-A177-3AD203B41FA5}">
                      <a16:colId xmlns:a16="http://schemas.microsoft.com/office/drawing/2014/main" val="1927323265"/>
                    </a:ext>
                  </a:extLst>
                </a:gridCol>
                <a:gridCol w="1589568">
                  <a:extLst>
                    <a:ext uri="{9D8B030D-6E8A-4147-A177-3AD203B41FA5}">
                      <a16:colId xmlns:a16="http://schemas.microsoft.com/office/drawing/2014/main" val="998472393"/>
                    </a:ext>
                  </a:extLst>
                </a:gridCol>
                <a:gridCol w="1589568">
                  <a:extLst>
                    <a:ext uri="{9D8B030D-6E8A-4147-A177-3AD203B41FA5}">
                      <a16:colId xmlns:a16="http://schemas.microsoft.com/office/drawing/2014/main" val="3544363972"/>
                    </a:ext>
                  </a:extLst>
                </a:gridCol>
              </a:tblGrid>
              <a:tr h="584773">
                <a:tc>
                  <a:txBody>
                    <a:bodyPr/>
                    <a:lstStyle/>
                    <a:p>
                      <a:pPr algn="ctr"/>
                      <a:br>
                        <a:rPr lang="en-US" sz="1600" b="1" dirty="0">
                          <a:effectLst/>
                        </a:rPr>
                      </a:br>
                      <a:endParaRPr lang="en-US" sz="1600" b="0" dirty="0">
                        <a:effectLst/>
                      </a:endParaRPr>
                    </a:p>
                  </a:txBody>
                  <a:tcPr marL="50800" marR="50800" marT="50800" marB="50800" anchor="ctr"/>
                </a:tc>
                <a:tc>
                  <a:txBody>
                    <a:bodyPr/>
                    <a:lstStyle/>
                    <a:p>
                      <a:pPr algn="ctr"/>
                      <a:r>
                        <a:rPr lang="en-US" sz="1600" b="1" dirty="0">
                          <a:effectLst/>
                        </a:rPr>
                        <a:t>Column 1</a:t>
                      </a:r>
                      <a:endParaRPr lang="en-US" sz="1600" b="0" dirty="0">
                        <a:effectLst/>
                      </a:endParaRPr>
                    </a:p>
                  </a:txBody>
                  <a:tcPr marL="50800" marR="50800" marT="50800" marB="508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effectLst/>
                        </a:rPr>
                        <a:t>Column 2</a:t>
                      </a:r>
                      <a:endParaRPr lang="en-US" sz="1600" b="0" dirty="0">
                        <a:effectLst/>
                      </a:endParaRPr>
                    </a:p>
                    <a:p>
                      <a:pPr algn="ctr"/>
                      <a:endParaRPr lang="en-US" sz="1600" b="0" dirty="0">
                        <a:effectLst/>
                      </a:endParaRPr>
                    </a:p>
                  </a:txBody>
                  <a:tcPr marL="50800" marR="50800" marT="50800" marB="508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effectLst/>
                        </a:rPr>
                        <a:t>Column 3</a:t>
                      </a:r>
                      <a:endParaRPr lang="en-US" sz="1600" b="0" dirty="0">
                        <a:effectLst/>
                      </a:endParaRPr>
                    </a:p>
                    <a:p>
                      <a:pPr algn="ctr"/>
                      <a:endParaRPr lang="en-PK" sz="1600" dirty="0"/>
                    </a:p>
                  </a:txBody>
                  <a:tcPr/>
                </a:tc>
                <a:extLst>
                  <a:ext uri="{0D108BD9-81ED-4DB2-BD59-A6C34878D82A}">
                    <a16:rowId xmlns:a16="http://schemas.microsoft.com/office/drawing/2014/main" val="2481121548"/>
                  </a:ext>
                </a:extLst>
              </a:tr>
              <a:tr h="584773">
                <a:tc>
                  <a:txBody>
                    <a:bodyPr/>
                    <a:lstStyle/>
                    <a:p>
                      <a:pPr algn="ctr"/>
                      <a:r>
                        <a:rPr lang="en-US" sz="1600" b="1" dirty="0">
                          <a:effectLst/>
                        </a:rPr>
                        <a:t>Row 1</a:t>
                      </a:r>
                      <a:endParaRPr lang="en-US" sz="1600" b="0" dirty="0">
                        <a:effectLst/>
                      </a:endParaRPr>
                    </a:p>
                  </a:txBody>
                  <a:tcPr marL="50800" marR="50800" marT="50800" marB="50800" anchor="ctr"/>
                </a:tc>
                <a:tc>
                  <a:txBody>
                    <a:bodyPr/>
                    <a:lstStyle/>
                    <a:p>
                      <a:pPr algn="ctr"/>
                      <a:r>
                        <a:rPr lang="en-US" sz="1600" b="1">
                          <a:effectLst/>
                        </a:rPr>
                        <a:t>number[0][0]=11</a:t>
                      </a:r>
                      <a:endParaRPr lang="en-US" sz="1600" b="0">
                        <a:effectLst/>
                      </a:endParaRPr>
                    </a:p>
                  </a:txBody>
                  <a:tcPr marL="50800" marR="50800" marT="50800" marB="50800" anchor="ctr"/>
                </a:tc>
                <a:tc>
                  <a:txBody>
                    <a:bodyPr/>
                    <a:lstStyle/>
                    <a:p>
                      <a:pPr algn="ctr"/>
                      <a:r>
                        <a:rPr lang="en-US" sz="1600" b="1">
                          <a:effectLst/>
                        </a:rPr>
                        <a:t>number[0][1]=22</a:t>
                      </a:r>
                      <a:endParaRPr lang="en-US" sz="1600" b="0">
                        <a:effectLst/>
                      </a:endParaRPr>
                    </a:p>
                  </a:txBody>
                  <a:tcPr marL="50800" marR="50800" marT="50800" marB="50800" anchor="ctr"/>
                </a:tc>
                <a:tc>
                  <a:txBody>
                    <a:bodyPr/>
                    <a:lstStyle/>
                    <a:p>
                      <a:pPr algn="ctr"/>
                      <a:r>
                        <a:rPr lang="en-US" sz="1600" b="1">
                          <a:effectLst/>
                        </a:rPr>
                        <a:t>number[0][2]=33</a:t>
                      </a:r>
                      <a:endParaRPr lang="en-US" sz="1600" b="0">
                        <a:effectLst/>
                      </a:endParaRPr>
                    </a:p>
                  </a:txBody>
                  <a:tcPr marL="50800" marR="50800" marT="50800" marB="50800" anchor="ctr"/>
                </a:tc>
                <a:extLst>
                  <a:ext uri="{0D108BD9-81ED-4DB2-BD59-A6C34878D82A}">
                    <a16:rowId xmlns:a16="http://schemas.microsoft.com/office/drawing/2014/main" val="3696383208"/>
                  </a:ext>
                </a:extLst>
              </a:tr>
              <a:tr h="584773">
                <a:tc>
                  <a:txBody>
                    <a:bodyPr/>
                    <a:lstStyle/>
                    <a:p>
                      <a:pPr algn="ctr"/>
                      <a:r>
                        <a:rPr lang="en-US" sz="1600" b="1" dirty="0">
                          <a:effectLst/>
                        </a:rPr>
                        <a:t>Row 2</a:t>
                      </a:r>
                      <a:endParaRPr lang="en-US" sz="1600" b="0" dirty="0">
                        <a:effectLst/>
                      </a:endParaRPr>
                    </a:p>
                  </a:txBody>
                  <a:tcPr marL="50800" marR="50800" marT="50800" marB="50800" anchor="ctr"/>
                </a:tc>
                <a:tc>
                  <a:txBody>
                    <a:bodyPr/>
                    <a:lstStyle/>
                    <a:p>
                      <a:pPr algn="ctr"/>
                      <a:r>
                        <a:rPr lang="en-US" sz="1600" b="1">
                          <a:effectLst/>
                        </a:rPr>
                        <a:t>number[1][0]=44</a:t>
                      </a:r>
                      <a:endParaRPr lang="en-US" sz="1600" b="0">
                        <a:effectLst/>
                      </a:endParaRPr>
                    </a:p>
                  </a:txBody>
                  <a:tcPr marL="50800" marR="50800" marT="50800" marB="50800" anchor="ctr"/>
                </a:tc>
                <a:tc>
                  <a:txBody>
                    <a:bodyPr/>
                    <a:lstStyle/>
                    <a:p>
                      <a:pPr algn="ctr"/>
                      <a:r>
                        <a:rPr lang="en-US" sz="1600" b="1" dirty="0">
                          <a:effectLst/>
                        </a:rPr>
                        <a:t>number[1][1]=55</a:t>
                      </a:r>
                      <a:endParaRPr lang="en-US" sz="1600" b="0" dirty="0">
                        <a:effectLst/>
                      </a:endParaRPr>
                    </a:p>
                  </a:txBody>
                  <a:tcPr marL="50800" marR="50800" marT="50800" marB="50800" anchor="ctr"/>
                </a:tc>
                <a:tc>
                  <a:txBody>
                    <a:bodyPr/>
                    <a:lstStyle/>
                    <a:p>
                      <a:pPr algn="ctr"/>
                      <a:r>
                        <a:rPr lang="en-US" sz="1600" b="1">
                          <a:effectLst/>
                        </a:rPr>
                        <a:t>number[1][2]=66</a:t>
                      </a:r>
                      <a:endParaRPr lang="en-US" sz="1600" b="0">
                        <a:effectLst/>
                      </a:endParaRPr>
                    </a:p>
                  </a:txBody>
                  <a:tcPr marL="50800" marR="50800" marT="50800" marB="50800" anchor="ctr"/>
                </a:tc>
                <a:extLst>
                  <a:ext uri="{0D108BD9-81ED-4DB2-BD59-A6C34878D82A}">
                    <a16:rowId xmlns:a16="http://schemas.microsoft.com/office/drawing/2014/main" val="687683099"/>
                  </a:ext>
                </a:extLst>
              </a:tr>
              <a:tr h="584773">
                <a:tc>
                  <a:txBody>
                    <a:bodyPr/>
                    <a:lstStyle/>
                    <a:p>
                      <a:pPr algn="ctr"/>
                      <a:r>
                        <a:rPr lang="en-US" sz="1600" b="1">
                          <a:effectLst/>
                        </a:rPr>
                        <a:t>Row 3</a:t>
                      </a:r>
                      <a:endParaRPr lang="en-US" sz="1600" b="0">
                        <a:effectLst/>
                      </a:endParaRPr>
                    </a:p>
                  </a:txBody>
                  <a:tcPr marL="50800" marR="50800" marT="50800" marB="50800" anchor="ctr"/>
                </a:tc>
                <a:tc>
                  <a:txBody>
                    <a:bodyPr/>
                    <a:lstStyle/>
                    <a:p>
                      <a:pPr algn="ctr"/>
                      <a:r>
                        <a:rPr lang="en-US" sz="1600" b="1" dirty="0">
                          <a:effectLst/>
                        </a:rPr>
                        <a:t>number[2][0]=77</a:t>
                      </a:r>
                      <a:endParaRPr lang="en-US" sz="1600" b="0" dirty="0">
                        <a:effectLst/>
                      </a:endParaRPr>
                    </a:p>
                  </a:txBody>
                  <a:tcPr marL="50800" marR="50800" marT="50800" marB="50800" anchor="ctr"/>
                </a:tc>
                <a:tc>
                  <a:txBody>
                    <a:bodyPr/>
                    <a:lstStyle/>
                    <a:p>
                      <a:pPr algn="ctr"/>
                      <a:r>
                        <a:rPr lang="en-US" sz="1600" b="1">
                          <a:effectLst/>
                        </a:rPr>
                        <a:t>number[2][1]=88</a:t>
                      </a:r>
                      <a:endParaRPr lang="en-US" sz="1600" b="0">
                        <a:effectLst/>
                      </a:endParaRPr>
                    </a:p>
                  </a:txBody>
                  <a:tcPr marL="50800" marR="50800" marT="50800" marB="50800" anchor="ctr"/>
                </a:tc>
                <a:tc>
                  <a:txBody>
                    <a:bodyPr/>
                    <a:lstStyle/>
                    <a:p>
                      <a:pPr algn="ctr"/>
                      <a:r>
                        <a:rPr lang="en-US" sz="1600" b="1" dirty="0">
                          <a:effectLst/>
                        </a:rPr>
                        <a:t>number[2][2]=99</a:t>
                      </a:r>
                      <a:endParaRPr lang="en-US" sz="1600" b="0" dirty="0">
                        <a:effectLst/>
                      </a:endParaRPr>
                    </a:p>
                  </a:txBody>
                  <a:tcPr marL="50800" marR="50800" marT="50800" marB="50800" anchor="ctr"/>
                </a:tc>
                <a:extLst>
                  <a:ext uri="{0D108BD9-81ED-4DB2-BD59-A6C34878D82A}">
                    <a16:rowId xmlns:a16="http://schemas.microsoft.com/office/drawing/2014/main" val="2893107874"/>
                  </a:ext>
                </a:extLst>
              </a:tr>
            </a:tbl>
          </a:graphicData>
        </a:graphic>
      </p:graphicFrame>
      <p:sp>
        <p:nvSpPr>
          <p:cNvPr id="6" name="TextBox 5">
            <a:extLst>
              <a:ext uri="{FF2B5EF4-FFF2-40B4-BE49-F238E27FC236}">
                <a16:creationId xmlns:a16="http://schemas.microsoft.com/office/drawing/2014/main" id="{32923A38-64B2-4FC6-A39D-30EF75076E13}"/>
              </a:ext>
            </a:extLst>
          </p:cNvPr>
          <p:cNvSpPr txBox="1"/>
          <p:nvPr/>
        </p:nvSpPr>
        <p:spPr>
          <a:xfrm>
            <a:off x="114301" y="3778994"/>
            <a:ext cx="6097772" cy="461665"/>
          </a:xfrm>
          <a:prstGeom prst="rect">
            <a:avLst/>
          </a:prstGeom>
          <a:noFill/>
        </p:spPr>
        <p:txBody>
          <a:bodyPr wrap="square">
            <a:spAutoFit/>
          </a:bodyPr>
          <a:lstStyle/>
          <a:p>
            <a:r>
              <a:rPr lang="en-US" sz="2400" b="1" i="0" dirty="0">
                <a:solidFill>
                  <a:schemeClr val="accent1">
                    <a:lumMod val="50000"/>
                  </a:schemeClr>
                </a:solidFill>
                <a:effectLst/>
              </a:rPr>
              <a:t>Two-dimensional array is an array of array. </a:t>
            </a:r>
            <a:endParaRPr lang="en-PK" sz="2400" b="1" dirty="0">
              <a:solidFill>
                <a:schemeClr val="accent1">
                  <a:lumMod val="50000"/>
                </a:schemeClr>
              </a:solidFill>
            </a:endParaRPr>
          </a:p>
        </p:txBody>
      </p:sp>
      <p:pic>
        <p:nvPicPr>
          <p:cNvPr id="6146" name="Picture 2" descr="Two dimensional array java">
            <a:extLst>
              <a:ext uri="{FF2B5EF4-FFF2-40B4-BE49-F238E27FC236}">
                <a16:creationId xmlns:a16="http://schemas.microsoft.com/office/drawing/2014/main" id="{F2A2F482-2ECE-4449-8BF7-E88D8372F2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3542" y="4240659"/>
            <a:ext cx="5372100" cy="2505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60539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D01B7-C0C4-4B00-BEAD-4351C70831C5}"/>
              </a:ext>
            </a:extLst>
          </p:cNvPr>
          <p:cNvSpPr>
            <a:spLocks noGrp="1"/>
          </p:cNvSpPr>
          <p:nvPr>
            <p:ph type="title"/>
          </p:nvPr>
        </p:nvSpPr>
        <p:spPr>
          <a:xfrm>
            <a:off x="349102" y="297712"/>
            <a:ext cx="10515600" cy="818818"/>
          </a:xfrm>
        </p:spPr>
        <p:txBody>
          <a:bodyPr>
            <a:normAutofit/>
          </a:bodyPr>
          <a:lstStyle/>
          <a:p>
            <a:r>
              <a:rPr lang="en-US" sz="2800" b="1" dirty="0">
                <a:solidFill>
                  <a:schemeClr val="accent1">
                    <a:lumMod val="50000"/>
                  </a:schemeClr>
                </a:solidFill>
                <a:latin typeface="+mn-lt"/>
              </a:rPr>
              <a:t>Accessing Elements of Two Dimensional Array</a:t>
            </a:r>
            <a:endParaRPr lang="en-PK" sz="2800" b="1" dirty="0">
              <a:solidFill>
                <a:schemeClr val="accent1">
                  <a:lumMod val="50000"/>
                </a:schemeClr>
              </a:solidFill>
              <a:latin typeface="+mn-lt"/>
            </a:endParaRPr>
          </a:p>
        </p:txBody>
      </p:sp>
      <p:sp>
        <p:nvSpPr>
          <p:cNvPr id="5" name="TextBox 4">
            <a:extLst>
              <a:ext uri="{FF2B5EF4-FFF2-40B4-BE49-F238E27FC236}">
                <a16:creationId xmlns:a16="http://schemas.microsoft.com/office/drawing/2014/main" id="{E02F3AE0-292D-4198-B3E0-B49786FF14F5}"/>
              </a:ext>
            </a:extLst>
          </p:cNvPr>
          <p:cNvSpPr txBox="1"/>
          <p:nvPr/>
        </p:nvSpPr>
        <p:spPr>
          <a:xfrm>
            <a:off x="603398" y="931864"/>
            <a:ext cx="6097772" cy="369332"/>
          </a:xfrm>
          <a:prstGeom prst="rect">
            <a:avLst/>
          </a:prstGeom>
          <a:noFill/>
        </p:spPr>
        <p:txBody>
          <a:bodyPr wrap="square">
            <a:spAutoFit/>
          </a:bodyPr>
          <a:lstStyle/>
          <a:p>
            <a:r>
              <a:rPr lang="en-US" b="1" i="0" dirty="0">
                <a:solidFill>
                  <a:srgbClr val="40424E"/>
                </a:solidFill>
                <a:effectLst/>
              </a:rPr>
              <a:t>Syntax:</a:t>
            </a:r>
            <a:endParaRPr lang="en-PK" dirty="0"/>
          </a:p>
        </p:txBody>
      </p:sp>
      <p:sp>
        <p:nvSpPr>
          <p:cNvPr id="8" name="TextBox 7">
            <a:extLst>
              <a:ext uri="{FF2B5EF4-FFF2-40B4-BE49-F238E27FC236}">
                <a16:creationId xmlns:a16="http://schemas.microsoft.com/office/drawing/2014/main" id="{12B9992D-3E17-403E-BD2C-14D7336DD122}"/>
              </a:ext>
            </a:extLst>
          </p:cNvPr>
          <p:cNvSpPr txBox="1"/>
          <p:nvPr/>
        </p:nvSpPr>
        <p:spPr>
          <a:xfrm>
            <a:off x="858579" y="1419651"/>
            <a:ext cx="6097772"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800" b="0" i="0" u="none" strike="noStrike" cap="none" normalizeH="0" baseline="0" dirty="0">
                <a:ln>
                  <a:noFill/>
                </a:ln>
                <a:solidFill>
                  <a:schemeClr val="tx1"/>
                </a:solidFill>
                <a:effectLst/>
              </a:rPr>
              <a:t>x[</a:t>
            </a:r>
            <a:r>
              <a:rPr kumimoji="0" lang="en-PK" altLang="en-PK" sz="1800" b="0" i="0" u="none" strike="noStrike" cap="none" normalizeH="0" baseline="0" dirty="0" err="1">
                <a:ln>
                  <a:noFill/>
                </a:ln>
                <a:solidFill>
                  <a:schemeClr val="tx1"/>
                </a:solidFill>
                <a:effectLst/>
              </a:rPr>
              <a:t>row_index</a:t>
            </a:r>
            <a:r>
              <a:rPr kumimoji="0" lang="en-PK" altLang="en-PK" sz="1800" b="0" i="0" u="none" strike="noStrike" cap="none" normalizeH="0" baseline="0" dirty="0">
                <a:ln>
                  <a:noFill/>
                </a:ln>
                <a:solidFill>
                  <a:schemeClr val="tx1"/>
                </a:solidFill>
                <a:effectLst/>
              </a:rPr>
              <a:t>][</a:t>
            </a:r>
            <a:r>
              <a:rPr kumimoji="0" lang="en-PK" altLang="en-PK" sz="1800" b="0" i="0" u="none" strike="noStrike" cap="none" normalizeH="0" baseline="0" dirty="0" err="1">
                <a:ln>
                  <a:noFill/>
                </a:ln>
                <a:solidFill>
                  <a:schemeClr val="tx1"/>
                </a:solidFill>
                <a:effectLst/>
              </a:rPr>
              <a:t>column_index</a:t>
            </a:r>
            <a:r>
              <a:rPr kumimoji="0" lang="en-PK" altLang="en-PK" sz="1800" b="0" i="0" u="none" strike="noStrike" cap="none" normalizeH="0" baseline="0" dirty="0">
                <a:ln>
                  <a:noFill/>
                </a:ln>
                <a:solidFill>
                  <a:schemeClr val="tx1"/>
                </a:solidFill>
                <a:effectLst/>
              </a:rPr>
              <a:t>]</a:t>
            </a:r>
            <a:r>
              <a:rPr kumimoji="0" lang="en-PK" altLang="en-PK" sz="1050" b="0" i="0" u="none" strike="noStrike" cap="none" normalizeH="0" baseline="0" dirty="0">
                <a:ln>
                  <a:noFill/>
                </a:ln>
                <a:solidFill>
                  <a:schemeClr val="tx1"/>
                </a:solidFill>
                <a:effectLst/>
              </a:rPr>
              <a:t> </a:t>
            </a:r>
            <a:endParaRPr kumimoji="0" lang="en-PK" altLang="en-PK" sz="2800" b="0" i="0" u="none" strike="noStrike" cap="none" normalizeH="0" baseline="0" dirty="0">
              <a:ln>
                <a:noFill/>
              </a:ln>
              <a:solidFill>
                <a:schemeClr val="tx1"/>
              </a:solidFill>
              <a:effectLst/>
            </a:endParaRPr>
          </a:p>
        </p:txBody>
      </p:sp>
      <p:sp>
        <p:nvSpPr>
          <p:cNvPr id="10" name="TextBox 9">
            <a:extLst>
              <a:ext uri="{FF2B5EF4-FFF2-40B4-BE49-F238E27FC236}">
                <a16:creationId xmlns:a16="http://schemas.microsoft.com/office/drawing/2014/main" id="{87F1FC11-04F7-4CEC-BDAB-C497020C07C5}"/>
              </a:ext>
            </a:extLst>
          </p:cNvPr>
          <p:cNvSpPr txBox="1"/>
          <p:nvPr/>
        </p:nvSpPr>
        <p:spPr>
          <a:xfrm>
            <a:off x="603398" y="2092104"/>
            <a:ext cx="6097772" cy="369332"/>
          </a:xfrm>
          <a:prstGeom prst="rect">
            <a:avLst/>
          </a:prstGeom>
          <a:noFill/>
        </p:spPr>
        <p:txBody>
          <a:bodyPr wrap="square">
            <a:spAutoFit/>
          </a:bodyPr>
          <a:lstStyle/>
          <a:p>
            <a:r>
              <a:rPr lang="en-US" b="1" i="0" dirty="0">
                <a:solidFill>
                  <a:srgbClr val="40424E"/>
                </a:solidFill>
                <a:effectLst/>
              </a:rPr>
              <a:t>For example:</a:t>
            </a:r>
            <a:endParaRPr lang="en-PK" b="1" dirty="0"/>
          </a:p>
        </p:txBody>
      </p:sp>
      <p:sp>
        <p:nvSpPr>
          <p:cNvPr id="13" name="TextBox 12">
            <a:extLst>
              <a:ext uri="{FF2B5EF4-FFF2-40B4-BE49-F238E27FC236}">
                <a16:creationId xmlns:a16="http://schemas.microsoft.com/office/drawing/2014/main" id="{53B016EB-9AA7-4FF2-BF8E-582F5B07DFAA}"/>
              </a:ext>
            </a:extLst>
          </p:cNvPr>
          <p:cNvSpPr txBox="1"/>
          <p:nvPr/>
        </p:nvSpPr>
        <p:spPr>
          <a:xfrm>
            <a:off x="943639" y="2579891"/>
            <a:ext cx="6097772"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800" b="0" i="0" u="none" strike="noStrike" cap="none" normalizeH="0" baseline="0" dirty="0">
                <a:ln>
                  <a:noFill/>
                </a:ln>
                <a:solidFill>
                  <a:schemeClr val="tx1"/>
                </a:solidFill>
                <a:effectLst/>
              </a:rPr>
              <a:t>int[][] </a:t>
            </a:r>
            <a:r>
              <a:rPr kumimoji="0" lang="en-PK" altLang="en-PK" sz="1800" b="0" i="0" u="none" strike="noStrike" cap="none" normalizeH="0" baseline="0" dirty="0" err="1">
                <a:ln>
                  <a:noFill/>
                </a:ln>
                <a:solidFill>
                  <a:schemeClr val="tx1"/>
                </a:solidFill>
                <a:effectLst/>
              </a:rPr>
              <a:t>arr</a:t>
            </a:r>
            <a:r>
              <a:rPr kumimoji="0" lang="en-PK" altLang="en-PK" sz="1800" b="0" i="0" u="none" strike="noStrike" cap="none" normalizeH="0" baseline="0" dirty="0">
                <a:ln>
                  <a:noFill/>
                </a:ln>
                <a:solidFill>
                  <a:schemeClr val="tx1"/>
                </a:solidFill>
                <a:effectLst/>
              </a:rPr>
              <a:t> = new int[10][20]; </a:t>
            </a:r>
            <a:r>
              <a:rPr kumimoji="0" lang="en-PK" altLang="en-PK" sz="1800" b="0" i="0" u="none" strike="noStrike" cap="none" normalizeH="0" baseline="0" dirty="0" err="1">
                <a:ln>
                  <a:noFill/>
                </a:ln>
                <a:solidFill>
                  <a:schemeClr val="tx1"/>
                </a:solidFill>
                <a:effectLst/>
              </a:rPr>
              <a:t>arr</a:t>
            </a:r>
            <a:r>
              <a:rPr kumimoji="0" lang="en-PK" altLang="en-PK" sz="1800" b="0" i="0" u="none" strike="noStrike" cap="none" normalizeH="0" baseline="0" dirty="0">
                <a:ln>
                  <a:noFill/>
                </a:ln>
                <a:solidFill>
                  <a:schemeClr val="tx1"/>
                </a:solidFill>
                <a:effectLst/>
              </a:rPr>
              <a:t>[0][0] = 1;</a:t>
            </a:r>
            <a:r>
              <a:rPr kumimoji="0" lang="en-PK" altLang="en-PK" sz="1050" b="0" i="0" u="none" strike="noStrike" cap="none" normalizeH="0" baseline="0" dirty="0">
                <a:ln>
                  <a:noFill/>
                </a:ln>
                <a:solidFill>
                  <a:schemeClr val="tx1"/>
                </a:solidFill>
                <a:effectLst/>
              </a:rPr>
              <a:t> </a:t>
            </a:r>
            <a:endParaRPr kumimoji="0" lang="en-PK" altLang="en-PK" sz="2800" b="0" i="0" u="none" strike="noStrike" cap="none" normalizeH="0" baseline="0" dirty="0">
              <a:ln>
                <a:noFill/>
              </a:ln>
              <a:solidFill>
                <a:schemeClr val="tx1"/>
              </a:solidFill>
              <a:effectLst/>
            </a:endParaRPr>
          </a:p>
        </p:txBody>
      </p:sp>
      <p:sp>
        <p:nvSpPr>
          <p:cNvPr id="15" name="TextBox 14">
            <a:extLst>
              <a:ext uri="{FF2B5EF4-FFF2-40B4-BE49-F238E27FC236}">
                <a16:creationId xmlns:a16="http://schemas.microsoft.com/office/drawing/2014/main" id="{026229A0-1129-4D32-9159-285756B86436}"/>
              </a:ext>
            </a:extLst>
          </p:cNvPr>
          <p:cNvSpPr txBox="1"/>
          <p:nvPr/>
        </p:nvSpPr>
        <p:spPr>
          <a:xfrm>
            <a:off x="603398" y="3229860"/>
            <a:ext cx="6097772" cy="369332"/>
          </a:xfrm>
          <a:prstGeom prst="rect">
            <a:avLst/>
          </a:prstGeom>
          <a:noFill/>
        </p:spPr>
        <p:txBody>
          <a:bodyPr wrap="square">
            <a:spAutoFit/>
          </a:bodyPr>
          <a:lstStyle/>
          <a:p>
            <a:r>
              <a:rPr lang="en-US" b="1" i="0" dirty="0">
                <a:solidFill>
                  <a:srgbClr val="40424E"/>
                </a:solidFill>
                <a:effectLst/>
              </a:rPr>
              <a:t>Example:</a:t>
            </a:r>
            <a:endParaRPr lang="en-PK" dirty="0"/>
          </a:p>
        </p:txBody>
      </p:sp>
      <p:sp>
        <p:nvSpPr>
          <p:cNvPr id="16" name="Rectangle 3">
            <a:extLst>
              <a:ext uri="{FF2B5EF4-FFF2-40B4-BE49-F238E27FC236}">
                <a16:creationId xmlns:a16="http://schemas.microsoft.com/office/drawing/2014/main" id="{4DBB04E2-BFBC-4ED6-B2BB-20AD45A50ECD}"/>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latin typeface="+mn-lt"/>
            </a:endParaRPr>
          </a:p>
        </p:txBody>
      </p:sp>
      <p:sp>
        <p:nvSpPr>
          <p:cNvPr id="18" name="TextBox 17">
            <a:extLst>
              <a:ext uri="{FF2B5EF4-FFF2-40B4-BE49-F238E27FC236}">
                <a16:creationId xmlns:a16="http://schemas.microsoft.com/office/drawing/2014/main" id="{03F69DAB-1DD4-4C63-9F4F-73B19713D980}"/>
              </a:ext>
            </a:extLst>
          </p:cNvPr>
          <p:cNvSpPr txBox="1"/>
          <p:nvPr/>
        </p:nvSpPr>
        <p:spPr>
          <a:xfrm>
            <a:off x="1103128" y="3879829"/>
            <a:ext cx="6097772" cy="203132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400" b="1" i="0" u="none" strike="noStrike" cap="none" normalizeH="0" baseline="0" dirty="0">
                <a:ln>
                  <a:noFill/>
                </a:ln>
                <a:solidFill>
                  <a:srgbClr val="006699"/>
                </a:solidFill>
                <a:effectLst/>
              </a:rPr>
              <a:t>class</a:t>
            </a:r>
            <a:r>
              <a:rPr kumimoji="0" lang="en-PK" altLang="en-PK" sz="1000" b="0" i="0" u="none" strike="noStrike" cap="none" normalizeH="0" baseline="0" dirty="0">
                <a:ln>
                  <a:noFill/>
                </a:ln>
                <a:solidFill>
                  <a:srgbClr val="40424E"/>
                </a:solidFill>
                <a:effectLst/>
              </a:rPr>
              <a:t> </a:t>
            </a:r>
            <a:r>
              <a:rPr kumimoji="0" lang="en-PK" altLang="en-PK" sz="1400" b="0" i="0" u="none" strike="noStrike" cap="none" normalizeH="0" baseline="0" dirty="0">
                <a:ln>
                  <a:noFill/>
                </a:ln>
                <a:solidFill>
                  <a:srgbClr val="000000"/>
                </a:solidFill>
                <a:effectLst/>
              </a:rPr>
              <a:t>GFG { </a:t>
            </a:r>
            <a:endParaRPr kumimoji="0" lang="en-PK" altLang="en-PK"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400" b="0" i="0" u="none" strike="noStrike" cap="none" normalizeH="0" baseline="0" dirty="0">
                <a:ln>
                  <a:noFill/>
                </a:ln>
                <a:solidFill>
                  <a:srgbClr val="40424E"/>
                </a:solidFill>
                <a:effectLst/>
              </a:rPr>
              <a:t>    </a:t>
            </a:r>
            <a:r>
              <a:rPr kumimoji="0" lang="en-PK" altLang="en-PK" sz="1400" b="1" i="0" u="none" strike="noStrike" cap="none" normalizeH="0" baseline="0" dirty="0">
                <a:ln>
                  <a:noFill/>
                </a:ln>
                <a:solidFill>
                  <a:srgbClr val="006699"/>
                </a:solidFill>
                <a:effectLst/>
              </a:rPr>
              <a:t>public</a:t>
            </a:r>
            <a:r>
              <a:rPr kumimoji="0" lang="en-PK" altLang="en-PK" sz="1000" b="0" i="0" u="none" strike="noStrike" cap="none" normalizeH="0" baseline="0" dirty="0">
                <a:ln>
                  <a:noFill/>
                </a:ln>
                <a:solidFill>
                  <a:srgbClr val="40424E"/>
                </a:solidFill>
                <a:effectLst/>
              </a:rPr>
              <a:t> </a:t>
            </a:r>
            <a:r>
              <a:rPr kumimoji="0" lang="en-PK" altLang="en-PK" sz="1400" b="1" i="0" u="none" strike="noStrike" cap="none" normalizeH="0" baseline="0" dirty="0">
                <a:ln>
                  <a:noFill/>
                </a:ln>
                <a:solidFill>
                  <a:srgbClr val="006699"/>
                </a:solidFill>
                <a:effectLst/>
              </a:rPr>
              <a:t>static</a:t>
            </a:r>
            <a:r>
              <a:rPr kumimoji="0" lang="en-PK" altLang="en-PK" sz="1000" b="0" i="0" u="none" strike="noStrike" cap="none" normalizeH="0" baseline="0" dirty="0">
                <a:ln>
                  <a:noFill/>
                </a:ln>
                <a:solidFill>
                  <a:srgbClr val="40424E"/>
                </a:solidFill>
                <a:effectLst/>
              </a:rPr>
              <a:t> </a:t>
            </a:r>
            <a:r>
              <a:rPr kumimoji="0" lang="en-PK" altLang="en-PK" sz="1400" b="1" i="0" u="none" strike="noStrike" cap="none" normalizeH="0" baseline="0" dirty="0">
                <a:ln>
                  <a:noFill/>
                </a:ln>
                <a:solidFill>
                  <a:srgbClr val="006699"/>
                </a:solidFill>
                <a:effectLst/>
              </a:rPr>
              <a:t>void</a:t>
            </a:r>
            <a:r>
              <a:rPr kumimoji="0" lang="en-PK" altLang="en-PK" sz="1000" b="0" i="0" u="none" strike="noStrike" cap="none" normalizeH="0" baseline="0" dirty="0">
                <a:ln>
                  <a:noFill/>
                </a:ln>
                <a:solidFill>
                  <a:srgbClr val="40424E"/>
                </a:solidFill>
                <a:effectLst/>
              </a:rPr>
              <a:t> </a:t>
            </a:r>
            <a:r>
              <a:rPr kumimoji="0" lang="en-PK" altLang="en-PK" sz="1400" b="0" i="0" u="none" strike="noStrike" cap="none" normalizeH="0" baseline="0" dirty="0">
                <a:ln>
                  <a:noFill/>
                </a:ln>
                <a:solidFill>
                  <a:srgbClr val="000000"/>
                </a:solidFill>
                <a:effectLst/>
              </a:rPr>
              <a:t>main(String[] </a:t>
            </a:r>
            <a:r>
              <a:rPr kumimoji="0" lang="en-PK" altLang="en-PK" sz="1400" b="0" i="0" u="none" strike="noStrike" cap="none" normalizeH="0" baseline="0" dirty="0" err="1">
                <a:ln>
                  <a:noFill/>
                </a:ln>
                <a:solidFill>
                  <a:srgbClr val="000000"/>
                </a:solidFill>
                <a:effectLst/>
              </a:rPr>
              <a:t>args</a:t>
            </a:r>
            <a:r>
              <a:rPr kumimoji="0" lang="en-PK" altLang="en-PK" sz="1400" b="0" i="0" u="none" strike="noStrike" cap="none" normalizeH="0" baseline="0" dirty="0">
                <a:ln>
                  <a:noFill/>
                </a:ln>
                <a:solidFill>
                  <a:srgbClr val="000000"/>
                </a:solidFill>
                <a:effectLst/>
              </a:rPr>
              <a:t>) </a:t>
            </a:r>
            <a:endParaRPr kumimoji="0" lang="en-PK" altLang="en-PK"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400" b="0" i="0" u="none" strike="noStrike" cap="none" normalizeH="0" baseline="0" dirty="0">
                <a:ln>
                  <a:noFill/>
                </a:ln>
                <a:solidFill>
                  <a:srgbClr val="40424E"/>
                </a:solidFill>
                <a:effectLst/>
              </a:rPr>
              <a:t>    </a:t>
            </a:r>
            <a:r>
              <a:rPr kumimoji="0" lang="en-PK" altLang="en-PK" sz="1400" b="0" i="0" u="none" strike="noStrike" cap="none" normalizeH="0" baseline="0" dirty="0">
                <a:ln>
                  <a:noFill/>
                </a:ln>
                <a:solidFill>
                  <a:srgbClr val="000000"/>
                </a:solidFill>
                <a:effectLst/>
              </a:rPr>
              <a:t>{ </a:t>
            </a:r>
            <a:endParaRPr kumimoji="0" lang="en-PK" altLang="en-PK"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400" b="0" i="0" u="none" strike="noStrike" cap="none" normalizeH="0" baseline="0" dirty="0">
                <a:ln>
                  <a:noFill/>
                </a:ln>
                <a:solidFill>
                  <a:srgbClr val="40424E"/>
                </a:solidFill>
                <a:effectLst/>
              </a:rPr>
              <a:t> </a:t>
            </a:r>
            <a:r>
              <a:rPr kumimoji="0" lang="en-PK" altLang="en-PK" sz="1000" b="0" i="0" u="none" strike="noStrike" cap="none" normalizeH="0" baseline="0" dirty="0">
                <a:ln>
                  <a:noFill/>
                </a:ln>
                <a:solidFill>
                  <a:srgbClr val="40424E"/>
                </a:solidFill>
                <a:effectLst/>
              </a:rPr>
              <a:t> </a:t>
            </a:r>
            <a:endParaRPr kumimoji="0" lang="en-PK" altLang="en-PK"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400" b="0" i="0" u="none" strike="noStrike" cap="none" normalizeH="0" baseline="0" dirty="0">
                <a:ln>
                  <a:noFill/>
                </a:ln>
                <a:solidFill>
                  <a:srgbClr val="40424E"/>
                </a:solidFill>
                <a:effectLst/>
              </a:rPr>
              <a:t>        </a:t>
            </a:r>
            <a:r>
              <a:rPr kumimoji="0" lang="en-PK" altLang="en-PK" sz="1400" b="1" i="0" u="none" strike="noStrike" cap="none" normalizeH="0" baseline="0" dirty="0">
                <a:ln>
                  <a:noFill/>
                </a:ln>
                <a:solidFill>
                  <a:srgbClr val="006699"/>
                </a:solidFill>
                <a:effectLst/>
              </a:rPr>
              <a:t>int</a:t>
            </a:r>
            <a:r>
              <a:rPr kumimoji="0" lang="en-PK" altLang="en-PK" sz="1400" b="0" i="0" u="none" strike="noStrike" cap="none" normalizeH="0" baseline="0" dirty="0">
                <a:ln>
                  <a:noFill/>
                </a:ln>
                <a:solidFill>
                  <a:srgbClr val="000000"/>
                </a:solidFill>
                <a:effectLst/>
              </a:rPr>
              <a:t>[][] </a:t>
            </a:r>
            <a:r>
              <a:rPr kumimoji="0" lang="en-PK" altLang="en-PK" sz="1400" b="0" i="0" u="none" strike="noStrike" cap="none" normalizeH="0" baseline="0" dirty="0" err="1">
                <a:ln>
                  <a:noFill/>
                </a:ln>
                <a:solidFill>
                  <a:srgbClr val="000000"/>
                </a:solidFill>
                <a:effectLst/>
              </a:rPr>
              <a:t>arr</a:t>
            </a:r>
            <a:r>
              <a:rPr kumimoji="0" lang="en-PK" altLang="en-PK" sz="1400" b="0" i="0" u="none" strike="noStrike" cap="none" normalizeH="0" baseline="0" dirty="0">
                <a:ln>
                  <a:noFill/>
                </a:ln>
                <a:solidFill>
                  <a:srgbClr val="000000"/>
                </a:solidFill>
                <a:effectLst/>
              </a:rPr>
              <a:t> = { { </a:t>
            </a:r>
            <a:r>
              <a:rPr kumimoji="0" lang="en-PK" altLang="en-PK" sz="1400" b="0" i="0" u="none" strike="noStrike" cap="none" normalizeH="0" baseline="0" dirty="0">
                <a:ln>
                  <a:noFill/>
                </a:ln>
                <a:solidFill>
                  <a:srgbClr val="009900"/>
                </a:solidFill>
                <a:effectLst/>
              </a:rPr>
              <a:t>1</a:t>
            </a:r>
            <a:r>
              <a:rPr kumimoji="0" lang="en-PK" altLang="en-PK" sz="1400" b="0" i="0" u="none" strike="noStrike" cap="none" normalizeH="0" baseline="0" dirty="0">
                <a:ln>
                  <a:noFill/>
                </a:ln>
                <a:solidFill>
                  <a:srgbClr val="000000"/>
                </a:solidFill>
                <a:effectLst/>
              </a:rPr>
              <a:t>, </a:t>
            </a:r>
            <a:r>
              <a:rPr kumimoji="0" lang="en-PK" altLang="en-PK" sz="1400" b="0" i="0" u="none" strike="noStrike" cap="none" normalizeH="0" baseline="0" dirty="0">
                <a:ln>
                  <a:noFill/>
                </a:ln>
                <a:solidFill>
                  <a:srgbClr val="009900"/>
                </a:solidFill>
                <a:effectLst/>
              </a:rPr>
              <a:t>2</a:t>
            </a:r>
            <a:r>
              <a:rPr kumimoji="0" lang="en-PK" altLang="en-PK" sz="1000" b="0" i="0" u="none" strike="noStrike" cap="none" normalizeH="0" baseline="0" dirty="0">
                <a:ln>
                  <a:noFill/>
                </a:ln>
                <a:solidFill>
                  <a:srgbClr val="40424E"/>
                </a:solidFill>
                <a:effectLst/>
              </a:rPr>
              <a:t> </a:t>
            </a:r>
            <a:r>
              <a:rPr kumimoji="0" lang="en-PK" altLang="en-PK" sz="1400" b="0" i="0" u="none" strike="noStrike" cap="none" normalizeH="0" baseline="0" dirty="0">
                <a:ln>
                  <a:noFill/>
                </a:ln>
                <a:solidFill>
                  <a:srgbClr val="000000"/>
                </a:solidFill>
                <a:effectLst/>
              </a:rPr>
              <a:t>}, { </a:t>
            </a:r>
            <a:r>
              <a:rPr kumimoji="0" lang="en-PK" altLang="en-PK" sz="1400" b="0" i="0" u="none" strike="noStrike" cap="none" normalizeH="0" baseline="0" dirty="0">
                <a:ln>
                  <a:noFill/>
                </a:ln>
                <a:solidFill>
                  <a:srgbClr val="009900"/>
                </a:solidFill>
                <a:effectLst/>
              </a:rPr>
              <a:t>3</a:t>
            </a:r>
            <a:r>
              <a:rPr kumimoji="0" lang="en-PK" altLang="en-PK" sz="1400" b="0" i="0" u="none" strike="noStrike" cap="none" normalizeH="0" baseline="0" dirty="0">
                <a:ln>
                  <a:noFill/>
                </a:ln>
                <a:solidFill>
                  <a:srgbClr val="000000"/>
                </a:solidFill>
                <a:effectLst/>
              </a:rPr>
              <a:t>, </a:t>
            </a:r>
            <a:r>
              <a:rPr kumimoji="0" lang="en-PK" altLang="en-PK" sz="1400" b="0" i="0" u="none" strike="noStrike" cap="none" normalizeH="0" baseline="0" dirty="0">
                <a:ln>
                  <a:noFill/>
                </a:ln>
                <a:solidFill>
                  <a:srgbClr val="009900"/>
                </a:solidFill>
                <a:effectLst/>
              </a:rPr>
              <a:t>4</a:t>
            </a:r>
            <a:r>
              <a:rPr kumimoji="0" lang="en-PK" altLang="en-PK" sz="1000" b="0" i="0" u="none" strike="noStrike" cap="none" normalizeH="0" baseline="0" dirty="0">
                <a:ln>
                  <a:noFill/>
                </a:ln>
                <a:solidFill>
                  <a:srgbClr val="40424E"/>
                </a:solidFill>
                <a:effectLst/>
              </a:rPr>
              <a:t> </a:t>
            </a:r>
            <a:r>
              <a:rPr kumimoji="0" lang="en-PK" altLang="en-PK" sz="1400" b="0" i="0" u="none" strike="noStrike" cap="none" normalizeH="0" baseline="0" dirty="0">
                <a:ln>
                  <a:noFill/>
                </a:ln>
                <a:solidFill>
                  <a:srgbClr val="000000"/>
                </a:solidFill>
                <a:effectLst/>
              </a:rPr>
              <a:t>} }; </a:t>
            </a:r>
            <a:endParaRPr kumimoji="0" lang="en-PK" altLang="en-PK"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400" b="0" i="0" u="none" strike="noStrike" cap="none" normalizeH="0" baseline="0" dirty="0">
                <a:ln>
                  <a:noFill/>
                </a:ln>
                <a:solidFill>
                  <a:srgbClr val="40424E"/>
                </a:solidFill>
                <a:effectLst/>
              </a:rPr>
              <a:t> </a:t>
            </a:r>
            <a:r>
              <a:rPr kumimoji="0" lang="en-PK" altLang="en-PK" sz="1000" b="0" i="0" u="none" strike="noStrike" cap="none" normalizeH="0" baseline="0" dirty="0">
                <a:ln>
                  <a:noFill/>
                </a:ln>
                <a:solidFill>
                  <a:srgbClr val="40424E"/>
                </a:solidFill>
                <a:effectLst/>
              </a:rPr>
              <a:t> </a:t>
            </a:r>
            <a:endParaRPr kumimoji="0" lang="en-PK" altLang="en-PK"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400" b="0" i="0" u="none" strike="noStrike" cap="none" normalizeH="0" baseline="0" dirty="0">
                <a:ln>
                  <a:noFill/>
                </a:ln>
                <a:solidFill>
                  <a:srgbClr val="40424E"/>
                </a:solidFill>
                <a:effectLst/>
              </a:rPr>
              <a:t>        </a:t>
            </a:r>
            <a:r>
              <a:rPr kumimoji="0" lang="en-PK" altLang="en-PK" sz="1400" b="0" i="0" u="none" strike="noStrike" cap="none" normalizeH="0" baseline="0" dirty="0" err="1">
                <a:ln>
                  <a:noFill/>
                </a:ln>
                <a:solidFill>
                  <a:srgbClr val="000000"/>
                </a:solidFill>
                <a:effectLst/>
              </a:rPr>
              <a:t>System.out.println</a:t>
            </a:r>
            <a:r>
              <a:rPr kumimoji="0" lang="en-PK" altLang="en-PK" sz="1400" b="0" i="0" u="none" strike="noStrike" cap="none" normalizeH="0" baseline="0" dirty="0">
                <a:ln>
                  <a:noFill/>
                </a:ln>
                <a:solidFill>
                  <a:srgbClr val="000000"/>
                </a:solidFill>
                <a:effectLst/>
              </a:rPr>
              <a:t>(</a:t>
            </a:r>
            <a:r>
              <a:rPr kumimoji="0" lang="en-PK" altLang="en-PK" sz="1400" b="0" i="0" u="none" strike="noStrike" cap="none" normalizeH="0" baseline="0" dirty="0">
                <a:ln>
                  <a:noFill/>
                </a:ln>
                <a:solidFill>
                  <a:srgbClr val="0000FF"/>
                </a:solidFill>
                <a:effectLst/>
              </a:rPr>
              <a:t>"</a:t>
            </a:r>
            <a:r>
              <a:rPr kumimoji="0" lang="en-PK" altLang="en-PK" sz="1400" b="0" i="0" u="none" strike="noStrike" cap="none" normalizeH="0" baseline="0" dirty="0" err="1">
                <a:ln>
                  <a:noFill/>
                </a:ln>
                <a:solidFill>
                  <a:srgbClr val="0000FF"/>
                </a:solidFill>
                <a:effectLst/>
              </a:rPr>
              <a:t>arr</a:t>
            </a:r>
            <a:r>
              <a:rPr kumimoji="0" lang="en-PK" altLang="en-PK" sz="1400" b="0" i="0" u="none" strike="noStrike" cap="none" normalizeH="0" baseline="0" dirty="0">
                <a:ln>
                  <a:noFill/>
                </a:ln>
                <a:solidFill>
                  <a:srgbClr val="0000FF"/>
                </a:solidFill>
                <a:effectLst/>
              </a:rPr>
              <a:t>[0][0] = "</a:t>
            </a:r>
            <a:r>
              <a:rPr kumimoji="0" lang="en-PK" altLang="en-PK" sz="1000" b="0" i="0" u="none" strike="noStrike" cap="none" normalizeH="0" baseline="0" dirty="0">
                <a:ln>
                  <a:noFill/>
                </a:ln>
                <a:solidFill>
                  <a:srgbClr val="40424E"/>
                </a:solidFill>
                <a:effectLst/>
              </a:rPr>
              <a:t> </a:t>
            </a:r>
            <a:r>
              <a:rPr kumimoji="0" lang="en-PK" altLang="en-PK" sz="1400" b="0" i="0" u="none" strike="noStrike" cap="none" normalizeH="0" baseline="0" dirty="0">
                <a:ln>
                  <a:noFill/>
                </a:ln>
                <a:solidFill>
                  <a:srgbClr val="000000"/>
                </a:solidFill>
                <a:effectLst/>
              </a:rPr>
              <a:t>+ </a:t>
            </a:r>
            <a:r>
              <a:rPr kumimoji="0" lang="en-PK" altLang="en-PK" sz="1400" b="0" i="0" u="none" strike="noStrike" cap="none" normalizeH="0" baseline="0" dirty="0" err="1">
                <a:ln>
                  <a:noFill/>
                </a:ln>
                <a:solidFill>
                  <a:srgbClr val="000000"/>
                </a:solidFill>
                <a:effectLst/>
              </a:rPr>
              <a:t>arr</a:t>
            </a:r>
            <a:r>
              <a:rPr kumimoji="0" lang="en-PK" altLang="en-PK" sz="1400" b="0" i="0" u="none" strike="noStrike" cap="none" normalizeH="0" baseline="0" dirty="0">
                <a:ln>
                  <a:noFill/>
                </a:ln>
                <a:solidFill>
                  <a:srgbClr val="000000"/>
                </a:solidFill>
                <a:effectLst/>
              </a:rPr>
              <a:t>[</a:t>
            </a:r>
            <a:r>
              <a:rPr kumimoji="0" lang="en-PK" altLang="en-PK" sz="1400" b="0" i="0" u="none" strike="noStrike" cap="none" normalizeH="0" baseline="0" dirty="0">
                <a:ln>
                  <a:noFill/>
                </a:ln>
                <a:solidFill>
                  <a:srgbClr val="009900"/>
                </a:solidFill>
                <a:effectLst/>
              </a:rPr>
              <a:t>0</a:t>
            </a:r>
            <a:r>
              <a:rPr kumimoji="0" lang="en-PK" altLang="en-PK" sz="1400" b="0" i="0" u="none" strike="noStrike" cap="none" normalizeH="0" baseline="0" dirty="0">
                <a:ln>
                  <a:noFill/>
                </a:ln>
                <a:solidFill>
                  <a:srgbClr val="000000"/>
                </a:solidFill>
                <a:effectLst/>
              </a:rPr>
              <a:t>][</a:t>
            </a:r>
            <a:r>
              <a:rPr kumimoji="0" lang="en-PK" altLang="en-PK" sz="1400" b="0" i="0" u="none" strike="noStrike" cap="none" normalizeH="0" baseline="0" dirty="0">
                <a:ln>
                  <a:noFill/>
                </a:ln>
                <a:solidFill>
                  <a:srgbClr val="009900"/>
                </a:solidFill>
                <a:effectLst/>
              </a:rPr>
              <a:t>0</a:t>
            </a:r>
            <a:r>
              <a:rPr kumimoji="0" lang="en-PK" altLang="en-PK" sz="1400" b="0" i="0" u="none" strike="noStrike" cap="none" normalizeH="0" baseline="0" dirty="0">
                <a:ln>
                  <a:noFill/>
                </a:ln>
                <a:solidFill>
                  <a:srgbClr val="000000"/>
                </a:solidFill>
                <a:effectLst/>
              </a:rPr>
              <a:t>]); </a:t>
            </a:r>
            <a:endParaRPr kumimoji="0" lang="en-PK" altLang="en-PK"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400" b="0" i="0" u="none" strike="noStrike" cap="none" normalizeH="0" baseline="0" dirty="0">
                <a:ln>
                  <a:noFill/>
                </a:ln>
                <a:solidFill>
                  <a:srgbClr val="40424E"/>
                </a:solidFill>
                <a:effectLst/>
              </a:rPr>
              <a:t>    </a:t>
            </a:r>
            <a:r>
              <a:rPr kumimoji="0" lang="en-PK" altLang="en-PK" sz="1400" b="0" i="0" u="none" strike="noStrike" cap="none" normalizeH="0" baseline="0" dirty="0">
                <a:ln>
                  <a:noFill/>
                </a:ln>
                <a:solidFill>
                  <a:srgbClr val="000000"/>
                </a:solidFill>
                <a:effectLst/>
              </a:rPr>
              <a:t>} </a:t>
            </a:r>
            <a:endParaRPr kumimoji="0" lang="en-PK" altLang="en-PK"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400" b="0" i="0" u="none" strike="noStrike" cap="none" normalizeH="0" baseline="0" dirty="0">
                <a:ln>
                  <a:noFill/>
                </a:ln>
                <a:solidFill>
                  <a:srgbClr val="000000"/>
                </a:solidFill>
                <a:effectLst/>
              </a:rPr>
              <a:t>} </a:t>
            </a:r>
            <a:endParaRPr kumimoji="0" lang="en-PK" altLang="en-PK" sz="2400" b="0" i="0" u="none" strike="noStrike" cap="none" normalizeH="0" baseline="0" dirty="0">
              <a:ln>
                <a:noFill/>
              </a:ln>
              <a:solidFill>
                <a:schemeClr val="tx1"/>
              </a:solidFill>
              <a:effectLst/>
            </a:endParaRPr>
          </a:p>
        </p:txBody>
      </p:sp>
      <p:sp>
        <p:nvSpPr>
          <p:cNvPr id="20" name="TextBox 19">
            <a:extLst>
              <a:ext uri="{FF2B5EF4-FFF2-40B4-BE49-F238E27FC236}">
                <a16:creationId xmlns:a16="http://schemas.microsoft.com/office/drawing/2014/main" id="{3DF56B40-FF84-46AC-ACC5-B865FDC1B8CF}"/>
              </a:ext>
            </a:extLst>
          </p:cNvPr>
          <p:cNvSpPr txBox="1"/>
          <p:nvPr/>
        </p:nvSpPr>
        <p:spPr>
          <a:xfrm>
            <a:off x="677826" y="5876466"/>
            <a:ext cx="6097772" cy="369332"/>
          </a:xfrm>
          <a:prstGeom prst="rect">
            <a:avLst/>
          </a:prstGeom>
          <a:noFill/>
        </p:spPr>
        <p:txBody>
          <a:bodyPr wrap="square">
            <a:spAutoFit/>
          </a:bodyPr>
          <a:lstStyle/>
          <a:p>
            <a:r>
              <a:rPr lang="en-US" b="1" i="0" dirty="0">
                <a:solidFill>
                  <a:srgbClr val="40424E"/>
                </a:solidFill>
                <a:effectLst/>
              </a:rPr>
              <a:t>Output:</a:t>
            </a:r>
            <a:endParaRPr lang="en-PK" dirty="0"/>
          </a:p>
        </p:txBody>
      </p:sp>
      <p:sp>
        <p:nvSpPr>
          <p:cNvPr id="23" name="TextBox 22">
            <a:extLst>
              <a:ext uri="{FF2B5EF4-FFF2-40B4-BE49-F238E27FC236}">
                <a16:creationId xmlns:a16="http://schemas.microsoft.com/office/drawing/2014/main" id="{D1EBCC29-9475-4314-BD68-4A80DF2480A7}"/>
              </a:ext>
            </a:extLst>
          </p:cNvPr>
          <p:cNvSpPr txBox="1"/>
          <p:nvPr/>
        </p:nvSpPr>
        <p:spPr>
          <a:xfrm>
            <a:off x="1103128" y="6177825"/>
            <a:ext cx="6097772"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800" b="0" i="0" u="none" strike="noStrike" cap="none" normalizeH="0" baseline="0" dirty="0" err="1">
                <a:ln>
                  <a:noFill/>
                </a:ln>
                <a:solidFill>
                  <a:schemeClr val="tx1"/>
                </a:solidFill>
                <a:effectLst/>
              </a:rPr>
              <a:t>arr</a:t>
            </a:r>
            <a:r>
              <a:rPr kumimoji="0" lang="en-PK" altLang="en-PK" sz="1800" b="0" i="0" u="none" strike="noStrike" cap="none" normalizeH="0" baseline="0" dirty="0">
                <a:ln>
                  <a:noFill/>
                </a:ln>
                <a:solidFill>
                  <a:schemeClr val="tx1"/>
                </a:solidFill>
                <a:effectLst/>
              </a:rPr>
              <a:t>[0][0] = 1</a:t>
            </a:r>
            <a:r>
              <a:rPr kumimoji="0" lang="en-PK" altLang="en-PK" sz="1050" b="0" i="0" u="none" strike="noStrike" cap="none" normalizeH="0" baseline="0" dirty="0">
                <a:ln>
                  <a:noFill/>
                </a:ln>
                <a:solidFill>
                  <a:schemeClr val="tx1"/>
                </a:solidFill>
                <a:effectLst/>
              </a:rPr>
              <a:t> </a:t>
            </a:r>
            <a:endParaRPr kumimoji="0" lang="en-PK" altLang="en-PK" sz="2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8673943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0EC0A53-0075-423E-ADAE-C281C0E19103}"/>
              </a:ext>
            </a:extLst>
          </p:cNvPr>
          <p:cNvSpPr txBox="1"/>
          <p:nvPr/>
        </p:nvSpPr>
        <p:spPr>
          <a:xfrm>
            <a:off x="178095" y="203422"/>
            <a:ext cx="6097772" cy="369332"/>
          </a:xfrm>
          <a:prstGeom prst="rect">
            <a:avLst/>
          </a:prstGeom>
          <a:noFill/>
        </p:spPr>
        <p:txBody>
          <a:bodyPr wrap="square">
            <a:spAutoFit/>
          </a:bodyPr>
          <a:lstStyle/>
          <a:p>
            <a:r>
              <a:rPr lang="en-US" b="1" i="0" dirty="0">
                <a:solidFill>
                  <a:srgbClr val="3A3A3A"/>
                </a:solidFill>
                <a:effectLst/>
                <a:latin typeface="Helvetica" panose="020B0604020202020204" pitchFamily="34" charset="0"/>
              </a:rPr>
              <a:t>Example of a Two-dimensional array:</a:t>
            </a:r>
            <a:endParaRPr lang="en-PK" b="1" dirty="0"/>
          </a:p>
        </p:txBody>
      </p:sp>
      <p:sp>
        <p:nvSpPr>
          <p:cNvPr id="7" name="TextBox 6">
            <a:extLst>
              <a:ext uri="{FF2B5EF4-FFF2-40B4-BE49-F238E27FC236}">
                <a16:creationId xmlns:a16="http://schemas.microsoft.com/office/drawing/2014/main" id="{D281567F-CE9D-4936-843A-1185E14B03CA}"/>
              </a:ext>
            </a:extLst>
          </p:cNvPr>
          <p:cNvSpPr txBox="1"/>
          <p:nvPr/>
        </p:nvSpPr>
        <p:spPr>
          <a:xfrm>
            <a:off x="1209454" y="698159"/>
            <a:ext cx="11187224" cy="6001643"/>
          </a:xfrm>
          <a:prstGeom prst="rect">
            <a:avLst/>
          </a:prstGeom>
          <a:noFill/>
        </p:spPr>
        <p:txBody>
          <a:bodyPr wrap="square">
            <a:spAutoFit/>
          </a:bodyPr>
          <a:lstStyle/>
          <a:p>
            <a:pPr algn="l"/>
            <a:r>
              <a:rPr lang="en-US" sz="1200" b="0" i="0" dirty="0">
                <a:solidFill>
                  <a:srgbClr val="000000"/>
                </a:solidFill>
                <a:effectLst/>
              </a:rPr>
              <a:t>public </a:t>
            </a:r>
            <a:r>
              <a:rPr lang="en-US" sz="1200" b="1" i="0" dirty="0">
                <a:solidFill>
                  <a:srgbClr val="286491"/>
                </a:solidFill>
                <a:effectLst/>
              </a:rPr>
              <a:t>class</a:t>
            </a:r>
            <a:r>
              <a:rPr lang="en-US" sz="1200" b="0" i="0" dirty="0">
                <a:solidFill>
                  <a:srgbClr val="000000"/>
                </a:solidFill>
                <a:effectLst/>
              </a:rPr>
              <a:t> </a:t>
            </a:r>
            <a:r>
              <a:rPr lang="en-US" sz="1200" b="0" i="0" dirty="0" err="1">
                <a:solidFill>
                  <a:srgbClr val="000000"/>
                </a:solidFill>
                <a:effectLst/>
              </a:rPr>
              <a:t>ExampleOfTwoDimentionalArray</a:t>
            </a:r>
            <a:r>
              <a:rPr lang="en-US" sz="1200" b="0" i="0" dirty="0">
                <a:solidFill>
                  <a:srgbClr val="000000"/>
                </a:solidFill>
                <a:effectLst/>
              </a:rPr>
              <a:t> </a:t>
            </a:r>
            <a:r>
              <a:rPr lang="en-US" sz="1200" b="0" i="0" dirty="0">
                <a:solidFill>
                  <a:srgbClr val="777777"/>
                </a:solidFill>
                <a:effectLst/>
              </a:rPr>
              <a:t>{</a:t>
            </a:r>
            <a:r>
              <a:rPr lang="en-US" sz="1200" b="0" i="0" dirty="0">
                <a:solidFill>
                  <a:srgbClr val="000000"/>
                </a:solidFill>
                <a:effectLst/>
              </a:rPr>
              <a:t> </a:t>
            </a:r>
            <a:endParaRPr lang="en-US" sz="1200" b="0" i="0" dirty="0">
              <a:solidFill>
                <a:srgbClr val="AAAAAA"/>
              </a:solidFill>
              <a:effectLst/>
            </a:endParaRPr>
          </a:p>
          <a:p>
            <a:pPr algn="l"/>
            <a:r>
              <a:rPr lang="en-US" sz="1200" b="0" i="0" dirty="0">
                <a:solidFill>
                  <a:srgbClr val="000000"/>
                </a:solidFill>
                <a:effectLst/>
              </a:rPr>
              <a:t>public static </a:t>
            </a:r>
            <a:r>
              <a:rPr lang="en-US" sz="1200" b="1" i="0" dirty="0">
                <a:solidFill>
                  <a:srgbClr val="286491"/>
                </a:solidFill>
                <a:effectLst/>
              </a:rPr>
              <a:t>void</a:t>
            </a:r>
            <a:r>
              <a:rPr lang="en-US" sz="1200" b="0" i="0" dirty="0">
                <a:solidFill>
                  <a:srgbClr val="000000"/>
                </a:solidFill>
                <a:effectLst/>
              </a:rPr>
              <a:t> </a:t>
            </a:r>
            <a:r>
              <a:rPr lang="en-US" sz="1200" b="0" i="0" dirty="0">
                <a:solidFill>
                  <a:srgbClr val="0086B3"/>
                </a:solidFill>
                <a:effectLst/>
              </a:rPr>
              <a:t>main</a:t>
            </a:r>
            <a:r>
              <a:rPr lang="en-US" sz="1200" b="0" i="0" dirty="0">
                <a:solidFill>
                  <a:srgbClr val="777777"/>
                </a:solidFill>
                <a:effectLst/>
              </a:rPr>
              <a:t>(</a:t>
            </a:r>
            <a:r>
              <a:rPr lang="en-US" sz="1200" b="0" i="0" dirty="0">
                <a:solidFill>
                  <a:srgbClr val="000000"/>
                </a:solidFill>
                <a:effectLst/>
              </a:rPr>
              <a:t>String</a:t>
            </a:r>
            <a:r>
              <a:rPr lang="en-US" sz="1200" b="0" i="0" dirty="0">
                <a:solidFill>
                  <a:srgbClr val="777777"/>
                </a:solidFill>
                <a:effectLst/>
              </a:rPr>
              <a:t>[]</a:t>
            </a:r>
            <a:r>
              <a:rPr lang="en-US" sz="1200" b="0" i="0" dirty="0">
                <a:solidFill>
                  <a:srgbClr val="000000"/>
                </a:solidFill>
                <a:effectLst/>
              </a:rPr>
              <a:t> </a:t>
            </a:r>
            <a:r>
              <a:rPr lang="en-US" sz="1200" b="0" i="0" dirty="0" err="1">
                <a:solidFill>
                  <a:srgbClr val="000000"/>
                </a:solidFill>
                <a:effectLst/>
              </a:rPr>
              <a:t>args</a:t>
            </a:r>
            <a:r>
              <a:rPr lang="en-US" sz="1200" b="0" i="0" dirty="0">
                <a:solidFill>
                  <a:srgbClr val="777777"/>
                </a:solidFill>
                <a:effectLst/>
              </a:rPr>
              <a:t>)</a:t>
            </a:r>
            <a:endParaRPr lang="en-US" sz="1200" b="0" i="0" dirty="0">
              <a:solidFill>
                <a:srgbClr val="AAAAAA"/>
              </a:solidFill>
              <a:effectLst/>
            </a:endParaRPr>
          </a:p>
          <a:p>
            <a:pPr algn="l"/>
            <a:r>
              <a:rPr lang="en-US" sz="1200" b="0" i="0" dirty="0">
                <a:solidFill>
                  <a:srgbClr val="777777"/>
                </a:solidFill>
                <a:effectLst/>
              </a:rPr>
              <a:t>{</a:t>
            </a:r>
            <a:endParaRPr lang="en-US" sz="1200" b="0" i="0" dirty="0">
              <a:solidFill>
                <a:srgbClr val="AAAAAA"/>
              </a:solidFill>
              <a:effectLst/>
            </a:endParaRPr>
          </a:p>
          <a:p>
            <a:pPr algn="l"/>
            <a:r>
              <a:rPr lang="en-US" sz="1200" b="0" i="0" dirty="0">
                <a:solidFill>
                  <a:srgbClr val="9999AA"/>
                </a:solidFill>
                <a:effectLst/>
              </a:rPr>
              <a:t>// Creation of Array with </a:t>
            </a:r>
            <a:r>
              <a:rPr lang="en-US" sz="1200" b="0" i="0" dirty="0" err="1">
                <a:solidFill>
                  <a:srgbClr val="9999AA"/>
                </a:solidFill>
                <a:effectLst/>
              </a:rPr>
              <a:t>initilization</a:t>
            </a:r>
            <a:endParaRPr lang="en-US" sz="1200" b="0" i="0" dirty="0">
              <a:solidFill>
                <a:srgbClr val="AAAAAA"/>
              </a:solidFill>
              <a:effectLst/>
            </a:endParaRPr>
          </a:p>
          <a:p>
            <a:pPr algn="l"/>
            <a:r>
              <a:rPr lang="en-US" sz="1200" b="0" i="0" dirty="0">
                <a:solidFill>
                  <a:srgbClr val="000000"/>
                </a:solidFill>
                <a:effectLst/>
              </a:rPr>
              <a:t>int</a:t>
            </a:r>
            <a:r>
              <a:rPr lang="en-US" sz="1200" b="0" i="0" dirty="0">
                <a:solidFill>
                  <a:srgbClr val="777777"/>
                </a:solidFill>
                <a:effectLst/>
              </a:rPr>
              <a:t>[][]</a:t>
            </a:r>
            <a:r>
              <a:rPr lang="en-US" sz="1200" b="0" i="0" dirty="0">
                <a:solidFill>
                  <a:srgbClr val="000000"/>
                </a:solidFill>
                <a:effectLst/>
              </a:rPr>
              <a:t> number = </a:t>
            </a:r>
            <a:r>
              <a:rPr lang="en-US" sz="1200" b="0" i="0" dirty="0">
                <a:solidFill>
                  <a:srgbClr val="777777"/>
                </a:solidFill>
                <a:effectLst/>
              </a:rPr>
              <a:t>{</a:t>
            </a:r>
            <a:endParaRPr lang="en-US" sz="1200" b="0" i="0" dirty="0">
              <a:solidFill>
                <a:srgbClr val="AAAAAA"/>
              </a:solidFill>
              <a:effectLst/>
            </a:endParaRPr>
          </a:p>
          <a:p>
            <a:pPr algn="l"/>
            <a:r>
              <a:rPr lang="en-US" sz="1200" b="0" i="0" dirty="0">
                <a:solidFill>
                  <a:srgbClr val="777777"/>
                </a:solidFill>
                <a:effectLst/>
              </a:rPr>
              <a:t>{</a:t>
            </a:r>
            <a:r>
              <a:rPr lang="en-US" sz="1200" b="0" i="0" dirty="0">
                <a:solidFill>
                  <a:srgbClr val="009999"/>
                </a:solidFill>
                <a:effectLst/>
              </a:rPr>
              <a:t>1</a:t>
            </a:r>
            <a:r>
              <a:rPr lang="en-US" sz="1200" b="0" i="0" dirty="0">
                <a:solidFill>
                  <a:srgbClr val="000000"/>
                </a:solidFill>
                <a:effectLst/>
              </a:rPr>
              <a:t>, </a:t>
            </a:r>
            <a:r>
              <a:rPr lang="en-US" sz="1200" b="0" i="0" dirty="0">
                <a:solidFill>
                  <a:srgbClr val="009999"/>
                </a:solidFill>
                <a:effectLst/>
              </a:rPr>
              <a:t>2</a:t>
            </a:r>
            <a:r>
              <a:rPr lang="en-US" sz="1200" b="0" i="0" dirty="0">
                <a:solidFill>
                  <a:srgbClr val="000000"/>
                </a:solidFill>
                <a:effectLst/>
              </a:rPr>
              <a:t>, </a:t>
            </a:r>
            <a:r>
              <a:rPr lang="en-US" sz="1200" b="0" i="0" dirty="0">
                <a:solidFill>
                  <a:srgbClr val="009999"/>
                </a:solidFill>
                <a:effectLst/>
              </a:rPr>
              <a:t>3</a:t>
            </a:r>
            <a:r>
              <a:rPr lang="en-US" sz="1200" b="0" i="0" dirty="0">
                <a:solidFill>
                  <a:srgbClr val="777777"/>
                </a:solidFill>
                <a:effectLst/>
              </a:rPr>
              <a:t>}</a:t>
            </a:r>
            <a:r>
              <a:rPr lang="en-US" sz="1200" b="0" i="0" dirty="0">
                <a:solidFill>
                  <a:srgbClr val="000000"/>
                </a:solidFill>
                <a:effectLst/>
              </a:rPr>
              <a:t>,</a:t>
            </a:r>
            <a:endParaRPr lang="en-US" sz="1200" b="0" i="0" dirty="0">
              <a:solidFill>
                <a:srgbClr val="AAAAAA"/>
              </a:solidFill>
              <a:effectLst/>
            </a:endParaRPr>
          </a:p>
          <a:p>
            <a:pPr algn="l"/>
            <a:r>
              <a:rPr lang="en-US" sz="1200" b="0" i="0" dirty="0">
                <a:solidFill>
                  <a:srgbClr val="777777"/>
                </a:solidFill>
                <a:effectLst/>
              </a:rPr>
              <a:t>{</a:t>
            </a:r>
            <a:r>
              <a:rPr lang="en-US" sz="1200" b="0" i="0" dirty="0">
                <a:solidFill>
                  <a:srgbClr val="009999"/>
                </a:solidFill>
                <a:effectLst/>
              </a:rPr>
              <a:t>4</a:t>
            </a:r>
            <a:r>
              <a:rPr lang="en-US" sz="1200" b="0" i="0" dirty="0">
                <a:solidFill>
                  <a:srgbClr val="000000"/>
                </a:solidFill>
                <a:effectLst/>
              </a:rPr>
              <a:t>, </a:t>
            </a:r>
            <a:r>
              <a:rPr lang="en-US" sz="1200" b="0" i="0" dirty="0">
                <a:solidFill>
                  <a:srgbClr val="009999"/>
                </a:solidFill>
                <a:effectLst/>
              </a:rPr>
              <a:t>5</a:t>
            </a:r>
            <a:r>
              <a:rPr lang="en-US" sz="1200" b="0" i="0" dirty="0">
                <a:solidFill>
                  <a:srgbClr val="000000"/>
                </a:solidFill>
                <a:effectLst/>
              </a:rPr>
              <a:t>, </a:t>
            </a:r>
            <a:r>
              <a:rPr lang="en-US" sz="1200" b="0" i="0" dirty="0">
                <a:solidFill>
                  <a:srgbClr val="009999"/>
                </a:solidFill>
                <a:effectLst/>
              </a:rPr>
              <a:t>6</a:t>
            </a:r>
            <a:r>
              <a:rPr lang="en-US" sz="1200" b="0" i="0" dirty="0">
                <a:solidFill>
                  <a:srgbClr val="777777"/>
                </a:solidFill>
                <a:effectLst/>
              </a:rPr>
              <a:t>}</a:t>
            </a:r>
            <a:r>
              <a:rPr lang="en-US" sz="1200" b="0" i="0" dirty="0">
                <a:solidFill>
                  <a:srgbClr val="000000"/>
                </a:solidFill>
                <a:effectLst/>
              </a:rPr>
              <a:t>,</a:t>
            </a:r>
            <a:endParaRPr lang="en-US" sz="1200" b="0" i="0" dirty="0">
              <a:solidFill>
                <a:srgbClr val="AAAAAA"/>
              </a:solidFill>
              <a:effectLst/>
            </a:endParaRPr>
          </a:p>
          <a:p>
            <a:pPr algn="l"/>
            <a:r>
              <a:rPr lang="en-US" sz="1200" b="0" i="0" dirty="0">
                <a:solidFill>
                  <a:srgbClr val="777777"/>
                </a:solidFill>
                <a:effectLst/>
              </a:rPr>
              <a:t>{</a:t>
            </a:r>
            <a:r>
              <a:rPr lang="en-US" sz="1200" b="0" i="0" dirty="0">
                <a:solidFill>
                  <a:srgbClr val="009999"/>
                </a:solidFill>
                <a:effectLst/>
              </a:rPr>
              <a:t>7</a:t>
            </a:r>
            <a:r>
              <a:rPr lang="en-US" sz="1200" b="0" i="0" dirty="0">
                <a:solidFill>
                  <a:srgbClr val="000000"/>
                </a:solidFill>
                <a:effectLst/>
              </a:rPr>
              <a:t>, </a:t>
            </a:r>
            <a:r>
              <a:rPr lang="en-US" sz="1200" b="0" i="0" dirty="0">
                <a:solidFill>
                  <a:srgbClr val="009999"/>
                </a:solidFill>
                <a:effectLst/>
              </a:rPr>
              <a:t>8</a:t>
            </a:r>
            <a:r>
              <a:rPr lang="en-US" sz="1200" b="0" i="0" dirty="0">
                <a:solidFill>
                  <a:srgbClr val="000000"/>
                </a:solidFill>
                <a:effectLst/>
              </a:rPr>
              <a:t>, </a:t>
            </a:r>
            <a:r>
              <a:rPr lang="en-US" sz="1200" b="0" i="0" dirty="0">
                <a:solidFill>
                  <a:srgbClr val="009999"/>
                </a:solidFill>
                <a:effectLst/>
              </a:rPr>
              <a:t>9</a:t>
            </a:r>
            <a:r>
              <a:rPr lang="en-US" sz="1200" b="0" i="0" dirty="0">
                <a:solidFill>
                  <a:srgbClr val="777777"/>
                </a:solidFill>
                <a:effectLst/>
              </a:rPr>
              <a:t>}</a:t>
            </a:r>
            <a:r>
              <a:rPr lang="en-US" sz="1200" b="0" i="0" dirty="0">
                <a:solidFill>
                  <a:srgbClr val="000000"/>
                </a:solidFill>
                <a:effectLst/>
              </a:rPr>
              <a:t>,</a:t>
            </a:r>
            <a:endParaRPr lang="en-US" sz="1200" b="0" i="0" dirty="0">
              <a:solidFill>
                <a:srgbClr val="AAAAAA"/>
              </a:solidFill>
              <a:effectLst/>
            </a:endParaRPr>
          </a:p>
          <a:p>
            <a:pPr algn="l"/>
            <a:r>
              <a:rPr lang="en-US" sz="1200" b="0" i="0" dirty="0">
                <a:solidFill>
                  <a:srgbClr val="777777"/>
                </a:solidFill>
                <a:effectLst/>
              </a:rPr>
              <a:t>}</a:t>
            </a:r>
            <a:r>
              <a:rPr lang="en-US" sz="1200" b="0" i="0" dirty="0">
                <a:solidFill>
                  <a:srgbClr val="000000"/>
                </a:solidFill>
                <a:effectLst/>
              </a:rPr>
              <a:t>;</a:t>
            </a:r>
            <a:endParaRPr lang="en-US" sz="1200" b="0" i="0" dirty="0">
              <a:solidFill>
                <a:srgbClr val="AAAAAA"/>
              </a:solidFill>
              <a:effectLst/>
            </a:endParaRPr>
          </a:p>
          <a:p>
            <a:pPr algn="l"/>
            <a:r>
              <a:rPr lang="en-US" sz="1200" b="0" i="0" dirty="0">
                <a:solidFill>
                  <a:srgbClr val="000000"/>
                </a:solidFill>
                <a:effectLst/>
              </a:rPr>
              <a:t>String</a:t>
            </a:r>
            <a:r>
              <a:rPr lang="en-US" sz="1200" b="0" i="0" dirty="0">
                <a:solidFill>
                  <a:srgbClr val="777777"/>
                </a:solidFill>
                <a:effectLst/>
              </a:rPr>
              <a:t>[][]</a:t>
            </a:r>
            <a:r>
              <a:rPr lang="en-US" sz="1200" b="0" i="0" dirty="0">
                <a:solidFill>
                  <a:srgbClr val="000000"/>
                </a:solidFill>
                <a:effectLst/>
              </a:rPr>
              <a:t> names = </a:t>
            </a:r>
            <a:r>
              <a:rPr lang="en-US" sz="1200" b="0" i="0" dirty="0">
                <a:solidFill>
                  <a:srgbClr val="777777"/>
                </a:solidFill>
                <a:effectLst/>
              </a:rPr>
              <a:t>{</a:t>
            </a:r>
            <a:endParaRPr lang="en-US" sz="1200" b="0" i="0" dirty="0">
              <a:solidFill>
                <a:srgbClr val="AAAAAA"/>
              </a:solidFill>
              <a:effectLst/>
            </a:endParaRPr>
          </a:p>
          <a:p>
            <a:pPr algn="l"/>
            <a:r>
              <a:rPr lang="en-US" sz="1200" b="0" i="0" dirty="0">
                <a:solidFill>
                  <a:srgbClr val="777777"/>
                </a:solidFill>
                <a:effectLst/>
              </a:rPr>
              <a:t>{</a:t>
            </a:r>
            <a:r>
              <a:rPr lang="en-US" sz="1200" b="0" i="0" dirty="0">
                <a:solidFill>
                  <a:srgbClr val="DD1144"/>
                </a:solidFill>
                <a:effectLst/>
              </a:rPr>
              <a:t>"Hello1"</a:t>
            </a:r>
            <a:r>
              <a:rPr lang="en-US" sz="1200" b="0" i="0" dirty="0">
                <a:solidFill>
                  <a:srgbClr val="000000"/>
                </a:solidFill>
                <a:effectLst/>
              </a:rPr>
              <a:t>, </a:t>
            </a:r>
            <a:r>
              <a:rPr lang="en-US" sz="1200" b="0" i="0" dirty="0">
                <a:solidFill>
                  <a:srgbClr val="DD1144"/>
                </a:solidFill>
                <a:effectLst/>
              </a:rPr>
              <a:t>"Hello2"</a:t>
            </a:r>
            <a:r>
              <a:rPr lang="en-US" sz="1200" b="0" i="0" dirty="0">
                <a:solidFill>
                  <a:srgbClr val="000000"/>
                </a:solidFill>
                <a:effectLst/>
              </a:rPr>
              <a:t>, </a:t>
            </a:r>
            <a:r>
              <a:rPr lang="en-US" sz="1200" b="0" i="0" dirty="0">
                <a:solidFill>
                  <a:srgbClr val="DD1144"/>
                </a:solidFill>
                <a:effectLst/>
              </a:rPr>
              <a:t>"Hello3"</a:t>
            </a:r>
            <a:r>
              <a:rPr lang="en-US" sz="1200" b="0" i="0" dirty="0">
                <a:solidFill>
                  <a:srgbClr val="777777"/>
                </a:solidFill>
                <a:effectLst/>
              </a:rPr>
              <a:t>}</a:t>
            </a:r>
            <a:r>
              <a:rPr lang="en-US" sz="1200" b="0" i="0" dirty="0">
                <a:solidFill>
                  <a:srgbClr val="000000"/>
                </a:solidFill>
                <a:effectLst/>
              </a:rPr>
              <a:t>,</a:t>
            </a:r>
            <a:endParaRPr lang="en-US" sz="1200" b="0" i="0" dirty="0">
              <a:solidFill>
                <a:srgbClr val="AAAAAA"/>
              </a:solidFill>
              <a:effectLst/>
            </a:endParaRPr>
          </a:p>
          <a:p>
            <a:pPr algn="l"/>
            <a:r>
              <a:rPr lang="en-US" sz="1200" b="0" i="0" dirty="0">
                <a:solidFill>
                  <a:srgbClr val="777777"/>
                </a:solidFill>
                <a:effectLst/>
              </a:rPr>
              <a:t>{</a:t>
            </a:r>
            <a:r>
              <a:rPr lang="en-US" sz="1200" b="0" i="0" dirty="0">
                <a:solidFill>
                  <a:srgbClr val="DD1144"/>
                </a:solidFill>
                <a:effectLst/>
              </a:rPr>
              <a:t>"Hello4"</a:t>
            </a:r>
            <a:r>
              <a:rPr lang="en-US" sz="1200" b="0" i="0" dirty="0">
                <a:solidFill>
                  <a:srgbClr val="000000"/>
                </a:solidFill>
                <a:effectLst/>
              </a:rPr>
              <a:t>,</a:t>
            </a:r>
            <a:r>
              <a:rPr lang="en-US" sz="1200" b="0" i="0" dirty="0">
                <a:solidFill>
                  <a:srgbClr val="DD1144"/>
                </a:solidFill>
                <a:effectLst/>
              </a:rPr>
              <a:t>"Hello5"</a:t>
            </a:r>
            <a:r>
              <a:rPr lang="en-US" sz="1200" b="0" i="0" dirty="0">
                <a:solidFill>
                  <a:srgbClr val="000000"/>
                </a:solidFill>
                <a:effectLst/>
              </a:rPr>
              <a:t>, </a:t>
            </a:r>
            <a:r>
              <a:rPr lang="en-US" sz="1200" b="0" i="0" dirty="0">
                <a:solidFill>
                  <a:srgbClr val="DD1144"/>
                </a:solidFill>
                <a:effectLst/>
              </a:rPr>
              <a:t>"Hello6"</a:t>
            </a:r>
            <a:r>
              <a:rPr lang="en-US" sz="1200" b="0" i="0" dirty="0">
                <a:solidFill>
                  <a:srgbClr val="777777"/>
                </a:solidFill>
                <a:effectLst/>
              </a:rPr>
              <a:t>}</a:t>
            </a:r>
            <a:r>
              <a:rPr lang="en-US" sz="1200" b="0" i="0" dirty="0">
                <a:solidFill>
                  <a:srgbClr val="000000"/>
                </a:solidFill>
                <a:effectLst/>
              </a:rPr>
              <a:t>,</a:t>
            </a:r>
            <a:endParaRPr lang="en-US" sz="1200" b="0" i="0" dirty="0">
              <a:solidFill>
                <a:srgbClr val="AAAAAA"/>
              </a:solidFill>
              <a:effectLst/>
            </a:endParaRPr>
          </a:p>
          <a:p>
            <a:pPr algn="l"/>
            <a:r>
              <a:rPr lang="en-US" sz="1200" b="0" i="0" dirty="0">
                <a:solidFill>
                  <a:srgbClr val="777777"/>
                </a:solidFill>
                <a:effectLst/>
              </a:rPr>
              <a:t>{</a:t>
            </a:r>
            <a:r>
              <a:rPr lang="en-US" sz="1200" b="0" i="0" dirty="0">
                <a:solidFill>
                  <a:srgbClr val="DD1144"/>
                </a:solidFill>
                <a:effectLst/>
              </a:rPr>
              <a:t>"Hello7"</a:t>
            </a:r>
            <a:r>
              <a:rPr lang="en-US" sz="1200" b="0" i="0" dirty="0">
                <a:solidFill>
                  <a:srgbClr val="000000"/>
                </a:solidFill>
                <a:effectLst/>
              </a:rPr>
              <a:t>, </a:t>
            </a:r>
            <a:r>
              <a:rPr lang="en-US" sz="1200" b="0" i="0" dirty="0">
                <a:solidFill>
                  <a:srgbClr val="DD1144"/>
                </a:solidFill>
                <a:effectLst/>
              </a:rPr>
              <a:t>"Hello8"</a:t>
            </a:r>
            <a:r>
              <a:rPr lang="en-US" sz="1200" b="0" i="0" dirty="0">
                <a:solidFill>
                  <a:srgbClr val="000000"/>
                </a:solidFill>
                <a:effectLst/>
              </a:rPr>
              <a:t>, </a:t>
            </a:r>
            <a:r>
              <a:rPr lang="en-US" sz="1200" b="0" i="0" dirty="0">
                <a:solidFill>
                  <a:srgbClr val="DD1144"/>
                </a:solidFill>
                <a:effectLst/>
              </a:rPr>
              <a:t>"Hello9"</a:t>
            </a:r>
            <a:r>
              <a:rPr lang="en-US" sz="1200" b="0" i="0" dirty="0">
                <a:solidFill>
                  <a:srgbClr val="777777"/>
                </a:solidFill>
                <a:effectLst/>
              </a:rPr>
              <a:t>}</a:t>
            </a:r>
            <a:r>
              <a:rPr lang="en-US" sz="1200" b="0" i="0" dirty="0">
                <a:solidFill>
                  <a:srgbClr val="000000"/>
                </a:solidFill>
                <a:effectLst/>
              </a:rPr>
              <a:t>,</a:t>
            </a:r>
            <a:endParaRPr lang="en-US" sz="1200" b="0" i="0" dirty="0">
              <a:solidFill>
                <a:srgbClr val="AAAAAA"/>
              </a:solidFill>
              <a:effectLst/>
            </a:endParaRPr>
          </a:p>
          <a:p>
            <a:pPr algn="l"/>
            <a:r>
              <a:rPr lang="en-US" sz="1200" b="0" i="0" dirty="0">
                <a:solidFill>
                  <a:srgbClr val="777777"/>
                </a:solidFill>
                <a:effectLst/>
              </a:rPr>
              <a:t>}</a:t>
            </a:r>
            <a:r>
              <a:rPr lang="en-US" sz="1200" b="0" i="0" dirty="0">
                <a:solidFill>
                  <a:srgbClr val="000000"/>
                </a:solidFill>
                <a:effectLst/>
              </a:rPr>
              <a:t>;</a:t>
            </a:r>
            <a:endParaRPr lang="en-US" sz="1200" b="0" i="0" dirty="0">
              <a:solidFill>
                <a:srgbClr val="AAAAAA"/>
              </a:solidFill>
              <a:effectLst/>
            </a:endParaRPr>
          </a:p>
          <a:p>
            <a:pPr algn="l"/>
            <a:r>
              <a:rPr lang="en-US" sz="1200" b="0" i="0" dirty="0">
                <a:solidFill>
                  <a:srgbClr val="9999AA"/>
                </a:solidFill>
                <a:effectLst/>
              </a:rPr>
              <a:t>// You can </a:t>
            </a:r>
            <a:r>
              <a:rPr lang="en-US" sz="1200" b="0" i="0" dirty="0" err="1">
                <a:solidFill>
                  <a:srgbClr val="9999AA"/>
                </a:solidFill>
                <a:effectLst/>
              </a:rPr>
              <a:t>initilize</a:t>
            </a:r>
            <a:r>
              <a:rPr lang="en-US" sz="1200" b="0" i="0" dirty="0">
                <a:solidFill>
                  <a:srgbClr val="9999AA"/>
                </a:solidFill>
                <a:effectLst/>
              </a:rPr>
              <a:t> the Array in another way</a:t>
            </a:r>
            <a:endParaRPr lang="en-US" sz="1200" b="0" i="0" dirty="0">
              <a:solidFill>
                <a:srgbClr val="AAAAAA"/>
              </a:solidFill>
              <a:effectLst/>
            </a:endParaRPr>
          </a:p>
          <a:p>
            <a:pPr algn="l"/>
            <a:r>
              <a:rPr lang="en-US" sz="1200" b="0" i="0" dirty="0">
                <a:solidFill>
                  <a:srgbClr val="9999AA"/>
                </a:solidFill>
                <a:effectLst/>
              </a:rPr>
              <a:t>/*</a:t>
            </a:r>
            <a:endParaRPr lang="en-US" sz="1200" b="0" i="0" dirty="0">
              <a:solidFill>
                <a:srgbClr val="AAAAAA"/>
              </a:solidFill>
              <a:effectLst/>
            </a:endParaRPr>
          </a:p>
          <a:p>
            <a:pPr algn="l"/>
            <a:r>
              <a:rPr lang="en-US" sz="1200" b="0" i="0" dirty="0">
                <a:solidFill>
                  <a:srgbClr val="9999AA"/>
                </a:solidFill>
                <a:effectLst/>
              </a:rPr>
              <a:t>* int[][] number = new int[] { {1, 2, 3}, {4, 5, 6}, {7, 8, 9}, }; String[][]</a:t>
            </a:r>
            <a:endParaRPr lang="en-US" sz="1200" b="0" i="0" dirty="0">
              <a:solidFill>
                <a:srgbClr val="AAAAAA"/>
              </a:solidFill>
              <a:effectLst/>
            </a:endParaRPr>
          </a:p>
          <a:p>
            <a:pPr algn="l"/>
            <a:r>
              <a:rPr lang="en-US" sz="1200" b="0" i="0" dirty="0">
                <a:solidFill>
                  <a:srgbClr val="9999AA"/>
                </a:solidFill>
                <a:effectLst/>
              </a:rPr>
              <a:t>* names = { {"Hello1", "Hello2", "Hello3"}, {"Hello4","Hello5", "Hello6"},</a:t>
            </a:r>
            <a:endParaRPr lang="en-US" sz="1200" b="0" i="0" dirty="0">
              <a:solidFill>
                <a:srgbClr val="AAAAAA"/>
              </a:solidFill>
              <a:effectLst/>
            </a:endParaRPr>
          </a:p>
          <a:p>
            <a:pPr algn="l"/>
            <a:r>
              <a:rPr lang="en-US" sz="1200" b="0" i="0" dirty="0">
                <a:solidFill>
                  <a:srgbClr val="9999AA"/>
                </a:solidFill>
                <a:effectLst/>
              </a:rPr>
              <a:t>* {"Hello7", "Hello8", "Hello9"}, };</a:t>
            </a:r>
            <a:endParaRPr lang="en-US" sz="1200" b="0" i="0" dirty="0">
              <a:solidFill>
                <a:srgbClr val="AAAAAA"/>
              </a:solidFill>
              <a:effectLst/>
            </a:endParaRPr>
          </a:p>
          <a:p>
            <a:pPr algn="l"/>
            <a:r>
              <a:rPr lang="en-US" sz="1200" b="0" i="0" dirty="0">
                <a:solidFill>
                  <a:srgbClr val="9999AA"/>
                </a:solidFill>
                <a:effectLst/>
              </a:rPr>
              <a:t>*/</a:t>
            </a:r>
            <a:endParaRPr lang="en-US" sz="1200" b="0" i="0" dirty="0">
              <a:solidFill>
                <a:srgbClr val="AAAAAA"/>
              </a:solidFill>
              <a:effectLst/>
            </a:endParaRPr>
          </a:p>
          <a:p>
            <a:pPr algn="l"/>
            <a:r>
              <a:rPr lang="en-US" sz="1200" b="0" i="0" dirty="0">
                <a:solidFill>
                  <a:srgbClr val="9999AA"/>
                </a:solidFill>
                <a:effectLst/>
              </a:rPr>
              <a:t>// Accessing of Array</a:t>
            </a:r>
            <a:endParaRPr lang="en-US" sz="1200" b="0" i="0" dirty="0">
              <a:solidFill>
                <a:srgbClr val="AAAAAA"/>
              </a:solidFill>
              <a:effectLst/>
            </a:endParaRPr>
          </a:p>
          <a:p>
            <a:pPr algn="l"/>
            <a:r>
              <a:rPr lang="en-US" sz="1200" b="1" i="0" dirty="0">
                <a:solidFill>
                  <a:srgbClr val="286491"/>
                </a:solidFill>
                <a:effectLst/>
              </a:rPr>
              <a:t>for</a:t>
            </a:r>
            <a:r>
              <a:rPr lang="en-US" sz="1200" b="0" i="0" dirty="0">
                <a:solidFill>
                  <a:srgbClr val="777777"/>
                </a:solidFill>
                <a:effectLst/>
              </a:rPr>
              <a:t>(</a:t>
            </a:r>
            <a:r>
              <a:rPr lang="en-US" sz="1200" b="0" i="0" dirty="0">
                <a:solidFill>
                  <a:srgbClr val="000000"/>
                </a:solidFill>
                <a:effectLst/>
              </a:rPr>
              <a:t>int </a:t>
            </a:r>
            <a:r>
              <a:rPr lang="en-US" sz="1200" b="0" i="0" dirty="0" err="1">
                <a:solidFill>
                  <a:srgbClr val="000000"/>
                </a:solidFill>
                <a:effectLst/>
              </a:rPr>
              <a:t>i</a:t>
            </a:r>
            <a:r>
              <a:rPr lang="en-US" sz="1200" b="0" i="0" dirty="0">
                <a:solidFill>
                  <a:srgbClr val="000000"/>
                </a:solidFill>
                <a:effectLst/>
              </a:rPr>
              <a:t> = </a:t>
            </a:r>
            <a:r>
              <a:rPr lang="en-US" sz="1200" b="0" i="0" dirty="0">
                <a:solidFill>
                  <a:srgbClr val="009999"/>
                </a:solidFill>
                <a:effectLst/>
              </a:rPr>
              <a:t>0</a:t>
            </a:r>
            <a:r>
              <a:rPr lang="en-US" sz="1200" b="0" i="0" dirty="0">
                <a:solidFill>
                  <a:srgbClr val="000000"/>
                </a:solidFill>
                <a:effectLst/>
              </a:rPr>
              <a:t>; </a:t>
            </a:r>
            <a:r>
              <a:rPr lang="en-US" sz="1200" b="0" i="0" dirty="0" err="1">
                <a:solidFill>
                  <a:srgbClr val="000000"/>
                </a:solidFill>
                <a:effectLst/>
              </a:rPr>
              <a:t>i</a:t>
            </a:r>
            <a:r>
              <a:rPr lang="en-US" sz="1200" b="0" i="0" dirty="0">
                <a:solidFill>
                  <a:srgbClr val="000000"/>
                </a:solidFill>
                <a:effectLst/>
              </a:rPr>
              <a:t> </a:t>
            </a:r>
            <a:r>
              <a:rPr lang="en-US" sz="1200" b="0" i="0" dirty="0">
                <a:solidFill>
                  <a:srgbClr val="777777"/>
                </a:solidFill>
                <a:effectLst/>
              </a:rPr>
              <a:t>&lt;</a:t>
            </a:r>
            <a:r>
              <a:rPr lang="en-US" sz="1200" b="0" i="0" dirty="0">
                <a:solidFill>
                  <a:srgbClr val="000000"/>
                </a:solidFill>
                <a:effectLst/>
              </a:rPr>
              <a:t> </a:t>
            </a:r>
            <a:r>
              <a:rPr lang="en-US" sz="1200" b="0" i="0" dirty="0">
                <a:solidFill>
                  <a:srgbClr val="009999"/>
                </a:solidFill>
                <a:effectLst/>
              </a:rPr>
              <a:t>3</a:t>
            </a:r>
            <a:r>
              <a:rPr lang="en-US" sz="1200" b="0" i="0" dirty="0">
                <a:solidFill>
                  <a:srgbClr val="000000"/>
                </a:solidFill>
                <a:effectLst/>
              </a:rPr>
              <a:t>; </a:t>
            </a:r>
            <a:r>
              <a:rPr lang="en-US" sz="1200" b="0" i="0" dirty="0" err="1">
                <a:solidFill>
                  <a:srgbClr val="000000"/>
                </a:solidFill>
                <a:effectLst/>
              </a:rPr>
              <a:t>i</a:t>
            </a:r>
            <a:r>
              <a:rPr lang="en-US" sz="1200" b="0" i="0" dirty="0">
                <a:solidFill>
                  <a:srgbClr val="000000"/>
                </a:solidFill>
                <a:effectLst/>
              </a:rPr>
              <a:t>++</a:t>
            </a:r>
            <a:r>
              <a:rPr lang="en-US" sz="1200" b="0" i="0" dirty="0">
                <a:solidFill>
                  <a:srgbClr val="777777"/>
                </a:solidFill>
                <a:effectLst/>
              </a:rPr>
              <a:t>)</a:t>
            </a:r>
            <a:endParaRPr lang="en-US" sz="1200" b="0" i="0" dirty="0">
              <a:solidFill>
                <a:srgbClr val="AAAAAA"/>
              </a:solidFill>
              <a:effectLst/>
            </a:endParaRPr>
          </a:p>
          <a:p>
            <a:pPr algn="l"/>
            <a:r>
              <a:rPr lang="en-US" sz="1200" b="0" i="0" dirty="0">
                <a:solidFill>
                  <a:srgbClr val="777777"/>
                </a:solidFill>
                <a:effectLst/>
              </a:rPr>
              <a:t>{</a:t>
            </a:r>
            <a:endParaRPr lang="en-US" sz="1200" b="0" i="0" dirty="0">
              <a:solidFill>
                <a:srgbClr val="444444"/>
              </a:solidFill>
              <a:effectLst/>
            </a:endParaRPr>
          </a:p>
          <a:p>
            <a:pPr algn="l"/>
            <a:r>
              <a:rPr lang="en-US" sz="1200" b="1" i="0" dirty="0">
                <a:solidFill>
                  <a:srgbClr val="286491"/>
                </a:solidFill>
                <a:effectLst/>
              </a:rPr>
              <a:t>for</a:t>
            </a:r>
            <a:r>
              <a:rPr lang="en-US" sz="1200" b="0" i="0" dirty="0">
                <a:solidFill>
                  <a:srgbClr val="777777"/>
                </a:solidFill>
                <a:effectLst/>
              </a:rPr>
              <a:t>(</a:t>
            </a:r>
            <a:r>
              <a:rPr lang="en-US" sz="1200" b="0" i="0" dirty="0">
                <a:solidFill>
                  <a:srgbClr val="000000"/>
                </a:solidFill>
                <a:effectLst/>
              </a:rPr>
              <a:t>int j = </a:t>
            </a:r>
            <a:r>
              <a:rPr lang="en-US" sz="1200" b="0" i="0" dirty="0">
                <a:solidFill>
                  <a:srgbClr val="009999"/>
                </a:solidFill>
                <a:effectLst/>
              </a:rPr>
              <a:t>0</a:t>
            </a:r>
            <a:r>
              <a:rPr lang="en-US" sz="1200" b="0" i="0" dirty="0">
                <a:solidFill>
                  <a:srgbClr val="000000"/>
                </a:solidFill>
                <a:effectLst/>
              </a:rPr>
              <a:t>; j </a:t>
            </a:r>
            <a:r>
              <a:rPr lang="en-US" sz="1200" b="0" i="0" dirty="0">
                <a:solidFill>
                  <a:srgbClr val="777777"/>
                </a:solidFill>
                <a:effectLst/>
              </a:rPr>
              <a:t>&lt;</a:t>
            </a:r>
            <a:r>
              <a:rPr lang="en-US" sz="1200" b="0" i="0" dirty="0">
                <a:solidFill>
                  <a:srgbClr val="000000"/>
                </a:solidFill>
                <a:effectLst/>
              </a:rPr>
              <a:t> </a:t>
            </a:r>
            <a:r>
              <a:rPr lang="en-US" sz="1200" b="0" i="0" dirty="0">
                <a:solidFill>
                  <a:srgbClr val="009999"/>
                </a:solidFill>
                <a:effectLst/>
              </a:rPr>
              <a:t>3</a:t>
            </a:r>
            <a:r>
              <a:rPr lang="en-US" sz="1200" b="0" i="0" dirty="0">
                <a:solidFill>
                  <a:srgbClr val="000000"/>
                </a:solidFill>
                <a:effectLst/>
              </a:rPr>
              <a:t>; </a:t>
            </a:r>
            <a:r>
              <a:rPr lang="en-US" sz="1200" b="0" i="0" dirty="0" err="1">
                <a:solidFill>
                  <a:srgbClr val="000000"/>
                </a:solidFill>
                <a:effectLst/>
              </a:rPr>
              <a:t>j++</a:t>
            </a:r>
            <a:r>
              <a:rPr lang="en-US" sz="1200" b="0" i="0" dirty="0">
                <a:solidFill>
                  <a:srgbClr val="777777"/>
                </a:solidFill>
                <a:effectLst/>
              </a:rPr>
              <a:t>)</a:t>
            </a:r>
            <a:endParaRPr lang="en-US" sz="1200" b="0" i="0" dirty="0">
              <a:solidFill>
                <a:srgbClr val="AAAAAA"/>
              </a:solidFill>
              <a:effectLst/>
            </a:endParaRPr>
          </a:p>
          <a:p>
            <a:pPr algn="l"/>
            <a:r>
              <a:rPr lang="en-US" sz="1200" b="0" i="0" dirty="0">
                <a:solidFill>
                  <a:srgbClr val="777777"/>
                </a:solidFill>
                <a:effectLst/>
              </a:rPr>
              <a:t>{</a:t>
            </a:r>
            <a:endParaRPr lang="en-US" sz="1200" b="0" i="0" dirty="0">
              <a:solidFill>
                <a:srgbClr val="AAAAAA"/>
              </a:solidFill>
              <a:effectLst/>
            </a:endParaRPr>
          </a:p>
          <a:p>
            <a:pPr algn="l"/>
            <a:r>
              <a:rPr lang="en-US" sz="1200" b="0" i="0" dirty="0" err="1">
                <a:solidFill>
                  <a:srgbClr val="000000"/>
                </a:solidFill>
                <a:effectLst/>
              </a:rPr>
              <a:t>System.</a:t>
            </a:r>
            <a:r>
              <a:rPr lang="en-US" sz="1200" b="0" i="0" dirty="0" err="1">
                <a:solidFill>
                  <a:srgbClr val="0086B3"/>
                </a:solidFill>
                <a:effectLst/>
              </a:rPr>
              <a:t>out</a:t>
            </a:r>
            <a:r>
              <a:rPr lang="en-US" sz="1200" b="0" i="0" dirty="0" err="1">
                <a:solidFill>
                  <a:srgbClr val="000000"/>
                </a:solidFill>
                <a:effectLst/>
              </a:rPr>
              <a:t>.</a:t>
            </a:r>
            <a:r>
              <a:rPr lang="en-US" sz="1200" b="0" i="0" dirty="0" err="1">
                <a:solidFill>
                  <a:srgbClr val="0086B3"/>
                </a:solidFill>
                <a:effectLst/>
              </a:rPr>
              <a:t>println</a:t>
            </a:r>
            <a:r>
              <a:rPr lang="en-US" sz="1200" b="0" i="0" dirty="0">
                <a:solidFill>
                  <a:srgbClr val="777777"/>
                </a:solidFill>
                <a:effectLst/>
              </a:rPr>
              <a:t>(</a:t>
            </a:r>
            <a:r>
              <a:rPr lang="en-US" sz="1200" b="0" i="0" dirty="0">
                <a:solidFill>
                  <a:srgbClr val="000000"/>
                </a:solidFill>
                <a:effectLst/>
              </a:rPr>
              <a:t>number</a:t>
            </a:r>
            <a:r>
              <a:rPr lang="en-US" sz="1200" b="0" i="0" dirty="0">
                <a:solidFill>
                  <a:srgbClr val="777777"/>
                </a:solidFill>
                <a:effectLst/>
              </a:rPr>
              <a:t>[</a:t>
            </a:r>
            <a:r>
              <a:rPr lang="en-US" sz="1200" b="0" i="0" dirty="0" err="1">
                <a:solidFill>
                  <a:srgbClr val="000000"/>
                </a:solidFill>
                <a:effectLst/>
              </a:rPr>
              <a:t>i</a:t>
            </a:r>
            <a:r>
              <a:rPr lang="en-US" sz="1200" b="0" i="0" dirty="0">
                <a:solidFill>
                  <a:srgbClr val="777777"/>
                </a:solidFill>
                <a:effectLst/>
              </a:rPr>
              <a:t>][</a:t>
            </a:r>
            <a:r>
              <a:rPr lang="en-US" sz="1200" b="0" i="0" dirty="0">
                <a:solidFill>
                  <a:srgbClr val="000000"/>
                </a:solidFill>
                <a:effectLst/>
              </a:rPr>
              <a:t>j</a:t>
            </a:r>
            <a:r>
              <a:rPr lang="en-US" sz="1200" b="0" i="0" dirty="0">
                <a:solidFill>
                  <a:srgbClr val="777777"/>
                </a:solidFill>
                <a:effectLst/>
              </a:rPr>
              <a:t>])</a:t>
            </a:r>
            <a:r>
              <a:rPr lang="en-US" sz="1200" b="0" i="0" dirty="0">
                <a:solidFill>
                  <a:srgbClr val="000000"/>
                </a:solidFill>
                <a:effectLst/>
              </a:rPr>
              <a:t>;</a:t>
            </a:r>
            <a:endParaRPr lang="en-US" sz="1200" b="0" i="0" dirty="0">
              <a:solidFill>
                <a:srgbClr val="AAAAAA"/>
              </a:solidFill>
              <a:effectLst/>
            </a:endParaRPr>
          </a:p>
          <a:p>
            <a:pPr algn="l"/>
            <a:r>
              <a:rPr lang="en-US" sz="1200" b="0" i="0" dirty="0" err="1">
                <a:solidFill>
                  <a:srgbClr val="000000"/>
                </a:solidFill>
                <a:effectLst/>
              </a:rPr>
              <a:t>System.</a:t>
            </a:r>
            <a:r>
              <a:rPr lang="en-US" sz="1200" b="0" i="0" dirty="0" err="1">
                <a:solidFill>
                  <a:srgbClr val="0086B3"/>
                </a:solidFill>
                <a:effectLst/>
              </a:rPr>
              <a:t>out</a:t>
            </a:r>
            <a:r>
              <a:rPr lang="en-US" sz="1200" b="0" i="0" dirty="0" err="1">
                <a:solidFill>
                  <a:srgbClr val="000000"/>
                </a:solidFill>
                <a:effectLst/>
              </a:rPr>
              <a:t>.</a:t>
            </a:r>
            <a:r>
              <a:rPr lang="en-US" sz="1200" b="0" i="0" dirty="0" err="1">
                <a:solidFill>
                  <a:srgbClr val="0086B3"/>
                </a:solidFill>
                <a:effectLst/>
              </a:rPr>
              <a:t>println</a:t>
            </a:r>
            <a:r>
              <a:rPr lang="en-US" sz="1200" b="0" i="0" dirty="0">
                <a:solidFill>
                  <a:srgbClr val="777777"/>
                </a:solidFill>
                <a:effectLst/>
              </a:rPr>
              <a:t>(</a:t>
            </a:r>
            <a:r>
              <a:rPr lang="en-US" sz="1200" b="0" i="0" dirty="0">
                <a:solidFill>
                  <a:srgbClr val="000000"/>
                </a:solidFill>
                <a:effectLst/>
              </a:rPr>
              <a:t>names</a:t>
            </a:r>
            <a:r>
              <a:rPr lang="en-US" sz="1200" b="0" i="0" dirty="0">
                <a:solidFill>
                  <a:srgbClr val="777777"/>
                </a:solidFill>
                <a:effectLst/>
              </a:rPr>
              <a:t>[</a:t>
            </a:r>
            <a:r>
              <a:rPr lang="en-US" sz="1200" b="0" i="0" dirty="0" err="1">
                <a:solidFill>
                  <a:srgbClr val="000000"/>
                </a:solidFill>
                <a:effectLst/>
              </a:rPr>
              <a:t>i</a:t>
            </a:r>
            <a:r>
              <a:rPr lang="en-US" sz="1200" b="0" i="0" dirty="0">
                <a:solidFill>
                  <a:srgbClr val="777777"/>
                </a:solidFill>
                <a:effectLst/>
              </a:rPr>
              <a:t>][</a:t>
            </a:r>
            <a:r>
              <a:rPr lang="en-US" sz="1200" b="0" i="0" dirty="0">
                <a:solidFill>
                  <a:srgbClr val="000000"/>
                </a:solidFill>
                <a:effectLst/>
              </a:rPr>
              <a:t>j</a:t>
            </a:r>
            <a:r>
              <a:rPr lang="en-US" sz="1200" b="0" i="0" dirty="0">
                <a:solidFill>
                  <a:srgbClr val="777777"/>
                </a:solidFill>
                <a:effectLst/>
              </a:rPr>
              <a:t>])</a:t>
            </a:r>
            <a:r>
              <a:rPr lang="en-US" sz="1200" b="0" i="0" dirty="0">
                <a:solidFill>
                  <a:srgbClr val="000000"/>
                </a:solidFill>
                <a:effectLst/>
              </a:rPr>
              <a:t>;</a:t>
            </a:r>
            <a:endParaRPr lang="en-US" sz="1200" b="0" i="0" dirty="0">
              <a:solidFill>
                <a:srgbClr val="AAAAAA"/>
              </a:solidFill>
              <a:effectLst/>
            </a:endParaRPr>
          </a:p>
          <a:p>
            <a:pPr algn="l"/>
            <a:r>
              <a:rPr lang="en-US" sz="1200" b="0" i="0" dirty="0">
                <a:solidFill>
                  <a:srgbClr val="777777"/>
                </a:solidFill>
                <a:effectLst/>
              </a:rPr>
              <a:t>}</a:t>
            </a:r>
            <a:endParaRPr lang="en-US" sz="1200" b="0" i="0" dirty="0">
              <a:solidFill>
                <a:srgbClr val="AAAAAA"/>
              </a:solidFill>
              <a:effectLst/>
            </a:endParaRPr>
          </a:p>
          <a:p>
            <a:pPr algn="l"/>
            <a:r>
              <a:rPr lang="en-US" sz="1200" b="0" i="0" dirty="0">
                <a:solidFill>
                  <a:srgbClr val="777777"/>
                </a:solidFill>
                <a:effectLst/>
              </a:rPr>
              <a:t>}</a:t>
            </a:r>
            <a:endParaRPr lang="en-US" sz="1200" b="0" i="0" dirty="0">
              <a:solidFill>
                <a:srgbClr val="AAAAAA"/>
              </a:solidFill>
              <a:effectLst/>
            </a:endParaRPr>
          </a:p>
          <a:p>
            <a:pPr algn="l"/>
            <a:r>
              <a:rPr lang="en-US" sz="1200" b="0" i="0" dirty="0">
                <a:solidFill>
                  <a:srgbClr val="777777"/>
                </a:solidFill>
                <a:effectLst/>
              </a:rPr>
              <a:t>}</a:t>
            </a:r>
            <a:r>
              <a:rPr lang="en-US" sz="1200" b="0" i="0" dirty="0">
                <a:solidFill>
                  <a:srgbClr val="000000"/>
                </a:solidFill>
                <a:effectLst/>
              </a:rPr>
              <a:t> </a:t>
            </a:r>
            <a:endParaRPr lang="en-US" sz="1200" b="0" i="0" dirty="0">
              <a:solidFill>
                <a:srgbClr val="AAAAAA"/>
              </a:solidFill>
              <a:effectLst/>
            </a:endParaRPr>
          </a:p>
          <a:p>
            <a:pPr algn="l"/>
            <a:r>
              <a:rPr lang="en-US" sz="1200" b="0" i="0" dirty="0">
                <a:solidFill>
                  <a:srgbClr val="777777"/>
                </a:solidFill>
                <a:effectLst/>
              </a:rPr>
              <a:t>}</a:t>
            </a:r>
            <a:r>
              <a:rPr lang="en-US" sz="1200" b="0" i="0" dirty="0">
                <a:solidFill>
                  <a:srgbClr val="000000"/>
                </a:solidFill>
                <a:effectLst/>
              </a:rPr>
              <a:t> </a:t>
            </a:r>
            <a:endParaRPr lang="en-US" sz="1200" b="0" i="0" dirty="0">
              <a:solidFill>
                <a:srgbClr val="AAAAAA"/>
              </a:solidFill>
              <a:effectLst/>
            </a:endParaRPr>
          </a:p>
        </p:txBody>
      </p:sp>
    </p:spTree>
    <p:extLst>
      <p:ext uri="{BB962C8B-B14F-4D97-AF65-F5344CB8AC3E}">
        <p14:creationId xmlns:p14="http://schemas.microsoft.com/office/powerpoint/2010/main" val="40806564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6B23CCE-8664-452F-8CF6-C4B482B4255D}"/>
              </a:ext>
            </a:extLst>
          </p:cNvPr>
          <p:cNvSpPr txBox="1"/>
          <p:nvPr/>
        </p:nvSpPr>
        <p:spPr>
          <a:xfrm>
            <a:off x="116840" y="79970"/>
            <a:ext cx="6096000" cy="532903"/>
          </a:xfrm>
          <a:prstGeom prst="rect">
            <a:avLst/>
          </a:prstGeom>
          <a:noFill/>
        </p:spPr>
        <p:txBody>
          <a:bodyPr wrap="square">
            <a:spAutoFit/>
          </a:bodyPr>
          <a:lstStyle/>
          <a:p>
            <a:pPr marL="0" marR="0">
              <a:lnSpc>
                <a:spcPct val="107000"/>
              </a:lnSpc>
              <a:spcBef>
                <a:spcPts val="750"/>
              </a:spcBef>
              <a:spcAft>
                <a:spcPts val="750"/>
              </a:spcAft>
            </a:pPr>
            <a:r>
              <a:rPr lang="en-PK" sz="2800" b="1" dirty="0">
                <a:solidFill>
                  <a:schemeClr val="accent1">
                    <a:lumMod val="50000"/>
                  </a:schemeClr>
                </a:solidFill>
                <a:effectLst/>
                <a:ea typeface="DengXian Light" panose="02010600030101010101" pitchFamily="2" charset="-122"/>
                <a:cs typeface="Times New Roman" panose="02020603050405020304" pitchFamily="18" charset="0"/>
              </a:rPr>
              <a:t>Multidimensional Arrays</a:t>
            </a:r>
            <a:endParaRPr lang="en-PK" sz="1600" b="1" dirty="0">
              <a:solidFill>
                <a:schemeClr val="accent1">
                  <a:lumMod val="50000"/>
                </a:schemeClr>
              </a:solidFill>
              <a:effectLst/>
              <a:ea typeface="DengXian Light" panose="02010600030101010101" pitchFamily="2" charset="-122"/>
              <a:cs typeface="Times New Roman" panose="02020603050405020304" pitchFamily="18" charset="0"/>
            </a:endParaRPr>
          </a:p>
        </p:txBody>
      </p:sp>
      <p:sp>
        <p:nvSpPr>
          <p:cNvPr id="7" name="TextBox 6">
            <a:extLst>
              <a:ext uri="{FF2B5EF4-FFF2-40B4-BE49-F238E27FC236}">
                <a16:creationId xmlns:a16="http://schemas.microsoft.com/office/drawing/2014/main" id="{2D119E20-AA55-4901-B5AE-60374F732497}"/>
              </a:ext>
            </a:extLst>
          </p:cNvPr>
          <p:cNvSpPr txBox="1"/>
          <p:nvPr/>
        </p:nvSpPr>
        <p:spPr>
          <a:xfrm>
            <a:off x="477520" y="804567"/>
            <a:ext cx="9855200" cy="2554545"/>
          </a:xfrm>
          <a:prstGeom prst="rect">
            <a:avLst/>
          </a:prstGeom>
          <a:noFill/>
        </p:spPr>
        <p:txBody>
          <a:bodyPr wrap="square">
            <a:spAutoFit/>
          </a:bodyPr>
          <a:lstStyle/>
          <a:p>
            <a:pPr marL="285750" marR="0" indent="-285750" algn="just">
              <a:spcBef>
                <a:spcPts val="1440"/>
              </a:spcBef>
              <a:spcAft>
                <a:spcPts val="1440"/>
              </a:spcAft>
              <a:buFont typeface="Arial" panose="020B0604020202020204" pitchFamily="34" charset="0"/>
              <a:buChar char="•"/>
            </a:pPr>
            <a:r>
              <a:rPr lang="en-PK" sz="1800" dirty="0">
                <a:effectLst/>
                <a:ea typeface="Times New Roman" panose="02020603050405020304" pitchFamily="18" charset="0"/>
              </a:rPr>
              <a:t>A multidimensional array is an array containing one or more arrays.</a:t>
            </a:r>
            <a:r>
              <a:rPr lang="en-US" sz="1800" dirty="0">
                <a:effectLst/>
                <a:ea typeface="Times New Roman" panose="02020603050405020304" pitchFamily="18" charset="0"/>
              </a:rPr>
              <a:t> </a:t>
            </a:r>
          </a:p>
          <a:p>
            <a:pPr marL="285750" marR="0" indent="-285750" algn="just">
              <a:spcBef>
                <a:spcPts val="1440"/>
              </a:spcBef>
              <a:spcAft>
                <a:spcPts val="1440"/>
              </a:spcAft>
              <a:buFont typeface="Arial" panose="020B0604020202020204" pitchFamily="34" charset="0"/>
              <a:buChar char="•"/>
            </a:pPr>
            <a:r>
              <a:rPr lang="en-PK" sz="1800" dirty="0">
                <a:effectLst/>
                <a:ea typeface="Calibri" panose="020F0502020204030204" pitchFamily="34" charset="0"/>
                <a:cs typeface="Arial" panose="020B0604020202020204" pitchFamily="34" charset="0"/>
              </a:rPr>
              <a:t>Multidimensional arrays are </a:t>
            </a:r>
            <a:r>
              <a:rPr lang="en-PK" sz="1800" b="1" dirty="0">
                <a:effectLst/>
                <a:ea typeface="DengXian Light" panose="02010600030101010101" pitchFamily="2" charset="-122"/>
                <a:cs typeface="Arial" panose="020B0604020202020204" pitchFamily="34" charset="0"/>
              </a:rPr>
              <a:t>arrays of arrays</a:t>
            </a:r>
            <a:r>
              <a:rPr lang="en-PK" sz="1800" dirty="0">
                <a:effectLst/>
                <a:ea typeface="Calibri" panose="020F0502020204030204" pitchFamily="34" charset="0"/>
                <a:cs typeface="Arial" panose="020B0604020202020204" pitchFamily="34" charset="0"/>
              </a:rPr>
              <a:t> with each element of the array holding the reference of other array.</a:t>
            </a:r>
            <a:endParaRPr lang="en-US" sz="1800" dirty="0">
              <a:effectLst/>
              <a:ea typeface="Calibri" panose="020F0502020204030204" pitchFamily="34" charset="0"/>
              <a:cs typeface="Arial" panose="020B0604020202020204" pitchFamily="34" charset="0"/>
            </a:endParaRPr>
          </a:p>
          <a:p>
            <a:pPr marL="285750" marR="0" indent="-285750" algn="just">
              <a:spcBef>
                <a:spcPts val="1440"/>
              </a:spcBef>
              <a:spcAft>
                <a:spcPts val="1440"/>
              </a:spcAft>
              <a:buFont typeface="Arial" panose="020B0604020202020204" pitchFamily="34" charset="0"/>
              <a:buChar char="•"/>
            </a:pPr>
            <a:r>
              <a:rPr lang="en-PK" sz="1800" dirty="0">
                <a:effectLst/>
                <a:ea typeface="Calibri" panose="020F0502020204030204" pitchFamily="34" charset="0"/>
                <a:cs typeface="Arial" panose="020B0604020202020204" pitchFamily="34" charset="0"/>
              </a:rPr>
              <a:t>These are also known as </a:t>
            </a:r>
            <a:r>
              <a:rPr lang="en-PK" sz="1800" u="sng" dirty="0">
                <a:effectLst/>
                <a:ea typeface="Calibri" panose="020F050202020403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Jagged Arrays</a:t>
            </a:r>
            <a:r>
              <a:rPr lang="en-US" sz="1800" u="sng" dirty="0">
                <a:effectLst/>
                <a:ea typeface="Calibri" panose="020F0502020204030204" pitchFamily="34" charset="0"/>
                <a:cs typeface="Arial" panose="020B0604020202020204" pitchFamily="34" charset="0"/>
              </a:rPr>
              <a:t>.</a:t>
            </a:r>
          </a:p>
          <a:p>
            <a:pPr marL="285750" marR="0" indent="-285750" algn="just">
              <a:spcBef>
                <a:spcPts val="1440"/>
              </a:spcBef>
              <a:spcAft>
                <a:spcPts val="1440"/>
              </a:spcAft>
              <a:buFont typeface="Arial" panose="020B0604020202020204" pitchFamily="34" charset="0"/>
              <a:buChar char="•"/>
            </a:pPr>
            <a:r>
              <a:rPr lang="en-PK" sz="1800" dirty="0">
                <a:solidFill>
                  <a:srgbClr val="40424E"/>
                </a:solidFill>
                <a:effectLst/>
                <a:ea typeface="Calibri" panose="020F0502020204030204" pitchFamily="34" charset="0"/>
                <a:cs typeface="Arial" panose="020B0604020202020204" pitchFamily="34" charset="0"/>
              </a:rPr>
              <a:t>A multidimensional array is created by appending one set of square brackets ([]) per dimension. </a:t>
            </a:r>
            <a:endParaRPr lang="en-PK" sz="1800" dirty="0">
              <a:effectLst/>
              <a:ea typeface="Times New Roman" panose="02020603050405020304" pitchFamily="18" charset="0"/>
            </a:endParaRPr>
          </a:p>
        </p:txBody>
      </p:sp>
      <p:sp>
        <p:nvSpPr>
          <p:cNvPr id="10" name="Rectangle 1">
            <a:extLst>
              <a:ext uri="{FF2B5EF4-FFF2-40B4-BE49-F238E27FC236}">
                <a16:creationId xmlns:a16="http://schemas.microsoft.com/office/drawing/2014/main" id="{9AE2D5EA-3255-4D54-8933-DD86B82E7229}"/>
              </a:ext>
            </a:extLst>
          </p:cNvPr>
          <p:cNvSpPr>
            <a:spLocks noChangeArrowheads="1"/>
          </p:cNvSpPr>
          <p:nvPr/>
        </p:nvSpPr>
        <p:spPr bwMode="auto">
          <a:xfrm>
            <a:off x="731520" y="5097541"/>
            <a:ext cx="65" cy="58467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52352" rIns="0" bIns="15235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endParaRPr>
          </a:p>
        </p:txBody>
      </p:sp>
      <p:sp>
        <p:nvSpPr>
          <p:cNvPr id="19" name="Rectangle 2">
            <a:extLst>
              <a:ext uri="{FF2B5EF4-FFF2-40B4-BE49-F238E27FC236}">
                <a16:creationId xmlns:a16="http://schemas.microsoft.com/office/drawing/2014/main" id="{A9024B9E-9BC1-4398-ACCA-D2AD57D02A49}"/>
              </a:ext>
            </a:extLst>
          </p:cNvPr>
          <p:cNvSpPr>
            <a:spLocks noChangeArrowheads="1"/>
          </p:cNvSpPr>
          <p:nvPr/>
        </p:nvSpPr>
        <p:spPr bwMode="auto">
          <a:xfrm>
            <a:off x="0" y="2527061"/>
            <a:ext cx="65" cy="58467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52352" rIns="0" bIns="15235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endParaRPr>
          </a:p>
        </p:txBody>
      </p:sp>
      <p:sp>
        <p:nvSpPr>
          <p:cNvPr id="24" name="Rectangle 5">
            <a:extLst>
              <a:ext uri="{FF2B5EF4-FFF2-40B4-BE49-F238E27FC236}">
                <a16:creationId xmlns:a16="http://schemas.microsoft.com/office/drawing/2014/main" id="{05B9D799-6943-49D3-9876-3006B005B88E}"/>
              </a:ext>
            </a:extLst>
          </p:cNvPr>
          <p:cNvSpPr>
            <a:spLocks noChangeArrowheads="1"/>
          </p:cNvSpPr>
          <p:nvPr/>
        </p:nvSpPr>
        <p:spPr bwMode="auto">
          <a:xfrm>
            <a:off x="0" y="42025"/>
            <a:ext cx="65" cy="3731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952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endParaRPr>
          </a:p>
        </p:txBody>
      </p:sp>
      <p:sp>
        <p:nvSpPr>
          <p:cNvPr id="26" name="TextBox 25">
            <a:extLst>
              <a:ext uri="{FF2B5EF4-FFF2-40B4-BE49-F238E27FC236}">
                <a16:creationId xmlns:a16="http://schemas.microsoft.com/office/drawing/2014/main" id="{19915D91-B021-4B5B-A828-38F294A4C146}"/>
              </a:ext>
            </a:extLst>
          </p:cNvPr>
          <p:cNvSpPr txBox="1"/>
          <p:nvPr/>
        </p:nvSpPr>
        <p:spPr>
          <a:xfrm>
            <a:off x="1099820" y="3629586"/>
            <a:ext cx="9601200" cy="1676741"/>
          </a:xfrm>
          <a:prstGeom prst="rect">
            <a:avLst/>
          </a:prstGeom>
          <a:noFill/>
        </p:spPr>
        <p:txBody>
          <a:bodyPr wrap="square">
            <a:spAutoFit/>
          </a:bodyPr>
          <a:lstStyle/>
          <a:p>
            <a:pPr marL="0" marR="0" lvl="0" indent="0" algn="just" defTabSz="914400" rtl="0" eaLnBrk="0" fontAlgn="base" latinLnBrk="0" hangingPunct="0">
              <a:lnSpc>
                <a:spcPct val="200000"/>
              </a:lnSpc>
              <a:spcBef>
                <a:spcPct val="0"/>
              </a:spcBef>
              <a:spcAft>
                <a:spcPct val="0"/>
              </a:spcAft>
              <a:buClrTx/>
              <a:buSzTx/>
              <a:buFontTx/>
              <a:buNone/>
              <a:tabLst/>
            </a:pPr>
            <a:r>
              <a:rPr kumimoji="0" lang="en-PK" altLang="en-PK" sz="1800" b="0" i="0" u="none" strike="noStrike" cap="none" normalizeH="0" baseline="0" dirty="0">
                <a:ln>
                  <a:noFill/>
                </a:ln>
                <a:solidFill>
                  <a:srgbClr val="40424E"/>
                </a:solidFill>
                <a:effectLst/>
                <a:ea typeface="Times New Roman" panose="02020603050405020304" pitchFamily="18" charset="0"/>
                <a:cs typeface="Courier New" panose="02070309020205020404" pitchFamily="49" charset="0"/>
              </a:rPr>
              <a:t>int[][] </a:t>
            </a:r>
            <a:r>
              <a:rPr kumimoji="0" lang="en-PK" altLang="en-PK" sz="1800" b="0" i="0" u="none" strike="noStrike" cap="none" normalizeH="0" baseline="0" dirty="0" err="1">
                <a:ln>
                  <a:noFill/>
                </a:ln>
                <a:solidFill>
                  <a:srgbClr val="40424E"/>
                </a:solidFill>
                <a:effectLst/>
                <a:ea typeface="Times New Roman" panose="02020603050405020304" pitchFamily="18" charset="0"/>
                <a:cs typeface="Courier New" panose="02070309020205020404" pitchFamily="49" charset="0"/>
              </a:rPr>
              <a:t>intArray</a:t>
            </a:r>
            <a:r>
              <a:rPr kumimoji="0" lang="en-PK" altLang="en-PK" sz="1800" b="0" i="0" u="none" strike="noStrike" cap="none" normalizeH="0" baseline="0" dirty="0">
                <a:ln>
                  <a:noFill/>
                </a:ln>
                <a:solidFill>
                  <a:srgbClr val="40424E"/>
                </a:solidFill>
                <a:effectLst/>
                <a:ea typeface="Times New Roman" panose="02020603050405020304" pitchFamily="18" charset="0"/>
                <a:cs typeface="Courier New" panose="02070309020205020404" pitchFamily="49" charset="0"/>
              </a:rPr>
              <a:t> = new int[10][20]; //a 2D array </a:t>
            </a:r>
            <a:endParaRPr kumimoji="0" lang="en-US" altLang="en-PK" sz="1800" b="0" i="0" u="none" strike="noStrike" cap="none" normalizeH="0" baseline="0" dirty="0">
              <a:ln>
                <a:noFill/>
              </a:ln>
              <a:solidFill>
                <a:srgbClr val="40424E"/>
              </a:solidFill>
              <a:effectLst/>
              <a:ea typeface="Times New Roman" panose="02020603050405020304" pitchFamily="18" charset="0"/>
              <a:cs typeface="Courier New" panose="02070309020205020404" pitchFamily="49" charset="0"/>
            </a:endParaRPr>
          </a:p>
          <a:p>
            <a:pPr marL="0" marR="0" lvl="0" indent="0" algn="just" defTabSz="914400" rtl="0" eaLnBrk="0" fontAlgn="base" latinLnBrk="0" hangingPunct="0">
              <a:lnSpc>
                <a:spcPct val="200000"/>
              </a:lnSpc>
              <a:spcBef>
                <a:spcPct val="0"/>
              </a:spcBef>
              <a:spcAft>
                <a:spcPct val="0"/>
              </a:spcAft>
              <a:buClrTx/>
              <a:buSzTx/>
              <a:buFontTx/>
              <a:buNone/>
              <a:tabLst/>
            </a:pPr>
            <a:r>
              <a:rPr kumimoji="0" lang="en-US" altLang="en-PK" sz="1800" b="0" i="0" u="none" strike="noStrike" cap="none" normalizeH="0" baseline="0" dirty="0">
                <a:ln>
                  <a:noFill/>
                </a:ln>
                <a:solidFill>
                  <a:srgbClr val="40424E"/>
                </a:solidFill>
                <a:effectLst/>
                <a:ea typeface="Times New Roman" panose="02020603050405020304" pitchFamily="18" charset="0"/>
                <a:cs typeface="Courier New" panose="02070309020205020404" pitchFamily="49" charset="0"/>
              </a:rPr>
              <a:t>O</a:t>
            </a:r>
            <a:r>
              <a:rPr kumimoji="0" lang="en-PK" altLang="en-PK" sz="1800" b="0" i="0" u="none" strike="noStrike" cap="none" normalizeH="0" baseline="0" dirty="0">
                <a:ln>
                  <a:noFill/>
                </a:ln>
                <a:solidFill>
                  <a:srgbClr val="40424E"/>
                </a:solidFill>
                <a:effectLst/>
                <a:ea typeface="Times New Roman" panose="02020603050405020304" pitchFamily="18" charset="0"/>
                <a:cs typeface="Courier New" panose="02070309020205020404" pitchFamily="49" charset="0"/>
              </a:rPr>
              <a:t>r</a:t>
            </a:r>
            <a:endParaRPr kumimoji="0" lang="en-US" altLang="en-PK" sz="1800" b="0" i="0" u="none" strike="noStrike" cap="none" normalizeH="0" baseline="0" dirty="0">
              <a:ln>
                <a:noFill/>
              </a:ln>
              <a:solidFill>
                <a:srgbClr val="40424E"/>
              </a:solidFill>
              <a:effectLst/>
              <a:ea typeface="Times New Roman" panose="02020603050405020304" pitchFamily="18" charset="0"/>
              <a:cs typeface="Courier New" panose="02070309020205020404" pitchFamily="49" charset="0"/>
            </a:endParaRPr>
          </a:p>
          <a:p>
            <a:pPr marL="0" marR="0" lvl="0" indent="0" algn="just" defTabSz="914400" rtl="0" eaLnBrk="0" fontAlgn="base" latinLnBrk="0" hangingPunct="0">
              <a:lnSpc>
                <a:spcPct val="200000"/>
              </a:lnSpc>
              <a:spcBef>
                <a:spcPct val="0"/>
              </a:spcBef>
              <a:spcAft>
                <a:spcPct val="0"/>
              </a:spcAft>
              <a:buClrTx/>
              <a:buSzTx/>
              <a:buFontTx/>
              <a:buNone/>
              <a:tabLst/>
            </a:pPr>
            <a:r>
              <a:rPr kumimoji="0" lang="en-PK" altLang="en-PK" sz="1800" b="0" i="0" u="none" strike="noStrike" cap="none" normalizeH="0" baseline="0" dirty="0">
                <a:ln>
                  <a:noFill/>
                </a:ln>
                <a:solidFill>
                  <a:srgbClr val="40424E"/>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err="1">
                <a:ln>
                  <a:noFill/>
                </a:ln>
                <a:solidFill>
                  <a:srgbClr val="40424E"/>
                </a:solidFill>
                <a:effectLst/>
                <a:ea typeface="Times New Roman" panose="02020603050405020304" pitchFamily="18" charset="0"/>
                <a:cs typeface="Courier New" panose="02070309020205020404" pitchFamily="49" charset="0"/>
              </a:rPr>
              <a:t>matrixint</a:t>
            </a:r>
            <a:r>
              <a:rPr kumimoji="0" lang="en-PK" altLang="en-PK" sz="1800" b="0" i="0" u="none" strike="noStrike" cap="none" normalizeH="0" baseline="0" dirty="0">
                <a:ln>
                  <a:noFill/>
                </a:ln>
                <a:solidFill>
                  <a:srgbClr val="40424E"/>
                </a:solidFill>
                <a:effectLst/>
                <a:ea typeface="Times New Roman" panose="02020603050405020304" pitchFamily="18" charset="0"/>
                <a:cs typeface="Courier New" panose="02070309020205020404" pitchFamily="49" charset="0"/>
              </a:rPr>
              <a:t>[][][] </a:t>
            </a:r>
            <a:r>
              <a:rPr kumimoji="0" lang="en-PK" altLang="en-PK" sz="1800" b="0" i="0" u="none" strike="noStrike" cap="none" normalizeH="0" baseline="0" dirty="0" err="1">
                <a:ln>
                  <a:noFill/>
                </a:ln>
                <a:solidFill>
                  <a:srgbClr val="40424E"/>
                </a:solidFill>
                <a:effectLst/>
                <a:ea typeface="Times New Roman" panose="02020603050405020304" pitchFamily="18" charset="0"/>
                <a:cs typeface="Courier New" panose="02070309020205020404" pitchFamily="49" charset="0"/>
              </a:rPr>
              <a:t>intArray</a:t>
            </a:r>
            <a:r>
              <a:rPr kumimoji="0" lang="en-PK" altLang="en-PK" sz="1800" b="0" i="0" u="none" strike="noStrike" cap="none" normalizeH="0" baseline="0" dirty="0">
                <a:ln>
                  <a:noFill/>
                </a:ln>
                <a:solidFill>
                  <a:srgbClr val="40424E"/>
                </a:solidFill>
                <a:effectLst/>
                <a:ea typeface="Times New Roman" panose="02020603050405020304" pitchFamily="18" charset="0"/>
                <a:cs typeface="Courier New" panose="02070309020205020404" pitchFamily="49" charset="0"/>
              </a:rPr>
              <a:t> = new int[10][20][10]; //a 3D array</a:t>
            </a:r>
            <a:r>
              <a:rPr kumimoji="0" lang="en-PK" altLang="en-PK" sz="1050" b="0" i="0" u="none" strike="noStrike" cap="none" normalizeH="0" baseline="0" dirty="0">
                <a:ln>
                  <a:noFill/>
                </a:ln>
                <a:solidFill>
                  <a:schemeClr val="tx1"/>
                </a:solidFill>
                <a:effectLst/>
              </a:rPr>
              <a:t> </a:t>
            </a:r>
            <a:endParaRPr kumimoji="0" lang="en-PK" altLang="en-PK" sz="2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373307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 calcmode="lin" valueType="num">
                                      <p:cBhvr additive="base">
                                        <p:cTn id="12" dur="500" fill="hold"/>
                                        <p:tgtEl>
                                          <p:spTgt spid="26"/>
                                        </p:tgtEl>
                                        <p:attrNameLst>
                                          <p:attrName>ppt_x</p:attrName>
                                        </p:attrNameLst>
                                      </p:cBhvr>
                                      <p:tavLst>
                                        <p:tav tm="0">
                                          <p:val>
                                            <p:strVal val="#ppt_x"/>
                                          </p:val>
                                        </p:tav>
                                        <p:tav tm="100000">
                                          <p:val>
                                            <p:strVal val="#ppt_x"/>
                                          </p:val>
                                        </p:tav>
                                      </p:tavLst>
                                    </p:anim>
                                    <p:anim calcmode="lin" valueType="num">
                                      <p:cBhvr additive="base">
                                        <p:cTn id="13"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06D8BBA-BD39-4906-A510-DDE75C7BD351}"/>
              </a:ext>
            </a:extLst>
          </p:cNvPr>
          <p:cNvSpPr txBox="1"/>
          <p:nvPr/>
        </p:nvSpPr>
        <p:spPr>
          <a:xfrm>
            <a:off x="560406" y="1223642"/>
            <a:ext cx="11430965" cy="2542363"/>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b="0" i="0" dirty="0">
                <a:effectLst/>
              </a:rPr>
              <a:t>Higher dimensional arrays should be similarly interpreted. For example a 3D array should be thought of as an array of arrays of arrays. </a:t>
            </a:r>
          </a:p>
          <a:p>
            <a:pPr marL="285750" indent="-285750" algn="just">
              <a:lnSpc>
                <a:spcPct val="150000"/>
              </a:lnSpc>
              <a:buFont typeface="Arial" panose="020B0604020202020204" pitchFamily="34" charset="0"/>
              <a:buChar char="•"/>
            </a:pPr>
            <a:r>
              <a:rPr lang="en-US" b="0" i="0" dirty="0">
                <a:effectLst/>
              </a:rPr>
              <a:t>To find the memory location of any element in the array relative to the address of the first byte, the sizes of all dimensions other than the first must be known.</a:t>
            </a:r>
          </a:p>
          <a:p>
            <a:pPr marL="285750" indent="-285750" algn="just">
              <a:lnSpc>
                <a:spcPct val="150000"/>
              </a:lnSpc>
              <a:buFont typeface="Arial" panose="020B0604020202020204" pitchFamily="34" charset="0"/>
              <a:buChar char="•"/>
            </a:pPr>
            <a:r>
              <a:rPr lang="en-US" b="0" i="0" dirty="0">
                <a:effectLst/>
              </a:rPr>
              <a:t>Knowledge of how multidimensional arrays are stored in memory helps one understand how they can be initialized, and how they can be passed as function arguments.</a:t>
            </a:r>
            <a:endParaRPr lang="en-PK" dirty="0"/>
          </a:p>
        </p:txBody>
      </p:sp>
      <p:sp>
        <p:nvSpPr>
          <p:cNvPr id="6" name="Title 1">
            <a:extLst>
              <a:ext uri="{FF2B5EF4-FFF2-40B4-BE49-F238E27FC236}">
                <a16:creationId xmlns:a16="http://schemas.microsoft.com/office/drawing/2014/main" id="{D3484A94-6831-4D99-8702-5D94226B8A6F}"/>
              </a:ext>
            </a:extLst>
          </p:cNvPr>
          <p:cNvSpPr>
            <a:spLocks noGrp="1"/>
          </p:cNvSpPr>
          <p:nvPr>
            <p:ph type="title"/>
          </p:nvPr>
        </p:nvSpPr>
        <p:spPr>
          <a:xfrm>
            <a:off x="315858" y="288799"/>
            <a:ext cx="10515600" cy="718415"/>
          </a:xfrm>
        </p:spPr>
        <p:txBody>
          <a:bodyPr>
            <a:normAutofit/>
          </a:bodyPr>
          <a:lstStyle/>
          <a:p>
            <a:r>
              <a:rPr lang="en-US" sz="2800" b="1" dirty="0">
                <a:solidFill>
                  <a:schemeClr val="accent1">
                    <a:lumMod val="50000"/>
                  </a:schemeClr>
                </a:solidFill>
                <a:latin typeface="+mn-lt"/>
              </a:rPr>
              <a:t>3 Dimensional Array / Multi Dimensional Array</a:t>
            </a:r>
            <a:endParaRPr lang="en-PK" sz="2800" b="1" dirty="0">
              <a:solidFill>
                <a:schemeClr val="accent1">
                  <a:lumMod val="50000"/>
                </a:schemeClr>
              </a:solidFill>
              <a:latin typeface="+mn-lt"/>
            </a:endParaRPr>
          </a:p>
        </p:txBody>
      </p:sp>
    </p:spTree>
    <p:extLst>
      <p:ext uri="{BB962C8B-B14F-4D97-AF65-F5344CB8AC3E}">
        <p14:creationId xmlns:p14="http://schemas.microsoft.com/office/powerpoint/2010/main" val="11182403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35B4D-28BF-47A9-89CC-42DA58BEF5D7}"/>
              </a:ext>
            </a:extLst>
          </p:cNvPr>
          <p:cNvSpPr>
            <a:spLocks noGrp="1"/>
          </p:cNvSpPr>
          <p:nvPr>
            <p:ph type="title"/>
          </p:nvPr>
        </p:nvSpPr>
        <p:spPr>
          <a:xfrm>
            <a:off x="228600" y="193964"/>
            <a:ext cx="10515600" cy="443779"/>
          </a:xfrm>
        </p:spPr>
        <p:txBody>
          <a:bodyPr>
            <a:normAutofit fontScale="90000"/>
          </a:bodyPr>
          <a:lstStyle/>
          <a:p>
            <a:r>
              <a:rPr lang="en-US" sz="2800" b="1" dirty="0">
                <a:solidFill>
                  <a:schemeClr val="accent1">
                    <a:lumMod val="50000"/>
                  </a:schemeClr>
                </a:solidFill>
                <a:latin typeface="+mn-lt"/>
              </a:rPr>
              <a:t>Representation of 3-D Array</a:t>
            </a:r>
            <a:endParaRPr lang="en-PK" sz="2800" b="1" dirty="0">
              <a:solidFill>
                <a:schemeClr val="accent1">
                  <a:lumMod val="50000"/>
                </a:schemeClr>
              </a:solidFill>
              <a:latin typeface="+mn-lt"/>
            </a:endParaRPr>
          </a:p>
        </p:txBody>
      </p:sp>
      <p:graphicFrame>
        <p:nvGraphicFramePr>
          <p:cNvPr id="4" name="Table 4">
            <a:extLst>
              <a:ext uri="{FF2B5EF4-FFF2-40B4-BE49-F238E27FC236}">
                <a16:creationId xmlns:a16="http://schemas.microsoft.com/office/drawing/2014/main" id="{9BB92DCD-61A2-41C1-94F1-B14EE9F492C9}"/>
              </a:ext>
            </a:extLst>
          </p:cNvPr>
          <p:cNvGraphicFramePr>
            <a:graphicFrameLocks noGrp="1"/>
          </p:cNvGraphicFramePr>
          <p:nvPr>
            <p:extLst>
              <p:ext uri="{D42A27DB-BD31-4B8C-83A1-F6EECF244321}">
                <p14:modId xmlns:p14="http://schemas.microsoft.com/office/powerpoint/2010/main" val="1741471150"/>
              </p:ext>
            </p:extLst>
          </p:nvPr>
        </p:nvGraphicFramePr>
        <p:xfrm>
          <a:off x="4507345" y="975050"/>
          <a:ext cx="2262909" cy="1097280"/>
        </p:xfrm>
        <a:graphic>
          <a:graphicData uri="http://schemas.openxmlformats.org/drawingml/2006/table">
            <a:tbl>
              <a:tblPr firstRow="1" bandRow="1">
                <a:tableStyleId>{5940675A-B579-460E-94D1-54222C63F5DA}</a:tableStyleId>
              </a:tblPr>
              <a:tblGrid>
                <a:gridCol w="754303">
                  <a:extLst>
                    <a:ext uri="{9D8B030D-6E8A-4147-A177-3AD203B41FA5}">
                      <a16:colId xmlns:a16="http://schemas.microsoft.com/office/drawing/2014/main" val="1444630920"/>
                    </a:ext>
                  </a:extLst>
                </a:gridCol>
                <a:gridCol w="754303">
                  <a:extLst>
                    <a:ext uri="{9D8B030D-6E8A-4147-A177-3AD203B41FA5}">
                      <a16:colId xmlns:a16="http://schemas.microsoft.com/office/drawing/2014/main" val="1055016246"/>
                    </a:ext>
                  </a:extLst>
                </a:gridCol>
                <a:gridCol w="754303">
                  <a:extLst>
                    <a:ext uri="{9D8B030D-6E8A-4147-A177-3AD203B41FA5}">
                      <a16:colId xmlns:a16="http://schemas.microsoft.com/office/drawing/2014/main" val="352506201"/>
                    </a:ext>
                  </a:extLst>
                </a:gridCol>
              </a:tblGrid>
              <a:tr h="355395">
                <a:tc>
                  <a:txBody>
                    <a:bodyPr/>
                    <a:lstStyle/>
                    <a:p>
                      <a:endParaRPr lang="en-PK"/>
                    </a:p>
                  </a:txBody>
                  <a:tcPr/>
                </a:tc>
                <a:tc>
                  <a:txBody>
                    <a:bodyPr/>
                    <a:lstStyle/>
                    <a:p>
                      <a:endParaRPr lang="en-PK"/>
                    </a:p>
                  </a:txBody>
                  <a:tcPr/>
                </a:tc>
                <a:tc>
                  <a:txBody>
                    <a:bodyPr/>
                    <a:lstStyle/>
                    <a:p>
                      <a:endParaRPr lang="en-PK"/>
                    </a:p>
                  </a:txBody>
                  <a:tcPr/>
                </a:tc>
                <a:extLst>
                  <a:ext uri="{0D108BD9-81ED-4DB2-BD59-A6C34878D82A}">
                    <a16:rowId xmlns:a16="http://schemas.microsoft.com/office/drawing/2014/main" val="1114327605"/>
                  </a:ext>
                </a:extLst>
              </a:tr>
              <a:tr h="355395">
                <a:tc>
                  <a:txBody>
                    <a:bodyPr/>
                    <a:lstStyle/>
                    <a:p>
                      <a:endParaRPr lang="en-PK"/>
                    </a:p>
                  </a:txBody>
                  <a:tcPr/>
                </a:tc>
                <a:tc>
                  <a:txBody>
                    <a:bodyPr/>
                    <a:lstStyle/>
                    <a:p>
                      <a:endParaRPr lang="en-PK"/>
                    </a:p>
                  </a:txBody>
                  <a:tcPr/>
                </a:tc>
                <a:tc>
                  <a:txBody>
                    <a:bodyPr/>
                    <a:lstStyle/>
                    <a:p>
                      <a:endParaRPr lang="en-PK"/>
                    </a:p>
                  </a:txBody>
                  <a:tcPr/>
                </a:tc>
                <a:extLst>
                  <a:ext uri="{0D108BD9-81ED-4DB2-BD59-A6C34878D82A}">
                    <a16:rowId xmlns:a16="http://schemas.microsoft.com/office/drawing/2014/main" val="201742153"/>
                  </a:ext>
                </a:extLst>
              </a:tr>
              <a:tr h="355395">
                <a:tc>
                  <a:txBody>
                    <a:bodyPr/>
                    <a:lstStyle/>
                    <a:p>
                      <a:endParaRPr lang="en-PK"/>
                    </a:p>
                  </a:txBody>
                  <a:tcPr/>
                </a:tc>
                <a:tc>
                  <a:txBody>
                    <a:bodyPr/>
                    <a:lstStyle/>
                    <a:p>
                      <a:endParaRPr lang="en-PK"/>
                    </a:p>
                  </a:txBody>
                  <a:tcPr/>
                </a:tc>
                <a:tc>
                  <a:txBody>
                    <a:bodyPr/>
                    <a:lstStyle/>
                    <a:p>
                      <a:endParaRPr lang="en-PK" dirty="0"/>
                    </a:p>
                  </a:txBody>
                  <a:tcPr/>
                </a:tc>
                <a:extLst>
                  <a:ext uri="{0D108BD9-81ED-4DB2-BD59-A6C34878D82A}">
                    <a16:rowId xmlns:a16="http://schemas.microsoft.com/office/drawing/2014/main" val="2476380307"/>
                  </a:ext>
                </a:extLst>
              </a:tr>
            </a:tbl>
          </a:graphicData>
        </a:graphic>
      </p:graphicFrame>
      <p:graphicFrame>
        <p:nvGraphicFramePr>
          <p:cNvPr id="5" name="Table 4">
            <a:extLst>
              <a:ext uri="{FF2B5EF4-FFF2-40B4-BE49-F238E27FC236}">
                <a16:creationId xmlns:a16="http://schemas.microsoft.com/office/drawing/2014/main" id="{66F3C2F8-8994-43B5-A249-A8C0438F630D}"/>
              </a:ext>
            </a:extLst>
          </p:cNvPr>
          <p:cNvGraphicFramePr>
            <a:graphicFrameLocks noGrp="1"/>
          </p:cNvGraphicFramePr>
          <p:nvPr>
            <p:extLst>
              <p:ext uri="{D42A27DB-BD31-4B8C-83A1-F6EECF244321}">
                <p14:modId xmlns:p14="http://schemas.microsoft.com/office/powerpoint/2010/main" val="3540384979"/>
              </p:ext>
            </p:extLst>
          </p:nvPr>
        </p:nvGraphicFramePr>
        <p:xfrm>
          <a:off x="1362363" y="3344792"/>
          <a:ext cx="2262909" cy="1097280"/>
        </p:xfrm>
        <a:graphic>
          <a:graphicData uri="http://schemas.openxmlformats.org/drawingml/2006/table">
            <a:tbl>
              <a:tblPr firstRow="1" bandRow="1">
                <a:tableStyleId>{5940675A-B579-460E-94D1-54222C63F5DA}</a:tableStyleId>
              </a:tblPr>
              <a:tblGrid>
                <a:gridCol w="754303">
                  <a:extLst>
                    <a:ext uri="{9D8B030D-6E8A-4147-A177-3AD203B41FA5}">
                      <a16:colId xmlns:a16="http://schemas.microsoft.com/office/drawing/2014/main" val="1444630920"/>
                    </a:ext>
                  </a:extLst>
                </a:gridCol>
                <a:gridCol w="754303">
                  <a:extLst>
                    <a:ext uri="{9D8B030D-6E8A-4147-A177-3AD203B41FA5}">
                      <a16:colId xmlns:a16="http://schemas.microsoft.com/office/drawing/2014/main" val="1055016246"/>
                    </a:ext>
                  </a:extLst>
                </a:gridCol>
                <a:gridCol w="754303">
                  <a:extLst>
                    <a:ext uri="{9D8B030D-6E8A-4147-A177-3AD203B41FA5}">
                      <a16:colId xmlns:a16="http://schemas.microsoft.com/office/drawing/2014/main" val="352506201"/>
                    </a:ext>
                  </a:extLst>
                </a:gridCol>
              </a:tblGrid>
              <a:tr h="355395">
                <a:tc>
                  <a:txBody>
                    <a:bodyPr/>
                    <a:lstStyle/>
                    <a:p>
                      <a:endParaRPr lang="en-PK"/>
                    </a:p>
                  </a:txBody>
                  <a:tcPr/>
                </a:tc>
                <a:tc>
                  <a:txBody>
                    <a:bodyPr/>
                    <a:lstStyle/>
                    <a:p>
                      <a:endParaRPr lang="en-PK"/>
                    </a:p>
                  </a:txBody>
                  <a:tcPr/>
                </a:tc>
                <a:tc>
                  <a:txBody>
                    <a:bodyPr/>
                    <a:lstStyle/>
                    <a:p>
                      <a:endParaRPr lang="en-PK"/>
                    </a:p>
                  </a:txBody>
                  <a:tcPr/>
                </a:tc>
                <a:extLst>
                  <a:ext uri="{0D108BD9-81ED-4DB2-BD59-A6C34878D82A}">
                    <a16:rowId xmlns:a16="http://schemas.microsoft.com/office/drawing/2014/main" val="1114327605"/>
                  </a:ext>
                </a:extLst>
              </a:tr>
              <a:tr h="355395">
                <a:tc>
                  <a:txBody>
                    <a:bodyPr/>
                    <a:lstStyle/>
                    <a:p>
                      <a:endParaRPr lang="en-PK"/>
                    </a:p>
                  </a:txBody>
                  <a:tcPr/>
                </a:tc>
                <a:tc>
                  <a:txBody>
                    <a:bodyPr/>
                    <a:lstStyle/>
                    <a:p>
                      <a:endParaRPr lang="en-PK"/>
                    </a:p>
                  </a:txBody>
                  <a:tcPr/>
                </a:tc>
                <a:tc>
                  <a:txBody>
                    <a:bodyPr/>
                    <a:lstStyle/>
                    <a:p>
                      <a:endParaRPr lang="en-PK"/>
                    </a:p>
                  </a:txBody>
                  <a:tcPr/>
                </a:tc>
                <a:extLst>
                  <a:ext uri="{0D108BD9-81ED-4DB2-BD59-A6C34878D82A}">
                    <a16:rowId xmlns:a16="http://schemas.microsoft.com/office/drawing/2014/main" val="201742153"/>
                  </a:ext>
                </a:extLst>
              </a:tr>
              <a:tr h="355395">
                <a:tc>
                  <a:txBody>
                    <a:bodyPr/>
                    <a:lstStyle/>
                    <a:p>
                      <a:endParaRPr lang="en-PK"/>
                    </a:p>
                  </a:txBody>
                  <a:tcPr/>
                </a:tc>
                <a:tc>
                  <a:txBody>
                    <a:bodyPr/>
                    <a:lstStyle/>
                    <a:p>
                      <a:endParaRPr lang="en-PK"/>
                    </a:p>
                  </a:txBody>
                  <a:tcPr/>
                </a:tc>
                <a:tc>
                  <a:txBody>
                    <a:bodyPr/>
                    <a:lstStyle/>
                    <a:p>
                      <a:endParaRPr lang="en-PK" dirty="0"/>
                    </a:p>
                  </a:txBody>
                  <a:tcPr/>
                </a:tc>
                <a:extLst>
                  <a:ext uri="{0D108BD9-81ED-4DB2-BD59-A6C34878D82A}">
                    <a16:rowId xmlns:a16="http://schemas.microsoft.com/office/drawing/2014/main" val="2476380307"/>
                  </a:ext>
                </a:extLst>
              </a:tr>
            </a:tbl>
          </a:graphicData>
        </a:graphic>
      </p:graphicFrame>
      <p:graphicFrame>
        <p:nvGraphicFramePr>
          <p:cNvPr id="6" name="Table 5">
            <a:extLst>
              <a:ext uri="{FF2B5EF4-FFF2-40B4-BE49-F238E27FC236}">
                <a16:creationId xmlns:a16="http://schemas.microsoft.com/office/drawing/2014/main" id="{FD6E8D05-25F3-4DEB-9E50-F53D93D79C48}"/>
              </a:ext>
            </a:extLst>
          </p:cNvPr>
          <p:cNvGraphicFramePr>
            <a:graphicFrameLocks noGrp="1"/>
          </p:cNvGraphicFramePr>
          <p:nvPr>
            <p:extLst>
              <p:ext uri="{D42A27DB-BD31-4B8C-83A1-F6EECF244321}">
                <p14:modId xmlns:p14="http://schemas.microsoft.com/office/powerpoint/2010/main" val="1345963090"/>
              </p:ext>
            </p:extLst>
          </p:nvPr>
        </p:nvGraphicFramePr>
        <p:xfrm>
          <a:off x="7435275" y="3344792"/>
          <a:ext cx="2262909" cy="1097280"/>
        </p:xfrm>
        <a:graphic>
          <a:graphicData uri="http://schemas.openxmlformats.org/drawingml/2006/table">
            <a:tbl>
              <a:tblPr firstRow="1" bandRow="1">
                <a:tableStyleId>{5940675A-B579-460E-94D1-54222C63F5DA}</a:tableStyleId>
              </a:tblPr>
              <a:tblGrid>
                <a:gridCol w="754303">
                  <a:extLst>
                    <a:ext uri="{9D8B030D-6E8A-4147-A177-3AD203B41FA5}">
                      <a16:colId xmlns:a16="http://schemas.microsoft.com/office/drawing/2014/main" val="1444630920"/>
                    </a:ext>
                  </a:extLst>
                </a:gridCol>
                <a:gridCol w="754303">
                  <a:extLst>
                    <a:ext uri="{9D8B030D-6E8A-4147-A177-3AD203B41FA5}">
                      <a16:colId xmlns:a16="http://schemas.microsoft.com/office/drawing/2014/main" val="1055016246"/>
                    </a:ext>
                  </a:extLst>
                </a:gridCol>
                <a:gridCol w="754303">
                  <a:extLst>
                    <a:ext uri="{9D8B030D-6E8A-4147-A177-3AD203B41FA5}">
                      <a16:colId xmlns:a16="http://schemas.microsoft.com/office/drawing/2014/main" val="352506201"/>
                    </a:ext>
                  </a:extLst>
                </a:gridCol>
              </a:tblGrid>
              <a:tr h="355395">
                <a:tc>
                  <a:txBody>
                    <a:bodyPr/>
                    <a:lstStyle/>
                    <a:p>
                      <a:endParaRPr lang="en-PK" dirty="0"/>
                    </a:p>
                  </a:txBody>
                  <a:tcPr/>
                </a:tc>
                <a:tc>
                  <a:txBody>
                    <a:bodyPr/>
                    <a:lstStyle/>
                    <a:p>
                      <a:endParaRPr lang="en-PK"/>
                    </a:p>
                  </a:txBody>
                  <a:tcPr/>
                </a:tc>
                <a:tc>
                  <a:txBody>
                    <a:bodyPr/>
                    <a:lstStyle/>
                    <a:p>
                      <a:endParaRPr lang="en-PK"/>
                    </a:p>
                  </a:txBody>
                  <a:tcPr/>
                </a:tc>
                <a:extLst>
                  <a:ext uri="{0D108BD9-81ED-4DB2-BD59-A6C34878D82A}">
                    <a16:rowId xmlns:a16="http://schemas.microsoft.com/office/drawing/2014/main" val="1114327605"/>
                  </a:ext>
                </a:extLst>
              </a:tr>
              <a:tr h="355395">
                <a:tc>
                  <a:txBody>
                    <a:bodyPr/>
                    <a:lstStyle/>
                    <a:p>
                      <a:endParaRPr lang="en-PK"/>
                    </a:p>
                  </a:txBody>
                  <a:tcPr/>
                </a:tc>
                <a:tc>
                  <a:txBody>
                    <a:bodyPr/>
                    <a:lstStyle/>
                    <a:p>
                      <a:endParaRPr lang="en-PK"/>
                    </a:p>
                  </a:txBody>
                  <a:tcPr/>
                </a:tc>
                <a:tc>
                  <a:txBody>
                    <a:bodyPr/>
                    <a:lstStyle/>
                    <a:p>
                      <a:endParaRPr lang="en-PK"/>
                    </a:p>
                  </a:txBody>
                  <a:tcPr/>
                </a:tc>
                <a:extLst>
                  <a:ext uri="{0D108BD9-81ED-4DB2-BD59-A6C34878D82A}">
                    <a16:rowId xmlns:a16="http://schemas.microsoft.com/office/drawing/2014/main" val="201742153"/>
                  </a:ext>
                </a:extLst>
              </a:tr>
              <a:tr h="355395">
                <a:tc>
                  <a:txBody>
                    <a:bodyPr/>
                    <a:lstStyle/>
                    <a:p>
                      <a:endParaRPr lang="en-PK"/>
                    </a:p>
                  </a:txBody>
                  <a:tcPr/>
                </a:tc>
                <a:tc>
                  <a:txBody>
                    <a:bodyPr/>
                    <a:lstStyle/>
                    <a:p>
                      <a:endParaRPr lang="en-PK"/>
                    </a:p>
                  </a:txBody>
                  <a:tcPr/>
                </a:tc>
                <a:tc>
                  <a:txBody>
                    <a:bodyPr/>
                    <a:lstStyle/>
                    <a:p>
                      <a:endParaRPr lang="en-PK" dirty="0"/>
                    </a:p>
                  </a:txBody>
                  <a:tcPr/>
                </a:tc>
                <a:extLst>
                  <a:ext uri="{0D108BD9-81ED-4DB2-BD59-A6C34878D82A}">
                    <a16:rowId xmlns:a16="http://schemas.microsoft.com/office/drawing/2014/main" val="2476380307"/>
                  </a:ext>
                </a:extLst>
              </a:tr>
            </a:tbl>
          </a:graphicData>
        </a:graphic>
      </p:graphicFrame>
      <p:sp>
        <p:nvSpPr>
          <p:cNvPr id="7" name="TextBox 6">
            <a:extLst>
              <a:ext uri="{FF2B5EF4-FFF2-40B4-BE49-F238E27FC236}">
                <a16:creationId xmlns:a16="http://schemas.microsoft.com/office/drawing/2014/main" id="{15269044-B8BF-4B9B-BD31-2B49205BE59B}"/>
              </a:ext>
            </a:extLst>
          </p:cNvPr>
          <p:cNvSpPr txBox="1"/>
          <p:nvPr/>
        </p:nvSpPr>
        <p:spPr>
          <a:xfrm>
            <a:off x="7629236" y="1348509"/>
            <a:ext cx="1166794" cy="369332"/>
          </a:xfrm>
          <a:prstGeom prst="rect">
            <a:avLst/>
          </a:prstGeom>
          <a:noFill/>
        </p:spPr>
        <p:txBody>
          <a:bodyPr wrap="none" rtlCol="0">
            <a:spAutoFit/>
          </a:bodyPr>
          <a:lstStyle/>
          <a:p>
            <a:r>
              <a:rPr lang="en-US" dirty="0"/>
              <a:t>int a[3] [3]</a:t>
            </a:r>
            <a:endParaRPr lang="en-PK" dirty="0"/>
          </a:p>
        </p:txBody>
      </p:sp>
      <p:sp>
        <p:nvSpPr>
          <p:cNvPr id="9" name="TextBox 8">
            <a:extLst>
              <a:ext uri="{FF2B5EF4-FFF2-40B4-BE49-F238E27FC236}">
                <a16:creationId xmlns:a16="http://schemas.microsoft.com/office/drawing/2014/main" id="{2887FFDC-4365-44A4-9EEC-D0D6E8A6C7A3}"/>
              </a:ext>
            </a:extLst>
          </p:cNvPr>
          <p:cNvSpPr txBox="1"/>
          <p:nvPr/>
        </p:nvSpPr>
        <p:spPr>
          <a:xfrm>
            <a:off x="674254" y="2729406"/>
            <a:ext cx="6096000" cy="369332"/>
          </a:xfrm>
          <a:prstGeom prst="rect">
            <a:avLst/>
          </a:prstGeom>
          <a:noFill/>
        </p:spPr>
        <p:txBody>
          <a:bodyPr wrap="square">
            <a:spAutoFit/>
          </a:bodyPr>
          <a:lstStyle/>
          <a:p>
            <a:r>
              <a:rPr lang="en-US" dirty="0"/>
              <a:t>int a [2][3] [3]</a:t>
            </a:r>
            <a:endParaRPr lang="en-PK" dirty="0"/>
          </a:p>
        </p:txBody>
      </p:sp>
      <p:graphicFrame>
        <p:nvGraphicFramePr>
          <p:cNvPr id="10" name="Table 10">
            <a:extLst>
              <a:ext uri="{FF2B5EF4-FFF2-40B4-BE49-F238E27FC236}">
                <a16:creationId xmlns:a16="http://schemas.microsoft.com/office/drawing/2014/main" id="{71159B1F-50AD-457A-86BF-5455896B8F0C}"/>
              </a:ext>
            </a:extLst>
          </p:cNvPr>
          <p:cNvGraphicFramePr>
            <a:graphicFrameLocks noGrp="1"/>
          </p:cNvGraphicFramePr>
          <p:nvPr>
            <p:extLst>
              <p:ext uri="{D42A27DB-BD31-4B8C-83A1-F6EECF244321}">
                <p14:modId xmlns:p14="http://schemas.microsoft.com/office/powerpoint/2010/main" val="226079"/>
              </p:ext>
            </p:extLst>
          </p:nvPr>
        </p:nvGraphicFramePr>
        <p:xfrm>
          <a:off x="5043053" y="5088108"/>
          <a:ext cx="1191492" cy="370840"/>
        </p:xfrm>
        <a:graphic>
          <a:graphicData uri="http://schemas.openxmlformats.org/drawingml/2006/table">
            <a:tbl>
              <a:tblPr firstRow="1" bandRow="1">
                <a:tableStyleId>{5940675A-B579-460E-94D1-54222C63F5DA}</a:tableStyleId>
              </a:tblPr>
              <a:tblGrid>
                <a:gridCol w="595746">
                  <a:extLst>
                    <a:ext uri="{9D8B030D-6E8A-4147-A177-3AD203B41FA5}">
                      <a16:colId xmlns:a16="http://schemas.microsoft.com/office/drawing/2014/main" val="233024337"/>
                    </a:ext>
                  </a:extLst>
                </a:gridCol>
                <a:gridCol w="595746">
                  <a:extLst>
                    <a:ext uri="{9D8B030D-6E8A-4147-A177-3AD203B41FA5}">
                      <a16:colId xmlns:a16="http://schemas.microsoft.com/office/drawing/2014/main" val="2912442304"/>
                    </a:ext>
                  </a:extLst>
                </a:gridCol>
              </a:tblGrid>
              <a:tr h="370840">
                <a:tc>
                  <a:txBody>
                    <a:bodyPr/>
                    <a:lstStyle/>
                    <a:p>
                      <a:pPr algn="ctr"/>
                      <a:r>
                        <a:rPr lang="en-US" dirty="0"/>
                        <a:t>0</a:t>
                      </a:r>
                      <a:endParaRPr lang="en-PK" dirty="0"/>
                    </a:p>
                  </a:txBody>
                  <a:tcPr/>
                </a:tc>
                <a:tc>
                  <a:txBody>
                    <a:bodyPr/>
                    <a:lstStyle/>
                    <a:p>
                      <a:pPr algn="ctr"/>
                      <a:r>
                        <a:rPr lang="en-US" dirty="0"/>
                        <a:t>1</a:t>
                      </a:r>
                      <a:endParaRPr lang="en-PK" dirty="0"/>
                    </a:p>
                  </a:txBody>
                  <a:tcPr/>
                </a:tc>
                <a:extLst>
                  <a:ext uri="{0D108BD9-81ED-4DB2-BD59-A6C34878D82A}">
                    <a16:rowId xmlns:a16="http://schemas.microsoft.com/office/drawing/2014/main" val="2242873200"/>
                  </a:ext>
                </a:extLst>
              </a:tr>
            </a:tbl>
          </a:graphicData>
        </a:graphic>
      </p:graphicFrame>
      <p:cxnSp>
        <p:nvCxnSpPr>
          <p:cNvPr id="12" name="Straight Arrow Connector 11">
            <a:extLst>
              <a:ext uri="{FF2B5EF4-FFF2-40B4-BE49-F238E27FC236}">
                <a16:creationId xmlns:a16="http://schemas.microsoft.com/office/drawing/2014/main" id="{39DAA2C2-E4D9-4FA1-9D3E-1CE6C01A5E6D}"/>
              </a:ext>
            </a:extLst>
          </p:cNvPr>
          <p:cNvCxnSpPr>
            <a:endCxn id="6" idx="2"/>
          </p:cNvCxnSpPr>
          <p:nvPr/>
        </p:nvCxnSpPr>
        <p:spPr>
          <a:xfrm flipV="1">
            <a:off x="6234545" y="4442072"/>
            <a:ext cx="2332184" cy="8314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0D67865-CC08-4FC3-A9BA-AC41A664842C}"/>
              </a:ext>
            </a:extLst>
          </p:cNvPr>
          <p:cNvCxnSpPr>
            <a:endCxn id="5" idx="2"/>
          </p:cNvCxnSpPr>
          <p:nvPr/>
        </p:nvCxnSpPr>
        <p:spPr>
          <a:xfrm flipH="1" flipV="1">
            <a:off x="2493817" y="4442072"/>
            <a:ext cx="2549236" cy="8314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5B6A7FF9-7E0E-4718-9B40-1BB39EC3EB79}"/>
              </a:ext>
            </a:extLst>
          </p:cNvPr>
          <p:cNvSpPr txBox="1"/>
          <p:nvPr/>
        </p:nvSpPr>
        <p:spPr>
          <a:xfrm>
            <a:off x="9873675" y="3786910"/>
            <a:ext cx="587020" cy="369332"/>
          </a:xfrm>
          <a:prstGeom prst="rect">
            <a:avLst/>
          </a:prstGeom>
          <a:noFill/>
        </p:spPr>
        <p:txBody>
          <a:bodyPr wrap="none" rtlCol="0">
            <a:spAutoFit/>
          </a:bodyPr>
          <a:lstStyle/>
          <a:p>
            <a:r>
              <a:rPr lang="en-US" dirty="0"/>
              <a:t>3 *3</a:t>
            </a:r>
            <a:endParaRPr lang="en-PK" dirty="0"/>
          </a:p>
        </p:txBody>
      </p:sp>
      <p:sp>
        <p:nvSpPr>
          <p:cNvPr id="17" name="TextBox 16">
            <a:extLst>
              <a:ext uri="{FF2B5EF4-FFF2-40B4-BE49-F238E27FC236}">
                <a16:creationId xmlns:a16="http://schemas.microsoft.com/office/drawing/2014/main" id="{FA710187-DB38-438E-A640-7AD5C597BBBD}"/>
              </a:ext>
            </a:extLst>
          </p:cNvPr>
          <p:cNvSpPr txBox="1"/>
          <p:nvPr/>
        </p:nvSpPr>
        <p:spPr>
          <a:xfrm>
            <a:off x="3897745" y="1447762"/>
            <a:ext cx="6096000" cy="369332"/>
          </a:xfrm>
          <a:prstGeom prst="rect">
            <a:avLst/>
          </a:prstGeom>
          <a:noFill/>
        </p:spPr>
        <p:txBody>
          <a:bodyPr wrap="square">
            <a:spAutoFit/>
          </a:bodyPr>
          <a:lstStyle/>
          <a:p>
            <a:r>
              <a:rPr lang="en-US" dirty="0"/>
              <a:t>3 *3</a:t>
            </a:r>
            <a:endParaRPr lang="en-PK" dirty="0"/>
          </a:p>
        </p:txBody>
      </p:sp>
      <p:sp>
        <p:nvSpPr>
          <p:cNvPr id="19" name="TextBox 18">
            <a:extLst>
              <a:ext uri="{FF2B5EF4-FFF2-40B4-BE49-F238E27FC236}">
                <a16:creationId xmlns:a16="http://schemas.microsoft.com/office/drawing/2014/main" id="{805B93B6-A401-45E9-9797-2B4C4E408359}"/>
              </a:ext>
            </a:extLst>
          </p:cNvPr>
          <p:cNvSpPr txBox="1"/>
          <p:nvPr/>
        </p:nvSpPr>
        <p:spPr>
          <a:xfrm>
            <a:off x="3625272" y="3724091"/>
            <a:ext cx="6096000" cy="369332"/>
          </a:xfrm>
          <a:prstGeom prst="rect">
            <a:avLst/>
          </a:prstGeom>
          <a:noFill/>
        </p:spPr>
        <p:txBody>
          <a:bodyPr wrap="square">
            <a:spAutoFit/>
          </a:bodyPr>
          <a:lstStyle/>
          <a:p>
            <a:r>
              <a:rPr lang="en-US" dirty="0"/>
              <a:t>3 *3</a:t>
            </a:r>
            <a:endParaRPr lang="en-PK" dirty="0"/>
          </a:p>
        </p:txBody>
      </p:sp>
      <p:sp>
        <p:nvSpPr>
          <p:cNvPr id="21" name="TextBox 20">
            <a:extLst>
              <a:ext uri="{FF2B5EF4-FFF2-40B4-BE49-F238E27FC236}">
                <a16:creationId xmlns:a16="http://schemas.microsoft.com/office/drawing/2014/main" id="{D337A549-AF99-4DDA-94D2-3F60E0D9CA1D}"/>
              </a:ext>
            </a:extLst>
          </p:cNvPr>
          <p:cNvSpPr txBox="1"/>
          <p:nvPr/>
        </p:nvSpPr>
        <p:spPr>
          <a:xfrm>
            <a:off x="4193310" y="5421627"/>
            <a:ext cx="6096000" cy="369332"/>
          </a:xfrm>
          <a:prstGeom prst="rect">
            <a:avLst/>
          </a:prstGeom>
          <a:noFill/>
        </p:spPr>
        <p:txBody>
          <a:bodyPr wrap="square">
            <a:spAutoFit/>
          </a:bodyPr>
          <a:lstStyle/>
          <a:p>
            <a:r>
              <a:rPr lang="en-US" dirty="0"/>
              <a:t>a[0][0][2];</a:t>
            </a:r>
            <a:endParaRPr lang="en-PK" dirty="0"/>
          </a:p>
        </p:txBody>
      </p:sp>
    </p:spTree>
    <p:extLst>
      <p:ext uri="{BB962C8B-B14F-4D97-AF65-F5344CB8AC3E}">
        <p14:creationId xmlns:p14="http://schemas.microsoft.com/office/powerpoint/2010/main" val="42367009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56B438E-3093-41B0-9C96-016A95D7D486}"/>
              </a:ext>
            </a:extLst>
          </p:cNvPr>
          <p:cNvSpPr/>
          <p:nvPr/>
        </p:nvSpPr>
        <p:spPr>
          <a:xfrm>
            <a:off x="3689498" y="2697480"/>
            <a:ext cx="5624623" cy="7315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PK"/>
          </a:p>
        </p:txBody>
      </p:sp>
      <p:sp>
        <p:nvSpPr>
          <p:cNvPr id="4" name="TextBox 3">
            <a:extLst>
              <a:ext uri="{FF2B5EF4-FFF2-40B4-BE49-F238E27FC236}">
                <a16:creationId xmlns:a16="http://schemas.microsoft.com/office/drawing/2014/main" id="{02AA1EBD-FF28-4F65-B9C9-BC68DB31729E}"/>
              </a:ext>
            </a:extLst>
          </p:cNvPr>
          <p:cNvSpPr txBox="1"/>
          <p:nvPr/>
        </p:nvSpPr>
        <p:spPr>
          <a:xfrm>
            <a:off x="297712" y="627321"/>
            <a:ext cx="11777330" cy="1295868"/>
          </a:xfrm>
          <a:prstGeom prst="rect">
            <a:avLst/>
          </a:prstGeom>
          <a:noFill/>
        </p:spPr>
        <p:txBody>
          <a:bodyPr wrap="square" rtlCol="0">
            <a:spAutoFit/>
          </a:bodyPr>
          <a:lstStyle/>
          <a:p>
            <a:pPr algn="just">
              <a:lnSpc>
                <a:spcPct val="150000"/>
              </a:lnSpc>
            </a:pPr>
            <a:r>
              <a:rPr lang="en-US" b="1" dirty="0"/>
              <a:t>Example: </a:t>
            </a:r>
            <a:r>
              <a:rPr lang="en-US" dirty="0"/>
              <a:t>2* 4* 3 array B . The number of elements in B = 2*4*3 = 24.</a:t>
            </a:r>
          </a:p>
          <a:p>
            <a:pPr algn="just">
              <a:lnSpc>
                <a:spcPct val="150000"/>
              </a:lnSpc>
            </a:pPr>
            <a:r>
              <a:rPr lang="en-US" dirty="0"/>
              <a:t>These 24 elements of B are visually pictured as in below given figure. They appear in three layers called pages. These three subscripts are row, column, page.</a:t>
            </a:r>
          </a:p>
        </p:txBody>
      </p:sp>
      <p:sp>
        <p:nvSpPr>
          <p:cNvPr id="5" name="TextBox 4">
            <a:extLst>
              <a:ext uri="{FF2B5EF4-FFF2-40B4-BE49-F238E27FC236}">
                <a16:creationId xmlns:a16="http://schemas.microsoft.com/office/drawing/2014/main" id="{F2D3298B-3096-4A54-9EDA-B77EE66A5850}"/>
              </a:ext>
            </a:extLst>
          </p:cNvPr>
          <p:cNvSpPr txBox="1"/>
          <p:nvPr/>
        </p:nvSpPr>
        <p:spPr>
          <a:xfrm>
            <a:off x="478465" y="2115879"/>
            <a:ext cx="2535309" cy="369332"/>
          </a:xfrm>
          <a:prstGeom prst="rect">
            <a:avLst/>
          </a:prstGeom>
          <a:noFill/>
        </p:spPr>
        <p:txBody>
          <a:bodyPr wrap="none" rtlCol="0">
            <a:spAutoFit/>
          </a:bodyPr>
          <a:lstStyle/>
          <a:p>
            <a:r>
              <a:rPr lang="en-US" b="1" dirty="0"/>
              <a:t>Memory representation:</a:t>
            </a:r>
            <a:endParaRPr lang="en-PK" b="1" dirty="0"/>
          </a:p>
        </p:txBody>
      </p:sp>
      <p:graphicFrame>
        <p:nvGraphicFramePr>
          <p:cNvPr id="6" name="Table 6">
            <a:extLst>
              <a:ext uri="{FF2B5EF4-FFF2-40B4-BE49-F238E27FC236}">
                <a16:creationId xmlns:a16="http://schemas.microsoft.com/office/drawing/2014/main" id="{F647A89C-4EF2-4A94-8845-7AA8F9C7475E}"/>
              </a:ext>
            </a:extLst>
          </p:cNvPr>
          <p:cNvGraphicFramePr>
            <a:graphicFrameLocks noGrp="1"/>
          </p:cNvGraphicFramePr>
          <p:nvPr>
            <p:extLst>
              <p:ext uri="{D42A27DB-BD31-4B8C-83A1-F6EECF244321}">
                <p14:modId xmlns:p14="http://schemas.microsoft.com/office/powerpoint/2010/main" val="1534934889"/>
              </p:ext>
            </p:extLst>
          </p:nvPr>
        </p:nvGraphicFramePr>
        <p:xfrm>
          <a:off x="3806455" y="2697480"/>
          <a:ext cx="5790016" cy="731520"/>
        </p:xfrm>
        <a:graphic>
          <a:graphicData uri="http://schemas.openxmlformats.org/drawingml/2006/table">
            <a:tbl>
              <a:tblPr firstRow="1" bandRow="1">
                <a:tableStyleId>{2D5ABB26-0587-4C30-8999-92F81FD0307C}</a:tableStyleId>
              </a:tblPr>
              <a:tblGrid>
                <a:gridCol w="1447504">
                  <a:extLst>
                    <a:ext uri="{9D8B030D-6E8A-4147-A177-3AD203B41FA5}">
                      <a16:colId xmlns:a16="http://schemas.microsoft.com/office/drawing/2014/main" val="3050051171"/>
                    </a:ext>
                  </a:extLst>
                </a:gridCol>
                <a:gridCol w="1447504">
                  <a:extLst>
                    <a:ext uri="{9D8B030D-6E8A-4147-A177-3AD203B41FA5}">
                      <a16:colId xmlns:a16="http://schemas.microsoft.com/office/drawing/2014/main" val="3582131743"/>
                    </a:ext>
                  </a:extLst>
                </a:gridCol>
                <a:gridCol w="1447504">
                  <a:extLst>
                    <a:ext uri="{9D8B030D-6E8A-4147-A177-3AD203B41FA5}">
                      <a16:colId xmlns:a16="http://schemas.microsoft.com/office/drawing/2014/main" val="2346382017"/>
                    </a:ext>
                  </a:extLst>
                </a:gridCol>
                <a:gridCol w="1447504">
                  <a:extLst>
                    <a:ext uri="{9D8B030D-6E8A-4147-A177-3AD203B41FA5}">
                      <a16:colId xmlns:a16="http://schemas.microsoft.com/office/drawing/2014/main" val="3797306646"/>
                    </a:ext>
                  </a:extLst>
                </a:gridCol>
              </a:tblGrid>
              <a:tr h="331284">
                <a:tc>
                  <a:txBody>
                    <a:bodyPr/>
                    <a:lstStyle/>
                    <a:p>
                      <a:r>
                        <a:rPr lang="en-US" dirty="0"/>
                        <a:t>B(3,1,1)</a:t>
                      </a:r>
                      <a:endParaRPr lang="en-PK" dirty="0"/>
                    </a:p>
                  </a:txBody>
                  <a:tcPr/>
                </a:tc>
                <a:tc>
                  <a:txBody>
                    <a:bodyPr/>
                    <a:lstStyle/>
                    <a:p>
                      <a:r>
                        <a:rPr lang="en-US" dirty="0"/>
                        <a:t>B(3,1,2)</a:t>
                      </a:r>
                      <a:endParaRPr lang="en-PK" dirty="0"/>
                    </a:p>
                  </a:txBody>
                  <a:tcPr/>
                </a:tc>
                <a:tc>
                  <a:txBody>
                    <a:bodyPr/>
                    <a:lstStyle/>
                    <a:p>
                      <a:r>
                        <a:rPr lang="en-US" dirty="0"/>
                        <a:t>B(3,1,3)</a:t>
                      </a:r>
                      <a:endParaRPr lang="en-PK" dirty="0"/>
                    </a:p>
                  </a:txBody>
                  <a:tcPr/>
                </a:tc>
                <a:tc>
                  <a:txBody>
                    <a:bodyPr/>
                    <a:lstStyle/>
                    <a:p>
                      <a:r>
                        <a:rPr lang="en-US" dirty="0"/>
                        <a:t>B(3,1,4)</a:t>
                      </a:r>
                      <a:endParaRPr lang="en-PK" dirty="0"/>
                    </a:p>
                  </a:txBody>
                  <a:tcPr/>
                </a:tc>
                <a:extLst>
                  <a:ext uri="{0D108BD9-81ED-4DB2-BD59-A6C34878D82A}">
                    <a16:rowId xmlns:a16="http://schemas.microsoft.com/office/drawing/2014/main" val="2940476230"/>
                  </a:ext>
                </a:extLst>
              </a:tr>
              <a:tr h="331284">
                <a:tc>
                  <a:txBody>
                    <a:bodyPr/>
                    <a:lstStyle/>
                    <a:p>
                      <a:r>
                        <a:rPr lang="en-US" dirty="0"/>
                        <a:t>B(3,2,1)</a:t>
                      </a:r>
                      <a:endParaRPr lang="en-PK" dirty="0"/>
                    </a:p>
                  </a:txBody>
                  <a:tcPr/>
                </a:tc>
                <a:tc>
                  <a:txBody>
                    <a:bodyPr/>
                    <a:lstStyle/>
                    <a:p>
                      <a:r>
                        <a:rPr lang="en-US" dirty="0"/>
                        <a:t>B(3,2,2)</a:t>
                      </a:r>
                      <a:endParaRPr lang="en-PK" dirty="0"/>
                    </a:p>
                  </a:txBody>
                  <a:tcPr/>
                </a:tc>
                <a:tc>
                  <a:txBody>
                    <a:bodyPr/>
                    <a:lstStyle/>
                    <a:p>
                      <a:r>
                        <a:rPr lang="en-US" dirty="0"/>
                        <a:t>B(3,2,3)</a:t>
                      </a:r>
                      <a:endParaRPr lang="en-PK" dirty="0"/>
                    </a:p>
                  </a:txBody>
                  <a:tcPr/>
                </a:tc>
                <a:tc>
                  <a:txBody>
                    <a:bodyPr/>
                    <a:lstStyle/>
                    <a:p>
                      <a:r>
                        <a:rPr lang="en-US" dirty="0"/>
                        <a:t>B(3,2,4)</a:t>
                      </a:r>
                      <a:endParaRPr lang="en-PK" dirty="0"/>
                    </a:p>
                  </a:txBody>
                  <a:tcPr/>
                </a:tc>
                <a:extLst>
                  <a:ext uri="{0D108BD9-81ED-4DB2-BD59-A6C34878D82A}">
                    <a16:rowId xmlns:a16="http://schemas.microsoft.com/office/drawing/2014/main" val="2753297978"/>
                  </a:ext>
                </a:extLst>
              </a:tr>
            </a:tbl>
          </a:graphicData>
        </a:graphic>
      </p:graphicFrame>
      <p:sp>
        <p:nvSpPr>
          <p:cNvPr id="9" name="Rectangle 8">
            <a:extLst>
              <a:ext uri="{FF2B5EF4-FFF2-40B4-BE49-F238E27FC236}">
                <a16:creationId xmlns:a16="http://schemas.microsoft.com/office/drawing/2014/main" id="{F7469A48-A931-461D-88B1-DDC748A92916}"/>
              </a:ext>
            </a:extLst>
          </p:cNvPr>
          <p:cNvSpPr/>
          <p:nvPr/>
        </p:nvSpPr>
        <p:spPr>
          <a:xfrm>
            <a:off x="2326172" y="3429000"/>
            <a:ext cx="5624623" cy="7315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PK"/>
          </a:p>
        </p:txBody>
      </p:sp>
      <p:graphicFrame>
        <p:nvGraphicFramePr>
          <p:cNvPr id="10" name="Table 6">
            <a:extLst>
              <a:ext uri="{FF2B5EF4-FFF2-40B4-BE49-F238E27FC236}">
                <a16:creationId xmlns:a16="http://schemas.microsoft.com/office/drawing/2014/main" id="{DE74A6CA-3590-4AE2-97C1-B3768F85F698}"/>
              </a:ext>
            </a:extLst>
          </p:cNvPr>
          <p:cNvGraphicFramePr>
            <a:graphicFrameLocks noGrp="1"/>
          </p:cNvGraphicFramePr>
          <p:nvPr>
            <p:extLst>
              <p:ext uri="{D42A27DB-BD31-4B8C-83A1-F6EECF244321}">
                <p14:modId xmlns:p14="http://schemas.microsoft.com/office/powerpoint/2010/main" val="3291063380"/>
              </p:ext>
            </p:extLst>
          </p:nvPr>
        </p:nvGraphicFramePr>
        <p:xfrm>
          <a:off x="2443129" y="3429000"/>
          <a:ext cx="5790016" cy="731520"/>
        </p:xfrm>
        <a:graphic>
          <a:graphicData uri="http://schemas.openxmlformats.org/drawingml/2006/table">
            <a:tbl>
              <a:tblPr firstRow="1" bandRow="1">
                <a:tableStyleId>{2D5ABB26-0587-4C30-8999-92F81FD0307C}</a:tableStyleId>
              </a:tblPr>
              <a:tblGrid>
                <a:gridCol w="1447504">
                  <a:extLst>
                    <a:ext uri="{9D8B030D-6E8A-4147-A177-3AD203B41FA5}">
                      <a16:colId xmlns:a16="http://schemas.microsoft.com/office/drawing/2014/main" val="3050051171"/>
                    </a:ext>
                  </a:extLst>
                </a:gridCol>
                <a:gridCol w="1447504">
                  <a:extLst>
                    <a:ext uri="{9D8B030D-6E8A-4147-A177-3AD203B41FA5}">
                      <a16:colId xmlns:a16="http://schemas.microsoft.com/office/drawing/2014/main" val="3582131743"/>
                    </a:ext>
                  </a:extLst>
                </a:gridCol>
                <a:gridCol w="1447504">
                  <a:extLst>
                    <a:ext uri="{9D8B030D-6E8A-4147-A177-3AD203B41FA5}">
                      <a16:colId xmlns:a16="http://schemas.microsoft.com/office/drawing/2014/main" val="2346382017"/>
                    </a:ext>
                  </a:extLst>
                </a:gridCol>
                <a:gridCol w="1447504">
                  <a:extLst>
                    <a:ext uri="{9D8B030D-6E8A-4147-A177-3AD203B41FA5}">
                      <a16:colId xmlns:a16="http://schemas.microsoft.com/office/drawing/2014/main" val="3797306646"/>
                    </a:ext>
                  </a:extLst>
                </a:gridCol>
              </a:tblGrid>
              <a:tr h="331284">
                <a:tc>
                  <a:txBody>
                    <a:bodyPr/>
                    <a:lstStyle/>
                    <a:p>
                      <a:r>
                        <a:rPr lang="en-US" dirty="0"/>
                        <a:t>B(2,1,1)</a:t>
                      </a:r>
                      <a:endParaRPr lang="en-PK" dirty="0"/>
                    </a:p>
                  </a:txBody>
                  <a:tcPr/>
                </a:tc>
                <a:tc>
                  <a:txBody>
                    <a:bodyPr/>
                    <a:lstStyle/>
                    <a:p>
                      <a:r>
                        <a:rPr lang="en-US" dirty="0"/>
                        <a:t>B(2,1,2)</a:t>
                      </a:r>
                      <a:endParaRPr lang="en-PK" dirty="0"/>
                    </a:p>
                  </a:txBody>
                  <a:tcPr/>
                </a:tc>
                <a:tc>
                  <a:txBody>
                    <a:bodyPr/>
                    <a:lstStyle/>
                    <a:p>
                      <a:r>
                        <a:rPr lang="en-US" dirty="0"/>
                        <a:t>B(2,1,3)</a:t>
                      </a:r>
                      <a:endParaRPr lang="en-PK" dirty="0"/>
                    </a:p>
                  </a:txBody>
                  <a:tcPr/>
                </a:tc>
                <a:tc>
                  <a:txBody>
                    <a:bodyPr/>
                    <a:lstStyle/>
                    <a:p>
                      <a:r>
                        <a:rPr lang="en-US" dirty="0"/>
                        <a:t>B(2,1,4)</a:t>
                      </a:r>
                      <a:endParaRPr lang="en-PK" dirty="0"/>
                    </a:p>
                  </a:txBody>
                  <a:tcPr/>
                </a:tc>
                <a:extLst>
                  <a:ext uri="{0D108BD9-81ED-4DB2-BD59-A6C34878D82A}">
                    <a16:rowId xmlns:a16="http://schemas.microsoft.com/office/drawing/2014/main" val="2940476230"/>
                  </a:ext>
                </a:extLst>
              </a:tr>
              <a:tr h="331284">
                <a:tc>
                  <a:txBody>
                    <a:bodyPr/>
                    <a:lstStyle/>
                    <a:p>
                      <a:r>
                        <a:rPr lang="en-US" dirty="0"/>
                        <a:t>B(2,2,1)</a:t>
                      </a:r>
                      <a:endParaRPr lang="en-PK" dirty="0"/>
                    </a:p>
                  </a:txBody>
                  <a:tcPr/>
                </a:tc>
                <a:tc>
                  <a:txBody>
                    <a:bodyPr/>
                    <a:lstStyle/>
                    <a:p>
                      <a:r>
                        <a:rPr lang="en-US" dirty="0"/>
                        <a:t>B(2,2,2)</a:t>
                      </a:r>
                      <a:endParaRPr lang="en-PK" dirty="0"/>
                    </a:p>
                  </a:txBody>
                  <a:tcPr/>
                </a:tc>
                <a:tc>
                  <a:txBody>
                    <a:bodyPr/>
                    <a:lstStyle/>
                    <a:p>
                      <a:r>
                        <a:rPr lang="en-US" dirty="0"/>
                        <a:t>B(2,2,3)</a:t>
                      </a:r>
                      <a:endParaRPr lang="en-PK" dirty="0"/>
                    </a:p>
                  </a:txBody>
                  <a:tcPr/>
                </a:tc>
                <a:tc>
                  <a:txBody>
                    <a:bodyPr/>
                    <a:lstStyle/>
                    <a:p>
                      <a:r>
                        <a:rPr lang="en-US" dirty="0"/>
                        <a:t>B(2,2,4)</a:t>
                      </a:r>
                      <a:endParaRPr lang="en-PK" dirty="0"/>
                    </a:p>
                  </a:txBody>
                  <a:tcPr/>
                </a:tc>
                <a:extLst>
                  <a:ext uri="{0D108BD9-81ED-4DB2-BD59-A6C34878D82A}">
                    <a16:rowId xmlns:a16="http://schemas.microsoft.com/office/drawing/2014/main" val="2753297978"/>
                  </a:ext>
                </a:extLst>
              </a:tr>
            </a:tbl>
          </a:graphicData>
        </a:graphic>
      </p:graphicFrame>
      <p:sp>
        <p:nvSpPr>
          <p:cNvPr id="11" name="Rectangle 10">
            <a:extLst>
              <a:ext uri="{FF2B5EF4-FFF2-40B4-BE49-F238E27FC236}">
                <a16:creationId xmlns:a16="http://schemas.microsoft.com/office/drawing/2014/main" id="{C37D4DE1-CDCF-426D-A8A3-B39736906CCE}"/>
              </a:ext>
            </a:extLst>
          </p:cNvPr>
          <p:cNvSpPr/>
          <p:nvPr/>
        </p:nvSpPr>
        <p:spPr>
          <a:xfrm>
            <a:off x="1362153" y="4160520"/>
            <a:ext cx="5624623" cy="7315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PK"/>
          </a:p>
        </p:txBody>
      </p:sp>
      <p:graphicFrame>
        <p:nvGraphicFramePr>
          <p:cNvPr id="12" name="Table 6">
            <a:extLst>
              <a:ext uri="{FF2B5EF4-FFF2-40B4-BE49-F238E27FC236}">
                <a16:creationId xmlns:a16="http://schemas.microsoft.com/office/drawing/2014/main" id="{5C8B7D7E-568A-4A93-B969-BE0E96C43EC2}"/>
              </a:ext>
            </a:extLst>
          </p:cNvPr>
          <p:cNvGraphicFramePr>
            <a:graphicFrameLocks noGrp="1"/>
          </p:cNvGraphicFramePr>
          <p:nvPr>
            <p:extLst>
              <p:ext uri="{D42A27DB-BD31-4B8C-83A1-F6EECF244321}">
                <p14:modId xmlns:p14="http://schemas.microsoft.com/office/powerpoint/2010/main" val="3808123562"/>
              </p:ext>
            </p:extLst>
          </p:nvPr>
        </p:nvGraphicFramePr>
        <p:xfrm>
          <a:off x="1479110" y="4160520"/>
          <a:ext cx="5790016" cy="731520"/>
        </p:xfrm>
        <a:graphic>
          <a:graphicData uri="http://schemas.openxmlformats.org/drawingml/2006/table">
            <a:tbl>
              <a:tblPr firstRow="1" bandRow="1">
                <a:tableStyleId>{2D5ABB26-0587-4C30-8999-92F81FD0307C}</a:tableStyleId>
              </a:tblPr>
              <a:tblGrid>
                <a:gridCol w="1447504">
                  <a:extLst>
                    <a:ext uri="{9D8B030D-6E8A-4147-A177-3AD203B41FA5}">
                      <a16:colId xmlns:a16="http://schemas.microsoft.com/office/drawing/2014/main" val="3050051171"/>
                    </a:ext>
                  </a:extLst>
                </a:gridCol>
                <a:gridCol w="1447504">
                  <a:extLst>
                    <a:ext uri="{9D8B030D-6E8A-4147-A177-3AD203B41FA5}">
                      <a16:colId xmlns:a16="http://schemas.microsoft.com/office/drawing/2014/main" val="3582131743"/>
                    </a:ext>
                  </a:extLst>
                </a:gridCol>
                <a:gridCol w="1447504">
                  <a:extLst>
                    <a:ext uri="{9D8B030D-6E8A-4147-A177-3AD203B41FA5}">
                      <a16:colId xmlns:a16="http://schemas.microsoft.com/office/drawing/2014/main" val="2346382017"/>
                    </a:ext>
                  </a:extLst>
                </a:gridCol>
                <a:gridCol w="1447504">
                  <a:extLst>
                    <a:ext uri="{9D8B030D-6E8A-4147-A177-3AD203B41FA5}">
                      <a16:colId xmlns:a16="http://schemas.microsoft.com/office/drawing/2014/main" val="3797306646"/>
                    </a:ext>
                  </a:extLst>
                </a:gridCol>
              </a:tblGrid>
              <a:tr h="331284">
                <a:tc>
                  <a:txBody>
                    <a:bodyPr/>
                    <a:lstStyle/>
                    <a:p>
                      <a:r>
                        <a:rPr lang="en-US" dirty="0"/>
                        <a:t>B(1,1,1)</a:t>
                      </a:r>
                      <a:endParaRPr lang="en-PK" dirty="0"/>
                    </a:p>
                  </a:txBody>
                  <a:tcPr/>
                </a:tc>
                <a:tc>
                  <a:txBody>
                    <a:bodyPr/>
                    <a:lstStyle/>
                    <a:p>
                      <a:r>
                        <a:rPr lang="en-US" dirty="0"/>
                        <a:t>B(1,1,2)</a:t>
                      </a:r>
                      <a:endParaRPr lang="en-PK" dirty="0"/>
                    </a:p>
                  </a:txBody>
                  <a:tcPr/>
                </a:tc>
                <a:tc>
                  <a:txBody>
                    <a:bodyPr/>
                    <a:lstStyle/>
                    <a:p>
                      <a:r>
                        <a:rPr lang="en-US" dirty="0"/>
                        <a:t>B(1,1,3)</a:t>
                      </a:r>
                      <a:endParaRPr lang="en-PK" dirty="0"/>
                    </a:p>
                  </a:txBody>
                  <a:tcPr/>
                </a:tc>
                <a:tc>
                  <a:txBody>
                    <a:bodyPr/>
                    <a:lstStyle/>
                    <a:p>
                      <a:r>
                        <a:rPr lang="en-US" dirty="0"/>
                        <a:t>B(1,1,4)</a:t>
                      </a:r>
                      <a:endParaRPr lang="en-PK" dirty="0"/>
                    </a:p>
                  </a:txBody>
                  <a:tcPr/>
                </a:tc>
                <a:extLst>
                  <a:ext uri="{0D108BD9-81ED-4DB2-BD59-A6C34878D82A}">
                    <a16:rowId xmlns:a16="http://schemas.microsoft.com/office/drawing/2014/main" val="2940476230"/>
                  </a:ext>
                </a:extLst>
              </a:tr>
              <a:tr h="331284">
                <a:tc>
                  <a:txBody>
                    <a:bodyPr/>
                    <a:lstStyle/>
                    <a:p>
                      <a:r>
                        <a:rPr lang="en-US" dirty="0"/>
                        <a:t>B(1,2,1)</a:t>
                      </a:r>
                      <a:endParaRPr lang="en-PK" dirty="0"/>
                    </a:p>
                  </a:txBody>
                  <a:tcPr/>
                </a:tc>
                <a:tc>
                  <a:txBody>
                    <a:bodyPr/>
                    <a:lstStyle/>
                    <a:p>
                      <a:r>
                        <a:rPr lang="en-US" dirty="0"/>
                        <a:t>B(1,2,2)</a:t>
                      </a:r>
                      <a:endParaRPr lang="en-PK" dirty="0"/>
                    </a:p>
                  </a:txBody>
                  <a:tcPr/>
                </a:tc>
                <a:tc>
                  <a:txBody>
                    <a:bodyPr/>
                    <a:lstStyle/>
                    <a:p>
                      <a:r>
                        <a:rPr lang="en-US" dirty="0"/>
                        <a:t>B(1,2,3)</a:t>
                      </a:r>
                      <a:endParaRPr lang="en-PK" dirty="0"/>
                    </a:p>
                  </a:txBody>
                  <a:tcPr/>
                </a:tc>
                <a:tc>
                  <a:txBody>
                    <a:bodyPr/>
                    <a:lstStyle/>
                    <a:p>
                      <a:r>
                        <a:rPr lang="en-US" dirty="0"/>
                        <a:t>B(1,2,4)</a:t>
                      </a:r>
                      <a:endParaRPr lang="en-PK" dirty="0"/>
                    </a:p>
                  </a:txBody>
                  <a:tcPr/>
                </a:tc>
                <a:extLst>
                  <a:ext uri="{0D108BD9-81ED-4DB2-BD59-A6C34878D82A}">
                    <a16:rowId xmlns:a16="http://schemas.microsoft.com/office/drawing/2014/main" val="2753297978"/>
                  </a:ext>
                </a:extLst>
              </a:tr>
            </a:tbl>
          </a:graphicData>
        </a:graphic>
      </p:graphicFrame>
      <p:sp>
        <p:nvSpPr>
          <p:cNvPr id="13" name="TextBox 12">
            <a:extLst>
              <a:ext uri="{FF2B5EF4-FFF2-40B4-BE49-F238E27FC236}">
                <a16:creationId xmlns:a16="http://schemas.microsoft.com/office/drawing/2014/main" id="{1C02A0BF-CE9B-4476-938B-80CFB5B23406}"/>
              </a:ext>
            </a:extLst>
          </p:cNvPr>
          <p:cNvSpPr txBox="1"/>
          <p:nvPr/>
        </p:nvSpPr>
        <p:spPr>
          <a:xfrm>
            <a:off x="3266657" y="2342502"/>
            <a:ext cx="845681" cy="369332"/>
          </a:xfrm>
          <a:prstGeom prst="rect">
            <a:avLst/>
          </a:prstGeom>
          <a:noFill/>
        </p:spPr>
        <p:txBody>
          <a:bodyPr wrap="none" rtlCol="0">
            <a:spAutoFit/>
          </a:bodyPr>
          <a:lstStyle/>
          <a:p>
            <a:r>
              <a:rPr lang="en-US" dirty="0"/>
              <a:t>PAGE 3</a:t>
            </a:r>
            <a:endParaRPr lang="en-PK" dirty="0"/>
          </a:p>
        </p:txBody>
      </p:sp>
      <p:sp>
        <p:nvSpPr>
          <p:cNvPr id="14" name="TextBox 13">
            <a:extLst>
              <a:ext uri="{FF2B5EF4-FFF2-40B4-BE49-F238E27FC236}">
                <a16:creationId xmlns:a16="http://schemas.microsoft.com/office/drawing/2014/main" id="{230AF3BE-045E-4023-9513-B94524FF5685}"/>
              </a:ext>
            </a:extLst>
          </p:cNvPr>
          <p:cNvSpPr txBox="1"/>
          <p:nvPr/>
        </p:nvSpPr>
        <p:spPr>
          <a:xfrm>
            <a:off x="1829690" y="3063240"/>
            <a:ext cx="845681" cy="369332"/>
          </a:xfrm>
          <a:prstGeom prst="rect">
            <a:avLst/>
          </a:prstGeom>
          <a:noFill/>
        </p:spPr>
        <p:txBody>
          <a:bodyPr wrap="none" rtlCol="0">
            <a:spAutoFit/>
          </a:bodyPr>
          <a:lstStyle/>
          <a:p>
            <a:r>
              <a:rPr lang="en-US" dirty="0"/>
              <a:t>PAGE 2</a:t>
            </a:r>
            <a:endParaRPr lang="en-PK" dirty="0"/>
          </a:p>
        </p:txBody>
      </p:sp>
      <p:sp>
        <p:nvSpPr>
          <p:cNvPr id="15" name="TextBox 14">
            <a:extLst>
              <a:ext uri="{FF2B5EF4-FFF2-40B4-BE49-F238E27FC236}">
                <a16:creationId xmlns:a16="http://schemas.microsoft.com/office/drawing/2014/main" id="{F823655E-A075-4AD7-9F26-DBE721714993}"/>
              </a:ext>
            </a:extLst>
          </p:cNvPr>
          <p:cNvSpPr txBox="1"/>
          <p:nvPr/>
        </p:nvSpPr>
        <p:spPr>
          <a:xfrm>
            <a:off x="809410" y="3794760"/>
            <a:ext cx="845681" cy="369332"/>
          </a:xfrm>
          <a:prstGeom prst="rect">
            <a:avLst/>
          </a:prstGeom>
          <a:noFill/>
        </p:spPr>
        <p:txBody>
          <a:bodyPr wrap="none" rtlCol="0">
            <a:spAutoFit/>
          </a:bodyPr>
          <a:lstStyle/>
          <a:p>
            <a:r>
              <a:rPr lang="en-US" dirty="0"/>
              <a:t>PAGE 1</a:t>
            </a:r>
            <a:endParaRPr lang="en-PK" dirty="0"/>
          </a:p>
        </p:txBody>
      </p:sp>
      <p:sp>
        <p:nvSpPr>
          <p:cNvPr id="16" name="TextBox 15">
            <a:extLst>
              <a:ext uri="{FF2B5EF4-FFF2-40B4-BE49-F238E27FC236}">
                <a16:creationId xmlns:a16="http://schemas.microsoft.com/office/drawing/2014/main" id="{4B584C62-8DE6-45E2-BA48-A9D62BD10AD9}"/>
              </a:ext>
            </a:extLst>
          </p:cNvPr>
          <p:cNvSpPr txBox="1"/>
          <p:nvPr/>
        </p:nvSpPr>
        <p:spPr>
          <a:xfrm>
            <a:off x="3813949" y="6046013"/>
            <a:ext cx="3455177" cy="369332"/>
          </a:xfrm>
          <a:prstGeom prst="rect">
            <a:avLst/>
          </a:prstGeom>
          <a:noFill/>
        </p:spPr>
        <p:txBody>
          <a:bodyPr wrap="none" rtlCol="0">
            <a:spAutoFit/>
          </a:bodyPr>
          <a:lstStyle/>
          <a:p>
            <a:r>
              <a:rPr lang="en-US" b="1" dirty="0"/>
              <a:t>Fig: Column Major Representation</a:t>
            </a:r>
            <a:endParaRPr lang="en-PK" b="1" dirty="0"/>
          </a:p>
        </p:txBody>
      </p:sp>
      <p:sp>
        <p:nvSpPr>
          <p:cNvPr id="17" name="TextBox 16">
            <a:extLst>
              <a:ext uri="{FF2B5EF4-FFF2-40B4-BE49-F238E27FC236}">
                <a16:creationId xmlns:a16="http://schemas.microsoft.com/office/drawing/2014/main" id="{E924D01C-DD0A-4914-B20F-EB76149958A9}"/>
              </a:ext>
            </a:extLst>
          </p:cNvPr>
          <p:cNvSpPr txBox="1"/>
          <p:nvPr/>
        </p:nvSpPr>
        <p:spPr>
          <a:xfrm>
            <a:off x="6783572" y="1784899"/>
            <a:ext cx="2124043" cy="369332"/>
          </a:xfrm>
          <a:prstGeom prst="rect">
            <a:avLst/>
          </a:prstGeom>
          <a:noFill/>
        </p:spPr>
        <p:txBody>
          <a:bodyPr wrap="none" rtlCol="0">
            <a:spAutoFit/>
          </a:bodyPr>
          <a:lstStyle/>
          <a:p>
            <a:r>
              <a:rPr lang="en-US" dirty="0"/>
              <a:t>Page ,  Row,  Column</a:t>
            </a:r>
            <a:endParaRPr lang="en-PK" dirty="0"/>
          </a:p>
        </p:txBody>
      </p:sp>
      <p:sp>
        <p:nvSpPr>
          <p:cNvPr id="19" name="TextBox 18">
            <a:extLst>
              <a:ext uri="{FF2B5EF4-FFF2-40B4-BE49-F238E27FC236}">
                <a16:creationId xmlns:a16="http://schemas.microsoft.com/office/drawing/2014/main" id="{7022420C-1B41-428E-AE84-5F32E58B82DF}"/>
              </a:ext>
            </a:extLst>
          </p:cNvPr>
          <p:cNvSpPr txBox="1"/>
          <p:nvPr/>
        </p:nvSpPr>
        <p:spPr>
          <a:xfrm>
            <a:off x="217771" y="107474"/>
            <a:ext cx="6097772" cy="461665"/>
          </a:xfrm>
          <a:prstGeom prst="rect">
            <a:avLst/>
          </a:prstGeom>
          <a:noFill/>
        </p:spPr>
        <p:txBody>
          <a:bodyPr wrap="square">
            <a:spAutoFit/>
          </a:bodyPr>
          <a:lstStyle/>
          <a:p>
            <a:r>
              <a:rPr lang="en-US" sz="2400" b="1" dirty="0">
                <a:solidFill>
                  <a:schemeClr val="accent1">
                    <a:lumMod val="50000"/>
                  </a:schemeClr>
                </a:solidFill>
              </a:rPr>
              <a:t>Memory representation of 3D Array</a:t>
            </a:r>
            <a:endParaRPr lang="en-PK" sz="2400" b="1" dirty="0">
              <a:solidFill>
                <a:schemeClr val="accent1">
                  <a:lumMod val="50000"/>
                </a:schemeClr>
              </a:solidFill>
            </a:endParaRPr>
          </a:p>
        </p:txBody>
      </p:sp>
      <p:sp>
        <p:nvSpPr>
          <p:cNvPr id="20" name="TextBox 19">
            <a:extLst>
              <a:ext uri="{FF2B5EF4-FFF2-40B4-BE49-F238E27FC236}">
                <a16:creationId xmlns:a16="http://schemas.microsoft.com/office/drawing/2014/main" id="{B8F8ED9A-98E9-43B0-9B07-2260242036E6}"/>
              </a:ext>
            </a:extLst>
          </p:cNvPr>
          <p:cNvSpPr txBox="1"/>
          <p:nvPr/>
        </p:nvSpPr>
        <p:spPr>
          <a:xfrm>
            <a:off x="8495414" y="4486940"/>
            <a:ext cx="1454244" cy="369332"/>
          </a:xfrm>
          <a:prstGeom prst="rect">
            <a:avLst/>
          </a:prstGeom>
          <a:noFill/>
        </p:spPr>
        <p:txBody>
          <a:bodyPr wrap="none" rtlCol="0">
            <a:spAutoFit/>
          </a:bodyPr>
          <a:lstStyle/>
          <a:p>
            <a:r>
              <a:rPr lang="en-US" dirty="0"/>
              <a:t>B [3]  [2]   [4]</a:t>
            </a:r>
            <a:endParaRPr lang="en-PK" dirty="0"/>
          </a:p>
        </p:txBody>
      </p:sp>
      <p:cxnSp>
        <p:nvCxnSpPr>
          <p:cNvPr id="23" name="Straight Arrow Connector 22">
            <a:extLst>
              <a:ext uri="{FF2B5EF4-FFF2-40B4-BE49-F238E27FC236}">
                <a16:creationId xmlns:a16="http://schemas.microsoft.com/office/drawing/2014/main" id="{7224EE8B-9C87-472A-975C-C3FE0A7ECDAB}"/>
              </a:ext>
            </a:extLst>
          </p:cNvPr>
          <p:cNvCxnSpPr>
            <a:cxnSpLocks/>
            <a:stCxn id="15" idx="2"/>
          </p:cNvCxnSpPr>
          <p:nvPr/>
        </p:nvCxnSpPr>
        <p:spPr>
          <a:xfrm>
            <a:off x="1232251" y="4164092"/>
            <a:ext cx="288797" cy="1864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A70E4714-949A-4DAF-99B0-D04AA939BCFF}"/>
              </a:ext>
            </a:extLst>
          </p:cNvPr>
          <p:cNvCxnSpPr>
            <a:cxnSpLocks/>
          </p:cNvCxnSpPr>
          <p:nvPr/>
        </p:nvCxnSpPr>
        <p:spPr>
          <a:xfrm>
            <a:off x="1650950" y="4367517"/>
            <a:ext cx="95169" cy="2215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4F14A214-719E-47D7-ABEB-BFD92672C9D7}"/>
              </a:ext>
            </a:extLst>
          </p:cNvPr>
          <p:cNvCxnSpPr>
            <a:cxnSpLocks/>
          </p:cNvCxnSpPr>
          <p:nvPr/>
        </p:nvCxnSpPr>
        <p:spPr>
          <a:xfrm flipV="1">
            <a:off x="2311746" y="4350508"/>
            <a:ext cx="702028" cy="3210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3AF313D8-5F67-4E7E-8C10-EC5A9A355E2B}"/>
              </a:ext>
            </a:extLst>
          </p:cNvPr>
          <p:cNvCxnSpPr>
            <a:cxnSpLocks/>
          </p:cNvCxnSpPr>
          <p:nvPr/>
        </p:nvCxnSpPr>
        <p:spPr>
          <a:xfrm>
            <a:off x="3094074" y="4376361"/>
            <a:ext cx="83430" cy="2952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58535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56B438E-3093-41B0-9C96-016A95D7D486}"/>
              </a:ext>
            </a:extLst>
          </p:cNvPr>
          <p:cNvSpPr/>
          <p:nvPr/>
        </p:nvSpPr>
        <p:spPr>
          <a:xfrm>
            <a:off x="3689498" y="2697480"/>
            <a:ext cx="5624623" cy="7315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PK"/>
          </a:p>
        </p:txBody>
      </p:sp>
      <p:sp>
        <p:nvSpPr>
          <p:cNvPr id="4" name="TextBox 3">
            <a:extLst>
              <a:ext uri="{FF2B5EF4-FFF2-40B4-BE49-F238E27FC236}">
                <a16:creationId xmlns:a16="http://schemas.microsoft.com/office/drawing/2014/main" id="{02AA1EBD-FF28-4F65-B9C9-BC68DB31729E}"/>
              </a:ext>
            </a:extLst>
          </p:cNvPr>
          <p:cNvSpPr txBox="1"/>
          <p:nvPr/>
        </p:nvSpPr>
        <p:spPr>
          <a:xfrm>
            <a:off x="297712" y="627321"/>
            <a:ext cx="11777330" cy="1295868"/>
          </a:xfrm>
          <a:prstGeom prst="rect">
            <a:avLst/>
          </a:prstGeom>
          <a:noFill/>
        </p:spPr>
        <p:txBody>
          <a:bodyPr wrap="square" rtlCol="0">
            <a:spAutoFit/>
          </a:bodyPr>
          <a:lstStyle/>
          <a:p>
            <a:pPr algn="just">
              <a:lnSpc>
                <a:spcPct val="150000"/>
              </a:lnSpc>
            </a:pPr>
            <a:r>
              <a:rPr lang="en-US" b="1" dirty="0"/>
              <a:t>Example: </a:t>
            </a:r>
            <a:r>
              <a:rPr lang="en-US" dirty="0"/>
              <a:t>2* 4* 3 array B . The number of elements in B = 2*4*3 = 24.</a:t>
            </a:r>
          </a:p>
          <a:p>
            <a:pPr algn="just">
              <a:lnSpc>
                <a:spcPct val="150000"/>
              </a:lnSpc>
            </a:pPr>
            <a:r>
              <a:rPr lang="en-US" dirty="0"/>
              <a:t>These 24 elements of B are visually pictured as in below given figure. They appear in three layers called pages. These three subscripts are row, column, page.</a:t>
            </a:r>
          </a:p>
        </p:txBody>
      </p:sp>
      <p:sp>
        <p:nvSpPr>
          <p:cNvPr id="5" name="TextBox 4">
            <a:extLst>
              <a:ext uri="{FF2B5EF4-FFF2-40B4-BE49-F238E27FC236}">
                <a16:creationId xmlns:a16="http://schemas.microsoft.com/office/drawing/2014/main" id="{F2D3298B-3096-4A54-9EDA-B77EE66A5850}"/>
              </a:ext>
            </a:extLst>
          </p:cNvPr>
          <p:cNvSpPr txBox="1"/>
          <p:nvPr/>
        </p:nvSpPr>
        <p:spPr>
          <a:xfrm>
            <a:off x="478465" y="2115879"/>
            <a:ext cx="2535309" cy="369332"/>
          </a:xfrm>
          <a:prstGeom prst="rect">
            <a:avLst/>
          </a:prstGeom>
          <a:noFill/>
        </p:spPr>
        <p:txBody>
          <a:bodyPr wrap="none" rtlCol="0">
            <a:spAutoFit/>
          </a:bodyPr>
          <a:lstStyle/>
          <a:p>
            <a:r>
              <a:rPr lang="en-US" b="1" dirty="0"/>
              <a:t>Memory representation:</a:t>
            </a:r>
            <a:endParaRPr lang="en-PK" b="1" dirty="0"/>
          </a:p>
        </p:txBody>
      </p:sp>
      <p:graphicFrame>
        <p:nvGraphicFramePr>
          <p:cNvPr id="6" name="Table 6">
            <a:extLst>
              <a:ext uri="{FF2B5EF4-FFF2-40B4-BE49-F238E27FC236}">
                <a16:creationId xmlns:a16="http://schemas.microsoft.com/office/drawing/2014/main" id="{F647A89C-4EF2-4A94-8845-7AA8F9C7475E}"/>
              </a:ext>
            </a:extLst>
          </p:cNvPr>
          <p:cNvGraphicFramePr>
            <a:graphicFrameLocks noGrp="1"/>
          </p:cNvGraphicFramePr>
          <p:nvPr/>
        </p:nvGraphicFramePr>
        <p:xfrm>
          <a:off x="3806455" y="2697480"/>
          <a:ext cx="5790016" cy="731520"/>
        </p:xfrm>
        <a:graphic>
          <a:graphicData uri="http://schemas.openxmlformats.org/drawingml/2006/table">
            <a:tbl>
              <a:tblPr firstRow="1" bandRow="1">
                <a:tableStyleId>{2D5ABB26-0587-4C30-8999-92F81FD0307C}</a:tableStyleId>
              </a:tblPr>
              <a:tblGrid>
                <a:gridCol w="1447504">
                  <a:extLst>
                    <a:ext uri="{9D8B030D-6E8A-4147-A177-3AD203B41FA5}">
                      <a16:colId xmlns:a16="http://schemas.microsoft.com/office/drawing/2014/main" val="3050051171"/>
                    </a:ext>
                  </a:extLst>
                </a:gridCol>
                <a:gridCol w="1447504">
                  <a:extLst>
                    <a:ext uri="{9D8B030D-6E8A-4147-A177-3AD203B41FA5}">
                      <a16:colId xmlns:a16="http://schemas.microsoft.com/office/drawing/2014/main" val="3582131743"/>
                    </a:ext>
                  </a:extLst>
                </a:gridCol>
                <a:gridCol w="1447504">
                  <a:extLst>
                    <a:ext uri="{9D8B030D-6E8A-4147-A177-3AD203B41FA5}">
                      <a16:colId xmlns:a16="http://schemas.microsoft.com/office/drawing/2014/main" val="2346382017"/>
                    </a:ext>
                  </a:extLst>
                </a:gridCol>
                <a:gridCol w="1447504">
                  <a:extLst>
                    <a:ext uri="{9D8B030D-6E8A-4147-A177-3AD203B41FA5}">
                      <a16:colId xmlns:a16="http://schemas.microsoft.com/office/drawing/2014/main" val="3797306646"/>
                    </a:ext>
                  </a:extLst>
                </a:gridCol>
              </a:tblGrid>
              <a:tr h="331284">
                <a:tc>
                  <a:txBody>
                    <a:bodyPr/>
                    <a:lstStyle/>
                    <a:p>
                      <a:r>
                        <a:rPr lang="en-US" dirty="0"/>
                        <a:t>B(3,1,1)</a:t>
                      </a:r>
                      <a:endParaRPr lang="en-PK" dirty="0"/>
                    </a:p>
                  </a:txBody>
                  <a:tcPr/>
                </a:tc>
                <a:tc>
                  <a:txBody>
                    <a:bodyPr/>
                    <a:lstStyle/>
                    <a:p>
                      <a:r>
                        <a:rPr lang="en-US" dirty="0"/>
                        <a:t>B(3,1,2)</a:t>
                      </a:r>
                      <a:endParaRPr lang="en-PK" dirty="0"/>
                    </a:p>
                  </a:txBody>
                  <a:tcPr/>
                </a:tc>
                <a:tc>
                  <a:txBody>
                    <a:bodyPr/>
                    <a:lstStyle/>
                    <a:p>
                      <a:r>
                        <a:rPr lang="en-US" dirty="0"/>
                        <a:t>B(3,1,3)</a:t>
                      </a:r>
                      <a:endParaRPr lang="en-PK" dirty="0"/>
                    </a:p>
                  </a:txBody>
                  <a:tcPr/>
                </a:tc>
                <a:tc>
                  <a:txBody>
                    <a:bodyPr/>
                    <a:lstStyle/>
                    <a:p>
                      <a:r>
                        <a:rPr lang="en-US" dirty="0"/>
                        <a:t>B(3,1,4)</a:t>
                      </a:r>
                      <a:endParaRPr lang="en-PK" dirty="0"/>
                    </a:p>
                  </a:txBody>
                  <a:tcPr/>
                </a:tc>
                <a:extLst>
                  <a:ext uri="{0D108BD9-81ED-4DB2-BD59-A6C34878D82A}">
                    <a16:rowId xmlns:a16="http://schemas.microsoft.com/office/drawing/2014/main" val="2940476230"/>
                  </a:ext>
                </a:extLst>
              </a:tr>
              <a:tr h="331284">
                <a:tc>
                  <a:txBody>
                    <a:bodyPr/>
                    <a:lstStyle/>
                    <a:p>
                      <a:r>
                        <a:rPr lang="en-US" dirty="0"/>
                        <a:t>B(3,2,1)</a:t>
                      </a:r>
                      <a:endParaRPr lang="en-PK" dirty="0"/>
                    </a:p>
                  </a:txBody>
                  <a:tcPr/>
                </a:tc>
                <a:tc>
                  <a:txBody>
                    <a:bodyPr/>
                    <a:lstStyle/>
                    <a:p>
                      <a:r>
                        <a:rPr lang="en-US" dirty="0"/>
                        <a:t>B(3,2,2)</a:t>
                      </a:r>
                      <a:endParaRPr lang="en-PK" dirty="0"/>
                    </a:p>
                  </a:txBody>
                  <a:tcPr/>
                </a:tc>
                <a:tc>
                  <a:txBody>
                    <a:bodyPr/>
                    <a:lstStyle/>
                    <a:p>
                      <a:r>
                        <a:rPr lang="en-US" dirty="0"/>
                        <a:t>B(3,2,3)</a:t>
                      </a:r>
                      <a:endParaRPr lang="en-PK" dirty="0"/>
                    </a:p>
                  </a:txBody>
                  <a:tcPr/>
                </a:tc>
                <a:tc>
                  <a:txBody>
                    <a:bodyPr/>
                    <a:lstStyle/>
                    <a:p>
                      <a:r>
                        <a:rPr lang="en-US" dirty="0"/>
                        <a:t>B(3,2,4)</a:t>
                      </a:r>
                      <a:endParaRPr lang="en-PK" dirty="0"/>
                    </a:p>
                  </a:txBody>
                  <a:tcPr/>
                </a:tc>
                <a:extLst>
                  <a:ext uri="{0D108BD9-81ED-4DB2-BD59-A6C34878D82A}">
                    <a16:rowId xmlns:a16="http://schemas.microsoft.com/office/drawing/2014/main" val="2753297978"/>
                  </a:ext>
                </a:extLst>
              </a:tr>
            </a:tbl>
          </a:graphicData>
        </a:graphic>
      </p:graphicFrame>
      <p:sp>
        <p:nvSpPr>
          <p:cNvPr id="9" name="Rectangle 8">
            <a:extLst>
              <a:ext uri="{FF2B5EF4-FFF2-40B4-BE49-F238E27FC236}">
                <a16:creationId xmlns:a16="http://schemas.microsoft.com/office/drawing/2014/main" id="{F7469A48-A931-461D-88B1-DDC748A92916}"/>
              </a:ext>
            </a:extLst>
          </p:cNvPr>
          <p:cNvSpPr/>
          <p:nvPr/>
        </p:nvSpPr>
        <p:spPr>
          <a:xfrm>
            <a:off x="2326172" y="3429000"/>
            <a:ext cx="5624623" cy="7315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PK"/>
          </a:p>
        </p:txBody>
      </p:sp>
      <p:graphicFrame>
        <p:nvGraphicFramePr>
          <p:cNvPr id="10" name="Table 6">
            <a:extLst>
              <a:ext uri="{FF2B5EF4-FFF2-40B4-BE49-F238E27FC236}">
                <a16:creationId xmlns:a16="http://schemas.microsoft.com/office/drawing/2014/main" id="{DE74A6CA-3590-4AE2-97C1-B3768F85F698}"/>
              </a:ext>
            </a:extLst>
          </p:cNvPr>
          <p:cNvGraphicFramePr>
            <a:graphicFrameLocks noGrp="1"/>
          </p:cNvGraphicFramePr>
          <p:nvPr/>
        </p:nvGraphicFramePr>
        <p:xfrm>
          <a:off x="2443129" y="3429000"/>
          <a:ext cx="5790016" cy="731520"/>
        </p:xfrm>
        <a:graphic>
          <a:graphicData uri="http://schemas.openxmlformats.org/drawingml/2006/table">
            <a:tbl>
              <a:tblPr firstRow="1" bandRow="1">
                <a:tableStyleId>{2D5ABB26-0587-4C30-8999-92F81FD0307C}</a:tableStyleId>
              </a:tblPr>
              <a:tblGrid>
                <a:gridCol w="1447504">
                  <a:extLst>
                    <a:ext uri="{9D8B030D-6E8A-4147-A177-3AD203B41FA5}">
                      <a16:colId xmlns:a16="http://schemas.microsoft.com/office/drawing/2014/main" val="3050051171"/>
                    </a:ext>
                  </a:extLst>
                </a:gridCol>
                <a:gridCol w="1447504">
                  <a:extLst>
                    <a:ext uri="{9D8B030D-6E8A-4147-A177-3AD203B41FA5}">
                      <a16:colId xmlns:a16="http://schemas.microsoft.com/office/drawing/2014/main" val="3582131743"/>
                    </a:ext>
                  </a:extLst>
                </a:gridCol>
                <a:gridCol w="1447504">
                  <a:extLst>
                    <a:ext uri="{9D8B030D-6E8A-4147-A177-3AD203B41FA5}">
                      <a16:colId xmlns:a16="http://schemas.microsoft.com/office/drawing/2014/main" val="2346382017"/>
                    </a:ext>
                  </a:extLst>
                </a:gridCol>
                <a:gridCol w="1447504">
                  <a:extLst>
                    <a:ext uri="{9D8B030D-6E8A-4147-A177-3AD203B41FA5}">
                      <a16:colId xmlns:a16="http://schemas.microsoft.com/office/drawing/2014/main" val="3797306646"/>
                    </a:ext>
                  </a:extLst>
                </a:gridCol>
              </a:tblGrid>
              <a:tr h="331284">
                <a:tc>
                  <a:txBody>
                    <a:bodyPr/>
                    <a:lstStyle/>
                    <a:p>
                      <a:r>
                        <a:rPr lang="en-US" dirty="0"/>
                        <a:t>B(2,1,1)</a:t>
                      </a:r>
                      <a:endParaRPr lang="en-PK" dirty="0"/>
                    </a:p>
                  </a:txBody>
                  <a:tcPr/>
                </a:tc>
                <a:tc>
                  <a:txBody>
                    <a:bodyPr/>
                    <a:lstStyle/>
                    <a:p>
                      <a:r>
                        <a:rPr lang="en-US" dirty="0"/>
                        <a:t>B(2,1,2)</a:t>
                      </a:r>
                      <a:endParaRPr lang="en-PK" dirty="0"/>
                    </a:p>
                  </a:txBody>
                  <a:tcPr/>
                </a:tc>
                <a:tc>
                  <a:txBody>
                    <a:bodyPr/>
                    <a:lstStyle/>
                    <a:p>
                      <a:r>
                        <a:rPr lang="en-US" dirty="0"/>
                        <a:t>B(2,1,3)</a:t>
                      </a:r>
                      <a:endParaRPr lang="en-PK" dirty="0"/>
                    </a:p>
                  </a:txBody>
                  <a:tcPr/>
                </a:tc>
                <a:tc>
                  <a:txBody>
                    <a:bodyPr/>
                    <a:lstStyle/>
                    <a:p>
                      <a:r>
                        <a:rPr lang="en-US" dirty="0"/>
                        <a:t>B(2,1,4)</a:t>
                      </a:r>
                      <a:endParaRPr lang="en-PK" dirty="0"/>
                    </a:p>
                  </a:txBody>
                  <a:tcPr/>
                </a:tc>
                <a:extLst>
                  <a:ext uri="{0D108BD9-81ED-4DB2-BD59-A6C34878D82A}">
                    <a16:rowId xmlns:a16="http://schemas.microsoft.com/office/drawing/2014/main" val="2940476230"/>
                  </a:ext>
                </a:extLst>
              </a:tr>
              <a:tr h="331284">
                <a:tc>
                  <a:txBody>
                    <a:bodyPr/>
                    <a:lstStyle/>
                    <a:p>
                      <a:r>
                        <a:rPr lang="en-US" dirty="0"/>
                        <a:t>B(2,2,1)</a:t>
                      </a:r>
                      <a:endParaRPr lang="en-PK" dirty="0"/>
                    </a:p>
                  </a:txBody>
                  <a:tcPr/>
                </a:tc>
                <a:tc>
                  <a:txBody>
                    <a:bodyPr/>
                    <a:lstStyle/>
                    <a:p>
                      <a:r>
                        <a:rPr lang="en-US" dirty="0"/>
                        <a:t>B(2,2,2)</a:t>
                      </a:r>
                      <a:endParaRPr lang="en-PK" dirty="0"/>
                    </a:p>
                  </a:txBody>
                  <a:tcPr/>
                </a:tc>
                <a:tc>
                  <a:txBody>
                    <a:bodyPr/>
                    <a:lstStyle/>
                    <a:p>
                      <a:r>
                        <a:rPr lang="en-US" dirty="0"/>
                        <a:t>B(2,2,3)</a:t>
                      </a:r>
                      <a:endParaRPr lang="en-PK" dirty="0"/>
                    </a:p>
                  </a:txBody>
                  <a:tcPr/>
                </a:tc>
                <a:tc>
                  <a:txBody>
                    <a:bodyPr/>
                    <a:lstStyle/>
                    <a:p>
                      <a:r>
                        <a:rPr lang="en-US" dirty="0"/>
                        <a:t>B(2,2,4)</a:t>
                      </a:r>
                      <a:endParaRPr lang="en-PK" dirty="0"/>
                    </a:p>
                  </a:txBody>
                  <a:tcPr/>
                </a:tc>
                <a:extLst>
                  <a:ext uri="{0D108BD9-81ED-4DB2-BD59-A6C34878D82A}">
                    <a16:rowId xmlns:a16="http://schemas.microsoft.com/office/drawing/2014/main" val="2753297978"/>
                  </a:ext>
                </a:extLst>
              </a:tr>
            </a:tbl>
          </a:graphicData>
        </a:graphic>
      </p:graphicFrame>
      <p:sp>
        <p:nvSpPr>
          <p:cNvPr id="11" name="Rectangle 10">
            <a:extLst>
              <a:ext uri="{FF2B5EF4-FFF2-40B4-BE49-F238E27FC236}">
                <a16:creationId xmlns:a16="http://schemas.microsoft.com/office/drawing/2014/main" id="{C37D4DE1-CDCF-426D-A8A3-B39736906CCE}"/>
              </a:ext>
            </a:extLst>
          </p:cNvPr>
          <p:cNvSpPr/>
          <p:nvPr/>
        </p:nvSpPr>
        <p:spPr>
          <a:xfrm>
            <a:off x="1362153" y="4160520"/>
            <a:ext cx="5624623" cy="7315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PK"/>
          </a:p>
        </p:txBody>
      </p:sp>
      <p:graphicFrame>
        <p:nvGraphicFramePr>
          <p:cNvPr id="12" name="Table 6">
            <a:extLst>
              <a:ext uri="{FF2B5EF4-FFF2-40B4-BE49-F238E27FC236}">
                <a16:creationId xmlns:a16="http://schemas.microsoft.com/office/drawing/2014/main" id="{5C8B7D7E-568A-4A93-B969-BE0E96C43EC2}"/>
              </a:ext>
            </a:extLst>
          </p:cNvPr>
          <p:cNvGraphicFramePr>
            <a:graphicFrameLocks noGrp="1"/>
          </p:cNvGraphicFramePr>
          <p:nvPr/>
        </p:nvGraphicFramePr>
        <p:xfrm>
          <a:off x="1479110" y="4160520"/>
          <a:ext cx="5790016" cy="731520"/>
        </p:xfrm>
        <a:graphic>
          <a:graphicData uri="http://schemas.openxmlformats.org/drawingml/2006/table">
            <a:tbl>
              <a:tblPr firstRow="1" bandRow="1">
                <a:tableStyleId>{2D5ABB26-0587-4C30-8999-92F81FD0307C}</a:tableStyleId>
              </a:tblPr>
              <a:tblGrid>
                <a:gridCol w="1447504">
                  <a:extLst>
                    <a:ext uri="{9D8B030D-6E8A-4147-A177-3AD203B41FA5}">
                      <a16:colId xmlns:a16="http://schemas.microsoft.com/office/drawing/2014/main" val="3050051171"/>
                    </a:ext>
                  </a:extLst>
                </a:gridCol>
                <a:gridCol w="1447504">
                  <a:extLst>
                    <a:ext uri="{9D8B030D-6E8A-4147-A177-3AD203B41FA5}">
                      <a16:colId xmlns:a16="http://schemas.microsoft.com/office/drawing/2014/main" val="3582131743"/>
                    </a:ext>
                  </a:extLst>
                </a:gridCol>
                <a:gridCol w="1447504">
                  <a:extLst>
                    <a:ext uri="{9D8B030D-6E8A-4147-A177-3AD203B41FA5}">
                      <a16:colId xmlns:a16="http://schemas.microsoft.com/office/drawing/2014/main" val="2346382017"/>
                    </a:ext>
                  </a:extLst>
                </a:gridCol>
                <a:gridCol w="1447504">
                  <a:extLst>
                    <a:ext uri="{9D8B030D-6E8A-4147-A177-3AD203B41FA5}">
                      <a16:colId xmlns:a16="http://schemas.microsoft.com/office/drawing/2014/main" val="3797306646"/>
                    </a:ext>
                  </a:extLst>
                </a:gridCol>
              </a:tblGrid>
              <a:tr h="331284">
                <a:tc>
                  <a:txBody>
                    <a:bodyPr/>
                    <a:lstStyle/>
                    <a:p>
                      <a:r>
                        <a:rPr lang="en-US" dirty="0"/>
                        <a:t>B(1,1,1)</a:t>
                      </a:r>
                      <a:endParaRPr lang="en-PK" dirty="0"/>
                    </a:p>
                  </a:txBody>
                  <a:tcPr/>
                </a:tc>
                <a:tc>
                  <a:txBody>
                    <a:bodyPr/>
                    <a:lstStyle/>
                    <a:p>
                      <a:r>
                        <a:rPr lang="en-US" dirty="0"/>
                        <a:t>B(1,1,2)</a:t>
                      </a:r>
                      <a:endParaRPr lang="en-PK" dirty="0"/>
                    </a:p>
                  </a:txBody>
                  <a:tcPr/>
                </a:tc>
                <a:tc>
                  <a:txBody>
                    <a:bodyPr/>
                    <a:lstStyle/>
                    <a:p>
                      <a:r>
                        <a:rPr lang="en-US" dirty="0"/>
                        <a:t>B(1,1,3)</a:t>
                      </a:r>
                      <a:endParaRPr lang="en-PK" dirty="0"/>
                    </a:p>
                  </a:txBody>
                  <a:tcPr/>
                </a:tc>
                <a:tc>
                  <a:txBody>
                    <a:bodyPr/>
                    <a:lstStyle/>
                    <a:p>
                      <a:r>
                        <a:rPr lang="en-US" dirty="0"/>
                        <a:t>B(1,1,4)</a:t>
                      </a:r>
                      <a:endParaRPr lang="en-PK" dirty="0"/>
                    </a:p>
                  </a:txBody>
                  <a:tcPr/>
                </a:tc>
                <a:extLst>
                  <a:ext uri="{0D108BD9-81ED-4DB2-BD59-A6C34878D82A}">
                    <a16:rowId xmlns:a16="http://schemas.microsoft.com/office/drawing/2014/main" val="2940476230"/>
                  </a:ext>
                </a:extLst>
              </a:tr>
              <a:tr h="331284">
                <a:tc>
                  <a:txBody>
                    <a:bodyPr/>
                    <a:lstStyle/>
                    <a:p>
                      <a:r>
                        <a:rPr lang="en-US" dirty="0"/>
                        <a:t>B(1,2,1)</a:t>
                      </a:r>
                      <a:endParaRPr lang="en-PK" dirty="0"/>
                    </a:p>
                  </a:txBody>
                  <a:tcPr/>
                </a:tc>
                <a:tc>
                  <a:txBody>
                    <a:bodyPr/>
                    <a:lstStyle/>
                    <a:p>
                      <a:r>
                        <a:rPr lang="en-US" dirty="0"/>
                        <a:t>B(1,2,2)</a:t>
                      </a:r>
                      <a:endParaRPr lang="en-PK" dirty="0"/>
                    </a:p>
                  </a:txBody>
                  <a:tcPr/>
                </a:tc>
                <a:tc>
                  <a:txBody>
                    <a:bodyPr/>
                    <a:lstStyle/>
                    <a:p>
                      <a:r>
                        <a:rPr lang="en-US" dirty="0"/>
                        <a:t>B(1,2,3)</a:t>
                      </a:r>
                      <a:endParaRPr lang="en-PK" dirty="0"/>
                    </a:p>
                  </a:txBody>
                  <a:tcPr/>
                </a:tc>
                <a:tc>
                  <a:txBody>
                    <a:bodyPr/>
                    <a:lstStyle/>
                    <a:p>
                      <a:r>
                        <a:rPr lang="en-US" dirty="0"/>
                        <a:t>B(1,2,4)</a:t>
                      </a:r>
                      <a:endParaRPr lang="en-PK" dirty="0"/>
                    </a:p>
                  </a:txBody>
                  <a:tcPr/>
                </a:tc>
                <a:extLst>
                  <a:ext uri="{0D108BD9-81ED-4DB2-BD59-A6C34878D82A}">
                    <a16:rowId xmlns:a16="http://schemas.microsoft.com/office/drawing/2014/main" val="2753297978"/>
                  </a:ext>
                </a:extLst>
              </a:tr>
            </a:tbl>
          </a:graphicData>
        </a:graphic>
      </p:graphicFrame>
      <p:sp>
        <p:nvSpPr>
          <p:cNvPr id="13" name="TextBox 12">
            <a:extLst>
              <a:ext uri="{FF2B5EF4-FFF2-40B4-BE49-F238E27FC236}">
                <a16:creationId xmlns:a16="http://schemas.microsoft.com/office/drawing/2014/main" id="{1C02A0BF-CE9B-4476-938B-80CFB5B23406}"/>
              </a:ext>
            </a:extLst>
          </p:cNvPr>
          <p:cNvSpPr txBox="1"/>
          <p:nvPr/>
        </p:nvSpPr>
        <p:spPr>
          <a:xfrm>
            <a:off x="3266657" y="2342502"/>
            <a:ext cx="845681" cy="369332"/>
          </a:xfrm>
          <a:prstGeom prst="rect">
            <a:avLst/>
          </a:prstGeom>
          <a:noFill/>
        </p:spPr>
        <p:txBody>
          <a:bodyPr wrap="none" rtlCol="0">
            <a:spAutoFit/>
          </a:bodyPr>
          <a:lstStyle/>
          <a:p>
            <a:r>
              <a:rPr lang="en-US" dirty="0"/>
              <a:t>PAGE 3</a:t>
            </a:r>
            <a:endParaRPr lang="en-PK" dirty="0"/>
          </a:p>
        </p:txBody>
      </p:sp>
      <p:sp>
        <p:nvSpPr>
          <p:cNvPr id="14" name="TextBox 13">
            <a:extLst>
              <a:ext uri="{FF2B5EF4-FFF2-40B4-BE49-F238E27FC236}">
                <a16:creationId xmlns:a16="http://schemas.microsoft.com/office/drawing/2014/main" id="{230AF3BE-045E-4023-9513-B94524FF5685}"/>
              </a:ext>
            </a:extLst>
          </p:cNvPr>
          <p:cNvSpPr txBox="1"/>
          <p:nvPr/>
        </p:nvSpPr>
        <p:spPr>
          <a:xfrm>
            <a:off x="1829690" y="3063240"/>
            <a:ext cx="845681" cy="369332"/>
          </a:xfrm>
          <a:prstGeom prst="rect">
            <a:avLst/>
          </a:prstGeom>
          <a:noFill/>
        </p:spPr>
        <p:txBody>
          <a:bodyPr wrap="none" rtlCol="0">
            <a:spAutoFit/>
          </a:bodyPr>
          <a:lstStyle/>
          <a:p>
            <a:r>
              <a:rPr lang="en-US" dirty="0"/>
              <a:t>PAGE 2</a:t>
            </a:r>
            <a:endParaRPr lang="en-PK" dirty="0"/>
          </a:p>
        </p:txBody>
      </p:sp>
      <p:sp>
        <p:nvSpPr>
          <p:cNvPr id="15" name="TextBox 14">
            <a:extLst>
              <a:ext uri="{FF2B5EF4-FFF2-40B4-BE49-F238E27FC236}">
                <a16:creationId xmlns:a16="http://schemas.microsoft.com/office/drawing/2014/main" id="{F823655E-A075-4AD7-9F26-DBE721714993}"/>
              </a:ext>
            </a:extLst>
          </p:cNvPr>
          <p:cNvSpPr txBox="1"/>
          <p:nvPr/>
        </p:nvSpPr>
        <p:spPr>
          <a:xfrm>
            <a:off x="809410" y="3794760"/>
            <a:ext cx="845681" cy="369332"/>
          </a:xfrm>
          <a:prstGeom prst="rect">
            <a:avLst/>
          </a:prstGeom>
          <a:noFill/>
        </p:spPr>
        <p:txBody>
          <a:bodyPr wrap="none" rtlCol="0">
            <a:spAutoFit/>
          </a:bodyPr>
          <a:lstStyle/>
          <a:p>
            <a:r>
              <a:rPr lang="en-US" dirty="0"/>
              <a:t>PAGE 1</a:t>
            </a:r>
            <a:endParaRPr lang="en-PK" dirty="0"/>
          </a:p>
        </p:txBody>
      </p:sp>
      <p:sp>
        <p:nvSpPr>
          <p:cNvPr id="16" name="TextBox 15">
            <a:extLst>
              <a:ext uri="{FF2B5EF4-FFF2-40B4-BE49-F238E27FC236}">
                <a16:creationId xmlns:a16="http://schemas.microsoft.com/office/drawing/2014/main" id="{4B584C62-8DE6-45E2-BA48-A9D62BD10AD9}"/>
              </a:ext>
            </a:extLst>
          </p:cNvPr>
          <p:cNvSpPr txBox="1"/>
          <p:nvPr/>
        </p:nvSpPr>
        <p:spPr>
          <a:xfrm>
            <a:off x="3813949" y="6046013"/>
            <a:ext cx="3139706" cy="369332"/>
          </a:xfrm>
          <a:prstGeom prst="rect">
            <a:avLst/>
          </a:prstGeom>
          <a:noFill/>
        </p:spPr>
        <p:txBody>
          <a:bodyPr wrap="none" rtlCol="0">
            <a:spAutoFit/>
          </a:bodyPr>
          <a:lstStyle/>
          <a:p>
            <a:r>
              <a:rPr lang="en-US" b="1" dirty="0"/>
              <a:t>Fig: Row Major Representation</a:t>
            </a:r>
            <a:endParaRPr lang="en-PK" b="1" dirty="0"/>
          </a:p>
        </p:txBody>
      </p:sp>
      <p:sp>
        <p:nvSpPr>
          <p:cNvPr id="17" name="TextBox 16">
            <a:extLst>
              <a:ext uri="{FF2B5EF4-FFF2-40B4-BE49-F238E27FC236}">
                <a16:creationId xmlns:a16="http://schemas.microsoft.com/office/drawing/2014/main" id="{E924D01C-DD0A-4914-B20F-EB76149958A9}"/>
              </a:ext>
            </a:extLst>
          </p:cNvPr>
          <p:cNvSpPr txBox="1"/>
          <p:nvPr/>
        </p:nvSpPr>
        <p:spPr>
          <a:xfrm>
            <a:off x="6783572" y="1784899"/>
            <a:ext cx="2124043" cy="369332"/>
          </a:xfrm>
          <a:prstGeom prst="rect">
            <a:avLst/>
          </a:prstGeom>
          <a:noFill/>
        </p:spPr>
        <p:txBody>
          <a:bodyPr wrap="none" rtlCol="0">
            <a:spAutoFit/>
          </a:bodyPr>
          <a:lstStyle/>
          <a:p>
            <a:r>
              <a:rPr lang="en-US" dirty="0"/>
              <a:t>Page ,  Row,  Column</a:t>
            </a:r>
            <a:endParaRPr lang="en-PK" dirty="0"/>
          </a:p>
        </p:txBody>
      </p:sp>
      <p:sp>
        <p:nvSpPr>
          <p:cNvPr id="19" name="TextBox 18">
            <a:extLst>
              <a:ext uri="{FF2B5EF4-FFF2-40B4-BE49-F238E27FC236}">
                <a16:creationId xmlns:a16="http://schemas.microsoft.com/office/drawing/2014/main" id="{7022420C-1B41-428E-AE84-5F32E58B82DF}"/>
              </a:ext>
            </a:extLst>
          </p:cNvPr>
          <p:cNvSpPr txBox="1"/>
          <p:nvPr/>
        </p:nvSpPr>
        <p:spPr>
          <a:xfrm>
            <a:off x="217771" y="107474"/>
            <a:ext cx="6097772" cy="461665"/>
          </a:xfrm>
          <a:prstGeom prst="rect">
            <a:avLst/>
          </a:prstGeom>
          <a:noFill/>
        </p:spPr>
        <p:txBody>
          <a:bodyPr wrap="square">
            <a:spAutoFit/>
          </a:bodyPr>
          <a:lstStyle/>
          <a:p>
            <a:r>
              <a:rPr lang="en-US" sz="2400" b="1" dirty="0">
                <a:solidFill>
                  <a:schemeClr val="accent1">
                    <a:lumMod val="50000"/>
                  </a:schemeClr>
                </a:solidFill>
              </a:rPr>
              <a:t>Memory representation of 3D Array</a:t>
            </a:r>
            <a:endParaRPr lang="en-PK" sz="2400" b="1" dirty="0">
              <a:solidFill>
                <a:schemeClr val="accent1">
                  <a:lumMod val="50000"/>
                </a:schemeClr>
              </a:solidFill>
            </a:endParaRPr>
          </a:p>
        </p:txBody>
      </p:sp>
      <p:cxnSp>
        <p:nvCxnSpPr>
          <p:cNvPr id="3" name="Straight Arrow Connector 2">
            <a:extLst>
              <a:ext uri="{FF2B5EF4-FFF2-40B4-BE49-F238E27FC236}">
                <a16:creationId xmlns:a16="http://schemas.microsoft.com/office/drawing/2014/main" id="{B5583A83-0213-43B0-AA91-F32C32A8F697}"/>
              </a:ext>
            </a:extLst>
          </p:cNvPr>
          <p:cNvCxnSpPr/>
          <p:nvPr/>
        </p:nvCxnSpPr>
        <p:spPr>
          <a:xfrm>
            <a:off x="1655091" y="3668233"/>
            <a:ext cx="174599" cy="4922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3D6700F-ABED-495F-91BF-FC2D328DBF64}"/>
              </a:ext>
            </a:extLst>
          </p:cNvPr>
          <p:cNvCxnSpPr/>
          <p:nvPr/>
        </p:nvCxnSpPr>
        <p:spPr>
          <a:xfrm>
            <a:off x="2675371" y="2945219"/>
            <a:ext cx="338403" cy="4837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0ED3FB9-5DF6-4974-B2AC-5665456ADE41}"/>
              </a:ext>
            </a:extLst>
          </p:cNvPr>
          <p:cNvCxnSpPr/>
          <p:nvPr/>
        </p:nvCxnSpPr>
        <p:spPr>
          <a:xfrm>
            <a:off x="3991614" y="2254032"/>
            <a:ext cx="174599" cy="4922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3B94FAEB-BC38-423C-943A-C4B221E242FE}"/>
              </a:ext>
            </a:extLst>
          </p:cNvPr>
          <p:cNvCxnSpPr/>
          <p:nvPr/>
        </p:nvCxnSpPr>
        <p:spPr>
          <a:xfrm>
            <a:off x="3266657" y="3914376"/>
            <a:ext cx="242087" cy="3811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C0446243-D9CC-4834-9A10-C4A9C8A5EF16}"/>
              </a:ext>
            </a:extLst>
          </p:cNvPr>
          <p:cNvCxnSpPr/>
          <p:nvPr/>
        </p:nvCxnSpPr>
        <p:spPr>
          <a:xfrm>
            <a:off x="3749527" y="3172784"/>
            <a:ext cx="242087" cy="3811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266B5E3-813A-4844-A85B-CF2A4FB32C59}"/>
              </a:ext>
            </a:extLst>
          </p:cNvPr>
          <p:cNvCxnSpPr/>
          <p:nvPr/>
        </p:nvCxnSpPr>
        <p:spPr>
          <a:xfrm>
            <a:off x="5141715" y="2365142"/>
            <a:ext cx="242087" cy="3811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534956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EF2E02B-41D7-42CE-AC50-4E175B45FF8B}"/>
              </a:ext>
            </a:extLst>
          </p:cNvPr>
          <p:cNvSpPr txBox="1"/>
          <p:nvPr/>
        </p:nvSpPr>
        <p:spPr>
          <a:xfrm>
            <a:off x="345440" y="272724"/>
            <a:ext cx="6096000" cy="530017"/>
          </a:xfrm>
          <a:prstGeom prst="rect">
            <a:avLst/>
          </a:prstGeom>
          <a:noFill/>
        </p:spPr>
        <p:txBody>
          <a:bodyPr wrap="square">
            <a:spAutoFit/>
          </a:bodyPr>
          <a:lstStyle/>
          <a:p>
            <a:pPr marL="0" marR="0">
              <a:lnSpc>
                <a:spcPct val="107000"/>
              </a:lnSpc>
              <a:spcBef>
                <a:spcPts val="750"/>
              </a:spcBef>
              <a:spcAft>
                <a:spcPts val="750"/>
              </a:spcAft>
            </a:pPr>
            <a:r>
              <a:rPr lang="en-PK" sz="2800" b="1" dirty="0">
                <a:solidFill>
                  <a:schemeClr val="accent1">
                    <a:lumMod val="50000"/>
                  </a:schemeClr>
                </a:solidFill>
                <a:effectLst/>
                <a:ea typeface="DengXian Light" panose="02010600030101010101" pitchFamily="2" charset="-122"/>
                <a:cs typeface="Times New Roman" panose="02020603050405020304" pitchFamily="18" charset="0"/>
              </a:rPr>
              <a:t>Multidimensional Arrays</a:t>
            </a:r>
          </a:p>
        </p:txBody>
      </p:sp>
      <p:sp>
        <p:nvSpPr>
          <p:cNvPr id="7" name="TextBox 6">
            <a:extLst>
              <a:ext uri="{FF2B5EF4-FFF2-40B4-BE49-F238E27FC236}">
                <a16:creationId xmlns:a16="http://schemas.microsoft.com/office/drawing/2014/main" id="{2EBFA715-0956-48C8-8CAE-9791BAB888E3}"/>
              </a:ext>
            </a:extLst>
          </p:cNvPr>
          <p:cNvSpPr txBox="1"/>
          <p:nvPr/>
        </p:nvSpPr>
        <p:spPr>
          <a:xfrm>
            <a:off x="558800" y="990614"/>
            <a:ext cx="11521440" cy="646331"/>
          </a:xfrm>
          <a:prstGeom prst="rect">
            <a:avLst/>
          </a:prstGeom>
          <a:noFill/>
        </p:spPr>
        <p:txBody>
          <a:bodyPr wrap="square">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PK" altLang="en-PK" sz="1800" b="0" i="0" u="none" strike="noStrike" cap="none" normalizeH="0" baseline="0" dirty="0">
                <a:ln>
                  <a:noFill/>
                </a:ln>
                <a:solidFill>
                  <a:srgbClr val="000000"/>
                </a:solidFill>
                <a:effectLst/>
                <a:ea typeface="Times New Roman" panose="02020603050405020304" pitchFamily="18" charset="0"/>
              </a:rPr>
              <a:t>We can also use a </a:t>
            </a:r>
            <a:r>
              <a:rPr kumimoji="0" lang="en-PK" altLang="en-PK" sz="1400" b="0" i="0" u="none" strike="noStrike" cap="none" normalizeH="0" baseline="0" dirty="0">
                <a:ln>
                  <a:noFill/>
                </a:ln>
                <a:solidFill>
                  <a:srgbClr val="DC143C"/>
                </a:solidFill>
                <a:effectLst/>
                <a:ea typeface="Times New Roman" panose="02020603050405020304" pitchFamily="18" charset="0"/>
                <a:cs typeface="Courier New" panose="02070309020205020404" pitchFamily="49" charset="0"/>
              </a:rPr>
              <a:t>for loop</a:t>
            </a:r>
            <a:r>
              <a:rPr kumimoji="0" lang="en-PK" altLang="en-PK" sz="1800" b="0" i="0" u="none" strike="noStrike" cap="none" normalizeH="0" baseline="0" dirty="0">
                <a:ln>
                  <a:noFill/>
                </a:ln>
                <a:solidFill>
                  <a:srgbClr val="000000"/>
                </a:solidFill>
                <a:effectLst/>
                <a:ea typeface="Times New Roman" panose="02020603050405020304" pitchFamily="18" charset="0"/>
              </a:rPr>
              <a:t> inside another </a:t>
            </a:r>
            <a:r>
              <a:rPr kumimoji="0" lang="en-PK" altLang="en-PK" sz="1400" b="0" i="0" u="none" strike="noStrike" cap="none" normalizeH="0" baseline="0" dirty="0">
                <a:ln>
                  <a:noFill/>
                </a:ln>
                <a:solidFill>
                  <a:srgbClr val="DC143C"/>
                </a:solidFill>
                <a:effectLst/>
                <a:ea typeface="Times New Roman" panose="02020603050405020304" pitchFamily="18" charset="0"/>
                <a:cs typeface="Courier New" panose="02070309020205020404" pitchFamily="49" charset="0"/>
              </a:rPr>
              <a:t>for loop</a:t>
            </a:r>
            <a:r>
              <a:rPr kumimoji="0" lang="en-PK" altLang="en-PK" sz="1800" b="0" i="0" u="none" strike="noStrike" cap="none" normalizeH="0" baseline="0" dirty="0">
                <a:ln>
                  <a:noFill/>
                </a:ln>
                <a:solidFill>
                  <a:srgbClr val="000000"/>
                </a:solidFill>
                <a:effectLst/>
                <a:ea typeface="Times New Roman" panose="02020603050405020304" pitchFamily="18" charset="0"/>
              </a:rPr>
              <a:t> to get the elements of a two-dimensional array (we still have to point to the two indexes):</a:t>
            </a:r>
            <a:endParaRPr kumimoji="0" lang="en-PK" altLang="en-PK" sz="3200" b="0" i="0" u="none" strike="noStrike" cap="none" normalizeH="0" baseline="0" dirty="0">
              <a:ln>
                <a:noFill/>
              </a:ln>
              <a:solidFill>
                <a:schemeClr val="tx1"/>
              </a:solidFill>
              <a:effectLst/>
            </a:endParaRPr>
          </a:p>
        </p:txBody>
      </p:sp>
      <p:sp>
        <p:nvSpPr>
          <p:cNvPr id="9" name="TextBox 8">
            <a:extLst>
              <a:ext uri="{FF2B5EF4-FFF2-40B4-BE49-F238E27FC236}">
                <a16:creationId xmlns:a16="http://schemas.microsoft.com/office/drawing/2014/main" id="{BE547F54-7401-4F14-8AD2-13563E9687A1}"/>
              </a:ext>
            </a:extLst>
          </p:cNvPr>
          <p:cNvSpPr txBox="1"/>
          <p:nvPr/>
        </p:nvSpPr>
        <p:spPr>
          <a:xfrm>
            <a:off x="695960" y="1836773"/>
            <a:ext cx="6096000" cy="373692"/>
          </a:xfrm>
          <a:prstGeom prst="rect">
            <a:avLst/>
          </a:prstGeom>
          <a:noFill/>
        </p:spPr>
        <p:txBody>
          <a:bodyPr wrap="square">
            <a:spAutoFit/>
          </a:bodyPr>
          <a:lstStyle/>
          <a:p>
            <a:pPr marL="0" marR="0">
              <a:lnSpc>
                <a:spcPct val="107000"/>
              </a:lnSpc>
              <a:spcBef>
                <a:spcPts val="750"/>
              </a:spcBef>
              <a:spcAft>
                <a:spcPts val="750"/>
              </a:spcAft>
            </a:pPr>
            <a:r>
              <a:rPr lang="en-PK" sz="1800" b="1" dirty="0">
                <a:solidFill>
                  <a:srgbClr val="000000"/>
                </a:solidFill>
                <a:effectLst/>
                <a:ea typeface="DengXian Light" panose="02010600030101010101" pitchFamily="2" charset="-122"/>
                <a:cs typeface="Times New Roman" panose="02020603050405020304" pitchFamily="18" charset="0"/>
              </a:rPr>
              <a:t>Example</a:t>
            </a:r>
            <a:endParaRPr lang="en-PK" sz="1200" b="1" dirty="0">
              <a:solidFill>
                <a:srgbClr val="1F3763"/>
              </a:solidFill>
              <a:effectLst/>
              <a:ea typeface="DengXian Light" panose="02010600030101010101" pitchFamily="2" charset="-122"/>
              <a:cs typeface="Times New Roman" panose="02020603050405020304" pitchFamily="18" charset="0"/>
            </a:endParaRPr>
          </a:p>
        </p:txBody>
      </p:sp>
      <p:sp>
        <p:nvSpPr>
          <p:cNvPr id="10" name="Rectangle 2">
            <a:extLst>
              <a:ext uri="{FF2B5EF4-FFF2-40B4-BE49-F238E27FC236}">
                <a16:creationId xmlns:a16="http://schemas.microsoft.com/office/drawing/2014/main" id="{AF099A95-3F5C-4E6E-8440-CA0B4EA74D42}"/>
              </a:ext>
            </a:extLst>
          </p:cNvPr>
          <p:cNvSpPr>
            <a:spLocks noChangeArrowheads="1"/>
          </p:cNvSpPr>
          <p:nvPr/>
        </p:nvSpPr>
        <p:spPr bwMode="auto">
          <a:xfrm>
            <a:off x="0" y="-63739"/>
            <a:ext cx="65" cy="58467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52352" rIns="0" bIns="15235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endParaRPr>
          </a:p>
        </p:txBody>
      </p:sp>
      <p:sp>
        <p:nvSpPr>
          <p:cNvPr id="2" name="Rectangle 1">
            <a:extLst>
              <a:ext uri="{FF2B5EF4-FFF2-40B4-BE49-F238E27FC236}">
                <a16:creationId xmlns:a16="http://schemas.microsoft.com/office/drawing/2014/main" id="{D368A735-D485-499A-9705-08626FC719A7}"/>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
        <p:nvSpPr>
          <p:cNvPr id="13" name="TextBox 12">
            <a:extLst>
              <a:ext uri="{FF2B5EF4-FFF2-40B4-BE49-F238E27FC236}">
                <a16:creationId xmlns:a16="http://schemas.microsoft.com/office/drawing/2014/main" id="{2A654CDB-28E8-4B80-BB2D-41E848B97821}"/>
              </a:ext>
            </a:extLst>
          </p:cNvPr>
          <p:cNvSpPr txBox="1"/>
          <p:nvPr/>
        </p:nvSpPr>
        <p:spPr>
          <a:xfrm>
            <a:off x="1060598" y="2500605"/>
            <a:ext cx="9306146" cy="353943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400" b="1" i="0" u="none" strike="noStrike" cap="none" normalizeH="0" baseline="0" dirty="0">
                <a:ln>
                  <a:noFill/>
                </a:ln>
                <a:solidFill>
                  <a:srgbClr val="006699"/>
                </a:solidFill>
                <a:effectLst/>
                <a:latin typeface="Consolas" panose="020B0609020204030204" pitchFamily="49" charset="0"/>
              </a:rPr>
              <a:t>class</a:t>
            </a:r>
            <a:r>
              <a:rPr kumimoji="0" lang="en-PK" altLang="en-PK" sz="1000" b="0" i="0" u="none" strike="noStrike" cap="none" normalizeH="0" baseline="0" dirty="0">
                <a:ln>
                  <a:noFill/>
                </a:ln>
                <a:solidFill>
                  <a:srgbClr val="40424E"/>
                </a:solidFill>
                <a:effectLst/>
                <a:latin typeface="Consolas" panose="020B0609020204030204" pitchFamily="49" charset="0"/>
              </a:rPr>
              <a:t> </a:t>
            </a:r>
            <a:r>
              <a:rPr lang="en-US" altLang="en-PK" sz="1400" dirty="0">
                <a:solidFill>
                  <a:srgbClr val="000000"/>
                </a:solidFill>
                <a:latin typeface="Consolas" panose="020B0609020204030204" pitchFamily="49" charset="0"/>
              </a:rPr>
              <a:t>Array</a:t>
            </a:r>
            <a:r>
              <a:rPr kumimoji="0" lang="en-PK" altLang="en-PK" sz="1400" b="0" i="0" u="none" strike="noStrike" cap="none" normalizeH="0" baseline="0" dirty="0">
                <a:ln>
                  <a:noFill/>
                </a:ln>
                <a:solidFill>
                  <a:srgbClr val="000000"/>
                </a:solidFill>
                <a:effectLst/>
                <a:latin typeface="Consolas" panose="020B0609020204030204" pitchFamily="49" charset="0"/>
              </a:rPr>
              <a:t> { </a:t>
            </a:r>
            <a:endParaRPr kumimoji="0" lang="en-PK" altLang="en-PK"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400" b="0" i="0" u="none" strike="noStrike" cap="none" normalizeH="0" baseline="0" dirty="0">
                <a:ln>
                  <a:noFill/>
                </a:ln>
                <a:solidFill>
                  <a:srgbClr val="40424E"/>
                </a:solidFill>
                <a:effectLst/>
                <a:latin typeface="Consolas" panose="020B0609020204030204" pitchFamily="49" charset="0"/>
              </a:rPr>
              <a:t>    </a:t>
            </a:r>
            <a:r>
              <a:rPr kumimoji="0" lang="en-PK" altLang="en-PK" sz="1400" b="1" i="0" u="none" strike="noStrike" cap="none" normalizeH="0" baseline="0" dirty="0">
                <a:ln>
                  <a:noFill/>
                </a:ln>
                <a:solidFill>
                  <a:srgbClr val="006699"/>
                </a:solidFill>
                <a:effectLst/>
                <a:latin typeface="Consolas" panose="020B0609020204030204" pitchFamily="49" charset="0"/>
              </a:rPr>
              <a:t>public</a:t>
            </a:r>
            <a:r>
              <a:rPr kumimoji="0" lang="en-PK" altLang="en-PK" sz="1000" b="0" i="0" u="none" strike="noStrike" cap="none" normalizeH="0" baseline="0" dirty="0">
                <a:ln>
                  <a:noFill/>
                </a:ln>
                <a:solidFill>
                  <a:srgbClr val="40424E"/>
                </a:solidFill>
                <a:effectLst/>
                <a:latin typeface="Consolas" panose="020B0609020204030204" pitchFamily="49" charset="0"/>
              </a:rPr>
              <a:t> </a:t>
            </a:r>
            <a:r>
              <a:rPr kumimoji="0" lang="en-PK" altLang="en-PK" sz="1400" b="1" i="0" u="none" strike="noStrike" cap="none" normalizeH="0" baseline="0" dirty="0">
                <a:ln>
                  <a:noFill/>
                </a:ln>
                <a:solidFill>
                  <a:srgbClr val="006699"/>
                </a:solidFill>
                <a:effectLst/>
                <a:latin typeface="Consolas" panose="020B0609020204030204" pitchFamily="49" charset="0"/>
              </a:rPr>
              <a:t>static</a:t>
            </a:r>
            <a:r>
              <a:rPr kumimoji="0" lang="en-PK" altLang="en-PK" sz="1000" b="0" i="0" u="none" strike="noStrike" cap="none" normalizeH="0" baseline="0" dirty="0">
                <a:ln>
                  <a:noFill/>
                </a:ln>
                <a:solidFill>
                  <a:srgbClr val="40424E"/>
                </a:solidFill>
                <a:effectLst/>
                <a:latin typeface="Consolas" panose="020B0609020204030204" pitchFamily="49" charset="0"/>
              </a:rPr>
              <a:t> </a:t>
            </a:r>
            <a:r>
              <a:rPr kumimoji="0" lang="en-PK" altLang="en-PK" sz="1400" b="1" i="0" u="none" strike="noStrike" cap="none" normalizeH="0" baseline="0" dirty="0">
                <a:ln>
                  <a:noFill/>
                </a:ln>
                <a:solidFill>
                  <a:srgbClr val="006699"/>
                </a:solidFill>
                <a:effectLst/>
                <a:latin typeface="Consolas" panose="020B0609020204030204" pitchFamily="49" charset="0"/>
              </a:rPr>
              <a:t>void</a:t>
            </a:r>
            <a:r>
              <a:rPr kumimoji="0" lang="en-PK" altLang="en-PK" sz="1000" b="0" i="0" u="none" strike="noStrike" cap="none" normalizeH="0" baseline="0" dirty="0">
                <a:ln>
                  <a:noFill/>
                </a:ln>
                <a:solidFill>
                  <a:srgbClr val="40424E"/>
                </a:solidFill>
                <a:effectLst/>
                <a:latin typeface="Consolas" panose="020B0609020204030204" pitchFamily="49" charset="0"/>
              </a:rPr>
              <a:t> </a:t>
            </a:r>
            <a:r>
              <a:rPr kumimoji="0" lang="en-PK" altLang="en-PK" sz="1400" b="0" i="0" u="none" strike="noStrike" cap="none" normalizeH="0" baseline="0" dirty="0">
                <a:ln>
                  <a:noFill/>
                </a:ln>
                <a:solidFill>
                  <a:srgbClr val="000000"/>
                </a:solidFill>
                <a:effectLst/>
                <a:latin typeface="Consolas" panose="020B0609020204030204" pitchFamily="49" charset="0"/>
              </a:rPr>
              <a:t>main(String[] </a:t>
            </a:r>
            <a:r>
              <a:rPr kumimoji="0" lang="en-PK" altLang="en-PK" sz="1400" b="0" i="0" u="none" strike="noStrike" cap="none" normalizeH="0" baseline="0" dirty="0" err="1">
                <a:ln>
                  <a:noFill/>
                </a:ln>
                <a:solidFill>
                  <a:srgbClr val="000000"/>
                </a:solidFill>
                <a:effectLst/>
                <a:latin typeface="Consolas" panose="020B0609020204030204" pitchFamily="49" charset="0"/>
              </a:rPr>
              <a:t>args</a:t>
            </a:r>
            <a:r>
              <a:rPr kumimoji="0" lang="en-PK" altLang="en-PK" sz="1400" b="0" i="0" u="none" strike="noStrike" cap="none" normalizeH="0" baseline="0" dirty="0">
                <a:ln>
                  <a:noFill/>
                </a:ln>
                <a:solidFill>
                  <a:srgbClr val="000000"/>
                </a:solidFill>
                <a:effectLst/>
                <a:latin typeface="Consolas" panose="020B0609020204030204" pitchFamily="49" charset="0"/>
              </a:rPr>
              <a:t>) </a:t>
            </a:r>
            <a:endParaRPr kumimoji="0" lang="en-PK" altLang="en-PK"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400" b="0" i="0" u="none" strike="noStrike" cap="none" normalizeH="0" baseline="0" dirty="0">
                <a:ln>
                  <a:noFill/>
                </a:ln>
                <a:solidFill>
                  <a:srgbClr val="40424E"/>
                </a:solidFill>
                <a:effectLst/>
                <a:latin typeface="Consolas" panose="020B0609020204030204" pitchFamily="49" charset="0"/>
              </a:rPr>
              <a:t>    </a:t>
            </a:r>
            <a:r>
              <a:rPr kumimoji="0" lang="en-PK" altLang="en-PK" sz="1400" b="0" i="0" u="none" strike="noStrike" cap="none" normalizeH="0" baseline="0" dirty="0">
                <a:ln>
                  <a:noFill/>
                </a:ln>
                <a:solidFill>
                  <a:srgbClr val="000000"/>
                </a:solidFill>
                <a:effectLst/>
                <a:latin typeface="Consolas" panose="020B0609020204030204" pitchFamily="49" charset="0"/>
              </a:rPr>
              <a:t>{ </a:t>
            </a:r>
            <a:endParaRPr kumimoji="0" lang="en-PK" altLang="en-PK"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400" b="0" i="0" u="none" strike="noStrike" cap="none" normalizeH="0" baseline="0" dirty="0">
                <a:ln>
                  <a:noFill/>
                </a:ln>
                <a:solidFill>
                  <a:srgbClr val="40424E"/>
                </a:solidFill>
                <a:effectLst/>
                <a:latin typeface="Consolas" panose="020B0609020204030204" pitchFamily="49" charset="0"/>
              </a:rPr>
              <a:t> </a:t>
            </a:r>
            <a:r>
              <a:rPr kumimoji="0" lang="en-PK" altLang="en-PK" sz="1000" b="0" i="0" u="none" strike="noStrike" cap="none" normalizeH="0" baseline="0" dirty="0">
                <a:ln>
                  <a:noFill/>
                </a:ln>
                <a:solidFill>
                  <a:srgbClr val="40424E"/>
                </a:solidFill>
                <a:effectLst/>
                <a:latin typeface="Consolas" panose="020B0609020204030204" pitchFamily="49" charset="0"/>
              </a:rPr>
              <a:t> </a:t>
            </a:r>
            <a:endParaRPr kumimoji="0" lang="en-PK" altLang="en-PK"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400" b="0" i="0" u="none" strike="noStrike" cap="none" normalizeH="0" baseline="0" dirty="0">
                <a:ln>
                  <a:noFill/>
                </a:ln>
                <a:solidFill>
                  <a:srgbClr val="40424E"/>
                </a:solidFill>
                <a:effectLst/>
                <a:latin typeface="Consolas" panose="020B0609020204030204" pitchFamily="49" charset="0"/>
              </a:rPr>
              <a:t>        </a:t>
            </a:r>
            <a:r>
              <a:rPr kumimoji="0" lang="en-PK" altLang="en-PK" sz="1400" b="1" i="0" u="none" strike="noStrike" cap="none" normalizeH="0" baseline="0" dirty="0">
                <a:ln>
                  <a:noFill/>
                </a:ln>
                <a:solidFill>
                  <a:srgbClr val="006699"/>
                </a:solidFill>
                <a:effectLst/>
                <a:latin typeface="Consolas" panose="020B0609020204030204" pitchFamily="49" charset="0"/>
              </a:rPr>
              <a:t>int</a:t>
            </a:r>
            <a:r>
              <a:rPr kumimoji="0" lang="en-PK" altLang="en-PK" sz="1400" b="0" i="0" u="none" strike="noStrike" cap="none" normalizeH="0" baseline="0" dirty="0">
                <a:ln>
                  <a:noFill/>
                </a:ln>
                <a:solidFill>
                  <a:srgbClr val="000000"/>
                </a:solidFill>
                <a:effectLst/>
                <a:latin typeface="Consolas" panose="020B0609020204030204" pitchFamily="49" charset="0"/>
              </a:rPr>
              <a:t>[][][] </a:t>
            </a:r>
            <a:r>
              <a:rPr kumimoji="0" lang="en-PK" altLang="en-PK" sz="1400" b="0" i="0" u="none" strike="noStrike" cap="none" normalizeH="0" baseline="0" dirty="0" err="1">
                <a:ln>
                  <a:noFill/>
                </a:ln>
                <a:solidFill>
                  <a:srgbClr val="000000"/>
                </a:solidFill>
                <a:effectLst/>
                <a:latin typeface="Consolas" panose="020B0609020204030204" pitchFamily="49" charset="0"/>
              </a:rPr>
              <a:t>arr</a:t>
            </a:r>
            <a:r>
              <a:rPr kumimoji="0" lang="en-PK" altLang="en-PK" sz="1400" b="0" i="0" u="none" strike="noStrike" cap="none" normalizeH="0" baseline="0" dirty="0">
                <a:ln>
                  <a:noFill/>
                </a:ln>
                <a:solidFill>
                  <a:srgbClr val="000000"/>
                </a:solidFill>
                <a:effectLst/>
                <a:latin typeface="Consolas" panose="020B0609020204030204" pitchFamily="49" charset="0"/>
              </a:rPr>
              <a:t> = { { { </a:t>
            </a:r>
            <a:r>
              <a:rPr kumimoji="0" lang="en-PK" altLang="en-PK" sz="1400" b="0" i="0" u="none" strike="noStrike" cap="none" normalizeH="0" baseline="0" dirty="0">
                <a:ln>
                  <a:noFill/>
                </a:ln>
                <a:solidFill>
                  <a:srgbClr val="009900"/>
                </a:solidFill>
                <a:effectLst/>
                <a:latin typeface="Consolas" panose="020B0609020204030204" pitchFamily="49" charset="0"/>
              </a:rPr>
              <a:t>1</a:t>
            </a:r>
            <a:r>
              <a:rPr kumimoji="0" lang="en-PK" altLang="en-PK" sz="1400" b="0" i="0" u="none" strike="noStrike" cap="none" normalizeH="0" baseline="0" dirty="0">
                <a:ln>
                  <a:noFill/>
                </a:ln>
                <a:solidFill>
                  <a:srgbClr val="000000"/>
                </a:solidFill>
                <a:effectLst/>
                <a:latin typeface="Consolas" panose="020B0609020204030204" pitchFamily="49" charset="0"/>
              </a:rPr>
              <a:t>, </a:t>
            </a:r>
            <a:r>
              <a:rPr kumimoji="0" lang="en-PK" altLang="en-PK" sz="1400" b="0" i="0" u="none" strike="noStrike" cap="none" normalizeH="0" baseline="0" dirty="0">
                <a:ln>
                  <a:noFill/>
                </a:ln>
                <a:solidFill>
                  <a:srgbClr val="009900"/>
                </a:solidFill>
                <a:effectLst/>
                <a:latin typeface="Consolas" panose="020B0609020204030204" pitchFamily="49" charset="0"/>
              </a:rPr>
              <a:t>2</a:t>
            </a:r>
            <a:r>
              <a:rPr kumimoji="0" lang="en-PK" altLang="en-PK" sz="1000" b="0" i="0" u="none" strike="noStrike" cap="none" normalizeH="0" baseline="0" dirty="0">
                <a:ln>
                  <a:noFill/>
                </a:ln>
                <a:solidFill>
                  <a:srgbClr val="40424E"/>
                </a:solidFill>
                <a:effectLst/>
                <a:latin typeface="Consolas" panose="020B0609020204030204" pitchFamily="49" charset="0"/>
              </a:rPr>
              <a:t> </a:t>
            </a:r>
            <a:r>
              <a:rPr kumimoji="0" lang="en-PK" altLang="en-PK" sz="1400" b="0" i="0" u="none" strike="noStrike" cap="none" normalizeH="0" baseline="0" dirty="0">
                <a:ln>
                  <a:noFill/>
                </a:ln>
                <a:solidFill>
                  <a:srgbClr val="000000"/>
                </a:solidFill>
                <a:effectLst/>
                <a:latin typeface="Consolas" panose="020B0609020204030204" pitchFamily="49" charset="0"/>
              </a:rPr>
              <a:t>}, { </a:t>
            </a:r>
            <a:r>
              <a:rPr kumimoji="0" lang="en-PK" altLang="en-PK" sz="1400" b="0" i="0" u="none" strike="noStrike" cap="none" normalizeH="0" baseline="0" dirty="0">
                <a:ln>
                  <a:noFill/>
                </a:ln>
                <a:solidFill>
                  <a:srgbClr val="009900"/>
                </a:solidFill>
                <a:effectLst/>
                <a:latin typeface="Consolas" panose="020B0609020204030204" pitchFamily="49" charset="0"/>
              </a:rPr>
              <a:t>3</a:t>
            </a:r>
            <a:r>
              <a:rPr kumimoji="0" lang="en-PK" altLang="en-PK" sz="1400" b="0" i="0" u="none" strike="noStrike" cap="none" normalizeH="0" baseline="0" dirty="0">
                <a:ln>
                  <a:noFill/>
                </a:ln>
                <a:solidFill>
                  <a:srgbClr val="000000"/>
                </a:solidFill>
                <a:effectLst/>
                <a:latin typeface="Consolas" panose="020B0609020204030204" pitchFamily="49" charset="0"/>
              </a:rPr>
              <a:t>, </a:t>
            </a:r>
            <a:r>
              <a:rPr kumimoji="0" lang="en-PK" altLang="en-PK" sz="1400" b="0" i="0" u="none" strike="noStrike" cap="none" normalizeH="0" baseline="0" dirty="0">
                <a:ln>
                  <a:noFill/>
                </a:ln>
                <a:solidFill>
                  <a:srgbClr val="009900"/>
                </a:solidFill>
                <a:effectLst/>
                <a:latin typeface="Consolas" panose="020B0609020204030204" pitchFamily="49" charset="0"/>
              </a:rPr>
              <a:t>4</a:t>
            </a:r>
            <a:r>
              <a:rPr kumimoji="0" lang="en-PK" altLang="en-PK" sz="1000" b="0" i="0" u="none" strike="noStrike" cap="none" normalizeH="0" baseline="0" dirty="0">
                <a:ln>
                  <a:noFill/>
                </a:ln>
                <a:solidFill>
                  <a:srgbClr val="40424E"/>
                </a:solidFill>
                <a:effectLst/>
                <a:latin typeface="Consolas" panose="020B0609020204030204" pitchFamily="49" charset="0"/>
              </a:rPr>
              <a:t> </a:t>
            </a:r>
            <a:r>
              <a:rPr kumimoji="0" lang="en-PK" altLang="en-PK" sz="1400" b="0" i="0" u="none" strike="noStrike" cap="none" normalizeH="0" baseline="0" dirty="0">
                <a:ln>
                  <a:noFill/>
                </a:ln>
                <a:solidFill>
                  <a:srgbClr val="000000"/>
                </a:solidFill>
                <a:effectLst/>
                <a:latin typeface="Consolas" panose="020B0609020204030204" pitchFamily="49" charset="0"/>
              </a:rPr>
              <a:t>} }, { { </a:t>
            </a:r>
            <a:r>
              <a:rPr kumimoji="0" lang="en-PK" altLang="en-PK" sz="1400" b="0" i="0" u="none" strike="noStrike" cap="none" normalizeH="0" baseline="0" dirty="0">
                <a:ln>
                  <a:noFill/>
                </a:ln>
                <a:solidFill>
                  <a:srgbClr val="009900"/>
                </a:solidFill>
                <a:effectLst/>
                <a:latin typeface="Consolas" panose="020B0609020204030204" pitchFamily="49" charset="0"/>
              </a:rPr>
              <a:t>5</a:t>
            </a:r>
            <a:r>
              <a:rPr kumimoji="0" lang="en-PK" altLang="en-PK" sz="1400" b="0" i="0" u="none" strike="noStrike" cap="none" normalizeH="0" baseline="0" dirty="0">
                <a:ln>
                  <a:noFill/>
                </a:ln>
                <a:solidFill>
                  <a:srgbClr val="000000"/>
                </a:solidFill>
                <a:effectLst/>
                <a:latin typeface="Consolas" panose="020B0609020204030204" pitchFamily="49" charset="0"/>
              </a:rPr>
              <a:t>, </a:t>
            </a:r>
            <a:r>
              <a:rPr kumimoji="0" lang="en-PK" altLang="en-PK" sz="1400" b="0" i="0" u="none" strike="noStrike" cap="none" normalizeH="0" baseline="0" dirty="0">
                <a:ln>
                  <a:noFill/>
                </a:ln>
                <a:solidFill>
                  <a:srgbClr val="009900"/>
                </a:solidFill>
                <a:effectLst/>
                <a:latin typeface="Consolas" panose="020B0609020204030204" pitchFamily="49" charset="0"/>
              </a:rPr>
              <a:t>6</a:t>
            </a:r>
            <a:r>
              <a:rPr kumimoji="0" lang="en-PK" altLang="en-PK" sz="1000" b="0" i="0" u="none" strike="noStrike" cap="none" normalizeH="0" baseline="0" dirty="0">
                <a:ln>
                  <a:noFill/>
                </a:ln>
                <a:solidFill>
                  <a:srgbClr val="40424E"/>
                </a:solidFill>
                <a:effectLst/>
                <a:latin typeface="Consolas" panose="020B0609020204030204" pitchFamily="49" charset="0"/>
              </a:rPr>
              <a:t> </a:t>
            </a:r>
            <a:r>
              <a:rPr kumimoji="0" lang="en-PK" altLang="en-PK" sz="1400" b="0" i="0" u="none" strike="noStrike" cap="none" normalizeH="0" baseline="0" dirty="0">
                <a:ln>
                  <a:noFill/>
                </a:ln>
                <a:solidFill>
                  <a:srgbClr val="000000"/>
                </a:solidFill>
                <a:effectLst/>
                <a:latin typeface="Consolas" panose="020B0609020204030204" pitchFamily="49" charset="0"/>
              </a:rPr>
              <a:t>}, { </a:t>
            </a:r>
            <a:r>
              <a:rPr kumimoji="0" lang="en-PK" altLang="en-PK" sz="1400" b="0" i="0" u="none" strike="noStrike" cap="none" normalizeH="0" baseline="0" dirty="0">
                <a:ln>
                  <a:noFill/>
                </a:ln>
                <a:solidFill>
                  <a:srgbClr val="009900"/>
                </a:solidFill>
                <a:effectLst/>
                <a:latin typeface="Consolas" panose="020B0609020204030204" pitchFamily="49" charset="0"/>
              </a:rPr>
              <a:t>7</a:t>
            </a:r>
            <a:r>
              <a:rPr kumimoji="0" lang="en-PK" altLang="en-PK" sz="1400" b="0" i="0" u="none" strike="noStrike" cap="none" normalizeH="0" baseline="0" dirty="0">
                <a:ln>
                  <a:noFill/>
                </a:ln>
                <a:solidFill>
                  <a:srgbClr val="000000"/>
                </a:solidFill>
                <a:effectLst/>
                <a:latin typeface="Consolas" panose="020B0609020204030204" pitchFamily="49" charset="0"/>
              </a:rPr>
              <a:t>, </a:t>
            </a:r>
            <a:r>
              <a:rPr kumimoji="0" lang="en-PK" altLang="en-PK" sz="1400" b="0" i="0" u="none" strike="noStrike" cap="none" normalizeH="0" baseline="0" dirty="0">
                <a:ln>
                  <a:noFill/>
                </a:ln>
                <a:solidFill>
                  <a:srgbClr val="009900"/>
                </a:solidFill>
                <a:effectLst/>
                <a:latin typeface="Consolas" panose="020B0609020204030204" pitchFamily="49" charset="0"/>
              </a:rPr>
              <a:t>8</a:t>
            </a:r>
            <a:r>
              <a:rPr kumimoji="0" lang="en-PK" altLang="en-PK" sz="1000" b="0" i="0" u="none" strike="noStrike" cap="none" normalizeH="0" baseline="0" dirty="0">
                <a:ln>
                  <a:noFill/>
                </a:ln>
                <a:solidFill>
                  <a:srgbClr val="40424E"/>
                </a:solidFill>
                <a:effectLst/>
                <a:latin typeface="Consolas" panose="020B0609020204030204" pitchFamily="49" charset="0"/>
              </a:rPr>
              <a:t> </a:t>
            </a:r>
            <a:r>
              <a:rPr kumimoji="0" lang="en-PK" altLang="en-PK" sz="1400" b="0" i="0" u="none" strike="noStrike" cap="none" normalizeH="0" baseline="0" dirty="0">
                <a:ln>
                  <a:noFill/>
                </a:ln>
                <a:solidFill>
                  <a:srgbClr val="000000"/>
                </a:solidFill>
                <a:effectLst/>
                <a:latin typeface="Consolas" panose="020B0609020204030204" pitchFamily="49" charset="0"/>
              </a:rPr>
              <a:t>} } }; </a:t>
            </a:r>
            <a:endParaRPr kumimoji="0" lang="en-PK" altLang="en-PK"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400" b="0" i="0" u="none" strike="noStrike" cap="none" normalizeH="0" baseline="0" dirty="0">
                <a:ln>
                  <a:noFill/>
                </a:ln>
                <a:solidFill>
                  <a:srgbClr val="40424E"/>
                </a:solidFill>
                <a:effectLst/>
                <a:latin typeface="Consolas" panose="020B0609020204030204" pitchFamily="49" charset="0"/>
              </a:rPr>
              <a:t> </a:t>
            </a:r>
            <a:r>
              <a:rPr kumimoji="0" lang="en-PK" altLang="en-PK" sz="1000" b="0" i="0" u="none" strike="noStrike" cap="none" normalizeH="0" baseline="0" dirty="0">
                <a:ln>
                  <a:noFill/>
                </a:ln>
                <a:solidFill>
                  <a:srgbClr val="40424E"/>
                </a:solidFill>
                <a:effectLst/>
                <a:latin typeface="Consolas" panose="020B0609020204030204" pitchFamily="49" charset="0"/>
              </a:rPr>
              <a:t> </a:t>
            </a:r>
            <a:endParaRPr kumimoji="0" lang="en-PK" altLang="en-PK"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400" b="0" i="0" u="none" strike="noStrike" cap="none" normalizeH="0" baseline="0" dirty="0">
                <a:ln>
                  <a:noFill/>
                </a:ln>
                <a:solidFill>
                  <a:srgbClr val="40424E"/>
                </a:solidFill>
                <a:effectLst/>
                <a:latin typeface="Consolas" panose="020B0609020204030204" pitchFamily="49" charset="0"/>
              </a:rPr>
              <a:t>        </a:t>
            </a:r>
            <a:r>
              <a:rPr kumimoji="0" lang="en-PK" altLang="en-PK" sz="1400" b="1" i="0" u="none" strike="noStrike" cap="none" normalizeH="0" baseline="0" dirty="0">
                <a:ln>
                  <a:noFill/>
                </a:ln>
                <a:solidFill>
                  <a:srgbClr val="006699"/>
                </a:solidFill>
                <a:effectLst/>
                <a:latin typeface="Consolas" panose="020B0609020204030204" pitchFamily="49" charset="0"/>
              </a:rPr>
              <a:t>for</a:t>
            </a:r>
            <a:r>
              <a:rPr kumimoji="0" lang="en-PK" altLang="en-PK" sz="1000" b="0" i="0" u="none" strike="noStrike" cap="none" normalizeH="0" baseline="0" dirty="0">
                <a:ln>
                  <a:noFill/>
                </a:ln>
                <a:solidFill>
                  <a:srgbClr val="40424E"/>
                </a:solidFill>
                <a:effectLst/>
                <a:latin typeface="Consolas" panose="020B0609020204030204" pitchFamily="49" charset="0"/>
              </a:rPr>
              <a:t> </a:t>
            </a:r>
            <a:r>
              <a:rPr kumimoji="0" lang="en-PK" altLang="en-PK" sz="1400" b="0" i="0" u="none" strike="noStrike" cap="none" normalizeH="0" baseline="0" dirty="0">
                <a:ln>
                  <a:noFill/>
                </a:ln>
                <a:solidFill>
                  <a:srgbClr val="000000"/>
                </a:solidFill>
                <a:effectLst/>
                <a:latin typeface="Consolas" panose="020B0609020204030204" pitchFamily="49" charset="0"/>
              </a:rPr>
              <a:t>(</a:t>
            </a:r>
            <a:r>
              <a:rPr kumimoji="0" lang="en-PK" altLang="en-PK" sz="1400" b="1" i="0" u="none" strike="noStrike" cap="none" normalizeH="0" baseline="0" dirty="0">
                <a:ln>
                  <a:noFill/>
                </a:ln>
                <a:solidFill>
                  <a:srgbClr val="006699"/>
                </a:solidFill>
                <a:effectLst/>
                <a:latin typeface="Consolas" panose="020B0609020204030204" pitchFamily="49" charset="0"/>
              </a:rPr>
              <a:t>int</a:t>
            </a:r>
            <a:r>
              <a:rPr kumimoji="0" lang="en-PK" altLang="en-PK" sz="1000" b="0" i="0" u="none" strike="noStrike" cap="none" normalizeH="0" baseline="0" dirty="0">
                <a:ln>
                  <a:noFill/>
                </a:ln>
                <a:solidFill>
                  <a:srgbClr val="40424E"/>
                </a:solidFill>
                <a:effectLst/>
                <a:latin typeface="Consolas" panose="020B0609020204030204" pitchFamily="49" charset="0"/>
              </a:rPr>
              <a:t> </a:t>
            </a:r>
            <a:r>
              <a:rPr kumimoji="0" lang="en-PK" altLang="en-PK" sz="1400" b="0" i="0" u="none" strike="noStrike" cap="none" normalizeH="0" baseline="0" dirty="0" err="1">
                <a:ln>
                  <a:noFill/>
                </a:ln>
                <a:solidFill>
                  <a:srgbClr val="000000"/>
                </a:solidFill>
                <a:effectLst/>
                <a:latin typeface="Consolas" panose="020B0609020204030204" pitchFamily="49" charset="0"/>
              </a:rPr>
              <a:t>i</a:t>
            </a:r>
            <a:r>
              <a:rPr kumimoji="0" lang="en-PK" altLang="en-PK" sz="1400" b="0" i="0" u="none" strike="noStrike" cap="none" normalizeH="0" baseline="0" dirty="0">
                <a:ln>
                  <a:noFill/>
                </a:ln>
                <a:solidFill>
                  <a:srgbClr val="000000"/>
                </a:solidFill>
                <a:effectLst/>
                <a:latin typeface="Consolas" panose="020B0609020204030204" pitchFamily="49" charset="0"/>
              </a:rPr>
              <a:t> = </a:t>
            </a:r>
            <a:r>
              <a:rPr kumimoji="0" lang="en-PK" altLang="en-PK" sz="1400" b="0" i="0" u="none" strike="noStrike" cap="none" normalizeH="0" baseline="0" dirty="0">
                <a:ln>
                  <a:noFill/>
                </a:ln>
                <a:solidFill>
                  <a:srgbClr val="009900"/>
                </a:solidFill>
                <a:effectLst/>
                <a:latin typeface="Consolas" panose="020B0609020204030204" pitchFamily="49" charset="0"/>
              </a:rPr>
              <a:t>0</a:t>
            </a:r>
            <a:r>
              <a:rPr kumimoji="0" lang="en-PK" altLang="en-PK" sz="1400" b="0" i="0" u="none" strike="noStrike" cap="none" normalizeH="0" baseline="0" dirty="0">
                <a:ln>
                  <a:noFill/>
                </a:ln>
                <a:solidFill>
                  <a:srgbClr val="000000"/>
                </a:solidFill>
                <a:effectLst/>
                <a:latin typeface="Consolas" panose="020B0609020204030204" pitchFamily="49" charset="0"/>
              </a:rPr>
              <a:t>; </a:t>
            </a:r>
            <a:r>
              <a:rPr kumimoji="0" lang="en-PK" altLang="en-PK" sz="1400" b="0" i="0" u="none" strike="noStrike" cap="none" normalizeH="0" baseline="0" dirty="0" err="1">
                <a:ln>
                  <a:noFill/>
                </a:ln>
                <a:solidFill>
                  <a:srgbClr val="000000"/>
                </a:solidFill>
                <a:effectLst/>
                <a:latin typeface="Consolas" panose="020B0609020204030204" pitchFamily="49" charset="0"/>
              </a:rPr>
              <a:t>i</a:t>
            </a:r>
            <a:r>
              <a:rPr kumimoji="0" lang="en-PK" altLang="en-PK" sz="1400" b="0" i="0" u="none" strike="noStrike" cap="none" normalizeH="0" baseline="0" dirty="0">
                <a:ln>
                  <a:noFill/>
                </a:ln>
                <a:solidFill>
                  <a:srgbClr val="000000"/>
                </a:solidFill>
                <a:effectLst/>
                <a:latin typeface="Consolas" panose="020B0609020204030204" pitchFamily="49" charset="0"/>
              </a:rPr>
              <a:t> &lt; </a:t>
            </a:r>
            <a:r>
              <a:rPr kumimoji="0" lang="en-PK" altLang="en-PK" sz="1400" b="0" i="0" u="none" strike="noStrike" cap="none" normalizeH="0" baseline="0" dirty="0">
                <a:ln>
                  <a:noFill/>
                </a:ln>
                <a:solidFill>
                  <a:srgbClr val="009900"/>
                </a:solidFill>
                <a:effectLst/>
                <a:latin typeface="Consolas" panose="020B0609020204030204" pitchFamily="49" charset="0"/>
              </a:rPr>
              <a:t>2</a:t>
            </a:r>
            <a:r>
              <a:rPr kumimoji="0" lang="en-PK" altLang="en-PK" sz="1400" b="0" i="0" u="none" strike="noStrike" cap="none" normalizeH="0" baseline="0" dirty="0">
                <a:ln>
                  <a:noFill/>
                </a:ln>
                <a:solidFill>
                  <a:srgbClr val="000000"/>
                </a:solidFill>
                <a:effectLst/>
                <a:latin typeface="Consolas" panose="020B0609020204030204" pitchFamily="49" charset="0"/>
              </a:rPr>
              <a:t>; </a:t>
            </a:r>
            <a:r>
              <a:rPr kumimoji="0" lang="en-PK" altLang="en-PK" sz="1400" b="0" i="0" u="none" strike="noStrike" cap="none" normalizeH="0" baseline="0" dirty="0" err="1">
                <a:ln>
                  <a:noFill/>
                </a:ln>
                <a:solidFill>
                  <a:srgbClr val="000000"/>
                </a:solidFill>
                <a:effectLst/>
                <a:latin typeface="Consolas" panose="020B0609020204030204" pitchFamily="49" charset="0"/>
              </a:rPr>
              <a:t>i</a:t>
            </a:r>
            <a:r>
              <a:rPr kumimoji="0" lang="en-PK" altLang="en-PK" sz="1400" b="0" i="0" u="none" strike="noStrike" cap="none" normalizeH="0" baseline="0" dirty="0">
                <a:ln>
                  <a:noFill/>
                </a:ln>
                <a:solidFill>
                  <a:srgbClr val="000000"/>
                </a:solidFill>
                <a:effectLst/>
                <a:latin typeface="Consolas" panose="020B0609020204030204" pitchFamily="49" charset="0"/>
              </a:rPr>
              <a:t>++) </a:t>
            </a:r>
            <a:endParaRPr kumimoji="0" lang="en-PK" altLang="en-PK"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400" b="0" i="0" u="none" strike="noStrike" cap="none" normalizeH="0" baseline="0" dirty="0">
                <a:ln>
                  <a:noFill/>
                </a:ln>
                <a:solidFill>
                  <a:srgbClr val="40424E"/>
                </a:solidFill>
                <a:effectLst/>
                <a:latin typeface="Consolas" panose="020B0609020204030204" pitchFamily="49" charset="0"/>
              </a:rPr>
              <a:t>            </a:t>
            </a:r>
            <a:r>
              <a:rPr kumimoji="0" lang="en-PK" altLang="en-PK" sz="1400" b="1" i="0" u="none" strike="noStrike" cap="none" normalizeH="0" baseline="0" dirty="0">
                <a:ln>
                  <a:noFill/>
                </a:ln>
                <a:solidFill>
                  <a:srgbClr val="006699"/>
                </a:solidFill>
                <a:effectLst/>
                <a:latin typeface="Consolas" panose="020B0609020204030204" pitchFamily="49" charset="0"/>
              </a:rPr>
              <a:t>for</a:t>
            </a:r>
            <a:r>
              <a:rPr kumimoji="0" lang="en-PK" altLang="en-PK" sz="1000" b="0" i="0" u="none" strike="noStrike" cap="none" normalizeH="0" baseline="0" dirty="0">
                <a:ln>
                  <a:noFill/>
                </a:ln>
                <a:solidFill>
                  <a:srgbClr val="40424E"/>
                </a:solidFill>
                <a:effectLst/>
                <a:latin typeface="Consolas" panose="020B0609020204030204" pitchFamily="49" charset="0"/>
              </a:rPr>
              <a:t> </a:t>
            </a:r>
            <a:r>
              <a:rPr kumimoji="0" lang="en-PK" altLang="en-PK" sz="1400" b="0" i="0" u="none" strike="noStrike" cap="none" normalizeH="0" baseline="0" dirty="0">
                <a:ln>
                  <a:noFill/>
                </a:ln>
                <a:solidFill>
                  <a:srgbClr val="000000"/>
                </a:solidFill>
                <a:effectLst/>
                <a:latin typeface="Consolas" panose="020B0609020204030204" pitchFamily="49" charset="0"/>
              </a:rPr>
              <a:t>(</a:t>
            </a:r>
            <a:r>
              <a:rPr kumimoji="0" lang="en-PK" altLang="en-PK" sz="1400" b="1" i="0" u="none" strike="noStrike" cap="none" normalizeH="0" baseline="0" dirty="0">
                <a:ln>
                  <a:noFill/>
                </a:ln>
                <a:solidFill>
                  <a:srgbClr val="006699"/>
                </a:solidFill>
                <a:effectLst/>
                <a:latin typeface="Consolas" panose="020B0609020204030204" pitchFamily="49" charset="0"/>
              </a:rPr>
              <a:t>int</a:t>
            </a:r>
            <a:r>
              <a:rPr kumimoji="0" lang="en-PK" altLang="en-PK" sz="1000" b="0" i="0" u="none" strike="noStrike" cap="none" normalizeH="0" baseline="0" dirty="0">
                <a:ln>
                  <a:noFill/>
                </a:ln>
                <a:solidFill>
                  <a:srgbClr val="40424E"/>
                </a:solidFill>
                <a:effectLst/>
                <a:latin typeface="Consolas" panose="020B0609020204030204" pitchFamily="49" charset="0"/>
              </a:rPr>
              <a:t> </a:t>
            </a:r>
            <a:r>
              <a:rPr kumimoji="0" lang="en-PK" altLang="en-PK" sz="1400" b="0" i="0" u="none" strike="noStrike" cap="none" normalizeH="0" baseline="0" dirty="0">
                <a:ln>
                  <a:noFill/>
                </a:ln>
                <a:solidFill>
                  <a:srgbClr val="000000"/>
                </a:solidFill>
                <a:effectLst/>
                <a:latin typeface="Consolas" panose="020B0609020204030204" pitchFamily="49" charset="0"/>
              </a:rPr>
              <a:t>j = </a:t>
            </a:r>
            <a:r>
              <a:rPr kumimoji="0" lang="en-PK" altLang="en-PK" sz="1400" b="0" i="0" u="none" strike="noStrike" cap="none" normalizeH="0" baseline="0" dirty="0">
                <a:ln>
                  <a:noFill/>
                </a:ln>
                <a:solidFill>
                  <a:srgbClr val="009900"/>
                </a:solidFill>
                <a:effectLst/>
                <a:latin typeface="Consolas" panose="020B0609020204030204" pitchFamily="49" charset="0"/>
              </a:rPr>
              <a:t>0</a:t>
            </a:r>
            <a:r>
              <a:rPr kumimoji="0" lang="en-PK" altLang="en-PK" sz="1400" b="0" i="0" u="none" strike="noStrike" cap="none" normalizeH="0" baseline="0" dirty="0">
                <a:ln>
                  <a:noFill/>
                </a:ln>
                <a:solidFill>
                  <a:srgbClr val="000000"/>
                </a:solidFill>
                <a:effectLst/>
                <a:latin typeface="Consolas" panose="020B0609020204030204" pitchFamily="49" charset="0"/>
              </a:rPr>
              <a:t>; j &lt; </a:t>
            </a:r>
            <a:r>
              <a:rPr kumimoji="0" lang="en-PK" altLang="en-PK" sz="1400" b="0" i="0" u="none" strike="noStrike" cap="none" normalizeH="0" baseline="0" dirty="0">
                <a:ln>
                  <a:noFill/>
                </a:ln>
                <a:solidFill>
                  <a:srgbClr val="009900"/>
                </a:solidFill>
                <a:effectLst/>
                <a:latin typeface="Consolas" panose="020B0609020204030204" pitchFamily="49" charset="0"/>
              </a:rPr>
              <a:t>2</a:t>
            </a:r>
            <a:r>
              <a:rPr kumimoji="0" lang="en-PK" altLang="en-PK" sz="1400" b="0" i="0" u="none" strike="noStrike" cap="none" normalizeH="0" baseline="0" dirty="0">
                <a:ln>
                  <a:noFill/>
                </a:ln>
                <a:solidFill>
                  <a:srgbClr val="000000"/>
                </a:solidFill>
                <a:effectLst/>
                <a:latin typeface="Consolas" panose="020B0609020204030204" pitchFamily="49" charset="0"/>
              </a:rPr>
              <a:t>; </a:t>
            </a:r>
            <a:r>
              <a:rPr kumimoji="0" lang="en-PK" altLang="en-PK" sz="1400" b="0" i="0" u="none" strike="noStrike" cap="none" normalizeH="0" baseline="0" dirty="0" err="1">
                <a:ln>
                  <a:noFill/>
                </a:ln>
                <a:solidFill>
                  <a:srgbClr val="000000"/>
                </a:solidFill>
                <a:effectLst/>
                <a:latin typeface="Consolas" panose="020B0609020204030204" pitchFamily="49" charset="0"/>
              </a:rPr>
              <a:t>j++</a:t>
            </a:r>
            <a:r>
              <a:rPr kumimoji="0" lang="en-PK" altLang="en-PK" sz="1400" b="0" i="0" u="none" strike="noStrike" cap="none" normalizeH="0" baseline="0" dirty="0">
                <a:ln>
                  <a:noFill/>
                </a:ln>
                <a:solidFill>
                  <a:srgbClr val="000000"/>
                </a:solidFill>
                <a:effectLst/>
                <a:latin typeface="Consolas" panose="020B0609020204030204" pitchFamily="49" charset="0"/>
              </a:rPr>
              <a:t>) </a:t>
            </a:r>
            <a:endParaRPr kumimoji="0" lang="en-PK" altLang="en-PK"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400" b="0" i="0" u="none" strike="noStrike" cap="none" normalizeH="0" baseline="0" dirty="0">
                <a:ln>
                  <a:noFill/>
                </a:ln>
                <a:solidFill>
                  <a:srgbClr val="40424E"/>
                </a:solidFill>
                <a:effectLst/>
                <a:latin typeface="Consolas" panose="020B0609020204030204" pitchFamily="49" charset="0"/>
              </a:rPr>
              <a:t>                </a:t>
            </a:r>
            <a:r>
              <a:rPr kumimoji="0" lang="en-PK" altLang="en-PK" sz="1400" b="1" i="0" u="none" strike="noStrike" cap="none" normalizeH="0" baseline="0" dirty="0">
                <a:ln>
                  <a:noFill/>
                </a:ln>
                <a:solidFill>
                  <a:srgbClr val="006699"/>
                </a:solidFill>
                <a:effectLst/>
                <a:latin typeface="Consolas" panose="020B0609020204030204" pitchFamily="49" charset="0"/>
              </a:rPr>
              <a:t>for</a:t>
            </a:r>
            <a:r>
              <a:rPr kumimoji="0" lang="en-PK" altLang="en-PK" sz="1000" b="0" i="0" u="none" strike="noStrike" cap="none" normalizeH="0" baseline="0" dirty="0">
                <a:ln>
                  <a:noFill/>
                </a:ln>
                <a:solidFill>
                  <a:srgbClr val="40424E"/>
                </a:solidFill>
                <a:effectLst/>
                <a:latin typeface="Consolas" panose="020B0609020204030204" pitchFamily="49" charset="0"/>
              </a:rPr>
              <a:t> </a:t>
            </a:r>
            <a:r>
              <a:rPr kumimoji="0" lang="en-PK" altLang="en-PK" sz="1400" b="0" i="0" u="none" strike="noStrike" cap="none" normalizeH="0" baseline="0" dirty="0">
                <a:ln>
                  <a:noFill/>
                </a:ln>
                <a:solidFill>
                  <a:srgbClr val="000000"/>
                </a:solidFill>
                <a:effectLst/>
                <a:latin typeface="Consolas" panose="020B0609020204030204" pitchFamily="49" charset="0"/>
              </a:rPr>
              <a:t>(</a:t>
            </a:r>
            <a:r>
              <a:rPr kumimoji="0" lang="en-PK" altLang="en-PK" sz="1400" b="1" i="0" u="none" strike="noStrike" cap="none" normalizeH="0" baseline="0" dirty="0">
                <a:ln>
                  <a:noFill/>
                </a:ln>
                <a:solidFill>
                  <a:srgbClr val="006699"/>
                </a:solidFill>
                <a:effectLst/>
                <a:latin typeface="Consolas" panose="020B0609020204030204" pitchFamily="49" charset="0"/>
              </a:rPr>
              <a:t>int</a:t>
            </a:r>
            <a:r>
              <a:rPr kumimoji="0" lang="en-PK" altLang="en-PK" sz="1000" b="0" i="0" u="none" strike="noStrike" cap="none" normalizeH="0" baseline="0" dirty="0">
                <a:ln>
                  <a:noFill/>
                </a:ln>
                <a:solidFill>
                  <a:srgbClr val="40424E"/>
                </a:solidFill>
                <a:effectLst/>
                <a:latin typeface="Consolas" panose="020B0609020204030204" pitchFamily="49" charset="0"/>
              </a:rPr>
              <a:t> </a:t>
            </a:r>
            <a:r>
              <a:rPr kumimoji="0" lang="en-PK" altLang="en-PK" sz="1400" b="0" i="0" u="none" strike="noStrike" cap="none" normalizeH="0" baseline="0" dirty="0">
                <a:ln>
                  <a:noFill/>
                </a:ln>
                <a:solidFill>
                  <a:srgbClr val="000000"/>
                </a:solidFill>
                <a:effectLst/>
                <a:latin typeface="Consolas" panose="020B0609020204030204" pitchFamily="49" charset="0"/>
              </a:rPr>
              <a:t>z = </a:t>
            </a:r>
            <a:r>
              <a:rPr kumimoji="0" lang="en-PK" altLang="en-PK" sz="1400" b="0" i="0" u="none" strike="noStrike" cap="none" normalizeH="0" baseline="0" dirty="0">
                <a:ln>
                  <a:noFill/>
                </a:ln>
                <a:solidFill>
                  <a:srgbClr val="009900"/>
                </a:solidFill>
                <a:effectLst/>
                <a:latin typeface="Consolas" panose="020B0609020204030204" pitchFamily="49" charset="0"/>
              </a:rPr>
              <a:t>0</a:t>
            </a:r>
            <a:r>
              <a:rPr kumimoji="0" lang="en-PK" altLang="en-PK" sz="1400" b="0" i="0" u="none" strike="noStrike" cap="none" normalizeH="0" baseline="0" dirty="0">
                <a:ln>
                  <a:noFill/>
                </a:ln>
                <a:solidFill>
                  <a:srgbClr val="000000"/>
                </a:solidFill>
                <a:effectLst/>
                <a:latin typeface="Consolas" panose="020B0609020204030204" pitchFamily="49" charset="0"/>
              </a:rPr>
              <a:t>; z &lt; </a:t>
            </a:r>
            <a:r>
              <a:rPr kumimoji="0" lang="en-PK" altLang="en-PK" sz="1400" b="0" i="0" u="none" strike="noStrike" cap="none" normalizeH="0" baseline="0" dirty="0">
                <a:ln>
                  <a:noFill/>
                </a:ln>
                <a:solidFill>
                  <a:srgbClr val="009900"/>
                </a:solidFill>
                <a:effectLst/>
                <a:latin typeface="Consolas" panose="020B0609020204030204" pitchFamily="49" charset="0"/>
              </a:rPr>
              <a:t>2</a:t>
            </a:r>
            <a:r>
              <a:rPr kumimoji="0" lang="en-PK" altLang="en-PK" sz="1400" b="0" i="0" u="none" strike="noStrike" cap="none" normalizeH="0" baseline="0" dirty="0">
                <a:ln>
                  <a:noFill/>
                </a:ln>
                <a:solidFill>
                  <a:srgbClr val="000000"/>
                </a:solidFill>
                <a:effectLst/>
                <a:latin typeface="Consolas" panose="020B0609020204030204" pitchFamily="49" charset="0"/>
              </a:rPr>
              <a:t>; z++) </a:t>
            </a:r>
            <a:endParaRPr kumimoji="0" lang="en-PK" altLang="en-PK"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400" b="0" i="0" u="none" strike="noStrike" cap="none" normalizeH="0" baseline="0" dirty="0">
                <a:ln>
                  <a:noFill/>
                </a:ln>
                <a:solidFill>
                  <a:srgbClr val="40424E"/>
                </a:solidFill>
                <a:effectLst/>
                <a:latin typeface="Consolas" panose="020B0609020204030204" pitchFamily="49" charset="0"/>
              </a:rPr>
              <a:t>                    </a:t>
            </a:r>
            <a:r>
              <a:rPr kumimoji="0" lang="en-PK" altLang="en-PK" sz="1400" b="0" i="0" u="none" strike="noStrike" cap="none" normalizeH="0" baseline="0" dirty="0" err="1">
                <a:ln>
                  <a:noFill/>
                </a:ln>
                <a:solidFill>
                  <a:srgbClr val="000000"/>
                </a:solidFill>
                <a:effectLst/>
                <a:latin typeface="Consolas" panose="020B0609020204030204" pitchFamily="49" charset="0"/>
              </a:rPr>
              <a:t>System.out.println</a:t>
            </a:r>
            <a:r>
              <a:rPr kumimoji="0" lang="en-PK" altLang="en-PK" sz="1400" b="0" i="0" u="none" strike="noStrike" cap="none" normalizeH="0" baseline="0" dirty="0">
                <a:ln>
                  <a:noFill/>
                </a:ln>
                <a:solidFill>
                  <a:srgbClr val="000000"/>
                </a:solidFill>
                <a:effectLst/>
                <a:latin typeface="Consolas" panose="020B0609020204030204" pitchFamily="49" charset="0"/>
              </a:rPr>
              <a:t>(</a:t>
            </a:r>
            <a:r>
              <a:rPr kumimoji="0" lang="en-PK" altLang="en-PK" sz="1400" b="0" i="0" u="none" strike="noStrike" cap="none" normalizeH="0" baseline="0" dirty="0">
                <a:ln>
                  <a:noFill/>
                </a:ln>
                <a:solidFill>
                  <a:srgbClr val="0000FF"/>
                </a:solidFill>
                <a:effectLst/>
                <a:latin typeface="Consolas" panose="020B0609020204030204" pitchFamily="49" charset="0"/>
              </a:rPr>
              <a:t>"</a:t>
            </a:r>
            <a:r>
              <a:rPr kumimoji="0" lang="en-PK" altLang="en-PK" sz="1400" b="0" i="0" u="none" strike="noStrike" cap="none" normalizeH="0" baseline="0" dirty="0" err="1">
                <a:ln>
                  <a:noFill/>
                </a:ln>
                <a:solidFill>
                  <a:srgbClr val="0000FF"/>
                </a:solidFill>
                <a:effectLst/>
                <a:latin typeface="Consolas" panose="020B0609020204030204" pitchFamily="49" charset="0"/>
              </a:rPr>
              <a:t>arr</a:t>
            </a:r>
            <a:r>
              <a:rPr kumimoji="0" lang="en-PK" altLang="en-PK" sz="1400" b="0" i="0" u="none" strike="noStrike" cap="none" normalizeH="0" baseline="0" dirty="0">
                <a:ln>
                  <a:noFill/>
                </a:ln>
                <a:solidFill>
                  <a:srgbClr val="0000FF"/>
                </a:solidFill>
                <a:effectLst/>
                <a:latin typeface="Consolas" panose="020B0609020204030204" pitchFamily="49" charset="0"/>
              </a:rPr>
              <a:t>["</a:t>
            </a:r>
            <a:r>
              <a:rPr kumimoji="0" lang="en-PK" altLang="en-PK" sz="1000" b="0" i="0" u="none" strike="noStrike" cap="none" normalizeH="0" baseline="0" dirty="0">
                <a:ln>
                  <a:noFill/>
                </a:ln>
                <a:solidFill>
                  <a:srgbClr val="40424E"/>
                </a:solidFill>
                <a:effectLst/>
                <a:latin typeface="Consolas" panose="020B0609020204030204" pitchFamily="49" charset="0"/>
              </a:rPr>
              <a:t> </a:t>
            </a:r>
            <a:r>
              <a:rPr kumimoji="0" lang="en-PK" altLang="en-PK" sz="1400" b="0" i="0" u="none" strike="noStrike" cap="none" normalizeH="0" baseline="0" dirty="0">
                <a:ln>
                  <a:noFill/>
                </a:ln>
                <a:solidFill>
                  <a:srgbClr val="000000"/>
                </a:solidFill>
                <a:effectLst/>
                <a:latin typeface="Consolas" panose="020B0609020204030204" pitchFamily="49" charset="0"/>
              </a:rPr>
              <a:t>+ </a:t>
            </a:r>
            <a:r>
              <a:rPr kumimoji="0" lang="en-PK" altLang="en-PK" sz="1400" b="0" i="0" u="none" strike="noStrike" cap="none" normalizeH="0" baseline="0" dirty="0" err="1">
                <a:ln>
                  <a:noFill/>
                </a:ln>
                <a:solidFill>
                  <a:srgbClr val="000000"/>
                </a:solidFill>
                <a:effectLst/>
                <a:latin typeface="Consolas" panose="020B0609020204030204" pitchFamily="49" charset="0"/>
              </a:rPr>
              <a:t>i</a:t>
            </a:r>
            <a:r>
              <a:rPr kumimoji="0" lang="en-PK" altLang="en-PK" sz="1400" b="0" i="0" u="none" strike="noStrike" cap="none" normalizeH="0" baseline="0" dirty="0">
                <a:ln>
                  <a:noFill/>
                </a:ln>
                <a:solidFill>
                  <a:srgbClr val="000000"/>
                </a:solidFill>
                <a:effectLst/>
                <a:latin typeface="Consolas" panose="020B0609020204030204" pitchFamily="49" charset="0"/>
              </a:rPr>
              <a:t> </a:t>
            </a:r>
            <a:endParaRPr kumimoji="0" lang="en-PK" altLang="en-PK"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400" b="0" i="0" u="none" strike="noStrike" cap="none" normalizeH="0" baseline="0" dirty="0">
                <a:ln>
                  <a:noFill/>
                </a:ln>
                <a:solidFill>
                  <a:srgbClr val="40424E"/>
                </a:solidFill>
                <a:effectLst/>
                <a:latin typeface="Consolas" panose="020B0609020204030204" pitchFamily="49" charset="0"/>
              </a:rPr>
              <a:t>                                       </a:t>
            </a:r>
            <a:r>
              <a:rPr kumimoji="0" lang="en-PK" altLang="en-PK" sz="1400" b="0" i="0" u="none" strike="noStrike" cap="none" normalizeH="0" baseline="0" dirty="0">
                <a:ln>
                  <a:noFill/>
                </a:ln>
                <a:solidFill>
                  <a:srgbClr val="000000"/>
                </a:solidFill>
                <a:effectLst/>
                <a:latin typeface="Consolas" panose="020B0609020204030204" pitchFamily="49" charset="0"/>
              </a:rPr>
              <a:t>+ </a:t>
            </a:r>
            <a:r>
              <a:rPr kumimoji="0" lang="en-PK" altLang="en-PK" sz="1400" b="0" i="0" u="none" strike="noStrike" cap="none" normalizeH="0" baseline="0" dirty="0">
                <a:ln>
                  <a:noFill/>
                </a:ln>
                <a:solidFill>
                  <a:srgbClr val="0000FF"/>
                </a:solidFill>
                <a:effectLst/>
                <a:latin typeface="Consolas" panose="020B0609020204030204" pitchFamily="49" charset="0"/>
              </a:rPr>
              <a:t>"]["</a:t>
            </a:r>
            <a:endParaRPr kumimoji="0" lang="en-PK" altLang="en-PK"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400" b="0" i="0" u="none" strike="noStrike" cap="none" normalizeH="0" baseline="0" dirty="0">
                <a:ln>
                  <a:noFill/>
                </a:ln>
                <a:solidFill>
                  <a:srgbClr val="40424E"/>
                </a:solidFill>
                <a:effectLst/>
                <a:latin typeface="Consolas" panose="020B0609020204030204" pitchFamily="49" charset="0"/>
              </a:rPr>
              <a:t>                                       </a:t>
            </a:r>
            <a:r>
              <a:rPr kumimoji="0" lang="en-PK" altLang="en-PK" sz="1400" b="0" i="0" u="none" strike="noStrike" cap="none" normalizeH="0" baseline="0" dirty="0">
                <a:ln>
                  <a:noFill/>
                </a:ln>
                <a:solidFill>
                  <a:srgbClr val="000000"/>
                </a:solidFill>
                <a:effectLst/>
                <a:latin typeface="Consolas" panose="020B0609020204030204" pitchFamily="49" charset="0"/>
              </a:rPr>
              <a:t>+ j + </a:t>
            </a:r>
            <a:r>
              <a:rPr kumimoji="0" lang="en-PK" altLang="en-PK" sz="1400" b="0" i="0" u="none" strike="noStrike" cap="none" normalizeH="0" baseline="0" dirty="0">
                <a:ln>
                  <a:noFill/>
                </a:ln>
                <a:solidFill>
                  <a:srgbClr val="0000FF"/>
                </a:solidFill>
                <a:effectLst/>
                <a:latin typeface="Consolas" panose="020B0609020204030204" pitchFamily="49" charset="0"/>
              </a:rPr>
              <a:t>"]["</a:t>
            </a:r>
            <a:endParaRPr kumimoji="0" lang="en-PK" altLang="en-PK"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400" b="0" i="0" u="none" strike="noStrike" cap="none" normalizeH="0" baseline="0" dirty="0">
                <a:ln>
                  <a:noFill/>
                </a:ln>
                <a:solidFill>
                  <a:srgbClr val="40424E"/>
                </a:solidFill>
                <a:effectLst/>
                <a:latin typeface="Consolas" panose="020B0609020204030204" pitchFamily="49" charset="0"/>
              </a:rPr>
              <a:t>                                       </a:t>
            </a:r>
            <a:r>
              <a:rPr kumimoji="0" lang="en-PK" altLang="en-PK" sz="1400" b="0" i="0" u="none" strike="noStrike" cap="none" normalizeH="0" baseline="0" dirty="0">
                <a:ln>
                  <a:noFill/>
                </a:ln>
                <a:solidFill>
                  <a:srgbClr val="000000"/>
                </a:solidFill>
                <a:effectLst/>
                <a:latin typeface="Consolas" panose="020B0609020204030204" pitchFamily="49" charset="0"/>
              </a:rPr>
              <a:t>+ z + </a:t>
            </a:r>
            <a:r>
              <a:rPr kumimoji="0" lang="en-PK" altLang="en-PK" sz="1400" b="0" i="0" u="none" strike="noStrike" cap="none" normalizeH="0" baseline="0" dirty="0">
                <a:ln>
                  <a:noFill/>
                </a:ln>
                <a:solidFill>
                  <a:srgbClr val="0000FF"/>
                </a:solidFill>
                <a:effectLst/>
                <a:latin typeface="Consolas" panose="020B0609020204030204" pitchFamily="49" charset="0"/>
              </a:rPr>
              <a:t>"] = "</a:t>
            </a:r>
            <a:endParaRPr kumimoji="0" lang="en-PK" altLang="en-PK"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400" b="0" i="0" u="none" strike="noStrike" cap="none" normalizeH="0" baseline="0" dirty="0">
                <a:ln>
                  <a:noFill/>
                </a:ln>
                <a:solidFill>
                  <a:srgbClr val="40424E"/>
                </a:solidFill>
                <a:effectLst/>
                <a:latin typeface="Consolas" panose="020B0609020204030204" pitchFamily="49" charset="0"/>
              </a:rPr>
              <a:t>                                       </a:t>
            </a:r>
            <a:r>
              <a:rPr kumimoji="0" lang="en-PK" altLang="en-PK" sz="1400" b="0" i="0" u="none" strike="noStrike" cap="none" normalizeH="0" baseline="0" dirty="0">
                <a:ln>
                  <a:noFill/>
                </a:ln>
                <a:solidFill>
                  <a:srgbClr val="000000"/>
                </a:solidFill>
                <a:effectLst/>
                <a:latin typeface="Consolas" panose="020B0609020204030204" pitchFamily="49" charset="0"/>
              </a:rPr>
              <a:t>+ </a:t>
            </a:r>
            <a:r>
              <a:rPr kumimoji="0" lang="en-PK" altLang="en-PK" sz="1400" b="0" i="0" u="none" strike="noStrike" cap="none" normalizeH="0" baseline="0" dirty="0" err="1">
                <a:ln>
                  <a:noFill/>
                </a:ln>
                <a:solidFill>
                  <a:srgbClr val="000000"/>
                </a:solidFill>
                <a:effectLst/>
                <a:latin typeface="Consolas" panose="020B0609020204030204" pitchFamily="49" charset="0"/>
              </a:rPr>
              <a:t>arr</a:t>
            </a:r>
            <a:r>
              <a:rPr kumimoji="0" lang="en-PK" altLang="en-PK" sz="1400" b="0" i="0" u="none" strike="noStrike" cap="none" normalizeH="0" baseline="0" dirty="0">
                <a:ln>
                  <a:noFill/>
                </a:ln>
                <a:solidFill>
                  <a:srgbClr val="000000"/>
                </a:solidFill>
                <a:effectLst/>
                <a:latin typeface="Consolas" panose="020B0609020204030204" pitchFamily="49" charset="0"/>
              </a:rPr>
              <a:t>[</a:t>
            </a:r>
            <a:r>
              <a:rPr kumimoji="0" lang="en-PK" altLang="en-PK" sz="1400" b="0" i="0" u="none" strike="noStrike" cap="none" normalizeH="0" baseline="0" dirty="0" err="1">
                <a:ln>
                  <a:noFill/>
                </a:ln>
                <a:solidFill>
                  <a:srgbClr val="000000"/>
                </a:solidFill>
                <a:effectLst/>
                <a:latin typeface="Consolas" panose="020B0609020204030204" pitchFamily="49" charset="0"/>
              </a:rPr>
              <a:t>i</a:t>
            </a:r>
            <a:r>
              <a:rPr kumimoji="0" lang="en-PK" altLang="en-PK" sz="1400" b="0" i="0" u="none" strike="noStrike" cap="none" normalizeH="0" baseline="0" dirty="0">
                <a:ln>
                  <a:noFill/>
                </a:ln>
                <a:solidFill>
                  <a:srgbClr val="000000"/>
                </a:solidFill>
                <a:effectLst/>
                <a:latin typeface="Consolas" panose="020B0609020204030204" pitchFamily="49" charset="0"/>
              </a:rPr>
              <a:t>][j][z]); </a:t>
            </a:r>
            <a:endParaRPr kumimoji="0" lang="en-PK" altLang="en-PK"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400" b="0" i="0" u="none" strike="noStrike" cap="none" normalizeH="0" baseline="0" dirty="0">
                <a:ln>
                  <a:noFill/>
                </a:ln>
                <a:solidFill>
                  <a:srgbClr val="40424E"/>
                </a:solidFill>
                <a:effectLst/>
                <a:latin typeface="Consolas" panose="020B0609020204030204" pitchFamily="49" charset="0"/>
              </a:rPr>
              <a:t>    </a:t>
            </a:r>
            <a:r>
              <a:rPr kumimoji="0" lang="en-PK" altLang="en-PK" sz="1400" b="0" i="0" u="none" strike="noStrike" cap="none" normalizeH="0" baseline="0" dirty="0">
                <a:ln>
                  <a:noFill/>
                </a:ln>
                <a:solidFill>
                  <a:srgbClr val="000000"/>
                </a:solidFill>
                <a:effectLst/>
                <a:latin typeface="Consolas" panose="020B0609020204030204" pitchFamily="49" charset="0"/>
              </a:rPr>
              <a:t>} </a:t>
            </a:r>
            <a:endParaRPr kumimoji="0" lang="en-PK" altLang="en-PK"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400" b="0" i="0" u="none" strike="noStrike" cap="none" normalizeH="0" baseline="0" dirty="0">
                <a:ln>
                  <a:noFill/>
                </a:ln>
                <a:solidFill>
                  <a:srgbClr val="000000"/>
                </a:solidFill>
                <a:effectLst/>
                <a:latin typeface="Consolas" panose="020B0609020204030204" pitchFamily="49" charset="0"/>
              </a:rPr>
              <a:t>} </a:t>
            </a:r>
            <a:endParaRPr kumimoji="0" lang="en-PK" altLang="en-PK"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955625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0648EF1-514A-4C09-BC9A-323C32BB197A}"/>
              </a:ext>
            </a:extLst>
          </p:cNvPr>
          <p:cNvSpPr txBox="1"/>
          <p:nvPr/>
        </p:nvSpPr>
        <p:spPr>
          <a:xfrm>
            <a:off x="120164" y="87545"/>
            <a:ext cx="4931350" cy="523220"/>
          </a:xfrm>
          <a:prstGeom prst="rect">
            <a:avLst/>
          </a:prstGeom>
          <a:noFill/>
        </p:spPr>
        <p:txBody>
          <a:bodyPr wrap="none" rtlCol="0">
            <a:spAutoFit/>
          </a:bodyPr>
          <a:lstStyle/>
          <a:p>
            <a:r>
              <a:rPr lang="en-US" sz="2800" b="1" dirty="0">
                <a:solidFill>
                  <a:schemeClr val="accent1">
                    <a:lumMod val="50000"/>
                  </a:schemeClr>
                </a:solidFill>
              </a:rPr>
              <a:t>Address calculation in 3-D Array</a:t>
            </a:r>
            <a:endParaRPr lang="en-PK" sz="2800" b="1" dirty="0">
              <a:solidFill>
                <a:schemeClr val="accent1">
                  <a:lumMod val="50000"/>
                </a:schemeClr>
              </a:solidFill>
            </a:endParaRPr>
          </a:p>
        </p:txBody>
      </p:sp>
      <p:sp>
        <p:nvSpPr>
          <p:cNvPr id="5" name="TextBox 4">
            <a:extLst>
              <a:ext uri="{FF2B5EF4-FFF2-40B4-BE49-F238E27FC236}">
                <a16:creationId xmlns:a16="http://schemas.microsoft.com/office/drawing/2014/main" id="{8A77A6F0-DB1B-41EE-9D33-C4E5F6453AFF}"/>
              </a:ext>
            </a:extLst>
          </p:cNvPr>
          <p:cNvSpPr txBox="1"/>
          <p:nvPr/>
        </p:nvSpPr>
        <p:spPr>
          <a:xfrm>
            <a:off x="350874" y="610765"/>
            <a:ext cx="1059521" cy="369332"/>
          </a:xfrm>
          <a:prstGeom prst="rect">
            <a:avLst/>
          </a:prstGeom>
          <a:noFill/>
        </p:spPr>
        <p:txBody>
          <a:bodyPr wrap="none" rtlCol="0">
            <a:spAutoFit/>
          </a:bodyPr>
          <a:lstStyle/>
          <a:p>
            <a:r>
              <a:rPr lang="en-US" b="1" dirty="0"/>
              <a:t>Example:</a:t>
            </a:r>
            <a:endParaRPr lang="en-PK" b="1"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5A094D6-AD55-436C-AACC-CFFC8AA8636B}"/>
                  </a:ext>
                </a:extLst>
              </p:cNvPr>
              <p:cNvSpPr txBox="1"/>
              <p:nvPr/>
            </p:nvSpPr>
            <p:spPr>
              <a:xfrm>
                <a:off x="627321" y="980097"/>
                <a:ext cx="11344939" cy="646331"/>
              </a:xfrm>
              <a:prstGeom prst="rect">
                <a:avLst/>
              </a:prstGeom>
              <a:noFill/>
            </p:spPr>
            <p:txBody>
              <a:bodyPr wrap="square" rtlCol="0">
                <a:spAutoFit/>
              </a:bodyPr>
              <a:lstStyle/>
              <a:p>
                <a:r>
                  <a:rPr lang="en-US" dirty="0"/>
                  <a:t>Consider the element B(3,3,3) in B. where array B(1:8, -5:5, -10:5).  Find the effective indices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b="0" i="1" smtClean="0">
                            <a:latin typeface="Cambria Math" panose="02040503050406030204" pitchFamily="18" charset="0"/>
                          </a:rPr>
                          <m:t>2</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b="0" i="1" smtClean="0">
                            <a:latin typeface="Cambria Math" panose="02040503050406030204" pitchFamily="18" charset="0"/>
                          </a:rPr>
                          <m:t>3</m:t>
                        </m:r>
                      </m:sub>
                    </m:sSub>
                  </m:oMath>
                </a14:m>
                <a:r>
                  <a:rPr lang="en-US" dirty="0"/>
                  <a:t> and the address of element B(3,3,3) . Assuming Base (B) = 400  and word size = 4 words per memory.</a:t>
                </a:r>
                <a:endParaRPr lang="en-PK" dirty="0"/>
              </a:p>
            </p:txBody>
          </p:sp>
        </mc:Choice>
        <mc:Fallback xmlns="">
          <p:sp>
            <p:nvSpPr>
              <p:cNvPr id="6" name="TextBox 5">
                <a:extLst>
                  <a:ext uri="{FF2B5EF4-FFF2-40B4-BE49-F238E27FC236}">
                    <a16:creationId xmlns:a16="http://schemas.microsoft.com/office/drawing/2014/main" id="{B5A094D6-AD55-436C-AACC-CFFC8AA8636B}"/>
                  </a:ext>
                </a:extLst>
              </p:cNvPr>
              <p:cNvSpPr txBox="1">
                <a:spLocks noRot="1" noChangeAspect="1" noMove="1" noResize="1" noEditPoints="1" noAdjustHandles="1" noChangeArrowheads="1" noChangeShapeType="1" noTextEdit="1"/>
              </p:cNvSpPr>
              <p:nvPr/>
            </p:nvSpPr>
            <p:spPr>
              <a:xfrm>
                <a:off x="627321" y="980097"/>
                <a:ext cx="11344939" cy="646331"/>
              </a:xfrm>
              <a:prstGeom prst="rect">
                <a:avLst/>
              </a:prstGeom>
              <a:blipFill>
                <a:blip r:embed="rId2"/>
                <a:stretch>
                  <a:fillRect l="-484" t="-5660" r="-322" b="-14151"/>
                </a:stretch>
              </a:blipFill>
            </p:spPr>
            <p:txBody>
              <a:bodyPr/>
              <a:lstStyle/>
              <a:p>
                <a:r>
                  <a:rPr lang="en-PK">
                    <a:noFill/>
                  </a:rPr>
                  <a:t> </a:t>
                </a:r>
              </a:p>
            </p:txBody>
          </p:sp>
        </mc:Fallback>
      </mc:AlternateContent>
      <p:sp>
        <p:nvSpPr>
          <p:cNvPr id="8" name="TextBox 7">
            <a:extLst>
              <a:ext uri="{FF2B5EF4-FFF2-40B4-BE49-F238E27FC236}">
                <a16:creationId xmlns:a16="http://schemas.microsoft.com/office/drawing/2014/main" id="{7CF78163-A5ED-4268-AAFA-37FB16D10A1E}"/>
              </a:ext>
            </a:extLst>
          </p:cNvPr>
          <p:cNvSpPr txBox="1"/>
          <p:nvPr/>
        </p:nvSpPr>
        <p:spPr>
          <a:xfrm>
            <a:off x="350874" y="1626428"/>
            <a:ext cx="1928541" cy="369332"/>
          </a:xfrm>
          <a:prstGeom prst="rect">
            <a:avLst/>
          </a:prstGeom>
          <a:noFill/>
        </p:spPr>
        <p:txBody>
          <a:bodyPr wrap="none" rtlCol="0">
            <a:spAutoFit/>
          </a:bodyPr>
          <a:lstStyle/>
          <a:p>
            <a:r>
              <a:rPr lang="en-US" b="1" dirty="0"/>
              <a:t>Row Major Matrix</a:t>
            </a:r>
            <a:endParaRPr lang="en-PK" b="1" dirty="0"/>
          </a:p>
        </p:txBody>
      </p:sp>
      <p:sp>
        <p:nvSpPr>
          <p:cNvPr id="9" name="TextBox 8">
            <a:extLst>
              <a:ext uri="{FF2B5EF4-FFF2-40B4-BE49-F238E27FC236}">
                <a16:creationId xmlns:a16="http://schemas.microsoft.com/office/drawing/2014/main" id="{B85FFDE8-A084-48C6-96E6-1B5665010EFB}"/>
              </a:ext>
            </a:extLst>
          </p:cNvPr>
          <p:cNvSpPr txBox="1"/>
          <p:nvPr/>
        </p:nvSpPr>
        <p:spPr>
          <a:xfrm>
            <a:off x="1315144" y="2088093"/>
            <a:ext cx="1888659" cy="369332"/>
          </a:xfrm>
          <a:prstGeom prst="rect">
            <a:avLst/>
          </a:prstGeom>
          <a:noFill/>
        </p:spPr>
        <p:txBody>
          <a:bodyPr wrap="none" rtlCol="0">
            <a:spAutoFit/>
          </a:bodyPr>
          <a:lstStyle/>
          <a:p>
            <a:r>
              <a:rPr lang="en-US" dirty="0"/>
              <a:t>Loc B [3][3][3]  = ?</a:t>
            </a:r>
            <a:endParaRPr lang="en-PK"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C0DC0A1-7E9E-4421-85CA-BDA09A040374}"/>
                  </a:ext>
                </a:extLst>
              </p:cNvPr>
              <p:cNvSpPr txBox="1"/>
              <p:nvPr/>
            </p:nvSpPr>
            <p:spPr>
              <a:xfrm>
                <a:off x="1163769" y="2960039"/>
                <a:ext cx="513602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𝐿𝑂𝐶</m:t>
                      </m:r>
                      <m:r>
                        <a:rPr lang="en-US" b="0" i="1" smtClean="0">
                          <a:latin typeface="Cambria Math" panose="02040503050406030204" pitchFamily="18" charset="0"/>
                        </a:rPr>
                        <m:t> </m:t>
                      </m:r>
                      <m:r>
                        <a:rPr lang="en-US" b="0" i="1" smtClean="0">
                          <a:latin typeface="Cambria Math" panose="02040503050406030204" pitchFamily="18" charset="0"/>
                        </a:rPr>
                        <m:t>𝐴</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𝑖</m:t>
                          </m:r>
                        </m:e>
                      </m:d>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𝑗</m:t>
                          </m:r>
                        </m:e>
                      </m:d>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𝑘</m:t>
                          </m:r>
                        </m:e>
                      </m:d>
                      <m:r>
                        <a:rPr lang="en-US" b="0" i="0" smtClean="0">
                          <a:latin typeface="Cambria Math" panose="02040503050406030204" pitchFamily="18" charset="0"/>
                        </a:rPr>
                        <m:t>=</m:t>
                      </m:r>
                      <m:r>
                        <m:rPr>
                          <m:sty m:val="p"/>
                        </m:rPr>
                        <a:rPr lang="en-US">
                          <a:latin typeface="Cambria Math" panose="02040503050406030204" pitchFamily="18" charset="0"/>
                        </a:rPr>
                        <m:t>Base</m:t>
                      </m:r>
                      <m:d>
                        <m:dPr>
                          <m:ctrlPr>
                            <a:rPr lang="en-US" i="1">
                              <a:latin typeface="Cambria Math" panose="02040503050406030204" pitchFamily="18" charset="0"/>
                            </a:rPr>
                          </m:ctrlPr>
                        </m:dPr>
                        <m:e>
                          <m:r>
                            <m:rPr>
                              <m:sty m:val="p"/>
                            </m:rPr>
                            <a:rPr lang="en-US">
                              <a:latin typeface="Cambria Math" panose="02040503050406030204" pitchFamily="18" charset="0"/>
                            </a:rPr>
                            <m:t>A</m:t>
                          </m:r>
                        </m:e>
                      </m:d>
                      <m:r>
                        <a:rPr lang="en-US">
                          <a:latin typeface="Cambria Math" panose="02040503050406030204" pitchFamily="18" charset="0"/>
                        </a:rPr>
                        <m:t>+</m:t>
                      </m:r>
                      <m:r>
                        <m:rPr>
                          <m:sty m:val="p"/>
                        </m:rPr>
                        <a:rPr lang="en-US">
                          <a:latin typeface="Cambria Math" panose="02040503050406030204" pitchFamily="18" charset="0"/>
                        </a:rPr>
                        <m:t>W</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𝐸</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2</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3</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3</m:t>
                              </m:r>
                            </m:sub>
                          </m:sSub>
                        </m:e>
                      </m:d>
                    </m:oMath>
                  </m:oMathPara>
                </a14:m>
                <a:endParaRPr lang="en-PK" dirty="0"/>
              </a:p>
            </p:txBody>
          </p:sp>
        </mc:Choice>
        <mc:Fallback xmlns="">
          <p:sp>
            <p:nvSpPr>
              <p:cNvPr id="11" name="TextBox 10">
                <a:extLst>
                  <a:ext uri="{FF2B5EF4-FFF2-40B4-BE49-F238E27FC236}">
                    <a16:creationId xmlns:a16="http://schemas.microsoft.com/office/drawing/2014/main" id="{EC0DC0A1-7E9E-4421-85CA-BDA09A040374}"/>
                  </a:ext>
                </a:extLst>
              </p:cNvPr>
              <p:cNvSpPr txBox="1">
                <a:spLocks noRot="1" noChangeAspect="1" noMove="1" noResize="1" noEditPoints="1" noAdjustHandles="1" noChangeArrowheads="1" noChangeShapeType="1" noTextEdit="1"/>
              </p:cNvSpPr>
              <p:nvPr/>
            </p:nvSpPr>
            <p:spPr>
              <a:xfrm>
                <a:off x="1163769" y="2960039"/>
                <a:ext cx="5136021" cy="276999"/>
              </a:xfrm>
              <a:prstGeom prst="rect">
                <a:avLst/>
              </a:prstGeom>
              <a:blipFill>
                <a:blip r:embed="rId3"/>
                <a:stretch>
                  <a:fillRect l="-713" t="-4444" b="-35556"/>
                </a:stretch>
              </a:blipFill>
            </p:spPr>
            <p:txBody>
              <a:bodyPr/>
              <a:lstStyle/>
              <a:p>
                <a:r>
                  <a:rPr lang="en-PK">
                    <a:noFill/>
                  </a:rPr>
                  <a:t> </a:t>
                </a:r>
              </a:p>
            </p:txBody>
          </p:sp>
        </mc:Fallback>
      </mc:AlternateContent>
      <p:sp>
        <p:nvSpPr>
          <p:cNvPr id="12" name="TextBox 11">
            <a:extLst>
              <a:ext uri="{FF2B5EF4-FFF2-40B4-BE49-F238E27FC236}">
                <a16:creationId xmlns:a16="http://schemas.microsoft.com/office/drawing/2014/main" id="{6579A3DF-4CAF-4BAA-8BA4-749C6733C910}"/>
              </a:ext>
            </a:extLst>
          </p:cNvPr>
          <p:cNvSpPr txBox="1"/>
          <p:nvPr/>
        </p:nvSpPr>
        <p:spPr>
          <a:xfrm>
            <a:off x="425302" y="2636874"/>
            <a:ext cx="1037848" cy="369332"/>
          </a:xfrm>
          <a:prstGeom prst="rect">
            <a:avLst/>
          </a:prstGeom>
          <a:noFill/>
        </p:spPr>
        <p:txBody>
          <a:bodyPr wrap="none" rtlCol="0">
            <a:spAutoFit/>
          </a:bodyPr>
          <a:lstStyle/>
          <a:p>
            <a:r>
              <a:rPr lang="en-US" b="1" dirty="0"/>
              <a:t>Formula:</a:t>
            </a:r>
            <a:endParaRPr lang="en-PK" b="1"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F8DB9C7-41D7-488A-8E73-0E6413BB00B0}"/>
                  </a:ext>
                </a:extLst>
              </p:cNvPr>
              <p:cNvSpPr txBox="1"/>
              <p:nvPr/>
            </p:nvSpPr>
            <p:spPr>
              <a:xfrm>
                <a:off x="1073888" y="3508820"/>
                <a:ext cx="3364191" cy="1477328"/>
              </a:xfrm>
              <a:prstGeom prst="rect">
                <a:avLst/>
              </a:prstGeom>
              <a:noFill/>
            </p:spPr>
            <p:txBody>
              <a:bodyPr wrap="none" rtlCol="0">
                <a:spAutoFit/>
              </a:bodyPr>
              <a:lstStyle/>
              <a:p>
                <a:r>
                  <a:rPr lang="en-US" dirty="0"/>
                  <a:t>Where array  = B(1:8 , -5:5,  -10:5)</a:t>
                </a:r>
              </a:p>
              <a:p>
                <a:pPr/>
                <a14:m>
                  <m:oMathPara xmlns:m="http://schemas.openxmlformats.org/officeDocument/2006/math">
                    <m:oMathParaPr>
                      <m:jc m:val="left"/>
                    </m:oMathParaPr>
                    <m:oMath xmlns:m="http://schemas.openxmlformats.org/officeDocument/2006/math">
                      <m:sSub>
                        <m:sSubPr>
                          <m:ctrlPr>
                            <a:rPr lang="en-PK"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1</m:t>
                          </m:r>
                        </m:sub>
                      </m:sSub>
                      <m:r>
                        <a:rPr lang="en-US" b="0" i="1" smtClean="0">
                          <a:latin typeface="Cambria Math" panose="02040503050406030204" pitchFamily="18" charset="0"/>
                        </a:rPr>
                        <m:t>=8−1+1 =8 </m:t>
                      </m:r>
                    </m:oMath>
                  </m:oMathPara>
                </a14:m>
                <a:endParaRPr lang="en-US" b="0" dirty="0"/>
              </a:p>
              <a:p>
                <a:pPr/>
                <a14:m>
                  <m:oMathPara xmlns:m="http://schemas.openxmlformats.org/officeDocument/2006/math">
                    <m:oMathParaPr>
                      <m:jc m:val="left"/>
                    </m:oMathParaPr>
                    <m:oMath xmlns:m="http://schemas.openxmlformats.org/officeDocument/2006/math">
                      <m:sSub>
                        <m:sSubPr>
                          <m:ctrlPr>
                            <a:rPr lang="en-PK"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2</m:t>
                          </m:r>
                        </m:sub>
                      </m:sSub>
                      <m:r>
                        <a:rPr lang="en-US" b="0" i="1" smtClean="0">
                          <a:latin typeface="Cambria Math" panose="02040503050406030204" pitchFamily="18" charset="0"/>
                        </a:rPr>
                        <m:t>=5 −</m:t>
                      </m:r>
                      <m:d>
                        <m:dPr>
                          <m:ctrlPr>
                            <a:rPr lang="en-US" b="0" i="1" smtClean="0">
                              <a:latin typeface="Cambria Math" panose="02040503050406030204" pitchFamily="18" charset="0"/>
                            </a:rPr>
                          </m:ctrlPr>
                        </m:dPr>
                        <m:e>
                          <m:r>
                            <a:rPr lang="en-US" b="0" i="1" smtClean="0">
                              <a:latin typeface="Cambria Math" panose="02040503050406030204" pitchFamily="18" charset="0"/>
                            </a:rPr>
                            <m:t>−5</m:t>
                          </m:r>
                        </m:e>
                      </m:d>
                      <m:r>
                        <a:rPr lang="en-US" b="0" i="1" smtClean="0">
                          <a:latin typeface="Cambria Math" panose="02040503050406030204" pitchFamily="18" charset="0"/>
                        </a:rPr>
                        <m:t>+1=11</m:t>
                      </m:r>
                    </m:oMath>
                  </m:oMathPara>
                </a14:m>
                <a:endParaRPr lang="en-US" b="0" dirty="0"/>
              </a:p>
              <a:p>
                <a:pPr/>
                <a14:m>
                  <m:oMathPara xmlns:m="http://schemas.openxmlformats.org/officeDocument/2006/math">
                    <m:oMathParaPr>
                      <m:jc m:val="left"/>
                    </m:oMathParaPr>
                    <m:oMath xmlns:m="http://schemas.openxmlformats.org/officeDocument/2006/math">
                      <m:sSub>
                        <m:sSubPr>
                          <m:ctrlPr>
                            <a:rPr lang="en-PK"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3</m:t>
                          </m:r>
                        </m:sub>
                      </m:sSub>
                      <m:r>
                        <a:rPr lang="en-US" b="0" i="1" smtClean="0">
                          <a:latin typeface="Cambria Math" panose="02040503050406030204" pitchFamily="18" charset="0"/>
                        </a:rPr>
                        <m:t>=5 −</m:t>
                      </m:r>
                      <m:d>
                        <m:dPr>
                          <m:ctrlPr>
                            <a:rPr lang="en-US" b="0" i="1" smtClean="0">
                              <a:latin typeface="Cambria Math" panose="02040503050406030204" pitchFamily="18" charset="0"/>
                            </a:rPr>
                          </m:ctrlPr>
                        </m:dPr>
                        <m:e>
                          <m:r>
                            <a:rPr lang="en-US" b="0" i="1" smtClean="0">
                              <a:latin typeface="Cambria Math" panose="02040503050406030204" pitchFamily="18" charset="0"/>
                            </a:rPr>
                            <m:t>−10</m:t>
                          </m:r>
                        </m:e>
                      </m:d>
                      <m:r>
                        <a:rPr lang="en-US" b="0" i="1" smtClean="0">
                          <a:latin typeface="Cambria Math" panose="02040503050406030204" pitchFamily="18" charset="0"/>
                        </a:rPr>
                        <m:t>+1=16</m:t>
                      </m:r>
                    </m:oMath>
                  </m:oMathPara>
                </a14:m>
                <a:endParaRPr lang="en-US" b="0" dirty="0"/>
              </a:p>
              <a:p>
                <a:endParaRPr lang="en-PK" dirty="0"/>
              </a:p>
            </p:txBody>
          </p:sp>
        </mc:Choice>
        <mc:Fallback xmlns="">
          <p:sp>
            <p:nvSpPr>
              <p:cNvPr id="13" name="TextBox 12">
                <a:extLst>
                  <a:ext uri="{FF2B5EF4-FFF2-40B4-BE49-F238E27FC236}">
                    <a16:creationId xmlns:a16="http://schemas.microsoft.com/office/drawing/2014/main" id="{6F8DB9C7-41D7-488A-8E73-0E6413BB00B0}"/>
                  </a:ext>
                </a:extLst>
              </p:cNvPr>
              <p:cNvSpPr txBox="1">
                <a:spLocks noRot="1" noChangeAspect="1" noMove="1" noResize="1" noEditPoints="1" noAdjustHandles="1" noChangeArrowheads="1" noChangeShapeType="1" noTextEdit="1"/>
              </p:cNvSpPr>
              <p:nvPr/>
            </p:nvSpPr>
            <p:spPr>
              <a:xfrm>
                <a:off x="1073888" y="3508820"/>
                <a:ext cx="3364191" cy="1477328"/>
              </a:xfrm>
              <a:prstGeom prst="rect">
                <a:avLst/>
              </a:prstGeom>
              <a:blipFill>
                <a:blip r:embed="rId4"/>
                <a:stretch>
                  <a:fillRect l="-1449" t="-2479" r="-725"/>
                </a:stretch>
              </a:blipFill>
            </p:spPr>
            <p:txBody>
              <a:bodyPr/>
              <a:lstStyle/>
              <a:p>
                <a:r>
                  <a:rPr lang="en-PK">
                    <a:noFill/>
                  </a:rPr>
                  <a:t> </a:t>
                </a:r>
              </a:p>
            </p:txBody>
          </p:sp>
        </mc:Fallback>
      </mc:AlternateContent>
      <p:sp>
        <p:nvSpPr>
          <p:cNvPr id="15" name="TextBox 14">
            <a:extLst>
              <a:ext uri="{FF2B5EF4-FFF2-40B4-BE49-F238E27FC236}">
                <a16:creationId xmlns:a16="http://schemas.microsoft.com/office/drawing/2014/main" id="{1478CF67-CBCB-4313-869F-7FD19E083760}"/>
              </a:ext>
            </a:extLst>
          </p:cNvPr>
          <p:cNvSpPr txBox="1"/>
          <p:nvPr/>
        </p:nvSpPr>
        <p:spPr>
          <a:xfrm>
            <a:off x="425302" y="4851086"/>
            <a:ext cx="2344809" cy="369332"/>
          </a:xfrm>
          <a:prstGeom prst="rect">
            <a:avLst/>
          </a:prstGeom>
          <a:noFill/>
        </p:spPr>
        <p:txBody>
          <a:bodyPr wrap="none" rtlCol="0">
            <a:spAutoFit/>
          </a:bodyPr>
          <a:lstStyle/>
          <a:p>
            <a:r>
              <a:rPr lang="en-US" dirty="0"/>
              <a:t>So, in row major order:</a:t>
            </a:r>
            <a:endParaRPr lang="en-PK" dirty="0"/>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2A6C682A-1829-4E44-8654-F5CCDC9EB526}"/>
                  </a:ext>
                </a:extLst>
              </p:cNvPr>
              <p:cNvSpPr txBox="1"/>
              <p:nvPr/>
            </p:nvSpPr>
            <p:spPr>
              <a:xfrm>
                <a:off x="1999970" y="5231572"/>
                <a:ext cx="6103088" cy="1477328"/>
              </a:xfrm>
              <a:prstGeom prst="rect">
                <a:avLst/>
              </a:prstGeom>
              <a:noFill/>
            </p:spPr>
            <p:txBody>
              <a:bodyPr wrap="square">
                <a:spAutoFit/>
              </a:bodyPr>
              <a:lstStyle/>
              <a:p>
                <a:r>
                  <a:rPr lang="en-US" dirty="0"/>
                  <a:t>Loc B [3][3][3]  = </a:t>
                </a:r>
                <a14:m>
                  <m:oMath xmlns:m="http://schemas.openxmlformats.org/officeDocument/2006/math">
                    <m:r>
                      <m:rPr>
                        <m:sty m:val="p"/>
                      </m:rPr>
                      <a:rPr lang="en-US" smtClean="0">
                        <a:latin typeface="Cambria Math" panose="02040503050406030204" pitchFamily="18" charset="0"/>
                      </a:rPr>
                      <m:t>Base</m:t>
                    </m:r>
                    <m:d>
                      <m:dPr>
                        <m:ctrlPr>
                          <a:rPr lang="en-US" i="1">
                            <a:latin typeface="Cambria Math" panose="02040503050406030204" pitchFamily="18" charset="0"/>
                          </a:rPr>
                        </m:ctrlPr>
                      </m:dPr>
                      <m:e>
                        <m:r>
                          <m:rPr>
                            <m:sty m:val="p"/>
                          </m:rPr>
                          <a:rPr lang="en-US" b="0" i="0" smtClean="0">
                            <a:latin typeface="Cambria Math" panose="02040503050406030204" pitchFamily="18" charset="0"/>
                          </a:rPr>
                          <m:t>B</m:t>
                        </m:r>
                      </m:e>
                    </m:d>
                    <m:r>
                      <a:rPr lang="en-US">
                        <a:latin typeface="Cambria Math" panose="02040503050406030204" pitchFamily="18" charset="0"/>
                      </a:rPr>
                      <m:t>+</m:t>
                    </m:r>
                    <m:r>
                      <m:rPr>
                        <m:sty m:val="p"/>
                      </m:rPr>
                      <a:rPr lang="en-US">
                        <a:latin typeface="Cambria Math" panose="02040503050406030204" pitchFamily="18" charset="0"/>
                      </a:rPr>
                      <m:t>W</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𝐸</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2</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3</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3</m:t>
                            </m:r>
                          </m:sub>
                        </m:sSub>
                      </m:e>
                    </m:d>
                  </m:oMath>
                </a14:m>
                <a:endParaRPr lang="en-US" dirty="0"/>
              </a:p>
              <a:p>
                <a:r>
                  <a:rPr lang="en-US" dirty="0"/>
                  <a:t>	          =  400 + 4 [(2*11 + 8)*16  + 13]</a:t>
                </a:r>
              </a:p>
              <a:p>
                <a:r>
                  <a:rPr lang="en-US" dirty="0"/>
                  <a:t>	          =  400 + 532</a:t>
                </a:r>
              </a:p>
              <a:p>
                <a:r>
                  <a:rPr lang="en-US" dirty="0"/>
                  <a:t>                            =  932 </a:t>
                </a:r>
              </a:p>
              <a:p>
                <a:r>
                  <a:rPr lang="en-US" dirty="0"/>
                  <a:t> </a:t>
                </a:r>
                <a:endParaRPr lang="en-PK" dirty="0"/>
              </a:p>
            </p:txBody>
          </p:sp>
        </mc:Choice>
        <mc:Fallback xmlns="">
          <p:sp>
            <p:nvSpPr>
              <p:cNvPr id="17" name="TextBox 16">
                <a:extLst>
                  <a:ext uri="{FF2B5EF4-FFF2-40B4-BE49-F238E27FC236}">
                    <a16:creationId xmlns:a16="http://schemas.microsoft.com/office/drawing/2014/main" id="{2A6C682A-1829-4E44-8654-F5CCDC9EB526}"/>
                  </a:ext>
                </a:extLst>
              </p:cNvPr>
              <p:cNvSpPr txBox="1">
                <a:spLocks noRot="1" noChangeAspect="1" noMove="1" noResize="1" noEditPoints="1" noAdjustHandles="1" noChangeArrowheads="1" noChangeShapeType="1" noTextEdit="1"/>
              </p:cNvSpPr>
              <p:nvPr/>
            </p:nvSpPr>
            <p:spPr>
              <a:xfrm>
                <a:off x="1999970" y="5231572"/>
                <a:ext cx="6103088" cy="1477328"/>
              </a:xfrm>
              <a:prstGeom prst="rect">
                <a:avLst/>
              </a:prstGeom>
              <a:blipFill>
                <a:blip r:embed="rId5"/>
                <a:stretch>
                  <a:fillRect l="-799" t="-2058"/>
                </a:stretch>
              </a:blipFill>
            </p:spPr>
            <p:txBody>
              <a:bodyPr/>
              <a:lstStyle/>
              <a:p>
                <a:r>
                  <a:rPr lang="en-PK">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4028625C-2E47-45C2-8B1B-E3F0350BBCA2}"/>
                  </a:ext>
                </a:extLst>
              </p:cNvPr>
              <p:cNvSpPr txBox="1"/>
              <p:nvPr/>
            </p:nvSpPr>
            <p:spPr>
              <a:xfrm>
                <a:off x="8516679" y="3185654"/>
                <a:ext cx="2881422" cy="120032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𝐸</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𝑙𝑏</m:t>
                          </m:r>
                        </m:e>
                        <m:sub>
                          <m:r>
                            <a:rPr lang="en-US" b="0" i="1" smtClean="0">
                              <a:latin typeface="Cambria Math" panose="02040503050406030204" pitchFamily="18" charset="0"/>
                            </a:rPr>
                            <m:t>𝑖</m:t>
                          </m:r>
                        </m:sub>
                      </m:sSub>
                    </m:oMath>
                  </m:oMathPara>
                </a14:m>
                <a:endParaRPr lang="en-US" dirty="0"/>
              </a:p>
              <a:p>
                <a:pPr/>
                <a14:m>
                  <m:oMathPara xmlns:m="http://schemas.openxmlformats.org/officeDocument/2006/math">
                    <m:oMathParaPr>
                      <m:jc m:val="left"/>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𝐸</m:t>
                          </m:r>
                        </m:e>
                        <m:sub>
                          <m:r>
                            <a:rPr lang="en-US" b="0" i="1" smtClean="0">
                              <a:latin typeface="Cambria Math" panose="02040503050406030204" pitchFamily="18" charset="0"/>
                            </a:rPr>
                            <m:t>1</m:t>
                          </m:r>
                        </m:sub>
                      </m:sSub>
                      <m:r>
                        <a:rPr lang="en-US" b="0" i="1" smtClean="0">
                          <a:latin typeface="Cambria Math" panose="02040503050406030204" pitchFamily="18" charset="0"/>
                        </a:rPr>
                        <m:t>=3−1=2</m:t>
                      </m:r>
                    </m:oMath>
                  </m:oMathPara>
                </a14:m>
                <a:endParaRPr lang="en-US" dirty="0"/>
              </a:p>
              <a:p>
                <a:pPr/>
                <a14:m>
                  <m:oMathPara xmlns:m="http://schemas.openxmlformats.org/officeDocument/2006/math">
                    <m:oMathParaPr>
                      <m:jc m:val="left"/>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𝐸</m:t>
                          </m:r>
                        </m:e>
                        <m:sub>
                          <m:r>
                            <a:rPr lang="en-US" b="0" i="1" smtClean="0">
                              <a:latin typeface="Cambria Math" panose="02040503050406030204" pitchFamily="18" charset="0"/>
                            </a:rPr>
                            <m:t>2</m:t>
                          </m:r>
                        </m:sub>
                      </m:sSub>
                      <m:r>
                        <a:rPr lang="en-US" b="0" i="1" smtClean="0">
                          <a:latin typeface="Cambria Math" panose="02040503050406030204" pitchFamily="18" charset="0"/>
                        </a:rPr>
                        <m:t>=3−</m:t>
                      </m:r>
                      <m:d>
                        <m:dPr>
                          <m:ctrlPr>
                            <a:rPr lang="en-US" b="0" i="1" smtClean="0">
                              <a:latin typeface="Cambria Math" panose="02040503050406030204" pitchFamily="18" charset="0"/>
                            </a:rPr>
                          </m:ctrlPr>
                        </m:dPr>
                        <m:e>
                          <m:r>
                            <a:rPr lang="en-US" b="0" i="1" smtClean="0">
                              <a:latin typeface="Cambria Math" panose="02040503050406030204" pitchFamily="18" charset="0"/>
                            </a:rPr>
                            <m:t>−5</m:t>
                          </m:r>
                        </m:e>
                      </m:d>
                      <m:r>
                        <a:rPr lang="en-US" b="0" i="1" smtClean="0">
                          <a:latin typeface="Cambria Math" panose="02040503050406030204" pitchFamily="18" charset="0"/>
                        </a:rPr>
                        <m:t>=8</m:t>
                      </m:r>
                    </m:oMath>
                  </m:oMathPara>
                </a14:m>
                <a:endParaRPr lang="en-US" dirty="0"/>
              </a:p>
              <a:p>
                <a:pPr/>
                <a14:m>
                  <m:oMathPara xmlns:m="http://schemas.openxmlformats.org/officeDocument/2006/math">
                    <m:oMathParaPr>
                      <m:jc m:val="left"/>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𝐸</m:t>
                          </m:r>
                        </m:e>
                        <m:sub>
                          <m:r>
                            <a:rPr lang="en-US" b="0" i="1" smtClean="0">
                              <a:latin typeface="Cambria Math" panose="02040503050406030204" pitchFamily="18" charset="0"/>
                            </a:rPr>
                            <m:t>3</m:t>
                          </m:r>
                        </m:sub>
                      </m:sSub>
                      <m:r>
                        <a:rPr lang="en-US" b="0" i="1" smtClean="0">
                          <a:latin typeface="Cambria Math" panose="02040503050406030204" pitchFamily="18" charset="0"/>
                        </a:rPr>
                        <m:t>=3−</m:t>
                      </m:r>
                      <m:d>
                        <m:dPr>
                          <m:ctrlPr>
                            <a:rPr lang="en-US" b="0" i="1" smtClean="0">
                              <a:latin typeface="Cambria Math" panose="02040503050406030204" pitchFamily="18" charset="0"/>
                            </a:rPr>
                          </m:ctrlPr>
                        </m:dPr>
                        <m:e>
                          <m:r>
                            <a:rPr lang="en-US" b="0" i="1" smtClean="0">
                              <a:latin typeface="Cambria Math" panose="02040503050406030204" pitchFamily="18" charset="0"/>
                            </a:rPr>
                            <m:t>−10</m:t>
                          </m:r>
                        </m:e>
                      </m:d>
                      <m:r>
                        <a:rPr lang="en-US" b="0" i="1" smtClean="0">
                          <a:latin typeface="Cambria Math" panose="02040503050406030204" pitchFamily="18" charset="0"/>
                        </a:rPr>
                        <m:t>=13</m:t>
                      </m:r>
                    </m:oMath>
                  </m:oMathPara>
                </a14:m>
                <a:endParaRPr lang="en-PK" dirty="0"/>
              </a:p>
            </p:txBody>
          </p:sp>
        </mc:Choice>
        <mc:Fallback xmlns="">
          <p:sp>
            <p:nvSpPr>
              <p:cNvPr id="19" name="TextBox 18">
                <a:extLst>
                  <a:ext uri="{FF2B5EF4-FFF2-40B4-BE49-F238E27FC236}">
                    <a16:creationId xmlns:a16="http://schemas.microsoft.com/office/drawing/2014/main" id="{4028625C-2E47-45C2-8B1B-E3F0350BBCA2}"/>
                  </a:ext>
                </a:extLst>
              </p:cNvPr>
              <p:cNvSpPr txBox="1">
                <a:spLocks noRot="1" noChangeAspect="1" noMove="1" noResize="1" noEditPoints="1" noAdjustHandles="1" noChangeArrowheads="1" noChangeShapeType="1" noTextEdit="1"/>
              </p:cNvSpPr>
              <p:nvPr/>
            </p:nvSpPr>
            <p:spPr>
              <a:xfrm>
                <a:off x="8516679" y="3185654"/>
                <a:ext cx="2881422" cy="1200329"/>
              </a:xfrm>
              <a:prstGeom prst="rect">
                <a:avLst/>
              </a:prstGeom>
              <a:blipFill>
                <a:blip r:embed="rId6"/>
                <a:stretch>
                  <a:fillRect/>
                </a:stretch>
              </a:blipFill>
            </p:spPr>
            <p:txBody>
              <a:bodyPr/>
              <a:lstStyle/>
              <a:p>
                <a:r>
                  <a:rPr lang="en-PK">
                    <a:noFill/>
                  </a:rPr>
                  <a:t> </a:t>
                </a:r>
              </a:p>
            </p:txBody>
          </p:sp>
        </mc:Fallback>
      </mc:AlternateContent>
      <p:sp>
        <p:nvSpPr>
          <p:cNvPr id="20" name="TextBox 19">
            <a:extLst>
              <a:ext uri="{FF2B5EF4-FFF2-40B4-BE49-F238E27FC236}">
                <a16:creationId xmlns:a16="http://schemas.microsoft.com/office/drawing/2014/main" id="{DDF36CF5-A37E-4D6F-8A96-B0848BF12BAB}"/>
              </a:ext>
            </a:extLst>
          </p:cNvPr>
          <p:cNvSpPr txBox="1"/>
          <p:nvPr/>
        </p:nvSpPr>
        <p:spPr>
          <a:xfrm>
            <a:off x="9069572" y="2145444"/>
            <a:ext cx="1292341" cy="369332"/>
          </a:xfrm>
          <a:prstGeom prst="rect">
            <a:avLst/>
          </a:prstGeom>
          <a:noFill/>
        </p:spPr>
        <p:txBody>
          <a:bodyPr wrap="none" rtlCol="0">
            <a:spAutoFit/>
          </a:bodyPr>
          <a:lstStyle/>
          <a:p>
            <a:r>
              <a:rPr lang="en-US" dirty="0"/>
              <a:t>B (3,  ,3  , 3)</a:t>
            </a:r>
            <a:endParaRPr lang="en-PK" dirty="0"/>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018490CE-245F-4E6E-B580-336085800618}"/>
                  </a:ext>
                </a:extLst>
              </p:cNvPr>
              <p:cNvSpPr txBox="1"/>
              <p:nvPr/>
            </p:nvSpPr>
            <p:spPr>
              <a:xfrm>
                <a:off x="9282222" y="2452208"/>
                <a:ext cx="1350336" cy="369332"/>
              </a:xfrm>
              <a:prstGeom prst="rect">
                <a:avLst/>
              </a:prstGeom>
              <a:noFill/>
            </p:spPr>
            <p:txBody>
              <a:bodyPr wrap="square">
                <a:spAutoFit/>
              </a:bodyPr>
              <a:lstStyle/>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1</m:t>
                        </m:r>
                      </m:sub>
                    </m:sSub>
                    <m:r>
                      <a:rPr lang="en-US" b="0" i="1" smtClean="0">
                        <a:latin typeface="Cambria Math" panose="02040503050406030204" pitchFamily="18" charset="0"/>
                      </a:rPr>
                      <m:t>,</m:t>
                    </m:r>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b="0" i="1" smtClean="0">
                            <a:latin typeface="Cambria Math" panose="02040503050406030204" pitchFamily="18" charset="0"/>
                          </a:rPr>
                          <m:t>2</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b="0" i="1" smtClean="0">
                            <a:latin typeface="Cambria Math" panose="02040503050406030204" pitchFamily="18" charset="0"/>
                          </a:rPr>
                          <m:t>3</m:t>
                        </m:r>
                      </m:sub>
                    </m:sSub>
                  </m:oMath>
                </a14:m>
                <a:endParaRPr lang="en-PK" dirty="0"/>
              </a:p>
            </p:txBody>
          </p:sp>
        </mc:Choice>
        <mc:Fallback xmlns="">
          <p:sp>
            <p:nvSpPr>
              <p:cNvPr id="22" name="TextBox 21">
                <a:extLst>
                  <a:ext uri="{FF2B5EF4-FFF2-40B4-BE49-F238E27FC236}">
                    <a16:creationId xmlns:a16="http://schemas.microsoft.com/office/drawing/2014/main" id="{018490CE-245F-4E6E-B580-336085800618}"/>
                  </a:ext>
                </a:extLst>
              </p:cNvPr>
              <p:cNvSpPr txBox="1">
                <a:spLocks noRot="1" noChangeAspect="1" noMove="1" noResize="1" noEditPoints="1" noAdjustHandles="1" noChangeArrowheads="1" noChangeShapeType="1" noTextEdit="1"/>
              </p:cNvSpPr>
              <p:nvPr/>
            </p:nvSpPr>
            <p:spPr>
              <a:xfrm>
                <a:off x="9282222" y="2452208"/>
                <a:ext cx="1350336" cy="369332"/>
              </a:xfrm>
              <a:prstGeom prst="rect">
                <a:avLst/>
              </a:prstGeom>
              <a:blipFill>
                <a:blip r:embed="rId7"/>
                <a:stretch>
                  <a:fillRect t="-8197" b="-24590"/>
                </a:stretch>
              </a:blipFill>
            </p:spPr>
            <p:txBody>
              <a:bodyPr/>
              <a:lstStyle/>
              <a:p>
                <a:r>
                  <a:rPr lang="en-PK">
                    <a:noFill/>
                  </a:rPr>
                  <a:t> </a:t>
                </a:r>
              </a:p>
            </p:txBody>
          </p:sp>
        </mc:Fallback>
      </mc:AlternateContent>
    </p:spTree>
    <p:extLst>
      <p:ext uri="{BB962C8B-B14F-4D97-AF65-F5344CB8AC3E}">
        <p14:creationId xmlns:p14="http://schemas.microsoft.com/office/powerpoint/2010/main" val="35465561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D1C61-ACC9-4006-B7A6-641582FF09EC}"/>
              </a:ext>
            </a:extLst>
          </p:cNvPr>
          <p:cNvSpPr>
            <a:spLocks noGrp="1"/>
          </p:cNvSpPr>
          <p:nvPr>
            <p:ph type="title"/>
          </p:nvPr>
        </p:nvSpPr>
        <p:spPr>
          <a:xfrm>
            <a:off x="22104" y="46262"/>
            <a:ext cx="10515600" cy="636588"/>
          </a:xfrm>
        </p:spPr>
        <p:txBody>
          <a:bodyPr>
            <a:noAutofit/>
          </a:bodyPr>
          <a:lstStyle/>
          <a:p>
            <a:r>
              <a:rPr lang="en-US" sz="2800" b="1" dirty="0">
                <a:solidFill>
                  <a:schemeClr val="accent1">
                    <a:lumMod val="50000"/>
                  </a:schemeClr>
                </a:solidFill>
                <a:latin typeface="+mn-lt"/>
              </a:rPr>
              <a:t>Advantages of Array</a:t>
            </a:r>
            <a:endParaRPr lang="en-PK" sz="2800" b="1" dirty="0">
              <a:solidFill>
                <a:schemeClr val="accent1">
                  <a:lumMod val="50000"/>
                </a:schemeClr>
              </a:solidFill>
              <a:latin typeface="+mn-lt"/>
            </a:endParaRPr>
          </a:p>
        </p:txBody>
      </p:sp>
      <p:sp>
        <p:nvSpPr>
          <p:cNvPr id="8" name="TextBox 7">
            <a:extLst>
              <a:ext uri="{FF2B5EF4-FFF2-40B4-BE49-F238E27FC236}">
                <a16:creationId xmlns:a16="http://schemas.microsoft.com/office/drawing/2014/main" id="{C27B714B-DACA-458F-AF07-6CBBCE5C88EF}"/>
              </a:ext>
            </a:extLst>
          </p:cNvPr>
          <p:cNvSpPr txBox="1"/>
          <p:nvPr/>
        </p:nvSpPr>
        <p:spPr>
          <a:xfrm>
            <a:off x="306820" y="506227"/>
            <a:ext cx="11493500" cy="6493444"/>
          </a:xfrm>
          <a:prstGeom prst="rect">
            <a:avLst/>
          </a:prstGeom>
          <a:noFill/>
        </p:spPr>
        <p:txBody>
          <a:bodyPr wrap="square">
            <a:spAutoFit/>
          </a:bodyPr>
          <a:lstStyle/>
          <a:p>
            <a:pPr marR="0" lvl="0">
              <a:lnSpc>
                <a:spcPct val="200000"/>
              </a:lnSpc>
              <a:spcBef>
                <a:spcPts val="300"/>
              </a:spcBef>
              <a:spcAft>
                <a:spcPts val="800"/>
              </a:spcAft>
              <a:buSzPts val="1000"/>
              <a:tabLst>
                <a:tab pos="457200" algn="l"/>
              </a:tabLst>
            </a:pPr>
            <a:r>
              <a:rPr lang="en-PK" b="1" dirty="0">
                <a:solidFill>
                  <a:srgbClr val="000000"/>
                </a:solidFill>
                <a:effectLst/>
                <a:ea typeface="Calibri" panose="020F0502020204030204" pitchFamily="34" charset="0"/>
                <a:cs typeface="Arial" panose="020B0604020202020204" pitchFamily="34" charset="0"/>
              </a:rPr>
              <a:t>Code Optimization:</a:t>
            </a:r>
            <a:r>
              <a:rPr lang="en-PK" dirty="0">
                <a:solidFill>
                  <a:srgbClr val="000000"/>
                </a:solidFill>
                <a:effectLst/>
                <a:ea typeface="Calibri" panose="020F0502020204030204" pitchFamily="34" charset="0"/>
                <a:cs typeface="Times New Roman" panose="02020603050405020304" pitchFamily="18" charset="0"/>
              </a:rPr>
              <a:t> It makes the code optimized, we can retrieve or sort the data efficiently.</a:t>
            </a:r>
          </a:p>
          <a:p>
            <a:pPr marR="0" lvl="0">
              <a:lnSpc>
                <a:spcPct val="200000"/>
              </a:lnSpc>
              <a:spcBef>
                <a:spcPts val="300"/>
              </a:spcBef>
              <a:spcAft>
                <a:spcPts val="800"/>
              </a:spcAft>
              <a:buSzPts val="1000"/>
              <a:tabLst>
                <a:tab pos="457200" algn="l"/>
              </a:tabLst>
            </a:pPr>
            <a:r>
              <a:rPr lang="en-PK" b="1" dirty="0">
                <a:solidFill>
                  <a:srgbClr val="000000"/>
                </a:solidFill>
                <a:effectLst/>
                <a:ea typeface="Calibri" panose="020F0502020204030204" pitchFamily="34" charset="0"/>
                <a:cs typeface="Arial" panose="020B0604020202020204" pitchFamily="34" charset="0"/>
              </a:rPr>
              <a:t>Random access:</a:t>
            </a:r>
            <a:r>
              <a:rPr lang="en-PK" dirty="0">
                <a:solidFill>
                  <a:srgbClr val="000000"/>
                </a:solidFill>
                <a:effectLst/>
                <a:ea typeface="Calibri" panose="020F0502020204030204" pitchFamily="34" charset="0"/>
                <a:cs typeface="Times New Roman" panose="02020603050405020304" pitchFamily="18" charset="0"/>
              </a:rPr>
              <a:t> We can get any data located at an index position.</a:t>
            </a:r>
            <a:endParaRPr lang="en-US" dirty="0">
              <a:solidFill>
                <a:srgbClr val="000000"/>
              </a:solidFill>
              <a:effectLst/>
              <a:ea typeface="Calibri" panose="020F0502020204030204" pitchFamily="34" charset="0"/>
              <a:cs typeface="Times New Roman" panose="02020603050405020304" pitchFamily="18" charset="0"/>
            </a:endParaRPr>
          </a:p>
          <a:p>
            <a:pPr>
              <a:lnSpc>
                <a:spcPct val="200000"/>
              </a:lnSpc>
              <a:spcBef>
                <a:spcPts val="300"/>
              </a:spcBef>
              <a:spcAft>
                <a:spcPts val="800"/>
              </a:spcAft>
              <a:buSzPts val="1000"/>
              <a:tabLst>
                <a:tab pos="457200" algn="l"/>
              </a:tabLst>
            </a:pPr>
            <a:r>
              <a:rPr lang="en-PK" b="1" dirty="0">
                <a:solidFill>
                  <a:srgbClr val="000000"/>
                </a:solidFill>
                <a:effectLst/>
                <a:ea typeface="Calibri" panose="020F0502020204030204" pitchFamily="34" charset="0"/>
                <a:cs typeface="Arial" panose="020B0604020202020204" pitchFamily="34" charset="0"/>
              </a:rPr>
              <a:t>Size Limit:</a:t>
            </a:r>
            <a:r>
              <a:rPr lang="en-PK" dirty="0">
                <a:solidFill>
                  <a:srgbClr val="000000"/>
                </a:solidFill>
                <a:effectLst/>
                <a:ea typeface="Calibri" panose="020F0502020204030204" pitchFamily="34" charset="0"/>
                <a:cs typeface="Times New Roman" panose="02020603050405020304" pitchFamily="18" charset="0"/>
              </a:rPr>
              <a:t> We can store only the fixed size of elements in the array. It doesn't grow its size at runtime. To solve this problem, collection framework is used in Java which grows automatically.</a:t>
            </a:r>
            <a:endParaRPr lang="en-US" b="0" i="0" dirty="0">
              <a:solidFill>
                <a:srgbClr val="3A3A3A"/>
              </a:solidFill>
              <a:effectLst/>
            </a:endParaRPr>
          </a:p>
          <a:p>
            <a:pPr algn="l">
              <a:lnSpc>
                <a:spcPct val="200000"/>
              </a:lnSpc>
              <a:buFont typeface="Arial" panose="020B0604020202020204" pitchFamily="34" charset="0"/>
              <a:buChar char="•"/>
            </a:pPr>
            <a:r>
              <a:rPr lang="en-US" b="0" i="0" dirty="0">
                <a:solidFill>
                  <a:srgbClr val="3A3A3A"/>
                </a:solidFill>
                <a:effectLst/>
              </a:rPr>
              <a:t>It is better and convenient way of storing the data of same datatype with same size.</a:t>
            </a:r>
          </a:p>
          <a:p>
            <a:pPr algn="l">
              <a:lnSpc>
                <a:spcPct val="200000"/>
              </a:lnSpc>
              <a:buFont typeface="Arial" panose="020B0604020202020204" pitchFamily="34" charset="0"/>
              <a:buChar char="•"/>
            </a:pPr>
            <a:r>
              <a:rPr lang="en-US" b="0" i="0" dirty="0">
                <a:solidFill>
                  <a:srgbClr val="3A3A3A"/>
                </a:solidFill>
                <a:effectLst/>
              </a:rPr>
              <a:t>It allows us to store known number of elements in it.</a:t>
            </a:r>
          </a:p>
          <a:p>
            <a:pPr algn="l">
              <a:lnSpc>
                <a:spcPct val="200000"/>
              </a:lnSpc>
              <a:buFont typeface="Arial" panose="020B0604020202020204" pitchFamily="34" charset="0"/>
              <a:buChar char="•"/>
            </a:pPr>
            <a:r>
              <a:rPr lang="en-US" b="0" i="0" dirty="0">
                <a:solidFill>
                  <a:srgbClr val="3A3A3A"/>
                </a:solidFill>
                <a:effectLst/>
              </a:rPr>
              <a:t>It allocates memory in contiguous memory locations for its elements. It does not allocate any extra space/ memory for its elements. Hence there is no memory overflow or shortage of memory in arrays.</a:t>
            </a:r>
          </a:p>
          <a:p>
            <a:pPr algn="l">
              <a:lnSpc>
                <a:spcPct val="200000"/>
              </a:lnSpc>
              <a:buFont typeface="Arial" panose="020B0604020202020204" pitchFamily="34" charset="0"/>
              <a:buChar char="•"/>
            </a:pPr>
            <a:r>
              <a:rPr lang="en-US" b="0" i="0" dirty="0">
                <a:solidFill>
                  <a:srgbClr val="3A3A3A"/>
                </a:solidFill>
                <a:effectLst/>
              </a:rPr>
              <a:t>Iterating the arrays using their index is faster compared to any other methods like linked list etc.</a:t>
            </a:r>
          </a:p>
          <a:p>
            <a:pPr algn="l">
              <a:lnSpc>
                <a:spcPct val="200000"/>
              </a:lnSpc>
              <a:buFont typeface="Arial" panose="020B0604020202020204" pitchFamily="34" charset="0"/>
              <a:buChar char="•"/>
            </a:pPr>
            <a:r>
              <a:rPr lang="en-US" b="0" i="0" dirty="0">
                <a:solidFill>
                  <a:srgbClr val="3A3A3A"/>
                </a:solidFill>
                <a:effectLst/>
              </a:rPr>
              <a:t>It allows to store the elements in any dimensional array – supports multidimensional array.</a:t>
            </a:r>
          </a:p>
          <a:p>
            <a:pPr algn="l">
              <a:lnSpc>
                <a:spcPct val="200000"/>
              </a:lnSpc>
            </a:pPr>
            <a:endParaRPr lang="en-US" b="0" i="0" dirty="0">
              <a:solidFill>
                <a:srgbClr val="3A3A3A"/>
              </a:solidFill>
              <a:effectLst/>
            </a:endParaRPr>
          </a:p>
        </p:txBody>
      </p:sp>
    </p:spTree>
    <p:extLst>
      <p:ext uri="{BB962C8B-B14F-4D97-AF65-F5344CB8AC3E}">
        <p14:creationId xmlns:p14="http://schemas.microsoft.com/office/powerpoint/2010/main" val="3389406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79333-FE71-47EB-9624-B4D618F8F41B}"/>
              </a:ext>
            </a:extLst>
          </p:cNvPr>
          <p:cNvSpPr>
            <a:spLocks noGrp="1"/>
          </p:cNvSpPr>
          <p:nvPr>
            <p:ph type="title"/>
          </p:nvPr>
        </p:nvSpPr>
        <p:spPr>
          <a:xfrm>
            <a:off x="152400" y="153610"/>
            <a:ext cx="10515600" cy="646331"/>
          </a:xfrm>
        </p:spPr>
        <p:txBody>
          <a:bodyPr>
            <a:normAutofit/>
          </a:bodyPr>
          <a:lstStyle/>
          <a:p>
            <a:r>
              <a:rPr lang="en-US" sz="2800" b="1" dirty="0">
                <a:solidFill>
                  <a:schemeClr val="accent1">
                    <a:lumMod val="50000"/>
                  </a:schemeClr>
                </a:solidFill>
                <a:latin typeface="+mn-lt"/>
              </a:rPr>
              <a:t>Disadvantages of Array</a:t>
            </a:r>
            <a:endParaRPr lang="en-PK" sz="2800" dirty="0">
              <a:latin typeface="+mn-lt"/>
            </a:endParaRPr>
          </a:p>
        </p:txBody>
      </p:sp>
      <p:sp>
        <p:nvSpPr>
          <p:cNvPr id="9" name="TextBox 8">
            <a:extLst>
              <a:ext uri="{FF2B5EF4-FFF2-40B4-BE49-F238E27FC236}">
                <a16:creationId xmlns:a16="http://schemas.microsoft.com/office/drawing/2014/main" id="{F0348AA0-17BA-4F66-85A1-4560C0CF7AC3}"/>
              </a:ext>
            </a:extLst>
          </p:cNvPr>
          <p:cNvSpPr txBox="1"/>
          <p:nvPr/>
        </p:nvSpPr>
        <p:spPr>
          <a:xfrm>
            <a:off x="361950" y="638063"/>
            <a:ext cx="10712450" cy="1122743"/>
          </a:xfrm>
          <a:prstGeom prst="rect">
            <a:avLst/>
          </a:prstGeom>
          <a:noFill/>
        </p:spPr>
        <p:txBody>
          <a:bodyPr wrap="square">
            <a:spAutoFit/>
          </a:bodyPr>
          <a:lstStyle/>
          <a:p>
            <a:pPr algn="just">
              <a:lnSpc>
                <a:spcPct val="200000"/>
              </a:lnSpc>
            </a:pPr>
            <a:r>
              <a:rPr lang="en-US" b="1" i="0" u="sng" dirty="0">
                <a:solidFill>
                  <a:srgbClr val="40424E"/>
                </a:solidFill>
                <a:effectLst/>
              </a:rPr>
              <a:t>Array size is fixed</a:t>
            </a:r>
            <a:r>
              <a:rPr lang="en-US" b="1" i="0" dirty="0">
                <a:solidFill>
                  <a:srgbClr val="40424E"/>
                </a:solidFill>
                <a:effectLst/>
              </a:rPr>
              <a:t>:</a:t>
            </a:r>
            <a:r>
              <a:rPr lang="en-US" b="0" i="0" dirty="0">
                <a:solidFill>
                  <a:srgbClr val="40424E"/>
                </a:solidFill>
                <a:effectLst/>
              </a:rPr>
              <a:t> The array is static, which means its size is always fixed. The memory which is allocated to it cannot be increased or decreased. Below is the program for the same:</a:t>
            </a:r>
            <a:endParaRPr lang="en-PK" dirty="0"/>
          </a:p>
        </p:txBody>
      </p:sp>
      <p:sp>
        <p:nvSpPr>
          <p:cNvPr id="11" name="TextBox 10">
            <a:extLst>
              <a:ext uri="{FF2B5EF4-FFF2-40B4-BE49-F238E27FC236}">
                <a16:creationId xmlns:a16="http://schemas.microsoft.com/office/drawing/2014/main" id="{BBC62503-B75D-4DEB-9402-683D46BC7E66}"/>
              </a:ext>
            </a:extLst>
          </p:cNvPr>
          <p:cNvSpPr txBox="1"/>
          <p:nvPr/>
        </p:nvSpPr>
        <p:spPr>
          <a:xfrm>
            <a:off x="463550" y="1760806"/>
            <a:ext cx="10712450" cy="1676741"/>
          </a:xfrm>
          <a:prstGeom prst="rect">
            <a:avLst/>
          </a:prstGeom>
          <a:noFill/>
        </p:spPr>
        <p:txBody>
          <a:bodyPr wrap="square">
            <a:spAutoFit/>
          </a:bodyPr>
          <a:lstStyle/>
          <a:p>
            <a:pPr algn="just">
              <a:lnSpc>
                <a:spcPct val="200000"/>
              </a:lnSpc>
            </a:pPr>
            <a:r>
              <a:rPr lang="en-US" b="1" i="0" u="sng" dirty="0">
                <a:solidFill>
                  <a:srgbClr val="40424E"/>
                </a:solidFill>
                <a:effectLst/>
              </a:rPr>
              <a:t>Array is </a:t>
            </a:r>
            <a:r>
              <a:rPr lang="en-US" b="1" i="0" u="sng" dirty="0" err="1">
                <a:solidFill>
                  <a:srgbClr val="40424E"/>
                </a:solidFill>
                <a:effectLst/>
              </a:rPr>
              <a:t>homogeneous</a:t>
            </a:r>
            <a:r>
              <a:rPr lang="en-US" b="1" i="0" dirty="0" err="1">
                <a:solidFill>
                  <a:srgbClr val="40424E"/>
                </a:solidFill>
                <a:effectLst/>
              </a:rPr>
              <a:t>:</a:t>
            </a:r>
            <a:r>
              <a:rPr lang="en-US" b="0" i="0" dirty="0" err="1">
                <a:solidFill>
                  <a:srgbClr val="40424E"/>
                </a:solidFill>
                <a:effectLst/>
              </a:rPr>
              <a:t>The</a:t>
            </a:r>
            <a:r>
              <a:rPr lang="en-US" b="0" i="0" dirty="0">
                <a:solidFill>
                  <a:srgbClr val="40424E"/>
                </a:solidFill>
                <a:effectLst/>
              </a:rPr>
              <a:t> array is homogeneous, i.e., only one type of value can be store in the array. For example, if an array type “</a:t>
            </a:r>
            <a:r>
              <a:rPr lang="en-US" b="1" i="0" dirty="0">
                <a:solidFill>
                  <a:srgbClr val="40424E"/>
                </a:solidFill>
                <a:effectLst/>
              </a:rPr>
              <a:t>int</a:t>
            </a:r>
            <a:r>
              <a:rPr lang="en-US" b="0" i="0" dirty="0">
                <a:solidFill>
                  <a:srgbClr val="40424E"/>
                </a:solidFill>
                <a:effectLst/>
              </a:rPr>
              <a:t>“, can only store integer elements and cannot allow the elements of other types such as double, float, char so on.</a:t>
            </a:r>
            <a:endParaRPr lang="en-PK" dirty="0"/>
          </a:p>
        </p:txBody>
      </p:sp>
      <p:sp>
        <p:nvSpPr>
          <p:cNvPr id="13" name="TextBox 12">
            <a:extLst>
              <a:ext uri="{FF2B5EF4-FFF2-40B4-BE49-F238E27FC236}">
                <a16:creationId xmlns:a16="http://schemas.microsoft.com/office/drawing/2014/main" id="{A0875121-3EAF-402A-B274-CF011E3EBC54}"/>
              </a:ext>
            </a:extLst>
          </p:cNvPr>
          <p:cNvSpPr txBox="1"/>
          <p:nvPr/>
        </p:nvSpPr>
        <p:spPr>
          <a:xfrm>
            <a:off x="463550" y="3465336"/>
            <a:ext cx="10509250" cy="568745"/>
          </a:xfrm>
          <a:prstGeom prst="rect">
            <a:avLst/>
          </a:prstGeom>
          <a:noFill/>
        </p:spPr>
        <p:txBody>
          <a:bodyPr wrap="square">
            <a:spAutoFit/>
          </a:bodyPr>
          <a:lstStyle/>
          <a:p>
            <a:pPr algn="just">
              <a:lnSpc>
                <a:spcPct val="200000"/>
              </a:lnSpc>
            </a:pPr>
            <a:r>
              <a:rPr lang="en-US" b="1" i="0" u="sng" dirty="0">
                <a:solidFill>
                  <a:srgbClr val="40424E"/>
                </a:solidFill>
                <a:effectLst/>
              </a:rPr>
              <a:t>Array is Contiguous blocks of memory</a:t>
            </a:r>
            <a:r>
              <a:rPr lang="en-US" b="1" i="0" dirty="0">
                <a:solidFill>
                  <a:srgbClr val="40424E"/>
                </a:solidFill>
                <a:effectLst/>
              </a:rPr>
              <a:t>:</a:t>
            </a:r>
            <a:r>
              <a:rPr lang="en-US" b="0" i="0" dirty="0">
                <a:solidFill>
                  <a:srgbClr val="40424E"/>
                </a:solidFill>
                <a:effectLst/>
              </a:rPr>
              <a:t> The array stores data in contiguous(one by one) memory location. </a:t>
            </a:r>
            <a:endParaRPr lang="en-PK" dirty="0"/>
          </a:p>
        </p:txBody>
      </p:sp>
      <p:sp>
        <p:nvSpPr>
          <p:cNvPr id="14" name="TextBox 13">
            <a:extLst>
              <a:ext uri="{FF2B5EF4-FFF2-40B4-BE49-F238E27FC236}">
                <a16:creationId xmlns:a16="http://schemas.microsoft.com/office/drawing/2014/main" id="{70B77010-80B7-49D9-A3F2-DCE638647B12}"/>
              </a:ext>
            </a:extLst>
          </p:cNvPr>
          <p:cNvSpPr txBox="1"/>
          <p:nvPr/>
        </p:nvSpPr>
        <p:spPr>
          <a:xfrm>
            <a:off x="561975" y="4002424"/>
            <a:ext cx="8870950" cy="2230739"/>
          </a:xfrm>
          <a:prstGeom prst="rect">
            <a:avLst/>
          </a:prstGeom>
          <a:noFill/>
        </p:spPr>
        <p:txBody>
          <a:bodyPr wrap="square">
            <a:spAutoFit/>
          </a:bodyPr>
          <a:lstStyle/>
          <a:p>
            <a:pPr marL="0" marR="0" lvl="0" indent="0" algn="just" defTabSz="914400" rtl="0" eaLnBrk="0" fontAlgn="base" latinLnBrk="0" hangingPunct="0">
              <a:lnSpc>
                <a:spcPct val="200000"/>
              </a:lnSpc>
              <a:spcBef>
                <a:spcPct val="0"/>
              </a:spcBef>
              <a:spcAft>
                <a:spcPct val="0"/>
              </a:spcAft>
              <a:buClrTx/>
              <a:buSzTx/>
              <a:buFontTx/>
              <a:buNone/>
              <a:tabLst/>
            </a:pPr>
            <a:r>
              <a:rPr kumimoji="0" lang="en-PK" altLang="en-PK" b="0" i="0" u="none" strike="noStrike" cap="none" normalizeH="0" baseline="0" dirty="0">
                <a:ln>
                  <a:noFill/>
                </a:ln>
                <a:solidFill>
                  <a:srgbClr val="333333"/>
                </a:solidFill>
                <a:effectLst/>
                <a:cs typeface="Times New Roman" panose="02020603050405020304" pitchFamily="18" charset="0"/>
              </a:rPr>
              <a:t> </a:t>
            </a:r>
            <a:r>
              <a:rPr kumimoji="0" lang="en-PK" altLang="en-PK" b="0" i="0" u="none" strike="noStrike" cap="none" normalizeH="0" baseline="0" dirty="0">
                <a:ln>
                  <a:noFill/>
                </a:ln>
                <a:solidFill>
                  <a:srgbClr val="333333"/>
                </a:solidFill>
                <a:effectLst/>
                <a:cs typeface="Calibri" panose="020F0502020204030204" pitchFamily="34" charset="0"/>
              </a:rPr>
              <a:t>Predetermining the size of the array is a must.</a:t>
            </a:r>
            <a:endParaRPr kumimoji="0" lang="en-PK" altLang="en-PK" b="0" i="0" u="none" strike="noStrike" cap="none" normalizeH="0" baseline="0" dirty="0">
              <a:ln>
                <a:noFill/>
              </a:ln>
              <a:solidFill>
                <a:schemeClr val="tx1"/>
              </a:solidFill>
              <a:effectLst/>
            </a:endParaRPr>
          </a:p>
          <a:p>
            <a:pPr marL="0" marR="0" lvl="0" indent="0" algn="just" defTabSz="914400" rtl="0" eaLnBrk="0" fontAlgn="base" latinLnBrk="0" hangingPunct="0">
              <a:lnSpc>
                <a:spcPct val="200000"/>
              </a:lnSpc>
              <a:spcBef>
                <a:spcPct val="0"/>
              </a:spcBef>
              <a:spcAft>
                <a:spcPct val="0"/>
              </a:spcAft>
              <a:buClrTx/>
              <a:buSzTx/>
              <a:buFontTx/>
              <a:buNone/>
              <a:tabLst/>
            </a:pPr>
            <a:r>
              <a:rPr kumimoji="0" lang="en-PK" altLang="en-PK" b="0" i="0" u="none" strike="noStrike" cap="none" normalizeH="0" baseline="0" dirty="0">
                <a:ln>
                  <a:noFill/>
                </a:ln>
                <a:solidFill>
                  <a:srgbClr val="333333"/>
                </a:solidFill>
                <a:effectLst/>
                <a:cs typeface="Arial" panose="020B0604020202020204" pitchFamily="34" charset="0"/>
              </a:rPr>
              <a:t>·</a:t>
            </a:r>
            <a:r>
              <a:rPr kumimoji="0" lang="en-PK" altLang="en-PK" b="0" i="0" u="none" strike="noStrike" cap="none" normalizeH="0" baseline="0" dirty="0">
                <a:ln>
                  <a:noFill/>
                </a:ln>
                <a:solidFill>
                  <a:srgbClr val="333333"/>
                </a:solidFill>
                <a:effectLst/>
                <a:cs typeface="Times New Roman" panose="02020603050405020304" pitchFamily="18" charset="0"/>
              </a:rPr>
              <a:t> </a:t>
            </a:r>
            <a:r>
              <a:rPr kumimoji="0" lang="en-PK" altLang="en-PK" b="0" i="0" u="none" strike="noStrike" cap="none" normalizeH="0" baseline="0" dirty="0">
                <a:ln>
                  <a:noFill/>
                </a:ln>
                <a:solidFill>
                  <a:srgbClr val="333333"/>
                </a:solidFill>
                <a:effectLst/>
                <a:cs typeface="Calibri" panose="020F0502020204030204" pitchFamily="34" charset="0"/>
              </a:rPr>
              <a:t>There is a chance of memory wastage or shortage.</a:t>
            </a:r>
            <a:endParaRPr kumimoji="0" lang="en-PK" altLang="en-PK" b="0" i="0" u="none" strike="noStrike" cap="none" normalizeH="0" baseline="0" dirty="0">
              <a:ln>
                <a:noFill/>
              </a:ln>
              <a:solidFill>
                <a:schemeClr val="tx1"/>
              </a:solidFill>
              <a:effectLst/>
            </a:endParaRPr>
          </a:p>
          <a:p>
            <a:pPr marL="0" marR="0" lvl="0" indent="0" algn="just" defTabSz="914400" rtl="0" eaLnBrk="0" fontAlgn="base" latinLnBrk="0" hangingPunct="0">
              <a:lnSpc>
                <a:spcPct val="200000"/>
              </a:lnSpc>
              <a:spcBef>
                <a:spcPct val="0"/>
              </a:spcBef>
              <a:spcAft>
                <a:spcPct val="0"/>
              </a:spcAft>
              <a:buClrTx/>
              <a:buSzTx/>
              <a:buFontTx/>
              <a:buNone/>
              <a:tabLst/>
            </a:pPr>
            <a:r>
              <a:rPr kumimoji="0" lang="en-PK" altLang="en-PK" b="0" i="0" u="none" strike="noStrike" cap="none" normalizeH="0" baseline="0" dirty="0">
                <a:ln>
                  <a:noFill/>
                </a:ln>
                <a:solidFill>
                  <a:srgbClr val="333333"/>
                </a:solidFill>
                <a:effectLst/>
                <a:cs typeface="Arial" panose="020B0604020202020204" pitchFamily="34" charset="0"/>
              </a:rPr>
              <a:t>·</a:t>
            </a:r>
            <a:r>
              <a:rPr kumimoji="0" lang="en-PK" altLang="en-PK" b="0" i="0" u="none" strike="noStrike" cap="none" normalizeH="0" baseline="0" dirty="0">
                <a:ln>
                  <a:noFill/>
                </a:ln>
                <a:solidFill>
                  <a:srgbClr val="333333"/>
                </a:solidFill>
                <a:effectLst/>
                <a:cs typeface="Times New Roman" panose="02020603050405020304" pitchFamily="18" charset="0"/>
              </a:rPr>
              <a:t> </a:t>
            </a:r>
            <a:r>
              <a:rPr kumimoji="0" lang="en-PK" altLang="en-PK" b="0" i="0" u="none" strike="noStrike" cap="none" normalizeH="0" baseline="0" dirty="0">
                <a:ln>
                  <a:noFill/>
                </a:ln>
                <a:solidFill>
                  <a:srgbClr val="333333"/>
                </a:solidFill>
                <a:effectLst/>
                <a:cs typeface="Calibri" panose="020F0502020204030204" pitchFamily="34" charset="0"/>
              </a:rPr>
              <a:t>To delete one element in the array, we need to traverse throughout the array.</a:t>
            </a:r>
            <a:endParaRPr kumimoji="0" lang="en-PK" altLang="en-PK" b="0" i="0" u="none" strike="noStrike" cap="none" normalizeH="0" baseline="0" dirty="0">
              <a:ln>
                <a:noFill/>
              </a:ln>
              <a:solidFill>
                <a:schemeClr val="tx1"/>
              </a:solidFill>
              <a:effectLst/>
            </a:endParaRPr>
          </a:p>
          <a:p>
            <a:pPr marL="0" marR="0" lvl="0" indent="0" algn="just" defTabSz="914400" rtl="0" eaLnBrk="0" fontAlgn="base" latinLnBrk="0" hangingPunct="0">
              <a:lnSpc>
                <a:spcPct val="200000"/>
              </a:lnSpc>
              <a:spcBef>
                <a:spcPct val="0"/>
              </a:spcBef>
              <a:spcAft>
                <a:spcPct val="0"/>
              </a:spcAft>
              <a:buClrTx/>
              <a:buSzTx/>
              <a:buFontTx/>
              <a:buNone/>
              <a:tabLst/>
            </a:pPr>
            <a:r>
              <a:rPr kumimoji="0" lang="en-PK" altLang="en-PK" b="0" i="0" u="none" strike="noStrike" cap="none" normalizeH="0" baseline="0" dirty="0">
                <a:ln>
                  <a:noFill/>
                </a:ln>
                <a:solidFill>
                  <a:srgbClr val="333333"/>
                </a:solidFill>
                <a:effectLst/>
                <a:cs typeface="Arial" panose="020B0604020202020204" pitchFamily="34" charset="0"/>
              </a:rPr>
              <a:t>·</a:t>
            </a:r>
            <a:r>
              <a:rPr kumimoji="0" lang="en-PK" altLang="en-PK" b="0" i="0" u="none" strike="noStrike" cap="none" normalizeH="0" baseline="0" dirty="0">
                <a:ln>
                  <a:noFill/>
                </a:ln>
                <a:solidFill>
                  <a:srgbClr val="333333"/>
                </a:solidFill>
                <a:effectLst/>
                <a:cs typeface="Times New Roman" panose="02020603050405020304" pitchFamily="18" charset="0"/>
              </a:rPr>
              <a:t> </a:t>
            </a:r>
            <a:r>
              <a:rPr kumimoji="0" lang="en-PK" altLang="en-PK" b="0" i="0" u="none" strike="noStrike" cap="none" normalizeH="0" baseline="0" dirty="0">
                <a:ln>
                  <a:noFill/>
                </a:ln>
                <a:solidFill>
                  <a:srgbClr val="333333"/>
                </a:solidFill>
                <a:effectLst/>
                <a:cs typeface="Calibri" panose="020F0502020204030204" pitchFamily="34" charset="0"/>
              </a:rPr>
              <a:t>To delete one element in the array, we need to traverse throughout the array.</a:t>
            </a:r>
            <a:endParaRPr kumimoji="0" lang="en-PK" altLang="en-PK"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271060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1">
                                            <p:txEl>
                                              <p:pRg st="0" end="0"/>
                                            </p:txEl>
                                          </p:spTgt>
                                        </p:tgtEl>
                                        <p:attrNameLst>
                                          <p:attrName>style.visibility</p:attrName>
                                        </p:attrNameLst>
                                      </p:cBhvr>
                                      <p:to>
                                        <p:strVal val="visible"/>
                                      </p:to>
                                    </p:set>
                                    <p:animEffect transition="in" filter="fade">
                                      <p:cBhvr>
                                        <p:cTn id="14" dur="1000"/>
                                        <p:tgtEl>
                                          <p:spTgt spid="11">
                                            <p:txEl>
                                              <p:pRg st="0" end="0"/>
                                            </p:txEl>
                                          </p:spTgt>
                                        </p:tgtEl>
                                      </p:cBhvr>
                                    </p:animEffect>
                                    <p:anim calcmode="lin" valueType="num">
                                      <p:cBhvr>
                                        <p:cTn id="15"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1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1000"/>
                                        <p:tgtEl>
                                          <p:spTgt spid="13"/>
                                        </p:tgtEl>
                                      </p:cBhvr>
                                    </p:animEffect>
                                    <p:anim calcmode="lin" valueType="num">
                                      <p:cBhvr>
                                        <p:cTn id="22" dur="1000" fill="hold"/>
                                        <p:tgtEl>
                                          <p:spTgt spid="13"/>
                                        </p:tgtEl>
                                        <p:attrNameLst>
                                          <p:attrName>ppt_x</p:attrName>
                                        </p:attrNameLst>
                                      </p:cBhvr>
                                      <p:tavLst>
                                        <p:tav tm="0">
                                          <p:val>
                                            <p:strVal val="#ppt_x"/>
                                          </p:val>
                                        </p:tav>
                                        <p:tav tm="100000">
                                          <p:val>
                                            <p:strVal val="#ppt_x"/>
                                          </p:val>
                                        </p:tav>
                                      </p:tavLst>
                                    </p:anim>
                                    <p:anim calcmode="lin" valueType="num">
                                      <p:cBhvr>
                                        <p:cTn id="23"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1000"/>
                                        <p:tgtEl>
                                          <p:spTgt spid="14"/>
                                        </p:tgtEl>
                                      </p:cBhvr>
                                    </p:animEffect>
                                    <p:anim calcmode="lin" valueType="num">
                                      <p:cBhvr>
                                        <p:cTn id="29" dur="1000" fill="hold"/>
                                        <p:tgtEl>
                                          <p:spTgt spid="14"/>
                                        </p:tgtEl>
                                        <p:attrNameLst>
                                          <p:attrName>ppt_x</p:attrName>
                                        </p:attrNameLst>
                                      </p:cBhvr>
                                      <p:tavLst>
                                        <p:tav tm="0">
                                          <p:val>
                                            <p:strVal val="#ppt_x"/>
                                          </p:val>
                                        </p:tav>
                                        <p:tav tm="100000">
                                          <p:val>
                                            <p:strVal val="#ppt_x"/>
                                          </p:val>
                                        </p:tav>
                                      </p:tavLst>
                                    </p:anim>
                                    <p:anim calcmode="lin" valueType="num">
                                      <p:cBhvr>
                                        <p:cTn id="30"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P spid="14"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ive Top Homeowner Questions We Get at DaVinci Roofscapes –">
            <a:extLst>
              <a:ext uri="{FF2B5EF4-FFF2-40B4-BE49-F238E27FC236}">
                <a16:creationId xmlns:a16="http://schemas.microsoft.com/office/drawing/2014/main" id="{745A3058-15FB-48EE-9002-0144A7F228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9862" y="0"/>
            <a:ext cx="4792275" cy="62983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08112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1125</TotalTime>
  <Words>6436</Words>
  <Application>Microsoft Office PowerPoint</Application>
  <PresentationFormat>Widescreen</PresentationFormat>
  <Paragraphs>961</Paragraphs>
  <Slides>53</Slides>
  <Notes>17</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53</vt:i4>
      </vt:variant>
    </vt:vector>
  </HeadingPairs>
  <TitlesOfParts>
    <vt:vector size="65" baseType="lpstr">
      <vt:lpstr>Arial</vt:lpstr>
      <vt:lpstr>Arial Rounded MT Bold</vt:lpstr>
      <vt:lpstr>Calibri</vt:lpstr>
      <vt:lpstr>Calibri Light</vt:lpstr>
      <vt:lpstr>Cambria Math</vt:lpstr>
      <vt:lpstr>Consolas</vt:lpstr>
      <vt:lpstr>Helvetica</vt:lpstr>
      <vt:lpstr>inherit</vt:lpstr>
      <vt:lpstr>Source Code Pro</vt:lpstr>
      <vt:lpstr>Times New Roman</vt:lpstr>
      <vt:lpstr>Verdana</vt:lpstr>
      <vt:lpstr>Office Theme</vt:lpstr>
      <vt:lpstr>DATA STRUCTURE ALGORITHMS AND APPLICATIONS</vt:lpstr>
      <vt:lpstr>PowerPoint Presentation</vt:lpstr>
      <vt:lpstr>Data Structure</vt:lpstr>
      <vt:lpstr>Operations on any Linear Structure</vt:lpstr>
      <vt:lpstr>Linear Array</vt:lpstr>
      <vt:lpstr>PowerPoint Presentation</vt:lpstr>
      <vt:lpstr>Array</vt:lpstr>
      <vt:lpstr>PowerPoint Presentation</vt:lpstr>
      <vt:lpstr>Operations on array</vt:lpstr>
      <vt:lpstr>PowerPoint Presentation</vt:lpstr>
      <vt:lpstr>PowerPoint Presentation</vt:lpstr>
      <vt:lpstr>PowerPoint Presentation</vt:lpstr>
      <vt:lpstr>Types of Array</vt:lpstr>
      <vt:lpstr>1 Dimensional Array</vt:lpstr>
      <vt:lpstr>PowerPoint Presentation</vt:lpstr>
      <vt:lpstr>Declaration of One-dimensional Array</vt:lpstr>
      <vt:lpstr>Construction/Creation of One-dimensional array </vt:lpstr>
      <vt:lpstr>Construction/Creation of One-dimensional array </vt:lpstr>
      <vt:lpstr>PowerPoint Presentation</vt:lpstr>
      <vt:lpstr>PowerPoint Presentation</vt:lpstr>
      <vt:lpstr>PowerPoint Presentation</vt:lpstr>
      <vt:lpstr>PowerPoint Presentation</vt:lpstr>
      <vt:lpstr>PowerPoint Presentation</vt:lpstr>
      <vt:lpstr>Array Length</vt:lpstr>
      <vt:lpstr>PowerPoint Presentation</vt:lpstr>
      <vt:lpstr>PowerPoint Presentation</vt:lpstr>
      <vt:lpstr>Passing Arrays to Methods</vt:lpstr>
      <vt:lpstr>PowerPoint Presentation</vt:lpstr>
      <vt:lpstr>What happens if we try to access element outside the array size?</vt:lpstr>
      <vt:lpstr>Arrays of Objects:</vt:lpstr>
      <vt:lpstr>Arrays of Objects:</vt:lpstr>
      <vt:lpstr>Arrays of Objects:</vt:lpstr>
      <vt:lpstr>PowerPoint Presentation</vt:lpstr>
      <vt:lpstr>2 Dimensional Array</vt:lpstr>
      <vt:lpstr>2 Dimensional Array</vt:lpstr>
      <vt:lpstr>2 Dimensional Array</vt:lpstr>
      <vt:lpstr>Declaration of 2 Dimensional Array</vt:lpstr>
      <vt:lpstr>Construction / Creation of two-dimensional array </vt:lpstr>
      <vt:lpstr>Memory Representation after Construction </vt:lpstr>
      <vt:lpstr>Initialization of two-dimensional array </vt:lpstr>
      <vt:lpstr>Memory Representation after Initialization </vt:lpstr>
      <vt:lpstr>Accessing Elements of Two Dimensional Array</vt:lpstr>
      <vt:lpstr>PowerPoint Presentation</vt:lpstr>
      <vt:lpstr>PowerPoint Presentation</vt:lpstr>
      <vt:lpstr>3 Dimensional Array / Multi Dimensional Array</vt:lpstr>
      <vt:lpstr>Representation of 3-D Array</vt:lpstr>
      <vt:lpstr>PowerPoint Presentation</vt:lpstr>
      <vt:lpstr>PowerPoint Presentation</vt:lpstr>
      <vt:lpstr>PowerPoint Presentation</vt:lpstr>
      <vt:lpstr>PowerPoint Presentation</vt:lpstr>
      <vt:lpstr>Advantages of Array</vt:lpstr>
      <vt:lpstr>Disadvantages of Array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hafeez babar</dc:creator>
  <cp:lastModifiedBy>hafeez babar</cp:lastModifiedBy>
  <cp:revision>325</cp:revision>
  <dcterms:created xsi:type="dcterms:W3CDTF">2020-12-17T08:40:48Z</dcterms:created>
  <dcterms:modified xsi:type="dcterms:W3CDTF">2022-11-21T04:06:19Z</dcterms:modified>
</cp:coreProperties>
</file>