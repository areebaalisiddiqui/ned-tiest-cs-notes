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114"/>
  </p:notesMasterIdLst>
  <p:sldIdLst>
    <p:sldId id="258" r:id="rId2"/>
    <p:sldId id="322" r:id="rId3"/>
    <p:sldId id="328" r:id="rId4"/>
    <p:sldId id="327" r:id="rId5"/>
    <p:sldId id="323" r:id="rId6"/>
    <p:sldId id="259" r:id="rId7"/>
    <p:sldId id="329" r:id="rId8"/>
    <p:sldId id="325" r:id="rId9"/>
    <p:sldId id="326" r:id="rId10"/>
    <p:sldId id="260" r:id="rId11"/>
    <p:sldId id="262" r:id="rId12"/>
    <p:sldId id="321" r:id="rId13"/>
    <p:sldId id="330" r:id="rId14"/>
    <p:sldId id="331" r:id="rId15"/>
    <p:sldId id="365"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354" r:id="rId39"/>
    <p:sldId id="355" r:id="rId40"/>
    <p:sldId id="356" r:id="rId41"/>
    <p:sldId id="357" r:id="rId42"/>
    <p:sldId id="359" r:id="rId43"/>
    <p:sldId id="360" r:id="rId44"/>
    <p:sldId id="358" r:id="rId45"/>
    <p:sldId id="361" r:id="rId46"/>
    <p:sldId id="362" r:id="rId47"/>
    <p:sldId id="363" r:id="rId48"/>
    <p:sldId id="364" r:id="rId49"/>
    <p:sldId id="366" r:id="rId50"/>
    <p:sldId id="368" r:id="rId51"/>
    <p:sldId id="367" r:id="rId52"/>
    <p:sldId id="369" r:id="rId53"/>
    <p:sldId id="370" r:id="rId54"/>
    <p:sldId id="371" r:id="rId55"/>
    <p:sldId id="372" r:id="rId56"/>
    <p:sldId id="373" r:id="rId57"/>
    <p:sldId id="374" r:id="rId58"/>
    <p:sldId id="375" r:id="rId59"/>
    <p:sldId id="428" r:id="rId60"/>
    <p:sldId id="376" r:id="rId61"/>
    <p:sldId id="429" r:id="rId62"/>
    <p:sldId id="377" r:id="rId63"/>
    <p:sldId id="378" r:id="rId64"/>
    <p:sldId id="379" r:id="rId65"/>
    <p:sldId id="380" r:id="rId66"/>
    <p:sldId id="381" r:id="rId67"/>
    <p:sldId id="382" r:id="rId68"/>
    <p:sldId id="383" r:id="rId69"/>
    <p:sldId id="384" r:id="rId70"/>
    <p:sldId id="385" r:id="rId71"/>
    <p:sldId id="386" r:id="rId72"/>
    <p:sldId id="387" r:id="rId73"/>
    <p:sldId id="388" r:id="rId74"/>
    <p:sldId id="389" r:id="rId75"/>
    <p:sldId id="390" r:id="rId76"/>
    <p:sldId id="391" r:id="rId77"/>
    <p:sldId id="392" r:id="rId78"/>
    <p:sldId id="393" r:id="rId79"/>
    <p:sldId id="394" r:id="rId80"/>
    <p:sldId id="395" r:id="rId81"/>
    <p:sldId id="396" r:id="rId82"/>
    <p:sldId id="397" r:id="rId83"/>
    <p:sldId id="398" r:id="rId84"/>
    <p:sldId id="399" r:id="rId85"/>
    <p:sldId id="400" r:id="rId86"/>
    <p:sldId id="401" r:id="rId87"/>
    <p:sldId id="402" r:id="rId88"/>
    <p:sldId id="403" r:id="rId89"/>
    <p:sldId id="404" r:id="rId90"/>
    <p:sldId id="405" r:id="rId91"/>
    <p:sldId id="406" r:id="rId92"/>
    <p:sldId id="407" r:id="rId93"/>
    <p:sldId id="408" r:id="rId94"/>
    <p:sldId id="409" r:id="rId95"/>
    <p:sldId id="410" r:id="rId96"/>
    <p:sldId id="411" r:id="rId97"/>
    <p:sldId id="412" r:id="rId98"/>
    <p:sldId id="413" r:id="rId99"/>
    <p:sldId id="414" r:id="rId100"/>
    <p:sldId id="415" r:id="rId101"/>
    <p:sldId id="416" r:id="rId102"/>
    <p:sldId id="417" r:id="rId103"/>
    <p:sldId id="418" r:id="rId104"/>
    <p:sldId id="419" r:id="rId105"/>
    <p:sldId id="420" r:id="rId106"/>
    <p:sldId id="421" r:id="rId107"/>
    <p:sldId id="422" r:id="rId108"/>
    <p:sldId id="423" r:id="rId109"/>
    <p:sldId id="424" r:id="rId110"/>
    <p:sldId id="425" r:id="rId111"/>
    <p:sldId id="426" r:id="rId112"/>
    <p:sldId id="427" r:id="rId11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9786" autoAdjust="0"/>
  </p:normalViewPr>
  <p:slideViewPr>
    <p:cSldViewPr snapToGrid="0">
      <p:cViewPr varScale="1">
        <p:scale>
          <a:sx n="56" d="100"/>
          <a:sy n="56" d="100"/>
        </p:scale>
        <p:origin x="1020" y="28"/>
      </p:cViewPr>
      <p:guideLst/>
    </p:cSldViewPr>
  </p:slideViewPr>
  <p:outlineViewPr>
    <p:cViewPr>
      <p:scale>
        <a:sx n="33" d="100"/>
        <a:sy n="33" d="100"/>
      </p:scale>
      <p:origin x="0" y="-14248"/>
    </p:cViewPr>
  </p:outlineViewPr>
  <p:notesTextViewPr>
    <p:cViewPr>
      <p:scale>
        <a:sx n="1" d="1"/>
        <a:sy n="1" d="1"/>
      </p:scale>
      <p:origin x="0" y="0"/>
    </p:cViewPr>
  </p:notesTextViewPr>
  <p:sorterViewPr>
    <p:cViewPr>
      <p:scale>
        <a:sx n="100" d="100"/>
        <a:sy n="100" d="100"/>
      </p:scale>
      <p:origin x="0" y="-404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7E6DA-55A2-4584-8D84-A6C769F656DC}" type="datetimeFigureOut">
              <a:rPr lang="en-PK" smtClean="0"/>
              <a:t>15/10/2025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92FA23-3785-42EC-9B84-6C2E075DE80E}" type="slidenum">
              <a:rPr lang="en-PK" smtClean="0"/>
              <a:t>‹#›</a:t>
            </a:fld>
            <a:endParaRPr lang="en-PK"/>
          </a:p>
        </p:txBody>
      </p:sp>
    </p:spTree>
    <p:extLst>
      <p:ext uri="{BB962C8B-B14F-4D97-AF65-F5344CB8AC3E}">
        <p14:creationId xmlns:p14="http://schemas.microsoft.com/office/powerpoint/2010/main" val="1779222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Auxiliary_memory" TargetMode="External"/><Relationship Id="rId13" Type="http://schemas.openxmlformats.org/officeDocument/2006/relationships/hyperlink" Target="https://en.wikipedia.org/wiki/Quicksort" TargetMode="External"/><Relationship Id="rId3" Type="http://schemas.openxmlformats.org/officeDocument/2006/relationships/hyperlink" Target="https://en.wikipedia.org/wiki/Sorting" TargetMode="External"/><Relationship Id="rId7" Type="http://schemas.openxmlformats.org/officeDocument/2006/relationships/hyperlink" Target="https://en.wikipedia.org/wiki/RAM" TargetMode="External"/><Relationship Id="rId12" Type="http://schemas.openxmlformats.org/officeDocument/2006/relationships/hyperlink" Target="https://en.wikipedia.org/wiki/Model_of_comput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Main_memory" TargetMode="External"/><Relationship Id="rId11" Type="http://schemas.openxmlformats.org/officeDocument/2006/relationships/hyperlink" Target="https://en.wikipedia.org/wiki/External_memory_model" TargetMode="External"/><Relationship Id="rId5" Type="http://schemas.openxmlformats.org/officeDocument/2006/relationships/hyperlink" Target="https://en.wikipedia.org/wiki/Data" TargetMode="External"/><Relationship Id="rId15" Type="http://schemas.openxmlformats.org/officeDocument/2006/relationships/hyperlink" Target="https://en.wikipedia.org/wiki/Hybrid_algorithm" TargetMode="External"/><Relationship Id="rId10" Type="http://schemas.openxmlformats.org/officeDocument/2006/relationships/hyperlink" Target="https://en.wikipedia.org/wiki/External_memory_algorithm" TargetMode="External"/><Relationship Id="rId4" Type="http://schemas.openxmlformats.org/officeDocument/2006/relationships/hyperlink" Target="https://en.wikipedia.org/wiki/Algorithm" TargetMode="External"/><Relationship Id="rId9" Type="http://schemas.openxmlformats.org/officeDocument/2006/relationships/hyperlink" Target="https://en.wikipedia.org/wiki/Hard_disk_drive" TargetMode="External"/><Relationship Id="rId14" Type="http://schemas.openxmlformats.org/officeDocument/2006/relationships/hyperlink" Target="https://en.wikipedia.org/wiki/Merge_sort" TargetMode="Externa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Auxiliary_memory" TargetMode="External"/><Relationship Id="rId13" Type="http://schemas.openxmlformats.org/officeDocument/2006/relationships/hyperlink" Target="https://en.wikipedia.org/wiki/Quicksort" TargetMode="External"/><Relationship Id="rId3" Type="http://schemas.openxmlformats.org/officeDocument/2006/relationships/hyperlink" Target="https://en.wikipedia.org/wiki/Sorting" TargetMode="External"/><Relationship Id="rId7" Type="http://schemas.openxmlformats.org/officeDocument/2006/relationships/hyperlink" Target="https://en.wikipedia.org/wiki/RAM" TargetMode="External"/><Relationship Id="rId12" Type="http://schemas.openxmlformats.org/officeDocument/2006/relationships/hyperlink" Target="https://en.wikipedia.org/wiki/Model_of_computation"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en.wikipedia.org/wiki/Main_memory" TargetMode="External"/><Relationship Id="rId11" Type="http://schemas.openxmlformats.org/officeDocument/2006/relationships/hyperlink" Target="https://en.wikipedia.org/wiki/External_memory_model" TargetMode="External"/><Relationship Id="rId5" Type="http://schemas.openxmlformats.org/officeDocument/2006/relationships/hyperlink" Target="https://en.wikipedia.org/wiki/Data" TargetMode="External"/><Relationship Id="rId15" Type="http://schemas.openxmlformats.org/officeDocument/2006/relationships/hyperlink" Target="https://en.wikipedia.org/wiki/Hybrid_algorithm" TargetMode="External"/><Relationship Id="rId10" Type="http://schemas.openxmlformats.org/officeDocument/2006/relationships/hyperlink" Target="https://en.wikipedia.org/wiki/External_memory_algorithm" TargetMode="External"/><Relationship Id="rId4" Type="http://schemas.openxmlformats.org/officeDocument/2006/relationships/hyperlink" Target="https://en.wikipedia.org/wiki/Algorithm" TargetMode="External"/><Relationship Id="rId9" Type="http://schemas.openxmlformats.org/officeDocument/2006/relationships/hyperlink" Target="https://en.wikipedia.org/wiki/Hard_disk_drive" TargetMode="External"/><Relationship Id="rId14" Type="http://schemas.openxmlformats.org/officeDocument/2006/relationships/hyperlink" Target="https://en.wikipedia.org/wiki/Merge_sort"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333333"/>
                </a:solidFill>
                <a:effectLst/>
                <a:latin typeface="Arial" panose="020B0604020202020204" pitchFamily="34" charset="0"/>
                <a:ea typeface="Calibri" panose="020F0502020204030204" pitchFamily="34" charset="0"/>
                <a:cs typeface="Arial" panose="020B0604020202020204" pitchFamily="34" charset="0"/>
              </a:rPr>
              <a:t>There are so many things in our real life that we need to search for, like a particular record in database, roll numbers in merit list, a particular telephone number in telephone directory, a particular page in a book etc. All this would have been a mess if the data was kept unordered and unsorted, but fortunately the concept of </a:t>
            </a:r>
            <a:r>
              <a:rPr lang="en-PK" sz="1800" b="1" dirty="0">
                <a:solidFill>
                  <a:srgbClr val="333333"/>
                </a:solidFill>
                <a:effectLst/>
                <a:latin typeface="Arial" panose="020B0604020202020204" pitchFamily="34" charset="0"/>
                <a:ea typeface="Calibri" panose="020F0502020204030204" pitchFamily="34" charset="0"/>
                <a:cs typeface="Arial" panose="020B0604020202020204" pitchFamily="34" charset="0"/>
              </a:rPr>
              <a:t>sorting</a:t>
            </a:r>
            <a:r>
              <a:rPr lang="en-PK" sz="1800" dirty="0">
                <a:solidFill>
                  <a:srgbClr val="333333"/>
                </a:solidFill>
                <a:effectLst/>
                <a:latin typeface="Arial" panose="020B0604020202020204" pitchFamily="34" charset="0"/>
                <a:ea typeface="Calibri" panose="020F0502020204030204" pitchFamily="34" charset="0"/>
                <a:cs typeface="Arial" panose="020B0604020202020204" pitchFamily="34" charset="0"/>
              </a:rPr>
              <a:t> came into existence, making it easier for everyone to arrange data in an order, hence making it easier to search.</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endParaRPr lang="en-PK" dirty="0"/>
          </a:p>
        </p:txBody>
      </p:sp>
      <p:sp>
        <p:nvSpPr>
          <p:cNvPr id="4" name="Slide Number Placeholder 3"/>
          <p:cNvSpPr>
            <a:spLocks noGrp="1"/>
          </p:cNvSpPr>
          <p:nvPr>
            <p:ph type="sldNum" sz="quarter" idx="5"/>
          </p:nvPr>
        </p:nvSpPr>
        <p:spPr/>
        <p:txBody>
          <a:bodyPr/>
          <a:lstStyle/>
          <a:p>
            <a:fld id="{7C92FA23-3785-42EC-9B84-6C2E075DE80E}" type="slidenum">
              <a:rPr lang="en-PK" smtClean="0"/>
              <a:t>1</a:t>
            </a:fld>
            <a:endParaRPr lang="en-PK"/>
          </a:p>
        </p:txBody>
      </p:sp>
    </p:spTree>
    <p:extLst>
      <p:ext uri="{BB962C8B-B14F-4D97-AF65-F5344CB8AC3E}">
        <p14:creationId xmlns:p14="http://schemas.microsoft.com/office/powerpoint/2010/main" val="2047699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Sorting:</a:t>
            </a:r>
          </a:p>
          <a:p>
            <a:pPr algn="l"/>
            <a:r>
              <a:rPr lang="en-US" b="1" i="0" dirty="0">
                <a:solidFill>
                  <a:srgbClr val="202122"/>
                </a:solidFill>
                <a:effectLst/>
                <a:latin typeface="Arial" panose="020B0604020202020204" pitchFamily="34" charset="0"/>
              </a:rPr>
              <a:t>External sorting</a:t>
            </a:r>
            <a:r>
              <a:rPr lang="en-US" b="0" i="0" dirty="0">
                <a:solidFill>
                  <a:srgbClr val="202122"/>
                </a:solidFill>
                <a:effectLst/>
                <a:latin typeface="Arial" panose="020B0604020202020204" pitchFamily="34" charset="0"/>
              </a:rPr>
              <a:t> is a class of </a:t>
            </a:r>
            <a:r>
              <a:rPr lang="en-US" b="0" i="0" u="none" strike="noStrike" dirty="0">
                <a:solidFill>
                  <a:srgbClr val="0B0080"/>
                </a:solidFill>
                <a:effectLst/>
                <a:latin typeface="Arial" panose="020B0604020202020204" pitchFamily="34" charset="0"/>
                <a:hlinkClick r:id="rId3" tooltip="Sorting"/>
              </a:rPr>
              <a:t>sorting</a:t>
            </a:r>
            <a:r>
              <a:rPr lang="en-US" b="0" i="0" dirty="0">
                <a:solidFill>
                  <a:srgbClr val="202122"/>
                </a:solidFill>
                <a:effectLst/>
                <a:latin typeface="Arial" panose="020B0604020202020204" pitchFamily="34" charset="0"/>
              </a:rPr>
              <a:t> </a:t>
            </a:r>
            <a:r>
              <a:rPr lang="en-US" b="0" i="0" u="none" strike="noStrike" dirty="0">
                <a:solidFill>
                  <a:srgbClr val="0B0080"/>
                </a:solidFill>
                <a:effectLst/>
                <a:latin typeface="Arial" panose="020B0604020202020204" pitchFamily="34" charset="0"/>
                <a:hlinkClick r:id="rId4" tooltip="Algorithm"/>
              </a:rPr>
              <a:t>algorithms</a:t>
            </a:r>
            <a:r>
              <a:rPr lang="en-US" b="0" i="0" dirty="0">
                <a:solidFill>
                  <a:srgbClr val="202122"/>
                </a:solidFill>
                <a:effectLst/>
                <a:latin typeface="Arial" panose="020B0604020202020204" pitchFamily="34" charset="0"/>
              </a:rPr>
              <a:t> that can handle massive amounts of </a:t>
            </a:r>
            <a:r>
              <a:rPr lang="en-US" b="0" i="0" u="none" strike="noStrike" dirty="0">
                <a:solidFill>
                  <a:srgbClr val="0B0080"/>
                </a:solidFill>
                <a:effectLst/>
                <a:latin typeface="Arial" panose="020B0604020202020204" pitchFamily="34" charset="0"/>
                <a:hlinkClick r:id="rId5" tooltip="Data"/>
              </a:rPr>
              <a:t>data</a:t>
            </a:r>
            <a:r>
              <a:rPr lang="en-US" b="0" i="0" dirty="0">
                <a:solidFill>
                  <a:srgbClr val="202122"/>
                </a:solidFill>
                <a:effectLst/>
                <a:latin typeface="Arial" panose="020B0604020202020204" pitchFamily="34" charset="0"/>
              </a:rPr>
              <a:t>. External sorting is required when the data being sorted do not fit into the </a:t>
            </a:r>
            <a:r>
              <a:rPr lang="en-US" b="0" i="0" u="none" strike="noStrike" dirty="0">
                <a:solidFill>
                  <a:srgbClr val="0B0080"/>
                </a:solidFill>
                <a:effectLst/>
                <a:latin typeface="Arial" panose="020B0604020202020204" pitchFamily="34" charset="0"/>
                <a:hlinkClick r:id="rId6" tooltip="Main memory"/>
              </a:rPr>
              <a:t>main memory</a:t>
            </a:r>
            <a:r>
              <a:rPr lang="en-US" b="0" i="0" dirty="0">
                <a:solidFill>
                  <a:srgbClr val="202122"/>
                </a:solidFill>
                <a:effectLst/>
                <a:latin typeface="Arial" panose="020B0604020202020204" pitchFamily="34" charset="0"/>
              </a:rPr>
              <a:t> of a computing device (usually </a:t>
            </a:r>
            <a:r>
              <a:rPr lang="en-US" b="0" i="0" u="none" strike="noStrike" dirty="0">
                <a:solidFill>
                  <a:srgbClr val="0B0080"/>
                </a:solidFill>
                <a:effectLst/>
                <a:latin typeface="Arial" panose="020B0604020202020204" pitchFamily="34" charset="0"/>
                <a:hlinkClick r:id="rId7" tooltip="RAM"/>
              </a:rPr>
              <a:t>RAM</a:t>
            </a:r>
            <a:r>
              <a:rPr lang="en-US" b="0" i="0" dirty="0">
                <a:solidFill>
                  <a:srgbClr val="202122"/>
                </a:solidFill>
                <a:effectLst/>
                <a:latin typeface="Arial" panose="020B0604020202020204" pitchFamily="34" charset="0"/>
              </a:rPr>
              <a:t>) and instead they must reside in the slower </a:t>
            </a:r>
            <a:r>
              <a:rPr lang="en-US" b="0" i="0" u="none" strike="noStrike" dirty="0">
                <a:solidFill>
                  <a:srgbClr val="0B0080"/>
                </a:solidFill>
                <a:effectLst/>
                <a:latin typeface="Arial" panose="020B0604020202020204" pitchFamily="34" charset="0"/>
                <a:hlinkClick r:id="rId8" tooltip="Auxiliary memory"/>
              </a:rPr>
              <a:t>external memory</a:t>
            </a:r>
            <a:r>
              <a:rPr lang="en-US" b="0" i="0" dirty="0">
                <a:solidFill>
                  <a:srgbClr val="202122"/>
                </a:solidFill>
                <a:effectLst/>
                <a:latin typeface="Arial" panose="020B0604020202020204" pitchFamily="34" charset="0"/>
              </a:rPr>
              <a:t>, usually a </a:t>
            </a:r>
            <a:r>
              <a:rPr lang="en-US" b="0" i="0" u="none" strike="noStrike" dirty="0">
                <a:solidFill>
                  <a:srgbClr val="0B0080"/>
                </a:solidFill>
                <a:effectLst/>
                <a:latin typeface="Arial" panose="020B0604020202020204" pitchFamily="34" charset="0"/>
                <a:hlinkClick r:id="rId9" tooltip="Hard disk drive"/>
              </a:rPr>
              <a:t>hard disk drive</a:t>
            </a:r>
            <a:r>
              <a:rPr lang="en-US" b="0" i="0" dirty="0">
                <a:solidFill>
                  <a:srgbClr val="202122"/>
                </a:solidFill>
                <a:effectLst/>
                <a:latin typeface="Arial" panose="020B0604020202020204" pitchFamily="34" charset="0"/>
              </a:rPr>
              <a:t>. Thus, external sorting algorithms are </a:t>
            </a:r>
            <a:r>
              <a:rPr lang="en-US" b="0" i="0" u="none" strike="noStrike" dirty="0">
                <a:solidFill>
                  <a:srgbClr val="0B0080"/>
                </a:solidFill>
                <a:effectLst/>
                <a:latin typeface="Arial" panose="020B0604020202020204" pitchFamily="34" charset="0"/>
                <a:hlinkClick r:id="rId10" tooltip="External memory algorithm"/>
              </a:rPr>
              <a:t>external memory algorithms</a:t>
            </a:r>
            <a:r>
              <a:rPr lang="en-US" b="0" i="0" dirty="0">
                <a:solidFill>
                  <a:srgbClr val="202122"/>
                </a:solidFill>
                <a:effectLst/>
                <a:latin typeface="Arial" panose="020B0604020202020204" pitchFamily="34" charset="0"/>
              </a:rPr>
              <a:t> and thus applicable in the </a:t>
            </a:r>
            <a:r>
              <a:rPr lang="en-US" b="0" i="0" u="none" strike="noStrike" dirty="0">
                <a:solidFill>
                  <a:srgbClr val="0B0080"/>
                </a:solidFill>
                <a:effectLst/>
                <a:latin typeface="Arial" panose="020B0604020202020204" pitchFamily="34" charset="0"/>
                <a:hlinkClick r:id="rId11" tooltip="External memory model"/>
              </a:rPr>
              <a:t>external memory</a:t>
            </a:r>
            <a:r>
              <a:rPr lang="en-US" b="0" i="0" dirty="0">
                <a:solidFill>
                  <a:srgbClr val="202122"/>
                </a:solidFill>
                <a:effectLst/>
                <a:latin typeface="Arial" panose="020B0604020202020204" pitchFamily="34" charset="0"/>
              </a:rPr>
              <a:t> </a:t>
            </a:r>
            <a:r>
              <a:rPr lang="en-US" b="0" i="0" u="none" strike="noStrike" dirty="0">
                <a:solidFill>
                  <a:srgbClr val="0B0080"/>
                </a:solidFill>
                <a:effectLst/>
                <a:latin typeface="Arial" panose="020B0604020202020204" pitchFamily="34" charset="0"/>
                <a:hlinkClick r:id="rId12" tooltip="Model of computation"/>
              </a:rPr>
              <a:t>model of computation</a:t>
            </a:r>
            <a:r>
              <a:rPr lang="en-US" b="0" i="0" dirty="0">
                <a:solidFill>
                  <a:srgbClr val="202122"/>
                </a:solidFill>
                <a:effectLst/>
                <a:latin typeface="Arial" panose="020B0604020202020204" pitchFamily="34" charset="0"/>
              </a:rPr>
              <a:t>.</a:t>
            </a:r>
          </a:p>
          <a:p>
            <a:pPr algn="l"/>
            <a:r>
              <a:rPr lang="en-US" b="0" i="0" dirty="0">
                <a:solidFill>
                  <a:srgbClr val="202122"/>
                </a:solidFill>
                <a:effectLst/>
                <a:latin typeface="Arial" panose="020B0604020202020204" pitchFamily="34" charset="0"/>
              </a:rPr>
              <a:t>External sorting algorithms generally fall into two types, distribution sorting, which resembles </a:t>
            </a:r>
            <a:r>
              <a:rPr lang="en-US" b="0" i="0" u="none" strike="noStrike" dirty="0">
                <a:solidFill>
                  <a:srgbClr val="0B0080"/>
                </a:solidFill>
                <a:effectLst/>
                <a:latin typeface="Arial" panose="020B0604020202020204" pitchFamily="34" charset="0"/>
                <a:hlinkClick r:id="rId13" tooltip="Quicksort"/>
              </a:rPr>
              <a:t>quicksort</a:t>
            </a:r>
            <a:r>
              <a:rPr lang="en-US" b="0" i="0" dirty="0">
                <a:solidFill>
                  <a:srgbClr val="202122"/>
                </a:solidFill>
                <a:effectLst/>
                <a:latin typeface="Arial" panose="020B0604020202020204" pitchFamily="34" charset="0"/>
              </a:rPr>
              <a:t>, and external merge sort, which resembles </a:t>
            </a:r>
            <a:r>
              <a:rPr lang="en-US" b="0" i="0" u="none" strike="noStrike" dirty="0">
                <a:solidFill>
                  <a:srgbClr val="0B0080"/>
                </a:solidFill>
                <a:effectLst/>
                <a:latin typeface="Arial" panose="020B0604020202020204" pitchFamily="34" charset="0"/>
                <a:hlinkClick r:id="rId14" tooltip="Merge sort"/>
              </a:rPr>
              <a:t>merge sort</a:t>
            </a:r>
            <a:r>
              <a:rPr lang="en-US" b="0" i="0" dirty="0">
                <a:solidFill>
                  <a:srgbClr val="202122"/>
                </a:solidFill>
                <a:effectLst/>
                <a:latin typeface="Arial" panose="020B0604020202020204" pitchFamily="34" charset="0"/>
              </a:rPr>
              <a:t>. The latter typically uses a </a:t>
            </a:r>
            <a:r>
              <a:rPr lang="en-US" b="0" i="0" u="none" strike="noStrike" dirty="0">
                <a:solidFill>
                  <a:srgbClr val="0B0080"/>
                </a:solidFill>
                <a:effectLst/>
                <a:latin typeface="Arial" panose="020B0604020202020204" pitchFamily="34" charset="0"/>
                <a:hlinkClick r:id="rId15" tooltip="Hybrid algorithm"/>
              </a:rPr>
              <a:t>hybrid</a:t>
            </a:r>
            <a:r>
              <a:rPr lang="en-US" b="0" i="0" dirty="0">
                <a:solidFill>
                  <a:srgbClr val="202122"/>
                </a:solidFill>
                <a:effectLst/>
                <a:latin typeface="Arial" panose="020B0604020202020204" pitchFamily="34" charset="0"/>
              </a:rPr>
              <a:t> sort-merge strategy. In the sorting phase, chunks of data small enough to fit in main memory are read, sorted, and written out to a temporary file. In the merge phase, the sorted subfiles are combined into a single larger file.</a:t>
            </a:r>
          </a:p>
          <a:p>
            <a:endParaRPr lang="en-US" dirty="0"/>
          </a:p>
          <a:p>
            <a:endParaRPr lang="en-US" dirty="0"/>
          </a:p>
          <a:p>
            <a:endParaRPr lang="en-PK" dirty="0"/>
          </a:p>
        </p:txBody>
      </p:sp>
      <p:sp>
        <p:nvSpPr>
          <p:cNvPr id="4" name="Slide Number Placeholder 3"/>
          <p:cNvSpPr>
            <a:spLocks noGrp="1"/>
          </p:cNvSpPr>
          <p:nvPr>
            <p:ph type="sldNum" sz="quarter" idx="5"/>
          </p:nvPr>
        </p:nvSpPr>
        <p:spPr/>
        <p:txBody>
          <a:bodyPr/>
          <a:lstStyle/>
          <a:p>
            <a:fld id="{7C92FA23-3785-42EC-9B84-6C2E075DE80E}" type="slidenum">
              <a:rPr lang="en-PK" smtClean="0"/>
              <a:t>6</a:t>
            </a:fld>
            <a:endParaRPr lang="en-PK"/>
          </a:p>
        </p:txBody>
      </p:sp>
    </p:spTree>
    <p:extLst>
      <p:ext uri="{BB962C8B-B14F-4D97-AF65-F5344CB8AC3E}">
        <p14:creationId xmlns:p14="http://schemas.microsoft.com/office/powerpoint/2010/main" val="1384568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Sorting:</a:t>
            </a:r>
          </a:p>
          <a:p>
            <a:pPr algn="l"/>
            <a:r>
              <a:rPr lang="en-US" b="1" i="0" dirty="0">
                <a:solidFill>
                  <a:srgbClr val="202122"/>
                </a:solidFill>
                <a:effectLst/>
                <a:latin typeface="Arial" panose="020B0604020202020204" pitchFamily="34" charset="0"/>
              </a:rPr>
              <a:t>External sorting</a:t>
            </a:r>
            <a:r>
              <a:rPr lang="en-US" b="0" i="0" dirty="0">
                <a:solidFill>
                  <a:srgbClr val="202122"/>
                </a:solidFill>
                <a:effectLst/>
                <a:latin typeface="Arial" panose="020B0604020202020204" pitchFamily="34" charset="0"/>
              </a:rPr>
              <a:t> is a class of </a:t>
            </a:r>
            <a:r>
              <a:rPr lang="en-US" b="0" i="0" u="none" strike="noStrike" dirty="0">
                <a:solidFill>
                  <a:srgbClr val="0B0080"/>
                </a:solidFill>
                <a:effectLst/>
                <a:latin typeface="Arial" panose="020B0604020202020204" pitchFamily="34" charset="0"/>
                <a:hlinkClick r:id="rId3" tooltip="Sorting"/>
              </a:rPr>
              <a:t>sorting</a:t>
            </a:r>
            <a:r>
              <a:rPr lang="en-US" b="0" i="0" dirty="0">
                <a:solidFill>
                  <a:srgbClr val="202122"/>
                </a:solidFill>
                <a:effectLst/>
                <a:latin typeface="Arial" panose="020B0604020202020204" pitchFamily="34" charset="0"/>
              </a:rPr>
              <a:t> </a:t>
            </a:r>
            <a:r>
              <a:rPr lang="en-US" b="0" i="0" u="none" strike="noStrike" dirty="0">
                <a:solidFill>
                  <a:srgbClr val="0B0080"/>
                </a:solidFill>
                <a:effectLst/>
                <a:latin typeface="Arial" panose="020B0604020202020204" pitchFamily="34" charset="0"/>
                <a:hlinkClick r:id="rId4" tooltip="Algorithm"/>
              </a:rPr>
              <a:t>algorithms</a:t>
            </a:r>
            <a:r>
              <a:rPr lang="en-US" b="0" i="0" dirty="0">
                <a:solidFill>
                  <a:srgbClr val="202122"/>
                </a:solidFill>
                <a:effectLst/>
                <a:latin typeface="Arial" panose="020B0604020202020204" pitchFamily="34" charset="0"/>
              </a:rPr>
              <a:t> that can handle massive amounts of </a:t>
            </a:r>
            <a:r>
              <a:rPr lang="en-US" b="0" i="0" u="none" strike="noStrike" dirty="0">
                <a:solidFill>
                  <a:srgbClr val="0B0080"/>
                </a:solidFill>
                <a:effectLst/>
                <a:latin typeface="Arial" panose="020B0604020202020204" pitchFamily="34" charset="0"/>
                <a:hlinkClick r:id="rId5" tooltip="Data"/>
              </a:rPr>
              <a:t>data</a:t>
            </a:r>
            <a:r>
              <a:rPr lang="en-US" b="0" i="0" dirty="0">
                <a:solidFill>
                  <a:srgbClr val="202122"/>
                </a:solidFill>
                <a:effectLst/>
                <a:latin typeface="Arial" panose="020B0604020202020204" pitchFamily="34" charset="0"/>
              </a:rPr>
              <a:t>. External sorting is required when the data being sorted do not fit into the </a:t>
            </a:r>
            <a:r>
              <a:rPr lang="en-US" b="0" i="0" u="none" strike="noStrike" dirty="0">
                <a:solidFill>
                  <a:srgbClr val="0B0080"/>
                </a:solidFill>
                <a:effectLst/>
                <a:latin typeface="Arial" panose="020B0604020202020204" pitchFamily="34" charset="0"/>
                <a:hlinkClick r:id="rId6" tooltip="Main memory"/>
              </a:rPr>
              <a:t>main memory</a:t>
            </a:r>
            <a:r>
              <a:rPr lang="en-US" b="0" i="0" dirty="0">
                <a:solidFill>
                  <a:srgbClr val="202122"/>
                </a:solidFill>
                <a:effectLst/>
                <a:latin typeface="Arial" panose="020B0604020202020204" pitchFamily="34" charset="0"/>
              </a:rPr>
              <a:t> of a computing device (usually </a:t>
            </a:r>
            <a:r>
              <a:rPr lang="en-US" b="0" i="0" u="none" strike="noStrike" dirty="0">
                <a:solidFill>
                  <a:srgbClr val="0B0080"/>
                </a:solidFill>
                <a:effectLst/>
                <a:latin typeface="Arial" panose="020B0604020202020204" pitchFamily="34" charset="0"/>
                <a:hlinkClick r:id="rId7" tooltip="RAM"/>
              </a:rPr>
              <a:t>RAM</a:t>
            </a:r>
            <a:r>
              <a:rPr lang="en-US" b="0" i="0" dirty="0">
                <a:solidFill>
                  <a:srgbClr val="202122"/>
                </a:solidFill>
                <a:effectLst/>
                <a:latin typeface="Arial" panose="020B0604020202020204" pitchFamily="34" charset="0"/>
              </a:rPr>
              <a:t>) and instead they must reside in the slower </a:t>
            </a:r>
            <a:r>
              <a:rPr lang="en-US" b="0" i="0" u="none" strike="noStrike" dirty="0">
                <a:solidFill>
                  <a:srgbClr val="0B0080"/>
                </a:solidFill>
                <a:effectLst/>
                <a:latin typeface="Arial" panose="020B0604020202020204" pitchFamily="34" charset="0"/>
                <a:hlinkClick r:id="rId8" tooltip="Auxiliary memory"/>
              </a:rPr>
              <a:t>external memory</a:t>
            </a:r>
            <a:r>
              <a:rPr lang="en-US" b="0" i="0" dirty="0">
                <a:solidFill>
                  <a:srgbClr val="202122"/>
                </a:solidFill>
                <a:effectLst/>
                <a:latin typeface="Arial" panose="020B0604020202020204" pitchFamily="34" charset="0"/>
              </a:rPr>
              <a:t>, usually a </a:t>
            </a:r>
            <a:r>
              <a:rPr lang="en-US" b="0" i="0" u="none" strike="noStrike" dirty="0">
                <a:solidFill>
                  <a:srgbClr val="0B0080"/>
                </a:solidFill>
                <a:effectLst/>
                <a:latin typeface="Arial" panose="020B0604020202020204" pitchFamily="34" charset="0"/>
                <a:hlinkClick r:id="rId9" tooltip="Hard disk drive"/>
              </a:rPr>
              <a:t>hard disk drive</a:t>
            </a:r>
            <a:r>
              <a:rPr lang="en-US" b="0" i="0" dirty="0">
                <a:solidFill>
                  <a:srgbClr val="202122"/>
                </a:solidFill>
                <a:effectLst/>
                <a:latin typeface="Arial" panose="020B0604020202020204" pitchFamily="34" charset="0"/>
              </a:rPr>
              <a:t>. Thus, external sorting algorithms are </a:t>
            </a:r>
            <a:r>
              <a:rPr lang="en-US" b="0" i="0" u="none" strike="noStrike" dirty="0">
                <a:solidFill>
                  <a:srgbClr val="0B0080"/>
                </a:solidFill>
                <a:effectLst/>
                <a:latin typeface="Arial" panose="020B0604020202020204" pitchFamily="34" charset="0"/>
                <a:hlinkClick r:id="rId10" tooltip="External memory algorithm"/>
              </a:rPr>
              <a:t>external memory algorithms</a:t>
            </a:r>
            <a:r>
              <a:rPr lang="en-US" b="0" i="0" dirty="0">
                <a:solidFill>
                  <a:srgbClr val="202122"/>
                </a:solidFill>
                <a:effectLst/>
                <a:latin typeface="Arial" panose="020B0604020202020204" pitchFamily="34" charset="0"/>
              </a:rPr>
              <a:t> and thus applicable in the </a:t>
            </a:r>
            <a:r>
              <a:rPr lang="en-US" b="0" i="0" u="none" strike="noStrike" dirty="0">
                <a:solidFill>
                  <a:srgbClr val="0B0080"/>
                </a:solidFill>
                <a:effectLst/>
                <a:latin typeface="Arial" panose="020B0604020202020204" pitchFamily="34" charset="0"/>
                <a:hlinkClick r:id="rId11" tooltip="External memory model"/>
              </a:rPr>
              <a:t>external memory</a:t>
            </a:r>
            <a:r>
              <a:rPr lang="en-US" b="0" i="0" dirty="0">
                <a:solidFill>
                  <a:srgbClr val="202122"/>
                </a:solidFill>
                <a:effectLst/>
                <a:latin typeface="Arial" panose="020B0604020202020204" pitchFamily="34" charset="0"/>
              </a:rPr>
              <a:t> </a:t>
            </a:r>
            <a:r>
              <a:rPr lang="en-US" b="0" i="0" u="none" strike="noStrike" dirty="0">
                <a:solidFill>
                  <a:srgbClr val="0B0080"/>
                </a:solidFill>
                <a:effectLst/>
                <a:latin typeface="Arial" panose="020B0604020202020204" pitchFamily="34" charset="0"/>
                <a:hlinkClick r:id="rId12" tooltip="Model of computation"/>
              </a:rPr>
              <a:t>model of computation</a:t>
            </a:r>
            <a:r>
              <a:rPr lang="en-US" b="0" i="0" dirty="0">
                <a:solidFill>
                  <a:srgbClr val="202122"/>
                </a:solidFill>
                <a:effectLst/>
                <a:latin typeface="Arial" panose="020B0604020202020204" pitchFamily="34" charset="0"/>
              </a:rPr>
              <a:t>.</a:t>
            </a:r>
          </a:p>
          <a:p>
            <a:pPr algn="l"/>
            <a:r>
              <a:rPr lang="en-US" b="0" i="0" dirty="0">
                <a:solidFill>
                  <a:srgbClr val="202122"/>
                </a:solidFill>
                <a:effectLst/>
                <a:latin typeface="Arial" panose="020B0604020202020204" pitchFamily="34" charset="0"/>
              </a:rPr>
              <a:t>External sorting algorithms generally fall into two types, distribution sorting, which resembles </a:t>
            </a:r>
            <a:r>
              <a:rPr lang="en-US" b="0" i="0" u="none" strike="noStrike" dirty="0">
                <a:solidFill>
                  <a:srgbClr val="0B0080"/>
                </a:solidFill>
                <a:effectLst/>
                <a:latin typeface="Arial" panose="020B0604020202020204" pitchFamily="34" charset="0"/>
                <a:hlinkClick r:id="rId13" tooltip="Quicksort"/>
              </a:rPr>
              <a:t>quicksort</a:t>
            </a:r>
            <a:r>
              <a:rPr lang="en-US" b="0" i="0" dirty="0">
                <a:solidFill>
                  <a:srgbClr val="202122"/>
                </a:solidFill>
                <a:effectLst/>
                <a:latin typeface="Arial" panose="020B0604020202020204" pitchFamily="34" charset="0"/>
              </a:rPr>
              <a:t>, and external merge sort, which resembles </a:t>
            </a:r>
            <a:r>
              <a:rPr lang="en-US" b="0" i="0" u="none" strike="noStrike" dirty="0">
                <a:solidFill>
                  <a:srgbClr val="0B0080"/>
                </a:solidFill>
                <a:effectLst/>
                <a:latin typeface="Arial" panose="020B0604020202020204" pitchFamily="34" charset="0"/>
                <a:hlinkClick r:id="rId14" tooltip="Merge sort"/>
              </a:rPr>
              <a:t>merge sort</a:t>
            </a:r>
            <a:r>
              <a:rPr lang="en-US" b="0" i="0" dirty="0">
                <a:solidFill>
                  <a:srgbClr val="202122"/>
                </a:solidFill>
                <a:effectLst/>
                <a:latin typeface="Arial" panose="020B0604020202020204" pitchFamily="34" charset="0"/>
              </a:rPr>
              <a:t>. The latter typically uses a </a:t>
            </a:r>
            <a:r>
              <a:rPr lang="en-US" b="0" i="0" u="none" strike="noStrike" dirty="0">
                <a:solidFill>
                  <a:srgbClr val="0B0080"/>
                </a:solidFill>
                <a:effectLst/>
                <a:latin typeface="Arial" panose="020B0604020202020204" pitchFamily="34" charset="0"/>
                <a:hlinkClick r:id="rId15" tooltip="Hybrid algorithm"/>
              </a:rPr>
              <a:t>hybrid</a:t>
            </a:r>
            <a:r>
              <a:rPr lang="en-US" b="0" i="0" dirty="0">
                <a:solidFill>
                  <a:srgbClr val="202122"/>
                </a:solidFill>
                <a:effectLst/>
                <a:latin typeface="Arial" panose="020B0604020202020204" pitchFamily="34" charset="0"/>
              </a:rPr>
              <a:t> sort-merge strategy. In the sorting phase, chunks of data small enough to fit in main memory are read, sorted, and written out to a temporary file. In the merge phase, the sorted subfiles are combined into a single larger file.</a:t>
            </a:r>
          </a:p>
          <a:p>
            <a:endParaRPr lang="en-US" dirty="0"/>
          </a:p>
          <a:p>
            <a:endParaRPr lang="en-US" dirty="0"/>
          </a:p>
          <a:p>
            <a:endParaRPr lang="en-PK" dirty="0"/>
          </a:p>
        </p:txBody>
      </p:sp>
      <p:sp>
        <p:nvSpPr>
          <p:cNvPr id="4" name="Slide Number Placeholder 3"/>
          <p:cNvSpPr>
            <a:spLocks noGrp="1"/>
          </p:cNvSpPr>
          <p:nvPr>
            <p:ph type="sldNum" sz="quarter" idx="5"/>
          </p:nvPr>
        </p:nvSpPr>
        <p:spPr/>
        <p:txBody>
          <a:bodyPr/>
          <a:lstStyle/>
          <a:p>
            <a:fld id="{7C92FA23-3785-42EC-9B84-6C2E075DE80E}" type="slidenum">
              <a:rPr lang="en-PK" smtClean="0"/>
              <a:t>7</a:t>
            </a:fld>
            <a:endParaRPr lang="en-PK"/>
          </a:p>
        </p:txBody>
      </p:sp>
    </p:spTree>
    <p:extLst>
      <p:ext uri="{BB962C8B-B14F-4D97-AF65-F5344CB8AC3E}">
        <p14:creationId xmlns:p14="http://schemas.microsoft.com/office/powerpoint/2010/main" val="3473222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C92FA23-3785-42EC-9B84-6C2E075DE80E}" type="slidenum">
              <a:rPr lang="en-PK" smtClean="0"/>
              <a:t>8</a:t>
            </a:fld>
            <a:endParaRPr lang="en-PK"/>
          </a:p>
        </p:txBody>
      </p:sp>
    </p:spTree>
    <p:extLst>
      <p:ext uri="{BB962C8B-B14F-4D97-AF65-F5344CB8AC3E}">
        <p14:creationId xmlns:p14="http://schemas.microsoft.com/office/powerpoint/2010/main" val="102931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ts val="1920"/>
              </a:lnSpc>
              <a:spcBef>
                <a:spcPts val="0"/>
              </a:spcBef>
              <a:spcAft>
                <a:spcPts val="0"/>
              </a:spcAf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choice for which sorting method is suitable for a problem depends on several dependency configurations for different problems. The most noteworthy of these considerations are:</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600"/>
              </a:spcAft>
              <a:buSzPts val="1000"/>
              <a:buFont typeface="Symbol" panose="05050102010706020507" pitchFamily="18" charset="2"/>
              <a:buChar char=""/>
              <a:tabLst>
                <a:tab pos="457200" algn="l"/>
              </a:tabLs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length of time spent by the programmer in programming a specific sorting program</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600"/>
              </a:spcAft>
              <a:buSzPts val="1000"/>
              <a:buFont typeface="Symbol" panose="05050102010706020507" pitchFamily="18" charset="2"/>
              <a:buChar char=""/>
              <a:tabLst>
                <a:tab pos="457200" algn="l"/>
              </a:tabLs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Amount of machine time necessary for running the program</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600"/>
              </a:spcAft>
              <a:buSzPts val="1000"/>
              <a:buFont typeface="Symbol" panose="05050102010706020507" pitchFamily="18" charset="2"/>
              <a:buChar char=""/>
              <a:tabLst>
                <a:tab pos="457200" algn="l"/>
              </a:tabLs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amount of memory necessary for running the program</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nSpc>
                <a:spcPct val="107000"/>
              </a:lnSpc>
              <a:spcBef>
                <a:spcPts val="0"/>
              </a:spcBef>
              <a:spcAft>
                <a:spcPts val="600"/>
              </a:spcAft>
              <a:buSzPts val="1000"/>
              <a:buFont typeface="Symbol" panose="05050102010706020507" pitchFamily="18" charset="2"/>
              <a:buNone/>
              <a:tabLst>
                <a:tab pos="457200" algn="l"/>
              </a:tabLst>
            </a:pPr>
            <a:endPar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nSpc>
                <a:spcPct val="107000"/>
              </a:lnSpc>
              <a:spcBef>
                <a:spcPts val="0"/>
              </a:spcBef>
              <a:spcAft>
                <a:spcPts val="600"/>
              </a:spcAft>
              <a:buSzPts val="1000"/>
              <a:buFont typeface="Symbol" panose="05050102010706020507" pitchFamily="18" charset="2"/>
              <a:buNone/>
              <a:tabLst>
                <a:tab pos="457200" algn="l"/>
              </a:tabLs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Efficiency of Sorting Algorithm</a:t>
            </a:r>
          </a:p>
          <a:p>
            <a:pPr marL="0" marR="0">
              <a:lnSpc>
                <a:spcPct val="107000"/>
              </a:lnSpc>
              <a:spcBef>
                <a:spcPts val="0"/>
              </a:spcBef>
              <a:spcAft>
                <a:spcPts val="750"/>
              </a:spcAf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If you ask me, how will I arrange a deck of shuffled cards in order, I would say, I will start by checking every card, and making the deck as I move on.</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750"/>
              </a:spcAf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It can take me hours to arrange the deck in order, but that's how I will do it.</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750"/>
              </a:spcAf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Well, thank god, computers don't work like this.</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750"/>
              </a:spcAf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Since the beginning of the programming age, computer scientists have been working on solving the problem of sorting by coming up with various different algorithms to sort data.</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750"/>
              </a:spcAf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two main </a:t>
            </a:r>
            <a:r>
              <a:rPr lang="en-PK" sz="18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criterias</a:t>
            </a: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to judge which algorithm is better than the other have been:</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ts val="2250"/>
              </a:lnSpc>
              <a:spcBef>
                <a:spcPts val="0"/>
              </a:spcBef>
              <a:spcAft>
                <a:spcPts val="800"/>
              </a:spcAft>
              <a:buFont typeface="+mj-lt"/>
              <a:buAutoNum type="arabicPeriod"/>
              <a:tabLst>
                <a:tab pos="457200" algn="l"/>
              </a:tabLs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Time taken to sort the given data.</a:t>
            </a:r>
            <a:endParaRPr lang="en-PK" sz="1800" dirty="0">
              <a:solidFill>
                <a:srgbClr val="333333"/>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ts val="2250"/>
              </a:lnSpc>
              <a:spcBef>
                <a:spcPts val="0"/>
              </a:spcBef>
              <a:spcAft>
                <a:spcPts val="800"/>
              </a:spcAft>
              <a:buFont typeface="+mj-lt"/>
              <a:buAutoNum type="arabicPeriod"/>
              <a:tabLst>
                <a:tab pos="457200" algn="l"/>
              </a:tabLst>
            </a:pP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Memory Space required to do so.</a:t>
            </a:r>
            <a:endParaRPr lang="en-PK" sz="1800" dirty="0">
              <a:solidFill>
                <a:srgbClr val="333333"/>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nSpc>
                <a:spcPct val="107000"/>
              </a:lnSpc>
              <a:spcBef>
                <a:spcPts val="0"/>
              </a:spcBef>
              <a:spcAft>
                <a:spcPts val="600"/>
              </a:spcAft>
              <a:buSzPts val="1000"/>
              <a:buFont typeface="Symbol" panose="05050102010706020507" pitchFamily="18" charset="2"/>
              <a:buNone/>
              <a:tabLst>
                <a:tab pos="457200" algn="l"/>
              </a:tabLst>
            </a:pP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ts val="1920"/>
              </a:lnSpc>
              <a:spcBef>
                <a:spcPts val="0"/>
              </a:spcBef>
              <a:spcAft>
                <a:spcPts val="0"/>
              </a:spcAf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Most of the sorting techniques are data sensitive, and so the metrics for them depends on the order in which they appear in an input array.</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ts val="1920"/>
              </a:lnSpc>
              <a:spcBef>
                <a:spcPts val="0"/>
              </a:spcBef>
              <a:spcAft>
                <a:spcPts val="0"/>
              </a:spcAf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Various sorting techniques are </a:t>
            </a:r>
            <a:r>
              <a:rPr lang="en-PK" sz="18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analyzed</a:t>
            </a: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various cases and named these cases as follows:</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600"/>
              </a:spcAft>
              <a:buSzPts val="1000"/>
              <a:buFont typeface="Symbol" panose="05050102010706020507" pitchFamily="18" charset="2"/>
              <a:buChar char=""/>
              <a:tabLst>
                <a:tab pos="457200" algn="l"/>
              </a:tabLs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Best case</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600"/>
              </a:spcAft>
              <a:buSzPts val="1000"/>
              <a:buFont typeface="Symbol" panose="05050102010706020507" pitchFamily="18" charset="2"/>
              <a:buChar char=""/>
              <a:tabLst>
                <a:tab pos="457200" algn="l"/>
              </a:tabLs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Worst case</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600"/>
              </a:spcAft>
              <a:buSzPts val="1000"/>
              <a:buFont typeface="Symbol" panose="05050102010706020507" pitchFamily="18" charset="2"/>
              <a:buChar char=""/>
              <a:tabLst>
                <a:tab pos="457200" algn="l"/>
              </a:tabLs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Average case</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ts val="1920"/>
              </a:lnSpc>
              <a:spcBef>
                <a:spcPts val="0"/>
              </a:spcBef>
              <a:spcAft>
                <a:spcPts val="0"/>
              </a:spcAft>
            </a:pP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Hence, the result of these cases is often a formula giving the average time required for a particular sort of size 'n.' Most of the sort methods have time requirements that range from O(</a:t>
            </a:r>
            <a:r>
              <a:rPr lang="en-PK" sz="18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nlog</a:t>
            </a: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n) to O(n</a:t>
            </a:r>
            <a:r>
              <a:rPr lang="en-PK" sz="1800" baseline="30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r>
              <a:rPr lang="en-PK"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endParaRPr lang="en-PK" dirty="0"/>
          </a:p>
        </p:txBody>
      </p:sp>
      <p:sp>
        <p:nvSpPr>
          <p:cNvPr id="4" name="Slide Number Placeholder 3"/>
          <p:cNvSpPr>
            <a:spLocks noGrp="1"/>
          </p:cNvSpPr>
          <p:nvPr>
            <p:ph type="sldNum" sz="quarter" idx="5"/>
          </p:nvPr>
        </p:nvSpPr>
        <p:spPr/>
        <p:txBody>
          <a:bodyPr/>
          <a:lstStyle/>
          <a:p>
            <a:fld id="{7C92FA23-3785-42EC-9B84-6C2E075DE80E}" type="slidenum">
              <a:rPr lang="en-PK" smtClean="0"/>
              <a:t>10</a:t>
            </a:fld>
            <a:endParaRPr lang="en-PK"/>
          </a:p>
        </p:txBody>
      </p:sp>
    </p:spTree>
    <p:extLst>
      <p:ext uri="{BB962C8B-B14F-4D97-AF65-F5344CB8AC3E}">
        <p14:creationId xmlns:p14="http://schemas.microsoft.com/office/powerpoint/2010/main" val="404261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F5BAD54-A052-45F9-9C42-D8E7DB4FCA9C}" type="slidenum">
              <a:rPr lang="en-US" altLang="en-US" smtClean="0">
                <a:latin typeface="Arial" panose="020B0604020202020204" pitchFamily="34" charset="0"/>
              </a:rPr>
              <a:pPr/>
              <a:t>75</a:t>
            </a:fld>
            <a:endParaRPr lang="en-US" altLang="en-US" smtClean="0">
              <a:latin typeface="Arial" panose="020B0604020202020204" pitchFamily="34" charset="0"/>
            </a:endParaRPr>
          </a:p>
        </p:txBody>
      </p:sp>
      <p:sp>
        <p:nvSpPr>
          <p:cNvPr id="81923" name="Rectangle 2"/>
          <p:cNvSpPr>
            <a:spLocks noGrp="1" noRot="1" noChangeAspect="1" noChangeArrowheads="1" noTextEdit="1"/>
          </p:cNvSpPr>
          <p:nvPr>
            <p:ph type="sldImg"/>
          </p:nvPr>
        </p:nvSpPr>
        <p:spPr>
          <a:xfrm>
            <a:off x="387350" y="685800"/>
            <a:ext cx="6091238" cy="3427413"/>
          </a:xfrm>
          <a:ln/>
        </p:spPr>
      </p:sp>
      <p:sp>
        <p:nvSpPr>
          <p:cNvPr id="81924" name="Rectangle 3"/>
          <p:cNvSpPr>
            <a:spLocks noGrp="1" noChangeArrowheads="1"/>
          </p:cNvSpPr>
          <p:nvPr>
            <p:ph type="body" idx="1"/>
          </p:nvPr>
        </p:nvSpPr>
        <p:spPr>
          <a:xfrm>
            <a:off x="915988" y="4341813"/>
            <a:ext cx="5026025"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8216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FBAB1A1-760D-437E-8396-667ECAB0B310}" type="slidenum">
              <a:rPr lang="en-US" altLang="en-US" smtClean="0">
                <a:latin typeface="Arial" panose="020B0604020202020204" pitchFamily="34" charset="0"/>
              </a:rPr>
              <a:pPr/>
              <a:t>78</a:t>
            </a:fld>
            <a:endParaRPr lang="en-US" altLang="en-US" smtClean="0">
              <a:latin typeface="Arial" panose="020B0604020202020204" pitchFamily="34"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92465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376D153C-08AC-4E67-BD18-1E36F9CCC8D3}" type="slidenum">
              <a:rPr lang="en-US" altLang="en-US" smtClean="0">
                <a:latin typeface="Arial" panose="020B0604020202020204" pitchFamily="34" charset="0"/>
              </a:rPr>
              <a:pPr/>
              <a:t>79</a:t>
            </a:fld>
            <a:endParaRPr lang="en-US" altLang="en-US" smtClean="0">
              <a:latin typeface="Arial" panose="020B0604020202020204"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14961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60D212F-35B2-4499-8C80-18FBFA7FB03E}" type="slidenum">
              <a:rPr lang="en-US" altLang="en-US" smtClean="0">
                <a:latin typeface="Arial" panose="020B0604020202020204" pitchFamily="34" charset="0"/>
              </a:rPr>
              <a:pPr/>
              <a:t>80</a:t>
            </a:fld>
            <a:endParaRPr lang="en-US" altLang="en-US" smtClean="0">
              <a:latin typeface="Arial" panose="020B0604020202020204"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06268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FD89D59-4F8F-499A-B81D-26E8FA461006}" type="slidenum">
              <a:rPr lang="en-US" altLang="en-US" smtClean="0">
                <a:latin typeface="Arial" panose="020B0604020202020204" pitchFamily="34" charset="0"/>
              </a:rPr>
              <a:pPr/>
              <a:t>81</a:t>
            </a:fld>
            <a:endParaRPr lang="en-US" altLang="en-US" smtClean="0">
              <a:latin typeface="Arial" panose="020B0604020202020204"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3023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346AE11-1A61-4E77-8C8D-40A91C6A1883}" type="slidenum">
              <a:rPr lang="en-US" altLang="en-US" smtClean="0">
                <a:latin typeface="Arial" panose="020B0604020202020204" pitchFamily="34" charset="0"/>
              </a:rPr>
              <a:pPr/>
              <a:t>82</a:t>
            </a:fld>
            <a:endParaRPr lang="en-US" altLang="en-US" smtClean="0">
              <a:latin typeface="Arial" panose="020B0604020202020204"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239401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F114F098-5650-4940-AA0C-E1C61CDC63A1}" type="slidenum">
              <a:rPr lang="en-US" altLang="en-US" smtClean="0">
                <a:latin typeface="Arial" panose="020B0604020202020204" pitchFamily="34" charset="0"/>
              </a:rPr>
              <a:pPr/>
              <a:t>83</a:t>
            </a:fld>
            <a:endParaRPr lang="en-US" altLang="en-US" smtClean="0">
              <a:latin typeface="Arial" panose="020B0604020202020204"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52273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B4276EB6-A35A-47C5-B0C5-081177086BCA}" type="slidenum">
              <a:rPr lang="en-US" altLang="en-US" smtClean="0">
                <a:latin typeface="Arial" panose="020B0604020202020204" pitchFamily="34" charset="0"/>
              </a:rPr>
              <a:pPr/>
              <a:t>84</a:t>
            </a:fld>
            <a:endParaRPr lang="en-US" altLang="en-US" smtClean="0">
              <a:latin typeface="Arial" panose="020B0604020202020204"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730490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744ADD9-CBF5-4224-B6AB-5EF80712C808}" type="slidenum">
              <a:rPr lang="en-US" altLang="en-US" smtClean="0">
                <a:latin typeface="Arial" panose="020B0604020202020204" pitchFamily="34" charset="0"/>
              </a:rPr>
              <a:pPr/>
              <a:t>85</a:t>
            </a:fld>
            <a:endParaRPr lang="en-US" altLang="en-US" smtClean="0">
              <a:latin typeface="Arial" panose="020B0604020202020204" pitchFamily="34"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93867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DFEC0ED-03FE-4375-8BAE-50D8659E4845}" type="slidenum">
              <a:rPr lang="en-US" altLang="en-US" smtClean="0">
                <a:latin typeface="Arial" panose="020B0604020202020204" pitchFamily="34" charset="0"/>
              </a:rPr>
              <a:pPr/>
              <a:t>86</a:t>
            </a:fld>
            <a:endParaRPr lang="en-US" altLang="en-US" smtClean="0">
              <a:latin typeface="Arial" panose="020B0604020202020204" pitchFamily="34"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73817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E667472-5324-41F8-AE2F-8E6B968C8BA5}" type="slidenum">
              <a:rPr lang="en-US" altLang="en-US" smtClean="0">
                <a:latin typeface="Arial" panose="020B0604020202020204" pitchFamily="34" charset="0"/>
              </a:rPr>
              <a:pPr/>
              <a:t>87</a:t>
            </a:fld>
            <a:endParaRPr lang="en-US" altLang="en-US" smtClean="0">
              <a:latin typeface="Arial" panose="020B0604020202020204" pitchFamily="34"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919438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739C369-37D5-4A65-ACE1-76A7168F1072}" type="slidenum">
              <a:rPr lang="en-US" altLang="en-US" smtClean="0">
                <a:latin typeface="Arial" panose="020B0604020202020204" pitchFamily="34" charset="0"/>
              </a:rPr>
              <a:pPr/>
              <a:t>91</a:t>
            </a:fld>
            <a:endParaRPr lang="en-US" altLang="en-US" smtClean="0">
              <a:latin typeface="Arial" panose="020B0604020202020204"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89355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A027592-C503-45C8-9B73-BEDA7BCF5B1B}" type="slidenum">
              <a:rPr lang="en-US" altLang="en-US" smtClean="0">
                <a:latin typeface="Arial" panose="020B0604020202020204" pitchFamily="34" charset="0"/>
              </a:rPr>
              <a:pPr/>
              <a:t>92</a:t>
            </a:fld>
            <a:endParaRPr lang="en-US" altLang="en-US" smtClean="0">
              <a:latin typeface="Arial" panose="020B0604020202020204"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600836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322EEE3A-FE1B-481F-85E7-C5B9A3DEBCBF}" type="slidenum">
              <a:rPr lang="en-US" altLang="en-US" smtClean="0">
                <a:latin typeface="Arial" panose="020B0604020202020204" pitchFamily="34" charset="0"/>
              </a:rPr>
              <a:pPr/>
              <a:t>93</a:t>
            </a:fld>
            <a:endParaRPr lang="en-US" altLang="en-US" smtClean="0">
              <a:latin typeface="Arial" panose="020B0604020202020204"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06460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F860613-9CB7-41B6-9380-BB5728EC9E54}" type="slidenum">
              <a:rPr lang="en-US" altLang="en-US" smtClean="0">
                <a:latin typeface="Arial" panose="020B0604020202020204" pitchFamily="34" charset="0"/>
              </a:rPr>
              <a:pPr/>
              <a:t>94</a:t>
            </a:fld>
            <a:endParaRPr lang="en-US" altLang="en-US" smtClean="0">
              <a:latin typeface="Arial" panose="020B060402020202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66306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F860613-9CB7-41B6-9380-BB5728EC9E54}" type="slidenum">
              <a:rPr lang="en-US" altLang="en-US" smtClean="0">
                <a:latin typeface="Arial" panose="020B0604020202020204" pitchFamily="34" charset="0"/>
              </a:rPr>
              <a:pPr/>
              <a:t>95</a:t>
            </a:fld>
            <a:endParaRPr lang="en-US" altLang="en-US" smtClean="0">
              <a:latin typeface="Arial" panose="020B060402020202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99099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0916EE3-A471-4432-997D-4550DDB761AA}" type="slidenum">
              <a:rPr lang="en-US" altLang="en-US" smtClean="0">
                <a:latin typeface="Arial" panose="020B0604020202020204" pitchFamily="34" charset="0"/>
              </a:rPr>
              <a:pPr/>
              <a:t>96</a:t>
            </a:fld>
            <a:endParaRPr lang="en-US" altLang="en-US" smtClean="0">
              <a:latin typeface="Arial" panose="020B0604020202020204"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191351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E0FA029-A5D1-4F91-B90A-B56C8211532C}" type="slidenum">
              <a:rPr lang="en-US" altLang="en-US" smtClean="0">
                <a:latin typeface="Arial" panose="020B0604020202020204" pitchFamily="34" charset="0"/>
              </a:rPr>
              <a:pPr/>
              <a:t>97</a:t>
            </a:fld>
            <a:endParaRPr lang="en-US" altLang="en-US" smtClean="0">
              <a:latin typeface="Arial" panose="020B0604020202020204"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88264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8F794AE5-37BF-4306-BAC4-6519018DF91F}" type="slidenum">
              <a:rPr lang="en-US" altLang="en-US" smtClean="0">
                <a:latin typeface="Arial" panose="020B0604020202020204" pitchFamily="34" charset="0"/>
              </a:rPr>
              <a:pPr/>
              <a:t>98</a:t>
            </a:fld>
            <a:endParaRPr lang="en-US" altLang="en-US" smtClean="0">
              <a:latin typeface="Arial" panose="020B0604020202020204" pitchFamily="34"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459163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91719BE-4A90-4B0D-9A2A-2865D460E98D}" type="slidenum">
              <a:rPr lang="en-US" altLang="en-US" smtClean="0">
                <a:latin typeface="Arial" panose="020B0604020202020204" pitchFamily="34" charset="0"/>
              </a:rPr>
              <a:pPr/>
              <a:t>99</a:t>
            </a:fld>
            <a:endParaRPr lang="en-US" altLang="en-US" smtClean="0">
              <a:latin typeface="Arial" panose="020B0604020202020204" pitchFamily="34"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031781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1EC2E72-782D-41B3-A85A-9C42F619FC08}" type="slidenum">
              <a:rPr lang="en-US" altLang="en-US" smtClean="0">
                <a:latin typeface="Arial" panose="020B0604020202020204" pitchFamily="34" charset="0"/>
              </a:rPr>
              <a:pPr/>
              <a:t>100</a:t>
            </a:fld>
            <a:endParaRPr lang="en-US" altLang="en-US" smtClean="0">
              <a:latin typeface="Arial" panose="020B0604020202020204" pitchFamily="34"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681040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426E9869-4621-47B4-B84F-FB4F8635E612}" type="slidenum">
              <a:rPr lang="en-US" altLang="en-US" smtClean="0">
                <a:latin typeface="Arial" panose="020B0604020202020204" pitchFamily="34" charset="0"/>
              </a:rPr>
              <a:pPr/>
              <a:t>101</a:t>
            </a:fld>
            <a:endParaRPr lang="en-US" altLang="en-US" smtClean="0">
              <a:latin typeface="Arial" panose="020B0604020202020204" pitchFamily="3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21141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A06B562-6D4C-417D-8B55-E0ECE30CEEB1}" type="slidenum">
              <a:rPr lang="en-US" altLang="en-US" smtClean="0">
                <a:latin typeface="Arial" panose="020B0604020202020204" pitchFamily="34" charset="0"/>
              </a:rPr>
              <a:pPr/>
              <a:t>102</a:t>
            </a:fld>
            <a:endParaRPr lang="en-US" altLang="en-US" smtClean="0">
              <a:latin typeface="Arial" panose="020B0604020202020204" pitchFamily="3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95790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854A1D6-F82E-47C5-9DF3-9E769A893458}" type="slidenum">
              <a:rPr lang="en-US" altLang="en-US" smtClean="0">
                <a:latin typeface="Arial" panose="020B0604020202020204" pitchFamily="34" charset="0"/>
              </a:rPr>
              <a:pPr/>
              <a:t>103</a:t>
            </a:fld>
            <a:endParaRPr lang="en-US" altLang="en-US" smtClean="0">
              <a:latin typeface="Arial" panose="020B0604020202020204"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0544278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C695169-7480-4595-8DA7-84FA6D09CD65}" type="slidenum">
              <a:rPr lang="en-US" altLang="en-US" smtClean="0">
                <a:latin typeface="Arial" panose="020B0604020202020204" pitchFamily="34" charset="0"/>
              </a:rPr>
              <a:pPr/>
              <a:t>104</a:t>
            </a:fld>
            <a:endParaRPr lang="en-US" altLang="en-US" smtClean="0">
              <a:latin typeface="Arial" panose="020B0604020202020204"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9585147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99FAE45-D3C8-4902-B65B-FAB313909185}" type="slidenum">
              <a:rPr lang="en-US" altLang="en-US" smtClean="0">
                <a:latin typeface="Arial" panose="020B0604020202020204" pitchFamily="34" charset="0"/>
              </a:rPr>
              <a:pPr/>
              <a:t>105</a:t>
            </a:fld>
            <a:endParaRPr lang="en-US" altLang="en-US" smtClean="0">
              <a:latin typeface="Arial" panose="020B0604020202020204"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6005297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5962077-60F8-4A39-8EA5-D731100105E6}" type="slidenum">
              <a:rPr lang="en-US" altLang="en-US" smtClean="0">
                <a:latin typeface="Arial" panose="020B0604020202020204" pitchFamily="34" charset="0"/>
              </a:rPr>
              <a:pPr/>
              <a:t>106</a:t>
            </a:fld>
            <a:endParaRPr lang="en-US" altLang="en-US" smtClean="0">
              <a:latin typeface="Arial" panose="020B0604020202020204" pitchFamily="3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6618594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61914D9-127D-42A8-B4DA-0CAE036168B1}" type="slidenum">
              <a:rPr lang="en-US" altLang="en-US" smtClean="0">
                <a:latin typeface="Arial" panose="020B0604020202020204" pitchFamily="34" charset="0"/>
              </a:rPr>
              <a:pPr/>
              <a:t>107</a:t>
            </a:fld>
            <a:endParaRPr lang="en-US" altLang="en-US" smtClean="0">
              <a:latin typeface="Arial" panose="020B0604020202020204"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841884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50944F5-AE97-4A8E-A988-F0CB7EF4BC3D}" type="slidenum">
              <a:rPr lang="en-US" altLang="en-US" smtClean="0">
                <a:latin typeface="Arial" panose="020B0604020202020204" pitchFamily="34" charset="0"/>
              </a:rPr>
              <a:pPr/>
              <a:t>108</a:t>
            </a:fld>
            <a:endParaRPr lang="en-US" altLang="en-US" smtClean="0">
              <a:latin typeface="Arial" panose="020B0604020202020204"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0470788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F238AE3D-76B5-46F5-B036-D92801235F62}" type="slidenum">
              <a:rPr lang="en-US" altLang="en-US" smtClean="0">
                <a:latin typeface="Arial" panose="020B0604020202020204" pitchFamily="34" charset="0"/>
              </a:rPr>
              <a:pPr/>
              <a:t>109</a:t>
            </a:fld>
            <a:endParaRPr lang="en-US" altLang="en-US" smtClean="0">
              <a:latin typeface="Arial" panose="020B0604020202020204" pitchFamily="34"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2512103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33B9706-7387-4346-8B56-0F33D487A71B}" type="slidenum">
              <a:rPr lang="en-US" altLang="en-US" smtClean="0">
                <a:latin typeface="Arial" panose="020B0604020202020204" pitchFamily="34" charset="0"/>
              </a:rPr>
              <a:pPr/>
              <a:t>110</a:t>
            </a:fld>
            <a:endParaRPr lang="en-US" altLang="en-US" smtClean="0">
              <a:latin typeface="Arial" panose="020B0604020202020204" pitchFamily="34"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62865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C1C9555-0311-4798-A5CB-003AA68C84B6}" type="datetimeFigureOut">
              <a:rPr lang="en-PK" smtClean="0"/>
              <a:t>15/10/2025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76D5FF52-F6F9-4840-80A9-18581B99E038}"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463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1C9555-0311-4798-A5CB-003AA68C84B6}" type="datetimeFigureOut">
              <a:rPr lang="en-PK" smtClean="0"/>
              <a:t>15/10/2025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703111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1C9555-0311-4798-A5CB-003AA68C84B6}" type="datetimeFigureOut">
              <a:rPr lang="en-PK" smtClean="0"/>
              <a:t>15/10/2025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76D5FF52-F6F9-4840-80A9-18581B99E038}"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7586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1C9555-0311-4798-A5CB-003AA68C84B6}" type="datetimeFigureOut">
              <a:rPr lang="en-PK" smtClean="0"/>
              <a:t>15/10/2025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856951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C1C9555-0311-4798-A5CB-003AA68C84B6}" type="datetimeFigureOut">
              <a:rPr lang="en-PK" smtClean="0"/>
              <a:t>15/10/2025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40303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C1C9555-0311-4798-A5CB-003AA68C84B6}" type="datetimeFigureOut">
              <a:rPr lang="en-PK" smtClean="0"/>
              <a:t>15/10/2025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3556660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C1C9555-0311-4798-A5CB-003AA68C84B6}" type="datetimeFigureOut">
              <a:rPr lang="en-PK" smtClean="0"/>
              <a:t>15/10/2025</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3925821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C1C9555-0311-4798-A5CB-003AA68C84B6}" type="datetimeFigureOut">
              <a:rPr lang="en-PK" smtClean="0"/>
              <a:t>15/10/2025</a:t>
            </a:fld>
            <a:endParaRPr lang="en-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D5FF52-F6F9-4840-80A9-18581B99E038}" type="slidenum">
              <a:rPr lang="en-PK" smtClean="0"/>
              <a:t>‹#›</a:t>
            </a:fld>
            <a:endParaRPr lang="en-PK"/>
          </a:p>
        </p:txBody>
      </p:sp>
    </p:spTree>
    <p:extLst>
      <p:ext uri="{BB962C8B-B14F-4D97-AF65-F5344CB8AC3E}">
        <p14:creationId xmlns:p14="http://schemas.microsoft.com/office/powerpoint/2010/main" val="2702905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1C9555-0311-4798-A5CB-003AA68C84B6}" type="datetimeFigureOut">
              <a:rPr lang="en-PK" smtClean="0"/>
              <a:t>15/10/2025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2058556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1C9555-0311-4798-A5CB-003AA68C84B6}" type="datetimeFigureOut">
              <a:rPr lang="en-PK" smtClean="0"/>
              <a:t>15/10/2025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4053654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1C9555-0311-4798-A5CB-003AA68C84B6}" type="datetimeFigureOut">
              <a:rPr lang="en-PK" smtClean="0"/>
              <a:t>15/10/2025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76D5FF52-F6F9-4840-80A9-18581B99E038}" type="slidenum">
              <a:rPr lang="en-PK" smtClean="0"/>
              <a:t>‹#›</a:t>
            </a:fld>
            <a:endParaRPr lang="en-PK"/>
          </a:p>
        </p:txBody>
      </p:sp>
    </p:spTree>
    <p:extLst>
      <p:ext uri="{BB962C8B-B14F-4D97-AF65-F5344CB8AC3E}">
        <p14:creationId xmlns:p14="http://schemas.microsoft.com/office/powerpoint/2010/main" val="3054033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Table Placeholder 2"/>
          <p:cNvSpPr>
            <a:spLocks noGrp="1"/>
          </p:cNvSpPr>
          <p:nvPr>
            <p:ph type="tbl" idx="1"/>
          </p:nvPr>
        </p:nvSpPr>
        <p:spPr>
          <a:xfrm>
            <a:off x="755651" y="1752600"/>
            <a:ext cx="10668000" cy="4267200"/>
          </a:xfrm>
        </p:spPr>
        <p:txBody>
          <a:bodyPr rtlCol="0">
            <a:normAutofit/>
          </a:bodyPr>
          <a:lstStyle/>
          <a:p>
            <a:pPr lvl="0"/>
            <a:endParaRPr lang="en-US" noProof="0"/>
          </a:p>
        </p:txBody>
      </p:sp>
      <p:sp>
        <p:nvSpPr>
          <p:cNvPr id="4" name="Date Placeholder 3">
            <a:extLst>
              <a:ext uri="{FF2B5EF4-FFF2-40B4-BE49-F238E27FC236}"/>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extLst>
          </p:cNvPr>
          <p:cNvSpPr>
            <a:spLocks noGrp="1"/>
          </p:cNvSpPr>
          <p:nvPr>
            <p:ph type="sldNum" sz="quarter" idx="12"/>
          </p:nvPr>
        </p:nvSpPr>
        <p:spPr/>
        <p:txBody>
          <a:bodyPr/>
          <a:lstStyle>
            <a:lvl1pPr>
              <a:defRPr/>
            </a:lvl1pPr>
          </a:lstStyle>
          <a:p>
            <a:pPr>
              <a:defRPr/>
            </a:pPr>
            <a:fld id="{22045E8B-F483-4F0E-8470-EFE14388460C}" type="slidenum">
              <a:rPr lang="en-US" altLang="en-US"/>
              <a:pPr>
                <a:defRPr/>
              </a:pPr>
              <a:t>‹#›</a:t>
            </a:fld>
            <a:endParaRPr lang="en-US" altLang="en-US"/>
          </a:p>
        </p:txBody>
      </p:sp>
    </p:spTree>
    <p:extLst>
      <p:ext uri="{BB962C8B-B14F-4D97-AF65-F5344CB8AC3E}">
        <p14:creationId xmlns:p14="http://schemas.microsoft.com/office/powerpoint/2010/main" val="1800388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C1C9555-0311-4798-A5CB-003AA68C84B6}" type="datetimeFigureOut">
              <a:rPr lang="en-PK" smtClean="0"/>
              <a:t>15/10/2025</a:t>
            </a:fld>
            <a:endParaRPr lang="en-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D5FF52-F6F9-4840-80A9-18581B99E038}" type="slidenum">
              <a:rPr lang="en-PK" smtClean="0"/>
              <a:t>‹#›</a:t>
            </a:fld>
            <a:endParaRPr lang="en-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099959"/>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en.wikipedia.org/wiki/Merge_sor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en.wikipedia.org/wiki/Insertion_sort"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EC31E7-699B-4C2F-BBC3-80B494E2D261}"/>
              </a:ext>
            </a:extLst>
          </p:cNvPr>
          <p:cNvSpPr>
            <a:spLocks noGrp="1"/>
          </p:cNvSpPr>
          <p:nvPr>
            <p:ph type="title"/>
          </p:nvPr>
        </p:nvSpPr>
        <p:spPr>
          <a:xfrm>
            <a:off x="731913" y="677827"/>
            <a:ext cx="10515600" cy="380048"/>
          </a:xfrm>
        </p:spPr>
        <p:txBody>
          <a:bodyPr>
            <a:noAutofit/>
          </a:bodyPr>
          <a:lstStyle/>
          <a:p>
            <a:r>
              <a:rPr lang="en-US" sz="4000" b="1" dirty="0">
                <a:solidFill>
                  <a:schemeClr val="accent1">
                    <a:lumMod val="50000"/>
                  </a:schemeClr>
                </a:solidFill>
                <a:latin typeface="+mn-lt"/>
              </a:rPr>
              <a:t>Sorting</a:t>
            </a:r>
            <a:endParaRPr lang="en-PK" sz="4000" b="1" dirty="0">
              <a:solidFill>
                <a:schemeClr val="accent1">
                  <a:lumMod val="50000"/>
                </a:schemeClr>
              </a:solidFill>
              <a:latin typeface="+mn-lt"/>
            </a:endParaRPr>
          </a:p>
        </p:txBody>
      </p:sp>
      <p:sp>
        <p:nvSpPr>
          <p:cNvPr id="3" name="Content Placeholder 2">
            <a:extLst>
              <a:ext uri="{FF2B5EF4-FFF2-40B4-BE49-F238E27FC236}">
                <a16:creationId xmlns="" xmlns:a16="http://schemas.microsoft.com/office/drawing/2014/main" id="{532953DA-C214-4D3F-9051-D772714F6085}"/>
              </a:ext>
            </a:extLst>
          </p:cNvPr>
          <p:cNvSpPr>
            <a:spLocks noGrp="1"/>
          </p:cNvSpPr>
          <p:nvPr>
            <p:ph idx="1"/>
          </p:nvPr>
        </p:nvSpPr>
        <p:spPr>
          <a:xfrm>
            <a:off x="381000" y="982345"/>
            <a:ext cx="11619089" cy="4351338"/>
          </a:xfrm>
        </p:spPr>
        <p:txBody>
          <a:bodyPr/>
          <a:lstStyle/>
          <a:p>
            <a:pPr marL="0" marR="0">
              <a:lnSpc>
                <a:spcPct val="200000"/>
              </a:lnSpc>
              <a:spcBef>
                <a:spcPts val="0"/>
              </a:spcBef>
              <a:spcAft>
                <a:spcPts val="800"/>
              </a:spcAft>
            </a:pPr>
            <a:endParaRPr lang="en-GB" sz="1800" dirty="0" smtClean="0"/>
          </a:p>
          <a:p>
            <a:pPr marL="0" marR="0">
              <a:lnSpc>
                <a:spcPct val="200000"/>
              </a:lnSpc>
              <a:spcBef>
                <a:spcPts val="0"/>
              </a:spcBef>
              <a:spcAft>
                <a:spcPts val="800"/>
              </a:spcAft>
            </a:pPr>
            <a:r>
              <a:rPr lang="en-GB" sz="1800" dirty="0"/>
              <a:t> </a:t>
            </a:r>
            <a:r>
              <a:rPr lang="en-GB" sz="1800" dirty="0">
                <a:solidFill>
                  <a:srgbClr val="333333"/>
                </a:solidFill>
                <a:latin typeface="Arial" panose="020B0604020202020204" pitchFamily="34" charset="0"/>
                <a:ea typeface="Calibri" panose="020F0502020204030204" pitchFamily="34" charset="0"/>
                <a:cs typeface="Arial" panose="020B0604020202020204" pitchFamily="34" charset="0"/>
              </a:rPr>
              <a:t>is the process of arranging elements of a collection (like an array, list, or other data structure) in a specific </a:t>
            </a:r>
            <a:r>
              <a:rPr lang="en-GB" sz="1800" dirty="0" smtClean="0"/>
              <a:t>order</a:t>
            </a:r>
          </a:p>
          <a:p>
            <a:pPr marL="0" marR="0">
              <a:lnSpc>
                <a:spcPct val="200000"/>
              </a:lnSpc>
              <a:spcBef>
                <a:spcPts val="0"/>
              </a:spcBef>
              <a:spcAft>
                <a:spcPts val="800"/>
              </a:spcAft>
            </a:pPr>
            <a:r>
              <a:rPr lang="en-US" sz="1800" dirty="0" smtClean="0">
                <a:solidFill>
                  <a:srgbClr val="333333"/>
                </a:solidFill>
                <a:effectLst/>
                <a:latin typeface="Arial" panose="020B0604020202020204" pitchFamily="34" charset="0"/>
                <a:ea typeface="Calibri" panose="020F0502020204030204" pitchFamily="34" charset="0"/>
                <a:cs typeface="Arial" panose="020B0604020202020204" pitchFamily="34" charset="0"/>
              </a:rPr>
              <a:t>A</a:t>
            </a:r>
            <a:r>
              <a:rPr lang="en-PK" sz="1800" dirty="0" err="1">
                <a:solidFill>
                  <a:srgbClr val="333333"/>
                </a:solidFill>
                <a:effectLst/>
                <a:latin typeface="Arial" panose="020B0604020202020204" pitchFamily="34" charset="0"/>
                <a:ea typeface="Calibri" panose="020F0502020204030204" pitchFamily="34" charset="0"/>
                <a:cs typeface="Arial" panose="020B0604020202020204" pitchFamily="34" charset="0"/>
              </a:rPr>
              <a:t>rranging</a:t>
            </a:r>
            <a:r>
              <a:rPr lang="en-PK" sz="1800" dirty="0">
                <a:solidFill>
                  <a:srgbClr val="333333"/>
                </a:solidFill>
                <a:effectLst/>
                <a:latin typeface="Arial" panose="020B0604020202020204" pitchFamily="34" charset="0"/>
                <a:ea typeface="Calibri" panose="020F0502020204030204" pitchFamily="34" charset="0"/>
                <a:cs typeface="Arial" panose="020B0604020202020204" pitchFamily="34" charset="0"/>
              </a:rPr>
              <a:t> the data in ascending or descending order</a:t>
            </a:r>
            <a:r>
              <a:rPr lang="en-US" sz="1800" dirty="0">
                <a:solidFill>
                  <a:srgbClr val="333333"/>
                </a:solidFill>
                <a:effectLst/>
                <a:latin typeface="Arial" panose="020B0604020202020204" pitchFamily="34" charset="0"/>
                <a:ea typeface="Calibri" panose="020F0502020204030204" pitchFamily="34" charset="0"/>
                <a:cs typeface="Arial" panose="020B0604020202020204" pitchFamily="34" charset="0"/>
              </a:rPr>
              <a:t>.</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200000"/>
              </a:lnSpc>
              <a:spcBef>
                <a:spcPts val="0"/>
              </a:spcBef>
              <a:spcAft>
                <a:spcPts val="800"/>
              </a:spcAft>
            </a:pPr>
            <a:r>
              <a:rPr lang="en-US" sz="1800" dirty="0">
                <a:solidFill>
                  <a:srgbClr val="333333"/>
                </a:solidFill>
                <a:effectLst/>
                <a:latin typeface="Arial" panose="020B0604020202020204" pitchFamily="34" charset="0"/>
                <a:ea typeface="Calibri" panose="020F0502020204030204" pitchFamily="34" charset="0"/>
                <a:cs typeface="Arial" panose="020B0604020202020204" pitchFamily="34" charset="0"/>
              </a:rPr>
              <a:t>A</a:t>
            </a:r>
            <a:r>
              <a:rPr lang="en-PK" sz="1800" dirty="0" err="1">
                <a:solidFill>
                  <a:srgbClr val="333333"/>
                </a:solidFill>
                <a:effectLst/>
                <a:latin typeface="Arial" panose="020B0604020202020204" pitchFamily="34" charset="0"/>
                <a:ea typeface="Calibri" panose="020F0502020204030204" pitchFamily="34" charset="0"/>
                <a:cs typeface="Arial" panose="020B0604020202020204" pitchFamily="34" charset="0"/>
              </a:rPr>
              <a:t>rranges</a:t>
            </a:r>
            <a:r>
              <a:rPr lang="en-PK" sz="1800" dirty="0">
                <a:solidFill>
                  <a:srgbClr val="333333"/>
                </a:solidFill>
                <a:effectLst/>
                <a:latin typeface="Arial" panose="020B0604020202020204" pitchFamily="34" charset="0"/>
                <a:ea typeface="Calibri" panose="020F0502020204030204" pitchFamily="34" charset="0"/>
                <a:cs typeface="Arial" panose="020B0604020202020204" pitchFamily="34" charset="0"/>
              </a:rPr>
              <a:t> data in a sequence which makes searching easier.</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a:lnSpc>
                <a:spcPct val="200000"/>
              </a:lnSpc>
            </a:pPr>
            <a:r>
              <a:rPr lang="en-US" sz="1800" dirty="0">
                <a:solidFill>
                  <a:srgbClr val="000000"/>
                </a:solidFill>
                <a:effectLst/>
                <a:latin typeface="Arial" panose="020B0604020202020204" pitchFamily="34" charset="0"/>
                <a:ea typeface="Calibri" panose="020F0502020204030204" pitchFamily="34" charset="0"/>
              </a:rPr>
              <a:t>S</a:t>
            </a:r>
            <a:r>
              <a:rPr lang="en-PK" sz="1800" dirty="0" err="1">
                <a:solidFill>
                  <a:srgbClr val="000000"/>
                </a:solidFill>
                <a:effectLst/>
                <a:latin typeface="Arial" panose="020B0604020202020204" pitchFamily="34" charset="0"/>
                <a:ea typeface="Calibri" panose="020F0502020204030204" pitchFamily="34" charset="0"/>
              </a:rPr>
              <a:t>orted</a:t>
            </a:r>
            <a:r>
              <a:rPr lang="en-PK" sz="1800" dirty="0">
                <a:solidFill>
                  <a:srgbClr val="000000"/>
                </a:solidFill>
                <a:effectLst/>
                <a:latin typeface="Arial" panose="020B0604020202020204" pitchFamily="34" charset="0"/>
                <a:ea typeface="Calibri" panose="020F0502020204030204" pitchFamily="34" charset="0"/>
              </a:rPr>
              <a:t> either numerically or alphanumerically</a:t>
            </a:r>
            <a:r>
              <a:rPr lang="en-US" sz="1800" dirty="0">
                <a:solidFill>
                  <a:srgbClr val="000000"/>
                </a:solidFill>
                <a:effectLst/>
                <a:latin typeface="Arial" panose="020B0604020202020204" pitchFamily="34" charset="0"/>
                <a:ea typeface="Calibri" panose="020F0502020204030204" pitchFamily="34" charset="0"/>
              </a:rPr>
              <a:t>.</a:t>
            </a:r>
            <a:endParaRPr lang="en-PK" dirty="0"/>
          </a:p>
        </p:txBody>
      </p:sp>
      <p:sp>
        <p:nvSpPr>
          <p:cNvPr id="5" name="Footer Placeholder 2">
            <a:extLst>
              <a:ext uri="{FF2B5EF4-FFF2-40B4-BE49-F238E27FC236}">
                <a16:creationId xmlns="" xmlns:a16="http://schemas.microsoft.com/office/drawing/2014/main" id="{26DFFC2B-DCEB-A528-EBBE-9E62D5E397FC}"/>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t>
            </a:r>
            <a:r>
              <a:rPr lang="en-US" b="1" dirty="0" smtClean="0">
                <a:solidFill>
                  <a:schemeClr val="accent1"/>
                </a:solidFill>
              </a:rPr>
              <a:t>Anees ahmed                                                                                                                                                                                                            </a:t>
            </a:r>
            <a:endParaRPr lang="en-PK" b="1" dirty="0">
              <a:solidFill>
                <a:schemeClr val="accent1"/>
              </a:solidFill>
            </a:endParaRPr>
          </a:p>
        </p:txBody>
      </p:sp>
      <p:sp>
        <p:nvSpPr>
          <p:cNvPr id="4" name="TextBox 3">
            <a:extLst>
              <a:ext uri="{FF2B5EF4-FFF2-40B4-BE49-F238E27FC236}">
                <a16:creationId xmlns="" xmlns:a16="http://schemas.microsoft.com/office/drawing/2014/main" id="{3BE0E646-D02F-4DD2-89ED-A39C3CBFA003}"/>
              </a:ext>
            </a:extLst>
          </p:cNvPr>
          <p:cNvSpPr txBox="1"/>
          <p:nvPr/>
        </p:nvSpPr>
        <p:spPr>
          <a:xfrm>
            <a:off x="381000" y="4104640"/>
            <a:ext cx="1059521" cy="646331"/>
          </a:xfrm>
          <a:prstGeom prst="rect">
            <a:avLst/>
          </a:prstGeom>
          <a:noFill/>
        </p:spPr>
        <p:txBody>
          <a:bodyPr wrap="none" rtlCol="0">
            <a:spAutoFit/>
          </a:bodyPr>
          <a:lstStyle/>
          <a:p>
            <a:r>
              <a:rPr lang="en-US" b="1" dirty="0"/>
              <a:t>Example:</a:t>
            </a:r>
          </a:p>
          <a:p>
            <a:endParaRPr lang="en-PK" b="1" dirty="0"/>
          </a:p>
        </p:txBody>
      </p:sp>
      <p:sp>
        <p:nvSpPr>
          <p:cNvPr id="6" name="TextBox 5">
            <a:extLst>
              <a:ext uri="{FF2B5EF4-FFF2-40B4-BE49-F238E27FC236}">
                <a16:creationId xmlns="" xmlns:a16="http://schemas.microsoft.com/office/drawing/2014/main" id="{8352C424-357C-48F4-9110-AFB5C6F5B30D}"/>
              </a:ext>
            </a:extLst>
          </p:cNvPr>
          <p:cNvSpPr txBox="1"/>
          <p:nvPr/>
        </p:nvSpPr>
        <p:spPr>
          <a:xfrm>
            <a:off x="680720" y="4907280"/>
            <a:ext cx="1066318" cy="369332"/>
          </a:xfrm>
          <a:prstGeom prst="rect">
            <a:avLst/>
          </a:prstGeom>
          <a:noFill/>
        </p:spPr>
        <p:txBody>
          <a:bodyPr wrap="none" rtlCol="0">
            <a:spAutoFit/>
          </a:bodyPr>
          <a:lstStyle/>
          <a:p>
            <a:r>
              <a:rPr lang="en-US" b="1" dirty="0"/>
              <a:t>MEHRAN</a:t>
            </a:r>
            <a:endParaRPr lang="en-PK" b="1" dirty="0"/>
          </a:p>
        </p:txBody>
      </p:sp>
      <p:cxnSp>
        <p:nvCxnSpPr>
          <p:cNvPr id="8" name="Straight Arrow Connector 7">
            <a:extLst>
              <a:ext uri="{FF2B5EF4-FFF2-40B4-BE49-F238E27FC236}">
                <a16:creationId xmlns="" xmlns:a16="http://schemas.microsoft.com/office/drawing/2014/main" id="{57CB548B-D0BA-468F-8088-050BB81138ED}"/>
              </a:ext>
            </a:extLst>
          </p:cNvPr>
          <p:cNvCxnSpPr>
            <a:stCxn id="6" idx="3"/>
          </p:cNvCxnSpPr>
          <p:nvPr/>
        </p:nvCxnSpPr>
        <p:spPr>
          <a:xfrm>
            <a:off x="1747038" y="5091946"/>
            <a:ext cx="76248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 xmlns:a16="http://schemas.microsoft.com/office/drawing/2014/main" id="{7DA849A9-F259-4D1A-BB85-A03992D5A370}"/>
              </a:ext>
            </a:extLst>
          </p:cNvPr>
          <p:cNvSpPr txBox="1"/>
          <p:nvPr/>
        </p:nvSpPr>
        <p:spPr>
          <a:xfrm>
            <a:off x="2554999" y="4907280"/>
            <a:ext cx="1066318" cy="369332"/>
          </a:xfrm>
          <a:prstGeom prst="rect">
            <a:avLst/>
          </a:prstGeom>
          <a:noFill/>
        </p:spPr>
        <p:txBody>
          <a:bodyPr wrap="none" rtlCol="0">
            <a:spAutoFit/>
          </a:bodyPr>
          <a:lstStyle/>
          <a:p>
            <a:r>
              <a:rPr lang="en-US" b="1" dirty="0"/>
              <a:t>AEHMNR</a:t>
            </a:r>
            <a:endParaRPr lang="en-PK" b="1" dirty="0"/>
          </a:p>
        </p:txBody>
      </p:sp>
      <p:pic>
        <p:nvPicPr>
          <p:cNvPr id="7" name="Picture 6">
            <a:extLst>
              <a:ext uri="{FF2B5EF4-FFF2-40B4-BE49-F238E27FC236}">
                <a16:creationId xmlns="" xmlns:a16="http://schemas.microsoft.com/office/drawing/2014/main" id="{07BB4AAB-B694-367B-2028-12A270BBF3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1588" y="4291582"/>
            <a:ext cx="6574367" cy="1970059"/>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5128" y="2334780"/>
            <a:ext cx="2767894" cy="2057401"/>
          </a:xfrm>
          <a:prstGeom prst="rect">
            <a:avLst/>
          </a:prstGeom>
        </p:spPr>
      </p:pic>
    </p:spTree>
    <p:extLst>
      <p:ext uri="{BB962C8B-B14F-4D97-AF65-F5344CB8AC3E}">
        <p14:creationId xmlns:p14="http://schemas.microsoft.com/office/powerpoint/2010/main" val="367716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1000" fill="hold"/>
                                        <p:tgtEl>
                                          <p:spTgt spid="6"/>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1000" fill="hold"/>
                                        <p:tgtEl>
                                          <p:spTgt spid="8"/>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EEE717-807C-4B18-9BE6-620E1DCFCBE0}"/>
              </a:ext>
            </a:extLst>
          </p:cNvPr>
          <p:cNvSpPr>
            <a:spLocks noGrp="1"/>
          </p:cNvSpPr>
          <p:nvPr>
            <p:ph type="title"/>
          </p:nvPr>
        </p:nvSpPr>
        <p:spPr>
          <a:xfrm>
            <a:off x="393031" y="503445"/>
            <a:ext cx="10515600" cy="355183"/>
          </a:xfrm>
        </p:spPr>
        <p:txBody>
          <a:bodyPr>
            <a:noAutofit/>
          </a:bodyPr>
          <a:lstStyle/>
          <a:p>
            <a:r>
              <a:rPr lang="en-US" sz="3200" b="1" dirty="0">
                <a:solidFill>
                  <a:schemeClr val="accent1">
                    <a:lumMod val="50000"/>
                  </a:schemeClr>
                </a:solidFill>
                <a:latin typeface="+mn-lt"/>
              </a:rPr>
              <a:t>Why we use Sorting?</a:t>
            </a:r>
            <a:endParaRPr lang="en-PK" sz="3200" b="1" dirty="0">
              <a:solidFill>
                <a:schemeClr val="accent1">
                  <a:lumMod val="50000"/>
                </a:schemeClr>
              </a:solidFill>
              <a:latin typeface="+mn-lt"/>
            </a:endParaRPr>
          </a:p>
        </p:txBody>
      </p:sp>
      <p:sp>
        <p:nvSpPr>
          <p:cNvPr id="3" name="Footer Placeholder 2">
            <a:extLst>
              <a:ext uri="{FF2B5EF4-FFF2-40B4-BE49-F238E27FC236}">
                <a16:creationId xmlns="" xmlns:a16="http://schemas.microsoft.com/office/drawing/2014/main" id="{7E98FC01-6C8C-87A3-4E1D-A4373BA60291}"/>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endParaRPr lang="en-PK" b="1" dirty="0">
              <a:solidFill>
                <a:schemeClr val="accent1"/>
              </a:solidFill>
            </a:endParaRPr>
          </a:p>
        </p:txBody>
      </p:sp>
      <p:sp>
        <p:nvSpPr>
          <p:cNvPr id="6" name="TextBox 5">
            <a:extLst>
              <a:ext uri="{FF2B5EF4-FFF2-40B4-BE49-F238E27FC236}">
                <a16:creationId xmlns="" xmlns:a16="http://schemas.microsoft.com/office/drawing/2014/main" id="{86CC88D7-5C07-4C00-993B-875BE37DFE4E}"/>
              </a:ext>
            </a:extLst>
          </p:cNvPr>
          <p:cNvSpPr txBox="1"/>
          <p:nvPr/>
        </p:nvSpPr>
        <p:spPr>
          <a:xfrm>
            <a:off x="574508" y="1258984"/>
            <a:ext cx="10711114" cy="1122743"/>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solidFill>
                  <a:srgbClr val="231F20"/>
                </a:solidFill>
                <a:effectLst/>
              </a:rPr>
              <a:t>Sorting a list of items can take a long time, especially if it is a large list. A computer </a:t>
            </a:r>
            <a:r>
              <a:rPr lang="en-US" b="1" i="0" dirty="0">
                <a:solidFill>
                  <a:srgbClr val="231F20"/>
                </a:solidFill>
                <a:effectLst/>
              </a:rPr>
              <a:t>program</a:t>
            </a:r>
            <a:r>
              <a:rPr lang="en-US" b="0" i="0" dirty="0">
                <a:solidFill>
                  <a:srgbClr val="231F20"/>
                </a:solidFill>
                <a:effectLst/>
              </a:rPr>
              <a:t> can be created to do this, making sorting a list of data much easier.</a:t>
            </a:r>
            <a:endParaRPr lang="en-PK" dirty="0"/>
          </a:p>
        </p:txBody>
      </p:sp>
      <p:sp>
        <p:nvSpPr>
          <p:cNvPr id="8" name="TextBox 7">
            <a:extLst>
              <a:ext uri="{FF2B5EF4-FFF2-40B4-BE49-F238E27FC236}">
                <a16:creationId xmlns="" xmlns:a16="http://schemas.microsoft.com/office/drawing/2014/main" id="{C5902FDA-3721-45B6-905B-3D549F38E12E}"/>
              </a:ext>
            </a:extLst>
          </p:cNvPr>
          <p:cNvSpPr txBox="1"/>
          <p:nvPr/>
        </p:nvSpPr>
        <p:spPr>
          <a:xfrm>
            <a:off x="393031" y="2672382"/>
            <a:ext cx="11605460" cy="2230739"/>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PK" sz="1800" dirty="0">
                <a:solidFill>
                  <a:srgbClr val="333333"/>
                </a:solidFill>
                <a:effectLst/>
                <a:ea typeface="Calibri" panose="020F0502020204030204" pitchFamily="34" charset="0"/>
              </a:rPr>
              <a:t>There are so many things in our real life that we need to search for, like a particular record in database, roll numbers in merit list, a particular telephone number in telephone directory, a particular page in a book etc. All this would have been a mess if the data was kept unordered and unsorted, but fortunately the concept of </a:t>
            </a:r>
            <a:r>
              <a:rPr lang="en-PK" sz="1800" b="1" dirty="0">
                <a:solidFill>
                  <a:srgbClr val="333333"/>
                </a:solidFill>
                <a:effectLst/>
                <a:ea typeface="Calibri" panose="020F0502020204030204" pitchFamily="34" charset="0"/>
              </a:rPr>
              <a:t>sorting</a:t>
            </a:r>
            <a:r>
              <a:rPr lang="en-PK" sz="1800" dirty="0">
                <a:solidFill>
                  <a:srgbClr val="333333"/>
                </a:solidFill>
                <a:effectLst/>
                <a:ea typeface="Calibri" panose="020F0502020204030204" pitchFamily="34" charset="0"/>
              </a:rPr>
              <a:t> came into existence, making it easier for everyone to arrange data in an order, hence making it easier to search</a:t>
            </a:r>
            <a:endParaRPr lang="en-PK" dirty="0"/>
          </a:p>
        </p:txBody>
      </p:sp>
      <p:pic>
        <p:nvPicPr>
          <p:cNvPr id="7" name="Picture 6">
            <a:extLst>
              <a:ext uri="{FF2B5EF4-FFF2-40B4-BE49-F238E27FC236}">
                <a16:creationId xmlns="" xmlns:a16="http://schemas.microsoft.com/office/drawing/2014/main" id="{A6943510-7F82-CE92-7049-327FBE61BD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176163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EEE717-807C-4B18-9BE6-620E1DCFCBE0}"/>
              </a:ext>
            </a:extLst>
          </p:cNvPr>
          <p:cNvSpPr>
            <a:spLocks noGrp="1"/>
          </p:cNvSpPr>
          <p:nvPr>
            <p:ph type="title"/>
          </p:nvPr>
        </p:nvSpPr>
        <p:spPr>
          <a:xfrm>
            <a:off x="393031" y="503445"/>
            <a:ext cx="10515600" cy="355183"/>
          </a:xfrm>
        </p:spPr>
        <p:txBody>
          <a:bodyPr>
            <a:noAutofit/>
          </a:bodyPr>
          <a:lstStyle/>
          <a:p>
            <a:r>
              <a:rPr lang="en-US" sz="3200" b="1" dirty="0">
                <a:solidFill>
                  <a:schemeClr val="accent1">
                    <a:lumMod val="50000"/>
                  </a:schemeClr>
                </a:solidFill>
                <a:latin typeface="+mn-lt"/>
              </a:rPr>
              <a:t>Why we use Sorting?</a:t>
            </a:r>
            <a:endParaRPr lang="en-PK" sz="3200" b="1" dirty="0">
              <a:solidFill>
                <a:schemeClr val="accent1">
                  <a:lumMod val="50000"/>
                </a:schemeClr>
              </a:solidFill>
              <a:latin typeface="+mn-lt"/>
            </a:endParaRPr>
          </a:p>
        </p:txBody>
      </p:sp>
      <p:sp>
        <p:nvSpPr>
          <p:cNvPr id="3" name="Footer Placeholder 2">
            <a:extLst>
              <a:ext uri="{FF2B5EF4-FFF2-40B4-BE49-F238E27FC236}">
                <a16:creationId xmlns="" xmlns:a16="http://schemas.microsoft.com/office/drawing/2014/main" id="{7E98FC01-6C8C-87A3-4E1D-A4373BA60291}"/>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endParaRPr lang="en-PK" b="1" dirty="0">
              <a:solidFill>
                <a:schemeClr val="accent1"/>
              </a:solidFill>
            </a:endParaRPr>
          </a:p>
        </p:txBody>
      </p:sp>
      <p:pic>
        <p:nvPicPr>
          <p:cNvPr id="7" name="Picture 6">
            <a:extLst>
              <a:ext uri="{FF2B5EF4-FFF2-40B4-BE49-F238E27FC236}">
                <a16:creationId xmlns="" xmlns:a16="http://schemas.microsoft.com/office/drawing/2014/main" id="{A6943510-7F82-CE92-7049-327FBE61BD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6820" y="1433688"/>
            <a:ext cx="6775845" cy="4517230"/>
          </a:xfrm>
          <a:prstGeom prst="rect">
            <a:avLst/>
          </a:prstGeom>
        </p:spPr>
      </p:pic>
    </p:spTree>
    <p:extLst>
      <p:ext uri="{BB962C8B-B14F-4D97-AF65-F5344CB8AC3E}">
        <p14:creationId xmlns:p14="http://schemas.microsoft.com/office/powerpoint/2010/main" val="21312136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EEE717-807C-4B18-9BE6-620E1DCFCBE0}"/>
              </a:ext>
            </a:extLst>
          </p:cNvPr>
          <p:cNvSpPr>
            <a:spLocks noGrp="1"/>
          </p:cNvSpPr>
          <p:nvPr>
            <p:ph type="title"/>
          </p:nvPr>
        </p:nvSpPr>
        <p:spPr>
          <a:xfrm>
            <a:off x="393031" y="503445"/>
            <a:ext cx="10515600" cy="355183"/>
          </a:xfrm>
        </p:spPr>
        <p:txBody>
          <a:bodyPr>
            <a:noAutofit/>
          </a:bodyPr>
          <a:lstStyle/>
          <a:p>
            <a:r>
              <a:rPr lang="en-GB" sz="3200" dirty="0"/>
              <a:t>Key reasons why sorting is important:</a:t>
            </a:r>
            <a:endParaRPr lang="en-PK" sz="3200" b="1" dirty="0">
              <a:solidFill>
                <a:schemeClr val="accent1">
                  <a:lumMod val="50000"/>
                </a:schemeClr>
              </a:solidFill>
              <a:latin typeface="+mn-lt"/>
            </a:endParaRPr>
          </a:p>
        </p:txBody>
      </p:sp>
      <p:sp>
        <p:nvSpPr>
          <p:cNvPr id="3" name="Footer Placeholder 2">
            <a:extLst>
              <a:ext uri="{FF2B5EF4-FFF2-40B4-BE49-F238E27FC236}">
                <a16:creationId xmlns="" xmlns:a16="http://schemas.microsoft.com/office/drawing/2014/main" id="{7E98FC01-6C8C-87A3-4E1D-A4373BA60291}"/>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endParaRPr lang="en-PK" b="1" dirty="0">
              <a:solidFill>
                <a:schemeClr val="accent1"/>
              </a:solidFill>
            </a:endParaRPr>
          </a:p>
        </p:txBody>
      </p:sp>
      <p:sp>
        <p:nvSpPr>
          <p:cNvPr id="6" name="TextBox 5">
            <a:extLst>
              <a:ext uri="{FF2B5EF4-FFF2-40B4-BE49-F238E27FC236}">
                <a16:creationId xmlns="" xmlns:a16="http://schemas.microsoft.com/office/drawing/2014/main" id="{86CC88D7-5C07-4C00-993B-875BE37DFE4E}"/>
              </a:ext>
            </a:extLst>
          </p:cNvPr>
          <p:cNvSpPr txBox="1"/>
          <p:nvPr/>
        </p:nvSpPr>
        <p:spPr>
          <a:xfrm>
            <a:off x="574508" y="1258984"/>
            <a:ext cx="11617492" cy="4524315"/>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GB" b="1" dirty="0">
                <a:solidFill>
                  <a:srgbClr val="231F20"/>
                </a:solidFill>
              </a:rPr>
              <a:t>Facilitates comparisons: </a:t>
            </a:r>
            <a:r>
              <a:rPr lang="en-GB" dirty="0">
                <a:solidFill>
                  <a:srgbClr val="231F20"/>
                </a:solidFill>
              </a:rPr>
              <a:t>Sorting helps determine the order of items, making it easier to compare and process </a:t>
            </a:r>
            <a:r>
              <a:rPr lang="en-GB" dirty="0" smtClean="0">
                <a:solidFill>
                  <a:srgbClr val="231F20"/>
                </a:solidFill>
              </a:rPr>
              <a:t>them</a:t>
            </a:r>
          </a:p>
          <a:p>
            <a:pPr marL="285750" indent="-285750" algn="just">
              <a:lnSpc>
                <a:spcPct val="200000"/>
              </a:lnSpc>
              <a:buFont typeface="Arial" panose="020B0604020202020204" pitchFamily="34" charset="0"/>
              <a:buChar char="•"/>
            </a:pPr>
            <a:r>
              <a:rPr lang="en-GB" b="1" dirty="0" smtClean="0"/>
              <a:t>Improved </a:t>
            </a:r>
            <a:r>
              <a:rPr lang="en-GB" b="1" dirty="0"/>
              <a:t>search efficiency: </a:t>
            </a:r>
            <a:r>
              <a:rPr lang="en-GB" dirty="0"/>
              <a:t>Searching for an item in a sorted list is significantly faster, especially for large datasets. Algorithms like binary search rely on sorted data to work efficiently, reducing the number of comparisons needed from \(O(n)\) to \(O(\log n)\). </a:t>
            </a:r>
            <a:endParaRPr lang="en-GB" dirty="0" smtClean="0"/>
          </a:p>
          <a:p>
            <a:pPr marL="285750" indent="-285750" algn="just">
              <a:lnSpc>
                <a:spcPct val="200000"/>
              </a:lnSpc>
              <a:buFont typeface="Arial" panose="020B0604020202020204" pitchFamily="34" charset="0"/>
              <a:buChar char="•"/>
            </a:pPr>
            <a:r>
              <a:rPr lang="en-GB" b="1" dirty="0"/>
              <a:t>Enhanced data processing: </a:t>
            </a:r>
            <a:r>
              <a:rPr lang="en-GB" dirty="0"/>
              <a:t>Sorting can optimize other data processing tasks. For example, sorting large datasets can speed up queries, filtering, and aggregations. </a:t>
            </a:r>
          </a:p>
          <a:p>
            <a:pPr marL="285750" indent="-285750" algn="just">
              <a:lnSpc>
                <a:spcPct val="200000"/>
              </a:lnSpc>
              <a:buFont typeface="Arial" panose="020B0604020202020204" pitchFamily="34" charset="0"/>
              <a:buChar char="•"/>
            </a:pPr>
            <a:r>
              <a:rPr lang="en-GB" b="1" dirty="0"/>
              <a:t>Better data analysis and visualization: </a:t>
            </a:r>
            <a:r>
              <a:rPr lang="en-GB" dirty="0"/>
              <a:t>Sorted data makes it easier to identify patterns, trends, and outliers, which is vital for data analysis, reporting, and visualization</a:t>
            </a:r>
            <a:endParaRPr lang="en-PK" dirty="0"/>
          </a:p>
        </p:txBody>
      </p:sp>
      <p:pic>
        <p:nvPicPr>
          <p:cNvPr id="7" name="Picture 6">
            <a:extLst>
              <a:ext uri="{FF2B5EF4-FFF2-40B4-BE49-F238E27FC236}">
                <a16:creationId xmlns="" xmlns:a16="http://schemas.microsoft.com/office/drawing/2014/main" id="{A6943510-7F82-CE92-7049-327FBE61BD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173075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F15EE4C4-AC64-4505-A62F-DC1A94DBF613}"/>
              </a:ext>
            </a:extLst>
          </p:cNvPr>
          <p:cNvSpPr txBox="1"/>
          <p:nvPr/>
        </p:nvSpPr>
        <p:spPr>
          <a:xfrm>
            <a:off x="382001" y="257883"/>
            <a:ext cx="9471861" cy="532903"/>
          </a:xfrm>
          <a:prstGeom prst="rect">
            <a:avLst/>
          </a:prstGeom>
          <a:noFill/>
        </p:spPr>
        <p:txBody>
          <a:bodyPr wrap="square">
            <a:spAutoFit/>
          </a:bodyPr>
          <a:lstStyle/>
          <a:p>
            <a:pPr marL="0" marR="0">
              <a:lnSpc>
                <a:spcPct val="107000"/>
              </a:lnSpc>
              <a:spcBef>
                <a:spcPts val="0"/>
              </a:spcBef>
              <a:spcAft>
                <a:spcPts val="800"/>
              </a:spcAft>
            </a:pPr>
            <a:r>
              <a:rPr lang="en-US" sz="2800" b="1" dirty="0">
                <a:solidFill>
                  <a:schemeClr val="accent1">
                    <a:lumMod val="50000"/>
                  </a:schemeClr>
                </a:solidFill>
                <a:effectLst/>
                <a:ea typeface="Calibri" panose="020F0502020204030204" pitchFamily="34" charset="0"/>
                <a:cs typeface="Arial" panose="020B0604020202020204" pitchFamily="34" charset="0"/>
              </a:rPr>
              <a:t>Analysis Criteria for Sorting Algorithm?</a:t>
            </a:r>
            <a:endParaRPr lang="en-PK" sz="1200" b="1" dirty="0">
              <a:solidFill>
                <a:schemeClr val="accent1">
                  <a:lumMod val="50000"/>
                </a:schemeClr>
              </a:solidFill>
              <a:effectLst/>
              <a:ea typeface="Calibri" panose="020F0502020204030204" pitchFamily="34" charset="0"/>
              <a:cs typeface="Arial" panose="020B0604020202020204" pitchFamily="34" charset="0"/>
            </a:endParaRPr>
          </a:p>
        </p:txBody>
      </p:sp>
      <p:sp>
        <p:nvSpPr>
          <p:cNvPr id="6" name="TextBox 5">
            <a:extLst>
              <a:ext uri="{FF2B5EF4-FFF2-40B4-BE49-F238E27FC236}">
                <a16:creationId xmlns="" xmlns:a16="http://schemas.microsoft.com/office/drawing/2014/main" id="{A8383871-4A67-4037-BE48-AE02F7DF125D}"/>
              </a:ext>
            </a:extLst>
          </p:cNvPr>
          <p:cNvSpPr txBox="1"/>
          <p:nvPr/>
        </p:nvSpPr>
        <p:spPr>
          <a:xfrm>
            <a:off x="568492" y="1259396"/>
            <a:ext cx="6093994" cy="369332"/>
          </a:xfrm>
          <a:prstGeom prst="rect">
            <a:avLst/>
          </a:prstGeom>
          <a:noFill/>
        </p:spPr>
        <p:txBody>
          <a:bodyPr wrap="square">
            <a:spAutoFit/>
          </a:bodyPr>
          <a:lstStyle/>
          <a:p>
            <a:r>
              <a:rPr lang="en-US" sz="1800" b="1" dirty="0">
                <a:solidFill>
                  <a:srgbClr val="000000"/>
                </a:solidFill>
                <a:effectLst/>
                <a:latin typeface="Calibri" panose="020F0502020204030204" pitchFamily="34" charset="0"/>
                <a:ea typeface="Calibri" panose="020F0502020204030204" pitchFamily="34" charset="0"/>
              </a:rPr>
              <a:t>1.  Time complexity:</a:t>
            </a:r>
            <a:endParaRPr lang="en-PK" dirty="0"/>
          </a:p>
        </p:txBody>
      </p:sp>
      <p:sp>
        <p:nvSpPr>
          <p:cNvPr id="8" name="TextBox 7">
            <a:extLst>
              <a:ext uri="{FF2B5EF4-FFF2-40B4-BE49-F238E27FC236}">
                <a16:creationId xmlns="" xmlns:a16="http://schemas.microsoft.com/office/drawing/2014/main" id="{3CCE3437-F857-47B2-998E-6CFBC16E12CE}"/>
              </a:ext>
            </a:extLst>
          </p:cNvPr>
          <p:cNvSpPr txBox="1"/>
          <p:nvPr/>
        </p:nvSpPr>
        <p:spPr>
          <a:xfrm>
            <a:off x="2718133" y="1259396"/>
            <a:ext cx="6093994" cy="369332"/>
          </a:xfrm>
          <a:prstGeom prst="rect">
            <a:avLst/>
          </a:prstGeom>
          <a:noFill/>
        </p:spPr>
        <p:txBody>
          <a:bodyPr wrap="square">
            <a:spAutoFit/>
          </a:bodyPr>
          <a:lstStyle/>
          <a:p>
            <a:r>
              <a:rPr lang="en-US" sz="1800" dirty="0">
                <a:solidFill>
                  <a:srgbClr val="000000"/>
                </a:solidFill>
                <a:effectLst/>
                <a:latin typeface="Calibri" panose="020F0502020204030204" pitchFamily="34" charset="0"/>
                <a:ea typeface="Calibri" panose="020F0502020204030204" pitchFamily="34" charset="0"/>
              </a:rPr>
              <a:t>How fast your algorithm run for large input data?</a:t>
            </a:r>
            <a:endParaRPr lang="en-PK" dirty="0"/>
          </a:p>
        </p:txBody>
      </p:sp>
      <p:sp>
        <p:nvSpPr>
          <p:cNvPr id="12" name="TextBox 11">
            <a:extLst>
              <a:ext uri="{FF2B5EF4-FFF2-40B4-BE49-F238E27FC236}">
                <a16:creationId xmlns="" xmlns:a16="http://schemas.microsoft.com/office/drawing/2014/main" id="{DDE0A69A-890D-41A4-A3A8-93AAC33D8064}"/>
              </a:ext>
            </a:extLst>
          </p:cNvPr>
          <p:cNvSpPr txBox="1"/>
          <p:nvPr/>
        </p:nvSpPr>
        <p:spPr>
          <a:xfrm>
            <a:off x="568492" y="2077195"/>
            <a:ext cx="6093994" cy="369332"/>
          </a:xfrm>
          <a:prstGeom prst="rect">
            <a:avLst/>
          </a:prstGeom>
          <a:noFill/>
        </p:spPr>
        <p:txBody>
          <a:bodyPr wrap="square">
            <a:spAutoFit/>
          </a:bodyPr>
          <a:lstStyle/>
          <a:p>
            <a:r>
              <a:rPr lang="en-US" b="1" dirty="0">
                <a:solidFill>
                  <a:srgbClr val="000000"/>
                </a:solidFill>
                <a:latin typeface="Calibri" panose="020F0502020204030204" pitchFamily="34" charset="0"/>
                <a:ea typeface="Calibri" panose="020F0502020204030204" pitchFamily="34" charset="0"/>
              </a:rPr>
              <a:t>2. </a:t>
            </a:r>
            <a:r>
              <a:rPr lang="en-US" sz="1800" b="1" dirty="0">
                <a:solidFill>
                  <a:srgbClr val="000000"/>
                </a:solidFill>
                <a:effectLst/>
                <a:latin typeface="Calibri" panose="020F0502020204030204" pitchFamily="34" charset="0"/>
                <a:ea typeface="Calibri" panose="020F0502020204030204" pitchFamily="34" charset="0"/>
              </a:rPr>
              <a:t> Space complexity:</a:t>
            </a:r>
            <a:endParaRPr lang="en-PK" dirty="0"/>
          </a:p>
        </p:txBody>
      </p:sp>
      <p:sp>
        <p:nvSpPr>
          <p:cNvPr id="14" name="TextBox 13">
            <a:extLst>
              <a:ext uri="{FF2B5EF4-FFF2-40B4-BE49-F238E27FC236}">
                <a16:creationId xmlns="" xmlns:a16="http://schemas.microsoft.com/office/drawing/2014/main" id="{AB48EE3F-F7FD-4611-8CE6-F61FEF0AF82B}"/>
              </a:ext>
            </a:extLst>
          </p:cNvPr>
          <p:cNvSpPr txBox="1"/>
          <p:nvPr/>
        </p:nvSpPr>
        <p:spPr>
          <a:xfrm>
            <a:off x="2718133" y="2077195"/>
            <a:ext cx="6093994" cy="369332"/>
          </a:xfrm>
          <a:prstGeom prst="rect">
            <a:avLst/>
          </a:prstGeom>
          <a:noFill/>
        </p:spPr>
        <p:txBody>
          <a:bodyPr wrap="square">
            <a:spAutoFit/>
          </a:bodyPr>
          <a:lstStyle/>
          <a:p>
            <a:r>
              <a:rPr lang="en-US" sz="1800" dirty="0">
                <a:solidFill>
                  <a:srgbClr val="000000"/>
                </a:solidFill>
                <a:effectLst/>
                <a:latin typeface="Calibri" panose="020F0502020204030204" pitchFamily="34" charset="0"/>
                <a:ea typeface="Calibri" panose="020F0502020204030204" pitchFamily="34" charset="0"/>
              </a:rPr>
              <a:t>Is your algorithm taking large space for large inputs?</a:t>
            </a:r>
            <a:endParaRPr lang="en-PK" dirty="0"/>
          </a:p>
        </p:txBody>
      </p:sp>
      <p:sp>
        <p:nvSpPr>
          <p:cNvPr id="19" name="TextBox 18">
            <a:extLst>
              <a:ext uri="{FF2B5EF4-FFF2-40B4-BE49-F238E27FC236}">
                <a16:creationId xmlns="" xmlns:a16="http://schemas.microsoft.com/office/drawing/2014/main" id="{C6EAFF85-E304-47ED-BF6F-E271F3260F8A}"/>
              </a:ext>
            </a:extLst>
          </p:cNvPr>
          <p:cNvSpPr txBox="1"/>
          <p:nvPr/>
        </p:nvSpPr>
        <p:spPr>
          <a:xfrm>
            <a:off x="568492" y="2627273"/>
            <a:ext cx="11102140" cy="3373359"/>
          </a:xfrm>
          <a:prstGeom prst="rect">
            <a:avLst/>
          </a:prstGeom>
          <a:noFill/>
        </p:spPr>
        <p:txBody>
          <a:bodyPr wrap="square">
            <a:spAutoFit/>
          </a:bodyPr>
          <a:lstStyle/>
          <a:p>
            <a:pPr>
              <a:lnSpc>
                <a:spcPct val="150000"/>
              </a:lnSpc>
            </a:pPr>
            <a:r>
              <a:rPr lang="en-US" b="1" dirty="0"/>
              <a:t>3. </a:t>
            </a:r>
            <a:r>
              <a:rPr lang="en-US" sz="1800" b="1" dirty="0"/>
              <a:t>In- Place Sorting:</a:t>
            </a:r>
          </a:p>
          <a:p>
            <a:pPr marL="742950" lvl="1" indent="-285750">
              <a:lnSpc>
                <a:spcPct val="150000"/>
              </a:lnSpc>
              <a:buFont typeface="Arial" panose="020B0604020202020204" pitchFamily="34" charset="0"/>
              <a:buChar char="•"/>
            </a:pPr>
            <a:r>
              <a:rPr lang="en-US" sz="1800" b="0" i="0" dirty="0">
                <a:effectLst/>
              </a:rPr>
              <a:t>An in-place sorting algorithm uses </a:t>
            </a:r>
            <a:r>
              <a:rPr lang="en-US" sz="1800" b="1" i="1" dirty="0">
                <a:effectLst/>
              </a:rPr>
              <a:t>constant extra space for producing the output</a:t>
            </a:r>
            <a:r>
              <a:rPr lang="en-US" sz="1800" b="0" i="0" dirty="0">
                <a:effectLst/>
              </a:rPr>
              <a:t> (modifies the given array only). </a:t>
            </a:r>
          </a:p>
          <a:p>
            <a:pPr marL="742950" lvl="1" indent="-285750">
              <a:lnSpc>
                <a:spcPct val="150000"/>
              </a:lnSpc>
              <a:buFont typeface="Arial" panose="020B0604020202020204" pitchFamily="34" charset="0"/>
              <a:buChar char="•"/>
            </a:pPr>
            <a:r>
              <a:rPr lang="en-US" sz="1800" b="0" i="0" dirty="0">
                <a:effectLst/>
              </a:rPr>
              <a:t>It mostly works only for rearranging values.</a:t>
            </a:r>
          </a:p>
          <a:p>
            <a:pPr marL="742950" lvl="1" indent="-285750">
              <a:lnSpc>
                <a:spcPct val="150000"/>
              </a:lnSpc>
              <a:buFont typeface="Arial" panose="020B0604020202020204" pitchFamily="34" charset="0"/>
              <a:buChar char="•"/>
            </a:pPr>
            <a:r>
              <a:rPr lang="en-US" sz="1800" dirty="0"/>
              <a:t>Do not use extra memory space.</a:t>
            </a:r>
          </a:p>
          <a:p>
            <a:pPr marL="742950" lvl="1" indent="-285750">
              <a:lnSpc>
                <a:spcPct val="150000"/>
              </a:lnSpc>
              <a:buFont typeface="Arial" panose="020B0604020202020204" pitchFamily="34" charset="0"/>
              <a:buChar char="•"/>
            </a:pPr>
            <a:r>
              <a:rPr lang="en-US" sz="1800" dirty="0"/>
              <a:t>If the memory size grows for input then its no in place sorting algorithm.</a:t>
            </a:r>
          </a:p>
          <a:p>
            <a:pPr marL="742950" lvl="1" indent="-285750">
              <a:lnSpc>
                <a:spcPct val="150000"/>
              </a:lnSpc>
              <a:buFont typeface="Arial" panose="020B0604020202020204" pitchFamily="34" charset="0"/>
              <a:buChar char="•"/>
            </a:pPr>
            <a:r>
              <a:rPr lang="en-US" sz="1800" dirty="0"/>
              <a:t>Constant Memory use.</a:t>
            </a:r>
          </a:p>
          <a:p>
            <a:pPr>
              <a:lnSpc>
                <a:spcPct val="150000"/>
              </a:lnSpc>
            </a:pPr>
            <a:r>
              <a:rPr lang="en-US" sz="1800" dirty="0"/>
              <a:t>	</a:t>
            </a:r>
            <a:r>
              <a:rPr lang="en-US" sz="1800" b="1" i="1" dirty="0"/>
              <a:t>Example:</a:t>
            </a:r>
            <a:r>
              <a:rPr lang="en-US" sz="1800" dirty="0"/>
              <a:t> Insertion Sort and Selection Sort Algorithm. </a:t>
            </a:r>
          </a:p>
        </p:txBody>
      </p:sp>
      <p:sp>
        <p:nvSpPr>
          <p:cNvPr id="2" name="Footer Placeholder 2">
            <a:extLst>
              <a:ext uri="{FF2B5EF4-FFF2-40B4-BE49-F238E27FC236}">
                <a16:creationId xmlns="" xmlns:a16="http://schemas.microsoft.com/office/drawing/2014/main" id="{56A993AD-AE8B-A3BD-4A67-2C242191BB9B}"/>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endParaRPr lang="en-PK" b="1" dirty="0">
              <a:solidFill>
                <a:schemeClr val="accent1"/>
              </a:solidFill>
            </a:endParaRPr>
          </a:p>
        </p:txBody>
      </p:sp>
      <p:pic>
        <p:nvPicPr>
          <p:cNvPr id="3" name="Picture 2">
            <a:extLst>
              <a:ext uri="{FF2B5EF4-FFF2-40B4-BE49-F238E27FC236}">
                <a16:creationId xmlns="" xmlns:a16="http://schemas.microsoft.com/office/drawing/2014/main" id="{D73015B0-B7DA-A51E-C88E-039ED196BD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10177085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ublic Relations, MUET, SZAB Campus Khairpur Mir's - College &amp; University |  Facebook - 9,847 Photos">
            <a:extLst>
              <a:ext uri="{FF2B5EF4-FFF2-40B4-BE49-F238E27FC236}">
                <a16:creationId xmlns="" xmlns:a16="http://schemas.microsoft.com/office/drawing/2014/main" id="{200ED6BE-D210-4050-B761-D298B0306B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08642" y="7429"/>
            <a:ext cx="783357" cy="7833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 xmlns:a16="http://schemas.microsoft.com/office/drawing/2014/main" id="{2B1C47BF-20B6-47BE-89FA-E6E91A090948}"/>
              </a:ext>
            </a:extLst>
          </p:cNvPr>
          <p:cNvSpPr txBox="1"/>
          <p:nvPr/>
        </p:nvSpPr>
        <p:spPr>
          <a:xfrm>
            <a:off x="382001" y="257883"/>
            <a:ext cx="9471861" cy="532903"/>
          </a:xfrm>
          <a:prstGeom prst="rect">
            <a:avLst/>
          </a:prstGeom>
          <a:noFill/>
        </p:spPr>
        <p:txBody>
          <a:bodyPr wrap="square">
            <a:spAutoFit/>
          </a:bodyPr>
          <a:lstStyle/>
          <a:p>
            <a:pPr marL="0" marR="0">
              <a:lnSpc>
                <a:spcPct val="107000"/>
              </a:lnSpc>
              <a:spcBef>
                <a:spcPts val="0"/>
              </a:spcBef>
              <a:spcAft>
                <a:spcPts val="800"/>
              </a:spcAft>
            </a:pPr>
            <a:r>
              <a:rPr lang="en-US" sz="2800" b="1" dirty="0">
                <a:solidFill>
                  <a:schemeClr val="accent1">
                    <a:lumMod val="50000"/>
                  </a:schemeClr>
                </a:solidFill>
                <a:effectLst/>
                <a:ea typeface="Calibri" panose="020F0502020204030204" pitchFamily="34" charset="0"/>
                <a:cs typeface="Arial" panose="020B0604020202020204" pitchFamily="34" charset="0"/>
              </a:rPr>
              <a:t>Analysis Criteria for Sorting Algorithm?</a:t>
            </a:r>
            <a:endParaRPr lang="en-PK" sz="1200" b="1" dirty="0">
              <a:solidFill>
                <a:schemeClr val="accent1">
                  <a:lumMod val="50000"/>
                </a:schemeClr>
              </a:solidFill>
              <a:effectLst/>
              <a:ea typeface="Calibri" panose="020F0502020204030204" pitchFamily="34" charset="0"/>
              <a:cs typeface="Arial" panose="020B0604020202020204" pitchFamily="34" charset="0"/>
            </a:endParaRPr>
          </a:p>
        </p:txBody>
      </p:sp>
      <p:sp>
        <p:nvSpPr>
          <p:cNvPr id="9" name="Content Placeholder 2">
            <a:extLst>
              <a:ext uri="{FF2B5EF4-FFF2-40B4-BE49-F238E27FC236}">
                <a16:creationId xmlns="" xmlns:a16="http://schemas.microsoft.com/office/drawing/2014/main" id="{8CD331DB-7A88-4A67-9843-0715B7CA0A4F}"/>
              </a:ext>
            </a:extLst>
          </p:cNvPr>
          <p:cNvSpPr>
            <a:spLocks noGrp="1"/>
          </p:cNvSpPr>
          <p:nvPr>
            <p:ph idx="1"/>
          </p:nvPr>
        </p:nvSpPr>
        <p:spPr>
          <a:xfrm>
            <a:off x="568491" y="790786"/>
            <a:ext cx="10536655" cy="5768695"/>
          </a:xfrm>
        </p:spPr>
        <p:txBody>
          <a:bodyPr>
            <a:normAutofit/>
          </a:bodyPr>
          <a:lstStyle/>
          <a:p>
            <a:pPr marL="0" indent="0">
              <a:lnSpc>
                <a:spcPct val="150000"/>
              </a:lnSpc>
              <a:buNone/>
            </a:pPr>
            <a:r>
              <a:rPr lang="en-US" sz="1800" b="1" dirty="0"/>
              <a:t>4. External Sorting</a:t>
            </a:r>
          </a:p>
          <a:p>
            <a:pPr lvl="1">
              <a:lnSpc>
                <a:spcPct val="150000"/>
              </a:lnSpc>
            </a:pPr>
            <a:r>
              <a:rPr lang="en-US" sz="1800" dirty="0"/>
              <a:t>When </a:t>
            </a:r>
            <a:r>
              <a:rPr lang="en-PK" sz="1800" spc="-10" dirty="0">
                <a:solidFill>
                  <a:srgbClr val="000000"/>
                </a:solidFill>
                <a:effectLst/>
                <a:ea typeface="Calibri" panose="020F0502020204030204" pitchFamily="34" charset="0"/>
              </a:rPr>
              <a:t>all data that needs to be sorted cannot be placed in-memory at a time</a:t>
            </a:r>
            <a:endParaRPr lang="en-US" sz="1800" spc="-10" dirty="0">
              <a:solidFill>
                <a:srgbClr val="000000"/>
              </a:solidFill>
              <a:effectLst/>
              <a:ea typeface="Calibri" panose="020F0502020204030204" pitchFamily="34" charset="0"/>
            </a:endParaRPr>
          </a:p>
          <a:p>
            <a:pPr lvl="1">
              <a:lnSpc>
                <a:spcPct val="150000"/>
              </a:lnSpc>
            </a:pPr>
            <a:r>
              <a:rPr lang="en-US" sz="1800" spc="-10" dirty="0">
                <a:solidFill>
                  <a:srgbClr val="000000"/>
                </a:solidFill>
              </a:rPr>
              <a:t>Example: Merge Sort and its variations are typically used for external sorting.</a:t>
            </a:r>
          </a:p>
          <a:p>
            <a:pPr lvl="1">
              <a:lnSpc>
                <a:spcPct val="150000"/>
              </a:lnSpc>
            </a:pPr>
            <a:r>
              <a:rPr lang="en-US" sz="1800" dirty="0"/>
              <a:t>Some external storage like hard-dis, CD, </a:t>
            </a:r>
            <a:r>
              <a:rPr lang="en-US" sz="1800" dirty="0" err="1"/>
              <a:t>etc</a:t>
            </a:r>
            <a:r>
              <a:rPr lang="en-US" sz="1800" dirty="0"/>
              <a:t> is used for external storage.</a:t>
            </a:r>
          </a:p>
          <a:p>
            <a:pPr marL="0" indent="0">
              <a:lnSpc>
                <a:spcPct val="150000"/>
              </a:lnSpc>
              <a:buNone/>
            </a:pPr>
            <a:r>
              <a:rPr lang="en-US" sz="1800" b="1" dirty="0"/>
              <a:t>5. Internal Sorting</a:t>
            </a:r>
          </a:p>
          <a:p>
            <a:pPr lvl="1">
              <a:lnSpc>
                <a:spcPct val="150000"/>
              </a:lnSpc>
            </a:pPr>
            <a:r>
              <a:rPr lang="en-US" sz="1800" dirty="0"/>
              <a:t>All the data is loaded into the memory(RAM).</a:t>
            </a:r>
          </a:p>
        </p:txBody>
      </p:sp>
      <p:sp>
        <p:nvSpPr>
          <p:cNvPr id="3" name="Footer Placeholder 2">
            <a:extLst>
              <a:ext uri="{FF2B5EF4-FFF2-40B4-BE49-F238E27FC236}">
                <a16:creationId xmlns="" xmlns:a16="http://schemas.microsoft.com/office/drawing/2014/main" id="{D9FCAD4F-A558-93B5-F4DD-CEF7AE041879}"/>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endParaRPr lang="en-PK" b="1" dirty="0">
              <a:solidFill>
                <a:schemeClr val="accent1"/>
              </a:solidFill>
            </a:endParaRPr>
          </a:p>
        </p:txBody>
      </p:sp>
      <p:sp>
        <p:nvSpPr>
          <p:cNvPr id="15" name="TextBox 14">
            <a:extLst>
              <a:ext uri="{FF2B5EF4-FFF2-40B4-BE49-F238E27FC236}">
                <a16:creationId xmlns="" xmlns:a16="http://schemas.microsoft.com/office/drawing/2014/main" id="{990E281E-5FF0-46E2-BEC5-4D93C02F857C}"/>
              </a:ext>
            </a:extLst>
          </p:cNvPr>
          <p:cNvSpPr txBox="1"/>
          <p:nvPr/>
        </p:nvSpPr>
        <p:spPr>
          <a:xfrm>
            <a:off x="568491" y="3900056"/>
            <a:ext cx="11499183" cy="2542363"/>
          </a:xfrm>
          <a:prstGeom prst="rect">
            <a:avLst/>
          </a:prstGeom>
          <a:noFill/>
        </p:spPr>
        <p:txBody>
          <a:bodyPr wrap="square">
            <a:spAutoFit/>
          </a:bodyPr>
          <a:lstStyle/>
          <a:p>
            <a:pPr>
              <a:lnSpc>
                <a:spcPct val="150000"/>
              </a:lnSpc>
            </a:pPr>
            <a:r>
              <a:rPr lang="en-US" sz="1800" b="1" dirty="0">
                <a:solidFill>
                  <a:srgbClr val="000000"/>
                </a:solidFill>
                <a:effectLst/>
                <a:latin typeface="Calibri" panose="020F0502020204030204" pitchFamily="34" charset="0"/>
                <a:ea typeface="Calibri" panose="020F0502020204030204" pitchFamily="34" charset="0"/>
              </a:rPr>
              <a:t>6. Stability: </a:t>
            </a:r>
          </a:p>
          <a:p>
            <a:pPr marL="742950" lvl="1" indent="-285750">
              <a:lnSpc>
                <a:spcPct val="150000"/>
              </a:lnSpc>
              <a:buFont typeface="Arial" panose="020B0604020202020204" pitchFamily="34" charset="0"/>
              <a:buChar char="•"/>
            </a:pPr>
            <a:r>
              <a:rPr lang="en-US" dirty="0">
                <a:solidFill>
                  <a:srgbClr val="000000"/>
                </a:solidFill>
                <a:effectLst/>
                <a:latin typeface="Calibri" panose="020F0502020204030204" pitchFamily="34" charset="0"/>
                <a:ea typeface="Calibri" panose="020F0502020204030204" pitchFamily="34" charset="0"/>
              </a:rPr>
              <a:t>To sort any data structure (e.g</a:t>
            </a:r>
            <a:r>
              <a:rPr lang="en-US" dirty="0">
                <a:solidFill>
                  <a:srgbClr val="000000"/>
                </a:solidFill>
                <a:latin typeface="Calibri" panose="020F0502020204030204" pitchFamily="34" charset="0"/>
                <a:ea typeface="Calibri" panose="020F0502020204030204" pitchFamily="34" charset="0"/>
              </a:rPr>
              <a:t>. Array, Linked List</a:t>
            </a:r>
            <a:r>
              <a:rPr lang="en-US" dirty="0">
                <a:solidFill>
                  <a:srgbClr val="000000"/>
                </a:solidFill>
                <a:effectLst/>
                <a:latin typeface="Calibri" panose="020F0502020204030204" pitchFamily="34" charset="0"/>
                <a:ea typeface="Calibri" panose="020F0502020204030204" pitchFamily="34" charset="0"/>
              </a:rPr>
              <a:t>) to give same </a:t>
            </a:r>
            <a:r>
              <a:rPr lang="en-US" dirty="0">
                <a:solidFill>
                  <a:srgbClr val="000000"/>
                </a:solidFill>
                <a:latin typeface="Calibri" panose="020F0502020204030204" pitchFamily="34" charset="0"/>
                <a:ea typeface="Calibri" panose="020F0502020204030204" pitchFamily="34" charset="0"/>
              </a:rPr>
              <a:t>output from the given input.  </a:t>
            </a: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you sort an array then the output you must contain same after sorting. It also main the order of elements in sequence  that have more frequencies.</a:t>
            </a:r>
          </a:p>
          <a:p>
            <a:pPr>
              <a:lnSpc>
                <a:spcPct val="150000"/>
              </a:lnSpc>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Example: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6 1 2 6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1  2   6  6      (to main order)</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pPr>
            <a:endParaRPr lang="en-US" sz="1800" dirty="0">
              <a:solidFill>
                <a:srgbClr val="000000"/>
              </a:solidFill>
              <a:effectLst/>
              <a:latin typeface="Calibri" panose="020F0502020204030204" pitchFamily="34" charset="0"/>
              <a:ea typeface="Calibri" panose="020F0502020204030204" pitchFamily="34" charset="0"/>
            </a:endParaRPr>
          </a:p>
        </p:txBody>
      </p:sp>
      <p:pic>
        <p:nvPicPr>
          <p:cNvPr id="7" name="Picture 6">
            <a:extLst>
              <a:ext uri="{FF2B5EF4-FFF2-40B4-BE49-F238E27FC236}">
                <a16:creationId xmlns="" xmlns:a16="http://schemas.microsoft.com/office/drawing/2014/main" id="{69C4B911-819B-2226-F6E5-E365760DAF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7030758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ublic Relations, MUET, SZAB Campus Khairpur Mir's - College &amp; University |  Facebook - 9,847 Photos">
            <a:extLst>
              <a:ext uri="{FF2B5EF4-FFF2-40B4-BE49-F238E27FC236}">
                <a16:creationId xmlns="" xmlns:a16="http://schemas.microsoft.com/office/drawing/2014/main" id="{200ED6BE-D210-4050-B761-D298B0306B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08642" y="7429"/>
            <a:ext cx="783357" cy="7833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 xmlns:a16="http://schemas.microsoft.com/office/drawing/2014/main" id="{2B1C47BF-20B6-47BE-89FA-E6E91A090948}"/>
              </a:ext>
            </a:extLst>
          </p:cNvPr>
          <p:cNvSpPr txBox="1"/>
          <p:nvPr/>
        </p:nvSpPr>
        <p:spPr>
          <a:xfrm>
            <a:off x="382001" y="257883"/>
            <a:ext cx="9471861" cy="532903"/>
          </a:xfrm>
          <a:prstGeom prst="rect">
            <a:avLst/>
          </a:prstGeom>
          <a:noFill/>
        </p:spPr>
        <p:txBody>
          <a:bodyPr wrap="square">
            <a:spAutoFit/>
          </a:bodyPr>
          <a:lstStyle/>
          <a:p>
            <a:pPr marL="0" marR="0">
              <a:lnSpc>
                <a:spcPct val="107000"/>
              </a:lnSpc>
              <a:spcBef>
                <a:spcPts val="0"/>
              </a:spcBef>
              <a:spcAft>
                <a:spcPts val="800"/>
              </a:spcAft>
            </a:pPr>
            <a:r>
              <a:rPr lang="en-US" sz="2800" b="1" dirty="0">
                <a:solidFill>
                  <a:schemeClr val="accent1">
                    <a:lumMod val="50000"/>
                  </a:schemeClr>
                </a:solidFill>
                <a:effectLst/>
                <a:ea typeface="Calibri" panose="020F0502020204030204" pitchFamily="34" charset="0"/>
                <a:cs typeface="Arial" panose="020B0604020202020204" pitchFamily="34" charset="0"/>
              </a:rPr>
              <a:t>Analysis Criteria for Sorting Algorithm?</a:t>
            </a:r>
            <a:endParaRPr lang="en-PK" sz="1200" b="1" dirty="0">
              <a:solidFill>
                <a:schemeClr val="accent1">
                  <a:lumMod val="50000"/>
                </a:schemeClr>
              </a:solidFill>
              <a:effectLst/>
              <a:ea typeface="Calibri" panose="020F0502020204030204" pitchFamily="34" charset="0"/>
              <a:cs typeface="Arial" panose="020B0604020202020204" pitchFamily="34" charset="0"/>
            </a:endParaRPr>
          </a:p>
        </p:txBody>
      </p:sp>
      <p:sp>
        <p:nvSpPr>
          <p:cNvPr id="9" name="Content Placeholder 2">
            <a:extLst>
              <a:ext uri="{FF2B5EF4-FFF2-40B4-BE49-F238E27FC236}">
                <a16:creationId xmlns="" xmlns:a16="http://schemas.microsoft.com/office/drawing/2014/main" id="{8CD331DB-7A88-4A67-9843-0715B7CA0A4F}"/>
              </a:ext>
            </a:extLst>
          </p:cNvPr>
          <p:cNvSpPr>
            <a:spLocks noGrp="1"/>
          </p:cNvSpPr>
          <p:nvPr>
            <p:ph idx="1"/>
          </p:nvPr>
        </p:nvSpPr>
        <p:spPr>
          <a:xfrm>
            <a:off x="568491" y="790786"/>
            <a:ext cx="11623116" cy="5768695"/>
          </a:xfrm>
        </p:spPr>
        <p:txBody>
          <a:bodyPr>
            <a:normAutofit/>
          </a:bodyPr>
          <a:lstStyle/>
          <a:p>
            <a:pPr marL="0" indent="0">
              <a:lnSpc>
                <a:spcPct val="150000"/>
              </a:lnSpc>
              <a:buNone/>
            </a:pPr>
            <a:r>
              <a:rPr lang="en-US" sz="2400" b="1" dirty="0" smtClean="0">
                <a:solidFill>
                  <a:srgbClr val="000000"/>
                </a:solidFill>
                <a:latin typeface="Calibri" panose="020F0502020204030204" pitchFamily="34" charset="0"/>
                <a:ea typeface="Calibri" panose="020F0502020204030204" pitchFamily="34" charset="0"/>
              </a:rPr>
              <a:t>         Stability</a:t>
            </a:r>
            <a:r>
              <a:rPr lang="en-US" sz="2400" b="1" dirty="0">
                <a:solidFill>
                  <a:srgbClr val="000000"/>
                </a:solidFill>
                <a:latin typeface="Calibri" panose="020F0502020204030204" pitchFamily="34" charset="0"/>
                <a:ea typeface="Calibri" panose="020F0502020204030204" pitchFamily="34" charset="0"/>
              </a:rPr>
              <a:t>: </a:t>
            </a:r>
          </a:p>
          <a:p>
            <a:endParaRPr lang="en-GB" sz="1800" b="1" dirty="0" smtClean="0"/>
          </a:p>
          <a:p>
            <a:r>
              <a:rPr lang="en-GB" sz="1800" b="1" dirty="0" smtClean="0"/>
              <a:t>Example</a:t>
            </a:r>
            <a:r>
              <a:rPr lang="en-GB" sz="1800" b="1" dirty="0"/>
              <a:t>:</a:t>
            </a:r>
            <a:r>
              <a:rPr lang="en-GB" sz="1800" dirty="0"/>
              <a:t> </a:t>
            </a:r>
          </a:p>
          <a:p>
            <a:r>
              <a:rPr lang="en-GB" sz="1800" dirty="0"/>
              <a:t>Consider sorting a list of students by their scores. If two students, Alice and Bob, both have a score of 90, and Alice appeared before Bob in the original list, a stable sorting algorithm will ensure Alice still appears before Bob in the sorted list. An unstable algorithm might place Bob before Alice, even though their scores are equal.</a:t>
            </a:r>
          </a:p>
          <a:p>
            <a:r>
              <a:rPr lang="en-US" sz="1800" b="1" dirty="0"/>
              <a:t>Common Stable Algorithms:</a:t>
            </a:r>
            <a:r>
              <a:rPr lang="en-US" sz="1800" dirty="0"/>
              <a:t> </a:t>
            </a:r>
          </a:p>
          <a:p>
            <a:pPr marL="0" indent="0">
              <a:buNone/>
            </a:pPr>
            <a:r>
              <a:rPr lang="en-US" sz="1800" dirty="0" smtClean="0"/>
              <a:t>     Examples </a:t>
            </a:r>
            <a:r>
              <a:rPr lang="en-US" sz="1800" dirty="0"/>
              <a:t>of stable sorting algorithms include Merge Sort, Insertion Sort, Bubble Sort, and Counting Sort.</a:t>
            </a:r>
          </a:p>
          <a:p>
            <a:r>
              <a:rPr lang="en-US" sz="1800" b="1" dirty="0"/>
              <a:t>Common Unstable Algorithms:</a:t>
            </a:r>
            <a:r>
              <a:rPr lang="en-US" sz="1800" dirty="0"/>
              <a:t> </a:t>
            </a:r>
          </a:p>
          <a:p>
            <a:pPr marL="0" indent="0">
              <a:buNone/>
            </a:pPr>
            <a:r>
              <a:rPr lang="en-US" sz="1800" dirty="0" smtClean="0"/>
              <a:t>    Examples </a:t>
            </a:r>
            <a:r>
              <a:rPr lang="en-US" sz="1800" dirty="0"/>
              <a:t>of unstable sorting algorithms include Selection Sort, Quick Sort, and Heap Sort. </a:t>
            </a:r>
          </a:p>
          <a:p>
            <a:pPr marL="0" indent="0">
              <a:lnSpc>
                <a:spcPct val="150000"/>
              </a:lnSpc>
              <a:buNone/>
            </a:pPr>
            <a:endParaRPr lang="en-US" sz="1800" dirty="0"/>
          </a:p>
        </p:txBody>
      </p:sp>
      <p:sp>
        <p:nvSpPr>
          <p:cNvPr id="3" name="Footer Placeholder 2">
            <a:extLst>
              <a:ext uri="{FF2B5EF4-FFF2-40B4-BE49-F238E27FC236}">
                <a16:creationId xmlns="" xmlns:a16="http://schemas.microsoft.com/office/drawing/2014/main" id="{D9FCAD4F-A558-93B5-F4DD-CEF7AE041879}"/>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7" name="Picture 6">
            <a:extLst>
              <a:ext uri="{FF2B5EF4-FFF2-40B4-BE49-F238E27FC236}">
                <a16:creationId xmlns="" xmlns:a16="http://schemas.microsoft.com/office/drawing/2014/main" id="{69C4B911-819B-2226-F6E5-E365760DAF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34717526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EC0C91D6-CA26-4272-9C8C-E465C1420748}"/>
              </a:ext>
            </a:extLst>
          </p:cNvPr>
          <p:cNvSpPr txBox="1"/>
          <p:nvPr/>
        </p:nvSpPr>
        <p:spPr>
          <a:xfrm>
            <a:off x="129338" y="0"/>
            <a:ext cx="9471861" cy="532903"/>
          </a:xfrm>
          <a:prstGeom prst="rect">
            <a:avLst/>
          </a:prstGeom>
          <a:noFill/>
        </p:spPr>
        <p:txBody>
          <a:bodyPr wrap="square">
            <a:spAutoFit/>
          </a:bodyPr>
          <a:lstStyle/>
          <a:p>
            <a:pPr marL="0" marR="0">
              <a:lnSpc>
                <a:spcPct val="107000"/>
              </a:lnSpc>
              <a:spcBef>
                <a:spcPts val="0"/>
              </a:spcBef>
              <a:spcAft>
                <a:spcPts val="800"/>
              </a:spcAft>
            </a:pPr>
            <a:r>
              <a:rPr lang="en-US" sz="2800" b="1" dirty="0">
                <a:solidFill>
                  <a:schemeClr val="accent1">
                    <a:lumMod val="50000"/>
                  </a:schemeClr>
                </a:solidFill>
                <a:effectLst/>
                <a:ea typeface="Calibri" panose="020F0502020204030204" pitchFamily="34" charset="0"/>
                <a:cs typeface="Arial" panose="020B0604020202020204" pitchFamily="34" charset="0"/>
              </a:rPr>
              <a:t>Analysis Criteria for Sorting Algorithm?</a:t>
            </a:r>
            <a:endParaRPr lang="en-PK" sz="2800" b="1" dirty="0">
              <a:solidFill>
                <a:schemeClr val="accent1">
                  <a:lumMod val="50000"/>
                </a:schemeClr>
              </a:solidFill>
              <a:effectLst/>
              <a:ea typeface="Calibri" panose="020F0502020204030204" pitchFamily="34" charset="0"/>
              <a:cs typeface="Arial" panose="020B0604020202020204" pitchFamily="34" charset="0"/>
            </a:endParaRPr>
          </a:p>
        </p:txBody>
      </p:sp>
      <p:sp>
        <p:nvSpPr>
          <p:cNvPr id="6" name="TextBox 5">
            <a:extLst>
              <a:ext uri="{FF2B5EF4-FFF2-40B4-BE49-F238E27FC236}">
                <a16:creationId xmlns="" xmlns:a16="http://schemas.microsoft.com/office/drawing/2014/main" id="{CCC88555-DB71-4648-BAB2-E2F9DCA5BF32}"/>
              </a:ext>
            </a:extLst>
          </p:cNvPr>
          <p:cNvSpPr txBox="1"/>
          <p:nvPr/>
        </p:nvSpPr>
        <p:spPr>
          <a:xfrm>
            <a:off x="406566" y="532903"/>
            <a:ext cx="11785433" cy="628184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dirty="0">
                <a:solidFill>
                  <a:srgbClr val="000000"/>
                </a:solidFill>
              </a:rPr>
              <a:t>7. Adaptive / Non Adaptive:  </a:t>
            </a:r>
          </a:p>
          <a:p>
            <a:pPr marL="285750" indent="-285750" algn="just">
              <a:lnSpc>
                <a:spcPct val="150000"/>
              </a:lnSpc>
              <a:buFont typeface="Arial" panose="020B0604020202020204" pitchFamily="34" charset="0"/>
              <a:buChar char="•"/>
            </a:pPr>
            <a:r>
              <a:rPr lang="en-US" dirty="0">
                <a:solidFill>
                  <a:srgbClr val="000000"/>
                </a:solidFill>
              </a:rPr>
              <a:t> </a:t>
            </a:r>
            <a:r>
              <a:rPr lang="en-US" b="0" i="0" dirty="0">
                <a:solidFill>
                  <a:srgbClr val="000000"/>
                </a:solidFill>
                <a:effectLst/>
              </a:rPr>
              <a:t>A sorting algorithm is said to be adaptive, if it takes advantage of already 'sorted' elements in the list that is to be sorted. That is, while sorting if the source list has some element already sorted, adaptive algorithms will take this into account and will try not to re-order them.</a:t>
            </a:r>
          </a:p>
          <a:p>
            <a:pPr marL="285750" indent="-285750" algn="just">
              <a:lnSpc>
                <a:spcPct val="150000"/>
              </a:lnSpc>
              <a:buFont typeface="Arial" panose="020B0604020202020204" pitchFamily="34" charset="0"/>
              <a:buChar char="•"/>
            </a:pPr>
            <a:r>
              <a:rPr lang="en-US" b="0" i="0" dirty="0">
                <a:solidFill>
                  <a:srgbClr val="000000"/>
                </a:solidFill>
                <a:effectLst/>
              </a:rPr>
              <a:t>A non-adaptive algorithm is one which does not take into account the elements which are already sorted. They try to force every single element to be re-ordered to confirm their </a:t>
            </a:r>
            <a:r>
              <a:rPr lang="en-US" b="0" i="0" dirty="0" err="1">
                <a:solidFill>
                  <a:srgbClr val="000000"/>
                </a:solidFill>
                <a:effectLst/>
              </a:rPr>
              <a:t>sortedness</a:t>
            </a:r>
            <a:r>
              <a:rPr lang="en-US" b="0" i="0" dirty="0">
                <a:solidFill>
                  <a:srgbClr val="000000"/>
                </a:solidFill>
                <a:effectLst/>
              </a:rPr>
              <a:t>.</a:t>
            </a:r>
            <a:endParaRPr lang="en-US" dirty="0">
              <a:solidFill>
                <a:srgbClr val="000000"/>
              </a:solidFill>
            </a:endParaRPr>
          </a:p>
          <a:p>
            <a:pPr marL="285750" indent="-285750" algn="just">
              <a:lnSpc>
                <a:spcPct val="150000"/>
              </a:lnSpc>
              <a:buFont typeface="Arial" panose="020B0604020202020204" pitchFamily="34" charset="0"/>
              <a:buChar char="•"/>
            </a:pPr>
            <a:r>
              <a:rPr lang="en-US" b="1" dirty="0">
                <a:solidFill>
                  <a:srgbClr val="000000"/>
                </a:solidFill>
              </a:rPr>
              <a:t>8. Recursive / Non- Recursive Sorting</a:t>
            </a:r>
          </a:p>
          <a:p>
            <a:pPr marL="285750" indent="-285750" algn="just">
              <a:lnSpc>
                <a:spcPct val="150000"/>
              </a:lnSpc>
              <a:buFont typeface="Arial" panose="020B0604020202020204" pitchFamily="34" charset="0"/>
              <a:buChar char="•"/>
            </a:pPr>
            <a:r>
              <a:rPr lang="en-US" b="0" i="0" dirty="0">
                <a:solidFill>
                  <a:srgbClr val="242729"/>
                </a:solidFill>
                <a:effectLst/>
              </a:rPr>
              <a:t>Recursive sorting algorithms work by splitting the input into two or more smaller inputs and then sorting those, then combining the results. </a:t>
            </a:r>
          </a:p>
          <a:p>
            <a:pPr marL="285750" indent="-285750" algn="just">
              <a:lnSpc>
                <a:spcPct val="150000"/>
              </a:lnSpc>
              <a:buFont typeface="Arial" panose="020B0604020202020204" pitchFamily="34" charset="0"/>
              <a:buChar char="•"/>
            </a:pPr>
            <a:r>
              <a:rPr lang="en-US" b="0" i="0" dirty="0">
                <a:solidFill>
                  <a:srgbClr val="242729"/>
                </a:solidFill>
                <a:effectLst/>
              </a:rPr>
              <a:t>A recursive sorting algorithm calls on itself to sort a smaller part of the array, then combining the partially sorted results</a:t>
            </a:r>
          </a:p>
          <a:p>
            <a:pPr marL="285750" indent="-285750" algn="just">
              <a:lnSpc>
                <a:spcPct val="150000"/>
              </a:lnSpc>
              <a:buFont typeface="Arial" panose="020B0604020202020204" pitchFamily="34" charset="0"/>
              <a:buChar char="•"/>
            </a:pPr>
            <a:r>
              <a:rPr lang="en-US" b="0" i="0" u="sng" dirty="0">
                <a:effectLst/>
                <a:hlinkClick r:id="rId3"/>
              </a:rPr>
              <a:t>Merge sort</a:t>
            </a:r>
            <a:r>
              <a:rPr lang="en-US" b="0" i="0" dirty="0">
                <a:solidFill>
                  <a:srgbClr val="242729"/>
                </a:solidFill>
                <a:effectLst/>
              </a:rPr>
              <a:t> and </a:t>
            </a:r>
            <a:r>
              <a:rPr lang="en-US" b="0" i="0" u="sng" dirty="0">
                <a:effectLst/>
                <a:hlinkClick r:id="rId4"/>
              </a:rPr>
              <a:t>quick sort</a:t>
            </a:r>
            <a:r>
              <a:rPr lang="en-US" b="0" i="0" dirty="0">
                <a:solidFill>
                  <a:srgbClr val="242729"/>
                </a:solidFill>
                <a:effectLst/>
              </a:rPr>
              <a:t> are examples of recursive sorting algorithms.</a:t>
            </a:r>
          </a:p>
          <a:p>
            <a:pPr marL="285750" indent="-285750" algn="just">
              <a:lnSpc>
                <a:spcPct val="150000"/>
              </a:lnSpc>
              <a:buFont typeface="Arial" panose="020B0604020202020204" pitchFamily="34" charset="0"/>
              <a:buChar char="•"/>
            </a:pPr>
            <a:r>
              <a:rPr lang="en-US" b="0" i="0" dirty="0">
                <a:solidFill>
                  <a:srgbClr val="242729"/>
                </a:solidFill>
                <a:effectLst/>
              </a:rPr>
              <a:t>A non-recursive technique is anything that doesn't use recursion. </a:t>
            </a:r>
          </a:p>
          <a:p>
            <a:pPr marL="285750" indent="-285750" algn="just">
              <a:lnSpc>
                <a:spcPct val="150000"/>
              </a:lnSpc>
              <a:buFont typeface="Arial" panose="020B0604020202020204" pitchFamily="34" charset="0"/>
              <a:buChar char="•"/>
            </a:pPr>
            <a:r>
              <a:rPr lang="en-US" b="0" i="0" dirty="0">
                <a:solidFill>
                  <a:srgbClr val="242729"/>
                </a:solidFill>
                <a:effectLst/>
              </a:rPr>
              <a:t>A non-recursive algorithm does the sorting all at once, without calling itself.</a:t>
            </a:r>
          </a:p>
          <a:p>
            <a:pPr marL="285750" indent="-285750" algn="just">
              <a:lnSpc>
                <a:spcPct val="150000"/>
              </a:lnSpc>
              <a:buFont typeface="Arial" panose="020B0604020202020204" pitchFamily="34" charset="0"/>
              <a:buChar char="•"/>
            </a:pPr>
            <a:r>
              <a:rPr lang="en-US" b="0" i="0" dirty="0">
                <a:solidFill>
                  <a:srgbClr val="242729"/>
                </a:solidFill>
                <a:effectLst/>
              </a:rPr>
              <a:t> Bubble-sort  and Insertion Sort are an example of a non-recursive algorithm.</a:t>
            </a:r>
            <a:endParaRPr lang="en-US" u="sng" dirty="0">
              <a:solidFill>
                <a:srgbClr val="242729"/>
              </a:solidFill>
              <a:hlinkClick r:id="rId4"/>
            </a:endParaRPr>
          </a:p>
          <a:p>
            <a:pPr marL="285750" indent="-285750" algn="just">
              <a:lnSpc>
                <a:spcPct val="150000"/>
              </a:lnSpc>
              <a:buFont typeface="Arial" panose="020B0604020202020204" pitchFamily="34" charset="0"/>
              <a:buChar char="•"/>
            </a:pPr>
            <a:endParaRPr lang="en-PK" dirty="0"/>
          </a:p>
        </p:txBody>
      </p:sp>
      <p:sp>
        <p:nvSpPr>
          <p:cNvPr id="2" name="Footer Placeholder 2">
            <a:extLst>
              <a:ext uri="{FF2B5EF4-FFF2-40B4-BE49-F238E27FC236}">
                <a16:creationId xmlns="" xmlns:a16="http://schemas.microsoft.com/office/drawing/2014/main" id="{0F021368-ACDA-31DB-4584-E8BB02CA20CD}"/>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3" name="Picture 2">
            <a:extLst>
              <a:ext uri="{FF2B5EF4-FFF2-40B4-BE49-F238E27FC236}">
                <a16:creationId xmlns="" xmlns:a16="http://schemas.microsoft.com/office/drawing/2014/main" id="{C37F671B-BEB8-E03B-8600-B6B9413271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37885203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A72F7D3B-EF78-4A86-AAB7-D8A980DDAB1B}"/>
              </a:ext>
            </a:extLst>
          </p:cNvPr>
          <p:cNvSpPr txBox="1"/>
          <p:nvPr/>
        </p:nvSpPr>
        <p:spPr>
          <a:xfrm>
            <a:off x="2145632" y="6088906"/>
            <a:ext cx="10046368" cy="375552"/>
          </a:xfrm>
          <a:prstGeom prst="rect">
            <a:avLst/>
          </a:prstGeom>
          <a:noFill/>
        </p:spPr>
        <p:txBody>
          <a:bodyPr wrap="square">
            <a:spAutoFit/>
          </a:bodyPr>
          <a:lstStyle/>
          <a:p>
            <a:pPr marL="0" marR="0">
              <a:lnSpc>
                <a:spcPct val="107000"/>
              </a:lnSpc>
              <a:spcBef>
                <a:spcPts val="0"/>
              </a:spcBef>
              <a:spcAft>
                <a:spcPts val="800"/>
              </a:spcAft>
            </a:pPr>
            <a:r>
              <a:rPr lang="en-US" sz="1800" b="1" dirty="0">
                <a:solidFill>
                  <a:schemeClr val="accent5">
                    <a:lumMod val="75000"/>
                  </a:schemeClr>
                </a:solidFill>
                <a:effectLst/>
                <a:latin typeface="Calibri" panose="020F0502020204030204" pitchFamily="34" charset="0"/>
                <a:ea typeface="Calibri" panose="020F0502020204030204" pitchFamily="34" charset="0"/>
                <a:cs typeface="Calibri" panose="020F0502020204030204" pitchFamily="34" charset="0"/>
              </a:rPr>
              <a:t>Based on these criteria we can take decision that which algorithm is best for our problem.</a:t>
            </a:r>
            <a:endParaRPr lang="en-PK" sz="1600" b="1" dirty="0">
              <a:solidFill>
                <a:schemeClr val="accent5">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 xmlns:a16="http://schemas.microsoft.com/office/drawing/2014/main" id="{F46AFA75-C732-4DE1-9857-DC4A1A00F8B4}"/>
              </a:ext>
            </a:extLst>
          </p:cNvPr>
          <p:cNvSpPr txBox="1"/>
          <p:nvPr/>
        </p:nvSpPr>
        <p:spPr>
          <a:xfrm>
            <a:off x="129338" y="0"/>
            <a:ext cx="9471861" cy="532903"/>
          </a:xfrm>
          <a:prstGeom prst="rect">
            <a:avLst/>
          </a:prstGeom>
          <a:noFill/>
        </p:spPr>
        <p:txBody>
          <a:bodyPr wrap="square">
            <a:spAutoFit/>
          </a:bodyPr>
          <a:lstStyle/>
          <a:p>
            <a:pPr marL="0" marR="0">
              <a:lnSpc>
                <a:spcPct val="107000"/>
              </a:lnSpc>
              <a:spcBef>
                <a:spcPts val="0"/>
              </a:spcBef>
              <a:spcAft>
                <a:spcPts val="800"/>
              </a:spcAft>
            </a:pPr>
            <a:r>
              <a:rPr lang="en-US" sz="2800" b="1" dirty="0">
                <a:solidFill>
                  <a:schemeClr val="accent1">
                    <a:lumMod val="50000"/>
                  </a:schemeClr>
                </a:solidFill>
                <a:effectLst/>
                <a:ea typeface="Calibri" panose="020F0502020204030204" pitchFamily="34" charset="0"/>
                <a:cs typeface="Arial" panose="020B0604020202020204" pitchFamily="34" charset="0"/>
              </a:rPr>
              <a:t>Analysis Criteria for Sorting Algorithm?</a:t>
            </a:r>
            <a:endParaRPr lang="en-PK" sz="2800" b="1" dirty="0">
              <a:solidFill>
                <a:schemeClr val="accent1">
                  <a:lumMod val="50000"/>
                </a:schemeClr>
              </a:solidFill>
              <a:effectLst/>
              <a:ea typeface="Calibri" panose="020F0502020204030204" pitchFamily="34" charset="0"/>
              <a:cs typeface="Arial" panose="020B0604020202020204" pitchFamily="34" charset="0"/>
            </a:endParaRPr>
          </a:p>
        </p:txBody>
      </p:sp>
      <p:sp>
        <p:nvSpPr>
          <p:cNvPr id="8" name="TextBox 7">
            <a:extLst>
              <a:ext uri="{FF2B5EF4-FFF2-40B4-BE49-F238E27FC236}">
                <a16:creationId xmlns="" xmlns:a16="http://schemas.microsoft.com/office/drawing/2014/main" id="{F25E6051-E648-4F29-98CF-AFE56BA42CB1}"/>
              </a:ext>
            </a:extLst>
          </p:cNvPr>
          <p:cNvSpPr txBox="1"/>
          <p:nvPr/>
        </p:nvSpPr>
        <p:spPr>
          <a:xfrm>
            <a:off x="809124" y="532903"/>
            <a:ext cx="6093994" cy="6828151"/>
          </a:xfrm>
          <a:prstGeom prst="rect">
            <a:avLst/>
          </a:prstGeom>
          <a:noFill/>
        </p:spPr>
        <p:txBody>
          <a:bodyPr wrap="square">
            <a:spAutoFit/>
          </a:bodyPr>
          <a:lstStyle/>
          <a:p>
            <a:pPr marL="285750" indent="-285750">
              <a:lnSpc>
                <a:spcPct val="250000"/>
              </a:lnSpc>
              <a:buFont typeface="Wingdings" panose="05000000000000000000" pitchFamily="2" charset="2"/>
              <a:buChar char="q"/>
            </a:pPr>
            <a:r>
              <a:rPr lang="en-US" sz="2000" b="1" dirty="0">
                <a:solidFill>
                  <a:srgbClr val="000000"/>
                </a:solidFill>
                <a:effectLst/>
                <a:latin typeface="Calibri" panose="020F0502020204030204" pitchFamily="34" charset="0"/>
                <a:ea typeface="Calibri" panose="020F0502020204030204" pitchFamily="34" charset="0"/>
              </a:rPr>
              <a:t>Time complexity</a:t>
            </a:r>
          </a:p>
          <a:p>
            <a:pPr marL="285750" indent="-285750">
              <a:lnSpc>
                <a:spcPct val="250000"/>
              </a:lnSpc>
              <a:buFont typeface="Wingdings" panose="05000000000000000000" pitchFamily="2" charset="2"/>
              <a:buChar char="q"/>
            </a:pPr>
            <a:r>
              <a:rPr lang="en-US" sz="2000" b="1" dirty="0">
                <a:solidFill>
                  <a:srgbClr val="000000"/>
                </a:solidFill>
                <a:latin typeface="Calibri" panose="020F0502020204030204" pitchFamily="34" charset="0"/>
              </a:rPr>
              <a:t>Space Complexity</a:t>
            </a:r>
          </a:p>
          <a:p>
            <a:pPr marL="285750" indent="-285750">
              <a:lnSpc>
                <a:spcPct val="250000"/>
              </a:lnSpc>
              <a:buFont typeface="Wingdings" panose="05000000000000000000" pitchFamily="2" charset="2"/>
              <a:buChar char="q"/>
            </a:pPr>
            <a:r>
              <a:rPr lang="en-US" sz="2000" b="1" dirty="0">
                <a:solidFill>
                  <a:srgbClr val="000000"/>
                </a:solidFill>
                <a:latin typeface="Calibri" panose="020F0502020204030204" pitchFamily="34" charset="0"/>
              </a:rPr>
              <a:t>Adaptive / Non-Adaptive</a:t>
            </a:r>
          </a:p>
          <a:p>
            <a:pPr marL="285750" indent="-285750">
              <a:lnSpc>
                <a:spcPct val="250000"/>
              </a:lnSpc>
              <a:buFont typeface="Wingdings" panose="05000000000000000000" pitchFamily="2" charset="2"/>
              <a:buChar char="q"/>
            </a:pPr>
            <a:r>
              <a:rPr lang="en-US" sz="2000" b="1" dirty="0">
                <a:solidFill>
                  <a:srgbClr val="000000"/>
                </a:solidFill>
                <a:latin typeface="Calibri" panose="020F0502020204030204" pitchFamily="34" charset="0"/>
              </a:rPr>
              <a:t>In-Place Sorting</a:t>
            </a:r>
          </a:p>
          <a:p>
            <a:pPr marL="285750" indent="-285750">
              <a:lnSpc>
                <a:spcPct val="250000"/>
              </a:lnSpc>
              <a:buFont typeface="Wingdings" panose="05000000000000000000" pitchFamily="2" charset="2"/>
              <a:buChar char="q"/>
            </a:pPr>
            <a:r>
              <a:rPr lang="en-US" sz="2000" b="1" dirty="0">
                <a:solidFill>
                  <a:srgbClr val="000000"/>
                </a:solidFill>
                <a:latin typeface="Calibri" panose="020F0502020204030204" pitchFamily="34" charset="0"/>
              </a:rPr>
              <a:t>Internal / External Sorting</a:t>
            </a:r>
          </a:p>
          <a:p>
            <a:pPr marL="285750" indent="-285750">
              <a:lnSpc>
                <a:spcPct val="250000"/>
              </a:lnSpc>
              <a:buFont typeface="Wingdings" panose="05000000000000000000" pitchFamily="2" charset="2"/>
              <a:buChar char="q"/>
            </a:pPr>
            <a:r>
              <a:rPr lang="en-US" sz="2000" b="1" dirty="0">
                <a:solidFill>
                  <a:srgbClr val="000000"/>
                </a:solidFill>
                <a:latin typeface="Calibri" panose="020F0502020204030204" pitchFamily="34" charset="0"/>
              </a:rPr>
              <a:t>Stability</a:t>
            </a:r>
          </a:p>
          <a:p>
            <a:pPr marL="285750" indent="-285750">
              <a:lnSpc>
                <a:spcPct val="250000"/>
              </a:lnSpc>
              <a:buFont typeface="Wingdings" panose="05000000000000000000" pitchFamily="2" charset="2"/>
              <a:buChar char="q"/>
            </a:pPr>
            <a:r>
              <a:rPr lang="en-US" sz="2000" b="1" dirty="0">
                <a:solidFill>
                  <a:srgbClr val="000000"/>
                </a:solidFill>
                <a:latin typeface="Calibri" panose="020F0502020204030204" pitchFamily="34" charset="0"/>
              </a:rPr>
              <a:t>Recursion / Non - </a:t>
            </a:r>
            <a:r>
              <a:rPr lang="en-US" sz="2000" b="1" dirty="0" err="1">
                <a:solidFill>
                  <a:srgbClr val="000000"/>
                </a:solidFill>
                <a:latin typeface="Calibri" panose="020F0502020204030204" pitchFamily="34" charset="0"/>
              </a:rPr>
              <a:t>Recusion</a:t>
            </a:r>
            <a:endParaRPr lang="en-US" sz="2000" b="1" dirty="0">
              <a:solidFill>
                <a:srgbClr val="000000"/>
              </a:solidFill>
              <a:latin typeface="Calibri" panose="020F0502020204030204" pitchFamily="34" charset="0"/>
            </a:endParaRPr>
          </a:p>
          <a:p>
            <a:pPr marL="285750" indent="-285750">
              <a:lnSpc>
                <a:spcPct val="250000"/>
              </a:lnSpc>
              <a:buFont typeface="Wingdings" panose="05000000000000000000" pitchFamily="2" charset="2"/>
              <a:buChar char="q"/>
            </a:pPr>
            <a:endParaRPr lang="en-US" sz="2000" b="1" dirty="0">
              <a:solidFill>
                <a:srgbClr val="000000"/>
              </a:solidFill>
              <a:latin typeface="Calibri" panose="020F0502020204030204" pitchFamily="34" charset="0"/>
            </a:endParaRPr>
          </a:p>
          <a:p>
            <a:pPr marL="285750" indent="-285750">
              <a:lnSpc>
                <a:spcPct val="250000"/>
              </a:lnSpc>
              <a:buFont typeface="Wingdings" panose="05000000000000000000" pitchFamily="2" charset="2"/>
              <a:buChar char="q"/>
            </a:pPr>
            <a:endParaRPr lang="en-PK" sz="2000" b="1" dirty="0"/>
          </a:p>
        </p:txBody>
      </p:sp>
      <p:sp>
        <p:nvSpPr>
          <p:cNvPr id="2" name="Footer Placeholder 2">
            <a:extLst>
              <a:ext uri="{FF2B5EF4-FFF2-40B4-BE49-F238E27FC236}">
                <a16:creationId xmlns="" xmlns:a16="http://schemas.microsoft.com/office/drawing/2014/main" id="{7F9BDB85-52C2-1F8A-3073-5B9E8A899EF0}"/>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3" name="Picture 2">
            <a:extLst>
              <a:ext uri="{FF2B5EF4-FFF2-40B4-BE49-F238E27FC236}">
                <a16:creationId xmlns="" xmlns:a16="http://schemas.microsoft.com/office/drawing/2014/main" id="{481BFAC5-84E7-E149-E43F-325924A113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18388724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49E3E9-AC8A-4F7C-A246-195839846704}"/>
              </a:ext>
            </a:extLst>
          </p:cNvPr>
          <p:cNvSpPr>
            <a:spLocks noGrp="1"/>
          </p:cNvSpPr>
          <p:nvPr>
            <p:ph type="title"/>
          </p:nvPr>
        </p:nvSpPr>
        <p:spPr>
          <a:xfrm>
            <a:off x="302623" y="319018"/>
            <a:ext cx="10515600" cy="724037"/>
          </a:xfrm>
        </p:spPr>
        <p:txBody>
          <a:bodyPr>
            <a:normAutofit/>
          </a:bodyPr>
          <a:lstStyle/>
          <a:p>
            <a:r>
              <a:rPr lang="en-US" sz="2800" b="1" dirty="0">
                <a:solidFill>
                  <a:schemeClr val="accent1">
                    <a:lumMod val="50000"/>
                  </a:schemeClr>
                </a:solidFill>
                <a:effectLst/>
                <a:latin typeface="+mn-lt"/>
                <a:ea typeface="Calibri" panose="020F0502020204030204" pitchFamily="34" charset="0"/>
                <a:cs typeface="Arial" panose="020B0604020202020204" pitchFamily="34" charset="0"/>
              </a:rPr>
              <a:t>Complexity of Sorting Algorithm</a:t>
            </a:r>
            <a:endParaRPr lang="en-PK" sz="6000" b="1" dirty="0">
              <a:solidFill>
                <a:schemeClr val="accent1">
                  <a:lumMod val="50000"/>
                </a:schemeClr>
              </a:solidFill>
              <a:latin typeface="+mn-lt"/>
              <a:cs typeface="Arial" panose="020B0604020202020204" pitchFamily="34" charset="0"/>
            </a:endParaRPr>
          </a:p>
        </p:txBody>
      </p:sp>
      <p:sp>
        <p:nvSpPr>
          <p:cNvPr id="3" name="Content Placeholder 2">
            <a:extLst>
              <a:ext uri="{FF2B5EF4-FFF2-40B4-BE49-F238E27FC236}">
                <a16:creationId xmlns="" xmlns:a16="http://schemas.microsoft.com/office/drawing/2014/main" id="{055BE38C-5835-4D41-82BB-6450438ECB1E}"/>
              </a:ext>
            </a:extLst>
          </p:cNvPr>
          <p:cNvSpPr>
            <a:spLocks noGrp="1"/>
          </p:cNvSpPr>
          <p:nvPr>
            <p:ph idx="1"/>
          </p:nvPr>
        </p:nvSpPr>
        <p:spPr>
          <a:xfrm>
            <a:off x="838200" y="2026272"/>
            <a:ext cx="10515600" cy="991009"/>
          </a:xfrm>
        </p:spPr>
        <p:txBody>
          <a:bodyPr/>
          <a:lstStyle/>
          <a:p>
            <a:pPr algn="just"/>
            <a:r>
              <a:rPr lang="en-PK" sz="1800" dirty="0">
                <a:solidFill>
                  <a:srgbClr val="000000"/>
                </a:solidFill>
                <a:effectLst/>
                <a:ea typeface="Times New Roman" panose="02020603050405020304" pitchFamily="18" charset="0"/>
              </a:rPr>
              <a:t>complexity of sorting algorithm calculates the running time of a function in which 'n' number of items are to be sorted.</a:t>
            </a:r>
            <a:endParaRPr lang="en-PK" dirty="0"/>
          </a:p>
        </p:txBody>
      </p:sp>
      <p:sp>
        <p:nvSpPr>
          <p:cNvPr id="5" name="Footer Placeholder 2">
            <a:extLst>
              <a:ext uri="{FF2B5EF4-FFF2-40B4-BE49-F238E27FC236}">
                <a16:creationId xmlns="" xmlns:a16="http://schemas.microsoft.com/office/drawing/2014/main" id="{6210A2A7-5EEB-3719-C399-0D41627B3E0C}"/>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4" name="Title 1">
            <a:extLst>
              <a:ext uri="{FF2B5EF4-FFF2-40B4-BE49-F238E27FC236}">
                <a16:creationId xmlns="" xmlns:a16="http://schemas.microsoft.com/office/drawing/2014/main" id="{9C7B844B-E505-47DD-9C72-F1A93CA6A83B}"/>
              </a:ext>
            </a:extLst>
          </p:cNvPr>
          <p:cNvSpPr txBox="1">
            <a:spLocks/>
          </p:cNvSpPr>
          <p:nvPr/>
        </p:nvSpPr>
        <p:spPr>
          <a:xfrm>
            <a:off x="302623" y="2704963"/>
            <a:ext cx="10515600" cy="7240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ea typeface="Calibri" panose="020F0502020204030204" pitchFamily="34" charset="0"/>
                <a:cs typeface="Arial" panose="020B0604020202020204" pitchFamily="34" charset="0"/>
              </a:rPr>
              <a:t>Efficiency of Sorting Algorithm</a:t>
            </a:r>
            <a:endParaRPr lang="en-PK" sz="6000" b="1" dirty="0">
              <a:solidFill>
                <a:schemeClr val="accent1">
                  <a:lumMod val="50000"/>
                </a:schemeClr>
              </a:solidFill>
              <a:latin typeface="+mn-lt"/>
              <a:cs typeface="Arial" panose="020B0604020202020204" pitchFamily="34" charset="0"/>
            </a:endParaRPr>
          </a:p>
        </p:txBody>
      </p:sp>
      <p:sp>
        <p:nvSpPr>
          <p:cNvPr id="6" name="TextBox 5">
            <a:extLst>
              <a:ext uri="{FF2B5EF4-FFF2-40B4-BE49-F238E27FC236}">
                <a16:creationId xmlns="" xmlns:a16="http://schemas.microsoft.com/office/drawing/2014/main" id="{4531B38D-E04D-4F41-B190-794FB20A08DD}"/>
              </a:ext>
            </a:extLst>
          </p:cNvPr>
          <p:cNvSpPr txBox="1"/>
          <p:nvPr/>
        </p:nvSpPr>
        <p:spPr>
          <a:xfrm>
            <a:off x="537754" y="3700731"/>
            <a:ext cx="11351623" cy="646331"/>
          </a:xfrm>
          <a:prstGeom prst="rect">
            <a:avLst/>
          </a:prstGeom>
          <a:noFill/>
        </p:spPr>
        <p:txBody>
          <a:bodyPr wrap="square">
            <a:spAutoFit/>
          </a:bodyPr>
          <a:lstStyle/>
          <a:p>
            <a:pPr marL="285750" indent="-285750" algn="just">
              <a:buFont typeface="Arial" panose="020B0604020202020204" pitchFamily="34" charset="0"/>
              <a:buChar char="•"/>
            </a:pPr>
            <a:r>
              <a:rPr lang="en-US" sz="1800" dirty="0">
                <a:solidFill>
                  <a:srgbClr val="000000"/>
                </a:solidFill>
                <a:effectLst/>
                <a:ea typeface="Times New Roman" panose="02020603050405020304" pitchFamily="18" charset="0"/>
                <a:cs typeface="Arial" panose="020B0604020202020204" pitchFamily="34" charset="0"/>
              </a:rPr>
              <a:t>T</a:t>
            </a:r>
            <a:r>
              <a:rPr lang="en-PK" sz="1800" dirty="0">
                <a:solidFill>
                  <a:srgbClr val="000000"/>
                </a:solidFill>
                <a:effectLst/>
                <a:ea typeface="Times New Roman" panose="02020603050405020304" pitchFamily="18" charset="0"/>
                <a:cs typeface="Arial" panose="020B0604020202020204" pitchFamily="34" charset="0"/>
              </a:rPr>
              <a:t>o get the amount of time required to sort an array of 'n' elements by a particular method, the normal approach is to analyse the method to find the number of comparisons (or exchanges) required by it</a:t>
            </a:r>
            <a:endParaRPr lang="en-PK" dirty="0">
              <a:cs typeface="Arial" panose="020B0604020202020204" pitchFamily="34" charset="0"/>
            </a:endParaRPr>
          </a:p>
        </p:txBody>
      </p:sp>
      <p:pic>
        <p:nvPicPr>
          <p:cNvPr id="9" name="Picture 8">
            <a:extLst>
              <a:ext uri="{FF2B5EF4-FFF2-40B4-BE49-F238E27FC236}">
                <a16:creationId xmlns="" xmlns:a16="http://schemas.microsoft.com/office/drawing/2014/main" id="{75480594-C0AB-234C-FB1B-F7307DA717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4647385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EC8E4A-03D3-42E2-9A37-E5BC131DAE6C}"/>
              </a:ext>
            </a:extLst>
          </p:cNvPr>
          <p:cNvSpPr>
            <a:spLocks noGrp="1"/>
          </p:cNvSpPr>
          <p:nvPr>
            <p:ph type="title"/>
          </p:nvPr>
        </p:nvSpPr>
        <p:spPr>
          <a:xfrm>
            <a:off x="224246" y="351676"/>
            <a:ext cx="10515600" cy="658722"/>
          </a:xfrm>
        </p:spPr>
        <p:txBody>
          <a:bodyPr>
            <a:normAutofit/>
          </a:bodyPr>
          <a:lstStyle/>
          <a:p>
            <a:r>
              <a:rPr lang="en-US" sz="2800" b="1" dirty="0">
                <a:solidFill>
                  <a:schemeClr val="accent1">
                    <a:lumMod val="50000"/>
                  </a:schemeClr>
                </a:solidFill>
                <a:latin typeface="+mn-lt"/>
              </a:rPr>
              <a:t>Types of Sorting Algorithm</a:t>
            </a:r>
            <a:endParaRPr lang="en-PK" sz="2800" b="1" dirty="0">
              <a:solidFill>
                <a:schemeClr val="accent1">
                  <a:lumMod val="50000"/>
                </a:schemeClr>
              </a:solidFill>
              <a:latin typeface="+mn-lt"/>
            </a:endParaRPr>
          </a:p>
        </p:txBody>
      </p:sp>
      <p:sp>
        <p:nvSpPr>
          <p:cNvPr id="3" name="Footer Placeholder 2">
            <a:extLst>
              <a:ext uri="{FF2B5EF4-FFF2-40B4-BE49-F238E27FC236}">
                <a16:creationId xmlns="" xmlns:a16="http://schemas.microsoft.com/office/drawing/2014/main" id="{926F3D08-CCE6-8518-5597-32FFFB62D11D}"/>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5" name="TextBox 4">
            <a:extLst>
              <a:ext uri="{FF2B5EF4-FFF2-40B4-BE49-F238E27FC236}">
                <a16:creationId xmlns="" xmlns:a16="http://schemas.microsoft.com/office/drawing/2014/main" id="{526BD7FA-73DE-4D4F-9220-D947EC8BA9D9}"/>
              </a:ext>
            </a:extLst>
          </p:cNvPr>
          <p:cNvSpPr txBox="1"/>
          <p:nvPr/>
        </p:nvSpPr>
        <p:spPr>
          <a:xfrm>
            <a:off x="1015557" y="1822559"/>
            <a:ext cx="6093822" cy="3851695"/>
          </a:xfrm>
          <a:prstGeom prst="rect">
            <a:avLst/>
          </a:prstGeom>
          <a:noFill/>
        </p:spPr>
        <p:txBody>
          <a:bodyPr wrap="square">
            <a:spAutoFit/>
          </a:bodyPr>
          <a:lstStyle/>
          <a:p>
            <a:pPr marL="342900" marR="0" lvl="0" indent="-342900">
              <a:lnSpc>
                <a:spcPct val="200000"/>
              </a:lnSpc>
              <a:spcBef>
                <a:spcPts val="0"/>
              </a:spcBef>
              <a:spcAft>
                <a:spcPts val="800"/>
              </a:spcAft>
              <a:buFont typeface="+mj-lt"/>
              <a:buAutoNum type="arabicPeriod"/>
              <a:tabLst>
                <a:tab pos="457200" algn="l"/>
              </a:tabLst>
            </a:pPr>
            <a:r>
              <a:rPr lang="en-PK" b="1" dirty="0">
                <a:solidFill>
                  <a:srgbClr val="333333"/>
                </a:solidFill>
                <a:effectLst/>
                <a:ea typeface="Times New Roman" panose="02020603050405020304" pitchFamily="18" charset="0"/>
                <a:cs typeface="Arial" panose="020B0604020202020204" pitchFamily="34" charset="0"/>
              </a:rPr>
              <a:t>Bubble Sort</a:t>
            </a:r>
            <a:endParaRPr lang="en-PK" b="1" dirty="0">
              <a:solidFill>
                <a:srgbClr val="333333"/>
              </a:solidFill>
              <a:effectLst/>
              <a:ea typeface="Calibri" panose="020F0502020204030204" pitchFamily="34" charset="0"/>
              <a:cs typeface="Arial" panose="020B0604020202020204" pitchFamily="34" charset="0"/>
            </a:endParaRPr>
          </a:p>
          <a:p>
            <a:pPr marL="342900" marR="0" lvl="0" indent="-342900">
              <a:lnSpc>
                <a:spcPct val="200000"/>
              </a:lnSpc>
              <a:spcBef>
                <a:spcPts val="0"/>
              </a:spcBef>
              <a:spcAft>
                <a:spcPts val="800"/>
              </a:spcAft>
              <a:buFont typeface="+mj-lt"/>
              <a:buAutoNum type="arabicPeriod"/>
              <a:tabLst>
                <a:tab pos="457200" algn="l"/>
              </a:tabLst>
            </a:pPr>
            <a:r>
              <a:rPr lang="en-PK" b="1" dirty="0">
                <a:solidFill>
                  <a:srgbClr val="333333"/>
                </a:solidFill>
                <a:effectLst/>
                <a:ea typeface="Times New Roman" panose="02020603050405020304" pitchFamily="18" charset="0"/>
                <a:cs typeface="Arial" panose="020B0604020202020204" pitchFamily="34" charset="0"/>
              </a:rPr>
              <a:t>Insertion Sort</a:t>
            </a:r>
            <a:endParaRPr lang="en-PK" b="1" dirty="0">
              <a:solidFill>
                <a:srgbClr val="333333"/>
              </a:solidFill>
              <a:effectLst/>
              <a:ea typeface="Calibri" panose="020F0502020204030204" pitchFamily="34" charset="0"/>
              <a:cs typeface="Arial" panose="020B0604020202020204" pitchFamily="34" charset="0"/>
            </a:endParaRPr>
          </a:p>
          <a:p>
            <a:pPr marL="342900" marR="0" lvl="0" indent="-342900">
              <a:lnSpc>
                <a:spcPct val="200000"/>
              </a:lnSpc>
              <a:spcBef>
                <a:spcPts val="0"/>
              </a:spcBef>
              <a:spcAft>
                <a:spcPts val="800"/>
              </a:spcAft>
              <a:buFont typeface="+mj-lt"/>
              <a:buAutoNum type="arabicPeriod"/>
              <a:tabLst>
                <a:tab pos="457200" algn="l"/>
              </a:tabLst>
            </a:pPr>
            <a:r>
              <a:rPr lang="en-PK" b="1" dirty="0">
                <a:solidFill>
                  <a:srgbClr val="333333"/>
                </a:solidFill>
                <a:effectLst/>
                <a:ea typeface="Times New Roman" panose="02020603050405020304" pitchFamily="18" charset="0"/>
                <a:cs typeface="Arial" panose="020B0604020202020204" pitchFamily="34" charset="0"/>
              </a:rPr>
              <a:t>Selection Sort</a:t>
            </a:r>
            <a:endParaRPr lang="en-PK" b="1" dirty="0">
              <a:solidFill>
                <a:srgbClr val="333333"/>
              </a:solidFill>
              <a:effectLst/>
              <a:ea typeface="Calibri" panose="020F0502020204030204" pitchFamily="34" charset="0"/>
              <a:cs typeface="Arial" panose="020B0604020202020204" pitchFamily="34" charset="0"/>
            </a:endParaRPr>
          </a:p>
          <a:p>
            <a:pPr marL="342900" marR="0" lvl="0" indent="-342900">
              <a:lnSpc>
                <a:spcPct val="200000"/>
              </a:lnSpc>
              <a:spcBef>
                <a:spcPts val="0"/>
              </a:spcBef>
              <a:spcAft>
                <a:spcPts val="800"/>
              </a:spcAft>
              <a:buFont typeface="+mj-lt"/>
              <a:buAutoNum type="arabicPeriod"/>
              <a:tabLst>
                <a:tab pos="457200" algn="l"/>
              </a:tabLst>
            </a:pPr>
            <a:r>
              <a:rPr lang="en-PK" b="1" dirty="0">
                <a:solidFill>
                  <a:srgbClr val="333333"/>
                </a:solidFill>
                <a:effectLst/>
                <a:ea typeface="Times New Roman" panose="02020603050405020304" pitchFamily="18" charset="0"/>
                <a:cs typeface="Arial" panose="020B0604020202020204" pitchFamily="34" charset="0"/>
              </a:rPr>
              <a:t>Quick Sort</a:t>
            </a:r>
            <a:endParaRPr lang="en-PK" b="1" dirty="0">
              <a:solidFill>
                <a:srgbClr val="333333"/>
              </a:solidFill>
              <a:effectLst/>
              <a:ea typeface="Calibri" panose="020F0502020204030204" pitchFamily="34" charset="0"/>
              <a:cs typeface="Arial" panose="020B0604020202020204" pitchFamily="34" charset="0"/>
            </a:endParaRPr>
          </a:p>
          <a:p>
            <a:pPr marL="342900" marR="0" lvl="0" indent="-342900">
              <a:lnSpc>
                <a:spcPct val="200000"/>
              </a:lnSpc>
              <a:spcBef>
                <a:spcPts val="0"/>
              </a:spcBef>
              <a:spcAft>
                <a:spcPts val="800"/>
              </a:spcAft>
              <a:buFont typeface="+mj-lt"/>
              <a:buAutoNum type="arabicPeriod"/>
              <a:tabLst>
                <a:tab pos="457200" algn="l"/>
              </a:tabLst>
            </a:pPr>
            <a:r>
              <a:rPr lang="en-PK" b="1" dirty="0">
                <a:solidFill>
                  <a:srgbClr val="333333"/>
                </a:solidFill>
                <a:effectLst/>
                <a:ea typeface="Times New Roman" panose="02020603050405020304" pitchFamily="18" charset="0"/>
                <a:cs typeface="Arial" panose="020B0604020202020204" pitchFamily="34" charset="0"/>
              </a:rPr>
              <a:t>Merge Sort</a:t>
            </a:r>
            <a:endParaRPr lang="en-PK" b="1" dirty="0">
              <a:solidFill>
                <a:srgbClr val="333333"/>
              </a:solidFill>
              <a:effectLst/>
              <a:ea typeface="Calibri" panose="020F0502020204030204" pitchFamily="34" charset="0"/>
              <a:cs typeface="Arial" panose="020B0604020202020204" pitchFamily="34" charset="0"/>
            </a:endParaRPr>
          </a:p>
          <a:p>
            <a:pPr marL="342900" marR="0" lvl="0" indent="-342900">
              <a:lnSpc>
                <a:spcPct val="200000"/>
              </a:lnSpc>
              <a:spcBef>
                <a:spcPts val="0"/>
              </a:spcBef>
              <a:spcAft>
                <a:spcPts val="800"/>
              </a:spcAft>
              <a:buFont typeface="+mj-lt"/>
              <a:buAutoNum type="arabicPeriod"/>
              <a:tabLst>
                <a:tab pos="457200" algn="l"/>
              </a:tabLst>
            </a:pPr>
            <a:r>
              <a:rPr lang="en-PK" b="1" dirty="0">
                <a:solidFill>
                  <a:srgbClr val="333333"/>
                </a:solidFill>
                <a:effectLst/>
                <a:ea typeface="Times New Roman" panose="02020603050405020304" pitchFamily="18" charset="0"/>
                <a:cs typeface="Arial" panose="020B0604020202020204" pitchFamily="34" charset="0"/>
              </a:rPr>
              <a:t>Heap Sort</a:t>
            </a:r>
            <a:endParaRPr lang="en-PK" b="1" dirty="0">
              <a:solidFill>
                <a:srgbClr val="333333"/>
              </a:solidFill>
              <a:effectLst/>
              <a:ea typeface="Calibri" panose="020F0502020204030204" pitchFamily="34" charset="0"/>
              <a:cs typeface="Arial" panose="020B0604020202020204" pitchFamily="34" charset="0"/>
            </a:endParaRPr>
          </a:p>
        </p:txBody>
      </p:sp>
      <p:pic>
        <p:nvPicPr>
          <p:cNvPr id="7" name="Picture 6">
            <a:extLst>
              <a:ext uri="{FF2B5EF4-FFF2-40B4-BE49-F238E27FC236}">
                <a16:creationId xmlns="" xmlns:a16="http://schemas.microsoft.com/office/drawing/2014/main" id="{4CC340D7-94DE-83F5-E922-889F9FE49A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9370" y="1169977"/>
            <a:ext cx="6118143" cy="3571356"/>
          </a:xfrm>
          <a:prstGeom prst="rect">
            <a:avLst/>
          </a:prstGeom>
        </p:spPr>
      </p:pic>
    </p:spTree>
    <p:extLst>
      <p:ext uri="{BB962C8B-B14F-4D97-AF65-F5344CB8AC3E}">
        <p14:creationId xmlns:p14="http://schemas.microsoft.com/office/powerpoint/2010/main" val="6816161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ve Top Homeowner Questions We Get at DaVinci Roofscapes –">
            <a:extLst>
              <a:ext uri="{FF2B5EF4-FFF2-40B4-BE49-F238E27FC236}">
                <a16:creationId xmlns="" xmlns:a16="http://schemas.microsoft.com/office/drawing/2014/main" id="{745A3058-15FB-48EE-9002-0144A7F2284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9862" y="0"/>
            <a:ext cx="4792275" cy="629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8112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p:txBody>
          <a:bodyPr/>
          <a:lstStyle/>
          <a:p>
            <a:pPr eaLnBrk="1" hangingPunct="1"/>
            <a:r>
              <a:rPr lang="en-AU" altLang="en-US" smtClean="0"/>
              <a:t>Examples of </a:t>
            </a:r>
            <a:r>
              <a:rPr lang="en-US" altLang="en-US" smtClean="0"/>
              <a:t>Sorting</a:t>
            </a:r>
          </a:p>
        </p:txBody>
      </p:sp>
      <p:sp>
        <p:nvSpPr>
          <p:cNvPr id="5123" name="Rectangle 3">
            <a:extLst>
              <a:ext uri="{FF2B5EF4-FFF2-40B4-BE49-F238E27FC236}"/>
            </a:extLst>
          </p:cNvPr>
          <p:cNvSpPr>
            <a:spLocks noGrp="1" noChangeArrowheads="1"/>
          </p:cNvSpPr>
          <p:nvPr>
            <p:ph idx="1"/>
          </p:nvPr>
        </p:nvSpPr>
        <p:spPr/>
        <p:txBody>
          <a:bodyPr>
            <a:normAutofit fontScale="92500" lnSpcReduction="10000"/>
          </a:bodyPr>
          <a:lstStyle/>
          <a:p>
            <a:pPr eaLnBrk="1" hangingPunct="1">
              <a:lnSpc>
                <a:spcPct val="110000"/>
              </a:lnSpc>
              <a:buFont typeface="Arial" charset="0"/>
              <a:buChar char="•"/>
              <a:defRPr/>
            </a:pPr>
            <a:r>
              <a:rPr lang="en-US" altLang="en-US" dirty="0"/>
              <a:t>Words in a dictionary are sorted (and case distinctions are ignored).</a:t>
            </a:r>
          </a:p>
          <a:p>
            <a:pPr eaLnBrk="1" hangingPunct="1">
              <a:lnSpc>
                <a:spcPct val="110000"/>
              </a:lnSpc>
              <a:buFont typeface="Arial" charset="0"/>
              <a:buChar char="•"/>
              <a:defRPr/>
            </a:pPr>
            <a:r>
              <a:rPr lang="en-US" altLang="en-US" dirty="0"/>
              <a:t>Files in a directory are often listed in sorted order.</a:t>
            </a:r>
          </a:p>
          <a:p>
            <a:pPr eaLnBrk="1" hangingPunct="1">
              <a:lnSpc>
                <a:spcPct val="110000"/>
              </a:lnSpc>
              <a:buFont typeface="Arial" charset="0"/>
              <a:buChar char="•"/>
              <a:defRPr/>
            </a:pPr>
            <a:r>
              <a:rPr lang="en-US" altLang="en-US" dirty="0"/>
              <a:t>The index of a book is sorted (and case distinctions are ignored).</a:t>
            </a:r>
          </a:p>
          <a:p>
            <a:pPr eaLnBrk="1" hangingPunct="1">
              <a:lnSpc>
                <a:spcPct val="110000"/>
              </a:lnSpc>
              <a:buFont typeface="Arial" charset="0"/>
              <a:buChar char="•"/>
              <a:defRPr/>
            </a:pPr>
            <a:r>
              <a:rPr lang="en-US" altLang="en-US" dirty="0"/>
              <a:t>Many banks provide statements that list checks in increasing order (by check number).</a:t>
            </a:r>
          </a:p>
          <a:p>
            <a:pPr eaLnBrk="1" hangingPunct="1">
              <a:lnSpc>
                <a:spcPct val="110000"/>
              </a:lnSpc>
              <a:buFont typeface="Arial" charset="0"/>
              <a:buChar char="•"/>
              <a:defRPr/>
            </a:pPr>
            <a:r>
              <a:rPr lang="en-US" altLang="en-US" dirty="0"/>
              <a:t>In a newspaper, the calendar of events in a schedule is generally sorted by date.</a:t>
            </a:r>
          </a:p>
          <a:p>
            <a:pPr eaLnBrk="1" hangingPunct="1">
              <a:lnSpc>
                <a:spcPct val="110000"/>
              </a:lnSpc>
              <a:buFont typeface="Arial" charset="0"/>
              <a:buChar char="•"/>
              <a:defRPr/>
            </a:pPr>
            <a:r>
              <a:rPr lang="en-US" altLang="en-US" dirty="0"/>
              <a:t>Musical compact disks in a record store are generally sorted by recording artist.</a:t>
            </a:r>
          </a:p>
          <a:p>
            <a:pPr lvl="1" eaLnBrk="1" hangingPunct="1">
              <a:lnSpc>
                <a:spcPct val="110000"/>
              </a:lnSpc>
              <a:buFont typeface="Arial" charset="0"/>
              <a:buChar char="–"/>
              <a:defRPr/>
            </a:pPr>
            <a:endParaRPr lang="en-US" altLang="en-US" dirty="0"/>
          </a:p>
          <a:p>
            <a:pPr eaLnBrk="1" hangingPunct="1">
              <a:lnSpc>
                <a:spcPct val="110000"/>
              </a:lnSpc>
              <a:buFont typeface="Arial" charset="0"/>
              <a:buChar char="•"/>
              <a:defRPr/>
            </a:pPr>
            <a:r>
              <a:rPr lang="en-AU" altLang="en-US" dirty="0"/>
              <a:t>Why?</a:t>
            </a:r>
            <a:endParaRPr lang="en-US" altLang="en-US" dirty="0"/>
          </a:p>
          <a:p>
            <a:pPr lvl="1" eaLnBrk="1" hangingPunct="1">
              <a:lnSpc>
                <a:spcPct val="110000"/>
              </a:lnSpc>
              <a:buFont typeface="Arial" charset="0"/>
              <a:buChar char="–"/>
              <a:defRPr/>
            </a:pPr>
            <a:r>
              <a:rPr lang="en-AU" altLang="en-US" dirty="0"/>
              <a:t>Imagine finding the phone number of your friend in your mobile phone, but the phone book is not sorted.</a:t>
            </a:r>
          </a:p>
          <a:p>
            <a:pPr eaLnBrk="1" hangingPunct="1">
              <a:lnSpc>
                <a:spcPct val="110000"/>
              </a:lnSpc>
              <a:buFont typeface="Arial" charset="0"/>
              <a:buChar char="•"/>
              <a:defRPr/>
            </a:pPr>
            <a:endParaRPr lang="en-US" altLang="en-US" dirty="0"/>
          </a:p>
        </p:txBody>
      </p:sp>
    </p:spTree>
    <p:extLst>
      <p:ext uri="{BB962C8B-B14F-4D97-AF65-F5344CB8AC3E}">
        <p14:creationId xmlns:p14="http://schemas.microsoft.com/office/powerpoint/2010/main" val="3710756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a:lstStyle/>
          <a:p>
            <a:pPr eaLnBrk="1" hangingPunct="1"/>
            <a:r>
              <a:rPr lang="en-US" altLang="en-US" smtClean="0"/>
              <a:t>Selection Sort: Idea</a:t>
            </a:r>
          </a:p>
        </p:txBody>
      </p:sp>
      <p:sp>
        <p:nvSpPr>
          <p:cNvPr id="4" name="Content Placeholder 3">
            <a:extLst>
              <a:ext uri="{FF2B5EF4-FFF2-40B4-BE49-F238E27FC236}">
                <a16:creationId xmlns="" xmlns:a16="http://schemas.microsoft.com/office/drawing/2014/main" id="{04AEEB76-2A16-4727-8695-507C2B9F3F0E}"/>
              </a:ext>
            </a:extLst>
          </p:cNvPr>
          <p:cNvSpPr txBox="1">
            <a:spLocks noGrp="1"/>
          </p:cNvSpPr>
          <p:nvPr>
            <p:ph idx="1"/>
          </p:nvPr>
        </p:nvSpPr>
        <p:spPr>
          <a:prstGeom prst="rect">
            <a:avLst/>
          </a:prstGeom>
          <a:noFill/>
        </p:spPr>
        <p:txBody>
          <a:bodyPr wrap="square">
            <a:spAutoFit/>
          </a:bodyPr>
          <a:lstStyle/>
          <a:p>
            <a:pPr marL="285750" marR="0" indent="-285750" algn="just">
              <a:lnSpc>
                <a:spcPct val="107000"/>
              </a:lnSpc>
              <a:spcBef>
                <a:spcPts val="0"/>
              </a:spcBef>
              <a:spcAft>
                <a:spcPts val="750"/>
              </a:spcAft>
              <a:buFont typeface="Arial" panose="020B0604020202020204" pitchFamily="34" charset="0"/>
              <a:buChar char="•"/>
            </a:pPr>
            <a:r>
              <a:rPr lang="en-PK" sz="1800" dirty="0">
                <a:solidFill>
                  <a:srgbClr val="333333"/>
                </a:solidFill>
                <a:effectLst/>
                <a:ea typeface="Times New Roman" panose="02020603050405020304" pitchFamily="18" charset="0"/>
                <a:cs typeface="Arial" panose="020B0604020202020204" pitchFamily="34" charset="0"/>
              </a:rPr>
              <a:t>Selection sort is conceptually the most simplest sorting algorithm. This algorithm</a:t>
            </a:r>
            <a:r>
              <a:rPr lang="en-US" sz="1800" dirty="0">
                <a:solidFill>
                  <a:srgbClr val="333333"/>
                </a:solidFill>
                <a:effectLst/>
                <a:ea typeface="Times New Roman" panose="02020603050405020304" pitchFamily="18" charset="0"/>
                <a:cs typeface="Arial" panose="020B0604020202020204" pitchFamily="34" charset="0"/>
              </a:rPr>
              <a:t>,</a:t>
            </a:r>
            <a:r>
              <a:rPr lang="en-PK" sz="1800" dirty="0">
                <a:solidFill>
                  <a:srgbClr val="333333"/>
                </a:solidFill>
                <a:effectLst/>
                <a:ea typeface="Times New Roman" panose="02020603050405020304" pitchFamily="18" charset="0"/>
                <a:cs typeface="Arial" panose="020B0604020202020204" pitchFamily="34" charset="0"/>
              </a:rPr>
              <a:t> first find</a:t>
            </a:r>
            <a:r>
              <a:rPr lang="en-US" sz="1800" dirty="0">
                <a:solidFill>
                  <a:srgbClr val="333333"/>
                </a:solidFill>
                <a:effectLst/>
                <a:ea typeface="Times New Roman" panose="02020603050405020304" pitchFamily="18" charset="0"/>
                <a:cs typeface="Arial" panose="020B0604020202020204" pitchFamily="34" charset="0"/>
              </a:rPr>
              <a:t>s</a:t>
            </a:r>
            <a:r>
              <a:rPr lang="en-PK" sz="1800" dirty="0">
                <a:solidFill>
                  <a:srgbClr val="333333"/>
                </a:solidFill>
                <a:effectLst/>
                <a:ea typeface="Times New Roman" panose="02020603050405020304" pitchFamily="18" charset="0"/>
                <a:cs typeface="Arial" panose="020B0604020202020204" pitchFamily="34" charset="0"/>
              </a:rPr>
              <a:t> the </a:t>
            </a:r>
            <a:r>
              <a:rPr lang="en-PK" sz="1800" b="1" dirty="0">
                <a:solidFill>
                  <a:srgbClr val="333333"/>
                </a:solidFill>
                <a:effectLst/>
                <a:ea typeface="Times New Roman" panose="02020603050405020304" pitchFamily="18" charset="0"/>
                <a:cs typeface="Arial" panose="020B0604020202020204" pitchFamily="34" charset="0"/>
              </a:rPr>
              <a:t>smallest</a:t>
            </a:r>
            <a:r>
              <a:rPr lang="en-PK" sz="1800" dirty="0">
                <a:solidFill>
                  <a:srgbClr val="333333"/>
                </a:solidFill>
                <a:effectLst/>
                <a:ea typeface="Times New Roman" panose="02020603050405020304" pitchFamily="18" charset="0"/>
                <a:cs typeface="Arial" panose="020B0604020202020204" pitchFamily="34" charset="0"/>
              </a:rPr>
              <a:t> element in the array and swap it with the element in the </a:t>
            </a:r>
            <a:r>
              <a:rPr lang="en-PK" sz="1800" b="1" dirty="0">
                <a:solidFill>
                  <a:srgbClr val="333333"/>
                </a:solidFill>
                <a:effectLst/>
                <a:ea typeface="Times New Roman" panose="02020603050405020304" pitchFamily="18" charset="0"/>
                <a:cs typeface="Arial" panose="020B0604020202020204" pitchFamily="34" charset="0"/>
              </a:rPr>
              <a:t>first</a:t>
            </a:r>
            <a:r>
              <a:rPr lang="en-PK" sz="1800" dirty="0">
                <a:solidFill>
                  <a:srgbClr val="333333"/>
                </a:solidFill>
                <a:effectLst/>
                <a:ea typeface="Times New Roman" panose="02020603050405020304" pitchFamily="18" charset="0"/>
                <a:cs typeface="Arial" panose="020B0604020202020204" pitchFamily="34" charset="0"/>
              </a:rPr>
              <a:t> position, then it find</a:t>
            </a:r>
            <a:r>
              <a:rPr lang="en-US" sz="1800" dirty="0">
                <a:solidFill>
                  <a:srgbClr val="333333"/>
                </a:solidFill>
                <a:effectLst/>
                <a:ea typeface="Times New Roman" panose="02020603050405020304" pitchFamily="18" charset="0"/>
                <a:cs typeface="Arial" panose="020B0604020202020204" pitchFamily="34" charset="0"/>
              </a:rPr>
              <a:t>s</a:t>
            </a:r>
            <a:r>
              <a:rPr lang="en-PK" sz="1800" dirty="0">
                <a:solidFill>
                  <a:srgbClr val="333333"/>
                </a:solidFill>
                <a:effectLst/>
                <a:ea typeface="Times New Roman" panose="02020603050405020304" pitchFamily="18" charset="0"/>
                <a:cs typeface="Arial" panose="020B0604020202020204" pitchFamily="34" charset="0"/>
              </a:rPr>
              <a:t> the </a:t>
            </a:r>
            <a:r>
              <a:rPr lang="en-PK" sz="1800" b="1" dirty="0">
                <a:solidFill>
                  <a:srgbClr val="333333"/>
                </a:solidFill>
                <a:effectLst/>
                <a:ea typeface="Times New Roman" panose="02020603050405020304" pitchFamily="18" charset="0"/>
                <a:cs typeface="Arial" panose="020B0604020202020204" pitchFamily="34" charset="0"/>
              </a:rPr>
              <a:t>second smallest</a:t>
            </a:r>
            <a:r>
              <a:rPr lang="en-PK" sz="1800" dirty="0">
                <a:solidFill>
                  <a:srgbClr val="333333"/>
                </a:solidFill>
                <a:effectLst/>
                <a:ea typeface="Times New Roman" panose="02020603050405020304" pitchFamily="18" charset="0"/>
                <a:cs typeface="Arial" panose="020B0604020202020204" pitchFamily="34" charset="0"/>
              </a:rPr>
              <a:t> element and swap it with the element in the </a:t>
            </a:r>
            <a:r>
              <a:rPr lang="en-PK" sz="1800" b="1" dirty="0">
                <a:solidFill>
                  <a:srgbClr val="333333"/>
                </a:solidFill>
                <a:effectLst/>
                <a:ea typeface="Times New Roman" panose="02020603050405020304" pitchFamily="18" charset="0"/>
                <a:cs typeface="Arial" panose="020B0604020202020204" pitchFamily="34" charset="0"/>
              </a:rPr>
              <a:t>second</a:t>
            </a:r>
            <a:r>
              <a:rPr lang="en-PK" sz="1800" dirty="0">
                <a:solidFill>
                  <a:srgbClr val="333333"/>
                </a:solidFill>
                <a:effectLst/>
                <a:ea typeface="Times New Roman" panose="02020603050405020304" pitchFamily="18" charset="0"/>
                <a:cs typeface="Arial" panose="020B0604020202020204" pitchFamily="34" charset="0"/>
              </a:rPr>
              <a:t> position, and it will keep on doing this until the entire array is sorted.</a:t>
            </a:r>
            <a:endParaRPr lang="en-US" sz="1800" dirty="0">
              <a:solidFill>
                <a:srgbClr val="333333"/>
              </a:solidFill>
              <a:effectLst/>
              <a:ea typeface="Times New Roman" panose="02020603050405020304" pitchFamily="18" charset="0"/>
              <a:cs typeface="Arial" panose="020B0604020202020204" pitchFamily="34" charset="0"/>
            </a:endParaRPr>
          </a:p>
          <a:p>
            <a:pPr marL="285750" indent="-285750" algn="just">
              <a:lnSpc>
                <a:spcPct val="107000"/>
              </a:lnSpc>
              <a:spcAft>
                <a:spcPts val="750"/>
              </a:spcAft>
              <a:buFont typeface="Arial" panose="020B0604020202020204" pitchFamily="34" charset="0"/>
              <a:buChar char="•"/>
            </a:pPr>
            <a:r>
              <a:rPr lang="en-US"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a:t>
            </a: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 repeatedly </a:t>
            </a:r>
            <a:r>
              <a:rPr lang="en-PK" sz="18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selects</a:t>
            </a:r>
            <a:r>
              <a:rPr lang="en-PK" sz="18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the next-smallest element and swaps it into the right place.</a:t>
            </a:r>
            <a:endParaRPr lang="en-PK" sz="1800" dirty="0">
              <a:effectLst/>
              <a:latin typeface="Calibri" panose="020F0502020204030204" pitchFamily="34" charset="0"/>
              <a:ea typeface="Times New Roman" panose="02020603050405020304" pitchFamily="18" charset="0"/>
              <a:cs typeface="Arial" panose="020B0604020202020204" pitchFamily="34" charset="0"/>
            </a:endParaRPr>
          </a:p>
          <a:p>
            <a:pPr marL="285750" marR="0" indent="-285750" algn="just">
              <a:lnSpc>
                <a:spcPct val="107000"/>
              </a:lnSpc>
              <a:spcBef>
                <a:spcPts val="0"/>
              </a:spcBef>
              <a:spcAft>
                <a:spcPts val="750"/>
              </a:spcAft>
              <a:buFont typeface="Arial" panose="020B0604020202020204" pitchFamily="34" charset="0"/>
              <a:buChar char="•"/>
            </a:pPr>
            <a:endParaRPr lang="en-PK" sz="1600" dirty="0">
              <a:effectLst/>
              <a:ea typeface="Times New Roman" panose="02020603050405020304" pitchFamily="18" charset="0"/>
              <a:cs typeface="Arial" panose="020B0604020202020204" pitchFamily="34" charset="0"/>
            </a:endParaRPr>
          </a:p>
        </p:txBody>
      </p:sp>
      <p:sp>
        <p:nvSpPr>
          <p:cNvPr id="5" name="Content Placeholder 2">
            <a:extLst>
              <a:ext uri="{FF2B5EF4-FFF2-40B4-BE49-F238E27FC236}">
                <a16:creationId xmlns="" xmlns:a16="http://schemas.microsoft.com/office/drawing/2014/main" id="{8C036308-C538-4843-A13A-A4993BDE420D}"/>
              </a:ext>
            </a:extLst>
          </p:cNvPr>
          <p:cNvSpPr txBox="1">
            <a:spLocks/>
          </p:cNvSpPr>
          <p:nvPr/>
        </p:nvSpPr>
        <p:spPr>
          <a:xfrm>
            <a:off x="1644227" y="4098078"/>
            <a:ext cx="9170528" cy="165925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n-US" sz="1800" smtClean="0"/>
              <a:t>A) Comparison : which test whether Ai &lt; Aj or test whether Ai &lt; B</a:t>
            </a:r>
          </a:p>
          <a:p>
            <a:pPr algn="just"/>
            <a:r>
              <a:rPr lang="en-US" sz="1800" smtClean="0"/>
              <a:t>B) Interchanges: which switch the content of Ai and Aj or of Ai and B</a:t>
            </a:r>
          </a:p>
          <a:p>
            <a:pPr algn="just"/>
            <a:r>
              <a:rPr lang="en-US" sz="1800" smtClean="0"/>
              <a:t>C) Assignments: which set B:=Ai and then set Ai:=B or Aj:=Ai</a:t>
            </a:r>
            <a:endParaRPr lang="en-PK" sz="1800" dirty="0"/>
          </a:p>
        </p:txBody>
      </p:sp>
      <p:sp>
        <p:nvSpPr>
          <p:cNvPr id="6" name="TextBox 5">
            <a:extLst>
              <a:ext uri="{FF2B5EF4-FFF2-40B4-BE49-F238E27FC236}">
                <a16:creationId xmlns="" xmlns:a16="http://schemas.microsoft.com/office/drawing/2014/main" id="{B50463A8-110D-45EE-995F-53E2ABABA40A}"/>
              </a:ext>
            </a:extLst>
          </p:cNvPr>
          <p:cNvSpPr txBox="1"/>
          <p:nvPr/>
        </p:nvSpPr>
        <p:spPr>
          <a:xfrm>
            <a:off x="1644227" y="5545928"/>
            <a:ext cx="5715000" cy="646331"/>
          </a:xfrm>
          <a:prstGeom prst="rect">
            <a:avLst/>
          </a:prstGeom>
          <a:noFill/>
        </p:spPr>
        <p:txBody>
          <a:bodyPr wrap="square" rtlCol="0">
            <a:spAutoFit/>
          </a:bodyPr>
          <a:lstStyle/>
          <a:p>
            <a:r>
              <a:rPr lang="en-US" b="1" dirty="0"/>
              <a:t>Example:</a:t>
            </a:r>
          </a:p>
          <a:p>
            <a:pPr algn="just"/>
            <a:r>
              <a:rPr lang="en-US" dirty="0"/>
              <a:t>	Array = [3,6,1,8,4,5]</a:t>
            </a:r>
            <a:endParaRPr lang="en-PK" dirty="0"/>
          </a:p>
        </p:txBody>
      </p:sp>
    </p:spTree>
    <p:extLst>
      <p:ext uri="{BB962C8B-B14F-4D97-AF65-F5344CB8AC3E}">
        <p14:creationId xmlns:p14="http://schemas.microsoft.com/office/powerpoint/2010/main" val="25034726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3CFB46-97E2-4D0A-907E-37B9A168F899}"/>
              </a:ext>
            </a:extLst>
          </p:cNvPr>
          <p:cNvSpPr>
            <a:spLocks noGrp="1"/>
          </p:cNvSpPr>
          <p:nvPr>
            <p:ph type="title"/>
          </p:nvPr>
        </p:nvSpPr>
        <p:spPr>
          <a:xfrm>
            <a:off x="401320" y="294640"/>
            <a:ext cx="10515600" cy="623888"/>
          </a:xfrm>
        </p:spPr>
        <p:txBody>
          <a:bodyPr>
            <a:normAutofit/>
          </a:bodyPr>
          <a:lstStyle/>
          <a:p>
            <a:r>
              <a:rPr lang="en-US" sz="2400" b="1" dirty="0">
                <a:solidFill>
                  <a:schemeClr val="accent1">
                    <a:lumMod val="50000"/>
                  </a:schemeClr>
                </a:solidFill>
                <a:latin typeface="+mn-lt"/>
              </a:rPr>
              <a:t>How Selection Sort works?</a:t>
            </a:r>
            <a:endParaRPr lang="en-PK" sz="2400" b="1" dirty="0">
              <a:solidFill>
                <a:schemeClr val="accent1">
                  <a:lumMod val="50000"/>
                </a:schemeClr>
              </a:solidFill>
              <a:latin typeface="+mn-lt"/>
            </a:endParaRPr>
          </a:p>
        </p:txBody>
      </p:sp>
      <p:sp>
        <p:nvSpPr>
          <p:cNvPr id="3" name="Content Placeholder 2">
            <a:extLst>
              <a:ext uri="{FF2B5EF4-FFF2-40B4-BE49-F238E27FC236}">
                <a16:creationId xmlns="" xmlns:a16="http://schemas.microsoft.com/office/drawing/2014/main" id="{3077260C-AA8B-4C4F-8EC7-20BD86922692}"/>
              </a:ext>
            </a:extLst>
          </p:cNvPr>
          <p:cNvSpPr>
            <a:spLocks noGrp="1"/>
          </p:cNvSpPr>
          <p:nvPr>
            <p:ph idx="1"/>
          </p:nvPr>
        </p:nvSpPr>
        <p:spPr>
          <a:xfrm>
            <a:off x="401320" y="1012825"/>
            <a:ext cx="10515600" cy="4351338"/>
          </a:xfrm>
        </p:spPr>
        <p:txBody>
          <a:bodyPr/>
          <a:lstStyle/>
          <a:p>
            <a:pPr>
              <a:lnSpc>
                <a:spcPct val="150000"/>
              </a:lnSpc>
            </a:pPr>
            <a:r>
              <a:rPr lang="en-PK" sz="1800" dirty="0">
                <a:solidFill>
                  <a:srgbClr val="333333"/>
                </a:solidFill>
                <a:effectLst/>
                <a:ea typeface="Times New Roman" panose="02020603050405020304" pitchFamily="18" charset="0"/>
                <a:cs typeface="Arial" panose="020B0604020202020204" pitchFamily="34" charset="0"/>
              </a:rPr>
              <a:t>Following are the steps involved in selection sort (for sorting a given array in ascending order</a:t>
            </a:r>
            <a:r>
              <a:rPr lang="en-PK" sz="1800" dirty="0" smtClean="0">
                <a:solidFill>
                  <a:srgbClr val="333333"/>
                </a:solidFill>
                <a:effectLst/>
                <a:ea typeface="Times New Roman" panose="02020603050405020304" pitchFamily="18" charset="0"/>
                <a:cs typeface="Arial" panose="020B0604020202020204" pitchFamily="34" charset="0"/>
              </a:rPr>
              <a:t>):</a:t>
            </a:r>
            <a:endParaRPr lang="en-GB" sz="1800" dirty="0" smtClean="0">
              <a:solidFill>
                <a:srgbClr val="333333"/>
              </a:solidFill>
              <a:effectLst/>
              <a:ea typeface="Times New Roman" panose="02020603050405020304" pitchFamily="18" charset="0"/>
              <a:cs typeface="Arial" panose="020B0604020202020204" pitchFamily="34" charset="0"/>
            </a:endParaRPr>
          </a:p>
          <a:p>
            <a:pPr>
              <a:lnSpc>
                <a:spcPct val="150000"/>
              </a:lnSpc>
            </a:pPr>
            <a:endParaRPr lang="en-US" sz="1800" dirty="0">
              <a:solidFill>
                <a:srgbClr val="333333"/>
              </a:solidFill>
              <a:effectLst/>
              <a:ea typeface="Times New Roman" panose="02020603050405020304" pitchFamily="18" charset="0"/>
              <a:cs typeface="Arial" panose="020B0604020202020204" pitchFamily="34" charset="0"/>
            </a:endParaRPr>
          </a:p>
          <a:p>
            <a:pPr marL="800100" lvl="1" indent="-342900">
              <a:lnSpc>
                <a:spcPct val="150000"/>
              </a:lnSpc>
              <a:buFont typeface="+mj-lt"/>
              <a:buAutoNum type="arabicPeriod"/>
            </a:pPr>
            <a:r>
              <a:rPr lang="en-PK" sz="1800" dirty="0">
                <a:solidFill>
                  <a:srgbClr val="333333"/>
                </a:solidFill>
                <a:effectLst/>
                <a:ea typeface="Times New Roman" panose="02020603050405020304" pitchFamily="18" charset="0"/>
              </a:rPr>
              <a:t>Starting from the first element, we search the smallest element in the array, and replace it with the element in the first position.</a:t>
            </a:r>
            <a:endParaRPr lang="en-US" sz="1800" dirty="0">
              <a:solidFill>
                <a:srgbClr val="333333"/>
              </a:solidFill>
              <a:effectLst/>
              <a:ea typeface="Times New Roman" panose="02020603050405020304" pitchFamily="18" charset="0"/>
            </a:endParaRPr>
          </a:p>
          <a:p>
            <a:pPr marL="800100" lvl="1" indent="-342900">
              <a:lnSpc>
                <a:spcPct val="150000"/>
              </a:lnSpc>
              <a:buFont typeface="+mj-lt"/>
              <a:buAutoNum type="arabicPeriod"/>
            </a:pPr>
            <a:r>
              <a:rPr lang="en-PK" sz="1800" dirty="0">
                <a:solidFill>
                  <a:srgbClr val="333333"/>
                </a:solidFill>
                <a:effectLst/>
                <a:ea typeface="Times New Roman" panose="02020603050405020304" pitchFamily="18" charset="0"/>
              </a:rPr>
              <a:t>We then move on to the second position, and look for smallest element present in the subarray, starting from index </a:t>
            </a:r>
            <a:r>
              <a:rPr lang="en-PK" sz="1800" dirty="0">
                <a:solidFill>
                  <a:srgbClr val="C7254E"/>
                </a:solidFill>
                <a:effectLst/>
                <a:ea typeface="Times New Roman" panose="02020603050405020304" pitchFamily="18" charset="0"/>
              </a:rPr>
              <a:t>1</a:t>
            </a:r>
            <a:r>
              <a:rPr lang="en-PK" sz="1800" dirty="0">
                <a:solidFill>
                  <a:srgbClr val="333333"/>
                </a:solidFill>
                <a:effectLst/>
                <a:ea typeface="Times New Roman" panose="02020603050405020304" pitchFamily="18" charset="0"/>
              </a:rPr>
              <a:t>, till the last index.</a:t>
            </a:r>
            <a:endParaRPr lang="en-US" sz="1800" dirty="0">
              <a:solidFill>
                <a:srgbClr val="333333"/>
              </a:solidFill>
              <a:ea typeface="Times New Roman" panose="02020603050405020304" pitchFamily="18" charset="0"/>
            </a:endParaRPr>
          </a:p>
          <a:p>
            <a:pPr marL="800100" lvl="1" indent="-342900">
              <a:lnSpc>
                <a:spcPct val="150000"/>
              </a:lnSpc>
              <a:buFont typeface="+mj-lt"/>
              <a:buAutoNum type="arabicPeriod"/>
            </a:pPr>
            <a:r>
              <a:rPr lang="en-PK" sz="1800" dirty="0">
                <a:solidFill>
                  <a:srgbClr val="333333"/>
                </a:solidFill>
                <a:effectLst/>
                <a:ea typeface="Times New Roman" panose="02020603050405020304" pitchFamily="18" charset="0"/>
              </a:rPr>
              <a:t>We replace the element at the </a:t>
            </a:r>
            <a:r>
              <a:rPr lang="en-PK" sz="1800" b="1" dirty="0">
                <a:solidFill>
                  <a:srgbClr val="333333"/>
                </a:solidFill>
                <a:effectLst/>
                <a:ea typeface="Times New Roman" panose="02020603050405020304" pitchFamily="18" charset="0"/>
              </a:rPr>
              <a:t>second</a:t>
            </a:r>
            <a:r>
              <a:rPr lang="en-PK" sz="1800" dirty="0">
                <a:solidFill>
                  <a:srgbClr val="333333"/>
                </a:solidFill>
                <a:effectLst/>
                <a:ea typeface="Times New Roman" panose="02020603050405020304" pitchFamily="18" charset="0"/>
              </a:rPr>
              <a:t> position in the original array, or we can say at the first position in the subarray, with the second smallest element.</a:t>
            </a:r>
            <a:endParaRPr lang="en-US" sz="1800" dirty="0">
              <a:solidFill>
                <a:srgbClr val="333333"/>
              </a:solidFill>
              <a:effectLst/>
              <a:ea typeface="Times New Roman" panose="02020603050405020304" pitchFamily="18" charset="0"/>
            </a:endParaRPr>
          </a:p>
          <a:p>
            <a:pPr marL="800100" lvl="1" indent="-342900">
              <a:lnSpc>
                <a:spcPct val="150000"/>
              </a:lnSpc>
              <a:buFont typeface="+mj-lt"/>
              <a:buAutoNum type="arabicPeriod"/>
            </a:pPr>
            <a:r>
              <a:rPr lang="en-PK" sz="1800" dirty="0">
                <a:solidFill>
                  <a:srgbClr val="333333"/>
                </a:solidFill>
                <a:effectLst/>
                <a:ea typeface="Times New Roman" panose="02020603050405020304" pitchFamily="18" charset="0"/>
                <a:cs typeface="Arial" panose="020B0604020202020204" pitchFamily="34" charset="0"/>
              </a:rPr>
              <a:t>This is repeated, until the array is completely sorted.</a:t>
            </a:r>
          </a:p>
          <a:p>
            <a:pPr lvl="1">
              <a:lnSpc>
                <a:spcPct val="150000"/>
              </a:lnSpc>
            </a:pPr>
            <a:endParaRPr lang="en-PK" sz="1400" dirty="0">
              <a:effectLst/>
              <a:ea typeface="Times New Roman" panose="02020603050405020304" pitchFamily="18" charset="0"/>
              <a:cs typeface="Arial" panose="020B0604020202020204" pitchFamily="34" charset="0"/>
            </a:endParaRPr>
          </a:p>
        </p:txBody>
      </p:sp>
      <p:sp>
        <p:nvSpPr>
          <p:cNvPr id="6" name="Footer Placeholder 2">
            <a:extLst>
              <a:ext uri="{FF2B5EF4-FFF2-40B4-BE49-F238E27FC236}">
                <a16:creationId xmlns="" xmlns:a16="http://schemas.microsoft.com/office/drawing/2014/main" id="{69198D7A-38E2-ACD9-BF78-A9ADB824B284}"/>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7" name="Picture 6">
            <a:extLst>
              <a:ext uri="{FF2B5EF4-FFF2-40B4-BE49-F238E27FC236}">
                <a16:creationId xmlns="" xmlns:a16="http://schemas.microsoft.com/office/drawing/2014/main" id="{E2EA9AC2-E12B-AEDF-E225-E97541DCFE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1941933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lstStyle/>
          <a:p>
            <a:pPr eaLnBrk="1" hangingPunct="1"/>
            <a:r>
              <a:rPr lang="en-US" altLang="en-US" smtClean="0"/>
              <a:t>Selection Sort</a:t>
            </a:r>
          </a:p>
        </p:txBody>
      </p:sp>
      <p:sp>
        <p:nvSpPr>
          <p:cNvPr id="12291" name="Rectangle 3"/>
          <p:cNvSpPr>
            <a:spLocks noGrp="1"/>
          </p:cNvSpPr>
          <p:nvPr>
            <p:ph idx="1"/>
          </p:nvPr>
        </p:nvSpPr>
        <p:spPr/>
        <p:txBody>
          <a:bodyPr/>
          <a:lstStyle/>
          <a:p>
            <a:pPr marL="571500" indent="-571500">
              <a:buFont typeface="Wingdings" panose="05000000000000000000" pitchFamily="2" charset="2"/>
              <a:buAutoNum type="arabicPeriod"/>
            </a:pPr>
            <a:r>
              <a:rPr lang="en-AU" altLang="en-US" sz="2400"/>
              <a:t>Select the “</a:t>
            </a:r>
            <a:r>
              <a:rPr lang="en-AU" altLang="en-US" sz="2400">
                <a:solidFill>
                  <a:srgbClr val="002060"/>
                </a:solidFill>
              </a:rPr>
              <a:t>best</a:t>
            </a:r>
            <a:r>
              <a:rPr lang="en-AU" altLang="en-US" sz="2400"/>
              <a:t>” (eg. largest) item from the unsorted group, then put the “</a:t>
            </a:r>
            <a:r>
              <a:rPr lang="en-AU" altLang="en-US" sz="2400">
                <a:solidFill>
                  <a:srgbClr val="002060"/>
                </a:solidFill>
              </a:rPr>
              <a:t>best</a:t>
            </a:r>
            <a:r>
              <a:rPr lang="en-AU" altLang="en-US" sz="2400"/>
              <a:t>” item at the end of the sorted group.</a:t>
            </a:r>
          </a:p>
          <a:p>
            <a:pPr marL="571500" indent="-571500">
              <a:buFont typeface="Wingdings" panose="05000000000000000000" pitchFamily="2" charset="2"/>
              <a:buAutoNum type="arabicPeriod"/>
            </a:pPr>
            <a:r>
              <a:rPr lang="en-AU" altLang="en-US" sz="2400"/>
              <a:t>Repeat the process until the unsorted group becomes empty.</a:t>
            </a:r>
          </a:p>
          <a:p>
            <a:pPr marL="571500" indent="-571500">
              <a:buFont typeface="Wingdings" panose="05000000000000000000" pitchFamily="2" charset="2"/>
              <a:buAutoNum type="arabicPeriod"/>
            </a:pPr>
            <a:r>
              <a:rPr lang="en-AU" altLang="en-US" sz="2400"/>
              <a:t>Can also be done using smallest item strategy</a:t>
            </a:r>
          </a:p>
          <a:p>
            <a:pPr marL="571500" indent="-571500"/>
            <a:endParaRPr lang="en-US" altLang="en-US" sz="2400"/>
          </a:p>
        </p:txBody>
      </p:sp>
    </p:spTree>
    <p:extLst>
      <p:ext uri="{BB962C8B-B14F-4D97-AF65-F5344CB8AC3E}">
        <p14:creationId xmlns:p14="http://schemas.microsoft.com/office/powerpoint/2010/main" val="23640759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125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dirty="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3331"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3332"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3333"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3334"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3335"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7088770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9"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2275"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dirty="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dirty="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dirty="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4354"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4355"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4356"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4357"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4358"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6808170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3"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3299"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5378"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5379"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5380"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5381"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5382"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9937460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7"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4323"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6402"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6403"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6404"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6405"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6406"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117414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1"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5347"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7426"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7427"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7428"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7429"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7430"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7961356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55"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637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8450"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8451"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8452"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8453"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8454"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27903354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9"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7395"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extLst>
              </a:tr>
            </a:tbl>
          </a:graphicData>
        </a:graphic>
      </p:graphicFrame>
      <p:sp>
        <p:nvSpPr>
          <p:cNvPr id="19474"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9475"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9476"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9477"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9478"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8247264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4"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8419"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20498"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0499"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0500"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0501"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0502"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
        <p:nvSpPr>
          <p:cNvPr id="20503" name="Text Box 24"/>
          <p:cNvSpPr txBox="1">
            <a:spLocks noChangeArrowheads="1"/>
          </p:cNvSpPr>
          <p:nvPr/>
        </p:nvSpPr>
        <p:spPr bwMode="auto">
          <a:xfrm>
            <a:off x="7664450" y="3581400"/>
            <a:ext cx="1009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CA" altLang="en-US" sz="1800" b="1">
                <a:latin typeface="Arial" panose="020B0604020202020204" pitchFamily="34" charset="0"/>
                <a:sym typeface="Wingdings 3" panose="05040102010807070707" pitchFamily="18" charset="2"/>
              </a:rPr>
              <a:t></a:t>
            </a:r>
          </a:p>
          <a:p>
            <a:pPr algn="ctr" eaLnBrk="1" hangingPunct="1">
              <a:spcBef>
                <a:spcPct val="0"/>
              </a:spcBef>
              <a:buFontTx/>
              <a:buNone/>
            </a:pPr>
            <a:r>
              <a:rPr lang="en-CA" altLang="en-US" sz="1800" b="1">
                <a:latin typeface="Arial" panose="020B0604020202020204" pitchFamily="34" charset="0"/>
              </a:rPr>
              <a:t>Largest</a:t>
            </a:r>
          </a:p>
        </p:txBody>
      </p:sp>
    </p:spTree>
    <p:extLst>
      <p:ext uri="{BB962C8B-B14F-4D97-AF65-F5344CB8AC3E}">
        <p14:creationId xmlns:p14="http://schemas.microsoft.com/office/powerpoint/2010/main" val="42798107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7"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89443"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extLst>
              </a:tr>
            </a:tbl>
          </a:graphicData>
        </a:graphic>
      </p:graphicFrame>
      <p:sp>
        <p:nvSpPr>
          <p:cNvPr id="21522"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1523"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1524"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1525"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1526"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27220512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51"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90467"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22546"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547"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548"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549"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2550"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8964951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5"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9149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23570"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3571"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3572"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3573"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3574"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8491403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99"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92515"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24594"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4595"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4596"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4597"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4598"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3397812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23"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93539"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25618"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5619"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5620"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5621"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5622"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9174045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7"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194563"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26642"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6643"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6644"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6645"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26646"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1151384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5"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173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3810"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3811"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3812"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3813"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3814"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8250196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9"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2755"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4834"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4835"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4836"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4837"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4838"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3990166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64"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3779"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5858"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5859"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5860"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5861"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5862"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
        <p:nvSpPr>
          <p:cNvPr id="35863" name="Rectangle 24"/>
          <p:cNvSpPr>
            <a:spLocks noChangeArrowheads="1"/>
          </p:cNvSpPr>
          <p:nvPr/>
        </p:nvSpPr>
        <p:spPr bwMode="auto">
          <a:xfrm>
            <a:off x="6311900" y="3573464"/>
            <a:ext cx="10096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CA" altLang="en-US" sz="1800" b="1">
                <a:latin typeface="Arial" panose="020B0604020202020204" pitchFamily="34" charset="0"/>
                <a:sym typeface="Wingdings 3" panose="05040102010807070707" pitchFamily="18" charset="2"/>
              </a:rPr>
              <a:t></a:t>
            </a:r>
            <a:endParaRPr lang="en-CA" altLang="en-US" sz="1800" b="1">
              <a:latin typeface="Arial" panose="020B0604020202020204" pitchFamily="34" charset="0"/>
            </a:endParaRPr>
          </a:p>
          <a:p>
            <a:pPr algn="ctr" eaLnBrk="1" hangingPunct="1">
              <a:spcBef>
                <a:spcPct val="0"/>
              </a:spcBef>
              <a:buFontTx/>
              <a:buNone/>
            </a:pPr>
            <a:r>
              <a:rPr lang="en-CA" altLang="en-US" sz="1800" b="1">
                <a:latin typeface="Arial" panose="020B0604020202020204" pitchFamily="34" charset="0"/>
              </a:rPr>
              <a:t>Largest</a:t>
            </a:r>
          </a:p>
          <a:p>
            <a:pPr algn="ctr">
              <a:spcBef>
                <a:spcPct val="0"/>
              </a:spcBef>
              <a:buFontTx/>
              <a:buNone/>
            </a:pPr>
            <a:endParaRPr lang="en-CA" altLang="en-US" sz="1800" b="1">
              <a:latin typeface="Arial" panose="020B0604020202020204" pitchFamily="34" charset="0"/>
              <a:sym typeface="Wingdings 3" panose="05040102010807070707" pitchFamily="18" charset="2"/>
            </a:endParaRPr>
          </a:p>
        </p:txBody>
      </p:sp>
    </p:spTree>
    <p:extLst>
      <p:ext uri="{BB962C8B-B14F-4D97-AF65-F5344CB8AC3E}">
        <p14:creationId xmlns:p14="http://schemas.microsoft.com/office/powerpoint/2010/main" val="42893786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87"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4803"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6882"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6883"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6884"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6885"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6886"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27055033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11"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5827"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7906"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7907"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7908"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7909"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7910"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23724851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35"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685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8930"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8931"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8932"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8933"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8934"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8905967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9"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7875"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39954"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9955"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9956"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39957"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39958"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0546683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3"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8899"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0978"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0979"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0980"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0981"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0982"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6573652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08"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09923"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2002"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2003"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2004"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2005"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2006"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
        <p:nvSpPr>
          <p:cNvPr id="42007" name="Rectangle 24"/>
          <p:cNvSpPr>
            <a:spLocks noChangeArrowheads="1"/>
          </p:cNvSpPr>
          <p:nvPr/>
        </p:nvSpPr>
        <p:spPr bwMode="auto">
          <a:xfrm>
            <a:off x="4872038" y="3573464"/>
            <a:ext cx="10096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CA" altLang="en-US" sz="1800" b="1">
                <a:latin typeface="Arial" panose="020B0604020202020204" pitchFamily="34" charset="0"/>
                <a:sym typeface="Wingdings 3" panose="05040102010807070707" pitchFamily="18" charset="2"/>
              </a:rPr>
              <a:t></a:t>
            </a:r>
            <a:endParaRPr lang="en-CA" altLang="en-US" sz="1800" b="1">
              <a:latin typeface="Arial" panose="020B0604020202020204" pitchFamily="34" charset="0"/>
            </a:endParaRPr>
          </a:p>
          <a:p>
            <a:pPr algn="ctr" eaLnBrk="1" hangingPunct="1">
              <a:spcBef>
                <a:spcPct val="0"/>
              </a:spcBef>
              <a:buFontTx/>
              <a:buNone/>
            </a:pPr>
            <a:r>
              <a:rPr lang="en-CA" altLang="en-US" sz="1800" b="1">
                <a:latin typeface="Arial" panose="020B0604020202020204" pitchFamily="34" charset="0"/>
              </a:rPr>
              <a:t>Largest</a:t>
            </a:r>
          </a:p>
          <a:p>
            <a:pPr algn="ctr">
              <a:spcBef>
                <a:spcPct val="0"/>
              </a:spcBef>
              <a:buFontTx/>
              <a:buNone/>
            </a:pPr>
            <a:endParaRPr lang="en-CA" altLang="en-US" sz="1800" b="1">
              <a:latin typeface="Arial" panose="020B0604020202020204" pitchFamily="34" charset="0"/>
              <a:sym typeface="Wingdings 3" panose="05040102010807070707" pitchFamily="18" charset="2"/>
            </a:endParaRPr>
          </a:p>
        </p:txBody>
      </p:sp>
    </p:spTree>
    <p:extLst>
      <p:ext uri="{BB962C8B-B14F-4D97-AF65-F5344CB8AC3E}">
        <p14:creationId xmlns:p14="http://schemas.microsoft.com/office/powerpoint/2010/main" val="239906014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31"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0947"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3026"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3027"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3028"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3029"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3030"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8472438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55"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197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4050"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4051"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4052"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4053"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4054"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1461176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03"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4019"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6098"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6099"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6100"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6101"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6102"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37752017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28"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5043"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7122"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7123"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7124"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7125"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7126"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
        <p:nvSpPr>
          <p:cNvPr id="47127" name="Rectangle 24"/>
          <p:cNvSpPr>
            <a:spLocks noChangeArrowheads="1"/>
          </p:cNvSpPr>
          <p:nvPr/>
        </p:nvSpPr>
        <p:spPr bwMode="auto">
          <a:xfrm>
            <a:off x="2135188" y="3573464"/>
            <a:ext cx="10096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CA" altLang="en-US" sz="1800" b="1">
                <a:latin typeface="Arial" panose="020B0604020202020204" pitchFamily="34" charset="0"/>
                <a:sym typeface="Wingdings 3" panose="05040102010807070707" pitchFamily="18" charset="2"/>
              </a:rPr>
              <a:t></a:t>
            </a:r>
            <a:endParaRPr lang="en-CA" altLang="en-US" sz="1800" b="1">
              <a:latin typeface="Arial" panose="020B0604020202020204" pitchFamily="34" charset="0"/>
            </a:endParaRPr>
          </a:p>
          <a:p>
            <a:pPr algn="ctr" eaLnBrk="1" hangingPunct="1">
              <a:spcBef>
                <a:spcPct val="0"/>
              </a:spcBef>
              <a:buFontTx/>
              <a:buNone/>
            </a:pPr>
            <a:r>
              <a:rPr lang="en-CA" altLang="en-US" sz="1800" b="1">
                <a:latin typeface="Arial" panose="020B0604020202020204" pitchFamily="34" charset="0"/>
              </a:rPr>
              <a:t>Largest</a:t>
            </a:r>
          </a:p>
          <a:p>
            <a:pPr algn="ctr">
              <a:spcBef>
                <a:spcPct val="0"/>
              </a:spcBef>
              <a:buFontTx/>
              <a:buNone/>
            </a:pPr>
            <a:endParaRPr lang="en-CA" altLang="en-US" sz="1800" b="1">
              <a:latin typeface="Arial" panose="020B0604020202020204" pitchFamily="34" charset="0"/>
              <a:sym typeface="Wingdings 3" panose="05040102010807070707" pitchFamily="18" charset="2"/>
            </a:endParaRPr>
          </a:p>
        </p:txBody>
      </p:sp>
    </p:spTree>
    <p:extLst>
      <p:ext uri="{BB962C8B-B14F-4D97-AF65-F5344CB8AC3E}">
        <p14:creationId xmlns:p14="http://schemas.microsoft.com/office/powerpoint/2010/main" val="30962432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79"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2995"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5074"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5075"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5076"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5077"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5078"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19125936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51"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6067"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8146"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8147"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8148"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8149"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8150"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Tree>
    <p:extLst>
      <p:ext uri="{BB962C8B-B14F-4D97-AF65-F5344CB8AC3E}">
        <p14:creationId xmlns:p14="http://schemas.microsoft.com/office/powerpoint/2010/main" val="4351988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76" name="Rectangle 2"/>
          <p:cNvSpPr>
            <a:spLocks noGrp="1"/>
          </p:cNvSpPr>
          <p:nvPr>
            <p:ph type="title"/>
          </p:nvPr>
        </p:nvSpPr>
        <p:spPr>
          <a:xfrm>
            <a:off x="2098675" y="763589"/>
            <a:ext cx="8001000" cy="757237"/>
          </a:xfrm>
        </p:spPr>
        <p:txBody>
          <a:bodyPr/>
          <a:lstStyle/>
          <a:p>
            <a:pPr algn="l" eaLnBrk="1" hangingPunct="1"/>
            <a:r>
              <a:rPr lang="en-CA" altLang="en-US" sz="3600">
                <a:solidFill>
                  <a:srgbClr val="002060"/>
                </a:solidFill>
              </a:rPr>
              <a:t>Selection Sort</a:t>
            </a:r>
          </a:p>
        </p:txBody>
      </p:sp>
      <p:graphicFrame>
        <p:nvGraphicFramePr>
          <p:cNvPr id="217091" name="Group 3">
            <a:extLst>
              <a:ext uri="{FF2B5EF4-FFF2-40B4-BE49-F238E27FC236}"/>
            </a:extLst>
          </p:cNvPr>
          <p:cNvGraphicFramePr>
            <a:graphicFrameLocks noGrp="1"/>
          </p:cNvGraphicFramePr>
          <p:nvPr>
            <p:ph type="tbl" idx="1"/>
          </p:nvPr>
        </p:nvGraphicFramePr>
        <p:xfrm>
          <a:off x="2090738" y="2614613"/>
          <a:ext cx="8001000" cy="944562"/>
        </p:xfrm>
        <a:graphic>
          <a:graphicData uri="http://schemas.openxmlformats.org/drawingml/2006/table">
            <a:tbl>
              <a:tblPr/>
              <a:tblGrid>
                <a:gridCol w="1333500">
                  <a:extLst>
                    <a:ext uri="{9D8B030D-6E8A-4147-A177-3AD203B41FA5}"/>
                  </a:extLst>
                </a:gridCol>
                <a:gridCol w="1333500">
                  <a:extLst>
                    <a:ext uri="{9D8B030D-6E8A-4147-A177-3AD203B41FA5}"/>
                  </a:extLst>
                </a:gridCol>
                <a:gridCol w="1333500">
                  <a:extLst>
                    <a:ext uri="{9D8B030D-6E8A-4147-A177-3AD203B41FA5}"/>
                  </a:extLst>
                </a:gridCol>
                <a:gridCol w="1333500">
                  <a:extLst>
                    <a:ext uri="{9D8B030D-6E8A-4147-A177-3AD203B41FA5}"/>
                  </a:extLst>
                </a:gridCol>
                <a:gridCol w="1327150">
                  <a:extLst>
                    <a:ext uri="{9D8B030D-6E8A-4147-A177-3AD203B41FA5}"/>
                  </a:extLst>
                </a:gridCol>
                <a:gridCol w="1339850">
                  <a:extLst>
                    <a:ext uri="{9D8B030D-6E8A-4147-A177-3AD203B41FA5}"/>
                  </a:extLst>
                </a:gridCol>
              </a:tblGrid>
              <a:tr h="944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defRPr>
                      </a:lvl1pPr>
                      <a:lvl2pPr>
                        <a:spcBef>
                          <a:spcPct val="20000"/>
                        </a:spcBef>
                        <a:buClr>
                          <a:schemeClr val="accent2"/>
                        </a:buClr>
                        <a:buFont typeface="Wingdings" panose="05000000000000000000" pitchFamily="2" charset="2"/>
                        <a:defRPr sz="2200">
                          <a:solidFill>
                            <a:schemeClr val="tx1"/>
                          </a:solidFill>
                          <a:latin typeface="Verdana" panose="020B0604030504040204" pitchFamily="34" charset="0"/>
                        </a:defRPr>
                      </a:lvl2pPr>
                      <a:lvl3pPr>
                        <a:spcBef>
                          <a:spcPct val="20000"/>
                        </a:spcBef>
                        <a:buClr>
                          <a:schemeClr val="accent2"/>
                        </a:buClr>
                        <a:buFont typeface="Wingdings" panose="05000000000000000000" pitchFamily="2" charset="2"/>
                        <a:defRPr sz="2100">
                          <a:solidFill>
                            <a:schemeClr val="tx1"/>
                          </a:solidFill>
                          <a:latin typeface="Verdana" panose="020B0604030504040204" pitchFamily="34" charset="0"/>
                        </a:defRPr>
                      </a:lvl3pPr>
                      <a:lvl4pPr>
                        <a:spcBef>
                          <a:spcPct val="20000"/>
                        </a:spcBef>
                        <a:buClr>
                          <a:schemeClr val="accent2"/>
                        </a:buClr>
                        <a:buFont typeface="Wingdings" panose="05000000000000000000" pitchFamily="2" charset="2"/>
                        <a:defRPr>
                          <a:solidFill>
                            <a:schemeClr val="tx1"/>
                          </a:solidFill>
                          <a:latin typeface="Verdana" panose="020B0604030504040204" pitchFamily="34" charset="0"/>
                        </a:defRPr>
                      </a:lvl4pPr>
                      <a:lvl5pPr>
                        <a:spcBef>
                          <a:spcPct val="25000"/>
                        </a:spcBef>
                        <a:buClr>
                          <a:schemeClr val="accent2"/>
                        </a:buClr>
                        <a:buFont typeface="Wingdings" panose="05000000000000000000" pitchFamily="2" charset="2"/>
                        <a:defRPr>
                          <a:solidFill>
                            <a:schemeClr val="tx1"/>
                          </a:solidFill>
                          <a:latin typeface="Verdana" panose="020B0604030504040204" pitchFamily="34" charset="0"/>
                        </a:defRPr>
                      </a:lvl5pPr>
                      <a:lvl6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6pPr>
                      <a:lvl7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7pPr>
                      <a:lvl8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8pPr>
                      <a:lvl9pPr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CA" sz="5200" b="1" i="0" u="none" strike="noStrike" cap="none" normalizeH="0" baseline="0">
                          <a:ln>
                            <a:noFill/>
                          </a:ln>
                          <a:solidFill>
                            <a:schemeClr val="tx1"/>
                          </a:solidFill>
                          <a:effectLst/>
                          <a:latin typeface="Verdana" panose="020B060403050404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CCFF"/>
                    </a:solidFill>
                  </a:tcPr>
                </a:tc>
                <a:extLst>
                  <a:ext uri="{0D108BD9-81ED-4DB2-BD59-A6C34878D82A}"/>
                </a:extLst>
              </a:tr>
            </a:tbl>
          </a:graphicData>
        </a:graphic>
      </p:graphicFrame>
      <p:sp>
        <p:nvSpPr>
          <p:cNvPr id="49170" name="Rectangle 19"/>
          <p:cNvSpPr>
            <a:spLocks noChangeArrowheads="1"/>
          </p:cNvSpPr>
          <p:nvPr/>
        </p:nvSpPr>
        <p:spPr bwMode="auto">
          <a:xfrm>
            <a:off x="2438400" y="4876800"/>
            <a:ext cx="304800" cy="304800"/>
          </a:xfrm>
          <a:prstGeom prst="rect">
            <a:avLst/>
          </a:prstGeom>
          <a:solidFill>
            <a:srgbClr val="FF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9171" name="Rectangle 20"/>
          <p:cNvSpPr>
            <a:spLocks noChangeArrowheads="1"/>
          </p:cNvSpPr>
          <p:nvPr/>
        </p:nvSpPr>
        <p:spPr bwMode="auto">
          <a:xfrm>
            <a:off x="2438400" y="5943600"/>
            <a:ext cx="304800" cy="304800"/>
          </a:xfrm>
          <a:prstGeom prst="rect">
            <a:avLst/>
          </a:prstGeom>
          <a:solidFill>
            <a:srgbClr val="66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9172" name="Rectangle 21"/>
          <p:cNvSpPr>
            <a:spLocks noChangeArrowheads="1"/>
          </p:cNvSpPr>
          <p:nvPr/>
        </p:nvSpPr>
        <p:spPr bwMode="auto">
          <a:xfrm>
            <a:off x="2438400" y="5410200"/>
            <a:ext cx="304800" cy="304800"/>
          </a:xfrm>
          <a:prstGeom prst="rect">
            <a:avLst/>
          </a:prstGeom>
          <a:solidFill>
            <a:srgbClr val="99FF66"/>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49173" name="Text Box 22"/>
          <p:cNvSpPr txBox="1">
            <a:spLocks noChangeArrowheads="1"/>
          </p:cNvSpPr>
          <p:nvPr/>
        </p:nvSpPr>
        <p:spPr bwMode="auto">
          <a:xfrm>
            <a:off x="3276601" y="4876801"/>
            <a:ext cx="4054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9174" name="Text Box 23"/>
          <p:cNvSpPr txBox="1">
            <a:spLocks noChangeArrowheads="1"/>
          </p:cNvSpPr>
          <p:nvPr/>
        </p:nvSpPr>
        <p:spPr bwMode="auto">
          <a:xfrm>
            <a:off x="2971800" y="4876801"/>
            <a:ext cx="17970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800">
                <a:latin typeface="Arial" panose="020B0604020202020204" pitchFamily="34" charset="0"/>
              </a:rPr>
              <a:t>Comparison</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Data Movement</a:t>
            </a:r>
          </a:p>
          <a:p>
            <a:pPr eaLnBrk="1" hangingPunct="1">
              <a:spcBef>
                <a:spcPct val="0"/>
              </a:spcBef>
              <a:buFontTx/>
              <a:buNone/>
            </a:pPr>
            <a:endParaRPr lang="en-CA" altLang="en-US" sz="1800">
              <a:latin typeface="Arial" panose="020B0604020202020204" pitchFamily="34" charset="0"/>
            </a:endParaRPr>
          </a:p>
          <a:p>
            <a:pPr eaLnBrk="1" hangingPunct="1">
              <a:spcBef>
                <a:spcPct val="0"/>
              </a:spcBef>
              <a:buFontTx/>
              <a:buNone/>
            </a:pPr>
            <a:r>
              <a:rPr lang="en-CA" altLang="en-US" sz="1800">
                <a:latin typeface="Arial" panose="020B0604020202020204" pitchFamily="34" charset="0"/>
              </a:rPr>
              <a:t>Sorted</a:t>
            </a:r>
          </a:p>
        </p:txBody>
      </p:sp>
      <p:sp>
        <p:nvSpPr>
          <p:cNvPr id="49175" name="Text Box 24"/>
          <p:cNvSpPr txBox="1">
            <a:spLocks noChangeArrowheads="1"/>
          </p:cNvSpPr>
          <p:nvPr/>
        </p:nvSpPr>
        <p:spPr bwMode="auto">
          <a:xfrm>
            <a:off x="4943476" y="3860801"/>
            <a:ext cx="18208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4000" b="1">
                <a:latin typeface="Arial" panose="020B0604020202020204" pitchFamily="34" charset="0"/>
              </a:rPr>
              <a:t>DONE!</a:t>
            </a:r>
          </a:p>
        </p:txBody>
      </p:sp>
    </p:spTree>
    <p:extLst>
      <p:ext uri="{BB962C8B-B14F-4D97-AF65-F5344CB8AC3E}">
        <p14:creationId xmlns:p14="http://schemas.microsoft.com/office/powerpoint/2010/main" val="9758416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smtClean="0"/>
              <a:t>Another Working example</a:t>
            </a:r>
          </a:p>
        </p:txBody>
      </p:sp>
      <p:pic>
        <p:nvPicPr>
          <p:cNvPr id="50179" name="Table Placeholder 3"/>
          <p:cNvPicPr>
            <a:picLocks noGrp="1" noChangeAspect="1"/>
          </p:cNvPicPr>
          <p:nvPr>
            <p:ph type="tbl" idx="1"/>
          </p:nvPr>
        </p:nvPicPr>
        <p:blipFill>
          <a:blip r:embed="rId2">
            <a:extLst>
              <a:ext uri="{28A0092B-C50C-407E-A947-70E740481C1C}">
                <a14:useLocalDpi xmlns:a14="http://schemas.microsoft.com/office/drawing/2010/main" val="0"/>
              </a:ext>
            </a:extLst>
          </a:blip>
          <a:srcRect/>
          <a:stretch>
            <a:fillRect/>
          </a:stretch>
        </p:blipFill>
        <p:spPr>
          <a:xfrm>
            <a:off x="2667000" y="1938514"/>
            <a:ext cx="5867400" cy="4267200"/>
          </a:xfrm>
        </p:spPr>
      </p:pic>
    </p:spTree>
    <p:extLst>
      <p:ext uri="{BB962C8B-B14F-4D97-AF65-F5344CB8AC3E}">
        <p14:creationId xmlns:p14="http://schemas.microsoft.com/office/powerpoint/2010/main" val="17355819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Footer Placeholder 2">
            <a:extLst>
              <a:ext uri="{FF2B5EF4-FFF2-40B4-BE49-F238E27FC236}"/>
            </a:extLst>
          </p:cNvPr>
          <p:cNvSpPr>
            <a:spLocks noGrp="1"/>
          </p:cNvSpPr>
          <p:nvPr>
            <p:ph type="ftr" sz="quarter" idx="11"/>
          </p:nvPr>
        </p:nvSpPr>
        <p:spPr/>
        <p:txBody>
          <a:bodyPr/>
          <a:lstStyle/>
          <a:p>
            <a:pPr>
              <a:defRPr/>
            </a:pPr>
            <a:r>
              <a:rPr lang="en-US"/>
              <a:t>CENG 213 Data Structures</a:t>
            </a:r>
          </a:p>
        </p:txBody>
      </p:sp>
      <p:graphicFrame>
        <p:nvGraphicFramePr>
          <p:cNvPr id="26626" name="Group 2">
            <a:extLst>
              <a:ext uri="{FF2B5EF4-FFF2-40B4-BE49-F238E27FC236}"/>
            </a:extLst>
          </p:cNvPr>
          <p:cNvGraphicFramePr>
            <a:graphicFrameLocks noGrp="1"/>
          </p:cNvGraphicFramePr>
          <p:nvPr/>
        </p:nvGraphicFramePr>
        <p:xfrm>
          <a:off x="2362200" y="1066800"/>
          <a:ext cx="5867400" cy="5029200"/>
        </p:xfrm>
        <a:graphic>
          <a:graphicData uri="http://schemas.openxmlformats.org/drawingml/2006/table">
            <a:tbl>
              <a:tblPr/>
              <a:tblGrid>
                <a:gridCol w="977900">
                  <a:extLst>
                    <a:ext uri="{9D8B030D-6E8A-4147-A177-3AD203B41FA5}"/>
                  </a:extLst>
                </a:gridCol>
                <a:gridCol w="977900">
                  <a:extLst>
                    <a:ext uri="{9D8B030D-6E8A-4147-A177-3AD203B41FA5}"/>
                  </a:extLst>
                </a:gridCol>
                <a:gridCol w="939800">
                  <a:extLst>
                    <a:ext uri="{9D8B030D-6E8A-4147-A177-3AD203B41FA5}"/>
                  </a:extLst>
                </a:gridCol>
                <a:gridCol w="1016000">
                  <a:extLst>
                    <a:ext uri="{9D8B030D-6E8A-4147-A177-3AD203B41FA5}"/>
                  </a:extLst>
                </a:gridCol>
                <a:gridCol w="977900">
                  <a:extLst>
                    <a:ext uri="{9D8B030D-6E8A-4147-A177-3AD203B41FA5}"/>
                  </a:extLst>
                </a:gridCol>
                <a:gridCol w="977900">
                  <a:extLst>
                    <a:ext uri="{9D8B030D-6E8A-4147-A177-3AD203B41FA5}"/>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23</a:t>
                      </a:r>
                      <a:endParaRPr kumimoji="0" lang="en-US" sz="2400" b="0" i="0" u="none" strike="noStrike" cap="none" normalizeH="0" baseline="0" dirty="0">
                        <a:ln>
                          <a:noFill/>
                        </a:ln>
                        <a:solidFill>
                          <a:schemeClr val="tx1"/>
                        </a:solidFill>
                        <a:effectLst/>
                        <a:latin typeface="Times New Roman" pitchFamily="18" charset="0"/>
                      </a:endParaRP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20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434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51324" name="Text Box 133"/>
          <p:cNvSpPr txBox="1">
            <a:spLocks noChangeArrowheads="1"/>
          </p:cNvSpPr>
          <p:nvPr/>
        </p:nvSpPr>
        <p:spPr bwMode="auto">
          <a:xfrm>
            <a:off x="8382000" y="12192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Times New Roman" panose="02020603050405020304" pitchFamily="18" charset="0"/>
                <a:cs typeface="Times New Roman" panose="02020603050405020304" pitchFamily="18" charset="0"/>
              </a:rPr>
              <a:t>Original List</a:t>
            </a:r>
            <a:endParaRPr lang="en-US" altLang="en-US" sz="1200">
              <a:latin typeface="Times New Roman" panose="02020603050405020304" pitchFamily="18" charset="0"/>
              <a:cs typeface="Times New Roman" panose="02020603050405020304" pitchFamily="18" charset="0"/>
            </a:endParaRPr>
          </a:p>
          <a:p>
            <a:pPr>
              <a:spcBef>
                <a:spcPct val="0"/>
              </a:spcBef>
              <a:buFontTx/>
              <a:buNone/>
            </a:pPr>
            <a:endParaRPr lang="en-US" altLang="en-US" sz="2400">
              <a:latin typeface="Times New Roman" panose="02020603050405020304" pitchFamily="18" charset="0"/>
            </a:endParaRPr>
          </a:p>
        </p:txBody>
      </p:sp>
      <p:sp>
        <p:nvSpPr>
          <p:cNvPr id="51325" name="Text Box 134"/>
          <p:cNvSpPr txBox="1">
            <a:spLocks noChangeArrowheads="1"/>
          </p:cNvSpPr>
          <p:nvPr/>
        </p:nvSpPr>
        <p:spPr bwMode="auto">
          <a:xfrm>
            <a:off x="8458200" y="20574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1</a:t>
            </a:r>
          </a:p>
          <a:p>
            <a:pPr>
              <a:spcBef>
                <a:spcPct val="0"/>
              </a:spcBef>
              <a:buFontTx/>
              <a:buNone/>
            </a:pPr>
            <a:endParaRPr lang="en-US" altLang="en-US" sz="2400">
              <a:latin typeface="Times New Roman" panose="02020603050405020304" pitchFamily="18" charset="0"/>
            </a:endParaRPr>
          </a:p>
        </p:txBody>
      </p:sp>
      <p:sp>
        <p:nvSpPr>
          <p:cNvPr id="51326" name="Text Box 135"/>
          <p:cNvSpPr txBox="1">
            <a:spLocks noChangeArrowheads="1"/>
          </p:cNvSpPr>
          <p:nvPr/>
        </p:nvSpPr>
        <p:spPr bwMode="auto">
          <a:xfrm>
            <a:off x="8382000" y="29718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cs typeface="Times New Roman" panose="02020603050405020304" pitchFamily="18" charset="0"/>
              </a:rPr>
              <a:t>After pass 2</a:t>
            </a:r>
          </a:p>
          <a:p>
            <a:pPr>
              <a:spcBef>
                <a:spcPct val="0"/>
              </a:spcBef>
              <a:buFontTx/>
              <a:buNone/>
            </a:pPr>
            <a:endParaRPr lang="en-US" altLang="en-US" sz="1600">
              <a:latin typeface="Times New Roman" panose="02020603050405020304" pitchFamily="18" charset="0"/>
            </a:endParaRPr>
          </a:p>
        </p:txBody>
      </p:sp>
      <p:sp>
        <p:nvSpPr>
          <p:cNvPr id="51327" name="Text Box 136"/>
          <p:cNvSpPr txBox="1">
            <a:spLocks noChangeArrowheads="1"/>
          </p:cNvSpPr>
          <p:nvPr/>
        </p:nvSpPr>
        <p:spPr bwMode="auto">
          <a:xfrm>
            <a:off x="8534400" y="38100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3</a:t>
            </a:r>
          </a:p>
          <a:p>
            <a:pPr>
              <a:spcBef>
                <a:spcPct val="0"/>
              </a:spcBef>
              <a:buFontTx/>
              <a:buNone/>
            </a:pPr>
            <a:endParaRPr lang="en-US" altLang="en-US" sz="2400">
              <a:latin typeface="Times New Roman" panose="02020603050405020304" pitchFamily="18" charset="0"/>
            </a:endParaRPr>
          </a:p>
        </p:txBody>
      </p:sp>
      <p:sp>
        <p:nvSpPr>
          <p:cNvPr id="51328" name="Text Box 137"/>
          <p:cNvSpPr txBox="1">
            <a:spLocks noChangeArrowheads="1"/>
          </p:cNvSpPr>
          <p:nvPr/>
        </p:nvSpPr>
        <p:spPr bwMode="auto">
          <a:xfrm>
            <a:off x="8534400" y="48006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4</a:t>
            </a:r>
          </a:p>
          <a:p>
            <a:pPr>
              <a:spcBef>
                <a:spcPct val="0"/>
              </a:spcBef>
              <a:buFontTx/>
              <a:buNone/>
            </a:pPr>
            <a:endParaRPr lang="en-US" altLang="en-US" sz="2400">
              <a:latin typeface="Times New Roman" panose="02020603050405020304" pitchFamily="18" charset="0"/>
            </a:endParaRPr>
          </a:p>
        </p:txBody>
      </p:sp>
      <p:sp>
        <p:nvSpPr>
          <p:cNvPr id="51329" name="Text Box 138"/>
          <p:cNvSpPr txBox="1">
            <a:spLocks noChangeArrowheads="1"/>
          </p:cNvSpPr>
          <p:nvPr/>
        </p:nvSpPr>
        <p:spPr bwMode="auto">
          <a:xfrm>
            <a:off x="8534400" y="56388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5</a:t>
            </a:r>
          </a:p>
          <a:p>
            <a:pPr>
              <a:spcBef>
                <a:spcPct val="0"/>
              </a:spcBef>
              <a:buFontTx/>
              <a:buNone/>
            </a:pPr>
            <a:endParaRPr lang="en-US" altLang="en-US" sz="2400">
              <a:latin typeface="Times New Roman" panose="02020603050405020304" pitchFamily="18" charset="0"/>
            </a:endParaRPr>
          </a:p>
        </p:txBody>
      </p:sp>
      <p:sp>
        <p:nvSpPr>
          <p:cNvPr id="51330" name="Text Box 139"/>
          <p:cNvSpPr txBox="1">
            <a:spLocks noChangeArrowheads="1"/>
          </p:cNvSpPr>
          <p:nvPr/>
        </p:nvSpPr>
        <p:spPr bwMode="auto">
          <a:xfrm>
            <a:off x="1600200" y="6096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latin typeface="Times New Roman" panose="02020603050405020304" pitchFamily="18" charset="0"/>
              </a:rPr>
              <a:t>Sorted</a:t>
            </a:r>
            <a:endParaRPr lang="en-US" altLang="en-US" sz="2400" b="1">
              <a:latin typeface="Times New Roman" panose="02020603050405020304" pitchFamily="18" charset="0"/>
            </a:endParaRPr>
          </a:p>
        </p:txBody>
      </p:sp>
      <p:sp>
        <p:nvSpPr>
          <p:cNvPr id="51331" name="Text Box 140"/>
          <p:cNvSpPr txBox="1">
            <a:spLocks noChangeArrowheads="1"/>
          </p:cNvSpPr>
          <p:nvPr/>
        </p:nvSpPr>
        <p:spPr bwMode="auto">
          <a:xfrm>
            <a:off x="5105400" y="6096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latin typeface="Times New Roman" panose="02020603050405020304" pitchFamily="18" charset="0"/>
              </a:rPr>
              <a:t>Unsorted</a:t>
            </a:r>
            <a:endParaRPr lang="en-US" altLang="en-US" sz="2400" b="1">
              <a:latin typeface="Times New Roman" panose="02020603050405020304" pitchFamily="18" charset="0"/>
            </a:endParaRPr>
          </a:p>
        </p:txBody>
      </p:sp>
      <p:sp>
        <p:nvSpPr>
          <p:cNvPr id="51332" name="Line 141"/>
          <p:cNvSpPr>
            <a:spLocks noChangeShapeType="1"/>
          </p:cNvSpPr>
          <p:nvPr/>
        </p:nvSpPr>
        <p:spPr bwMode="auto">
          <a:xfrm>
            <a:off x="2362200" y="914400"/>
            <a:ext cx="0" cy="762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3" name="Line 142"/>
          <p:cNvSpPr>
            <a:spLocks noChangeShapeType="1"/>
          </p:cNvSpPr>
          <p:nvPr/>
        </p:nvSpPr>
        <p:spPr bwMode="auto">
          <a:xfrm>
            <a:off x="3352800" y="1828800"/>
            <a:ext cx="0" cy="762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4" name="Line 143"/>
          <p:cNvSpPr>
            <a:spLocks noChangeShapeType="1"/>
          </p:cNvSpPr>
          <p:nvPr/>
        </p:nvSpPr>
        <p:spPr bwMode="auto">
          <a:xfrm>
            <a:off x="4343400" y="2743200"/>
            <a:ext cx="0" cy="762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5" name="Line 144"/>
          <p:cNvSpPr>
            <a:spLocks noChangeShapeType="1"/>
          </p:cNvSpPr>
          <p:nvPr/>
        </p:nvSpPr>
        <p:spPr bwMode="auto">
          <a:xfrm>
            <a:off x="5257800" y="3657600"/>
            <a:ext cx="0" cy="762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6" name="Line 145"/>
          <p:cNvSpPr>
            <a:spLocks noChangeShapeType="1"/>
          </p:cNvSpPr>
          <p:nvPr/>
        </p:nvSpPr>
        <p:spPr bwMode="auto">
          <a:xfrm>
            <a:off x="6324600" y="4572000"/>
            <a:ext cx="0" cy="762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7" name="Line 146"/>
          <p:cNvSpPr>
            <a:spLocks noChangeShapeType="1"/>
          </p:cNvSpPr>
          <p:nvPr/>
        </p:nvSpPr>
        <p:spPr bwMode="auto">
          <a:xfrm>
            <a:off x="7239000" y="5486400"/>
            <a:ext cx="0" cy="762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8" name="Rectangle 1"/>
          <p:cNvSpPr>
            <a:spLocks noChangeArrowheads="1"/>
          </p:cNvSpPr>
          <p:nvPr/>
        </p:nvSpPr>
        <p:spPr bwMode="auto">
          <a:xfrm>
            <a:off x="6324600" y="239714"/>
            <a:ext cx="3297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Selection Sort: Example  2</a:t>
            </a:r>
          </a:p>
        </p:txBody>
      </p:sp>
    </p:spTree>
    <p:extLst>
      <p:ext uri="{BB962C8B-B14F-4D97-AF65-F5344CB8AC3E}">
        <p14:creationId xmlns:p14="http://schemas.microsoft.com/office/powerpoint/2010/main" val="10001018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8F53544A-BFDC-4BB2-B404-83EF0E205940}"/>
              </a:ext>
            </a:extLst>
          </p:cNvPr>
          <p:cNvSpPr>
            <a:spLocks noGrp="1"/>
          </p:cNvSpPr>
          <p:nvPr>
            <p:ph type="title"/>
          </p:nvPr>
        </p:nvSpPr>
        <p:spPr>
          <a:xfrm>
            <a:off x="55223" y="6730"/>
            <a:ext cx="10515600" cy="471488"/>
          </a:xfrm>
        </p:spPr>
        <p:txBody>
          <a:bodyPr>
            <a:normAutofit/>
          </a:bodyPr>
          <a:lstStyle/>
          <a:p>
            <a:r>
              <a:rPr lang="en-US" sz="2800" b="1" dirty="0">
                <a:solidFill>
                  <a:schemeClr val="accent1">
                    <a:lumMod val="50000"/>
                  </a:schemeClr>
                </a:solidFill>
                <a:latin typeface="+mn-lt"/>
              </a:rPr>
              <a:t>Selection Sort</a:t>
            </a:r>
            <a:endParaRPr lang="en-PK" sz="2800" b="1" dirty="0">
              <a:solidFill>
                <a:schemeClr val="accent1">
                  <a:lumMod val="50000"/>
                </a:schemeClr>
              </a:solidFill>
              <a:latin typeface="+mn-lt"/>
            </a:endParaRPr>
          </a:p>
        </p:txBody>
      </p:sp>
      <p:sp>
        <p:nvSpPr>
          <p:cNvPr id="5" name="TextBox 4">
            <a:extLst>
              <a:ext uri="{FF2B5EF4-FFF2-40B4-BE49-F238E27FC236}">
                <a16:creationId xmlns="" xmlns:a16="http://schemas.microsoft.com/office/drawing/2014/main" id="{1DA75B5A-F7E4-4557-A009-567F1BAAE506}"/>
              </a:ext>
            </a:extLst>
          </p:cNvPr>
          <p:cNvSpPr txBox="1"/>
          <p:nvPr/>
        </p:nvSpPr>
        <p:spPr>
          <a:xfrm>
            <a:off x="153798" y="443925"/>
            <a:ext cx="3422475" cy="369332"/>
          </a:xfrm>
          <a:prstGeom prst="rect">
            <a:avLst/>
          </a:prstGeom>
          <a:noFill/>
        </p:spPr>
        <p:txBody>
          <a:bodyPr wrap="none" rtlCol="0">
            <a:spAutoFit/>
          </a:bodyPr>
          <a:lstStyle/>
          <a:p>
            <a:r>
              <a:rPr lang="en-US" b="1" dirty="0"/>
              <a:t>Example with Programming Code:</a:t>
            </a:r>
            <a:endParaRPr lang="en-PK" b="1" dirty="0"/>
          </a:p>
        </p:txBody>
      </p:sp>
      <p:sp>
        <p:nvSpPr>
          <p:cNvPr id="2" name="Footer Placeholder 2">
            <a:extLst>
              <a:ext uri="{FF2B5EF4-FFF2-40B4-BE49-F238E27FC236}">
                <a16:creationId xmlns="" xmlns:a16="http://schemas.microsoft.com/office/drawing/2014/main" id="{FBAD5EAB-793C-F9EB-C38F-D60048BB113A}"/>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3" name="Picture 2">
            <a:extLst>
              <a:ext uri="{FF2B5EF4-FFF2-40B4-BE49-F238E27FC236}">
                <a16:creationId xmlns="" xmlns:a16="http://schemas.microsoft.com/office/drawing/2014/main" id="{2B678BB1-6FB2-5C64-376B-75C3B0C27F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8" name="TextBox 7">
            <a:extLst>
              <a:ext uri="{FF2B5EF4-FFF2-40B4-BE49-F238E27FC236}">
                <a16:creationId xmlns="" xmlns:a16="http://schemas.microsoft.com/office/drawing/2014/main" id="{C76D4958-0115-F964-4302-40F710E4CBB8}"/>
              </a:ext>
            </a:extLst>
          </p:cNvPr>
          <p:cNvSpPr txBox="1"/>
          <p:nvPr/>
        </p:nvSpPr>
        <p:spPr>
          <a:xfrm>
            <a:off x="6597363" y="1443200"/>
            <a:ext cx="5594637" cy="2862322"/>
          </a:xfrm>
          <a:prstGeom prst="rect">
            <a:avLst/>
          </a:prstGeom>
          <a:noFill/>
        </p:spPr>
        <p:txBody>
          <a:bodyPr wrap="square">
            <a:spAutoFit/>
          </a:bodyPr>
          <a:lstStyle/>
          <a:p>
            <a:endParaRPr lang="en-PK" dirty="0"/>
          </a:p>
          <a:p>
            <a:r>
              <a:rPr lang="en-PK" dirty="0"/>
              <a:t>  // driver code</a:t>
            </a:r>
          </a:p>
          <a:p>
            <a:r>
              <a:rPr lang="en-PK" dirty="0"/>
              <a:t>  public static void main(String </a:t>
            </a:r>
            <a:r>
              <a:rPr lang="en-PK" dirty="0" err="1"/>
              <a:t>args</a:t>
            </a:r>
            <a:r>
              <a:rPr lang="en-PK" dirty="0"/>
              <a:t>[]) {</a:t>
            </a:r>
          </a:p>
          <a:p>
            <a:r>
              <a:rPr lang="en-PK" dirty="0"/>
              <a:t>    int[] data = { 20, 12, 10, 15, 2 };</a:t>
            </a:r>
          </a:p>
          <a:p>
            <a:r>
              <a:rPr lang="en-PK" dirty="0"/>
              <a:t>    </a:t>
            </a:r>
            <a:r>
              <a:rPr lang="en-PK" dirty="0" err="1"/>
              <a:t>SelectionSort</a:t>
            </a:r>
            <a:r>
              <a:rPr lang="en-PK" dirty="0"/>
              <a:t> ss = new </a:t>
            </a:r>
            <a:r>
              <a:rPr lang="en-PK" dirty="0" err="1"/>
              <a:t>SelectionSort</a:t>
            </a:r>
            <a:r>
              <a:rPr lang="en-PK" dirty="0"/>
              <a:t>();</a:t>
            </a:r>
          </a:p>
          <a:p>
            <a:r>
              <a:rPr lang="en-PK" dirty="0"/>
              <a:t>    </a:t>
            </a:r>
            <a:r>
              <a:rPr lang="en-PK" dirty="0" err="1"/>
              <a:t>ss.selectionSort</a:t>
            </a:r>
            <a:r>
              <a:rPr lang="en-PK" dirty="0"/>
              <a:t>(data);</a:t>
            </a:r>
          </a:p>
          <a:p>
            <a:r>
              <a:rPr lang="en-PK" dirty="0"/>
              <a:t>    </a:t>
            </a:r>
            <a:r>
              <a:rPr lang="en-PK" dirty="0" err="1"/>
              <a:t>System.out.println</a:t>
            </a:r>
            <a:r>
              <a:rPr lang="en-PK" dirty="0"/>
              <a:t>("Sorted Array in Ascending Order: ");</a:t>
            </a:r>
          </a:p>
          <a:p>
            <a:r>
              <a:rPr lang="en-PK" dirty="0"/>
              <a:t>    </a:t>
            </a:r>
            <a:r>
              <a:rPr lang="en-PK" dirty="0" err="1"/>
              <a:t>System.out.println</a:t>
            </a:r>
            <a:r>
              <a:rPr lang="en-PK" dirty="0"/>
              <a:t>(</a:t>
            </a:r>
            <a:r>
              <a:rPr lang="en-PK" dirty="0" err="1"/>
              <a:t>Arrays.toString</a:t>
            </a:r>
            <a:r>
              <a:rPr lang="en-PK" dirty="0"/>
              <a:t>(data));</a:t>
            </a:r>
          </a:p>
          <a:p>
            <a:r>
              <a:rPr lang="en-PK" dirty="0"/>
              <a:t>  }</a:t>
            </a:r>
          </a:p>
          <a:p>
            <a:r>
              <a:rPr lang="en-PK" dirty="0"/>
              <a:t>}</a:t>
            </a:r>
          </a:p>
        </p:txBody>
      </p:sp>
      <p:sp>
        <p:nvSpPr>
          <p:cNvPr id="12" name="TextBox 11">
            <a:extLst>
              <a:ext uri="{FF2B5EF4-FFF2-40B4-BE49-F238E27FC236}">
                <a16:creationId xmlns="" xmlns:a16="http://schemas.microsoft.com/office/drawing/2014/main" id="{1D33DA26-A3D9-5AB3-031C-9971450B2098}"/>
              </a:ext>
            </a:extLst>
          </p:cNvPr>
          <p:cNvSpPr txBox="1"/>
          <p:nvPr/>
        </p:nvSpPr>
        <p:spPr>
          <a:xfrm>
            <a:off x="401381" y="781764"/>
            <a:ext cx="8309344" cy="5632311"/>
          </a:xfrm>
          <a:prstGeom prst="rect">
            <a:avLst/>
          </a:prstGeom>
          <a:noFill/>
        </p:spPr>
        <p:txBody>
          <a:bodyPr wrap="square">
            <a:spAutoFit/>
          </a:bodyPr>
          <a:lstStyle/>
          <a:p>
            <a:r>
              <a:rPr lang="en-PK" dirty="0"/>
              <a:t>// Selection sort in Java</a:t>
            </a:r>
          </a:p>
          <a:p>
            <a:r>
              <a:rPr lang="en-PK" dirty="0"/>
              <a:t>import </a:t>
            </a:r>
            <a:r>
              <a:rPr lang="en-PK" dirty="0" err="1"/>
              <a:t>java.util.Arrays</a:t>
            </a:r>
            <a:r>
              <a:rPr lang="en-PK" dirty="0"/>
              <a:t>;</a:t>
            </a:r>
          </a:p>
          <a:p>
            <a:r>
              <a:rPr lang="en-PK" dirty="0"/>
              <a:t>class </a:t>
            </a:r>
            <a:r>
              <a:rPr lang="en-PK" dirty="0" err="1"/>
              <a:t>SelectionSort</a:t>
            </a:r>
            <a:r>
              <a:rPr lang="en-PK" dirty="0"/>
              <a:t> {</a:t>
            </a:r>
          </a:p>
          <a:p>
            <a:r>
              <a:rPr lang="en-PK" dirty="0"/>
              <a:t>  void </a:t>
            </a:r>
            <a:r>
              <a:rPr lang="en-PK" dirty="0" err="1"/>
              <a:t>selectionSort</a:t>
            </a:r>
            <a:r>
              <a:rPr lang="en-PK" dirty="0"/>
              <a:t>(int array[]) {</a:t>
            </a:r>
          </a:p>
          <a:p>
            <a:r>
              <a:rPr lang="en-PK" dirty="0"/>
              <a:t>    int size = </a:t>
            </a:r>
            <a:r>
              <a:rPr lang="en-PK" dirty="0" err="1"/>
              <a:t>array.length</a:t>
            </a:r>
            <a:r>
              <a:rPr lang="en-PK" dirty="0"/>
              <a:t>;</a:t>
            </a:r>
          </a:p>
          <a:p>
            <a:r>
              <a:rPr lang="en-PK" dirty="0"/>
              <a:t>    for (int step = 0; step &lt; size - 1; step++) {</a:t>
            </a:r>
          </a:p>
          <a:p>
            <a:r>
              <a:rPr lang="en-PK" dirty="0"/>
              <a:t>      int </a:t>
            </a:r>
            <a:r>
              <a:rPr lang="en-PK" dirty="0" err="1"/>
              <a:t>min_idx</a:t>
            </a:r>
            <a:r>
              <a:rPr lang="en-PK" dirty="0"/>
              <a:t> = step;</a:t>
            </a:r>
          </a:p>
          <a:p>
            <a:r>
              <a:rPr lang="en-PK" dirty="0"/>
              <a:t>      for (int </a:t>
            </a:r>
            <a:r>
              <a:rPr lang="en-PK" dirty="0" err="1"/>
              <a:t>i</a:t>
            </a:r>
            <a:r>
              <a:rPr lang="en-PK" dirty="0"/>
              <a:t> = step + 1; </a:t>
            </a:r>
            <a:r>
              <a:rPr lang="en-PK" dirty="0" err="1"/>
              <a:t>i</a:t>
            </a:r>
            <a:r>
              <a:rPr lang="en-PK" dirty="0"/>
              <a:t> &lt; size; </a:t>
            </a:r>
            <a:r>
              <a:rPr lang="en-PK" dirty="0" err="1"/>
              <a:t>i</a:t>
            </a:r>
            <a:r>
              <a:rPr lang="en-PK" dirty="0"/>
              <a:t>++) {</a:t>
            </a:r>
          </a:p>
          <a:p>
            <a:r>
              <a:rPr lang="en-PK" dirty="0"/>
              <a:t>        // To sort in descending order, change &gt; to &lt; in this line.</a:t>
            </a:r>
          </a:p>
          <a:p>
            <a:r>
              <a:rPr lang="en-PK" dirty="0"/>
              <a:t>        // Select the minimum element in each loop.</a:t>
            </a:r>
          </a:p>
          <a:p>
            <a:r>
              <a:rPr lang="en-PK" dirty="0"/>
              <a:t>        if (array[</a:t>
            </a:r>
            <a:r>
              <a:rPr lang="en-PK" dirty="0" err="1"/>
              <a:t>i</a:t>
            </a:r>
            <a:r>
              <a:rPr lang="en-PK" dirty="0"/>
              <a:t>] &lt; array[</a:t>
            </a:r>
            <a:r>
              <a:rPr lang="en-PK" dirty="0" err="1"/>
              <a:t>min_idx</a:t>
            </a:r>
            <a:r>
              <a:rPr lang="en-PK" dirty="0"/>
              <a:t>]) {</a:t>
            </a:r>
          </a:p>
          <a:p>
            <a:r>
              <a:rPr lang="en-PK" dirty="0"/>
              <a:t>          </a:t>
            </a:r>
            <a:r>
              <a:rPr lang="en-PK" dirty="0" err="1"/>
              <a:t>min_idx</a:t>
            </a:r>
            <a:r>
              <a:rPr lang="en-PK" dirty="0"/>
              <a:t> = </a:t>
            </a:r>
            <a:r>
              <a:rPr lang="en-PK" dirty="0" err="1"/>
              <a:t>i</a:t>
            </a:r>
            <a:r>
              <a:rPr lang="en-PK" dirty="0"/>
              <a:t>;</a:t>
            </a:r>
          </a:p>
          <a:p>
            <a:r>
              <a:rPr lang="en-PK" dirty="0"/>
              <a:t>        }</a:t>
            </a:r>
          </a:p>
          <a:p>
            <a:r>
              <a:rPr lang="en-PK" dirty="0"/>
              <a:t>      }</a:t>
            </a:r>
          </a:p>
          <a:p>
            <a:r>
              <a:rPr lang="en-PK" dirty="0"/>
              <a:t>      // put min at the correct position</a:t>
            </a:r>
          </a:p>
          <a:p>
            <a:r>
              <a:rPr lang="en-PK" dirty="0"/>
              <a:t>      int temp = array[step];</a:t>
            </a:r>
          </a:p>
          <a:p>
            <a:r>
              <a:rPr lang="en-PK" dirty="0"/>
              <a:t>      array[step] = array[</a:t>
            </a:r>
            <a:r>
              <a:rPr lang="en-PK" dirty="0" err="1"/>
              <a:t>min_idx</a:t>
            </a:r>
            <a:r>
              <a:rPr lang="en-PK" dirty="0"/>
              <a:t>];</a:t>
            </a:r>
          </a:p>
          <a:p>
            <a:r>
              <a:rPr lang="en-PK" dirty="0"/>
              <a:t>      array[</a:t>
            </a:r>
            <a:r>
              <a:rPr lang="en-PK" dirty="0" err="1"/>
              <a:t>min_idx</a:t>
            </a:r>
            <a:r>
              <a:rPr lang="en-PK" dirty="0"/>
              <a:t>] = temp;</a:t>
            </a:r>
          </a:p>
          <a:p>
            <a:r>
              <a:rPr lang="en-PK" dirty="0"/>
              <a:t>    }</a:t>
            </a:r>
          </a:p>
          <a:p>
            <a:r>
              <a:rPr lang="en-PK" dirty="0"/>
              <a:t>  }</a:t>
            </a:r>
          </a:p>
        </p:txBody>
      </p:sp>
    </p:spTree>
    <p:extLst>
      <p:ext uri="{BB962C8B-B14F-4D97-AF65-F5344CB8AC3E}">
        <p14:creationId xmlns:p14="http://schemas.microsoft.com/office/powerpoint/2010/main" val="11318335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8412A9D9-9300-4076-951E-5F0106647391}"/>
              </a:ext>
            </a:extLst>
          </p:cNvPr>
          <p:cNvSpPr txBox="1">
            <a:spLocks/>
          </p:cNvSpPr>
          <p:nvPr/>
        </p:nvSpPr>
        <p:spPr>
          <a:xfrm>
            <a:off x="533400" y="423524"/>
            <a:ext cx="10515600" cy="47148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rPr>
              <a:t>Analysis of Selection Sort</a:t>
            </a:r>
            <a:endParaRPr lang="en-PK" sz="2800" b="1" dirty="0">
              <a:solidFill>
                <a:schemeClr val="accent1">
                  <a:lumMod val="50000"/>
                </a:schemeClr>
              </a:solidFill>
              <a:latin typeface="+mn-lt"/>
            </a:endParaRPr>
          </a:p>
        </p:txBody>
      </p:sp>
      <p:sp>
        <p:nvSpPr>
          <p:cNvPr id="6" name="TextBox 5">
            <a:extLst>
              <a:ext uri="{FF2B5EF4-FFF2-40B4-BE49-F238E27FC236}">
                <a16:creationId xmlns="" xmlns:a16="http://schemas.microsoft.com/office/drawing/2014/main" id="{ADA032AD-3390-477C-A0BB-C2B038E03C26}"/>
              </a:ext>
            </a:extLst>
          </p:cNvPr>
          <p:cNvSpPr txBox="1"/>
          <p:nvPr/>
        </p:nvSpPr>
        <p:spPr>
          <a:xfrm>
            <a:off x="914400" y="1168584"/>
            <a:ext cx="6096000" cy="375552"/>
          </a:xfrm>
          <a:prstGeom prst="rect">
            <a:avLst/>
          </a:prstGeom>
          <a:noFill/>
        </p:spPr>
        <p:txBody>
          <a:bodyPr wrap="square">
            <a:spAutoFit/>
          </a:bodyPr>
          <a:lstStyle/>
          <a:p>
            <a:pPr marL="0" marR="0" fontAlgn="base">
              <a:lnSpc>
                <a:spcPct val="107000"/>
              </a:lnSpc>
              <a:spcBef>
                <a:spcPts val="0"/>
              </a:spcBef>
              <a:spcAft>
                <a:spcPts val="0"/>
              </a:spcAft>
            </a:pPr>
            <a:r>
              <a:rPr lang="en-PK" sz="1800" b="1" spc="-10" dirty="0">
                <a:solidFill>
                  <a:srgbClr val="000000"/>
                </a:solidFill>
                <a:effectLst/>
                <a:latin typeface="var(--font-din)"/>
                <a:ea typeface="Times New Roman" panose="02020603050405020304" pitchFamily="18" charset="0"/>
                <a:cs typeface="Times New Roman" panose="02020603050405020304" pitchFamily="18" charset="0"/>
              </a:rPr>
              <a:t>In Place : </a:t>
            </a:r>
            <a:r>
              <a:rPr lang="en-PK" sz="1800" spc="-10" dirty="0">
                <a:solidFill>
                  <a:srgbClr val="000000"/>
                </a:solidFill>
                <a:effectLst/>
                <a:latin typeface="var(--font-din)"/>
                <a:ea typeface="Times New Roman" panose="02020603050405020304" pitchFamily="18" charset="0"/>
                <a:cs typeface="Times New Roman" panose="02020603050405020304" pitchFamily="18" charset="0"/>
              </a:rPr>
              <a:t>Yes, it does not require extra space.</a:t>
            </a:r>
            <a:endParaRPr lang="en-PK" sz="16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 xmlns:a16="http://schemas.microsoft.com/office/drawing/2014/main" id="{5E1A302C-6D04-4AD1-9AE9-8122039DE9B0}"/>
              </a:ext>
            </a:extLst>
          </p:cNvPr>
          <p:cNvSpPr txBox="1"/>
          <p:nvPr/>
        </p:nvSpPr>
        <p:spPr>
          <a:xfrm>
            <a:off x="767080" y="1576525"/>
            <a:ext cx="6096000" cy="3851695"/>
          </a:xfrm>
          <a:prstGeom prst="rect">
            <a:avLst/>
          </a:prstGeom>
          <a:noFill/>
        </p:spPr>
        <p:txBody>
          <a:bodyPr wrap="square">
            <a:spAutoFit/>
          </a:bodyPr>
          <a:lstStyle/>
          <a:p>
            <a:pPr marL="285750" marR="0" indent="-285750">
              <a:lnSpc>
                <a:spcPct val="200000"/>
              </a:lnSpc>
              <a:spcBef>
                <a:spcPts val="0"/>
              </a:spcBef>
              <a:spcAft>
                <a:spcPts val="750"/>
              </a:spcAft>
              <a:buFont typeface="Arial" panose="020B0604020202020204" pitchFamily="34" charset="0"/>
              <a:buChar char="•"/>
            </a:pPr>
            <a:r>
              <a:rPr lang="en-PK" dirty="0">
                <a:solidFill>
                  <a:srgbClr val="333333"/>
                </a:solidFill>
                <a:effectLst/>
                <a:ea typeface="Times New Roman" panose="02020603050405020304" pitchFamily="18" charset="0"/>
                <a:cs typeface="Arial" panose="020B0604020202020204" pitchFamily="34" charset="0"/>
              </a:rPr>
              <a:t>Worst Case Time Complexity [ Big-O ]: </a:t>
            </a:r>
            <a:r>
              <a:rPr lang="en-PK" b="1" dirty="0">
                <a:solidFill>
                  <a:srgbClr val="333333"/>
                </a:solidFill>
                <a:effectLst/>
                <a:ea typeface="Times New Roman" panose="02020603050405020304" pitchFamily="18" charset="0"/>
                <a:cs typeface="Arial" panose="020B0604020202020204" pitchFamily="34" charset="0"/>
              </a:rPr>
              <a:t>O(n</a:t>
            </a:r>
            <a:r>
              <a:rPr lang="en-PK" b="1" baseline="30000" dirty="0">
                <a:solidFill>
                  <a:srgbClr val="333333"/>
                </a:solidFill>
                <a:effectLst/>
                <a:ea typeface="Times New Roman" panose="02020603050405020304" pitchFamily="18" charset="0"/>
                <a:cs typeface="Arial" panose="020B0604020202020204" pitchFamily="34" charset="0"/>
              </a:rPr>
              <a:t>2</a:t>
            </a:r>
            <a:r>
              <a:rPr lang="en-PK" b="1" dirty="0">
                <a:solidFill>
                  <a:srgbClr val="333333"/>
                </a:solidFill>
                <a:effectLst/>
                <a:ea typeface="Times New Roman" panose="02020603050405020304" pitchFamily="18" charset="0"/>
                <a:cs typeface="Arial" panose="020B0604020202020204" pitchFamily="34" charset="0"/>
              </a:rPr>
              <a:t>)</a:t>
            </a:r>
            <a:endParaRPr lang="en-PK" dirty="0">
              <a:effectLst/>
              <a:ea typeface="Times New Roman" panose="02020603050405020304" pitchFamily="18" charset="0"/>
              <a:cs typeface="Arial" panose="020B0604020202020204" pitchFamily="34" charset="0"/>
            </a:endParaRPr>
          </a:p>
          <a:p>
            <a:pPr marL="285750" marR="0" indent="-285750">
              <a:lnSpc>
                <a:spcPct val="200000"/>
              </a:lnSpc>
              <a:spcBef>
                <a:spcPts val="0"/>
              </a:spcBef>
              <a:spcAft>
                <a:spcPts val="750"/>
              </a:spcAft>
              <a:buFont typeface="Arial" panose="020B0604020202020204" pitchFamily="34" charset="0"/>
              <a:buChar char="•"/>
            </a:pPr>
            <a:r>
              <a:rPr lang="en-PK" dirty="0">
                <a:solidFill>
                  <a:srgbClr val="333333"/>
                </a:solidFill>
                <a:effectLst/>
                <a:ea typeface="Times New Roman" panose="02020603050405020304" pitchFamily="18" charset="0"/>
                <a:cs typeface="Arial" panose="020B0604020202020204" pitchFamily="34" charset="0"/>
              </a:rPr>
              <a:t>Best Case Time Complexity [Big-omega]: </a:t>
            </a:r>
            <a:r>
              <a:rPr lang="en-PK" b="1" dirty="0">
                <a:solidFill>
                  <a:srgbClr val="333333"/>
                </a:solidFill>
                <a:effectLst/>
                <a:ea typeface="Times New Roman" panose="02020603050405020304" pitchFamily="18" charset="0"/>
                <a:cs typeface="Arial" panose="020B0604020202020204" pitchFamily="34" charset="0"/>
              </a:rPr>
              <a:t>O(n</a:t>
            </a:r>
            <a:r>
              <a:rPr lang="en-PK" b="1" baseline="30000" dirty="0">
                <a:solidFill>
                  <a:srgbClr val="333333"/>
                </a:solidFill>
                <a:effectLst/>
                <a:ea typeface="Times New Roman" panose="02020603050405020304" pitchFamily="18" charset="0"/>
                <a:cs typeface="Arial" panose="020B0604020202020204" pitchFamily="34" charset="0"/>
              </a:rPr>
              <a:t>2</a:t>
            </a:r>
            <a:r>
              <a:rPr lang="en-PK" b="1" dirty="0">
                <a:solidFill>
                  <a:srgbClr val="333333"/>
                </a:solidFill>
                <a:effectLst/>
                <a:ea typeface="Times New Roman" panose="02020603050405020304" pitchFamily="18" charset="0"/>
                <a:cs typeface="Arial" panose="020B0604020202020204" pitchFamily="34" charset="0"/>
              </a:rPr>
              <a:t>)</a:t>
            </a:r>
            <a:endParaRPr lang="en-PK" dirty="0">
              <a:effectLst/>
              <a:ea typeface="Times New Roman" panose="02020603050405020304" pitchFamily="18" charset="0"/>
              <a:cs typeface="Arial" panose="020B0604020202020204" pitchFamily="34" charset="0"/>
            </a:endParaRPr>
          </a:p>
          <a:p>
            <a:pPr marL="285750" marR="0" indent="-285750">
              <a:lnSpc>
                <a:spcPct val="200000"/>
              </a:lnSpc>
              <a:spcBef>
                <a:spcPts val="0"/>
              </a:spcBef>
              <a:spcAft>
                <a:spcPts val="750"/>
              </a:spcAft>
              <a:buFont typeface="Arial" panose="020B0604020202020204" pitchFamily="34" charset="0"/>
              <a:buChar char="•"/>
            </a:pPr>
            <a:r>
              <a:rPr lang="en-PK" dirty="0">
                <a:solidFill>
                  <a:srgbClr val="333333"/>
                </a:solidFill>
                <a:effectLst/>
                <a:ea typeface="Times New Roman" panose="02020603050405020304" pitchFamily="18" charset="0"/>
                <a:cs typeface="Arial" panose="020B0604020202020204" pitchFamily="34" charset="0"/>
              </a:rPr>
              <a:t>Average Time Complexity [Big-theta]: </a:t>
            </a:r>
            <a:r>
              <a:rPr lang="en-PK" b="1" dirty="0">
                <a:solidFill>
                  <a:srgbClr val="333333"/>
                </a:solidFill>
                <a:effectLst/>
                <a:ea typeface="Times New Roman" panose="02020603050405020304" pitchFamily="18" charset="0"/>
                <a:cs typeface="Arial" panose="020B0604020202020204" pitchFamily="34" charset="0"/>
              </a:rPr>
              <a:t>O(n</a:t>
            </a:r>
            <a:r>
              <a:rPr lang="en-PK" b="1" baseline="30000" dirty="0">
                <a:solidFill>
                  <a:srgbClr val="333333"/>
                </a:solidFill>
                <a:effectLst/>
                <a:ea typeface="Times New Roman" panose="02020603050405020304" pitchFamily="18" charset="0"/>
                <a:cs typeface="Arial" panose="020B0604020202020204" pitchFamily="34" charset="0"/>
              </a:rPr>
              <a:t>2</a:t>
            </a:r>
            <a:r>
              <a:rPr lang="en-PK" b="1" dirty="0">
                <a:solidFill>
                  <a:srgbClr val="333333"/>
                </a:solidFill>
                <a:effectLst/>
                <a:ea typeface="Times New Roman" panose="02020603050405020304" pitchFamily="18" charset="0"/>
                <a:cs typeface="Arial" panose="020B0604020202020204" pitchFamily="34" charset="0"/>
              </a:rPr>
              <a:t>)</a:t>
            </a:r>
            <a:endParaRPr lang="en-PK" dirty="0">
              <a:effectLst/>
              <a:ea typeface="Times New Roman" panose="02020603050405020304" pitchFamily="18" charset="0"/>
              <a:cs typeface="Arial" panose="020B0604020202020204" pitchFamily="34" charset="0"/>
            </a:endParaRPr>
          </a:p>
          <a:p>
            <a:pPr marL="285750" marR="0" indent="-285750">
              <a:lnSpc>
                <a:spcPct val="200000"/>
              </a:lnSpc>
              <a:spcBef>
                <a:spcPts val="0"/>
              </a:spcBef>
              <a:spcAft>
                <a:spcPts val="750"/>
              </a:spcAft>
              <a:buFont typeface="Arial" panose="020B0604020202020204" pitchFamily="34" charset="0"/>
              <a:buChar char="•"/>
            </a:pPr>
            <a:r>
              <a:rPr lang="en-PK" dirty="0">
                <a:solidFill>
                  <a:srgbClr val="333333"/>
                </a:solidFill>
                <a:effectLst/>
                <a:ea typeface="Times New Roman" panose="02020603050405020304" pitchFamily="18" charset="0"/>
                <a:cs typeface="Arial" panose="020B0604020202020204" pitchFamily="34" charset="0"/>
              </a:rPr>
              <a:t>Space Complexity: </a:t>
            </a:r>
            <a:r>
              <a:rPr lang="en-PK" b="1" dirty="0">
                <a:solidFill>
                  <a:srgbClr val="333333"/>
                </a:solidFill>
                <a:effectLst/>
                <a:ea typeface="Times New Roman" panose="02020603050405020304" pitchFamily="18" charset="0"/>
                <a:cs typeface="Arial" panose="020B0604020202020204" pitchFamily="34" charset="0"/>
              </a:rPr>
              <a:t>O(1)</a:t>
            </a:r>
            <a:endParaRPr lang="en-US" b="1" dirty="0">
              <a:solidFill>
                <a:srgbClr val="333333"/>
              </a:solidFill>
              <a:effectLst/>
              <a:ea typeface="Times New Roman" panose="02020603050405020304" pitchFamily="18" charset="0"/>
              <a:cs typeface="Arial" panose="020B0604020202020204" pitchFamily="34" charset="0"/>
            </a:endParaRPr>
          </a:p>
          <a:p>
            <a:pPr marL="285750" marR="0" indent="-285750">
              <a:lnSpc>
                <a:spcPct val="200000"/>
              </a:lnSpc>
              <a:spcBef>
                <a:spcPts val="0"/>
              </a:spcBef>
              <a:spcAft>
                <a:spcPts val="750"/>
              </a:spcAft>
              <a:buFont typeface="Arial" panose="020B0604020202020204" pitchFamily="34" charset="0"/>
              <a:buChar char="•"/>
            </a:pPr>
            <a:r>
              <a:rPr lang="en-US" dirty="0">
                <a:solidFill>
                  <a:srgbClr val="333333"/>
                </a:solidFill>
                <a:ea typeface="Times New Roman" panose="02020603050405020304" pitchFamily="18" charset="0"/>
                <a:cs typeface="Arial" panose="020B0604020202020204" pitchFamily="34" charset="0"/>
              </a:rPr>
              <a:t>Selection sort is not Stable</a:t>
            </a:r>
          </a:p>
          <a:p>
            <a:pPr marL="285750" marR="0" indent="-285750">
              <a:lnSpc>
                <a:spcPct val="200000"/>
              </a:lnSpc>
              <a:spcBef>
                <a:spcPts val="0"/>
              </a:spcBef>
              <a:spcAft>
                <a:spcPts val="750"/>
              </a:spcAft>
              <a:buFont typeface="Arial" panose="020B0604020202020204" pitchFamily="34" charset="0"/>
              <a:buChar char="•"/>
            </a:pPr>
            <a:r>
              <a:rPr lang="en-US" dirty="0">
                <a:solidFill>
                  <a:srgbClr val="333333"/>
                </a:solidFill>
                <a:effectLst/>
                <a:ea typeface="Times New Roman" panose="02020603050405020304" pitchFamily="18" charset="0"/>
                <a:cs typeface="Arial" panose="020B0604020202020204" pitchFamily="34" charset="0"/>
              </a:rPr>
              <a:t>Selection Sort is not Adaptive</a:t>
            </a:r>
            <a:endParaRPr lang="en-PK" dirty="0">
              <a:effectLst/>
              <a:ea typeface="Times New Roman" panose="02020603050405020304" pitchFamily="18" charset="0"/>
              <a:cs typeface="Arial" panose="020B0604020202020204" pitchFamily="34" charset="0"/>
            </a:endParaRPr>
          </a:p>
        </p:txBody>
      </p:sp>
      <p:sp>
        <p:nvSpPr>
          <p:cNvPr id="11" name="TextBox 10">
            <a:extLst>
              <a:ext uri="{FF2B5EF4-FFF2-40B4-BE49-F238E27FC236}">
                <a16:creationId xmlns="" xmlns:a16="http://schemas.microsoft.com/office/drawing/2014/main" id="{9A86DE48-3AD2-4C38-BEA9-6C3F1C3CD78B}"/>
              </a:ext>
            </a:extLst>
          </p:cNvPr>
          <p:cNvSpPr txBox="1"/>
          <p:nvPr/>
        </p:nvSpPr>
        <p:spPr>
          <a:xfrm>
            <a:off x="383540" y="5827094"/>
            <a:ext cx="11424920" cy="671915"/>
          </a:xfrm>
          <a:prstGeom prst="rect">
            <a:avLst/>
          </a:prstGeom>
          <a:noFill/>
        </p:spPr>
        <p:txBody>
          <a:bodyPr wrap="square">
            <a:spAutoFit/>
          </a:bodyPr>
          <a:lstStyle/>
          <a:p>
            <a:pPr marL="285750" indent="-285750" algn="just">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Times New Roman" panose="02020603050405020304" pitchFamily="18" charset="0"/>
                <a:cs typeface="Arial" panose="020B0604020202020204" pitchFamily="34" charset="0"/>
              </a:rPr>
              <a:t>This algorithm is not suitable for large data sets as its average and worst case complexities are of  </a:t>
            </a:r>
            <a:r>
              <a:rPr lang="en-PK" b="1" dirty="0">
                <a:solidFill>
                  <a:srgbClr val="333333"/>
                </a:solidFill>
                <a:effectLst/>
                <a:ea typeface="Times New Roman" panose="02020603050405020304" pitchFamily="18" charset="0"/>
                <a:cs typeface="Arial" panose="020B0604020202020204" pitchFamily="34" charset="0"/>
              </a:rPr>
              <a:t>O(n</a:t>
            </a:r>
            <a:r>
              <a:rPr lang="en-PK" b="1" baseline="30000" dirty="0">
                <a:solidFill>
                  <a:srgbClr val="333333"/>
                </a:solidFill>
                <a:effectLst/>
                <a:ea typeface="Times New Roman" panose="02020603050405020304" pitchFamily="18" charset="0"/>
                <a:cs typeface="Arial" panose="020B0604020202020204" pitchFamily="34" charset="0"/>
              </a:rPr>
              <a:t>2</a:t>
            </a:r>
            <a:r>
              <a:rPr lang="en-PK" b="1" dirty="0">
                <a:solidFill>
                  <a:srgbClr val="333333"/>
                </a:solidFill>
                <a:effectLst/>
                <a:ea typeface="Times New Roman" panose="02020603050405020304" pitchFamily="18" charset="0"/>
                <a:cs typeface="Arial" panose="020B0604020202020204" pitchFamily="34" charset="0"/>
              </a:rPr>
              <a:t>)</a:t>
            </a:r>
            <a:r>
              <a:rPr lang="en-US" b="1" dirty="0">
                <a:solidFill>
                  <a:srgbClr val="333333"/>
                </a:solidFill>
                <a:effectLst/>
                <a:ea typeface="Times New Roman" panose="02020603050405020304" pitchFamily="18" charset="0"/>
                <a:cs typeface="Arial" panose="020B0604020202020204" pitchFamily="34" charset="0"/>
              </a:rPr>
              <a:t>, </a:t>
            </a:r>
            <a:r>
              <a:rPr lang="en-US" sz="1800" dirty="0">
                <a:effectLst/>
                <a:latin typeface="Calibri" panose="020F0502020204030204" pitchFamily="34" charset="0"/>
                <a:ea typeface="Times New Roman" panose="02020603050405020304" pitchFamily="18" charset="0"/>
                <a:cs typeface="Arial" panose="020B0604020202020204" pitchFamily="34" charset="0"/>
              </a:rPr>
              <a:t>where n is the number of items.</a:t>
            </a:r>
            <a:endParaRPr lang="en-PK" sz="18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2" name="Footer Placeholder 2">
            <a:extLst>
              <a:ext uri="{FF2B5EF4-FFF2-40B4-BE49-F238E27FC236}">
                <a16:creationId xmlns="" xmlns:a16="http://schemas.microsoft.com/office/drawing/2014/main" id="{74B7DAFF-0371-C064-4D8F-16917DD2F211}"/>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3" name="Picture 2">
            <a:extLst>
              <a:ext uri="{FF2B5EF4-FFF2-40B4-BE49-F238E27FC236}">
                <a16:creationId xmlns="" xmlns:a16="http://schemas.microsoft.com/office/drawing/2014/main" id="{BFE194C9-936F-C3D2-270E-12005F6875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811844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 xmlns:a16="http://schemas.microsoft.com/office/drawing/2014/main" id="{9FC66E5E-D122-41C9-B33A-EBC65D536CC7}"/>
              </a:ext>
            </a:extLst>
          </p:cNvPr>
          <p:cNvSpPr>
            <a:spLocks noGrp="1"/>
          </p:cNvSpPr>
          <p:nvPr>
            <p:ph type="title"/>
          </p:nvPr>
        </p:nvSpPr>
        <p:spPr>
          <a:xfrm>
            <a:off x="1137920" y="932689"/>
            <a:ext cx="3703320" cy="623888"/>
          </a:xfrm>
        </p:spPr>
        <p:txBody>
          <a:bodyPr>
            <a:normAutofit/>
          </a:bodyPr>
          <a:lstStyle/>
          <a:p>
            <a:r>
              <a:rPr lang="en-US" sz="2400" b="1" dirty="0">
                <a:solidFill>
                  <a:schemeClr val="accent1">
                    <a:lumMod val="50000"/>
                  </a:schemeClr>
                </a:solidFill>
                <a:latin typeface="+mn-lt"/>
              </a:rPr>
              <a:t>Selection Sort : Application</a:t>
            </a:r>
            <a:endParaRPr lang="en-PK" sz="2400" b="1" dirty="0">
              <a:solidFill>
                <a:schemeClr val="accent1">
                  <a:lumMod val="50000"/>
                </a:schemeClr>
              </a:solidFill>
              <a:latin typeface="+mn-lt"/>
            </a:endParaRPr>
          </a:p>
        </p:txBody>
      </p:sp>
      <p:sp>
        <p:nvSpPr>
          <p:cNvPr id="2" name="Footer Placeholder 2">
            <a:extLst>
              <a:ext uri="{FF2B5EF4-FFF2-40B4-BE49-F238E27FC236}">
                <a16:creationId xmlns="" xmlns:a16="http://schemas.microsoft.com/office/drawing/2014/main" id="{334F20CE-DA9D-5815-F7D9-E7F537A91AD9}"/>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3" name="Picture 2">
            <a:extLst>
              <a:ext uri="{FF2B5EF4-FFF2-40B4-BE49-F238E27FC236}">
                <a16:creationId xmlns="" xmlns:a16="http://schemas.microsoft.com/office/drawing/2014/main" id="{FE791248-66B9-561F-2404-8303BA6E4E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03A642B9-1F9C-A5D8-625C-71645C5C5509}"/>
                  </a:ext>
                </a:extLst>
              </p:cNvPr>
              <p:cNvSpPr txBox="1"/>
              <p:nvPr/>
            </p:nvSpPr>
            <p:spPr>
              <a:xfrm>
                <a:off x="544530" y="1151982"/>
                <a:ext cx="10911155" cy="4247317"/>
              </a:xfrm>
              <a:prstGeom prst="rect">
                <a:avLst/>
              </a:prstGeom>
              <a:noFill/>
            </p:spPr>
            <p:txBody>
              <a:bodyPr wrap="square">
                <a:spAutoFit/>
              </a:bodyPr>
              <a:lstStyle/>
              <a:p>
                <a:pPr marL="285750" indent="-285750">
                  <a:lnSpc>
                    <a:spcPct val="250000"/>
                  </a:lnSpc>
                  <a:buFont typeface="Arial" panose="020B0604020202020204" pitchFamily="34" charset="0"/>
                  <a:buChar char="•"/>
                </a:pPr>
                <a:endParaRPr lang="en-US" dirty="0" smtClean="0"/>
              </a:p>
              <a:p>
                <a:pPr marL="285750" indent="-285750">
                  <a:lnSpc>
                    <a:spcPct val="250000"/>
                  </a:lnSpc>
                  <a:buFont typeface="Arial" panose="020B0604020202020204" pitchFamily="34" charset="0"/>
                  <a:buChar char="•"/>
                </a:pPr>
                <a:r>
                  <a:rPr lang="en-US" dirty="0" smtClean="0"/>
                  <a:t>A </a:t>
                </a:r>
                <a:r>
                  <a:rPr lang="en-US" dirty="0"/>
                  <a:t>small list is to be sorted</a:t>
                </a:r>
              </a:p>
              <a:p>
                <a:pPr marL="285750" indent="-285750">
                  <a:lnSpc>
                    <a:spcPct val="250000"/>
                  </a:lnSpc>
                  <a:buFont typeface="Arial" panose="020B0604020202020204" pitchFamily="34" charset="0"/>
                  <a:buChar char="•"/>
                </a:pPr>
                <a:r>
                  <a:rPr lang="en-US" dirty="0"/>
                  <a:t>Cost of swapping does not matter</a:t>
                </a:r>
              </a:p>
              <a:p>
                <a:pPr marL="285750" indent="-285750">
                  <a:lnSpc>
                    <a:spcPct val="250000"/>
                  </a:lnSpc>
                  <a:buFont typeface="Arial" panose="020B0604020202020204" pitchFamily="34" charset="0"/>
                  <a:buChar char="•"/>
                </a:pPr>
                <a:r>
                  <a:rPr lang="en-US" dirty="0"/>
                  <a:t>Checking of all the elements is compulsory</a:t>
                </a:r>
              </a:p>
              <a:p>
                <a:pPr marL="285750" indent="-285750">
                  <a:lnSpc>
                    <a:spcPct val="250000"/>
                  </a:lnSpc>
                  <a:buFont typeface="Arial" panose="020B0604020202020204" pitchFamily="34" charset="0"/>
                  <a:buChar char="•"/>
                </a:pPr>
                <a:r>
                  <a:rPr lang="en-US" dirty="0"/>
                  <a:t>Cost of writing to a memory matters like in flash memory (number of writes/swaps is O(n) as compared to </a:t>
                </a:r>
                <a14:m>
                  <m:oMath xmlns:m="http://schemas.openxmlformats.org/officeDocument/2006/math">
                    <m:r>
                      <m:rPr>
                        <m:sty m:val="p"/>
                      </m:rPr>
                      <a:rPr lang="en-US" b="0" i="0" smtClean="0">
                        <a:latin typeface="Cambria Math" panose="02040503050406030204" pitchFamily="18" charset="0"/>
                      </a:rPr>
                      <m:t>O</m:t>
                    </m:r>
                    <m:r>
                      <a:rPr lang="en-US" b="0" i="0"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of bubble sort)</a:t>
                </a:r>
                <a:endParaRPr lang="en-PK" dirty="0"/>
              </a:p>
            </p:txBody>
          </p:sp>
        </mc:Choice>
        <mc:Fallback xmlns="">
          <p:sp>
            <p:nvSpPr>
              <p:cNvPr id="7" name="TextBox 6">
                <a:extLst>
                  <a:ext uri="{FF2B5EF4-FFF2-40B4-BE49-F238E27FC236}">
                    <a16:creationId xmlns:a16="http://schemas.microsoft.com/office/drawing/2014/main" xmlns:a14="http://schemas.microsoft.com/office/drawing/2010/main" xmlns="" id="{03A642B9-1F9C-A5D8-625C-71645C5C5509}"/>
                  </a:ext>
                </a:extLst>
              </p:cNvPr>
              <p:cNvSpPr txBox="1">
                <a:spLocks noRot="1" noChangeAspect="1" noMove="1" noResize="1" noEditPoints="1" noAdjustHandles="1" noChangeArrowheads="1" noChangeShapeType="1" noTextEdit="1"/>
              </p:cNvSpPr>
              <p:nvPr/>
            </p:nvSpPr>
            <p:spPr>
              <a:xfrm>
                <a:off x="544530" y="1151982"/>
                <a:ext cx="10911155" cy="4247317"/>
              </a:xfrm>
              <a:prstGeom prst="rect">
                <a:avLst/>
              </a:prstGeom>
              <a:blipFill rotWithShape="0">
                <a:blip r:embed="rId3"/>
                <a:stretch>
                  <a:fillRect l="-335"/>
                </a:stretch>
              </a:blipFill>
            </p:spPr>
            <p:txBody>
              <a:bodyPr/>
              <a:lstStyle/>
              <a:p>
                <a:r>
                  <a:rPr lang="en-US">
                    <a:noFill/>
                  </a:rPr>
                  <a:t> </a:t>
                </a:r>
              </a:p>
            </p:txBody>
          </p:sp>
        </mc:Fallback>
      </mc:AlternateContent>
    </p:spTree>
    <p:extLst>
      <p:ext uri="{BB962C8B-B14F-4D97-AF65-F5344CB8AC3E}">
        <p14:creationId xmlns:p14="http://schemas.microsoft.com/office/powerpoint/2010/main" val="38233831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p:cNvSpPr>
          <p:nvPr>
            <p:ph type="title"/>
          </p:nvPr>
        </p:nvSpPr>
        <p:spPr/>
        <p:txBody>
          <a:bodyPr/>
          <a:lstStyle/>
          <a:p>
            <a:pPr eaLnBrk="1" hangingPunct="1"/>
            <a:r>
              <a:rPr lang="en-US" altLang="en-US" smtClean="0"/>
              <a:t>Insertion Sort: Idea</a:t>
            </a:r>
          </a:p>
        </p:txBody>
      </p:sp>
      <p:sp>
        <p:nvSpPr>
          <p:cNvPr id="78851" name="Rectangle 3">
            <a:extLst>
              <a:ext uri="{FF2B5EF4-FFF2-40B4-BE49-F238E27FC236}"/>
            </a:extLst>
          </p:cNvPr>
          <p:cNvSpPr>
            <a:spLocks noGrp="1" noChangeArrowheads="1"/>
          </p:cNvSpPr>
          <p:nvPr>
            <p:ph idx="1"/>
          </p:nvPr>
        </p:nvSpPr>
        <p:spPr/>
        <p:txBody>
          <a:bodyPr rtlCol="0">
            <a:normAutofit fontScale="92500" lnSpcReduction="20000"/>
          </a:bodyPr>
          <a:lstStyle/>
          <a:p>
            <a:pPr marL="457200" indent="-457200">
              <a:buFont typeface="Wingdings" pitchFamily="2" charset="2"/>
              <a:buAutoNum type="arabicPeriod"/>
              <a:defRPr/>
            </a:pPr>
            <a:r>
              <a:rPr lang="en-AU" altLang="en-US" dirty="0"/>
              <a:t>We have two group of items:</a:t>
            </a:r>
          </a:p>
          <a:p>
            <a:pPr marL="914400" lvl="1" indent="-457200">
              <a:buFont typeface="Arial" charset="0"/>
              <a:buChar char="–"/>
              <a:defRPr/>
            </a:pPr>
            <a:r>
              <a:rPr lang="en-AU" altLang="en-US" dirty="0"/>
              <a:t>sorted group, and</a:t>
            </a:r>
          </a:p>
          <a:p>
            <a:pPr marL="914400" lvl="1" indent="-457200">
              <a:buFont typeface="Arial" charset="0"/>
              <a:buChar char="–"/>
              <a:defRPr/>
            </a:pPr>
            <a:r>
              <a:rPr lang="en-AU" altLang="en-US" dirty="0"/>
              <a:t>unsorted group</a:t>
            </a:r>
          </a:p>
          <a:p>
            <a:pPr marL="457200" indent="-457200">
              <a:buFont typeface="Wingdings" pitchFamily="2" charset="2"/>
              <a:buAutoNum type="arabicPeriod"/>
              <a:defRPr/>
            </a:pPr>
            <a:r>
              <a:rPr lang="en-AU" altLang="en-US" dirty="0"/>
              <a:t>Initially, all items in the unsorted group and the sorted group is empty. </a:t>
            </a:r>
          </a:p>
          <a:p>
            <a:pPr marL="914400" lvl="1" indent="-457200">
              <a:buFont typeface="Arial" charset="0"/>
              <a:buChar char="–"/>
              <a:defRPr/>
            </a:pPr>
            <a:r>
              <a:rPr lang="en-AU" altLang="en-US" dirty="0"/>
              <a:t>We assume that items in the unsorted group unsorted. </a:t>
            </a:r>
          </a:p>
          <a:p>
            <a:pPr marL="914400" lvl="1" indent="-457200">
              <a:buFont typeface="Arial" charset="0"/>
              <a:buChar char="–"/>
              <a:defRPr/>
            </a:pPr>
            <a:r>
              <a:rPr lang="en-AU" altLang="en-US" dirty="0"/>
              <a:t>We have to keep items in the sorted group sorted. </a:t>
            </a:r>
          </a:p>
          <a:p>
            <a:pPr marL="457200" indent="-457200">
              <a:buFont typeface="Wingdings" pitchFamily="2" charset="2"/>
              <a:buAutoNum type="arabicPeriod"/>
              <a:defRPr/>
            </a:pPr>
            <a:r>
              <a:rPr lang="en-US" altLang="en-US" dirty="0"/>
              <a:t>In each pass, the first element of the unsorted part is picked up, transferred to the sorted </a:t>
            </a:r>
            <a:r>
              <a:rPr lang="en-US" altLang="en-US" dirty="0" err="1"/>
              <a:t>sublist</a:t>
            </a:r>
            <a:r>
              <a:rPr lang="en-US" altLang="en-US" dirty="0"/>
              <a:t>, and inserted at the appropriate place. </a:t>
            </a:r>
          </a:p>
          <a:p>
            <a:pPr marL="457200" indent="-457200">
              <a:buFont typeface="Wingdings" pitchFamily="2" charset="2"/>
              <a:buAutoNum type="arabicPeriod"/>
              <a:defRPr/>
            </a:pPr>
            <a:r>
              <a:rPr lang="en-AU" altLang="en-US" dirty="0"/>
              <a:t>Repeat the process until the unsorted group becomes empty.</a:t>
            </a:r>
          </a:p>
          <a:p>
            <a:pPr>
              <a:spcAft>
                <a:spcPts val="0"/>
              </a:spcAft>
              <a:defRPr/>
            </a:pPr>
            <a:endParaRPr lang="en-US" altLang="en-US" dirty="0">
              <a:latin typeface="+mj-lt"/>
            </a:endParaRPr>
          </a:p>
          <a:p>
            <a:pPr>
              <a:spcAft>
                <a:spcPts val="0"/>
              </a:spcAft>
              <a:defRPr/>
            </a:pPr>
            <a:r>
              <a:rPr lang="en-US" altLang="en-US" dirty="0">
                <a:latin typeface="+mj-lt"/>
              </a:rPr>
              <a:t>Appropriate for small inputs. </a:t>
            </a:r>
          </a:p>
          <a:p>
            <a:pPr>
              <a:spcAft>
                <a:spcPts val="0"/>
              </a:spcAft>
              <a:defRPr/>
            </a:pPr>
            <a:r>
              <a:rPr lang="en-US" altLang="en-US" dirty="0">
                <a:latin typeface="+mj-lt"/>
              </a:rPr>
              <a:t>Most common sorting technique used by card players.</a:t>
            </a:r>
          </a:p>
          <a:p>
            <a:pPr>
              <a:spcAft>
                <a:spcPts val="0"/>
              </a:spcAft>
              <a:defRPr/>
            </a:pPr>
            <a:endParaRPr lang="en-US" altLang="en-US" dirty="0">
              <a:latin typeface="+mj-lt"/>
            </a:endParaRPr>
          </a:p>
        </p:txBody>
      </p:sp>
    </p:spTree>
    <p:extLst>
      <p:ext uri="{BB962C8B-B14F-4D97-AF65-F5344CB8AC3E}">
        <p14:creationId xmlns:p14="http://schemas.microsoft.com/office/powerpoint/2010/main" val="39520375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0418" name="Group 2"/>
          <p:cNvGrpSpPr>
            <a:grpSpLocks/>
          </p:cNvGrpSpPr>
          <p:nvPr/>
        </p:nvGrpSpPr>
        <p:grpSpPr bwMode="auto">
          <a:xfrm>
            <a:off x="2362200" y="2359026"/>
            <a:ext cx="7315200" cy="498475"/>
            <a:chOff x="528" y="1392"/>
            <a:chExt cx="4608" cy="314"/>
          </a:xfrm>
        </p:grpSpPr>
        <p:sp>
          <p:nvSpPr>
            <p:cNvPr id="60450" name="Rectangle 3"/>
            <p:cNvSpPr>
              <a:spLocks noChangeArrowheads="1"/>
            </p:cNvSpPr>
            <p:nvPr/>
          </p:nvSpPr>
          <p:spPr bwMode="auto">
            <a:xfrm>
              <a:off x="528"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0451" name="Rectangle 4"/>
            <p:cNvSpPr>
              <a:spLocks noChangeArrowheads="1"/>
            </p:cNvSpPr>
            <p:nvPr/>
          </p:nvSpPr>
          <p:spPr bwMode="auto">
            <a:xfrm>
              <a:off x="912"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0452" name="Rectangle 5"/>
            <p:cNvSpPr>
              <a:spLocks noChangeArrowheads="1"/>
            </p:cNvSpPr>
            <p:nvPr/>
          </p:nvSpPr>
          <p:spPr bwMode="auto">
            <a:xfrm>
              <a:off x="1296"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0453" name="Rectangle 6"/>
            <p:cNvSpPr>
              <a:spLocks noChangeArrowheads="1"/>
            </p:cNvSpPr>
            <p:nvPr/>
          </p:nvSpPr>
          <p:spPr bwMode="auto">
            <a:xfrm>
              <a:off x="1680"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0454" name="Rectangle 7"/>
            <p:cNvSpPr>
              <a:spLocks noChangeArrowheads="1"/>
            </p:cNvSpPr>
            <p:nvPr/>
          </p:nvSpPr>
          <p:spPr bwMode="auto">
            <a:xfrm>
              <a:off x="2064"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0455" name="Rectangle 8"/>
            <p:cNvSpPr>
              <a:spLocks noChangeArrowheads="1"/>
            </p:cNvSpPr>
            <p:nvPr/>
          </p:nvSpPr>
          <p:spPr bwMode="auto">
            <a:xfrm>
              <a:off x="2448"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0456" name="Rectangle 9"/>
            <p:cNvSpPr>
              <a:spLocks noChangeArrowheads="1"/>
            </p:cNvSpPr>
            <p:nvPr/>
          </p:nvSpPr>
          <p:spPr bwMode="auto">
            <a:xfrm>
              <a:off x="2832"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0457" name="Rectangle 10"/>
            <p:cNvSpPr>
              <a:spLocks noChangeArrowheads="1"/>
            </p:cNvSpPr>
            <p:nvPr/>
          </p:nvSpPr>
          <p:spPr bwMode="auto">
            <a:xfrm>
              <a:off x="3216"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0458" name="Rectangle 11"/>
            <p:cNvSpPr>
              <a:spLocks noChangeArrowheads="1"/>
            </p:cNvSpPr>
            <p:nvPr/>
          </p:nvSpPr>
          <p:spPr bwMode="auto">
            <a:xfrm>
              <a:off x="3600"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0459" name="Rectangle 12"/>
            <p:cNvSpPr>
              <a:spLocks noChangeArrowheads="1"/>
            </p:cNvSpPr>
            <p:nvPr/>
          </p:nvSpPr>
          <p:spPr bwMode="auto">
            <a:xfrm>
              <a:off x="3984"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0460" name="Rectangle 13"/>
            <p:cNvSpPr>
              <a:spLocks noChangeArrowheads="1"/>
            </p:cNvSpPr>
            <p:nvPr/>
          </p:nvSpPr>
          <p:spPr bwMode="auto">
            <a:xfrm>
              <a:off x="4368"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0461" name="Rectangle 14"/>
            <p:cNvSpPr>
              <a:spLocks noChangeArrowheads="1"/>
            </p:cNvSpPr>
            <p:nvPr/>
          </p:nvSpPr>
          <p:spPr bwMode="auto">
            <a:xfrm>
              <a:off x="4752" y="139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grpSp>
      <p:sp>
        <p:nvSpPr>
          <p:cNvPr id="60419" name="Oval 15"/>
          <p:cNvSpPr>
            <a:spLocks noChangeArrowheads="1"/>
          </p:cNvSpPr>
          <p:nvPr/>
        </p:nvSpPr>
        <p:spPr bwMode="auto">
          <a:xfrm>
            <a:off x="3048000" y="2359025"/>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0420" name="AutoShape 16"/>
          <p:cNvCxnSpPr>
            <a:cxnSpLocks noChangeShapeType="1"/>
            <a:stCxn id="60451" idx="0"/>
            <a:endCxn id="60450" idx="0"/>
          </p:cNvCxnSpPr>
          <p:nvPr/>
        </p:nvCxnSpPr>
        <p:spPr bwMode="auto">
          <a:xfrm rot="-5400000" flipH="1" flipV="1">
            <a:off x="2971007" y="2043907"/>
            <a:ext cx="1587" cy="609600"/>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0421" name="Rectangle 17"/>
          <p:cNvSpPr>
            <a:spLocks noChangeArrowheads="1"/>
          </p:cNvSpPr>
          <p:nvPr/>
        </p:nvSpPr>
        <p:spPr bwMode="auto">
          <a:xfrm>
            <a:off x="2362200" y="38830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endParaRPr lang="en-US" altLang="en-US" sz="2400">
              <a:latin typeface="Arial" panose="020B0604020202020204" pitchFamily="34" charset="0"/>
            </a:endParaRPr>
          </a:p>
        </p:txBody>
      </p:sp>
      <p:sp>
        <p:nvSpPr>
          <p:cNvPr id="60422" name="Rectangle 18"/>
          <p:cNvSpPr>
            <a:spLocks noChangeArrowheads="1"/>
          </p:cNvSpPr>
          <p:nvPr/>
        </p:nvSpPr>
        <p:spPr bwMode="auto">
          <a:xfrm>
            <a:off x="2971800" y="38830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p>
        </p:txBody>
      </p:sp>
      <p:sp>
        <p:nvSpPr>
          <p:cNvPr id="60423" name="Rectangle 19"/>
          <p:cNvSpPr>
            <a:spLocks noChangeArrowheads="1"/>
          </p:cNvSpPr>
          <p:nvPr/>
        </p:nvSpPr>
        <p:spPr bwMode="auto">
          <a:xfrm>
            <a:off x="35814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0424" name="Rectangle 20"/>
          <p:cNvSpPr>
            <a:spLocks noChangeArrowheads="1"/>
          </p:cNvSpPr>
          <p:nvPr/>
        </p:nvSpPr>
        <p:spPr bwMode="auto">
          <a:xfrm>
            <a:off x="41910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0425" name="Rectangle 21"/>
          <p:cNvSpPr>
            <a:spLocks noChangeArrowheads="1"/>
          </p:cNvSpPr>
          <p:nvPr/>
        </p:nvSpPr>
        <p:spPr bwMode="auto">
          <a:xfrm>
            <a:off x="48006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0426" name="Rectangle 22"/>
          <p:cNvSpPr>
            <a:spLocks noChangeArrowheads="1"/>
          </p:cNvSpPr>
          <p:nvPr/>
        </p:nvSpPr>
        <p:spPr bwMode="auto">
          <a:xfrm>
            <a:off x="54102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0427" name="Rectangle 23"/>
          <p:cNvSpPr>
            <a:spLocks noChangeArrowheads="1"/>
          </p:cNvSpPr>
          <p:nvPr/>
        </p:nvSpPr>
        <p:spPr bwMode="auto">
          <a:xfrm>
            <a:off x="60198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0428" name="Rectangle 24"/>
          <p:cNvSpPr>
            <a:spLocks noChangeArrowheads="1"/>
          </p:cNvSpPr>
          <p:nvPr/>
        </p:nvSpPr>
        <p:spPr bwMode="auto">
          <a:xfrm>
            <a:off x="66294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0429" name="Rectangle 25"/>
          <p:cNvSpPr>
            <a:spLocks noChangeArrowheads="1"/>
          </p:cNvSpPr>
          <p:nvPr/>
        </p:nvSpPr>
        <p:spPr bwMode="auto">
          <a:xfrm>
            <a:off x="72390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0430" name="Rectangle 26"/>
          <p:cNvSpPr>
            <a:spLocks noChangeArrowheads="1"/>
          </p:cNvSpPr>
          <p:nvPr/>
        </p:nvSpPr>
        <p:spPr bwMode="auto">
          <a:xfrm>
            <a:off x="78486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0431" name="Rectangle 27"/>
          <p:cNvSpPr>
            <a:spLocks noChangeArrowheads="1"/>
          </p:cNvSpPr>
          <p:nvPr/>
        </p:nvSpPr>
        <p:spPr bwMode="auto">
          <a:xfrm>
            <a:off x="84582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0432" name="Rectangle 28"/>
          <p:cNvSpPr>
            <a:spLocks noChangeArrowheads="1"/>
          </p:cNvSpPr>
          <p:nvPr/>
        </p:nvSpPr>
        <p:spPr bwMode="auto">
          <a:xfrm>
            <a:off x="9067800" y="38830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0433" name="Oval 29"/>
          <p:cNvSpPr>
            <a:spLocks noChangeArrowheads="1"/>
          </p:cNvSpPr>
          <p:nvPr/>
        </p:nvSpPr>
        <p:spPr bwMode="auto">
          <a:xfrm>
            <a:off x="3657600" y="3883025"/>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0434" name="AutoShape 30"/>
          <p:cNvCxnSpPr>
            <a:cxnSpLocks noChangeShapeType="1"/>
            <a:stCxn id="60433" idx="0"/>
            <a:endCxn id="60421" idx="0"/>
          </p:cNvCxnSpPr>
          <p:nvPr/>
        </p:nvCxnSpPr>
        <p:spPr bwMode="auto">
          <a:xfrm rot="-5400000" flipH="1" flipV="1">
            <a:off x="3275807" y="3263107"/>
            <a:ext cx="1587" cy="1219200"/>
          </a:xfrm>
          <a:prstGeom prst="curvedConnector3">
            <a:avLst>
              <a:gd name="adj1" fmla="val -31300009"/>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0435" name="Rectangle 31"/>
          <p:cNvSpPr>
            <a:spLocks noChangeArrowheads="1"/>
          </p:cNvSpPr>
          <p:nvPr/>
        </p:nvSpPr>
        <p:spPr bwMode="auto">
          <a:xfrm>
            <a:off x="2362200" y="5292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0436" name="Rectangle 32"/>
          <p:cNvSpPr>
            <a:spLocks noChangeArrowheads="1"/>
          </p:cNvSpPr>
          <p:nvPr/>
        </p:nvSpPr>
        <p:spPr bwMode="auto">
          <a:xfrm>
            <a:off x="2971800" y="5292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0437" name="Rectangle 33"/>
          <p:cNvSpPr>
            <a:spLocks noChangeArrowheads="1"/>
          </p:cNvSpPr>
          <p:nvPr/>
        </p:nvSpPr>
        <p:spPr bwMode="auto">
          <a:xfrm>
            <a:off x="3581400" y="5292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0438" name="Rectangle 34"/>
          <p:cNvSpPr>
            <a:spLocks noChangeArrowheads="1"/>
          </p:cNvSpPr>
          <p:nvPr/>
        </p:nvSpPr>
        <p:spPr bwMode="auto">
          <a:xfrm>
            <a:off x="41910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0439" name="Rectangle 35"/>
          <p:cNvSpPr>
            <a:spLocks noChangeArrowheads="1"/>
          </p:cNvSpPr>
          <p:nvPr/>
        </p:nvSpPr>
        <p:spPr bwMode="auto">
          <a:xfrm>
            <a:off x="48006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0440" name="Rectangle 36"/>
          <p:cNvSpPr>
            <a:spLocks noChangeArrowheads="1"/>
          </p:cNvSpPr>
          <p:nvPr/>
        </p:nvSpPr>
        <p:spPr bwMode="auto">
          <a:xfrm>
            <a:off x="54102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0441" name="Rectangle 37"/>
          <p:cNvSpPr>
            <a:spLocks noChangeArrowheads="1"/>
          </p:cNvSpPr>
          <p:nvPr/>
        </p:nvSpPr>
        <p:spPr bwMode="auto">
          <a:xfrm>
            <a:off x="60198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0442" name="Rectangle 38"/>
          <p:cNvSpPr>
            <a:spLocks noChangeArrowheads="1"/>
          </p:cNvSpPr>
          <p:nvPr/>
        </p:nvSpPr>
        <p:spPr bwMode="auto">
          <a:xfrm>
            <a:off x="66294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0443" name="Rectangle 39"/>
          <p:cNvSpPr>
            <a:spLocks noChangeArrowheads="1"/>
          </p:cNvSpPr>
          <p:nvPr/>
        </p:nvSpPr>
        <p:spPr bwMode="auto">
          <a:xfrm>
            <a:off x="72390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0444" name="Rectangle 40"/>
          <p:cNvSpPr>
            <a:spLocks noChangeArrowheads="1"/>
          </p:cNvSpPr>
          <p:nvPr/>
        </p:nvSpPr>
        <p:spPr bwMode="auto">
          <a:xfrm>
            <a:off x="78486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0445" name="Rectangle 41"/>
          <p:cNvSpPr>
            <a:spLocks noChangeArrowheads="1"/>
          </p:cNvSpPr>
          <p:nvPr/>
        </p:nvSpPr>
        <p:spPr bwMode="auto">
          <a:xfrm>
            <a:off x="84582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0446" name="Rectangle 42"/>
          <p:cNvSpPr>
            <a:spLocks noChangeArrowheads="1"/>
          </p:cNvSpPr>
          <p:nvPr/>
        </p:nvSpPr>
        <p:spPr bwMode="auto">
          <a:xfrm>
            <a:off x="9067800" y="5292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0447" name="Oval 43"/>
          <p:cNvSpPr>
            <a:spLocks noChangeArrowheads="1"/>
          </p:cNvSpPr>
          <p:nvPr/>
        </p:nvSpPr>
        <p:spPr bwMode="auto">
          <a:xfrm>
            <a:off x="4267200" y="5292725"/>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60448" name="Rectangle 44"/>
          <p:cNvSpPr>
            <a:spLocks noChangeArrowheads="1"/>
          </p:cNvSpPr>
          <p:nvPr/>
        </p:nvSpPr>
        <p:spPr bwMode="auto">
          <a:xfrm>
            <a:off x="2362200" y="23590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0449" name="Rectangle 45"/>
          <p:cNvSpPr>
            <a:spLocks noGrp="1"/>
          </p:cNvSpPr>
          <p:nvPr>
            <p:ph type="title"/>
          </p:nvPr>
        </p:nvSpPr>
        <p:spPr>
          <a:noFill/>
        </p:spPr>
        <p:txBody>
          <a:bodyPr/>
          <a:lstStyle/>
          <a:p>
            <a:pPr eaLnBrk="1" hangingPunct="1"/>
            <a:r>
              <a:rPr lang="en-US" altLang="en-US" smtClean="0"/>
              <a:t>Insertion Sort: Example </a:t>
            </a:r>
          </a:p>
        </p:txBody>
      </p:sp>
    </p:spTree>
    <p:extLst>
      <p:ext uri="{BB962C8B-B14F-4D97-AF65-F5344CB8AC3E}">
        <p14:creationId xmlns:p14="http://schemas.microsoft.com/office/powerpoint/2010/main" val="94588507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2362200" y="3505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1443" name="Rectangle 3"/>
          <p:cNvSpPr>
            <a:spLocks noChangeArrowheads="1"/>
          </p:cNvSpPr>
          <p:nvPr/>
        </p:nvSpPr>
        <p:spPr bwMode="auto">
          <a:xfrm>
            <a:off x="2971800" y="3505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1444" name="Rectangle 4"/>
          <p:cNvSpPr>
            <a:spLocks noChangeArrowheads="1"/>
          </p:cNvSpPr>
          <p:nvPr/>
        </p:nvSpPr>
        <p:spPr bwMode="auto">
          <a:xfrm>
            <a:off x="3581400" y="3505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1445" name="Rectangle 5"/>
          <p:cNvSpPr>
            <a:spLocks noChangeArrowheads="1"/>
          </p:cNvSpPr>
          <p:nvPr/>
        </p:nvSpPr>
        <p:spPr bwMode="auto">
          <a:xfrm>
            <a:off x="4191000" y="3505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1446" name="Rectangle 6"/>
          <p:cNvSpPr>
            <a:spLocks noChangeArrowheads="1"/>
          </p:cNvSpPr>
          <p:nvPr/>
        </p:nvSpPr>
        <p:spPr bwMode="auto">
          <a:xfrm>
            <a:off x="4800600" y="3505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1447" name="Rectangle 7"/>
          <p:cNvSpPr>
            <a:spLocks noChangeArrowheads="1"/>
          </p:cNvSpPr>
          <p:nvPr/>
        </p:nvSpPr>
        <p:spPr bwMode="auto">
          <a:xfrm>
            <a:off x="54102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1448" name="Rectangle 8"/>
          <p:cNvSpPr>
            <a:spLocks noChangeArrowheads="1"/>
          </p:cNvSpPr>
          <p:nvPr/>
        </p:nvSpPr>
        <p:spPr bwMode="auto">
          <a:xfrm>
            <a:off x="60198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1449" name="Rectangle 9"/>
          <p:cNvSpPr>
            <a:spLocks noChangeArrowheads="1"/>
          </p:cNvSpPr>
          <p:nvPr/>
        </p:nvSpPr>
        <p:spPr bwMode="auto">
          <a:xfrm>
            <a:off x="66294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1450" name="Rectangle 10"/>
          <p:cNvSpPr>
            <a:spLocks noChangeArrowheads="1"/>
          </p:cNvSpPr>
          <p:nvPr/>
        </p:nvSpPr>
        <p:spPr bwMode="auto">
          <a:xfrm>
            <a:off x="72390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1451" name="Rectangle 11"/>
          <p:cNvSpPr>
            <a:spLocks noChangeArrowheads="1"/>
          </p:cNvSpPr>
          <p:nvPr/>
        </p:nvSpPr>
        <p:spPr bwMode="auto">
          <a:xfrm>
            <a:off x="78486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1452" name="Rectangle 12"/>
          <p:cNvSpPr>
            <a:spLocks noChangeArrowheads="1"/>
          </p:cNvSpPr>
          <p:nvPr/>
        </p:nvSpPr>
        <p:spPr bwMode="auto">
          <a:xfrm>
            <a:off x="84582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1453" name="Rectangle 13"/>
          <p:cNvSpPr>
            <a:spLocks noChangeArrowheads="1"/>
          </p:cNvSpPr>
          <p:nvPr/>
        </p:nvSpPr>
        <p:spPr bwMode="auto">
          <a:xfrm>
            <a:off x="9067800" y="3505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1454" name="Oval 14"/>
          <p:cNvSpPr>
            <a:spLocks noChangeArrowheads="1"/>
          </p:cNvSpPr>
          <p:nvPr/>
        </p:nvSpPr>
        <p:spPr bwMode="auto">
          <a:xfrm>
            <a:off x="5486400" y="3505200"/>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61455" name="Rectangle 15"/>
          <p:cNvSpPr>
            <a:spLocks noChangeArrowheads="1"/>
          </p:cNvSpPr>
          <p:nvPr/>
        </p:nvSpPr>
        <p:spPr bwMode="auto">
          <a:xfrm>
            <a:off x="2362200" y="2286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1456" name="Rectangle 16"/>
          <p:cNvSpPr>
            <a:spLocks noChangeArrowheads="1"/>
          </p:cNvSpPr>
          <p:nvPr/>
        </p:nvSpPr>
        <p:spPr bwMode="auto">
          <a:xfrm>
            <a:off x="2971800" y="2286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1457" name="Rectangle 17"/>
          <p:cNvSpPr>
            <a:spLocks noChangeArrowheads="1"/>
          </p:cNvSpPr>
          <p:nvPr/>
        </p:nvSpPr>
        <p:spPr bwMode="auto">
          <a:xfrm>
            <a:off x="3581400" y="2286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1458" name="Rectangle 18"/>
          <p:cNvSpPr>
            <a:spLocks noChangeArrowheads="1"/>
          </p:cNvSpPr>
          <p:nvPr/>
        </p:nvSpPr>
        <p:spPr bwMode="auto">
          <a:xfrm>
            <a:off x="4191000" y="2286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1459" name="Rectangle 19"/>
          <p:cNvSpPr>
            <a:spLocks noChangeArrowheads="1"/>
          </p:cNvSpPr>
          <p:nvPr/>
        </p:nvSpPr>
        <p:spPr bwMode="auto">
          <a:xfrm>
            <a:off x="48006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1460" name="Rectangle 20"/>
          <p:cNvSpPr>
            <a:spLocks noChangeArrowheads="1"/>
          </p:cNvSpPr>
          <p:nvPr/>
        </p:nvSpPr>
        <p:spPr bwMode="auto">
          <a:xfrm>
            <a:off x="54102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1461" name="Rectangle 21"/>
          <p:cNvSpPr>
            <a:spLocks noChangeArrowheads="1"/>
          </p:cNvSpPr>
          <p:nvPr/>
        </p:nvSpPr>
        <p:spPr bwMode="auto">
          <a:xfrm>
            <a:off x="60198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1462" name="Rectangle 22"/>
          <p:cNvSpPr>
            <a:spLocks noChangeArrowheads="1"/>
          </p:cNvSpPr>
          <p:nvPr/>
        </p:nvSpPr>
        <p:spPr bwMode="auto">
          <a:xfrm>
            <a:off x="66294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1463" name="Rectangle 23"/>
          <p:cNvSpPr>
            <a:spLocks noChangeArrowheads="1"/>
          </p:cNvSpPr>
          <p:nvPr/>
        </p:nvSpPr>
        <p:spPr bwMode="auto">
          <a:xfrm>
            <a:off x="72390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1464" name="Rectangle 24"/>
          <p:cNvSpPr>
            <a:spLocks noChangeArrowheads="1"/>
          </p:cNvSpPr>
          <p:nvPr/>
        </p:nvSpPr>
        <p:spPr bwMode="auto">
          <a:xfrm>
            <a:off x="78486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1465" name="Rectangle 25"/>
          <p:cNvSpPr>
            <a:spLocks noChangeArrowheads="1"/>
          </p:cNvSpPr>
          <p:nvPr/>
        </p:nvSpPr>
        <p:spPr bwMode="auto">
          <a:xfrm>
            <a:off x="84582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1466" name="Rectangle 26"/>
          <p:cNvSpPr>
            <a:spLocks noChangeArrowheads="1"/>
          </p:cNvSpPr>
          <p:nvPr/>
        </p:nvSpPr>
        <p:spPr bwMode="auto">
          <a:xfrm>
            <a:off x="9067800" y="2286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1467" name="Oval 27"/>
          <p:cNvSpPr>
            <a:spLocks noChangeArrowheads="1"/>
          </p:cNvSpPr>
          <p:nvPr/>
        </p:nvSpPr>
        <p:spPr bwMode="auto">
          <a:xfrm>
            <a:off x="4876800" y="2286000"/>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1468" name="AutoShape 28"/>
          <p:cNvCxnSpPr>
            <a:cxnSpLocks noChangeShapeType="1"/>
            <a:stCxn id="61467" idx="0"/>
            <a:endCxn id="61457" idx="0"/>
          </p:cNvCxnSpPr>
          <p:nvPr/>
        </p:nvCxnSpPr>
        <p:spPr bwMode="auto">
          <a:xfrm rot="-5400000" flipH="1" flipV="1">
            <a:off x="4495007" y="1666082"/>
            <a:ext cx="1587" cy="1219200"/>
          </a:xfrm>
          <a:prstGeom prst="curvedConnector3">
            <a:avLst>
              <a:gd name="adj1" fmla="val -31300009"/>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1469" name="Rectangle 29"/>
          <p:cNvSpPr>
            <a:spLocks noChangeArrowheads="1"/>
          </p:cNvSpPr>
          <p:nvPr/>
        </p:nvSpPr>
        <p:spPr bwMode="auto">
          <a:xfrm>
            <a:off x="2362200" y="48768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1470" name="Rectangle 30"/>
          <p:cNvSpPr>
            <a:spLocks noChangeArrowheads="1"/>
          </p:cNvSpPr>
          <p:nvPr/>
        </p:nvSpPr>
        <p:spPr bwMode="auto">
          <a:xfrm>
            <a:off x="2971800" y="48768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1471" name="Rectangle 31"/>
          <p:cNvSpPr>
            <a:spLocks noChangeArrowheads="1"/>
          </p:cNvSpPr>
          <p:nvPr/>
        </p:nvSpPr>
        <p:spPr bwMode="auto">
          <a:xfrm>
            <a:off x="3581400" y="48768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1472" name="Rectangle 32"/>
          <p:cNvSpPr>
            <a:spLocks noChangeArrowheads="1"/>
          </p:cNvSpPr>
          <p:nvPr/>
        </p:nvSpPr>
        <p:spPr bwMode="auto">
          <a:xfrm>
            <a:off x="4191000" y="48768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1473" name="Rectangle 33"/>
          <p:cNvSpPr>
            <a:spLocks noChangeArrowheads="1"/>
          </p:cNvSpPr>
          <p:nvPr/>
        </p:nvSpPr>
        <p:spPr bwMode="auto">
          <a:xfrm>
            <a:off x="4800600" y="48768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1474" name="Rectangle 34"/>
          <p:cNvSpPr>
            <a:spLocks noChangeArrowheads="1"/>
          </p:cNvSpPr>
          <p:nvPr/>
        </p:nvSpPr>
        <p:spPr bwMode="auto">
          <a:xfrm>
            <a:off x="5410200" y="48768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1475" name="Rectangle 35"/>
          <p:cNvSpPr>
            <a:spLocks noChangeArrowheads="1"/>
          </p:cNvSpPr>
          <p:nvPr/>
        </p:nvSpPr>
        <p:spPr bwMode="auto">
          <a:xfrm>
            <a:off x="6019800" y="48768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1476" name="Rectangle 36"/>
          <p:cNvSpPr>
            <a:spLocks noChangeArrowheads="1"/>
          </p:cNvSpPr>
          <p:nvPr/>
        </p:nvSpPr>
        <p:spPr bwMode="auto">
          <a:xfrm>
            <a:off x="6629400" y="48768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1477" name="Rectangle 37"/>
          <p:cNvSpPr>
            <a:spLocks noChangeArrowheads="1"/>
          </p:cNvSpPr>
          <p:nvPr/>
        </p:nvSpPr>
        <p:spPr bwMode="auto">
          <a:xfrm>
            <a:off x="7239000" y="48768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1478" name="Rectangle 38"/>
          <p:cNvSpPr>
            <a:spLocks noChangeArrowheads="1"/>
          </p:cNvSpPr>
          <p:nvPr/>
        </p:nvSpPr>
        <p:spPr bwMode="auto">
          <a:xfrm>
            <a:off x="7848600" y="48768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1479" name="Rectangle 39"/>
          <p:cNvSpPr>
            <a:spLocks noChangeArrowheads="1"/>
          </p:cNvSpPr>
          <p:nvPr/>
        </p:nvSpPr>
        <p:spPr bwMode="auto">
          <a:xfrm>
            <a:off x="8458200" y="48768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1480" name="Rectangle 40"/>
          <p:cNvSpPr>
            <a:spLocks noChangeArrowheads="1"/>
          </p:cNvSpPr>
          <p:nvPr/>
        </p:nvSpPr>
        <p:spPr bwMode="auto">
          <a:xfrm>
            <a:off x="9067800" y="48768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1481" name="Oval 41"/>
          <p:cNvSpPr>
            <a:spLocks noChangeArrowheads="1"/>
          </p:cNvSpPr>
          <p:nvPr/>
        </p:nvSpPr>
        <p:spPr bwMode="auto">
          <a:xfrm>
            <a:off x="6096000" y="4876800"/>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1482" name="AutoShape 42"/>
          <p:cNvCxnSpPr>
            <a:cxnSpLocks noChangeShapeType="1"/>
            <a:stCxn id="61481" idx="0"/>
            <a:endCxn id="61469" idx="0"/>
          </p:cNvCxnSpPr>
          <p:nvPr/>
        </p:nvCxnSpPr>
        <p:spPr bwMode="auto">
          <a:xfrm rot="-5400000" flipH="1" flipV="1">
            <a:off x="4495007" y="3037682"/>
            <a:ext cx="1587" cy="3657600"/>
          </a:xfrm>
          <a:prstGeom prst="curvedConnector3">
            <a:avLst>
              <a:gd name="adj1" fmla="val -42500014"/>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1483" name="Rectangle 43"/>
          <p:cNvSpPr>
            <a:spLocks noGrp="1"/>
          </p:cNvSpPr>
          <p:nvPr>
            <p:ph type="title"/>
          </p:nvPr>
        </p:nvSpPr>
        <p:spPr>
          <a:noFill/>
        </p:spPr>
        <p:txBody>
          <a:bodyPr/>
          <a:lstStyle/>
          <a:p>
            <a:pPr eaLnBrk="1" hangingPunct="1"/>
            <a:r>
              <a:rPr lang="en-US" altLang="en-US" smtClean="0"/>
              <a:t>Insertion Sort: Example </a:t>
            </a:r>
          </a:p>
        </p:txBody>
      </p:sp>
    </p:spTree>
    <p:extLst>
      <p:ext uri="{BB962C8B-B14F-4D97-AF65-F5344CB8AC3E}">
        <p14:creationId xmlns:p14="http://schemas.microsoft.com/office/powerpoint/2010/main" val="25600366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2362200" y="2362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467" name="Rectangle 3"/>
          <p:cNvSpPr>
            <a:spLocks noChangeArrowheads="1"/>
          </p:cNvSpPr>
          <p:nvPr/>
        </p:nvSpPr>
        <p:spPr bwMode="auto">
          <a:xfrm>
            <a:off x="2971800" y="2362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2468" name="Rectangle 4"/>
          <p:cNvSpPr>
            <a:spLocks noChangeArrowheads="1"/>
          </p:cNvSpPr>
          <p:nvPr/>
        </p:nvSpPr>
        <p:spPr bwMode="auto">
          <a:xfrm>
            <a:off x="3581400" y="2362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469" name="Rectangle 5"/>
          <p:cNvSpPr>
            <a:spLocks noChangeArrowheads="1"/>
          </p:cNvSpPr>
          <p:nvPr/>
        </p:nvSpPr>
        <p:spPr bwMode="auto">
          <a:xfrm>
            <a:off x="4191000" y="2362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2470" name="Rectangle 6"/>
          <p:cNvSpPr>
            <a:spLocks noChangeArrowheads="1"/>
          </p:cNvSpPr>
          <p:nvPr/>
        </p:nvSpPr>
        <p:spPr bwMode="auto">
          <a:xfrm>
            <a:off x="4800600" y="2362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2471" name="Rectangle 7"/>
          <p:cNvSpPr>
            <a:spLocks noChangeArrowheads="1"/>
          </p:cNvSpPr>
          <p:nvPr/>
        </p:nvSpPr>
        <p:spPr bwMode="auto">
          <a:xfrm>
            <a:off x="5410200" y="23622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2472" name="Rectangle 8"/>
          <p:cNvSpPr>
            <a:spLocks noChangeArrowheads="1"/>
          </p:cNvSpPr>
          <p:nvPr/>
        </p:nvSpPr>
        <p:spPr bwMode="auto">
          <a:xfrm>
            <a:off x="6019800" y="2362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2473" name="Rectangle 9"/>
          <p:cNvSpPr>
            <a:spLocks noChangeArrowheads="1"/>
          </p:cNvSpPr>
          <p:nvPr/>
        </p:nvSpPr>
        <p:spPr bwMode="auto">
          <a:xfrm>
            <a:off x="6629400" y="2362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474" name="Rectangle 10"/>
          <p:cNvSpPr>
            <a:spLocks noChangeArrowheads="1"/>
          </p:cNvSpPr>
          <p:nvPr/>
        </p:nvSpPr>
        <p:spPr bwMode="auto">
          <a:xfrm>
            <a:off x="7239000" y="2362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2475" name="Rectangle 11"/>
          <p:cNvSpPr>
            <a:spLocks noChangeArrowheads="1"/>
          </p:cNvSpPr>
          <p:nvPr/>
        </p:nvSpPr>
        <p:spPr bwMode="auto">
          <a:xfrm>
            <a:off x="7848600" y="2362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476" name="Rectangle 12"/>
          <p:cNvSpPr>
            <a:spLocks noChangeArrowheads="1"/>
          </p:cNvSpPr>
          <p:nvPr/>
        </p:nvSpPr>
        <p:spPr bwMode="auto">
          <a:xfrm>
            <a:off x="8458200" y="2362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2477" name="Rectangle 13"/>
          <p:cNvSpPr>
            <a:spLocks noChangeArrowheads="1"/>
          </p:cNvSpPr>
          <p:nvPr/>
        </p:nvSpPr>
        <p:spPr bwMode="auto">
          <a:xfrm>
            <a:off x="9067800" y="23622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2478" name="Oval 14"/>
          <p:cNvSpPr>
            <a:spLocks noChangeArrowheads="1"/>
          </p:cNvSpPr>
          <p:nvPr/>
        </p:nvSpPr>
        <p:spPr bwMode="auto">
          <a:xfrm>
            <a:off x="6096000" y="2362200"/>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2479" name="AutoShape 15"/>
          <p:cNvCxnSpPr>
            <a:cxnSpLocks noChangeShapeType="1"/>
            <a:stCxn id="62478" idx="0"/>
            <a:endCxn id="62466" idx="0"/>
          </p:cNvCxnSpPr>
          <p:nvPr/>
        </p:nvCxnSpPr>
        <p:spPr bwMode="auto">
          <a:xfrm rot="-5400000" flipH="1" flipV="1">
            <a:off x="4495007" y="523082"/>
            <a:ext cx="1587" cy="3657600"/>
          </a:xfrm>
          <a:prstGeom prst="curvedConnector3">
            <a:avLst>
              <a:gd name="adj1" fmla="val -42500014"/>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2480" name="Rectangle 16"/>
          <p:cNvSpPr>
            <a:spLocks noChangeArrowheads="1"/>
          </p:cNvSpPr>
          <p:nvPr/>
        </p:nvSpPr>
        <p:spPr bwMode="auto">
          <a:xfrm>
            <a:off x="29718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481" name="Rectangle 17"/>
          <p:cNvSpPr>
            <a:spLocks noChangeArrowheads="1"/>
          </p:cNvSpPr>
          <p:nvPr/>
        </p:nvSpPr>
        <p:spPr bwMode="auto">
          <a:xfrm>
            <a:off x="35814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2482" name="Rectangle 18"/>
          <p:cNvSpPr>
            <a:spLocks noChangeArrowheads="1"/>
          </p:cNvSpPr>
          <p:nvPr/>
        </p:nvSpPr>
        <p:spPr bwMode="auto">
          <a:xfrm>
            <a:off x="41910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483" name="Rectangle 19"/>
          <p:cNvSpPr>
            <a:spLocks noChangeArrowheads="1"/>
          </p:cNvSpPr>
          <p:nvPr/>
        </p:nvSpPr>
        <p:spPr bwMode="auto">
          <a:xfrm>
            <a:off x="48006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2484" name="Rectangle 20"/>
          <p:cNvSpPr>
            <a:spLocks noChangeArrowheads="1"/>
          </p:cNvSpPr>
          <p:nvPr/>
        </p:nvSpPr>
        <p:spPr bwMode="auto">
          <a:xfrm>
            <a:off x="54102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2485" name="Rectangle 21"/>
          <p:cNvSpPr>
            <a:spLocks noChangeArrowheads="1"/>
          </p:cNvSpPr>
          <p:nvPr/>
        </p:nvSpPr>
        <p:spPr bwMode="auto">
          <a:xfrm>
            <a:off x="60198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2486" name="Rectangle 22"/>
          <p:cNvSpPr>
            <a:spLocks noChangeArrowheads="1"/>
          </p:cNvSpPr>
          <p:nvPr/>
        </p:nvSpPr>
        <p:spPr bwMode="auto">
          <a:xfrm>
            <a:off x="2362200" y="38100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2487" name="Rectangle 23"/>
          <p:cNvSpPr>
            <a:spLocks noChangeArrowheads="1"/>
          </p:cNvSpPr>
          <p:nvPr/>
        </p:nvSpPr>
        <p:spPr bwMode="auto">
          <a:xfrm>
            <a:off x="6629400" y="3810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488" name="Rectangle 24"/>
          <p:cNvSpPr>
            <a:spLocks noChangeArrowheads="1"/>
          </p:cNvSpPr>
          <p:nvPr/>
        </p:nvSpPr>
        <p:spPr bwMode="auto">
          <a:xfrm>
            <a:off x="7239000" y="3810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2489" name="Rectangle 25"/>
          <p:cNvSpPr>
            <a:spLocks noChangeArrowheads="1"/>
          </p:cNvSpPr>
          <p:nvPr/>
        </p:nvSpPr>
        <p:spPr bwMode="auto">
          <a:xfrm>
            <a:off x="7848600" y="3810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490" name="Rectangle 26"/>
          <p:cNvSpPr>
            <a:spLocks noChangeArrowheads="1"/>
          </p:cNvSpPr>
          <p:nvPr/>
        </p:nvSpPr>
        <p:spPr bwMode="auto">
          <a:xfrm>
            <a:off x="8458200" y="3810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2491" name="Rectangle 27"/>
          <p:cNvSpPr>
            <a:spLocks noChangeArrowheads="1"/>
          </p:cNvSpPr>
          <p:nvPr/>
        </p:nvSpPr>
        <p:spPr bwMode="auto">
          <a:xfrm>
            <a:off x="9067800" y="38100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2492" name="Oval 28"/>
          <p:cNvSpPr>
            <a:spLocks noChangeArrowheads="1"/>
          </p:cNvSpPr>
          <p:nvPr/>
        </p:nvSpPr>
        <p:spPr bwMode="auto">
          <a:xfrm>
            <a:off x="6705600" y="3810000"/>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2493" name="AutoShape 29"/>
          <p:cNvCxnSpPr>
            <a:cxnSpLocks noChangeShapeType="1"/>
            <a:stCxn id="62492" idx="0"/>
            <a:endCxn id="62486" idx="0"/>
          </p:cNvCxnSpPr>
          <p:nvPr/>
        </p:nvCxnSpPr>
        <p:spPr bwMode="auto">
          <a:xfrm rot="-5400000" flipH="1" flipV="1">
            <a:off x="4799807" y="1666082"/>
            <a:ext cx="1587" cy="4267200"/>
          </a:xfrm>
          <a:prstGeom prst="curvedConnector3">
            <a:avLst>
              <a:gd name="adj1" fmla="val -41700014"/>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2494" name="Rectangle 30"/>
          <p:cNvSpPr>
            <a:spLocks noChangeArrowheads="1"/>
          </p:cNvSpPr>
          <p:nvPr/>
        </p:nvSpPr>
        <p:spPr bwMode="auto">
          <a:xfrm>
            <a:off x="29718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495" name="Rectangle 31"/>
          <p:cNvSpPr>
            <a:spLocks noChangeArrowheads="1"/>
          </p:cNvSpPr>
          <p:nvPr/>
        </p:nvSpPr>
        <p:spPr bwMode="auto">
          <a:xfrm>
            <a:off x="35814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2496" name="Rectangle 32"/>
          <p:cNvSpPr>
            <a:spLocks noChangeArrowheads="1"/>
          </p:cNvSpPr>
          <p:nvPr/>
        </p:nvSpPr>
        <p:spPr bwMode="auto">
          <a:xfrm>
            <a:off x="41910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497" name="Rectangle 33"/>
          <p:cNvSpPr>
            <a:spLocks noChangeArrowheads="1"/>
          </p:cNvSpPr>
          <p:nvPr/>
        </p:nvSpPr>
        <p:spPr bwMode="auto">
          <a:xfrm>
            <a:off x="48006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2498" name="Rectangle 34"/>
          <p:cNvSpPr>
            <a:spLocks noChangeArrowheads="1"/>
          </p:cNvSpPr>
          <p:nvPr/>
        </p:nvSpPr>
        <p:spPr bwMode="auto">
          <a:xfrm>
            <a:off x="54102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2499" name="Rectangle 35"/>
          <p:cNvSpPr>
            <a:spLocks noChangeArrowheads="1"/>
          </p:cNvSpPr>
          <p:nvPr/>
        </p:nvSpPr>
        <p:spPr bwMode="auto">
          <a:xfrm>
            <a:off x="6019800" y="5181601"/>
            <a:ext cx="609600" cy="498475"/>
          </a:xfrm>
          <a:prstGeom prst="rect">
            <a:avLst/>
          </a:prstGeom>
          <a:solidFill>
            <a:srgbClr val="FFFF00"/>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2500" name="Rectangle 36"/>
          <p:cNvSpPr>
            <a:spLocks noChangeArrowheads="1"/>
          </p:cNvSpPr>
          <p:nvPr/>
        </p:nvSpPr>
        <p:spPr bwMode="auto">
          <a:xfrm>
            <a:off x="23622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2501" name="Rectangle 37"/>
          <p:cNvSpPr>
            <a:spLocks noChangeArrowheads="1"/>
          </p:cNvSpPr>
          <p:nvPr/>
        </p:nvSpPr>
        <p:spPr bwMode="auto">
          <a:xfrm>
            <a:off x="7239000" y="51816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2502" name="Rectangle 38"/>
          <p:cNvSpPr>
            <a:spLocks noChangeArrowheads="1"/>
          </p:cNvSpPr>
          <p:nvPr/>
        </p:nvSpPr>
        <p:spPr bwMode="auto">
          <a:xfrm>
            <a:off x="7848600" y="51816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503" name="Rectangle 39"/>
          <p:cNvSpPr>
            <a:spLocks noChangeArrowheads="1"/>
          </p:cNvSpPr>
          <p:nvPr/>
        </p:nvSpPr>
        <p:spPr bwMode="auto">
          <a:xfrm>
            <a:off x="8458200" y="51816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2504" name="Rectangle 40"/>
          <p:cNvSpPr>
            <a:spLocks noChangeArrowheads="1"/>
          </p:cNvSpPr>
          <p:nvPr/>
        </p:nvSpPr>
        <p:spPr bwMode="auto">
          <a:xfrm>
            <a:off x="9067800" y="5181601"/>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2505" name="Oval 41"/>
          <p:cNvSpPr>
            <a:spLocks noChangeArrowheads="1"/>
          </p:cNvSpPr>
          <p:nvPr/>
        </p:nvSpPr>
        <p:spPr bwMode="auto">
          <a:xfrm>
            <a:off x="7315200" y="5181600"/>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2506" name="AutoShape 42"/>
          <p:cNvCxnSpPr>
            <a:cxnSpLocks noChangeShapeType="1"/>
            <a:stCxn id="62505" idx="0"/>
            <a:endCxn id="62512" idx="0"/>
          </p:cNvCxnSpPr>
          <p:nvPr/>
        </p:nvCxnSpPr>
        <p:spPr bwMode="auto">
          <a:xfrm rot="-5400000" flipH="1" flipV="1">
            <a:off x="7238207" y="4866482"/>
            <a:ext cx="1587" cy="609600"/>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2507" name="Rectangle 43"/>
          <p:cNvSpPr>
            <a:spLocks noChangeArrowheads="1"/>
          </p:cNvSpPr>
          <p:nvPr/>
        </p:nvSpPr>
        <p:spPr bwMode="auto">
          <a:xfrm>
            <a:off x="35814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508" name="Rectangle 44"/>
          <p:cNvSpPr>
            <a:spLocks noChangeArrowheads="1"/>
          </p:cNvSpPr>
          <p:nvPr/>
        </p:nvSpPr>
        <p:spPr bwMode="auto">
          <a:xfrm>
            <a:off x="41910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2509" name="Rectangle 45"/>
          <p:cNvSpPr>
            <a:spLocks noChangeArrowheads="1"/>
          </p:cNvSpPr>
          <p:nvPr/>
        </p:nvSpPr>
        <p:spPr bwMode="auto">
          <a:xfrm>
            <a:off x="48006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2510" name="Rectangle 46"/>
          <p:cNvSpPr>
            <a:spLocks noChangeArrowheads="1"/>
          </p:cNvSpPr>
          <p:nvPr/>
        </p:nvSpPr>
        <p:spPr bwMode="auto">
          <a:xfrm>
            <a:off x="54102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2511" name="Rectangle 47"/>
          <p:cNvSpPr>
            <a:spLocks noChangeArrowheads="1"/>
          </p:cNvSpPr>
          <p:nvPr/>
        </p:nvSpPr>
        <p:spPr bwMode="auto">
          <a:xfrm>
            <a:off x="60198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2512" name="Rectangle 48"/>
          <p:cNvSpPr>
            <a:spLocks noChangeArrowheads="1"/>
          </p:cNvSpPr>
          <p:nvPr/>
        </p:nvSpPr>
        <p:spPr bwMode="auto">
          <a:xfrm>
            <a:off x="66294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2513" name="Rectangle 49"/>
          <p:cNvSpPr>
            <a:spLocks noChangeArrowheads="1"/>
          </p:cNvSpPr>
          <p:nvPr/>
        </p:nvSpPr>
        <p:spPr bwMode="auto">
          <a:xfrm>
            <a:off x="29718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2514" name="Rectangle 50"/>
          <p:cNvSpPr>
            <a:spLocks noChangeArrowheads="1"/>
          </p:cNvSpPr>
          <p:nvPr/>
        </p:nvSpPr>
        <p:spPr bwMode="auto">
          <a:xfrm>
            <a:off x="2362200" y="5181601"/>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2515" name="Rectangle 51"/>
          <p:cNvSpPr>
            <a:spLocks noGrp="1"/>
          </p:cNvSpPr>
          <p:nvPr>
            <p:ph type="title"/>
          </p:nvPr>
        </p:nvSpPr>
        <p:spPr/>
        <p:txBody>
          <a:bodyPr/>
          <a:lstStyle/>
          <a:p>
            <a:pPr eaLnBrk="1" hangingPunct="1"/>
            <a:r>
              <a:rPr lang="en-US" altLang="en-US" smtClean="0"/>
              <a:t>Insertion Sort: Example</a:t>
            </a:r>
          </a:p>
        </p:txBody>
      </p:sp>
    </p:spTree>
    <p:extLst>
      <p:ext uri="{BB962C8B-B14F-4D97-AF65-F5344CB8AC3E}">
        <p14:creationId xmlns:p14="http://schemas.microsoft.com/office/powerpoint/2010/main" val="208793328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29718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491" name="Rectangle 3"/>
          <p:cNvSpPr>
            <a:spLocks noChangeArrowheads="1"/>
          </p:cNvSpPr>
          <p:nvPr/>
        </p:nvSpPr>
        <p:spPr bwMode="auto">
          <a:xfrm>
            <a:off x="35814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492" name="Rectangle 4"/>
          <p:cNvSpPr>
            <a:spLocks noChangeArrowheads="1"/>
          </p:cNvSpPr>
          <p:nvPr/>
        </p:nvSpPr>
        <p:spPr bwMode="auto">
          <a:xfrm>
            <a:off x="41910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493" name="Rectangle 5"/>
          <p:cNvSpPr>
            <a:spLocks noChangeArrowheads="1"/>
          </p:cNvSpPr>
          <p:nvPr/>
        </p:nvSpPr>
        <p:spPr bwMode="auto">
          <a:xfrm>
            <a:off x="48006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494" name="Rectangle 6"/>
          <p:cNvSpPr>
            <a:spLocks noChangeArrowheads="1"/>
          </p:cNvSpPr>
          <p:nvPr/>
        </p:nvSpPr>
        <p:spPr bwMode="auto">
          <a:xfrm>
            <a:off x="54102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495" name="Rectangle 7"/>
          <p:cNvSpPr>
            <a:spLocks noChangeArrowheads="1"/>
          </p:cNvSpPr>
          <p:nvPr/>
        </p:nvSpPr>
        <p:spPr bwMode="auto">
          <a:xfrm>
            <a:off x="60198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496" name="Rectangle 8"/>
          <p:cNvSpPr>
            <a:spLocks noChangeArrowheads="1"/>
          </p:cNvSpPr>
          <p:nvPr/>
        </p:nvSpPr>
        <p:spPr bwMode="auto">
          <a:xfrm>
            <a:off x="23622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497" name="Rectangle 9"/>
          <p:cNvSpPr>
            <a:spLocks noChangeArrowheads="1"/>
          </p:cNvSpPr>
          <p:nvPr/>
        </p:nvSpPr>
        <p:spPr bwMode="auto">
          <a:xfrm>
            <a:off x="66294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3498" name="Rectangle 10"/>
          <p:cNvSpPr>
            <a:spLocks noChangeArrowheads="1"/>
          </p:cNvSpPr>
          <p:nvPr/>
        </p:nvSpPr>
        <p:spPr bwMode="auto">
          <a:xfrm>
            <a:off x="7848600" y="15843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499" name="Rectangle 11"/>
          <p:cNvSpPr>
            <a:spLocks noChangeArrowheads="1"/>
          </p:cNvSpPr>
          <p:nvPr/>
        </p:nvSpPr>
        <p:spPr bwMode="auto">
          <a:xfrm>
            <a:off x="8458200" y="15843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3500" name="Rectangle 12"/>
          <p:cNvSpPr>
            <a:spLocks noChangeArrowheads="1"/>
          </p:cNvSpPr>
          <p:nvPr/>
        </p:nvSpPr>
        <p:spPr bwMode="auto">
          <a:xfrm>
            <a:off x="9067800" y="15843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3501" name="Oval 13"/>
          <p:cNvSpPr>
            <a:spLocks noChangeArrowheads="1"/>
          </p:cNvSpPr>
          <p:nvPr/>
        </p:nvSpPr>
        <p:spPr bwMode="auto">
          <a:xfrm>
            <a:off x="7924800" y="1584325"/>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3502" name="AutoShape 14"/>
          <p:cNvCxnSpPr>
            <a:cxnSpLocks noChangeShapeType="1"/>
            <a:stCxn id="63501" idx="0"/>
            <a:endCxn id="63506" idx="0"/>
          </p:cNvCxnSpPr>
          <p:nvPr/>
        </p:nvCxnSpPr>
        <p:spPr bwMode="auto">
          <a:xfrm rot="-5400000" flipH="1" flipV="1">
            <a:off x="6933407" y="354807"/>
            <a:ext cx="1587" cy="2438400"/>
          </a:xfrm>
          <a:prstGeom prst="curvedConnector3">
            <a:avLst>
              <a:gd name="adj1" fmla="val -32900009"/>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3503" name="Rectangle 15"/>
          <p:cNvSpPr>
            <a:spLocks noChangeArrowheads="1"/>
          </p:cNvSpPr>
          <p:nvPr/>
        </p:nvSpPr>
        <p:spPr bwMode="auto">
          <a:xfrm>
            <a:off x="35814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04" name="Rectangle 16"/>
          <p:cNvSpPr>
            <a:spLocks noChangeArrowheads="1"/>
          </p:cNvSpPr>
          <p:nvPr/>
        </p:nvSpPr>
        <p:spPr bwMode="auto">
          <a:xfrm>
            <a:off x="41910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05" name="Rectangle 17"/>
          <p:cNvSpPr>
            <a:spLocks noChangeArrowheads="1"/>
          </p:cNvSpPr>
          <p:nvPr/>
        </p:nvSpPr>
        <p:spPr bwMode="auto">
          <a:xfrm>
            <a:off x="48006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06" name="Rectangle 18"/>
          <p:cNvSpPr>
            <a:spLocks noChangeArrowheads="1"/>
          </p:cNvSpPr>
          <p:nvPr/>
        </p:nvSpPr>
        <p:spPr bwMode="auto">
          <a:xfrm>
            <a:off x="54102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07" name="Rectangle 19"/>
          <p:cNvSpPr>
            <a:spLocks noChangeArrowheads="1"/>
          </p:cNvSpPr>
          <p:nvPr/>
        </p:nvSpPr>
        <p:spPr bwMode="auto">
          <a:xfrm>
            <a:off x="60198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08" name="Rectangle 20"/>
          <p:cNvSpPr>
            <a:spLocks noChangeArrowheads="1"/>
          </p:cNvSpPr>
          <p:nvPr/>
        </p:nvSpPr>
        <p:spPr bwMode="auto">
          <a:xfrm>
            <a:off x="72390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09" name="Rectangle 21"/>
          <p:cNvSpPr>
            <a:spLocks noChangeArrowheads="1"/>
          </p:cNvSpPr>
          <p:nvPr/>
        </p:nvSpPr>
        <p:spPr bwMode="auto">
          <a:xfrm>
            <a:off x="29718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10" name="Rectangle 22"/>
          <p:cNvSpPr>
            <a:spLocks noChangeArrowheads="1"/>
          </p:cNvSpPr>
          <p:nvPr/>
        </p:nvSpPr>
        <p:spPr bwMode="auto">
          <a:xfrm>
            <a:off x="2362200" y="15843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11" name="Rectangle 23"/>
          <p:cNvSpPr>
            <a:spLocks noChangeArrowheads="1"/>
          </p:cNvSpPr>
          <p:nvPr/>
        </p:nvSpPr>
        <p:spPr bwMode="auto">
          <a:xfrm>
            <a:off x="29718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12" name="Rectangle 24"/>
          <p:cNvSpPr>
            <a:spLocks noChangeArrowheads="1"/>
          </p:cNvSpPr>
          <p:nvPr/>
        </p:nvSpPr>
        <p:spPr bwMode="auto">
          <a:xfrm>
            <a:off x="35814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13" name="Rectangle 25"/>
          <p:cNvSpPr>
            <a:spLocks noChangeArrowheads="1"/>
          </p:cNvSpPr>
          <p:nvPr/>
        </p:nvSpPr>
        <p:spPr bwMode="auto">
          <a:xfrm>
            <a:off x="41910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14" name="Rectangle 26"/>
          <p:cNvSpPr>
            <a:spLocks noChangeArrowheads="1"/>
          </p:cNvSpPr>
          <p:nvPr/>
        </p:nvSpPr>
        <p:spPr bwMode="auto">
          <a:xfrm>
            <a:off x="48006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15" name="Rectangle 27"/>
          <p:cNvSpPr>
            <a:spLocks noChangeArrowheads="1"/>
          </p:cNvSpPr>
          <p:nvPr/>
        </p:nvSpPr>
        <p:spPr bwMode="auto">
          <a:xfrm>
            <a:off x="54102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16" name="Rectangle 28"/>
          <p:cNvSpPr>
            <a:spLocks noChangeArrowheads="1"/>
          </p:cNvSpPr>
          <p:nvPr/>
        </p:nvSpPr>
        <p:spPr bwMode="auto">
          <a:xfrm>
            <a:off x="60198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17" name="Rectangle 29"/>
          <p:cNvSpPr>
            <a:spLocks noChangeArrowheads="1"/>
          </p:cNvSpPr>
          <p:nvPr/>
        </p:nvSpPr>
        <p:spPr bwMode="auto">
          <a:xfrm>
            <a:off x="23622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18" name="Rectangle 30"/>
          <p:cNvSpPr>
            <a:spLocks noChangeArrowheads="1"/>
          </p:cNvSpPr>
          <p:nvPr/>
        </p:nvSpPr>
        <p:spPr bwMode="auto">
          <a:xfrm>
            <a:off x="66294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3519" name="Rectangle 31"/>
          <p:cNvSpPr>
            <a:spLocks noChangeArrowheads="1"/>
          </p:cNvSpPr>
          <p:nvPr/>
        </p:nvSpPr>
        <p:spPr bwMode="auto">
          <a:xfrm>
            <a:off x="8458200" y="29305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63520" name="Rectangle 32"/>
          <p:cNvSpPr>
            <a:spLocks noChangeArrowheads="1"/>
          </p:cNvSpPr>
          <p:nvPr/>
        </p:nvSpPr>
        <p:spPr bwMode="auto">
          <a:xfrm>
            <a:off x="9067800" y="29305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3521" name="Oval 33"/>
          <p:cNvSpPr>
            <a:spLocks noChangeArrowheads="1"/>
          </p:cNvSpPr>
          <p:nvPr/>
        </p:nvSpPr>
        <p:spPr bwMode="auto">
          <a:xfrm>
            <a:off x="8534400" y="2955925"/>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3522" name="AutoShape 34"/>
          <p:cNvCxnSpPr>
            <a:cxnSpLocks noChangeShapeType="1"/>
            <a:stCxn id="63521" idx="0"/>
            <a:endCxn id="63533" idx="0"/>
          </p:cNvCxnSpPr>
          <p:nvPr/>
        </p:nvCxnSpPr>
        <p:spPr bwMode="auto">
          <a:xfrm rot="5400000" flipH="1">
            <a:off x="7835900" y="2017713"/>
            <a:ext cx="25400" cy="1828800"/>
          </a:xfrm>
          <a:prstGeom prst="curvedConnector3">
            <a:avLst>
              <a:gd name="adj1" fmla="val 211249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3523" name="Rectangle 35"/>
          <p:cNvSpPr>
            <a:spLocks noChangeArrowheads="1"/>
          </p:cNvSpPr>
          <p:nvPr/>
        </p:nvSpPr>
        <p:spPr bwMode="auto">
          <a:xfrm>
            <a:off x="35814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24" name="Rectangle 36"/>
          <p:cNvSpPr>
            <a:spLocks noChangeArrowheads="1"/>
          </p:cNvSpPr>
          <p:nvPr/>
        </p:nvSpPr>
        <p:spPr bwMode="auto">
          <a:xfrm>
            <a:off x="41910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25" name="Rectangle 37"/>
          <p:cNvSpPr>
            <a:spLocks noChangeArrowheads="1"/>
          </p:cNvSpPr>
          <p:nvPr/>
        </p:nvSpPr>
        <p:spPr bwMode="auto">
          <a:xfrm>
            <a:off x="48006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26" name="Rectangle 38"/>
          <p:cNvSpPr>
            <a:spLocks noChangeArrowheads="1"/>
          </p:cNvSpPr>
          <p:nvPr/>
        </p:nvSpPr>
        <p:spPr bwMode="auto">
          <a:xfrm>
            <a:off x="54102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27" name="Rectangle 39"/>
          <p:cNvSpPr>
            <a:spLocks noChangeArrowheads="1"/>
          </p:cNvSpPr>
          <p:nvPr/>
        </p:nvSpPr>
        <p:spPr bwMode="auto">
          <a:xfrm>
            <a:off x="60198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28" name="Rectangle 40"/>
          <p:cNvSpPr>
            <a:spLocks noChangeArrowheads="1"/>
          </p:cNvSpPr>
          <p:nvPr/>
        </p:nvSpPr>
        <p:spPr bwMode="auto">
          <a:xfrm>
            <a:off x="72390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29" name="Rectangle 41"/>
          <p:cNvSpPr>
            <a:spLocks noChangeArrowheads="1"/>
          </p:cNvSpPr>
          <p:nvPr/>
        </p:nvSpPr>
        <p:spPr bwMode="auto">
          <a:xfrm>
            <a:off x="29718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30" name="Rectangle 42"/>
          <p:cNvSpPr>
            <a:spLocks noChangeArrowheads="1"/>
          </p:cNvSpPr>
          <p:nvPr/>
        </p:nvSpPr>
        <p:spPr bwMode="auto">
          <a:xfrm>
            <a:off x="23622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31" name="Rectangle 43"/>
          <p:cNvSpPr>
            <a:spLocks noChangeArrowheads="1"/>
          </p:cNvSpPr>
          <p:nvPr/>
        </p:nvSpPr>
        <p:spPr bwMode="auto">
          <a:xfrm>
            <a:off x="72390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3532" name="Rectangle 44"/>
          <p:cNvSpPr>
            <a:spLocks noChangeArrowheads="1"/>
          </p:cNvSpPr>
          <p:nvPr/>
        </p:nvSpPr>
        <p:spPr bwMode="auto">
          <a:xfrm>
            <a:off x="60198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33" name="Rectangle 45"/>
          <p:cNvSpPr>
            <a:spLocks noChangeArrowheads="1"/>
          </p:cNvSpPr>
          <p:nvPr/>
        </p:nvSpPr>
        <p:spPr bwMode="auto">
          <a:xfrm>
            <a:off x="66294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34" name="Rectangle 46"/>
          <p:cNvSpPr>
            <a:spLocks noChangeArrowheads="1"/>
          </p:cNvSpPr>
          <p:nvPr/>
        </p:nvSpPr>
        <p:spPr bwMode="auto">
          <a:xfrm>
            <a:off x="7848600" y="29305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35" name="Rectangle 47"/>
          <p:cNvSpPr>
            <a:spLocks noChangeArrowheads="1"/>
          </p:cNvSpPr>
          <p:nvPr/>
        </p:nvSpPr>
        <p:spPr bwMode="auto">
          <a:xfrm>
            <a:off x="29718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36" name="Rectangle 48"/>
          <p:cNvSpPr>
            <a:spLocks noChangeArrowheads="1"/>
          </p:cNvSpPr>
          <p:nvPr/>
        </p:nvSpPr>
        <p:spPr bwMode="auto">
          <a:xfrm>
            <a:off x="35814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37" name="Rectangle 49"/>
          <p:cNvSpPr>
            <a:spLocks noChangeArrowheads="1"/>
          </p:cNvSpPr>
          <p:nvPr/>
        </p:nvSpPr>
        <p:spPr bwMode="auto">
          <a:xfrm>
            <a:off x="41910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38" name="Rectangle 50"/>
          <p:cNvSpPr>
            <a:spLocks noChangeArrowheads="1"/>
          </p:cNvSpPr>
          <p:nvPr/>
        </p:nvSpPr>
        <p:spPr bwMode="auto">
          <a:xfrm>
            <a:off x="48006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39" name="Rectangle 51"/>
          <p:cNvSpPr>
            <a:spLocks noChangeArrowheads="1"/>
          </p:cNvSpPr>
          <p:nvPr/>
        </p:nvSpPr>
        <p:spPr bwMode="auto">
          <a:xfrm>
            <a:off x="54102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40" name="Rectangle 52"/>
          <p:cNvSpPr>
            <a:spLocks noChangeArrowheads="1"/>
          </p:cNvSpPr>
          <p:nvPr/>
        </p:nvSpPr>
        <p:spPr bwMode="auto">
          <a:xfrm>
            <a:off x="60198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41" name="Rectangle 53"/>
          <p:cNvSpPr>
            <a:spLocks noChangeArrowheads="1"/>
          </p:cNvSpPr>
          <p:nvPr/>
        </p:nvSpPr>
        <p:spPr bwMode="auto">
          <a:xfrm>
            <a:off x="23622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42" name="Rectangle 54"/>
          <p:cNvSpPr>
            <a:spLocks noChangeArrowheads="1"/>
          </p:cNvSpPr>
          <p:nvPr/>
        </p:nvSpPr>
        <p:spPr bwMode="auto">
          <a:xfrm>
            <a:off x="66294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p>
        </p:txBody>
      </p:sp>
      <p:sp>
        <p:nvSpPr>
          <p:cNvPr id="63543" name="Rectangle 55"/>
          <p:cNvSpPr>
            <a:spLocks noChangeArrowheads="1"/>
          </p:cNvSpPr>
          <p:nvPr/>
        </p:nvSpPr>
        <p:spPr bwMode="auto">
          <a:xfrm>
            <a:off x="9067800" y="4149726"/>
            <a:ext cx="609600" cy="498475"/>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3544" name="Oval 56"/>
          <p:cNvSpPr>
            <a:spLocks noChangeArrowheads="1"/>
          </p:cNvSpPr>
          <p:nvPr/>
        </p:nvSpPr>
        <p:spPr bwMode="auto">
          <a:xfrm>
            <a:off x="9144000" y="4175125"/>
            <a:ext cx="457200" cy="457200"/>
          </a:xfrm>
          <a:prstGeom prst="ellipse">
            <a:avLst/>
          </a:prstGeom>
          <a:noFill/>
          <a:ln w="22225" cap="sq">
            <a:solidFill>
              <a:srgbClr val="000000"/>
            </a:solidFill>
            <a:round/>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cxnSp>
        <p:nvCxnSpPr>
          <p:cNvPr id="63545" name="AutoShape 57"/>
          <p:cNvCxnSpPr>
            <a:cxnSpLocks noChangeShapeType="1"/>
            <a:stCxn id="63544" idx="0"/>
            <a:endCxn id="63555" idx="0"/>
          </p:cNvCxnSpPr>
          <p:nvPr/>
        </p:nvCxnSpPr>
        <p:spPr bwMode="auto">
          <a:xfrm rot="5400000" flipH="1">
            <a:off x="7835900" y="2627313"/>
            <a:ext cx="25400" cy="3048000"/>
          </a:xfrm>
          <a:prstGeom prst="curvedConnector3">
            <a:avLst>
              <a:gd name="adj1" fmla="val 191249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63546" name="Rectangle 58"/>
          <p:cNvSpPr>
            <a:spLocks noChangeArrowheads="1"/>
          </p:cNvSpPr>
          <p:nvPr/>
        </p:nvSpPr>
        <p:spPr bwMode="auto">
          <a:xfrm>
            <a:off x="35814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47" name="Rectangle 59"/>
          <p:cNvSpPr>
            <a:spLocks noChangeArrowheads="1"/>
          </p:cNvSpPr>
          <p:nvPr/>
        </p:nvSpPr>
        <p:spPr bwMode="auto">
          <a:xfrm>
            <a:off x="41910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48" name="Rectangle 60"/>
          <p:cNvSpPr>
            <a:spLocks noChangeArrowheads="1"/>
          </p:cNvSpPr>
          <p:nvPr/>
        </p:nvSpPr>
        <p:spPr bwMode="auto">
          <a:xfrm>
            <a:off x="48006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49" name="Rectangle 61"/>
          <p:cNvSpPr>
            <a:spLocks noChangeArrowheads="1"/>
          </p:cNvSpPr>
          <p:nvPr/>
        </p:nvSpPr>
        <p:spPr bwMode="auto">
          <a:xfrm>
            <a:off x="54102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50" name="Rectangle 62"/>
          <p:cNvSpPr>
            <a:spLocks noChangeArrowheads="1"/>
          </p:cNvSpPr>
          <p:nvPr/>
        </p:nvSpPr>
        <p:spPr bwMode="auto">
          <a:xfrm>
            <a:off x="60198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51" name="Rectangle 63"/>
          <p:cNvSpPr>
            <a:spLocks noChangeArrowheads="1"/>
          </p:cNvSpPr>
          <p:nvPr/>
        </p:nvSpPr>
        <p:spPr bwMode="auto">
          <a:xfrm>
            <a:off x="72390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52" name="Rectangle 64"/>
          <p:cNvSpPr>
            <a:spLocks noChangeArrowheads="1"/>
          </p:cNvSpPr>
          <p:nvPr/>
        </p:nvSpPr>
        <p:spPr bwMode="auto">
          <a:xfrm>
            <a:off x="29718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53" name="Rectangle 65"/>
          <p:cNvSpPr>
            <a:spLocks noChangeArrowheads="1"/>
          </p:cNvSpPr>
          <p:nvPr/>
        </p:nvSpPr>
        <p:spPr bwMode="auto">
          <a:xfrm>
            <a:off x="23622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54" name="Rectangle 66"/>
          <p:cNvSpPr>
            <a:spLocks noChangeArrowheads="1"/>
          </p:cNvSpPr>
          <p:nvPr/>
        </p:nvSpPr>
        <p:spPr bwMode="auto">
          <a:xfrm>
            <a:off x="78486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3555" name="Rectangle 67"/>
          <p:cNvSpPr>
            <a:spLocks noChangeArrowheads="1"/>
          </p:cNvSpPr>
          <p:nvPr/>
        </p:nvSpPr>
        <p:spPr bwMode="auto">
          <a:xfrm>
            <a:off x="60198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56" name="Rectangle 68"/>
          <p:cNvSpPr>
            <a:spLocks noChangeArrowheads="1"/>
          </p:cNvSpPr>
          <p:nvPr/>
        </p:nvSpPr>
        <p:spPr bwMode="auto">
          <a:xfrm>
            <a:off x="72390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57" name="Rectangle 69"/>
          <p:cNvSpPr>
            <a:spLocks noChangeArrowheads="1"/>
          </p:cNvSpPr>
          <p:nvPr/>
        </p:nvSpPr>
        <p:spPr bwMode="auto">
          <a:xfrm>
            <a:off x="8458200" y="4149726"/>
            <a:ext cx="609600" cy="498475"/>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58" name="Rectangle 70"/>
          <p:cNvSpPr>
            <a:spLocks noGrp="1"/>
          </p:cNvSpPr>
          <p:nvPr>
            <p:ph type="title"/>
          </p:nvPr>
        </p:nvSpPr>
        <p:spPr>
          <a:noFill/>
        </p:spPr>
        <p:txBody>
          <a:bodyPr/>
          <a:lstStyle/>
          <a:p>
            <a:pPr eaLnBrk="1" hangingPunct="1"/>
            <a:r>
              <a:rPr lang="en-US" altLang="en-US" smtClean="0"/>
              <a:t>Insertion Sort: Example </a:t>
            </a:r>
          </a:p>
        </p:txBody>
      </p:sp>
      <p:grpSp>
        <p:nvGrpSpPr>
          <p:cNvPr id="63559" name="Group 71"/>
          <p:cNvGrpSpPr>
            <a:grpSpLocks/>
          </p:cNvGrpSpPr>
          <p:nvPr/>
        </p:nvGrpSpPr>
        <p:grpSpPr bwMode="auto">
          <a:xfrm>
            <a:off x="2362200" y="5334001"/>
            <a:ext cx="7315200" cy="498475"/>
            <a:chOff x="528" y="1536"/>
            <a:chExt cx="4608" cy="314"/>
          </a:xfrm>
        </p:grpSpPr>
        <p:sp>
          <p:nvSpPr>
            <p:cNvPr id="63560" name="Rectangle 72"/>
            <p:cNvSpPr>
              <a:spLocks noChangeArrowheads="1"/>
            </p:cNvSpPr>
            <p:nvPr/>
          </p:nvSpPr>
          <p:spPr bwMode="auto">
            <a:xfrm>
              <a:off x="912"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61" name="Rectangle 73"/>
            <p:cNvSpPr>
              <a:spLocks noChangeArrowheads="1"/>
            </p:cNvSpPr>
            <p:nvPr/>
          </p:nvSpPr>
          <p:spPr bwMode="auto">
            <a:xfrm>
              <a:off x="1296"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62" name="Rectangle 74"/>
            <p:cNvSpPr>
              <a:spLocks noChangeArrowheads="1"/>
            </p:cNvSpPr>
            <p:nvPr/>
          </p:nvSpPr>
          <p:spPr bwMode="auto">
            <a:xfrm>
              <a:off x="1680"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63" name="Rectangle 75"/>
            <p:cNvSpPr>
              <a:spLocks noChangeArrowheads="1"/>
            </p:cNvSpPr>
            <p:nvPr/>
          </p:nvSpPr>
          <p:spPr bwMode="auto">
            <a:xfrm>
              <a:off x="2064"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64" name="Rectangle 76"/>
            <p:cNvSpPr>
              <a:spLocks noChangeArrowheads="1"/>
            </p:cNvSpPr>
            <p:nvPr/>
          </p:nvSpPr>
          <p:spPr bwMode="auto">
            <a:xfrm>
              <a:off x="2448"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65" name="Rectangle 77"/>
            <p:cNvSpPr>
              <a:spLocks noChangeArrowheads="1"/>
            </p:cNvSpPr>
            <p:nvPr/>
          </p:nvSpPr>
          <p:spPr bwMode="auto">
            <a:xfrm>
              <a:off x="2832"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66" name="Rectangle 78"/>
            <p:cNvSpPr>
              <a:spLocks noChangeArrowheads="1"/>
            </p:cNvSpPr>
            <p:nvPr/>
          </p:nvSpPr>
          <p:spPr bwMode="auto">
            <a:xfrm>
              <a:off x="528"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67" name="Rectangle 79"/>
            <p:cNvSpPr>
              <a:spLocks noChangeArrowheads="1"/>
            </p:cNvSpPr>
            <p:nvPr/>
          </p:nvSpPr>
          <p:spPr bwMode="auto">
            <a:xfrm>
              <a:off x="3216"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p>
          </p:txBody>
        </p:sp>
        <p:sp>
          <p:nvSpPr>
            <p:cNvPr id="63568" name="Rectangle 80"/>
            <p:cNvSpPr>
              <a:spLocks noChangeArrowheads="1"/>
            </p:cNvSpPr>
            <p:nvPr/>
          </p:nvSpPr>
          <p:spPr bwMode="auto">
            <a:xfrm>
              <a:off x="1296"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69" name="Rectangle 81"/>
            <p:cNvSpPr>
              <a:spLocks noChangeArrowheads="1"/>
            </p:cNvSpPr>
            <p:nvPr/>
          </p:nvSpPr>
          <p:spPr bwMode="auto">
            <a:xfrm>
              <a:off x="1680"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63570" name="Rectangle 82"/>
            <p:cNvSpPr>
              <a:spLocks noChangeArrowheads="1"/>
            </p:cNvSpPr>
            <p:nvPr/>
          </p:nvSpPr>
          <p:spPr bwMode="auto">
            <a:xfrm>
              <a:off x="2064"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71" name="Rectangle 83"/>
            <p:cNvSpPr>
              <a:spLocks noChangeArrowheads="1"/>
            </p:cNvSpPr>
            <p:nvPr/>
          </p:nvSpPr>
          <p:spPr bwMode="auto">
            <a:xfrm>
              <a:off x="2448"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63572" name="Rectangle 84"/>
            <p:cNvSpPr>
              <a:spLocks noChangeArrowheads="1"/>
            </p:cNvSpPr>
            <p:nvPr/>
          </p:nvSpPr>
          <p:spPr bwMode="auto">
            <a:xfrm>
              <a:off x="2832"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73" name="Rectangle 85"/>
            <p:cNvSpPr>
              <a:spLocks noChangeArrowheads="1"/>
            </p:cNvSpPr>
            <p:nvPr/>
          </p:nvSpPr>
          <p:spPr bwMode="auto">
            <a:xfrm>
              <a:off x="3600"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74" name="Rectangle 86"/>
            <p:cNvSpPr>
              <a:spLocks noChangeArrowheads="1"/>
            </p:cNvSpPr>
            <p:nvPr/>
          </p:nvSpPr>
          <p:spPr bwMode="auto">
            <a:xfrm>
              <a:off x="912"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63575" name="Rectangle 87"/>
            <p:cNvSpPr>
              <a:spLocks noChangeArrowheads="1"/>
            </p:cNvSpPr>
            <p:nvPr/>
          </p:nvSpPr>
          <p:spPr bwMode="auto">
            <a:xfrm>
              <a:off x="528"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63576" name="Rectangle 88"/>
            <p:cNvSpPr>
              <a:spLocks noChangeArrowheads="1"/>
            </p:cNvSpPr>
            <p:nvPr/>
          </p:nvSpPr>
          <p:spPr bwMode="auto">
            <a:xfrm>
              <a:off x="3984"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3577" name="Rectangle 89"/>
            <p:cNvSpPr>
              <a:spLocks noChangeArrowheads="1"/>
            </p:cNvSpPr>
            <p:nvPr/>
          </p:nvSpPr>
          <p:spPr bwMode="auto">
            <a:xfrm>
              <a:off x="2832"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63578" name="Rectangle 90"/>
            <p:cNvSpPr>
              <a:spLocks noChangeArrowheads="1"/>
            </p:cNvSpPr>
            <p:nvPr/>
          </p:nvSpPr>
          <p:spPr bwMode="auto">
            <a:xfrm>
              <a:off x="3600"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79" name="Rectangle 91"/>
            <p:cNvSpPr>
              <a:spLocks noChangeArrowheads="1"/>
            </p:cNvSpPr>
            <p:nvPr/>
          </p:nvSpPr>
          <p:spPr bwMode="auto">
            <a:xfrm>
              <a:off x="4368"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63580" name="Rectangle 92"/>
            <p:cNvSpPr>
              <a:spLocks noChangeArrowheads="1"/>
            </p:cNvSpPr>
            <p:nvPr/>
          </p:nvSpPr>
          <p:spPr bwMode="auto">
            <a:xfrm>
              <a:off x="3600"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p>
          </p:txBody>
        </p:sp>
        <p:sp>
          <p:nvSpPr>
            <p:cNvPr id="63581" name="Rectangle 93"/>
            <p:cNvSpPr>
              <a:spLocks noChangeArrowheads="1"/>
            </p:cNvSpPr>
            <p:nvPr/>
          </p:nvSpPr>
          <p:spPr bwMode="auto">
            <a:xfrm>
              <a:off x="4368"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63582" name="Rectangle 94"/>
            <p:cNvSpPr>
              <a:spLocks noChangeArrowheads="1"/>
            </p:cNvSpPr>
            <p:nvPr/>
          </p:nvSpPr>
          <p:spPr bwMode="auto">
            <a:xfrm>
              <a:off x="3216"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63583" name="Rectangle 95"/>
            <p:cNvSpPr>
              <a:spLocks noChangeArrowheads="1"/>
            </p:cNvSpPr>
            <p:nvPr/>
          </p:nvSpPr>
          <p:spPr bwMode="auto">
            <a:xfrm>
              <a:off x="3984"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63584" name="Rectangle 96"/>
            <p:cNvSpPr>
              <a:spLocks noChangeArrowheads="1"/>
            </p:cNvSpPr>
            <p:nvPr/>
          </p:nvSpPr>
          <p:spPr bwMode="auto">
            <a:xfrm>
              <a:off x="4752" y="1536"/>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grpSp>
    </p:spTree>
    <p:extLst>
      <p:ext uri="{BB962C8B-B14F-4D97-AF65-F5344CB8AC3E}">
        <p14:creationId xmlns:p14="http://schemas.microsoft.com/office/powerpoint/2010/main" val="14808802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8382000" y="12192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Times New Roman" panose="02020603050405020304" pitchFamily="18" charset="0"/>
                <a:cs typeface="Times New Roman" panose="02020603050405020304" pitchFamily="18" charset="0"/>
              </a:rPr>
              <a:t>Original List</a:t>
            </a:r>
            <a:endParaRPr lang="en-US" altLang="en-US" sz="1200">
              <a:latin typeface="Times New Roman" panose="02020603050405020304" pitchFamily="18" charset="0"/>
              <a:cs typeface="Times New Roman" panose="02020603050405020304" pitchFamily="18" charset="0"/>
            </a:endParaRPr>
          </a:p>
          <a:p>
            <a:pPr>
              <a:spcBef>
                <a:spcPct val="0"/>
              </a:spcBef>
              <a:buFontTx/>
              <a:buNone/>
            </a:pPr>
            <a:endParaRPr lang="en-US" altLang="en-US" sz="2400">
              <a:latin typeface="Times New Roman" panose="02020603050405020304" pitchFamily="18" charset="0"/>
            </a:endParaRPr>
          </a:p>
        </p:txBody>
      </p:sp>
      <p:sp>
        <p:nvSpPr>
          <p:cNvPr id="64515" name="Text Box 3"/>
          <p:cNvSpPr txBox="1">
            <a:spLocks noChangeArrowheads="1"/>
          </p:cNvSpPr>
          <p:nvPr/>
        </p:nvSpPr>
        <p:spPr bwMode="auto">
          <a:xfrm>
            <a:off x="8458200" y="20574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1</a:t>
            </a:r>
          </a:p>
          <a:p>
            <a:pPr>
              <a:spcBef>
                <a:spcPct val="0"/>
              </a:spcBef>
              <a:buFontTx/>
              <a:buNone/>
            </a:pPr>
            <a:endParaRPr lang="en-US" altLang="en-US" sz="2400">
              <a:latin typeface="Times New Roman" panose="02020603050405020304" pitchFamily="18" charset="0"/>
            </a:endParaRPr>
          </a:p>
        </p:txBody>
      </p:sp>
      <p:sp>
        <p:nvSpPr>
          <p:cNvPr id="64516" name="Text Box 4"/>
          <p:cNvSpPr txBox="1">
            <a:spLocks noChangeArrowheads="1"/>
          </p:cNvSpPr>
          <p:nvPr/>
        </p:nvSpPr>
        <p:spPr bwMode="auto">
          <a:xfrm>
            <a:off x="8382000" y="29718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cs typeface="Times New Roman" panose="02020603050405020304" pitchFamily="18" charset="0"/>
              </a:rPr>
              <a:t>After pass 2</a:t>
            </a:r>
          </a:p>
          <a:p>
            <a:pPr>
              <a:spcBef>
                <a:spcPct val="0"/>
              </a:spcBef>
              <a:buFontTx/>
              <a:buNone/>
            </a:pPr>
            <a:endParaRPr lang="en-US" altLang="en-US" sz="1600">
              <a:latin typeface="Times New Roman" panose="02020603050405020304" pitchFamily="18" charset="0"/>
            </a:endParaRPr>
          </a:p>
        </p:txBody>
      </p:sp>
      <p:sp>
        <p:nvSpPr>
          <p:cNvPr id="64517" name="Rectangle 5"/>
          <p:cNvSpPr>
            <a:spLocks noChangeArrowheads="1"/>
          </p:cNvSpPr>
          <p:nvPr/>
        </p:nvSpPr>
        <p:spPr bwMode="auto">
          <a:xfrm>
            <a:off x="4038601" y="-414338"/>
            <a:ext cx="54927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tr-TR" altLang="en-US" sz="2400">
              <a:latin typeface="Times New Roman" panose="02020603050405020304" pitchFamily="18" charset="0"/>
            </a:endParaRPr>
          </a:p>
        </p:txBody>
      </p:sp>
      <p:sp>
        <p:nvSpPr>
          <p:cNvPr id="64518" name="Rectangle 6"/>
          <p:cNvSpPr>
            <a:spLocks noChangeArrowheads="1"/>
          </p:cNvSpPr>
          <p:nvPr/>
        </p:nvSpPr>
        <p:spPr bwMode="auto">
          <a:xfrm>
            <a:off x="4038601" y="-414338"/>
            <a:ext cx="54927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tr-TR" altLang="en-US" sz="2400">
              <a:latin typeface="Times New Roman" panose="02020603050405020304" pitchFamily="18" charset="0"/>
            </a:endParaRPr>
          </a:p>
        </p:txBody>
      </p:sp>
      <p:sp>
        <p:nvSpPr>
          <p:cNvPr id="64519" name="Rectangle 7"/>
          <p:cNvSpPr>
            <a:spLocks noChangeArrowheads="1"/>
          </p:cNvSpPr>
          <p:nvPr/>
        </p:nvSpPr>
        <p:spPr bwMode="auto">
          <a:xfrm>
            <a:off x="4038601" y="-414338"/>
            <a:ext cx="54927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tr-TR" altLang="en-US" sz="2400">
              <a:latin typeface="Times New Roman" panose="02020603050405020304" pitchFamily="18" charset="0"/>
            </a:endParaRPr>
          </a:p>
        </p:txBody>
      </p:sp>
      <p:sp>
        <p:nvSpPr>
          <p:cNvPr id="64520" name="Text Box 8"/>
          <p:cNvSpPr txBox="1">
            <a:spLocks noChangeArrowheads="1"/>
          </p:cNvSpPr>
          <p:nvPr/>
        </p:nvSpPr>
        <p:spPr bwMode="auto">
          <a:xfrm>
            <a:off x="8534400" y="38100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3</a:t>
            </a:r>
          </a:p>
          <a:p>
            <a:pPr>
              <a:spcBef>
                <a:spcPct val="0"/>
              </a:spcBef>
              <a:buFontTx/>
              <a:buNone/>
            </a:pPr>
            <a:endParaRPr lang="en-US" altLang="en-US" sz="2400">
              <a:latin typeface="Times New Roman" panose="02020603050405020304" pitchFamily="18" charset="0"/>
            </a:endParaRPr>
          </a:p>
        </p:txBody>
      </p:sp>
      <p:sp>
        <p:nvSpPr>
          <p:cNvPr id="64521" name="Text Box 9"/>
          <p:cNvSpPr txBox="1">
            <a:spLocks noChangeArrowheads="1"/>
          </p:cNvSpPr>
          <p:nvPr/>
        </p:nvSpPr>
        <p:spPr bwMode="auto">
          <a:xfrm>
            <a:off x="8534400" y="48006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4</a:t>
            </a:r>
          </a:p>
          <a:p>
            <a:pPr>
              <a:spcBef>
                <a:spcPct val="0"/>
              </a:spcBef>
              <a:buFontTx/>
              <a:buNone/>
            </a:pPr>
            <a:endParaRPr lang="en-US" altLang="en-US" sz="2400">
              <a:latin typeface="Times New Roman" panose="02020603050405020304" pitchFamily="18" charset="0"/>
            </a:endParaRPr>
          </a:p>
        </p:txBody>
      </p:sp>
      <p:sp>
        <p:nvSpPr>
          <p:cNvPr id="64522" name="Text Box 10"/>
          <p:cNvSpPr txBox="1">
            <a:spLocks noChangeArrowheads="1"/>
          </p:cNvSpPr>
          <p:nvPr/>
        </p:nvSpPr>
        <p:spPr bwMode="auto">
          <a:xfrm>
            <a:off x="8534400" y="5638800"/>
            <a:ext cx="171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New Roman" panose="02020603050405020304" pitchFamily="18" charset="0"/>
              </a:rPr>
              <a:t>After pass 5</a:t>
            </a:r>
          </a:p>
          <a:p>
            <a:pPr>
              <a:spcBef>
                <a:spcPct val="0"/>
              </a:spcBef>
              <a:buFontTx/>
              <a:buNone/>
            </a:pPr>
            <a:endParaRPr lang="en-US" altLang="en-US" sz="2400">
              <a:latin typeface="Times New Roman" panose="02020603050405020304" pitchFamily="18" charset="0"/>
            </a:endParaRPr>
          </a:p>
        </p:txBody>
      </p:sp>
      <p:graphicFrame>
        <p:nvGraphicFramePr>
          <p:cNvPr id="32779" name="Group 11">
            <a:extLst>
              <a:ext uri="{FF2B5EF4-FFF2-40B4-BE49-F238E27FC236}"/>
            </a:extLst>
          </p:cNvPr>
          <p:cNvGraphicFramePr>
            <a:graphicFrameLocks noGrp="1"/>
          </p:cNvGraphicFramePr>
          <p:nvPr/>
        </p:nvGraphicFramePr>
        <p:xfrm>
          <a:off x="2362200" y="1066800"/>
          <a:ext cx="5867400" cy="5029200"/>
        </p:xfrm>
        <a:graphic>
          <a:graphicData uri="http://schemas.openxmlformats.org/drawingml/2006/table">
            <a:tbl>
              <a:tblPr/>
              <a:tblGrid>
                <a:gridCol w="977900">
                  <a:extLst>
                    <a:ext uri="{9D8B030D-6E8A-4147-A177-3AD203B41FA5}"/>
                  </a:extLst>
                </a:gridCol>
                <a:gridCol w="977900">
                  <a:extLst>
                    <a:ext uri="{9D8B030D-6E8A-4147-A177-3AD203B41FA5}"/>
                  </a:extLst>
                </a:gridCol>
                <a:gridCol w="939800">
                  <a:extLst>
                    <a:ext uri="{9D8B030D-6E8A-4147-A177-3AD203B41FA5}"/>
                  </a:extLst>
                </a:gridCol>
                <a:gridCol w="1016000">
                  <a:extLst>
                    <a:ext uri="{9D8B030D-6E8A-4147-A177-3AD203B41FA5}"/>
                  </a:extLst>
                </a:gridCol>
                <a:gridCol w="977900">
                  <a:extLst>
                    <a:ext uri="{9D8B030D-6E8A-4147-A177-3AD203B41FA5}"/>
                  </a:extLst>
                </a:gridCol>
                <a:gridCol w="977900">
                  <a:extLst>
                    <a:ext uri="{9D8B030D-6E8A-4147-A177-3AD203B41FA5}"/>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23</a:t>
                      </a:r>
                      <a:endParaRPr kumimoji="0" lang="en-US" sz="2400" b="0" i="0" u="none" strike="noStrike" cap="none" normalizeH="0" baseline="0">
                        <a:ln>
                          <a:noFill/>
                        </a:ln>
                        <a:solidFill>
                          <a:schemeClr val="tx1"/>
                        </a:solidFill>
                        <a:effectLst/>
                        <a:latin typeface="Times New Roman" pitchFamily="18" charset="0"/>
                      </a:endParaRP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20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434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a:txBody>
                  <a:tcPr marL="152400"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8</a:t>
                      </a:r>
                    </a:p>
                  </a:txBody>
                  <a:tcPr marL="1524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23</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32</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45</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56</a:t>
                      </a:r>
                    </a:p>
                  </a:txBody>
                  <a:tcPr marL="1524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78</a:t>
                      </a:r>
                    </a:p>
                  </a:txBody>
                  <a:tcPr marL="1524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extLst>
              </a:tr>
            </a:tbl>
          </a:graphicData>
        </a:graphic>
      </p:graphicFrame>
      <p:sp>
        <p:nvSpPr>
          <p:cNvPr id="64644" name="Text Box 142"/>
          <p:cNvSpPr txBox="1">
            <a:spLocks noChangeArrowheads="1"/>
          </p:cNvSpPr>
          <p:nvPr/>
        </p:nvSpPr>
        <p:spPr bwMode="auto">
          <a:xfrm>
            <a:off x="2286000" y="5334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latin typeface="Times New Roman" panose="02020603050405020304" pitchFamily="18" charset="0"/>
              </a:rPr>
              <a:t>Sorted</a:t>
            </a:r>
          </a:p>
        </p:txBody>
      </p:sp>
      <p:sp>
        <p:nvSpPr>
          <p:cNvPr id="64645" name="Text Box 143"/>
          <p:cNvSpPr txBox="1">
            <a:spLocks noChangeArrowheads="1"/>
          </p:cNvSpPr>
          <p:nvPr/>
        </p:nvSpPr>
        <p:spPr bwMode="auto">
          <a:xfrm>
            <a:off x="5334000" y="6858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latin typeface="Times New Roman" panose="02020603050405020304" pitchFamily="18" charset="0"/>
              </a:rPr>
              <a:t>Unsorted</a:t>
            </a:r>
          </a:p>
        </p:txBody>
      </p:sp>
      <p:sp>
        <p:nvSpPr>
          <p:cNvPr id="64646" name="Rectangle 14"/>
          <p:cNvSpPr>
            <a:spLocks noChangeArrowheads="1"/>
          </p:cNvSpPr>
          <p:nvPr/>
        </p:nvSpPr>
        <p:spPr bwMode="auto">
          <a:xfrm>
            <a:off x="6324601" y="239714"/>
            <a:ext cx="3279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Insertion Sort: Example  2</a:t>
            </a:r>
          </a:p>
        </p:txBody>
      </p:sp>
    </p:spTree>
    <p:extLst>
      <p:ext uri="{BB962C8B-B14F-4D97-AF65-F5344CB8AC3E}">
        <p14:creationId xmlns:p14="http://schemas.microsoft.com/office/powerpoint/2010/main" val="15294760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1828800" y="1752600"/>
            <a:ext cx="88392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noProof="1">
                <a:solidFill>
                  <a:srgbClr val="7F0055"/>
                </a:solidFill>
                <a:latin typeface="Consolas" panose="020B0609020204030204" pitchFamily="49" charset="0"/>
              </a:rPr>
              <a:t>int</a:t>
            </a:r>
            <a:r>
              <a:rPr lang="en-US" altLang="en-US" sz="2800" b="1" noProof="1">
                <a:solidFill>
                  <a:srgbClr val="000000"/>
                </a:solidFill>
                <a:latin typeface="Consolas" panose="020B0609020204030204" pitchFamily="49" charset="0"/>
              </a:rPr>
              <a:t> j;</a:t>
            </a:r>
          </a:p>
          <a:p>
            <a:pPr>
              <a:spcBef>
                <a:spcPct val="0"/>
              </a:spcBef>
              <a:buFontTx/>
              <a:buNone/>
            </a:pPr>
            <a:r>
              <a:rPr lang="en-US" altLang="en-US" sz="2800" b="1" noProof="1">
                <a:solidFill>
                  <a:srgbClr val="7F0055"/>
                </a:solidFill>
                <a:latin typeface="Consolas" panose="020B0609020204030204" pitchFamily="49" charset="0"/>
              </a:rPr>
              <a:t>for</a:t>
            </a:r>
            <a:r>
              <a:rPr lang="en-US" altLang="en-US" sz="2800" b="1" noProof="1">
                <a:solidFill>
                  <a:srgbClr val="000000"/>
                </a:solidFill>
                <a:latin typeface="Consolas" panose="020B0609020204030204" pitchFamily="49" charset="0"/>
              </a:rPr>
              <a:t> (</a:t>
            </a:r>
            <a:r>
              <a:rPr lang="en-US" altLang="en-US" sz="2800" b="1" noProof="1">
                <a:solidFill>
                  <a:srgbClr val="7F0055"/>
                </a:solidFill>
                <a:latin typeface="Consolas" panose="020B0609020204030204" pitchFamily="49" charset="0"/>
              </a:rPr>
              <a:t>int</a:t>
            </a:r>
            <a:r>
              <a:rPr lang="en-US" altLang="en-US" sz="2800" b="1" noProof="1">
                <a:solidFill>
                  <a:srgbClr val="000000"/>
                </a:solidFill>
                <a:latin typeface="Consolas" panose="020B0609020204030204" pitchFamily="49" charset="0"/>
              </a:rPr>
              <a:t> i = 1; i &lt; n; i++) {</a:t>
            </a:r>
          </a:p>
          <a:p>
            <a:pPr>
              <a:spcBef>
                <a:spcPct val="0"/>
              </a:spcBef>
              <a:buFontTx/>
              <a:buNone/>
            </a:pPr>
            <a:r>
              <a:rPr lang="en-US" altLang="en-US" sz="2800" b="1" noProof="1">
                <a:solidFill>
                  <a:srgbClr val="7F0055"/>
                </a:solidFill>
                <a:latin typeface="Consolas" panose="020B0609020204030204" pitchFamily="49" charset="0"/>
              </a:rPr>
              <a:t>  int</a:t>
            </a:r>
            <a:r>
              <a:rPr lang="en-US" altLang="en-US" sz="2800" b="1" noProof="1">
                <a:solidFill>
                  <a:srgbClr val="000000"/>
                </a:solidFill>
                <a:latin typeface="Consolas" panose="020B0609020204030204" pitchFamily="49" charset="0"/>
              </a:rPr>
              <a:t> tmp = a[i];</a:t>
            </a:r>
          </a:p>
          <a:p>
            <a:pPr>
              <a:spcBef>
                <a:spcPct val="0"/>
              </a:spcBef>
              <a:buFontTx/>
              <a:buNone/>
            </a:pPr>
            <a:endParaRPr lang="en-US" altLang="en-US" sz="2800" noProof="1">
              <a:latin typeface="Consolas" panose="020B0609020204030204" pitchFamily="49" charset="0"/>
            </a:endParaRPr>
          </a:p>
          <a:p>
            <a:pPr>
              <a:spcBef>
                <a:spcPct val="0"/>
              </a:spcBef>
              <a:buFontTx/>
              <a:buNone/>
            </a:pPr>
            <a:r>
              <a:rPr lang="en-US" altLang="en-US" sz="2800" b="1" noProof="1">
                <a:solidFill>
                  <a:srgbClr val="7F0055"/>
                </a:solidFill>
                <a:latin typeface="Consolas" panose="020B0609020204030204" pitchFamily="49" charset="0"/>
              </a:rPr>
              <a:t>  for</a:t>
            </a:r>
            <a:r>
              <a:rPr lang="en-US" altLang="en-US" sz="2800" b="1" noProof="1">
                <a:solidFill>
                  <a:srgbClr val="000000"/>
                </a:solidFill>
                <a:latin typeface="Consolas" panose="020B0609020204030204" pitchFamily="49" charset="0"/>
              </a:rPr>
              <a:t> (j = i; j &gt; 0 &amp;&amp; tmp &lt; a[j - 1]; j--)</a:t>
            </a:r>
          </a:p>
          <a:p>
            <a:pPr>
              <a:spcBef>
                <a:spcPct val="0"/>
              </a:spcBef>
              <a:buFontTx/>
              <a:buNone/>
            </a:pPr>
            <a:r>
              <a:rPr lang="en-US" altLang="en-US" sz="2800" noProof="1">
                <a:solidFill>
                  <a:srgbClr val="000000"/>
                </a:solidFill>
                <a:latin typeface="Consolas" panose="020B0609020204030204" pitchFamily="49" charset="0"/>
              </a:rPr>
              <a:t>     a[j] = a[j - 1];</a:t>
            </a:r>
          </a:p>
          <a:p>
            <a:pPr>
              <a:spcBef>
                <a:spcPct val="0"/>
              </a:spcBef>
              <a:buFontTx/>
              <a:buNone/>
            </a:pPr>
            <a:r>
              <a:rPr lang="en-US" altLang="en-US" sz="2800" noProof="1">
                <a:solidFill>
                  <a:srgbClr val="000000"/>
                </a:solidFill>
                <a:latin typeface="Consolas" panose="020B0609020204030204" pitchFamily="49" charset="0"/>
              </a:rPr>
              <a:t>  </a:t>
            </a:r>
          </a:p>
          <a:p>
            <a:pPr>
              <a:spcBef>
                <a:spcPct val="0"/>
              </a:spcBef>
              <a:buFontTx/>
              <a:buNone/>
            </a:pPr>
            <a:r>
              <a:rPr lang="en-US" altLang="en-US" sz="2800" noProof="1">
                <a:solidFill>
                  <a:srgbClr val="000000"/>
                </a:solidFill>
                <a:latin typeface="Consolas" panose="020B0609020204030204" pitchFamily="49" charset="0"/>
              </a:rPr>
              <a:t>  a[j] = tmp;</a:t>
            </a:r>
          </a:p>
          <a:p>
            <a:pPr>
              <a:spcBef>
                <a:spcPct val="0"/>
              </a:spcBef>
              <a:buFontTx/>
              <a:buNone/>
            </a:pPr>
            <a:r>
              <a:rPr lang="en-US" altLang="en-US" sz="2800" noProof="1">
                <a:solidFill>
                  <a:srgbClr val="000000"/>
                </a:solidFill>
                <a:latin typeface="Consolas" panose="020B0609020204030204" pitchFamily="49" charset="0"/>
              </a:rPr>
              <a:t>}</a:t>
            </a:r>
            <a:endParaRPr lang="en-US" altLang="en-US" sz="2800" noProof="1">
              <a:latin typeface="Verdana" panose="020B0604030504040204" pitchFamily="34" charset="0"/>
            </a:endParaRPr>
          </a:p>
        </p:txBody>
      </p:sp>
      <p:sp>
        <p:nvSpPr>
          <p:cNvPr id="5" name="Rectangle 4">
            <a:extLst>
              <a:ext uri="{FF2B5EF4-FFF2-40B4-BE49-F238E27FC236}"/>
            </a:extLst>
          </p:cNvPr>
          <p:cNvSpPr/>
          <p:nvPr/>
        </p:nvSpPr>
        <p:spPr>
          <a:xfrm>
            <a:off x="1828801" y="914401"/>
            <a:ext cx="5097463" cy="646113"/>
          </a:xfrm>
          <a:prstGeom prst="rect">
            <a:avLst/>
          </a:prstGeom>
        </p:spPr>
        <p:txBody>
          <a:bodyPr>
            <a:spAutoFit/>
          </a:bodyPr>
          <a:lstStyle/>
          <a:p>
            <a:pPr>
              <a:defRPr/>
            </a:pPr>
            <a:r>
              <a:rPr lang="en-US" altLang="en-US" sz="3600" dirty="0">
                <a:solidFill>
                  <a:srgbClr val="002060"/>
                </a:solidFill>
                <a:latin typeface="+mj-lt"/>
              </a:rPr>
              <a:t>Insertion Sort - Algorithm</a:t>
            </a:r>
            <a:endParaRPr lang="en-US" sz="3600" dirty="0">
              <a:solidFill>
                <a:srgbClr val="002060"/>
              </a:solidFill>
              <a:latin typeface="+mj-lt"/>
            </a:endParaRPr>
          </a:p>
        </p:txBody>
      </p:sp>
    </p:spTree>
    <p:extLst>
      <p:ext uri="{BB962C8B-B14F-4D97-AF65-F5344CB8AC3E}">
        <p14:creationId xmlns:p14="http://schemas.microsoft.com/office/powerpoint/2010/main" val="26445138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 xmlns:a16="http://schemas.microsoft.com/office/drawing/2014/main" id="{B67A63CA-EDA2-8F80-D0BB-9DD2CBD1D94F}"/>
              </a:ext>
            </a:extLst>
          </p:cNvPr>
          <p:cNvSpPr>
            <a:spLocks noGrp="1"/>
          </p:cNvSpPr>
          <p:nvPr>
            <p:ph type="title"/>
          </p:nvPr>
        </p:nvSpPr>
        <p:spPr>
          <a:xfrm>
            <a:off x="183978" y="56143"/>
            <a:ext cx="8824097" cy="562928"/>
          </a:xfrm>
        </p:spPr>
        <p:txBody>
          <a:bodyPr>
            <a:normAutofit/>
          </a:bodyPr>
          <a:lstStyle/>
          <a:p>
            <a:r>
              <a:rPr lang="en-US" sz="2800" b="1" dirty="0">
                <a:solidFill>
                  <a:schemeClr val="accent1">
                    <a:lumMod val="50000"/>
                  </a:schemeClr>
                </a:solidFill>
                <a:latin typeface="+mn-lt"/>
              </a:rPr>
              <a:t>Insertion Sort: Pseudo Code</a:t>
            </a:r>
            <a:endParaRPr lang="en-PK" sz="2800" b="1" dirty="0">
              <a:solidFill>
                <a:schemeClr val="accent1">
                  <a:lumMod val="50000"/>
                </a:schemeClr>
              </a:solidFill>
              <a:latin typeface="+mn-lt"/>
            </a:endParaRPr>
          </a:p>
        </p:txBody>
      </p:sp>
      <p:sp>
        <p:nvSpPr>
          <p:cNvPr id="3" name="TextBox 2">
            <a:extLst>
              <a:ext uri="{FF2B5EF4-FFF2-40B4-BE49-F238E27FC236}">
                <a16:creationId xmlns="" xmlns:a16="http://schemas.microsoft.com/office/drawing/2014/main" id="{98B143CF-79A2-907D-5A8B-EFBEA1552ABB}"/>
              </a:ext>
            </a:extLst>
          </p:cNvPr>
          <p:cNvSpPr txBox="1"/>
          <p:nvPr/>
        </p:nvSpPr>
        <p:spPr>
          <a:xfrm>
            <a:off x="6410068" y="3827647"/>
            <a:ext cx="6098058" cy="2862322"/>
          </a:xfrm>
          <a:prstGeom prst="rect">
            <a:avLst/>
          </a:prstGeom>
          <a:noFill/>
        </p:spPr>
        <p:txBody>
          <a:bodyPr wrap="square">
            <a:spAutoFit/>
          </a:bodyPr>
          <a:lstStyle/>
          <a:p>
            <a:endParaRPr lang="en-PK" dirty="0"/>
          </a:p>
          <a:p>
            <a:r>
              <a:rPr lang="en-PK" dirty="0"/>
              <a:t>  // Driver code</a:t>
            </a:r>
          </a:p>
          <a:p>
            <a:r>
              <a:rPr lang="en-PK" dirty="0"/>
              <a:t>  public static void main(String </a:t>
            </a:r>
            <a:r>
              <a:rPr lang="en-PK" dirty="0" err="1"/>
              <a:t>args</a:t>
            </a:r>
            <a:r>
              <a:rPr lang="en-PK" dirty="0"/>
              <a:t>[]) {</a:t>
            </a:r>
          </a:p>
          <a:p>
            <a:r>
              <a:rPr lang="en-PK" dirty="0"/>
              <a:t>    int[] data = { 9, 5, 1, 4, 3 };</a:t>
            </a:r>
          </a:p>
          <a:p>
            <a:r>
              <a:rPr lang="en-PK" dirty="0"/>
              <a:t>    </a:t>
            </a:r>
            <a:r>
              <a:rPr lang="en-PK" dirty="0" err="1"/>
              <a:t>InsertionSort</a:t>
            </a:r>
            <a:r>
              <a:rPr lang="en-PK" dirty="0"/>
              <a:t> is = new </a:t>
            </a:r>
            <a:r>
              <a:rPr lang="en-PK" dirty="0" err="1"/>
              <a:t>InsertionSort</a:t>
            </a:r>
            <a:r>
              <a:rPr lang="en-PK" dirty="0"/>
              <a:t>();</a:t>
            </a:r>
          </a:p>
          <a:p>
            <a:r>
              <a:rPr lang="en-PK" dirty="0"/>
              <a:t>    </a:t>
            </a:r>
            <a:r>
              <a:rPr lang="en-PK" dirty="0" err="1"/>
              <a:t>is.insertionSort</a:t>
            </a:r>
            <a:r>
              <a:rPr lang="en-PK" dirty="0"/>
              <a:t>(data);</a:t>
            </a:r>
          </a:p>
          <a:p>
            <a:r>
              <a:rPr lang="en-PK" dirty="0"/>
              <a:t>    </a:t>
            </a:r>
            <a:r>
              <a:rPr lang="en-PK" dirty="0" err="1"/>
              <a:t>System.out.println</a:t>
            </a:r>
            <a:r>
              <a:rPr lang="en-PK" dirty="0"/>
              <a:t>("Sorted Array in Ascending Order: ");</a:t>
            </a:r>
          </a:p>
          <a:p>
            <a:r>
              <a:rPr lang="en-PK" dirty="0"/>
              <a:t>    </a:t>
            </a:r>
            <a:r>
              <a:rPr lang="en-PK" dirty="0" err="1"/>
              <a:t>System.out.println</a:t>
            </a:r>
            <a:r>
              <a:rPr lang="en-PK" dirty="0"/>
              <a:t>(</a:t>
            </a:r>
            <a:r>
              <a:rPr lang="en-PK" dirty="0" err="1"/>
              <a:t>Arrays.toString</a:t>
            </a:r>
            <a:r>
              <a:rPr lang="en-PK" dirty="0"/>
              <a:t>(data));</a:t>
            </a:r>
          </a:p>
          <a:p>
            <a:r>
              <a:rPr lang="en-PK" dirty="0"/>
              <a:t>  }</a:t>
            </a:r>
          </a:p>
          <a:p>
            <a:r>
              <a:rPr lang="en-PK" dirty="0"/>
              <a:t>}</a:t>
            </a:r>
          </a:p>
        </p:txBody>
      </p:sp>
      <p:sp>
        <p:nvSpPr>
          <p:cNvPr id="6" name="TextBox 5">
            <a:extLst>
              <a:ext uri="{FF2B5EF4-FFF2-40B4-BE49-F238E27FC236}">
                <a16:creationId xmlns="" xmlns:a16="http://schemas.microsoft.com/office/drawing/2014/main" id="{11C241C6-A269-7980-2F08-AC3AA026912B}"/>
              </a:ext>
            </a:extLst>
          </p:cNvPr>
          <p:cNvSpPr txBox="1"/>
          <p:nvPr/>
        </p:nvSpPr>
        <p:spPr>
          <a:xfrm>
            <a:off x="407773" y="619071"/>
            <a:ext cx="8427308" cy="5909310"/>
          </a:xfrm>
          <a:prstGeom prst="rect">
            <a:avLst/>
          </a:prstGeom>
          <a:noFill/>
        </p:spPr>
        <p:txBody>
          <a:bodyPr wrap="square">
            <a:spAutoFit/>
          </a:bodyPr>
          <a:lstStyle/>
          <a:p>
            <a:r>
              <a:rPr lang="en-PK" dirty="0"/>
              <a:t>// Insertion sort in Java</a:t>
            </a:r>
          </a:p>
          <a:p>
            <a:r>
              <a:rPr lang="en-PK" dirty="0"/>
              <a:t>import </a:t>
            </a:r>
            <a:r>
              <a:rPr lang="en-PK" dirty="0" err="1"/>
              <a:t>java.util.Arrays</a:t>
            </a:r>
            <a:r>
              <a:rPr lang="en-PK" dirty="0"/>
              <a:t>;</a:t>
            </a:r>
          </a:p>
          <a:p>
            <a:r>
              <a:rPr lang="en-PK" dirty="0"/>
              <a:t>class </a:t>
            </a:r>
            <a:r>
              <a:rPr lang="en-PK" dirty="0" err="1"/>
              <a:t>InsertionSort</a:t>
            </a:r>
            <a:r>
              <a:rPr lang="en-PK" dirty="0"/>
              <a:t> {</a:t>
            </a:r>
          </a:p>
          <a:p>
            <a:r>
              <a:rPr lang="en-PK" dirty="0"/>
              <a:t>  void </a:t>
            </a:r>
            <a:r>
              <a:rPr lang="en-PK" dirty="0" err="1"/>
              <a:t>insertionSort</a:t>
            </a:r>
            <a:r>
              <a:rPr lang="en-PK" dirty="0"/>
              <a:t>(int array[]) {</a:t>
            </a:r>
          </a:p>
          <a:p>
            <a:r>
              <a:rPr lang="en-PK" dirty="0"/>
              <a:t>    int size = </a:t>
            </a:r>
            <a:r>
              <a:rPr lang="en-PK" dirty="0" err="1"/>
              <a:t>array.length</a:t>
            </a:r>
            <a:r>
              <a:rPr lang="en-PK" dirty="0"/>
              <a:t>;</a:t>
            </a:r>
          </a:p>
          <a:p>
            <a:endParaRPr lang="en-PK" dirty="0"/>
          </a:p>
          <a:p>
            <a:r>
              <a:rPr lang="en-PK" dirty="0"/>
              <a:t>    for (int step = 1; step &lt; size; step++) {</a:t>
            </a:r>
          </a:p>
          <a:p>
            <a:r>
              <a:rPr lang="en-PK" dirty="0"/>
              <a:t>      int key = array[step];</a:t>
            </a:r>
          </a:p>
          <a:p>
            <a:r>
              <a:rPr lang="en-PK" dirty="0"/>
              <a:t>      int j = step - 1;</a:t>
            </a:r>
          </a:p>
          <a:p>
            <a:r>
              <a:rPr lang="en-PK" dirty="0"/>
              <a:t>      // Compare key with each element on the left of it until an element smaller than</a:t>
            </a:r>
          </a:p>
          <a:p>
            <a:r>
              <a:rPr lang="en-PK" dirty="0"/>
              <a:t>      // it is found.</a:t>
            </a:r>
          </a:p>
          <a:p>
            <a:r>
              <a:rPr lang="en-PK" dirty="0"/>
              <a:t>      // For descending order, change key&lt;array[j] to key&gt;array[j].</a:t>
            </a:r>
          </a:p>
          <a:p>
            <a:r>
              <a:rPr lang="en-PK" dirty="0"/>
              <a:t>      while (j &gt;= 0 &amp;&amp; key &lt; array[j]) {</a:t>
            </a:r>
          </a:p>
          <a:p>
            <a:r>
              <a:rPr lang="en-PK" dirty="0"/>
              <a:t>        array[j + 1] = array[j];</a:t>
            </a:r>
          </a:p>
          <a:p>
            <a:r>
              <a:rPr lang="en-PK" dirty="0"/>
              <a:t>        --j;</a:t>
            </a:r>
          </a:p>
          <a:p>
            <a:r>
              <a:rPr lang="en-PK" dirty="0"/>
              <a:t>      }</a:t>
            </a:r>
          </a:p>
          <a:p>
            <a:endParaRPr lang="en-PK" dirty="0"/>
          </a:p>
          <a:p>
            <a:r>
              <a:rPr lang="en-PK" dirty="0"/>
              <a:t>      // Place key at after the element just smaller than it.</a:t>
            </a:r>
          </a:p>
          <a:p>
            <a:r>
              <a:rPr lang="en-PK" dirty="0"/>
              <a:t>      array[j + 1] = key;</a:t>
            </a:r>
          </a:p>
          <a:p>
            <a:r>
              <a:rPr lang="en-PK" dirty="0"/>
              <a:t>    }</a:t>
            </a:r>
          </a:p>
          <a:p>
            <a:r>
              <a:rPr lang="en-PK" dirty="0"/>
              <a:t>  }</a:t>
            </a:r>
          </a:p>
        </p:txBody>
      </p:sp>
    </p:spTree>
    <p:extLst>
      <p:ext uri="{BB962C8B-B14F-4D97-AF65-F5344CB8AC3E}">
        <p14:creationId xmlns:p14="http://schemas.microsoft.com/office/powerpoint/2010/main" val="29494549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a:extLst>
              <a:ext uri="{FF2B5EF4-FFF2-40B4-BE49-F238E27FC236}"/>
            </a:extLst>
          </p:cNvPr>
          <p:cNvSpPr>
            <a:spLocks noGrp="1" noChangeArrowheads="1"/>
          </p:cNvSpPr>
          <p:nvPr>
            <p:ph type="body" idx="1"/>
          </p:nvPr>
        </p:nvSpPr>
        <p:spPr>
          <a:xfrm>
            <a:off x="1676400" y="1600201"/>
            <a:ext cx="8229600" cy="4525963"/>
          </a:xfrm>
        </p:spPr>
        <p:txBody>
          <a:bodyPr rtlCol="0">
            <a:normAutofit lnSpcReduction="10000"/>
          </a:bodyPr>
          <a:lstStyle/>
          <a:p>
            <a:pPr>
              <a:spcAft>
                <a:spcPts val="0"/>
              </a:spcAft>
              <a:defRPr/>
            </a:pPr>
            <a:r>
              <a:rPr lang="en-US" altLang="en-US" dirty="0"/>
              <a:t>Running time depends on not only the size of the array but also the contents of the array.</a:t>
            </a:r>
          </a:p>
          <a:p>
            <a:pPr>
              <a:spcAft>
                <a:spcPts val="0"/>
              </a:spcAft>
              <a:defRPr/>
            </a:pPr>
            <a:r>
              <a:rPr lang="en-US" altLang="en-US" b="1" i="1" dirty="0"/>
              <a:t>Best-case: </a:t>
            </a:r>
            <a:r>
              <a:rPr lang="en-US" altLang="en-US" b="1" dirty="0">
                <a:sym typeface="Wingdings" pitchFamily="2" charset="2"/>
              </a:rPr>
              <a:t> </a:t>
            </a:r>
            <a:r>
              <a:rPr lang="el-GR" altLang="en-US" b="1" dirty="0">
                <a:sym typeface="Wingdings" pitchFamily="2" charset="2"/>
              </a:rPr>
              <a:t>Ω </a:t>
            </a:r>
            <a:r>
              <a:rPr lang="en-US" altLang="en-US" b="1" dirty="0">
                <a:sym typeface="Wingdings" pitchFamily="2" charset="2"/>
              </a:rPr>
              <a:t>(n)</a:t>
            </a:r>
            <a:endParaRPr lang="en-US" altLang="en-US" b="1" dirty="0"/>
          </a:p>
          <a:p>
            <a:pPr lvl="1">
              <a:spcAft>
                <a:spcPts val="0"/>
              </a:spcAft>
              <a:defRPr/>
            </a:pPr>
            <a:r>
              <a:rPr lang="en-US" altLang="en-US" dirty="0"/>
              <a:t>Array is already sorted in ascending order.</a:t>
            </a:r>
          </a:p>
          <a:p>
            <a:pPr lvl="1">
              <a:spcAft>
                <a:spcPts val="0"/>
              </a:spcAft>
              <a:defRPr/>
            </a:pPr>
            <a:r>
              <a:rPr lang="en-US" altLang="en-US" dirty="0"/>
              <a:t>Inner loop will not be executed.</a:t>
            </a:r>
          </a:p>
          <a:p>
            <a:pPr lvl="1">
              <a:spcAft>
                <a:spcPts val="0"/>
              </a:spcAft>
              <a:defRPr/>
            </a:pPr>
            <a:r>
              <a:rPr lang="en-US" altLang="en-US" dirty="0"/>
              <a:t>The number of moves: 2*(n-1) 	</a:t>
            </a:r>
            <a:r>
              <a:rPr lang="en-US" altLang="en-US" dirty="0">
                <a:sym typeface="Wingdings" pitchFamily="2" charset="2"/>
              </a:rPr>
              <a:t> </a:t>
            </a:r>
            <a:r>
              <a:rPr lang="en-US" altLang="en-US" dirty="0"/>
              <a:t>O(n)</a:t>
            </a:r>
          </a:p>
          <a:p>
            <a:pPr lvl="1">
              <a:spcAft>
                <a:spcPts val="0"/>
              </a:spcAft>
              <a:defRPr/>
            </a:pPr>
            <a:r>
              <a:rPr lang="en-US" altLang="en-US" dirty="0"/>
              <a:t>The number of key comparisons: (n-1) </a:t>
            </a:r>
            <a:r>
              <a:rPr lang="en-US" altLang="en-US" dirty="0">
                <a:sym typeface="Wingdings" pitchFamily="2" charset="2"/>
              </a:rPr>
              <a:t> </a:t>
            </a:r>
            <a:r>
              <a:rPr lang="en-US" altLang="en-US" dirty="0"/>
              <a:t>O(n)</a:t>
            </a:r>
          </a:p>
          <a:p>
            <a:pPr>
              <a:spcAft>
                <a:spcPts val="0"/>
              </a:spcAft>
              <a:defRPr/>
            </a:pPr>
            <a:r>
              <a:rPr lang="en-US" altLang="en-US" b="1" i="1" dirty="0"/>
              <a:t>Worst-case: </a:t>
            </a:r>
            <a:r>
              <a:rPr lang="en-US" altLang="en-US" b="1" dirty="0">
                <a:sym typeface="Wingdings" pitchFamily="2" charset="2"/>
              </a:rPr>
              <a:t> O(n</a:t>
            </a:r>
            <a:r>
              <a:rPr lang="en-US" altLang="en-US" b="1" baseline="30000" dirty="0">
                <a:sym typeface="Wingdings" pitchFamily="2" charset="2"/>
              </a:rPr>
              <a:t>2</a:t>
            </a:r>
            <a:r>
              <a:rPr lang="en-US" altLang="en-US" b="1" dirty="0">
                <a:sym typeface="Wingdings" pitchFamily="2" charset="2"/>
              </a:rPr>
              <a:t>)</a:t>
            </a:r>
            <a:endParaRPr lang="en-US" altLang="en-US" b="1" i="1" dirty="0"/>
          </a:p>
          <a:p>
            <a:pPr lvl="1">
              <a:spcAft>
                <a:spcPts val="0"/>
              </a:spcAft>
              <a:defRPr/>
            </a:pPr>
            <a:r>
              <a:rPr lang="en-US" altLang="en-US" dirty="0"/>
              <a:t>Array is in reverse order:</a:t>
            </a:r>
          </a:p>
          <a:p>
            <a:pPr lvl="1">
              <a:spcAft>
                <a:spcPts val="0"/>
              </a:spcAft>
              <a:defRPr/>
            </a:pPr>
            <a:r>
              <a:rPr lang="en-US" altLang="en-US" dirty="0"/>
              <a:t>Inner loop is executed i-1 times, for </a:t>
            </a:r>
            <a:r>
              <a:rPr lang="en-US" altLang="en-US" dirty="0" err="1"/>
              <a:t>i</a:t>
            </a:r>
            <a:r>
              <a:rPr lang="en-US" altLang="en-US" dirty="0"/>
              <a:t> = 2,3, …, n</a:t>
            </a:r>
          </a:p>
          <a:p>
            <a:pPr lvl="1">
              <a:spcAft>
                <a:spcPts val="0"/>
              </a:spcAft>
              <a:defRPr/>
            </a:pPr>
            <a:r>
              <a:rPr lang="en-US" altLang="en-US" dirty="0"/>
              <a:t>The number of moves: 2*(n-1)+(1+2+...+n-1)= 2*(n-1)+ </a:t>
            </a:r>
            <a:r>
              <a:rPr lang="en-US" altLang="en-US" dirty="0">
                <a:sym typeface="Wingdings" pitchFamily="2" charset="2"/>
              </a:rPr>
              <a:t>n*(n-1)/2  </a:t>
            </a:r>
            <a:r>
              <a:rPr lang="en-US" altLang="en-US" dirty="0"/>
              <a:t>O(n</a:t>
            </a:r>
            <a:r>
              <a:rPr lang="en-US" altLang="en-US" baseline="30000" dirty="0"/>
              <a:t>2</a:t>
            </a:r>
            <a:r>
              <a:rPr lang="en-US" altLang="en-US" dirty="0"/>
              <a:t>)</a:t>
            </a:r>
          </a:p>
          <a:p>
            <a:pPr lvl="1">
              <a:spcAft>
                <a:spcPts val="0"/>
              </a:spcAft>
              <a:defRPr/>
            </a:pPr>
            <a:r>
              <a:rPr lang="en-US" altLang="en-US" dirty="0"/>
              <a:t>The number of key comparisons: (1+2+...+n-1)= </a:t>
            </a:r>
            <a:r>
              <a:rPr lang="en-US" altLang="en-US" dirty="0">
                <a:sym typeface="Wingdings" pitchFamily="2" charset="2"/>
              </a:rPr>
              <a:t>n*(n-1)/2  </a:t>
            </a:r>
            <a:r>
              <a:rPr lang="en-US" altLang="en-US" dirty="0"/>
              <a:t>O(n</a:t>
            </a:r>
            <a:r>
              <a:rPr lang="en-US" altLang="en-US" baseline="30000" dirty="0"/>
              <a:t>2</a:t>
            </a:r>
            <a:r>
              <a:rPr lang="en-US" altLang="en-US" dirty="0"/>
              <a:t>)</a:t>
            </a:r>
          </a:p>
          <a:p>
            <a:pPr>
              <a:spcAft>
                <a:spcPts val="0"/>
              </a:spcAft>
              <a:defRPr/>
            </a:pPr>
            <a:r>
              <a:rPr lang="en-US" altLang="en-US" b="1" dirty="0"/>
              <a:t>Average-case: </a:t>
            </a:r>
            <a:r>
              <a:rPr lang="en-US" altLang="en-US" b="1" dirty="0">
                <a:sym typeface="Wingdings" pitchFamily="2" charset="2"/>
              </a:rPr>
              <a:t> </a:t>
            </a:r>
            <a:r>
              <a:rPr lang="el-GR" altLang="en-US" b="1" dirty="0">
                <a:sym typeface="Wingdings" pitchFamily="2" charset="2"/>
              </a:rPr>
              <a:t>θ</a:t>
            </a:r>
            <a:r>
              <a:rPr lang="en-US" altLang="en-US" b="1" dirty="0">
                <a:sym typeface="Wingdings" pitchFamily="2" charset="2"/>
              </a:rPr>
              <a:t>(n</a:t>
            </a:r>
            <a:r>
              <a:rPr lang="en-US" altLang="en-US" b="1" baseline="30000" dirty="0">
                <a:sym typeface="Wingdings" pitchFamily="2" charset="2"/>
              </a:rPr>
              <a:t>2</a:t>
            </a:r>
            <a:r>
              <a:rPr lang="en-US" altLang="en-US" b="1" dirty="0">
                <a:sym typeface="Wingdings" pitchFamily="2" charset="2"/>
              </a:rPr>
              <a:t>)</a:t>
            </a:r>
            <a:endParaRPr lang="en-US" altLang="en-US" dirty="0"/>
          </a:p>
          <a:p>
            <a:pPr lvl="1">
              <a:spcAft>
                <a:spcPts val="0"/>
              </a:spcAft>
              <a:defRPr/>
            </a:pPr>
            <a:r>
              <a:rPr lang="en-US" altLang="en-US" dirty="0"/>
              <a:t>We have to look at all possible initial data organizations.</a:t>
            </a:r>
          </a:p>
          <a:p>
            <a:pPr>
              <a:spcAft>
                <a:spcPts val="0"/>
              </a:spcAft>
              <a:defRPr/>
            </a:pPr>
            <a:r>
              <a:rPr lang="en-US" altLang="en-US" b="1" dirty="0"/>
              <a:t>So, Insertion Sort is </a:t>
            </a:r>
            <a:r>
              <a:rPr lang="en-US" altLang="en-US" b="1" dirty="0">
                <a:sym typeface="Wingdings" pitchFamily="2" charset="2"/>
              </a:rPr>
              <a:t>O(n</a:t>
            </a:r>
            <a:r>
              <a:rPr lang="en-US" altLang="en-US" b="1" baseline="30000" dirty="0">
                <a:sym typeface="Wingdings" pitchFamily="2" charset="2"/>
              </a:rPr>
              <a:t>2</a:t>
            </a:r>
            <a:r>
              <a:rPr lang="en-US" altLang="en-US" b="1" dirty="0">
                <a:sym typeface="Wingdings" pitchFamily="2" charset="2"/>
              </a:rPr>
              <a:t>)</a:t>
            </a:r>
            <a:endParaRPr lang="en-US" altLang="en-US" b="1" i="1" dirty="0"/>
          </a:p>
          <a:p>
            <a:pPr>
              <a:spcAft>
                <a:spcPts val="0"/>
              </a:spcAft>
              <a:defRPr/>
            </a:pPr>
            <a:endParaRPr lang="en-US" altLang="en-US" b="1" dirty="0"/>
          </a:p>
        </p:txBody>
      </p:sp>
      <p:sp>
        <p:nvSpPr>
          <p:cNvPr id="66563" name="Rectangle 2"/>
          <p:cNvSpPr txBox="1">
            <a:spLocks noChangeArrowheads="1"/>
          </p:cNvSpPr>
          <p:nvPr/>
        </p:nvSpPr>
        <p:spPr bwMode="auto">
          <a:xfrm>
            <a:off x="1676400" y="762000"/>
            <a:ext cx="82296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a:solidFill>
                  <a:srgbClr val="002060"/>
                </a:solidFill>
              </a:rPr>
              <a:t>Insertion Sort – Analysis </a:t>
            </a:r>
          </a:p>
        </p:txBody>
      </p:sp>
    </p:spTree>
    <p:extLst>
      <p:ext uri="{BB962C8B-B14F-4D97-AF65-F5344CB8AC3E}">
        <p14:creationId xmlns:p14="http://schemas.microsoft.com/office/powerpoint/2010/main" val="37635620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4B1D55-8DE4-40EF-9BE6-9DE58A18801D}"/>
              </a:ext>
            </a:extLst>
          </p:cNvPr>
          <p:cNvSpPr>
            <a:spLocks noGrp="1"/>
          </p:cNvSpPr>
          <p:nvPr>
            <p:ph type="title"/>
          </p:nvPr>
        </p:nvSpPr>
        <p:spPr>
          <a:xfrm>
            <a:off x="170935" y="222422"/>
            <a:ext cx="10515600" cy="665077"/>
          </a:xfrm>
        </p:spPr>
        <p:txBody>
          <a:bodyPr>
            <a:normAutofit/>
          </a:bodyPr>
          <a:lstStyle/>
          <a:p>
            <a:r>
              <a:rPr lang="en-US" sz="2800" b="1" dirty="0">
                <a:solidFill>
                  <a:schemeClr val="accent1">
                    <a:lumMod val="50000"/>
                  </a:schemeClr>
                </a:solidFill>
                <a:latin typeface="+mn-lt"/>
              </a:rPr>
              <a:t>Analysis of Insertion Sort</a:t>
            </a:r>
            <a:endParaRPr lang="en-PK" sz="2800" b="1" dirty="0">
              <a:solidFill>
                <a:schemeClr val="accent1">
                  <a:lumMod val="50000"/>
                </a:schemeClr>
              </a:solidFill>
              <a:latin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2E9CEB3D-FFE6-4424-A552-7B9F7DDBDE42}"/>
                  </a:ext>
                </a:extLst>
              </p:cNvPr>
              <p:cNvSpPr>
                <a:spLocks noGrp="1"/>
              </p:cNvSpPr>
              <p:nvPr>
                <p:ph idx="1"/>
              </p:nvPr>
            </p:nvSpPr>
            <p:spPr>
              <a:xfrm>
                <a:off x="578708" y="1034792"/>
                <a:ext cx="10515600" cy="5823207"/>
              </a:xfrm>
            </p:spPr>
            <p:txBody>
              <a:bodyPr>
                <a:noAutofit/>
              </a:bodyPr>
              <a:lstStyle/>
              <a:p>
                <a:pPr>
                  <a:lnSpc>
                    <a:spcPct val="170000"/>
                  </a:lnSpc>
                </a:pPr>
                <a:r>
                  <a:rPr lang="en-US" sz="1800" b="1" dirty="0"/>
                  <a:t>Worst case: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𝑛</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oMath>
                </a14:m>
                <a:endParaRPr lang="en-US" sz="1800" b="1" dirty="0"/>
              </a:p>
              <a:p>
                <a:pPr lvl="1">
                  <a:lnSpc>
                    <a:spcPct val="170000"/>
                  </a:lnSpc>
                </a:pPr>
                <a:r>
                  <a:rPr lang="en-US" sz="1800" dirty="0"/>
                  <a:t>When array is given in descending order and you are going to sort an array into ascending order then worst case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𝑛</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oMath>
                </a14:m>
                <a:endParaRPr lang="en-US" sz="1800" dirty="0"/>
              </a:p>
              <a:p>
                <a:pPr>
                  <a:lnSpc>
                    <a:spcPct val="170000"/>
                  </a:lnSpc>
                </a:pPr>
                <a:r>
                  <a:rPr lang="en-US" sz="1800" b="1" dirty="0"/>
                  <a:t>Best case:  O(n)</a:t>
                </a:r>
              </a:p>
              <a:p>
                <a:pPr lvl="1">
                  <a:lnSpc>
                    <a:spcPct val="170000"/>
                  </a:lnSpc>
                </a:pPr>
                <a:r>
                  <a:rPr lang="en-US" sz="1800" dirty="0"/>
                  <a:t>When array is already sorted into ascending order, only one comparison happens.</a:t>
                </a:r>
                <a:endParaRPr lang="en-US" sz="1800" b="1" dirty="0"/>
              </a:p>
              <a:p>
                <a:pPr>
                  <a:lnSpc>
                    <a:spcPct val="170000"/>
                  </a:lnSpc>
                </a:pPr>
                <a:r>
                  <a:rPr lang="en-US" sz="1800" b="1" dirty="0"/>
                  <a:t>Average Case: :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𝑛</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oMath>
                </a14:m>
                <a:endParaRPr lang="en-US" sz="1800" b="1" dirty="0"/>
              </a:p>
              <a:p>
                <a:pPr>
                  <a:lnSpc>
                    <a:spcPct val="170000"/>
                  </a:lnSpc>
                </a:pPr>
                <a:r>
                  <a:rPr lang="en-US" sz="1800" b="1" dirty="0"/>
                  <a:t>Insertion Sort is stable</a:t>
                </a:r>
              </a:p>
              <a:p>
                <a:pPr>
                  <a:lnSpc>
                    <a:spcPct val="170000"/>
                  </a:lnSpc>
                </a:pPr>
                <a:r>
                  <a:rPr lang="en-US" sz="1800" b="1" dirty="0"/>
                  <a:t>Insertion Sort is Adaptive</a:t>
                </a:r>
              </a:p>
              <a:p>
                <a:pPr>
                  <a:lnSpc>
                    <a:spcPct val="170000"/>
                  </a:lnSpc>
                </a:pPr>
                <a:r>
                  <a:rPr lang="en-US" sz="1800" b="1" dirty="0"/>
                  <a:t>Space Complexity : O(1)</a:t>
                </a:r>
                <a:endParaRPr lang="en-PK" sz="1800" dirty="0"/>
              </a:p>
            </p:txBody>
          </p:sp>
        </mc:Choice>
        <mc:Fallback xmlns="">
          <p:sp>
            <p:nvSpPr>
              <p:cNvPr id="3" name="Content Placeholder 2">
                <a:extLst>
                  <a:ext uri="{FF2B5EF4-FFF2-40B4-BE49-F238E27FC236}">
                    <a16:creationId xmlns:a16="http://schemas.microsoft.com/office/drawing/2014/main" xmlns:a14="http://schemas.microsoft.com/office/drawing/2010/main" xmlns="" id="{2E9CEB3D-FFE6-4424-A552-7B9F7DDBDE42}"/>
                  </a:ext>
                </a:extLst>
              </p:cNvPr>
              <p:cNvSpPr>
                <a:spLocks noGrp="1" noRot="1" noChangeAspect="1" noMove="1" noResize="1" noEditPoints="1" noAdjustHandles="1" noChangeArrowheads="1" noChangeShapeType="1" noTextEdit="1"/>
              </p:cNvSpPr>
              <p:nvPr>
                <p:ph idx="1"/>
              </p:nvPr>
            </p:nvSpPr>
            <p:spPr>
              <a:xfrm>
                <a:off x="578708" y="1034792"/>
                <a:ext cx="10515600" cy="5823207"/>
              </a:xfrm>
              <a:blipFill rotWithShape="0">
                <a:blip r:embed="rId2"/>
                <a:stretch>
                  <a:fillRect l="-522"/>
                </a:stretch>
              </a:blipFill>
            </p:spPr>
            <p:txBody>
              <a:bodyPr/>
              <a:lstStyle/>
              <a:p>
                <a:r>
                  <a:rPr lang="en-US">
                    <a:noFill/>
                  </a:rPr>
                  <a:t> </a:t>
                </a:r>
              </a:p>
            </p:txBody>
          </p:sp>
        </mc:Fallback>
      </mc:AlternateContent>
    </p:spTree>
    <p:extLst>
      <p:ext uri="{BB962C8B-B14F-4D97-AF65-F5344CB8AC3E}">
        <p14:creationId xmlns:p14="http://schemas.microsoft.com/office/powerpoint/2010/main" val="38137864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p:cNvSpPr>
          <p:nvPr>
            <p:ph type="body" idx="1"/>
          </p:nvPr>
        </p:nvSpPr>
        <p:spPr>
          <a:xfrm>
            <a:off x="1676400" y="1447800"/>
            <a:ext cx="8458200" cy="4800600"/>
          </a:xfrm>
        </p:spPr>
        <p:txBody>
          <a:bodyPr/>
          <a:lstStyle/>
          <a:p>
            <a:pPr eaLnBrk="1" hangingPunct="1"/>
            <a:r>
              <a:rPr lang="en-US" altLang="en-US" smtClean="0"/>
              <a:t>Which running time will be used to characterize this algorithm?</a:t>
            </a:r>
          </a:p>
          <a:p>
            <a:pPr lvl="1" eaLnBrk="1" hangingPunct="1"/>
            <a:r>
              <a:rPr lang="en-US" altLang="en-US" smtClean="0"/>
              <a:t>Best, worst or average?</a:t>
            </a:r>
          </a:p>
          <a:p>
            <a:pPr eaLnBrk="1" hangingPunct="1"/>
            <a:r>
              <a:rPr lang="en-US" altLang="en-US" smtClean="0"/>
              <a:t>Worst: </a:t>
            </a:r>
          </a:p>
          <a:p>
            <a:pPr lvl="1" eaLnBrk="1" hangingPunct="1"/>
            <a:r>
              <a:rPr lang="en-US" altLang="en-US" smtClean="0"/>
              <a:t>Longest running time (this is the upper limit for the algorithm)</a:t>
            </a:r>
          </a:p>
          <a:p>
            <a:pPr lvl="1" eaLnBrk="1" hangingPunct="1"/>
            <a:r>
              <a:rPr lang="en-US" altLang="en-US" smtClean="0"/>
              <a:t>It is guaranteed that the algorithm will not be worse than this.</a:t>
            </a:r>
          </a:p>
          <a:p>
            <a:pPr eaLnBrk="1" hangingPunct="1"/>
            <a:r>
              <a:rPr lang="en-US" altLang="en-US" smtClean="0"/>
              <a:t>Sometimes we are interested in average case. But there are some problems with the average case.</a:t>
            </a:r>
          </a:p>
          <a:p>
            <a:pPr lvl="1" eaLnBrk="1" hangingPunct="1"/>
            <a:r>
              <a:rPr lang="en-US" altLang="en-US" smtClean="0"/>
              <a:t>It is difficult to figure out the average case. i.e. what is average input?</a:t>
            </a:r>
          </a:p>
          <a:p>
            <a:pPr lvl="1" eaLnBrk="1" hangingPunct="1"/>
            <a:r>
              <a:rPr lang="en-US" altLang="en-US" smtClean="0"/>
              <a:t>Are we going to assume all possible inputs are equally likely? </a:t>
            </a:r>
          </a:p>
          <a:p>
            <a:pPr lvl="1" eaLnBrk="1" hangingPunct="1"/>
            <a:r>
              <a:rPr lang="en-US" altLang="en-US" smtClean="0"/>
              <a:t>In fact for  most algorithms average case is same as the worst case. </a:t>
            </a:r>
          </a:p>
        </p:txBody>
      </p:sp>
      <p:sp>
        <p:nvSpPr>
          <p:cNvPr id="67587" name="Rectangle 2"/>
          <p:cNvSpPr>
            <a:spLocks noGrp="1"/>
          </p:cNvSpPr>
          <p:nvPr>
            <p:ph type="title"/>
          </p:nvPr>
        </p:nvSpPr>
        <p:spPr>
          <a:xfrm>
            <a:off x="1676400" y="762000"/>
            <a:ext cx="8229600" cy="655638"/>
          </a:xfrm>
        </p:spPr>
        <p:txBody>
          <a:bodyPr>
            <a:normAutofit fontScale="90000"/>
          </a:bodyPr>
          <a:lstStyle/>
          <a:p>
            <a:pPr eaLnBrk="1" hangingPunct="1"/>
            <a:r>
              <a:rPr lang="en-US" altLang="en-US" smtClean="0"/>
              <a:t>Insertion Sort – Analysis </a:t>
            </a:r>
          </a:p>
        </p:txBody>
      </p:sp>
    </p:spTree>
    <p:extLst>
      <p:ext uri="{BB962C8B-B14F-4D97-AF65-F5344CB8AC3E}">
        <p14:creationId xmlns:p14="http://schemas.microsoft.com/office/powerpoint/2010/main" val="271808800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p:cNvSpPr>
          <p:nvPr>
            <p:ph type="title"/>
          </p:nvPr>
        </p:nvSpPr>
        <p:spPr/>
        <p:txBody>
          <a:bodyPr/>
          <a:lstStyle/>
          <a:p>
            <a:pPr eaLnBrk="1" hangingPunct="1"/>
            <a:r>
              <a:rPr lang="en-US" altLang="en-US" smtClean="0"/>
              <a:t>Bubble Sort: Idea</a:t>
            </a:r>
          </a:p>
        </p:txBody>
      </p:sp>
      <p:sp>
        <p:nvSpPr>
          <p:cNvPr id="64515" name="Rectangle 3">
            <a:extLst>
              <a:ext uri="{FF2B5EF4-FFF2-40B4-BE49-F238E27FC236}"/>
            </a:extLst>
          </p:cNvPr>
          <p:cNvSpPr>
            <a:spLocks noGrp="1" noChangeArrowheads="1"/>
          </p:cNvSpPr>
          <p:nvPr>
            <p:ph idx="1"/>
          </p:nvPr>
        </p:nvSpPr>
        <p:spPr/>
        <p:txBody>
          <a:bodyPr/>
          <a:lstStyle/>
          <a:p>
            <a:pPr eaLnBrk="1" hangingPunct="1">
              <a:buFont typeface="Arial" charset="0"/>
              <a:buChar char="•"/>
              <a:defRPr/>
            </a:pPr>
            <a:r>
              <a:rPr lang="en-US" altLang="en-US" dirty="0">
                <a:latin typeface="+mj-lt"/>
              </a:rPr>
              <a:t>Idea: bubble in water.</a:t>
            </a:r>
          </a:p>
          <a:p>
            <a:pPr eaLnBrk="1" hangingPunct="1">
              <a:buFont typeface="Arial" charset="0"/>
              <a:buChar char="•"/>
              <a:defRPr/>
            </a:pPr>
            <a:r>
              <a:rPr lang="en-US" altLang="en-US" dirty="0">
                <a:latin typeface="+mj-lt"/>
              </a:rPr>
              <a:t>How?</a:t>
            </a:r>
          </a:p>
          <a:p>
            <a:pPr lvl="1" eaLnBrk="1" hangingPunct="1">
              <a:buFont typeface="Arial" charset="0"/>
              <a:buChar char="–"/>
              <a:defRPr/>
            </a:pPr>
            <a:r>
              <a:rPr lang="en-AU" altLang="en-US" dirty="0">
                <a:latin typeface="+mj-lt"/>
              </a:rPr>
              <a:t>When a bubble moves upward, the water from above will move downward to fill in the space left by the bubble.</a:t>
            </a:r>
          </a:p>
          <a:p>
            <a:pPr lvl="1" eaLnBrk="1" hangingPunct="1">
              <a:buFont typeface="Arial" charset="0"/>
              <a:buChar char="–"/>
              <a:defRPr/>
            </a:pPr>
            <a:endParaRPr lang="en-AU" altLang="en-US" dirty="0">
              <a:latin typeface="+mj-lt"/>
            </a:endParaRPr>
          </a:p>
          <a:p>
            <a:pPr marL="457200" indent="-457200">
              <a:buFont typeface="+mj-lt"/>
              <a:buAutoNum type="arabicPeriod"/>
              <a:defRPr/>
            </a:pPr>
            <a:r>
              <a:rPr lang="en-GB" altLang="en-US" dirty="0">
                <a:solidFill>
                  <a:srgbClr val="000000"/>
                </a:solidFill>
                <a:latin typeface="+mj-lt"/>
              </a:rPr>
              <a:t>Bubble sort compares the numbers in pairs from left to right exchanging when necessary.  If first number is larger than second, they are exchanged. Then </a:t>
            </a:r>
            <a:r>
              <a:rPr lang="en-US" altLang="en-US" dirty="0">
                <a:solidFill>
                  <a:srgbClr val="000000"/>
                </a:solidFill>
                <a:latin typeface="+mj-lt"/>
              </a:rPr>
              <a:t>the next pair of numbers are compared</a:t>
            </a:r>
          </a:p>
          <a:p>
            <a:pPr marL="457200" indent="-457200">
              <a:buFont typeface="+mj-lt"/>
              <a:buAutoNum type="arabicPeriod"/>
              <a:defRPr/>
            </a:pPr>
            <a:r>
              <a:rPr lang="en-US" dirty="0"/>
              <a:t>The pass through the list is repeated until no swaps are needed, which indicates that the list is sorted. </a:t>
            </a:r>
            <a:endParaRPr lang="en-GB" altLang="en-US" dirty="0">
              <a:solidFill>
                <a:srgbClr val="000000"/>
              </a:solidFill>
              <a:latin typeface="+mj-lt"/>
            </a:endParaRPr>
          </a:p>
          <a:p>
            <a:pPr eaLnBrk="1" hangingPunct="1">
              <a:buFont typeface="Arial" charset="0"/>
              <a:buChar char="•"/>
              <a:defRPr/>
            </a:pPr>
            <a:endParaRPr lang="en-US" altLang="en-US" dirty="0">
              <a:latin typeface="+mj-lt"/>
            </a:endParaRPr>
          </a:p>
        </p:txBody>
      </p:sp>
    </p:spTree>
    <p:extLst>
      <p:ext uri="{BB962C8B-B14F-4D97-AF65-F5344CB8AC3E}">
        <p14:creationId xmlns:p14="http://schemas.microsoft.com/office/powerpoint/2010/main" val="356447997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Text Box 3"/>
          <p:cNvSpPr txBox="1">
            <a:spLocks noChangeArrowheads="1"/>
          </p:cNvSpPr>
          <p:nvPr/>
        </p:nvSpPr>
        <p:spPr bwMode="auto">
          <a:xfrm>
            <a:off x="2590800" y="6778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9,  6,  2,  12,  11,  9,  3,  7</a:t>
            </a:r>
            <a:endParaRPr lang="en-GB" altLang="en-US" sz="2000">
              <a:latin typeface="Times New Roman" panose="02020603050405020304" pitchFamily="18" charset="0"/>
            </a:endParaRPr>
          </a:p>
        </p:txBody>
      </p:sp>
      <p:sp>
        <p:nvSpPr>
          <p:cNvPr id="69635" name="Oval 4"/>
          <p:cNvSpPr>
            <a:spLocks noChangeArrowheads="1"/>
          </p:cNvSpPr>
          <p:nvPr/>
        </p:nvSpPr>
        <p:spPr bwMode="auto">
          <a:xfrm>
            <a:off x="2362200" y="754063"/>
            <a:ext cx="16764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69636" name="Text Box 5"/>
          <p:cNvSpPr txBox="1">
            <a:spLocks noChangeArrowheads="1"/>
          </p:cNvSpPr>
          <p:nvPr/>
        </p:nvSpPr>
        <p:spPr bwMode="auto">
          <a:xfrm>
            <a:off x="2590800" y="15160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6,  9,  2,  12,  11,  9,  3,  7</a:t>
            </a:r>
            <a:endParaRPr lang="en-GB" altLang="en-US" sz="2000">
              <a:latin typeface="Times New Roman" panose="02020603050405020304" pitchFamily="18" charset="0"/>
            </a:endParaRPr>
          </a:p>
        </p:txBody>
      </p:sp>
      <p:sp>
        <p:nvSpPr>
          <p:cNvPr id="69637" name="Oval 6"/>
          <p:cNvSpPr>
            <a:spLocks noChangeArrowheads="1"/>
          </p:cNvSpPr>
          <p:nvPr/>
        </p:nvSpPr>
        <p:spPr bwMode="auto">
          <a:xfrm>
            <a:off x="3124200" y="1516063"/>
            <a:ext cx="16764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Verdana" panose="020B0604030504040204" pitchFamily="34" charset="0"/>
            </a:endParaRPr>
          </a:p>
        </p:txBody>
      </p:sp>
      <p:sp>
        <p:nvSpPr>
          <p:cNvPr id="69638" name="Text Box 7"/>
          <p:cNvSpPr txBox="1">
            <a:spLocks noChangeArrowheads="1"/>
          </p:cNvSpPr>
          <p:nvPr/>
        </p:nvSpPr>
        <p:spPr bwMode="auto">
          <a:xfrm>
            <a:off x="2590800" y="22780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6,  2,  9,  12,  11,  9,  3,  7</a:t>
            </a:r>
            <a:endParaRPr lang="en-GB" altLang="en-US" sz="2000">
              <a:latin typeface="Times New Roman" panose="02020603050405020304" pitchFamily="18" charset="0"/>
            </a:endParaRPr>
          </a:p>
        </p:txBody>
      </p:sp>
      <p:sp>
        <p:nvSpPr>
          <p:cNvPr id="69639" name="Oval 8"/>
          <p:cNvSpPr>
            <a:spLocks noChangeArrowheads="1"/>
          </p:cNvSpPr>
          <p:nvPr/>
        </p:nvSpPr>
        <p:spPr bwMode="auto">
          <a:xfrm>
            <a:off x="4038600" y="2278063"/>
            <a:ext cx="16764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Verdana" panose="020B0604030504040204" pitchFamily="34" charset="0"/>
            </a:endParaRPr>
          </a:p>
        </p:txBody>
      </p:sp>
      <p:sp>
        <p:nvSpPr>
          <p:cNvPr id="69640" name="Text Box 9"/>
          <p:cNvSpPr txBox="1">
            <a:spLocks noChangeArrowheads="1"/>
          </p:cNvSpPr>
          <p:nvPr/>
        </p:nvSpPr>
        <p:spPr bwMode="auto">
          <a:xfrm>
            <a:off x="2590800" y="30400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6,  2,  9,  12,  11,  9,  3,  7</a:t>
            </a:r>
            <a:endParaRPr lang="en-GB" altLang="en-US" sz="2000">
              <a:latin typeface="Times New Roman" panose="02020603050405020304" pitchFamily="18" charset="0"/>
            </a:endParaRPr>
          </a:p>
        </p:txBody>
      </p:sp>
      <p:sp>
        <p:nvSpPr>
          <p:cNvPr id="69641" name="Oval 10"/>
          <p:cNvSpPr>
            <a:spLocks noChangeArrowheads="1"/>
          </p:cNvSpPr>
          <p:nvPr/>
        </p:nvSpPr>
        <p:spPr bwMode="auto">
          <a:xfrm>
            <a:off x="4724400" y="3040063"/>
            <a:ext cx="16764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Verdana" panose="020B0604030504040204" pitchFamily="34" charset="0"/>
            </a:endParaRPr>
          </a:p>
        </p:txBody>
      </p:sp>
      <p:sp>
        <p:nvSpPr>
          <p:cNvPr id="69642" name="Text Box 11"/>
          <p:cNvSpPr txBox="1">
            <a:spLocks noChangeArrowheads="1"/>
          </p:cNvSpPr>
          <p:nvPr/>
        </p:nvSpPr>
        <p:spPr bwMode="auto">
          <a:xfrm>
            <a:off x="2590800" y="38020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6,  2,  9,  11,  12,  9,  3,  7</a:t>
            </a:r>
            <a:endParaRPr lang="en-GB" altLang="en-US" sz="2000">
              <a:latin typeface="Times New Roman" panose="02020603050405020304" pitchFamily="18" charset="0"/>
            </a:endParaRPr>
          </a:p>
        </p:txBody>
      </p:sp>
      <p:sp>
        <p:nvSpPr>
          <p:cNvPr id="69643" name="Oval 12"/>
          <p:cNvSpPr>
            <a:spLocks noChangeArrowheads="1"/>
          </p:cNvSpPr>
          <p:nvPr/>
        </p:nvSpPr>
        <p:spPr bwMode="auto">
          <a:xfrm>
            <a:off x="5638800" y="3802063"/>
            <a:ext cx="16764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Verdana" panose="020B0604030504040204" pitchFamily="34" charset="0"/>
            </a:endParaRPr>
          </a:p>
        </p:txBody>
      </p:sp>
      <p:sp>
        <p:nvSpPr>
          <p:cNvPr id="69644" name="Text Box 13"/>
          <p:cNvSpPr txBox="1">
            <a:spLocks noChangeArrowheads="1"/>
          </p:cNvSpPr>
          <p:nvPr/>
        </p:nvSpPr>
        <p:spPr bwMode="auto">
          <a:xfrm>
            <a:off x="2590800" y="45640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6,  2,  9,  11,  9,  12,  3,  7</a:t>
            </a:r>
            <a:endParaRPr lang="en-GB" altLang="en-US" sz="2000">
              <a:latin typeface="Times New Roman" panose="02020603050405020304" pitchFamily="18" charset="0"/>
            </a:endParaRPr>
          </a:p>
        </p:txBody>
      </p:sp>
      <p:sp>
        <p:nvSpPr>
          <p:cNvPr id="69645" name="Oval 14"/>
          <p:cNvSpPr>
            <a:spLocks noChangeArrowheads="1"/>
          </p:cNvSpPr>
          <p:nvPr/>
        </p:nvSpPr>
        <p:spPr bwMode="auto">
          <a:xfrm>
            <a:off x="6324600" y="4591050"/>
            <a:ext cx="16764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Verdana" panose="020B0604030504040204" pitchFamily="34" charset="0"/>
            </a:endParaRPr>
          </a:p>
        </p:txBody>
      </p:sp>
      <p:sp>
        <p:nvSpPr>
          <p:cNvPr id="69646" name="Text Box 15"/>
          <p:cNvSpPr txBox="1">
            <a:spLocks noChangeArrowheads="1"/>
          </p:cNvSpPr>
          <p:nvPr/>
        </p:nvSpPr>
        <p:spPr bwMode="auto">
          <a:xfrm>
            <a:off x="2590800" y="5249864"/>
            <a:ext cx="67056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6,  2,  9,  11,  9,  3,  12,  7</a:t>
            </a:r>
            <a:endParaRPr lang="en-GB" altLang="en-US" sz="2000">
              <a:latin typeface="Times New Roman" panose="02020603050405020304" pitchFamily="18" charset="0"/>
            </a:endParaRPr>
          </a:p>
        </p:txBody>
      </p:sp>
      <p:sp>
        <p:nvSpPr>
          <p:cNvPr id="69647" name="Oval 16"/>
          <p:cNvSpPr>
            <a:spLocks noChangeArrowheads="1"/>
          </p:cNvSpPr>
          <p:nvPr/>
        </p:nvSpPr>
        <p:spPr bwMode="auto">
          <a:xfrm>
            <a:off x="7010400" y="5249863"/>
            <a:ext cx="1676400" cy="762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Verdana" panose="020B0604030504040204" pitchFamily="34" charset="0"/>
            </a:endParaRPr>
          </a:p>
        </p:txBody>
      </p:sp>
      <p:sp>
        <p:nvSpPr>
          <p:cNvPr id="69648" name="Text Box 17"/>
          <p:cNvSpPr txBox="1">
            <a:spLocks noChangeArrowheads="1"/>
          </p:cNvSpPr>
          <p:nvPr/>
        </p:nvSpPr>
        <p:spPr bwMode="auto">
          <a:xfrm>
            <a:off x="2667000" y="6019800"/>
            <a:ext cx="67056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400">
                <a:latin typeface="Times New Roman" panose="02020603050405020304" pitchFamily="18" charset="0"/>
              </a:rPr>
              <a:t>6,  2,  9,  11,  9,  3,  7,  </a:t>
            </a:r>
            <a:r>
              <a:rPr lang="en-GB" altLang="en-US" sz="4400">
                <a:solidFill>
                  <a:srgbClr val="002060"/>
                </a:solidFill>
                <a:latin typeface="Times New Roman" panose="02020603050405020304" pitchFamily="18" charset="0"/>
              </a:rPr>
              <a:t>12</a:t>
            </a:r>
            <a:endParaRPr lang="en-GB" altLang="en-US" sz="2000">
              <a:solidFill>
                <a:srgbClr val="002060"/>
              </a:solidFill>
              <a:latin typeface="Times New Roman" panose="02020603050405020304" pitchFamily="18" charset="0"/>
            </a:endParaRPr>
          </a:p>
        </p:txBody>
      </p:sp>
      <p:sp>
        <p:nvSpPr>
          <p:cNvPr id="29" name="Rectangle 28">
            <a:extLst>
              <a:ext uri="{FF2B5EF4-FFF2-40B4-BE49-F238E27FC236}"/>
            </a:extLst>
          </p:cNvPr>
          <p:cNvSpPr/>
          <p:nvPr/>
        </p:nvSpPr>
        <p:spPr>
          <a:xfrm>
            <a:off x="6324600" y="239713"/>
            <a:ext cx="2757488" cy="431800"/>
          </a:xfrm>
          <a:prstGeom prst="rect">
            <a:avLst/>
          </a:prstGeom>
        </p:spPr>
        <p:txBody>
          <a:bodyPr wrap="none">
            <a:spAutoFit/>
          </a:bodyPr>
          <a:lstStyle/>
          <a:p>
            <a:pPr>
              <a:defRPr/>
            </a:pPr>
            <a:r>
              <a:rPr lang="en-US" altLang="en-US" sz="2200" dirty="0">
                <a:solidFill>
                  <a:srgbClr val="002060"/>
                </a:solidFill>
                <a:latin typeface="+mj-lt"/>
              </a:rPr>
              <a:t>Bubble Sort: Example  </a:t>
            </a:r>
            <a:endParaRPr lang="en-US" sz="2200" dirty="0">
              <a:solidFill>
                <a:srgbClr val="002060"/>
              </a:solidFill>
              <a:latin typeface="+mj-lt"/>
            </a:endParaRPr>
          </a:p>
        </p:txBody>
      </p:sp>
    </p:spTree>
    <p:extLst>
      <p:ext uri="{BB962C8B-B14F-4D97-AF65-F5344CB8AC3E}">
        <p14:creationId xmlns:p14="http://schemas.microsoft.com/office/powerpoint/2010/main" val="997382733"/>
      </p:ext>
    </p:extLst>
  </p:cSld>
  <p:clrMapOvr>
    <a:masterClrMapping/>
  </p:clrMapOvr>
  <p:transition advTm="6395"/>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Text Box 3"/>
          <p:cNvSpPr txBox="1">
            <a:spLocks noChangeArrowheads="1"/>
          </p:cNvSpPr>
          <p:nvPr/>
        </p:nvSpPr>
        <p:spPr bwMode="auto">
          <a:xfrm>
            <a:off x="3048000" y="19050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6,  2,  9,  11,  9,  3,  7,  12</a:t>
            </a:r>
            <a:endParaRPr lang="en-GB" altLang="en-US" sz="2400">
              <a:latin typeface="Times New Roman" panose="02020603050405020304" pitchFamily="18" charset="0"/>
            </a:endParaRPr>
          </a:p>
        </p:txBody>
      </p:sp>
      <p:sp>
        <p:nvSpPr>
          <p:cNvPr id="70659" name="Text Box 4"/>
          <p:cNvSpPr txBox="1">
            <a:spLocks noChangeArrowheads="1"/>
          </p:cNvSpPr>
          <p:nvPr/>
        </p:nvSpPr>
        <p:spPr bwMode="auto">
          <a:xfrm>
            <a:off x="3048000" y="19050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2,  6,  9,  11,  9,  3,  7,  12</a:t>
            </a:r>
            <a:endParaRPr lang="en-GB" altLang="en-US" sz="2400">
              <a:latin typeface="Times New Roman" panose="02020603050405020304" pitchFamily="18" charset="0"/>
            </a:endParaRPr>
          </a:p>
        </p:txBody>
      </p:sp>
      <p:sp>
        <p:nvSpPr>
          <p:cNvPr id="70660" name="Text Box 5"/>
          <p:cNvSpPr txBox="1">
            <a:spLocks noChangeArrowheads="1"/>
          </p:cNvSpPr>
          <p:nvPr/>
        </p:nvSpPr>
        <p:spPr bwMode="auto">
          <a:xfrm>
            <a:off x="3048000" y="19050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2,  6,  9,  9,  11,  3,  7,  12</a:t>
            </a:r>
            <a:endParaRPr lang="en-GB" altLang="en-US" sz="2400">
              <a:latin typeface="Times New Roman" panose="02020603050405020304" pitchFamily="18" charset="0"/>
            </a:endParaRPr>
          </a:p>
        </p:txBody>
      </p:sp>
      <p:sp>
        <p:nvSpPr>
          <p:cNvPr id="70661" name="Text Box 6"/>
          <p:cNvSpPr txBox="1">
            <a:spLocks noChangeArrowheads="1"/>
          </p:cNvSpPr>
          <p:nvPr/>
        </p:nvSpPr>
        <p:spPr bwMode="auto">
          <a:xfrm>
            <a:off x="3048000" y="19050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2,  6,  9,  9,  3,  11,  7,  12</a:t>
            </a:r>
            <a:endParaRPr lang="en-GB" altLang="en-US" sz="2400">
              <a:latin typeface="Times New Roman" panose="02020603050405020304" pitchFamily="18" charset="0"/>
            </a:endParaRPr>
          </a:p>
        </p:txBody>
      </p:sp>
      <p:sp>
        <p:nvSpPr>
          <p:cNvPr id="70662" name="Text Box 7"/>
          <p:cNvSpPr txBox="1">
            <a:spLocks noChangeArrowheads="1"/>
          </p:cNvSpPr>
          <p:nvPr/>
        </p:nvSpPr>
        <p:spPr bwMode="auto">
          <a:xfrm>
            <a:off x="3048000" y="19050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2,  6,  9,  9,  3,  7,  11,  12</a:t>
            </a:r>
            <a:endParaRPr lang="en-GB" altLang="en-US" sz="2400">
              <a:latin typeface="Times New Roman" panose="02020603050405020304" pitchFamily="18" charset="0"/>
            </a:endParaRPr>
          </a:p>
        </p:txBody>
      </p:sp>
      <p:sp>
        <p:nvSpPr>
          <p:cNvPr id="70663" name="Oval 8"/>
          <p:cNvSpPr>
            <a:spLocks noChangeArrowheads="1"/>
          </p:cNvSpPr>
          <p:nvPr/>
        </p:nvSpPr>
        <p:spPr bwMode="auto">
          <a:xfrm>
            <a:off x="2819400" y="1905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0664" name="Oval 9"/>
          <p:cNvSpPr>
            <a:spLocks noChangeArrowheads="1"/>
          </p:cNvSpPr>
          <p:nvPr/>
        </p:nvSpPr>
        <p:spPr bwMode="auto">
          <a:xfrm>
            <a:off x="3733800" y="1905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0665" name="Oval 10"/>
          <p:cNvSpPr>
            <a:spLocks noChangeArrowheads="1"/>
          </p:cNvSpPr>
          <p:nvPr/>
        </p:nvSpPr>
        <p:spPr bwMode="auto">
          <a:xfrm>
            <a:off x="4495800" y="1905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0666" name="Oval 11"/>
          <p:cNvSpPr>
            <a:spLocks noChangeArrowheads="1"/>
          </p:cNvSpPr>
          <p:nvPr/>
        </p:nvSpPr>
        <p:spPr bwMode="auto">
          <a:xfrm>
            <a:off x="5334000" y="1905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0667" name="Oval 12"/>
          <p:cNvSpPr>
            <a:spLocks noChangeArrowheads="1"/>
          </p:cNvSpPr>
          <p:nvPr/>
        </p:nvSpPr>
        <p:spPr bwMode="auto">
          <a:xfrm>
            <a:off x="6096000" y="1905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0668" name="Oval 13"/>
          <p:cNvSpPr>
            <a:spLocks noChangeArrowheads="1"/>
          </p:cNvSpPr>
          <p:nvPr/>
        </p:nvSpPr>
        <p:spPr bwMode="auto">
          <a:xfrm>
            <a:off x="6858000" y="1905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0669" name="Text Box 14"/>
          <p:cNvSpPr txBox="1">
            <a:spLocks noChangeArrowheads="1"/>
          </p:cNvSpPr>
          <p:nvPr/>
        </p:nvSpPr>
        <p:spPr bwMode="auto">
          <a:xfrm>
            <a:off x="3048000" y="990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6,  2,  9,  11,  9,  3,  7,  12</a:t>
            </a:r>
            <a:endParaRPr lang="en-GB" altLang="en-US" sz="2400">
              <a:latin typeface="Times New Roman" panose="02020603050405020304" pitchFamily="18" charset="0"/>
            </a:endParaRPr>
          </a:p>
        </p:txBody>
      </p:sp>
      <p:sp>
        <p:nvSpPr>
          <p:cNvPr id="70670" name="Comment 15"/>
          <p:cNvSpPr>
            <a:spLocks noChangeArrowheads="1"/>
          </p:cNvSpPr>
          <p:nvPr/>
        </p:nvSpPr>
        <p:spPr bwMode="auto">
          <a:xfrm>
            <a:off x="2667000" y="2895601"/>
            <a:ext cx="6781800" cy="83502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b="1">
                <a:solidFill>
                  <a:srgbClr val="000000"/>
                </a:solidFill>
                <a:latin typeface="Arial" panose="020B0604020202020204" pitchFamily="34" charset="0"/>
              </a:rPr>
              <a:t>Notice that this time we do not have to compare the last two numbers as we know the 12 is in position.  This pass therefore only requires 6 comparisons.</a:t>
            </a:r>
            <a:endParaRPr lang="en-GB" altLang="en-US" sz="1600">
              <a:solidFill>
                <a:srgbClr val="000000"/>
              </a:solidFill>
              <a:latin typeface="Arial" panose="020B0604020202020204" pitchFamily="34" charset="0"/>
            </a:endParaRPr>
          </a:p>
        </p:txBody>
      </p:sp>
      <p:sp>
        <p:nvSpPr>
          <p:cNvPr id="70671" name="Rectangle 16"/>
          <p:cNvSpPr>
            <a:spLocks noChangeArrowheads="1"/>
          </p:cNvSpPr>
          <p:nvPr/>
        </p:nvSpPr>
        <p:spPr bwMode="auto">
          <a:xfrm>
            <a:off x="1752600" y="914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400">
                <a:solidFill>
                  <a:schemeClr val="tx2"/>
                </a:solidFill>
                <a:latin typeface="Times New Roman" panose="02020603050405020304" pitchFamily="18" charset="0"/>
              </a:rPr>
              <a:t>First Pass</a:t>
            </a:r>
          </a:p>
        </p:txBody>
      </p:sp>
      <p:sp>
        <p:nvSpPr>
          <p:cNvPr id="70672" name="Rectangle 17"/>
          <p:cNvSpPr>
            <a:spLocks noChangeArrowheads="1"/>
          </p:cNvSpPr>
          <p:nvPr/>
        </p:nvSpPr>
        <p:spPr bwMode="auto">
          <a:xfrm>
            <a:off x="1524000" y="1676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Second Pass</a:t>
            </a:r>
          </a:p>
        </p:txBody>
      </p:sp>
      <p:sp>
        <p:nvSpPr>
          <p:cNvPr id="70673" name="Rectangle 2"/>
          <p:cNvSpPr>
            <a:spLocks noChangeArrowheads="1"/>
          </p:cNvSpPr>
          <p:nvPr/>
        </p:nvSpPr>
        <p:spPr bwMode="auto">
          <a:xfrm>
            <a:off x="7391401" y="228600"/>
            <a:ext cx="2887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a:t>
            </a:r>
          </a:p>
        </p:txBody>
      </p:sp>
    </p:spTree>
    <p:extLst>
      <p:ext uri="{BB962C8B-B14F-4D97-AF65-F5344CB8AC3E}">
        <p14:creationId xmlns:p14="http://schemas.microsoft.com/office/powerpoint/2010/main" val="30383178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Text Box 3"/>
          <p:cNvSpPr txBox="1">
            <a:spLocks noChangeArrowheads="1"/>
          </p:cNvSpPr>
          <p:nvPr/>
        </p:nvSpPr>
        <p:spPr bwMode="auto">
          <a:xfrm>
            <a:off x="3048000" y="27432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2,  6,  9,  9,  3,  7,  11,  12</a:t>
            </a:r>
            <a:endParaRPr lang="en-GB" altLang="en-US" sz="2400">
              <a:latin typeface="Times New Roman" panose="02020603050405020304" pitchFamily="18" charset="0"/>
            </a:endParaRPr>
          </a:p>
        </p:txBody>
      </p:sp>
      <p:sp>
        <p:nvSpPr>
          <p:cNvPr id="220164" name="Text Box 4"/>
          <p:cNvSpPr txBox="1">
            <a:spLocks noChangeArrowheads="1"/>
          </p:cNvSpPr>
          <p:nvPr/>
        </p:nvSpPr>
        <p:spPr bwMode="auto">
          <a:xfrm>
            <a:off x="3048000" y="27432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2,  6,  9,  3,  9,  7,  11,  12</a:t>
            </a:r>
            <a:endParaRPr lang="en-GB" altLang="en-US" sz="2400">
              <a:latin typeface="Times New Roman" panose="02020603050405020304" pitchFamily="18" charset="0"/>
            </a:endParaRPr>
          </a:p>
        </p:txBody>
      </p:sp>
      <p:sp>
        <p:nvSpPr>
          <p:cNvPr id="220165" name="Text Box 5"/>
          <p:cNvSpPr txBox="1">
            <a:spLocks noChangeArrowheads="1"/>
          </p:cNvSpPr>
          <p:nvPr/>
        </p:nvSpPr>
        <p:spPr bwMode="auto">
          <a:xfrm>
            <a:off x="3048000" y="27432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2,  6,  9,  3,  7,  9,  11,  12</a:t>
            </a:r>
            <a:endParaRPr lang="en-GB" altLang="en-US" sz="2400">
              <a:latin typeface="Times New Roman" panose="02020603050405020304" pitchFamily="18" charset="0"/>
            </a:endParaRPr>
          </a:p>
        </p:txBody>
      </p:sp>
      <p:sp>
        <p:nvSpPr>
          <p:cNvPr id="220166" name="Oval 6"/>
          <p:cNvSpPr>
            <a:spLocks noChangeArrowheads="1"/>
          </p:cNvSpPr>
          <p:nvPr/>
        </p:nvSpPr>
        <p:spPr bwMode="auto">
          <a:xfrm>
            <a:off x="2819400" y="27432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0167" name="Oval 7"/>
          <p:cNvSpPr>
            <a:spLocks noChangeArrowheads="1"/>
          </p:cNvSpPr>
          <p:nvPr/>
        </p:nvSpPr>
        <p:spPr bwMode="auto">
          <a:xfrm>
            <a:off x="3733800" y="27432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0168" name="Oval 8"/>
          <p:cNvSpPr>
            <a:spLocks noChangeArrowheads="1"/>
          </p:cNvSpPr>
          <p:nvPr/>
        </p:nvSpPr>
        <p:spPr bwMode="auto">
          <a:xfrm>
            <a:off x="4495800" y="27432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0169" name="Oval 9"/>
          <p:cNvSpPr>
            <a:spLocks noChangeArrowheads="1"/>
          </p:cNvSpPr>
          <p:nvPr/>
        </p:nvSpPr>
        <p:spPr bwMode="auto">
          <a:xfrm>
            <a:off x="5181600" y="27432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0170" name="Oval 10"/>
          <p:cNvSpPr>
            <a:spLocks noChangeArrowheads="1"/>
          </p:cNvSpPr>
          <p:nvPr/>
        </p:nvSpPr>
        <p:spPr bwMode="auto">
          <a:xfrm>
            <a:off x="5943600" y="27432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1690" name="Text Box 11"/>
          <p:cNvSpPr txBox="1">
            <a:spLocks noChangeArrowheads="1"/>
          </p:cNvSpPr>
          <p:nvPr/>
        </p:nvSpPr>
        <p:spPr bwMode="auto">
          <a:xfrm>
            <a:off x="3048000" y="990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6,  2,  9,  11,  9,  3,  7,  12</a:t>
            </a:r>
            <a:endParaRPr lang="en-GB" altLang="en-US" sz="2400">
              <a:latin typeface="Times New Roman" panose="02020603050405020304" pitchFamily="18" charset="0"/>
            </a:endParaRPr>
          </a:p>
        </p:txBody>
      </p:sp>
      <p:sp>
        <p:nvSpPr>
          <p:cNvPr id="71691" name="Text Box 12"/>
          <p:cNvSpPr txBox="1">
            <a:spLocks noChangeArrowheads="1"/>
          </p:cNvSpPr>
          <p:nvPr/>
        </p:nvSpPr>
        <p:spPr bwMode="auto">
          <a:xfrm>
            <a:off x="3048000" y="19050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2,  6,  9,  9,  3,  7,  11,  12</a:t>
            </a:r>
            <a:endParaRPr lang="en-GB" altLang="en-US" sz="2400">
              <a:latin typeface="Times New Roman" panose="02020603050405020304" pitchFamily="18" charset="0"/>
            </a:endParaRPr>
          </a:p>
        </p:txBody>
      </p:sp>
      <p:sp>
        <p:nvSpPr>
          <p:cNvPr id="71692" name="Rectangle 13"/>
          <p:cNvSpPr>
            <a:spLocks noChangeArrowheads="1"/>
          </p:cNvSpPr>
          <p:nvPr/>
        </p:nvSpPr>
        <p:spPr bwMode="auto">
          <a:xfrm>
            <a:off x="1524000" y="1676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Second Pass</a:t>
            </a:r>
          </a:p>
        </p:txBody>
      </p:sp>
      <p:sp>
        <p:nvSpPr>
          <p:cNvPr id="71693" name="Rectangle 14"/>
          <p:cNvSpPr>
            <a:spLocks noChangeArrowheads="1"/>
          </p:cNvSpPr>
          <p:nvPr/>
        </p:nvSpPr>
        <p:spPr bwMode="auto">
          <a:xfrm>
            <a:off x="1752600" y="914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400">
                <a:solidFill>
                  <a:schemeClr val="tx2"/>
                </a:solidFill>
                <a:latin typeface="Times New Roman" panose="02020603050405020304" pitchFamily="18" charset="0"/>
              </a:rPr>
              <a:t>First Pass</a:t>
            </a:r>
          </a:p>
        </p:txBody>
      </p:sp>
      <p:sp>
        <p:nvSpPr>
          <p:cNvPr id="71694" name="Rectangle 15"/>
          <p:cNvSpPr>
            <a:spLocks noChangeArrowheads="1"/>
          </p:cNvSpPr>
          <p:nvPr/>
        </p:nvSpPr>
        <p:spPr bwMode="auto">
          <a:xfrm>
            <a:off x="1524000" y="2438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Third Pass</a:t>
            </a:r>
          </a:p>
        </p:txBody>
      </p:sp>
      <p:sp>
        <p:nvSpPr>
          <p:cNvPr id="220176" name="Comment 16"/>
          <p:cNvSpPr>
            <a:spLocks noChangeArrowheads="1"/>
          </p:cNvSpPr>
          <p:nvPr/>
        </p:nvSpPr>
        <p:spPr bwMode="auto">
          <a:xfrm>
            <a:off x="2743200" y="3733800"/>
            <a:ext cx="6781800" cy="590550"/>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b="1">
                <a:solidFill>
                  <a:srgbClr val="000000"/>
                </a:solidFill>
                <a:latin typeface="Arial" panose="020B0604020202020204" pitchFamily="34" charset="0"/>
              </a:rPr>
              <a:t>This time the 11 and 12 are in position.  This pass therefore only requires 5 comparisons.</a:t>
            </a:r>
            <a:endParaRPr lang="en-GB" altLang="en-US" sz="1600">
              <a:solidFill>
                <a:srgbClr val="000000"/>
              </a:solidFill>
              <a:latin typeface="Arial" panose="020B0604020202020204" pitchFamily="34" charset="0"/>
            </a:endParaRPr>
          </a:p>
        </p:txBody>
      </p:sp>
      <p:sp>
        <p:nvSpPr>
          <p:cNvPr id="71696" name="Rectangle 17"/>
          <p:cNvSpPr>
            <a:spLocks noChangeArrowheads="1"/>
          </p:cNvSpPr>
          <p:nvPr/>
        </p:nvSpPr>
        <p:spPr bwMode="auto">
          <a:xfrm>
            <a:off x="7391401" y="228600"/>
            <a:ext cx="2887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a:t>
            </a:r>
          </a:p>
        </p:txBody>
      </p:sp>
    </p:spTree>
    <p:extLst>
      <p:ext uri="{BB962C8B-B14F-4D97-AF65-F5344CB8AC3E}">
        <p14:creationId xmlns:p14="http://schemas.microsoft.com/office/powerpoint/2010/main" val="13581209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0166"/>
                                        </p:tgtEl>
                                        <p:attrNameLst>
                                          <p:attrName>style.visibility</p:attrName>
                                        </p:attrNameLst>
                                      </p:cBhvr>
                                      <p:to>
                                        <p:strVal val="visible"/>
                                      </p:to>
                                    </p:set>
                                    <p:anim calcmode="lin" valueType="num">
                                      <p:cBhvr>
                                        <p:cTn id="7" dur="500" fill="hold"/>
                                        <p:tgtEl>
                                          <p:spTgt spid="220166"/>
                                        </p:tgtEl>
                                        <p:attrNameLst>
                                          <p:attrName>ppt_w</p:attrName>
                                        </p:attrNameLst>
                                      </p:cBhvr>
                                      <p:tavLst>
                                        <p:tav tm="0">
                                          <p:val>
                                            <p:fltVal val="0"/>
                                          </p:val>
                                        </p:tav>
                                        <p:tav tm="100000">
                                          <p:val>
                                            <p:strVal val="#ppt_w"/>
                                          </p:val>
                                        </p:tav>
                                      </p:tavLst>
                                    </p:anim>
                                    <p:anim calcmode="lin" valueType="num">
                                      <p:cBhvr>
                                        <p:cTn id="8" dur="500" fill="hold"/>
                                        <p:tgtEl>
                                          <p:spTgt spid="22016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0166"/>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20167"/>
                                        </p:tgtEl>
                                        <p:attrNameLst>
                                          <p:attrName>style.visibility</p:attrName>
                                        </p:attrNameLst>
                                      </p:cBhvr>
                                      <p:to>
                                        <p:strVal val="visible"/>
                                      </p:to>
                                    </p:set>
                                    <p:anim calcmode="lin" valueType="num">
                                      <p:cBhvr>
                                        <p:cTn id="13" dur="500" fill="hold"/>
                                        <p:tgtEl>
                                          <p:spTgt spid="220167"/>
                                        </p:tgtEl>
                                        <p:attrNameLst>
                                          <p:attrName>ppt_w</p:attrName>
                                        </p:attrNameLst>
                                      </p:cBhvr>
                                      <p:tavLst>
                                        <p:tav tm="0">
                                          <p:val>
                                            <p:fltVal val="0"/>
                                          </p:val>
                                        </p:tav>
                                        <p:tav tm="100000">
                                          <p:val>
                                            <p:strVal val="#ppt_w"/>
                                          </p:val>
                                        </p:tav>
                                      </p:tavLst>
                                    </p:anim>
                                    <p:anim calcmode="lin" valueType="num">
                                      <p:cBhvr>
                                        <p:cTn id="14" dur="500" fill="hold"/>
                                        <p:tgtEl>
                                          <p:spTgt spid="22016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0167"/>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20168"/>
                                        </p:tgtEl>
                                        <p:attrNameLst>
                                          <p:attrName>style.visibility</p:attrName>
                                        </p:attrNameLst>
                                      </p:cBhvr>
                                      <p:to>
                                        <p:strVal val="visible"/>
                                      </p:to>
                                    </p:set>
                                    <p:anim calcmode="lin" valueType="num">
                                      <p:cBhvr>
                                        <p:cTn id="19" dur="500" fill="hold"/>
                                        <p:tgtEl>
                                          <p:spTgt spid="220168"/>
                                        </p:tgtEl>
                                        <p:attrNameLst>
                                          <p:attrName>ppt_w</p:attrName>
                                        </p:attrNameLst>
                                      </p:cBhvr>
                                      <p:tavLst>
                                        <p:tav tm="0">
                                          <p:val>
                                            <p:fltVal val="0"/>
                                          </p:val>
                                        </p:tav>
                                        <p:tav tm="100000">
                                          <p:val>
                                            <p:strVal val="#ppt_w"/>
                                          </p:val>
                                        </p:tav>
                                      </p:tavLst>
                                    </p:anim>
                                    <p:anim calcmode="lin" valueType="num">
                                      <p:cBhvr>
                                        <p:cTn id="20" dur="500" fill="hold"/>
                                        <p:tgtEl>
                                          <p:spTgt spid="220168"/>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0168"/>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220169"/>
                                        </p:tgtEl>
                                        <p:attrNameLst>
                                          <p:attrName>style.visibility</p:attrName>
                                        </p:attrNameLst>
                                      </p:cBhvr>
                                      <p:to>
                                        <p:strVal val="visible"/>
                                      </p:to>
                                    </p:set>
                                    <p:anim calcmode="lin" valueType="num">
                                      <p:cBhvr>
                                        <p:cTn id="25" dur="500" fill="hold"/>
                                        <p:tgtEl>
                                          <p:spTgt spid="220169"/>
                                        </p:tgtEl>
                                        <p:attrNameLst>
                                          <p:attrName>ppt_w</p:attrName>
                                        </p:attrNameLst>
                                      </p:cBhvr>
                                      <p:tavLst>
                                        <p:tav tm="0">
                                          <p:val>
                                            <p:fltVal val="0"/>
                                          </p:val>
                                        </p:tav>
                                        <p:tav tm="100000">
                                          <p:val>
                                            <p:strVal val="#ppt_w"/>
                                          </p:val>
                                        </p:tav>
                                      </p:tavLst>
                                    </p:anim>
                                    <p:anim calcmode="lin" valueType="num">
                                      <p:cBhvr>
                                        <p:cTn id="26" dur="500" fill="hold"/>
                                        <p:tgtEl>
                                          <p:spTgt spid="22016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0169"/>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0164"/>
                                        </p:tgtEl>
                                        <p:attrNameLst>
                                          <p:attrName>style.visibility</p:attrName>
                                        </p:attrNameLst>
                                      </p:cBhvr>
                                      <p:to>
                                        <p:strVal val="visible"/>
                                      </p:to>
                                    </p:set>
                                  </p:childTnLst>
                                </p:cTn>
                              </p:par>
                            </p:childTnLst>
                          </p:cTn>
                        </p:par>
                        <p:par>
                          <p:cTn id="31" fill="hold" nodeType="afterGroup">
                            <p:stCondLst>
                              <p:cond delay="500"/>
                            </p:stCondLst>
                            <p:childTnLst>
                              <p:par>
                                <p:cTn id="32" presetID="17" presetClass="entr" presetSubtype="10" fill="hold" grpId="0" nodeType="afterEffect">
                                  <p:stCondLst>
                                    <p:cond delay="0"/>
                                  </p:stCondLst>
                                  <p:childTnLst>
                                    <p:set>
                                      <p:cBhvr>
                                        <p:cTn id="33" dur="1" fill="hold">
                                          <p:stCondLst>
                                            <p:cond delay="0"/>
                                          </p:stCondLst>
                                        </p:cTn>
                                        <p:tgtEl>
                                          <p:spTgt spid="220170"/>
                                        </p:tgtEl>
                                        <p:attrNameLst>
                                          <p:attrName>style.visibility</p:attrName>
                                        </p:attrNameLst>
                                      </p:cBhvr>
                                      <p:to>
                                        <p:strVal val="visible"/>
                                      </p:to>
                                    </p:set>
                                    <p:anim calcmode="lin" valueType="num">
                                      <p:cBhvr>
                                        <p:cTn id="34" dur="500" fill="hold"/>
                                        <p:tgtEl>
                                          <p:spTgt spid="220170"/>
                                        </p:tgtEl>
                                        <p:attrNameLst>
                                          <p:attrName>ppt_w</p:attrName>
                                        </p:attrNameLst>
                                      </p:cBhvr>
                                      <p:tavLst>
                                        <p:tav tm="0">
                                          <p:val>
                                            <p:fltVal val="0"/>
                                          </p:val>
                                        </p:tav>
                                        <p:tav tm="100000">
                                          <p:val>
                                            <p:strVal val="#ppt_w"/>
                                          </p:val>
                                        </p:tav>
                                      </p:tavLst>
                                    </p:anim>
                                    <p:anim calcmode="lin" valueType="num">
                                      <p:cBhvr>
                                        <p:cTn id="35" dur="500" fill="hold"/>
                                        <p:tgtEl>
                                          <p:spTgt spid="22017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0170"/>
                                        </p:tgtEl>
                                        <p:attrNameLst>
                                          <p:attrName>style.visibility</p:attrName>
                                        </p:attrNameLst>
                                      </p:cBhvr>
                                      <p:to>
                                        <p:strVal val="hidden"/>
                                      </p:to>
                                    </p:set>
                                  </p:sub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220165"/>
                                        </p:tgtEl>
                                        <p:attrNameLst>
                                          <p:attrName>style.visibility</p:attrName>
                                        </p:attrNameLst>
                                      </p:cBhvr>
                                      <p:to>
                                        <p:strVal val="visible"/>
                                      </p:to>
                                    </p:set>
                                  </p:childTnLst>
                                </p:cTn>
                              </p:par>
                            </p:childTnLst>
                          </p:cTn>
                        </p:par>
                        <p:par>
                          <p:cTn id="40" fill="hold" nodeType="afterGroup">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220176"/>
                                        </p:tgtEl>
                                        <p:attrNameLst>
                                          <p:attrName>style.visibility</p:attrName>
                                        </p:attrNameLst>
                                      </p:cBhvr>
                                      <p:to>
                                        <p:strVal val="visible"/>
                                      </p:to>
                                    </p:set>
                                  </p:childTnLst>
                                  <p:subTnLst>
                                    <p:set>
                                      <p:cBhvr override="childStyle">
                                        <p:cTn dur="1" fill="hold" display="0" masterRel="nextClick" afterEffect="1"/>
                                        <p:tgtEl>
                                          <p:spTgt spid="22017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4" grpId="0" animBg="1" autoUpdateAnimBg="0"/>
      <p:bldP spid="220165" grpId="0" animBg="1" autoUpdateAnimBg="0"/>
      <p:bldP spid="220166" grpId="0" animBg="1"/>
      <p:bldP spid="220167" grpId="0" animBg="1"/>
      <p:bldP spid="220168" grpId="0" animBg="1"/>
      <p:bldP spid="220169" grpId="0" animBg="1"/>
      <p:bldP spid="220170" grpId="0" animBg="1"/>
      <p:bldP spid="220176"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Text Box 3"/>
          <p:cNvSpPr txBox="1">
            <a:spLocks noChangeArrowheads="1"/>
          </p:cNvSpPr>
          <p:nvPr/>
        </p:nvSpPr>
        <p:spPr bwMode="auto">
          <a:xfrm>
            <a:off x="3048000" y="35814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2,  6,  9,  3,  7,  9,  11,  12</a:t>
            </a:r>
            <a:endParaRPr lang="en-GB" altLang="en-US" sz="2400">
              <a:latin typeface="Times New Roman" panose="02020603050405020304" pitchFamily="18" charset="0"/>
            </a:endParaRPr>
          </a:p>
        </p:txBody>
      </p:sp>
      <p:sp>
        <p:nvSpPr>
          <p:cNvPr id="221188" name="Text Box 4"/>
          <p:cNvSpPr txBox="1">
            <a:spLocks noChangeArrowheads="1"/>
          </p:cNvSpPr>
          <p:nvPr/>
        </p:nvSpPr>
        <p:spPr bwMode="auto">
          <a:xfrm>
            <a:off x="3048000" y="35814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2,  6,  3,  9,  7,  9,  11,  12</a:t>
            </a:r>
            <a:endParaRPr lang="en-GB" altLang="en-US" sz="2400">
              <a:latin typeface="Times New Roman" panose="02020603050405020304" pitchFamily="18" charset="0"/>
            </a:endParaRPr>
          </a:p>
        </p:txBody>
      </p:sp>
      <p:sp>
        <p:nvSpPr>
          <p:cNvPr id="221189" name="Text Box 5"/>
          <p:cNvSpPr txBox="1">
            <a:spLocks noChangeArrowheads="1"/>
          </p:cNvSpPr>
          <p:nvPr/>
        </p:nvSpPr>
        <p:spPr bwMode="auto">
          <a:xfrm>
            <a:off x="3048000" y="35814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2,  6,  3,  7,  9,  9,  11,  12</a:t>
            </a:r>
            <a:endParaRPr lang="en-GB" altLang="en-US" sz="2400">
              <a:latin typeface="Times New Roman" panose="02020603050405020304" pitchFamily="18" charset="0"/>
            </a:endParaRPr>
          </a:p>
        </p:txBody>
      </p:sp>
      <p:sp>
        <p:nvSpPr>
          <p:cNvPr id="221190" name="Oval 6"/>
          <p:cNvSpPr>
            <a:spLocks noChangeArrowheads="1"/>
          </p:cNvSpPr>
          <p:nvPr/>
        </p:nvSpPr>
        <p:spPr bwMode="auto">
          <a:xfrm>
            <a:off x="2819400" y="35814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1191" name="Oval 7"/>
          <p:cNvSpPr>
            <a:spLocks noChangeArrowheads="1"/>
          </p:cNvSpPr>
          <p:nvPr/>
        </p:nvSpPr>
        <p:spPr bwMode="auto">
          <a:xfrm>
            <a:off x="3733800" y="35814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1192" name="Oval 8"/>
          <p:cNvSpPr>
            <a:spLocks noChangeArrowheads="1"/>
          </p:cNvSpPr>
          <p:nvPr/>
        </p:nvSpPr>
        <p:spPr bwMode="auto">
          <a:xfrm>
            <a:off x="4495800" y="35814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1193" name="Oval 9"/>
          <p:cNvSpPr>
            <a:spLocks noChangeArrowheads="1"/>
          </p:cNvSpPr>
          <p:nvPr/>
        </p:nvSpPr>
        <p:spPr bwMode="auto">
          <a:xfrm>
            <a:off x="5181600" y="35814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2713" name="Text Box 10"/>
          <p:cNvSpPr txBox="1">
            <a:spLocks noChangeArrowheads="1"/>
          </p:cNvSpPr>
          <p:nvPr/>
        </p:nvSpPr>
        <p:spPr bwMode="auto">
          <a:xfrm>
            <a:off x="3048000" y="990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6,  2,  9,  11,  9,  3,  7,  12</a:t>
            </a:r>
            <a:endParaRPr lang="en-GB" altLang="en-US" sz="2400">
              <a:latin typeface="Times New Roman" panose="02020603050405020304" pitchFamily="18" charset="0"/>
            </a:endParaRPr>
          </a:p>
        </p:txBody>
      </p:sp>
      <p:sp>
        <p:nvSpPr>
          <p:cNvPr id="72714" name="Text Box 11"/>
          <p:cNvSpPr txBox="1">
            <a:spLocks noChangeArrowheads="1"/>
          </p:cNvSpPr>
          <p:nvPr/>
        </p:nvSpPr>
        <p:spPr bwMode="auto">
          <a:xfrm>
            <a:off x="3048000" y="19050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2,  6,  9,  9,  3,  7,  11,  12</a:t>
            </a:r>
            <a:endParaRPr lang="en-GB" altLang="en-US" sz="2400">
              <a:latin typeface="Times New Roman" panose="02020603050405020304" pitchFamily="18" charset="0"/>
            </a:endParaRPr>
          </a:p>
        </p:txBody>
      </p:sp>
      <p:sp>
        <p:nvSpPr>
          <p:cNvPr id="72715" name="Rectangle 12"/>
          <p:cNvSpPr>
            <a:spLocks noChangeArrowheads="1"/>
          </p:cNvSpPr>
          <p:nvPr/>
        </p:nvSpPr>
        <p:spPr bwMode="auto">
          <a:xfrm>
            <a:off x="1524000" y="1676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Second Pass</a:t>
            </a:r>
          </a:p>
        </p:txBody>
      </p:sp>
      <p:sp>
        <p:nvSpPr>
          <p:cNvPr id="72716" name="Rectangle 13"/>
          <p:cNvSpPr>
            <a:spLocks noChangeArrowheads="1"/>
          </p:cNvSpPr>
          <p:nvPr/>
        </p:nvSpPr>
        <p:spPr bwMode="auto">
          <a:xfrm>
            <a:off x="1752600" y="914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400">
                <a:solidFill>
                  <a:schemeClr val="tx2"/>
                </a:solidFill>
                <a:latin typeface="Times New Roman" panose="02020603050405020304" pitchFamily="18" charset="0"/>
              </a:rPr>
              <a:t>First Pass</a:t>
            </a:r>
          </a:p>
        </p:txBody>
      </p:sp>
      <p:sp>
        <p:nvSpPr>
          <p:cNvPr id="72717" name="Rectangle 14"/>
          <p:cNvSpPr>
            <a:spLocks noChangeArrowheads="1"/>
          </p:cNvSpPr>
          <p:nvPr/>
        </p:nvSpPr>
        <p:spPr bwMode="auto">
          <a:xfrm>
            <a:off x="1524000" y="2438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Third Pass</a:t>
            </a:r>
          </a:p>
        </p:txBody>
      </p:sp>
      <p:sp>
        <p:nvSpPr>
          <p:cNvPr id="221199" name="Comment 15"/>
          <p:cNvSpPr>
            <a:spLocks noChangeArrowheads="1"/>
          </p:cNvSpPr>
          <p:nvPr/>
        </p:nvSpPr>
        <p:spPr bwMode="auto">
          <a:xfrm>
            <a:off x="2819400" y="4572001"/>
            <a:ext cx="7010400" cy="34607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b="1">
                <a:solidFill>
                  <a:srgbClr val="000000"/>
                </a:solidFill>
                <a:latin typeface="Arial" panose="020B0604020202020204" pitchFamily="34" charset="0"/>
              </a:rPr>
              <a:t>Each pass requires fewer comparisons.  This time only 4 are needed.</a:t>
            </a:r>
            <a:endParaRPr lang="en-GB" altLang="en-US" sz="1600">
              <a:solidFill>
                <a:srgbClr val="000000"/>
              </a:solidFill>
              <a:latin typeface="Arial" panose="020B0604020202020204" pitchFamily="34" charset="0"/>
            </a:endParaRPr>
          </a:p>
        </p:txBody>
      </p:sp>
      <p:sp>
        <p:nvSpPr>
          <p:cNvPr id="72719" name="Text Box 16"/>
          <p:cNvSpPr txBox="1">
            <a:spLocks noChangeArrowheads="1"/>
          </p:cNvSpPr>
          <p:nvPr/>
        </p:nvSpPr>
        <p:spPr bwMode="auto">
          <a:xfrm>
            <a:off x="3048000" y="27432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2,  6,  9,  3,  7,  9,  11,  12</a:t>
            </a:r>
            <a:endParaRPr lang="en-GB" altLang="en-US" sz="2400">
              <a:latin typeface="Times New Roman" panose="02020603050405020304" pitchFamily="18" charset="0"/>
            </a:endParaRPr>
          </a:p>
        </p:txBody>
      </p:sp>
      <p:sp>
        <p:nvSpPr>
          <p:cNvPr id="72720" name="Rectangle 17"/>
          <p:cNvSpPr>
            <a:spLocks noChangeArrowheads="1"/>
          </p:cNvSpPr>
          <p:nvPr/>
        </p:nvSpPr>
        <p:spPr bwMode="auto">
          <a:xfrm>
            <a:off x="1524000" y="3200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Fourth Pass</a:t>
            </a:r>
          </a:p>
        </p:txBody>
      </p:sp>
      <p:sp>
        <p:nvSpPr>
          <p:cNvPr id="72721" name="Rectangle 18"/>
          <p:cNvSpPr>
            <a:spLocks noChangeArrowheads="1"/>
          </p:cNvSpPr>
          <p:nvPr/>
        </p:nvSpPr>
        <p:spPr bwMode="auto">
          <a:xfrm>
            <a:off x="7391401" y="228600"/>
            <a:ext cx="2887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a:t>
            </a:r>
          </a:p>
        </p:txBody>
      </p:sp>
    </p:spTree>
    <p:extLst>
      <p:ext uri="{BB962C8B-B14F-4D97-AF65-F5344CB8AC3E}">
        <p14:creationId xmlns:p14="http://schemas.microsoft.com/office/powerpoint/2010/main" val="1257777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1190"/>
                                        </p:tgtEl>
                                        <p:attrNameLst>
                                          <p:attrName>style.visibility</p:attrName>
                                        </p:attrNameLst>
                                      </p:cBhvr>
                                      <p:to>
                                        <p:strVal val="visible"/>
                                      </p:to>
                                    </p:set>
                                    <p:anim calcmode="lin" valueType="num">
                                      <p:cBhvr>
                                        <p:cTn id="7" dur="500" fill="hold"/>
                                        <p:tgtEl>
                                          <p:spTgt spid="221190"/>
                                        </p:tgtEl>
                                        <p:attrNameLst>
                                          <p:attrName>ppt_w</p:attrName>
                                        </p:attrNameLst>
                                      </p:cBhvr>
                                      <p:tavLst>
                                        <p:tav tm="0">
                                          <p:val>
                                            <p:fltVal val="0"/>
                                          </p:val>
                                        </p:tav>
                                        <p:tav tm="100000">
                                          <p:val>
                                            <p:strVal val="#ppt_w"/>
                                          </p:val>
                                        </p:tav>
                                      </p:tavLst>
                                    </p:anim>
                                    <p:anim calcmode="lin" valueType="num">
                                      <p:cBhvr>
                                        <p:cTn id="8" dur="500" fill="hold"/>
                                        <p:tgtEl>
                                          <p:spTgt spid="22119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1190"/>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21191"/>
                                        </p:tgtEl>
                                        <p:attrNameLst>
                                          <p:attrName>style.visibility</p:attrName>
                                        </p:attrNameLst>
                                      </p:cBhvr>
                                      <p:to>
                                        <p:strVal val="visible"/>
                                      </p:to>
                                    </p:set>
                                    <p:anim calcmode="lin" valueType="num">
                                      <p:cBhvr>
                                        <p:cTn id="13" dur="500" fill="hold"/>
                                        <p:tgtEl>
                                          <p:spTgt spid="221191"/>
                                        </p:tgtEl>
                                        <p:attrNameLst>
                                          <p:attrName>ppt_w</p:attrName>
                                        </p:attrNameLst>
                                      </p:cBhvr>
                                      <p:tavLst>
                                        <p:tav tm="0">
                                          <p:val>
                                            <p:fltVal val="0"/>
                                          </p:val>
                                        </p:tav>
                                        <p:tav tm="100000">
                                          <p:val>
                                            <p:strVal val="#ppt_w"/>
                                          </p:val>
                                        </p:tav>
                                      </p:tavLst>
                                    </p:anim>
                                    <p:anim calcmode="lin" valueType="num">
                                      <p:cBhvr>
                                        <p:cTn id="14" dur="500" fill="hold"/>
                                        <p:tgtEl>
                                          <p:spTgt spid="221191"/>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119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21192"/>
                                        </p:tgtEl>
                                        <p:attrNameLst>
                                          <p:attrName>style.visibility</p:attrName>
                                        </p:attrNameLst>
                                      </p:cBhvr>
                                      <p:to>
                                        <p:strVal val="visible"/>
                                      </p:to>
                                    </p:set>
                                    <p:anim calcmode="lin" valueType="num">
                                      <p:cBhvr>
                                        <p:cTn id="19" dur="500" fill="hold"/>
                                        <p:tgtEl>
                                          <p:spTgt spid="221192"/>
                                        </p:tgtEl>
                                        <p:attrNameLst>
                                          <p:attrName>ppt_w</p:attrName>
                                        </p:attrNameLst>
                                      </p:cBhvr>
                                      <p:tavLst>
                                        <p:tav tm="0">
                                          <p:val>
                                            <p:fltVal val="0"/>
                                          </p:val>
                                        </p:tav>
                                        <p:tav tm="100000">
                                          <p:val>
                                            <p:strVal val="#ppt_w"/>
                                          </p:val>
                                        </p:tav>
                                      </p:tavLst>
                                    </p:anim>
                                    <p:anim calcmode="lin" valueType="num">
                                      <p:cBhvr>
                                        <p:cTn id="20" dur="500" fill="hold"/>
                                        <p:tgtEl>
                                          <p:spTgt spid="221192"/>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1192"/>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21188"/>
                                        </p:tgtEl>
                                        <p:attrNameLst>
                                          <p:attrName>style.visibility</p:attrName>
                                        </p:attrNameLst>
                                      </p:cBhvr>
                                      <p:to>
                                        <p:strVal val="visible"/>
                                      </p:to>
                                    </p:set>
                                  </p:childTnLst>
                                </p:cTn>
                              </p:par>
                            </p:childTnLst>
                          </p:cTn>
                        </p:par>
                        <p:par>
                          <p:cTn id="25" fill="hold" nodeType="afterGroup">
                            <p:stCondLst>
                              <p:cond delay="500"/>
                            </p:stCondLst>
                            <p:childTnLst>
                              <p:par>
                                <p:cTn id="26" presetID="17" presetClass="entr" presetSubtype="10" fill="hold" grpId="0" nodeType="afterEffect">
                                  <p:stCondLst>
                                    <p:cond delay="0"/>
                                  </p:stCondLst>
                                  <p:childTnLst>
                                    <p:set>
                                      <p:cBhvr>
                                        <p:cTn id="27" dur="1" fill="hold">
                                          <p:stCondLst>
                                            <p:cond delay="0"/>
                                          </p:stCondLst>
                                        </p:cTn>
                                        <p:tgtEl>
                                          <p:spTgt spid="221193"/>
                                        </p:tgtEl>
                                        <p:attrNameLst>
                                          <p:attrName>style.visibility</p:attrName>
                                        </p:attrNameLst>
                                      </p:cBhvr>
                                      <p:to>
                                        <p:strVal val="visible"/>
                                      </p:to>
                                    </p:set>
                                    <p:anim calcmode="lin" valueType="num">
                                      <p:cBhvr>
                                        <p:cTn id="28" dur="500" fill="hold"/>
                                        <p:tgtEl>
                                          <p:spTgt spid="221193"/>
                                        </p:tgtEl>
                                        <p:attrNameLst>
                                          <p:attrName>ppt_w</p:attrName>
                                        </p:attrNameLst>
                                      </p:cBhvr>
                                      <p:tavLst>
                                        <p:tav tm="0">
                                          <p:val>
                                            <p:fltVal val="0"/>
                                          </p:val>
                                        </p:tav>
                                        <p:tav tm="100000">
                                          <p:val>
                                            <p:strVal val="#ppt_w"/>
                                          </p:val>
                                        </p:tav>
                                      </p:tavLst>
                                    </p:anim>
                                    <p:anim calcmode="lin" valueType="num">
                                      <p:cBhvr>
                                        <p:cTn id="29" dur="500" fill="hold"/>
                                        <p:tgtEl>
                                          <p:spTgt spid="22119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1193"/>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221189"/>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221199"/>
                                        </p:tgtEl>
                                        <p:attrNameLst>
                                          <p:attrName>style.visibility</p:attrName>
                                        </p:attrNameLst>
                                      </p:cBhvr>
                                      <p:to>
                                        <p:strVal val="visible"/>
                                      </p:to>
                                    </p:set>
                                  </p:childTnLst>
                                  <p:subTnLst>
                                    <p:set>
                                      <p:cBhvr override="childStyle">
                                        <p:cTn dur="1" fill="hold" display="0" masterRel="nextClick" afterEffect="1"/>
                                        <p:tgtEl>
                                          <p:spTgt spid="22119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nimBg="1" autoUpdateAnimBg="0"/>
      <p:bldP spid="221189" grpId="0" animBg="1" autoUpdateAnimBg="0"/>
      <p:bldP spid="221190" grpId="0" animBg="1"/>
      <p:bldP spid="221191" grpId="0" animBg="1"/>
      <p:bldP spid="221192" grpId="0" animBg="1"/>
      <p:bldP spid="221193" grpId="0" animBg="1"/>
      <p:bldP spid="221199"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Text Box 3"/>
          <p:cNvSpPr txBox="1">
            <a:spLocks noChangeArrowheads="1"/>
          </p:cNvSpPr>
          <p:nvPr/>
        </p:nvSpPr>
        <p:spPr bwMode="auto">
          <a:xfrm>
            <a:off x="3048000" y="4419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2,  6,  3,  7,  9,  9,  11,  12</a:t>
            </a:r>
            <a:endParaRPr lang="en-GB" altLang="en-US" sz="2400">
              <a:latin typeface="Times New Roman" panose="02020603050405020304" pitchFamily="18" charset="0"/>
            </a:endParaRPr>
          </a:p>
        </p:txBody>
      </p:sp>
      <p:sp>
        <p:nvSpPr>
          <p:cNvPr id="222212" name="Text Box 4"/>
          <p:cNvSpPr txBox="1">
            <a:spLocks noChangeArrowheads="1"/>
          </p:cNvSpPr>
          <p:nvPr/>
        </p:nvSpPr>
        <p:spPr bwMode="auto">
          <a:xfrm>
            <a:off x="3048000" y="4419601"/>
            <a:ext cx="6705600"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2,  3,  6,  7,  9,  9,  11,  12</a:t>
            </a:r>
            <a:endParaRPr lang="en-GB" altLang="en-US" sz="2400">
              <a:latin typeface="Times New Roman" panose="02020603050405020304" pitchFamily="18" charset="0"/>
            </a:endParaRPr>
          </a:p>
        </p:txBody>
      </p:sp>
      <p:sp>
        <p:nvSpPr>
          <p:cNvPr id="222213" name="Oval 5"/>
          <p:cNvSpPr>
            <a:spLocks noChangeArrowheads="1"/>
          </p:cNvSpPr>
          <p:nvPr/>
        </p:nvSpPr>
        <p:spPr bwMode="auto">
          <a:xfrm>
            <a:off x="2819400" y="44196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2214" name="Oval 6"/>
          <p:cNvSpPr>
            <a:spLocks noChangeArrowheads="1"/>
          </p:cNvSpPr>
          <p:nvPr/>
        </p:nvSpPr>
        <p:spPr bwMode="auto">
          <a:xfrm>
            <a:off x="3657600" y="44196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2215" name="Oval 7"/>
          <p:cNvSpPr>
            <a:spLocks noChangeArrowheads="1"/>
          </p:cNvSpPr>
          <p:nvPr/>
        </p:nvSpPr>
        <p:spPr bwMode="auto">
          <a:xfrm>
            <a:off x="4495800" y="44196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3735" name="Text Box 8"/>
          <p:cNvSpPr txBox="1">
            <a:spLocks noChangeArrowheads="1"/>
          </p:cNvSpPr>
          <p:nvPr/>
        </p:nvSpPr>
        <p:spPr bwMode="auto">
          <a:xfrm>
            <a:off x="3048000" y="990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6,  2,  9,  11,  9,  3,  7,  12</a:t>
            </a:r>
            <a:endParaRPr lang="en-GB" altLang="en-US" sz="2400">
              <a:latin typeface="Times New Roman" panose="02020603050405020304" pitchFamily="18" charset="0"/>
            </a:endParaRPr>
          </a:p>
        </p:txBody>
      </p:sp>
      <p:sp>
        <p:nvSpPr>
          <p:cNvPr id="73736" name="Text Box 9"/>
          <p:cNvSpPr txBox="1">
            <a:spLocks noChangeArrowheads="1"/>
          </p:cNvSpPr>
          <p:nvPr/>
        </p:nvSpPr>
        <p:spPr bwMode="auto">
          <a:xfrm>
            <a:off x="3048000" y="19050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2,  6,  9,  9,  3,  7,  11,  12</a:t>
            </a:r>
            <a:endParaRPr lang="en-GB" altLang="en-US" sz="2400">
              <a:latin typeface="Times New Roman" panose="02020603050405020304" pitchFamily="18" charset="0"/>
            </a:endParaRPr>
          </a:p>
        </p:txBody>
      </p:sp>
      <p:sp>
        <p:nvSpPr>
          <p:cNvPr id="73737" name="Rectangle 10"/>
          <p:cNvSpPr>
            <a:spLocks noChangeArrowheads="1"/>
          </p:cNvSpPr>
          <p:nvPr/>
        </p:nvSpPr>
        <p:spPr bwMode="auto">
          <a:xfrm>
            <a:off x="1524000" y="1676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Second Pass</a:t>
            </a:r>
          </a:p>
        </p:txBody>
      </p:sp>
      <p:sp>
        <p:nvSpPr>
          <p:cNvPr id="73738" name="Rectangle 11"/>
          <p:cNvSpPr>
            <a:spLocks noChangeArrowheads="1"/>
          </p:cNvSpPr>
          <p:nvPr/>
        </p:nvSpPr>
        <p:spPr bwMode="auto">
          <a:xfrm>
            <a:off x="1752600" y="914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400">
                <a:solidFill>
                  <a:schemeClr val="tx2"/>
                </a:solidFill>
                <a:latin typeface="Times New Roman" panose="02020603050405020304" pitchFamily="18" charset="0"/>
              </a:rPr>
              <a:t>First Pass</a:t>
            </a:r>
          </a:p>
        </p:txBody>
      </p:sp>
      <p:sp>
        <p:nvSpPr>
          <p:cNvPr id="73739" name="Rectangle 12"/>
          <p:cNvSpPr>
            <a:spLocks noChangeArrowheads="1"/>
          </p:cNvSpPr>
          <p:nvPr/>
        </p:nvSpPr>
        <p:spPr bwMode="auto">
          <a:xfrm>
            <a:off x="1524000" y="2438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Third Pass</a:t>
            </a:r>
          </a:p>
        </p:txBody>
      </p:sp>
      <p:sp>
        <p:nvSpPr>
          <p:cNvPr id="222221" name="Comment 13"/>
          <p:cNvSpPr>
            <a:spLocks noChangeArrowheads="1"/>
          </p:cNvSpPr>
          <p:nvPr/>
        </p:nvSpPr>
        <p:spPr bwMode="auto">
          <a:xfrm>
            <a:off x="2743200" y="5562600"/>
            <a:ext cx="7010400" cy="590550"/>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b="1">
                <a:solidFill>
                  <a:srgbClr val="000000"/>
                </a:solidFill>
                <a:latin typeface="Arial" panose="020B0604020202020204" pitchFamily="34" charset="0"/>
              </a:rPr>
              <a:t>The list is now sorted but the algorithm does not know this until it completes a pass with no exchanges.</a:t>
            </a:r>
            <a:endParaRPr lang="en-GB" altLang="en-US" sz="1600">
              <a:solidFill>
                <a:srgbClr val="000000"/>
              </a:solidFill>
              <a:latin typeface="Arial" panose="020B0604020202020204" pitchFamily="34" charset="0"/>
            </a:endParaRPr>
          </a:p>
        </p:txBody>
      </p:sp>
      <p:sp>
        <p:nvSpPr>
          <p:cNvPr id="73741" name="Text Box 14"/>
          <p:cNvSpPr txBox="1">
            <a:spLocks noChangeArrowheads="1"/>
          </p:cNvSpPr>
          <p:nvPr/>
        </p:nvSpPr>
        <p:spPr bwMode="auto">
          <a:xfrm>
            <a:off x="3048000" y="27432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2,  6,  9,  3,  7,  9,  11,  12</a:t>
            </a:r>
            <a:endParaRPr lang="en-GB" altLang="en-US" sz="2400">
              <a:latin typeface="Times New Roman" panose="02020603050405020304" pitchFamily="18" charset="0"/>
            </a:endParaRPr>
          </a:p>
        </p:txBody>
      </p:sp>
      <p:sp>
        <p:nvSpPr>
          <p:cNvPr id="73742" name="Rectangle 15"/>
          <p:cNvSpPr>
            <a:spLocks noChangeArrowheads="1"/>
          </p:cNvSpPr>
          <p:nvPr/>
        </p:nvSpPr>
        <p:spPr bwMode="auto">
          <a:xfrm>
            <a:off x="1524000" y="3200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Fourth Pass</a:t>
            </a:r>
          </a:p>
        </p:txBody>
      </p:sp>
      <p:sp>
        <p:nvSpPr>
          <p:cNvPr id="73743" name="Text Box 16"/>
          <p:cNvSpPr txBox="1">
            <a:spLocks noChangeArrowheads="1"/>
          </p:cNvSpPr>
          <p:nvPr/>
        </p:nvSpPr>
        <p:spPr bwMode="auto">
          <a:xfrm>
            <a:off x="3048000" y="35814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2,  6,  3,  7,  9,  9,  11,  12</a:t>
            </a:r>
            <a:endParaRPr lang="en-GB" altLang="en-US" sz="2400">
              <a:latin typeface="Times New Roman" panose="02020603050405020304" pitchFamily="18" charset="0"/>
            </a:endParaRPr>
          </a:p>
        </p:txBody>
      </p:sp>
      <p:sp>
        <p:nvSpPr>
          <p:cNvPr id="73744" name="Rectangle 17"/>
          <p:cNvSpPr>
            <a:spLocks noChangeArrowheads="1"/>
          </p:cNvSpPr>
          <p:nvPr/>
        </p:nvSpPr>
        <p:spPr bwMode="auto">
          <a:xfrm>
            <a:off x="1524000" y="41148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Fifth Pass</a:t>
            </a:r>
          </a:p>
        </p:txBody>
      </p:sp>
      <p:sp>
        <p:nvSpPr>
          <p:cNvPr id="73745" name="Rectangle 18"/>
          <p:cNvSpPr>
            <a:spLocks noChangeArrowheads="1"/>
          </p:cNvSpPr>
          <p:nvPr/>
        </p:nvSpPr>
        <p:spPr bwMode="auto">
          <a:xfrm>
            <a:off x="7391401" y="228600"/>
            <a:ext cx="2887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a:t>
            </a:r>
          </a:p>
        </p:txBody>
      </p:sp>
    </p:spTree>
    <p:extLst>
      <p:ext uri="{BB962C8B-B14F-4D97-AF65-F5344CB8AC3E}">
        <p14:creationId xmlns:p14="http://schemas.microsoft.com/office/powerpoint/2010/main" val="36884541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2213"/>
                                        </p:tgtEl>
                                        <p:attrNameLst>
                                          <p:attrName>style.visibility</p:attrName>
                                        </p:attrNameLst>
                                      </p:cBhvr>
                                      <p:to>
                                        <p:strVal val="visible"/>
                                      </p:to>
                                    </p:set>
                                    <p:anim calcmode="lin" valueType="num">
                                      <p:cBhvr>
                                        <p:cTn id="7" dur="500" fill="hold"/>
                                        <p:tgtEl>
                                          <p:spTgt spid="222213"/>
                                        </p:tgtEl>
                                        <p:attrNameLst>
                                          <p:attrName>ppt_w</p:attrName>
                                        </p:attrNameLst>
                                      </p:cBhvr>
                                      <p:tavLst>
                                        <p:tav tm="0">
                                          <p:val>
                                            <p:fltVal val="0"/>
                                          </p:val>
                                        </p:tav>
                                        <p:tav tm="100000">
                                          <p:val>
                                            <p:strVal val="#ppt_w"/>
                                          </p:val>
                                        </p:tav>
                                      </p:tavLst>
                                    </p:anim>
                                    <p:anim calcmode="lin" valueType="num">
                                      <p:cBhvr>
                                        <p:cTn id="8" dur="500" fill="hold"/>
                                        <p:tgtEl>
                                          <p:spTgt spid="22221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2213"/>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22214"/>
                                        </p:tgtEl>
                                        <p:attrNameLst>
                                          <p:attrName>style.visibility</p:attrName>
                                        </p:attrNameLst>
                                      </p:cBhvr>
                                      <p:to>
                                        <p:strVal val="visible"/>
                                      </p:to>
                                    </p:set>
                                    <p:anim calcmode="lin" valueType="num">
                                      <p:cBhvr>
                                        <p:cTn id="13" dur="500" fill="hold"/>
                                        <p:tgtEl>
                                          <p:spTgt spid="222214"/>
                                        </p:tgtEl>
                                        <p:attrNameLst>
                                          <p:attrName>ppt_w</p:attrName>
                                        </p:attrNameLst>
                                      </p:cBhvr>
                                      <p:tavLst>
                                        <p:tav tm="0">
                                          <p:val>
                                            <p:fltVal val="0"/>
                                          </p:val>
                                        </p:tav>
                                        <p:tav tm="100000">
                                          <p:val>
                                            <p:strVal val="#ppt_w"/>
                                          </p:val>
                                        </p:tav>
                                      </p:tavLst>
                                    </p:anim>
                                    <p:anim calcmode="lin" valueType="num">
                                      <p:cBhvr>
                                        <p:cTn id="14" dur="500" fill="hold"/>
                                        <p:tgtEl>
                                          <p:spTgt spid="22221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2214"/>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2212"/>
                                        </p:tgtEl>
                                        <p:attrNameLst>
                                          <p:attrName>style.visibility</p:attrName>
                                        </p:attrNameLst>
                                      </p:cBhvr>
                                      <p:to>
                                        <p:strVal val="visible"/>
                                      </p:to>
                                    </p:set>
                                  </p:childTnLst>
                                </p:cTn>
                              </p:par>
                            </p:childTnLst>
                          </p:cTn>
                        </p:par>
                        <p:par>
                          <p:cTn id="19" fill="hold" nodeType="afterGroup">
                            <p:stCondLst>
                              <p:cond delay="500"/>
                            </p:stCondLst>
                            <p:childTnLst>
                              <p:par>
                                <p:cTn id="20" presetID="17" presetClass="entr" presetSubtype="10" fill="hold" grpId="0" nodeType="afterEffect">
                                  <p:stCondLst>
                                    <p:cond delay="0"/>
                                  </p:stCondLst>
                                  <p:childTnLst>
                                    <p:set>
                                      <p:cBhvr>
                                        <p:cTn id="21" dur="1" fill="hold">
                                          <p:stCondLst>
                                            <p:cond delay="0"/>
                                          </p:stCondLst>
                                        </p:cTn>
                                        <p:tgtEl>
                                          <p:spTgt spid="222215"/>
                                        </p:tgtEl>
                                        <p:attrNameLst>
                                          <p:attrName>style.visibility</p:attrName>
                                        </p:attrNameLst>
                                      </p:cBhvr>
                                      <p:to>
                                        <p:strVal val="visible"/>
                                      </p:to>
                                    </p:set>
                                    <p:anim calcmode="lin" valueType="num">
                                      <p:cBhvr>
                                        <p:cTn id="22" dur="500" fill="hold"/>
                                        <p:tgtEl>
                                          <p:spTgt spid="222215"/>
                                        </p:tgtEl>
                                        <p:attrNameLst>
                                          <p:attrName>ppt_w</p:attrName>
                                        </p:attrNameLst>
                                      </p:cBhvr>
                                      <p:tavLst>
                                        <p:tav tm="0">
                                          <p:val>
                                            <p:fltVal val="0"/>
                                          </p:val>
                                        </p:tav>
                                        <p:tav tm="100000">
                                          <p:val>
                                            <p:strVal val="#ppt_w"/>
                                          </p:val>
                                        </p:tav>
                                      </p:tavLst>
                                    </p:anim>
                                    <p:anim calcmode="lin" valueType="num">
                                      <p:cBhvr>
                                        <p:cTn id="23" dur="500" fill="hold"/>
                                        <p:tgtEl>
                                          <p:spTgt spid="222215"/>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2215"/>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222221"/>
                                        </p:tgtEl>
                                        <p:attrNameLst>
                                          <p:attrName>style.visibility</p:attrName>
                                        </p:attrNameLst>
                                      </p:cBhvr>
                                      <p:to>
                                        <p:strVal val="visible"/>
                                      </p:to>
                                    </p:set>
                                  </p:childTnLst>
                                  <p:subTnLst>
                                    <p:set>
                                      <p:cBhvr override="childStyle">
                                        <p:cTn dur="1" fill="hold" display="0" masterRel="nextClick" afterEffect="1"/>
                                        <p:tgtEl>
                                          <p:spTgt spid="2222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2" grpId="0" animBg="1" autoUpdateAnimBg="0"/>
      <p:bldP spid="222213" grpId="0" animBg="1"/>
      <p:bldP spid="222214" grpId="0" animBg="1"/>
      <p:bldP spid="222215" grpId="0" animBg="1"/>
      <p:bldP spid="222221"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Text Box 3"/>
          <p:cNvSpPr txBox="1">
            <a:spLocks noChangeArrowheads="1"/>
          </p:cNvSpPr>
          <p:nvPr/>
        </p:nvSpPr>
        <p:spPr bwMode="auto">
          <a:xfrm>
            <a:off x="3048000" y="53340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2,  3,  6,  7,  9,  9,  11,  12</a:t>
            </a:r>
            <a:endParaRPr lang="en-GB" altLang="en-US" sz="2400">
              <a:latin typeface="Times New Roman" panose="02020603050405020304" pitchFamily="18" charset="0"/>
            </a:endParaRPr>
          </a:p>
        </p:txBody>
      </p:sp>
      <p:sp>
        <p:nvSpPr>
          <p:cNvPr id="223236" name="Oval 4"/>
          <p:cNvSpPr>
            <a:spLocks noChangeArrowheads="1"/>
          </p:cNvSpPr>
          <p:nvPr/>
        </p:nvSpPr>
        <p:spPr bwMode="auto">
          <a:xfrm>
            <a:off x="2819400" y="5334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223237" name="Oval 5"/>
          <p:cNvSpPr>
            <a:spLocks noChangeArrowheads="1"/>
          </p:cNvSpPr>
          <p:nvPr/>
        </p:nvSpPr>
        <p:spPr bwMode="auto">
          <a:xfrm>
            <a:off x="3657600" y="5334000"/>
            <a:ext cx="1600200" cy="838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74757" name="Text Box 6"/>
          <p:cNvSpPr txBox="1">
            <a:spLocks noChangeArrowheads="1"/>
          </p:cNvSpPr>
          <p:nvPr/>
        </p:nvSpPr>
        <p:spPr bwMode="auto">
          <a:xfrm>
            <a:off x="3048000" y="990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6,  2,  9,  11,  9,  3,  7,  12</a:t>
            </a:r>
            <a:endParaRPr lang="en-GB" altLang="en-US" sz="2400">
              <a:latin typeface="Times New Roman" panose="02020603050405020304" pitchFamily="18" charset="0"/>
            </a:endParaRPr>
          </a:p>
        </p:txBody>
      </p:sp>
      <p:sp>
        <p:nvSpPr>
          <p:cNvPr id="74758" name="Text Box 7"/>
          <p:cNvSpPr txBox="1">
            <a:spLocks noChangeArrowheads="1"/>
          </p:cNvSpPr>
          <p:nvPr/>
        </p:nvSpPr>
        <p:spPr bwMode="auto">
          <a:xfrm>
            <a:off x="3048000" y="19050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2,  6,  9,  9,  3,  7,  11,  12</a:t>
            </a:r>
            <a:endParaRPr lang="en-GB" altLang="en-US" sz="2400">
              <a:latin typeface="Times New Roman" panose="02020603050405020304" pitchFamily="18" charset="0"/>
            </a:endParaRPr>
          </a:p>
        </p:txBody>
      </p:sp>
      <p:sp>
        <p:nvSpPr>
          <p:cNvPr id="74759" name="Rectangle 8"/>
          <p:cNvSpPr>
            <a:spLocks noChangeArrowheads="1"/>
          </p:cNvSpPr>
          <p:nvPr/>
        </p:nvSpPr>
        <p:spPr bwMode="auto">
          <a:xfrm>
            <a:off x="1524000" y="1676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Second Pass</a:t>
            </a:r>
          </a:p>
        </p:txBody>
      </p:sp>
      <p:sp>
        <p:nvSpPr>
          <p:cNvPr id="74760" name="Rectangle 9"/>
          <p:cNvSpPr>
            <a:spLocks noChangeArrowheads="1"/>
          </p:cNvSpPr>
          <p:nvPr/>
        </p:nvSpPr>
        <p:spPr bwMode="auto">
          <a:xfrm>
            <a:off x="1752600" y="914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400">
                <a:solidFill>
                  <a:schemeClr val="tx2"/>
                </a:solidFill>
                <a:latin typeface="Times New Roman" panose="02020603050405020304" pitchFamily="18" charset="0"/>
              </a:rPr>
              <a:t>First Pass</a:t>
            </a:r>
          </a:p>
        </p:txBody>
      </p:sp>
      <p:sp>
        <p:nvSpPr>
          <p:cNvPr id="74761" name="Rectangle 10"/>
          <p:cNvSpPr>
            <a:spLocks noChangeArrowheads="1"/>
          </p:cNvSpPr>
          <p:nvPr/>
        </p:nvSpPr>
        <p:spPr bwMode="auto">
          <a:xfrm>
            <a:off x="1524000" y="2438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Third Pass</a:t>
            </a:r>
          </a:p>
        </p:txBody>
      </p:sp>
      <p:sp>
        <p:nvSpPr>
          <p:cNvPr id="74762" name="Text Box 11"/>
          <p:cNvSpPr txBox="1">
            <a:spLocks noChangeArrowheads="1"/>
          </p:cNvSpPr>
          <p:nvPr/>
        </p:nvSpPr>
        <p:spPr bwMode="auto">
          <a:xfrm>
            <a:off x="3048000" y="27432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2,  6,  9,  3,  7,  9,  11,  12</a:t>
            </a:r>
            <a:endParaRPr lang="en-GB" altLang="en-US" sz="2400">
              <a:latin typeface="Times New Roman" panose="02020603050405020304" pitchFamily="18" charset="0"/>
            </a:endParaRPr>
          </a:p>
        </p:txBody>
      </p:sp>
      <p:sp>
        <p:nvSpPr>
          <p:cNvPr id="74763" name="Rectangle 12"/>
          <p:cNvSpPr>
            <a:spLocks noChangeArrowheads="1"/>
          </p:cNvSpPr>
          <p:nvPr/>
        </p:nvSpPr>
        <p:spPr bwMode="auto">
          <a:xfrm>
            <a:off x="1524000" y="32004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Fourth Pass</a:t>
            </a:r>
          </a:p>
        </p:txBody>
      </p:sp>
      <p:sp>
        <p:nvSpPr>
          <p:cNvPr id="74764" name="Text Box 13"/>
          <p:cNvSpPr txBox="1">
            <a:spLocks noChangeArrowheads="1"/>
          </p:cNvSpPr>
          <p:nvPr/>
        </p:nvSpPr>
        <p:spPr bwMode="auto">
          <a:xfrm>
            <a:off x="3048000" y="35814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2,  6,  3,  7,  9,  9,  11,  12</a:t>
            </a:r>
            <a:endParaRPr lang="en-GB" altLang="en-US" sz="2400">
              <a:latin typeface="Times New Roman" panose="02020603050405020304" pitchFamily="18" charset="0"/>
            </a:endParaRPr>
          </a:p>
        </p:txBody>
      </p:sp>
      <p:sp>
        <p:nvSpPr>
          <p:cNvPr id="74765" name="Rectangle 14"/>
          <p:cNvSpPr>
            <a:spLocks noChangeArrowheads="1"/>
          </p:cNvSpPr>
          <p:nvPr/>
        </p:nvSpPr>
        <p:spPr bwMode="auto">
          <a:xfrm>
            <a:off x="1524000" y="41148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Fifth Pass</a:t>
            </a:r>
          </a:p>
        </p:txBody>
      </p:sp>
      <p:sp>
        <p:nvSpPr>
          <p:cNvPr id="74766" name="Rectangle 15"/>
          <p:cNvSpPr>
            <a:spLocks noChangeArrowheads="1"/>
          </p:cNvSpPr>
          <p:nvPr/>
        </p:nvSpPr>
        <p:spPr bwMode="auto">
          <a:xfrm>
            <a:off x="1524000" y="48768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GB" altLang="en-US" sz="2400">
                <a:solidFill>
                  <a:schemeClr val="tx2"/>
                </a:solidFill>
                <a:latin typeface="Times New Roman" panose="02020603050405020304" pitchFamily="18" charset="0"/>
              </a:rPr>
              <a:t>Sixth Pass</a:t>
            </a:r>
          </a:p>
        </p:txBody>
      </p:sp>
      <p:sp>
        <p:nvSpPr>
          <p:cNvPr id="74767" name="Text Box 16"/>
          <p:cNvSpPr txBox="1">
            <a:spLocks noChangeArrowheads="1"/>
          </p:cNvSpPr>
          <p:nvPr/>
        </p:nvSpPr>
        <p:spPr bwMode="auto">
          <a:xfrm>
            <a:off x="3048000" y="4419601"/>
            <a:ext cx="6705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4800">
                <a:latin typeface="Times New Roman" panose="02020603050405020304" pitchFamily="18" charset="0"/>
              </a:rPr>
              <a:t>2,  3,  6,  7,  9,  9,  11,  12</a:t>
            </a:r>
            <a:endParaRPr lang="en-GB" altLang="en-US" sz="2400">
              <a:latin typeface="Times New Roman" panose="02020603050405020304" pitchFamily="18" charset="0"/>
            </a:endParaRPr>
          </a:p>
        </p:txBody>
      </p:sp>
      <p:sp>
        <p:nvSpPr>
          <p:cNvPr id="223249" name="Comment 17"/>
          <p:cNvSpPr>
            <a:spLocks noChangeArrowheads="1"/>
          </p:cNvSpPr>
          <p:nvPr/>
        </p:nvSpPr>
        <p:spPr bwMode="auto">
          <a:xfrm>
            <a:off x="5726114" y="6172200"/>
            <a:ext cx="4035425" cy="338138"/>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b="1">
                <a:solidFill>
                  <a:srgbClr val="000000"/>
                </a:solidFill>
                <a:latin typeface="Arial" panose="020B0604020202020204" pitchFamily="34" charset="0"/>
              </a:rPr>
              <a:t>No exchanges - list is sorted.</a:t>
            </a:r>
            <a:endParaRPr lang="en-GB" altLang="en-US" sz="1600">
              <a:solidFill>
                <a:srgbClr val="000000"/>
              </a:solidFill>
              <a:latin typeface="Arial" panose="020B0604020202020204" pitchFamily="34" charset="0"/>
            </a:endParaRPr>
          </a:p>
        </p:txBody>
      </p:sp>
      <p:sp>
        <p:nvSpPr>
          <p:cNvPr id="74769" name="Rectangle 18"/>
          <p:cNvSpPr>
            <a:spLocks noChangeArrowheads="1"/>
          </p:cNvSpPr>
          <p:nvPr/>
        </p:nvSpPr>
        <p:spPr bwMode="auto">
          <a:xfrm>
            <a:off x="7391401" y="228600"/>
            <a:ext cx="2887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a:t>
            </a:r>
          </a:p>
        </p:txBody>
      </p:sp>
    </p:spTree>
    <p:extLst>
      <p:ext uri="{BB962C8B-B14F-4D97-AF65-F5344CB8AC3E}">
        <p14:creationId xmlns:p14="http://schemas.microsoft.com/office/powerpoint/2010/main" val="1423769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3236"/>
                                        </p:tgtEl>
                                        <p:attrNameLst>
                                          <p:attrName>style.visibility</p:attrName>
                                        </p:attrNameLst>
                                      </p:cBhvr>
                                      <p:to>
                                        <p:strVal val="visible"/>
                                      </p:to>
                                    </p:set>
                                    <p:anim calcmode="lin" valueType="num">
                                      <p:cBhvr>
                                        <p:cTn id="7" dur="500" fill="hold"/>
                                        <p:tgtEl>
                                          <p:spTgt spid="223236"/>
                                        </p:tgtEl>
                                        <p:attrNameLst>
                                          <p:attrName>ppt_w</p:attrName>
                                        </p:attrNameLst>
                                      </p:cBhvr>
                                      <p:tavLst>
                                        <p:tav tm="0">
                                          <p:val>
                                            <p:fltVal val="0"/>
                                          </p:val>
                                        </p:tav>
                                        <p:tav tm="100000">
                                          <p:val>
                                            <p:strVal val="#ppt_w"/>
                                          </p:val>
                                        </p:tav>
                                      </p:tavLst>
                                    </p:anim>
                                    <p:anim calcmode="lin" valueType="num">
                                      <p:cBhvr>
                                        <p:cTn id="8" dur="500" fill="hold"/>
                                        <p:tgtEl>
                                          <p:spTgt spid="22323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3236"/>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23237"/>
                                        </p:tgtEl>
                                        <p:attrNameLst>
                                          <p:attrName>style.visibility</p:attrName>
                                        </p:attrNameLst>
                                      </p:cBhvr>
                                      <p:to>
                                        <p:strVal val="visible"/>
                                      </p:to>
                                    </p:set>
                                    <p:anim calcmode="lin" valueType="num">
                                      <p:cBhvr>
                                        <p:cTn id="13" dur="500" fill="hold"/>
                                        <p:tgtEl>
                                          <p:spTgt spid="223237"/>
                                        </p:tgtEl>
                                        <p:attrNameLst>
                                          <p:attrName>ppt_w</p:attrName>
                                        </p:attrNameLst>
                                      </p:cBhvr>
                                      <p:tavLst>
                                        <p:tav tm="0">
                                          <p:val>
                                            <p:fltVal val="0"/>
                                          </p:val>
                                        </p:tav>
                                        <p:tav tm="100000">
                                          <p:val>
                                            <p:strVal val="#ppt_w"/>
                                          </p:val>
                                        </p:tav>
                                      </p:tavLst>
                                    </p:anim>
                                    <p:anim calcmode="lin" valueType="num">
                                      <p:cBhvr>
                                        <p:cTn id="14" dur="500" fill="hold"/>
                                        <p:tgtEl>
                                          <p:spTgt spid="22323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23237"/>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3249"/>
                                        </p:tgtEl>
                                        <p:attrNameLst>
                                          <p:attrName>style.visibility</p:attrName>
                                        </p:attrNameLst>
                                      </p:cBhvr>
                                      <p:to>
                                        <p:strVal val="visible"/>
                                      </p:to>
                                    </p:set>
                                  </p:childTnLst>
                                  <p:subTnLst>
                                    <p:set>
                                      <p:cBhvr override="childStyle">
                                        <p:cTn dur="1" fill="hold" display="0" masterRel="nextClick" afterEffect="1"/>
                                        <p:tgtEl>
                                          <p:spTgt spid="22324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animBg="1"/>
      <p:bldP spid="223237" grpId="0" animBg="1"/>
      <p:bldP spid="223249"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5778" name="Rectangle 91"/>
          <p:cNvSpPr>
            <a:spLocks noGrp="1"/>
          </p:cNvSpPr>
          <p:nvPr>
            <p:ph idx="1"/>
          </p:nvPr>
        </p:nvSpPr>
        <p:spPr>
          <a:xfrm>
            <a:off x="1981200" y="5334000"/>
            <a:ext cx="8337550" cy="1066800"/>
          </a:xfrm>
        </p:spPr>
        <p:txBody>
          <a:bodyPr/>
          <a:lstStyle/>
          <a:p>
            <a:pPr eaLnBrk="1" hangingPunct="1"/>
            <a:r>
              <a:rPr lang="en-US" altLang="en-US" smtClean="0"/>
              <a:t>Notice that at least one element will be in the correct position each iteration.</a:t>
            </a:r>
          </a:p>
        </p:txBody>
      </p:sp>
      <p:grpSp>
        <p:nvGrpSpPr>
          <p:cNvPr id="75779" name="Group 3"/>
          <p:cNvGrpSpPr>
            <a:grpSpLocks/>
          </p:cNvGrpSpPr>
          <p:nvPr/>
        </p:nvGrpSpPr>
        <p:grpSpPr bwMode="auto">
          <a:xfrm>
            <a:off x="2971800" y="1219200"/>
            <a:ext cx="7315200" cy="509588"/>
            <a:chOff x="912" y="768"/>
            <a:chExt cx="4608" cy="321"/>
          </a:xfrm>
        </p:grpSpPr>
        <p:grpSp>
          <p:nvGrpSpPr>
            <p:cNvPr id="75844" name="Group 4"/>
            <p:cNvGrpSpPr>
              <a:grpSpLocks/>
            </p:cNvGrpSpPr>
            <p:nvPr/>
          </p:nvGrpSpPr>
          <p:grpSpPr bwMode="auto">
            <a:xfrm>
              <a:off x="912" y="775"/>
              <a:ext cx="4608" cy="314"/>
              <a:chOff x="528" y="1536"/>
              <a:chExt cx="4608" cy="314"/>
            </a:xfrm>
          </p:grpSpPr>
          <p:sp>
            <p:nvSpPr>
              <p:cNvPr id="75856" name="Rectangle 5"/>
              <p:cNvSpPr>
                <a:spLocks noChangeArrowheads="1"/>
              </p:cNvSpPr>
              <p:nvPr/>
            </p:nvSpPr>
            <p:spPr bwMode="auto">
              <a:xfrm>
                <a:off x="528"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5857" name="Rectangle 6"/>
              <p:cNvSpPr>
                <a:spLocks noChangeArrowheads="1"/>
              </p:cNvSpPr>
              <p:nvPr/>
            </p:nvSpPr>
            <p:spPr bwMode="auto">
              <a:xfrm>
                <a:off x="912"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75858" name="Rectangle 7"/>
              <p:cNvSpPr>
                <a:spLocks noChangeArrowheads="1"/>
              </p:cNvSpPr>
              <p:nvPr/>
            </p:nvSpPr>
            <p:spPr bwMode="auto">
              <a:xfrm>
                <a:off x="1296"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859" name="Rectangle 8"/>
              <p:cNvSpPr>
                <a:spLocks noChangeArrowheads="1"/>
              </p:cNvSpPr>
              <p:nvPr/>
            </p:nvSpPr>
            <p:spPr bwMode="auto">
              <a:xfrm>
                <a:off x="1680"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5860" name="Rectangle 9"/>
              <p:cNvSpPr>
                <a:spLocks noChangeArrowheads="1"/>
              </p:cNvSpPr>
              <p:nvPr/>
            </p:nvSpPr>
            <p:spPr bwMode="auto">
              <a:xfrm>
                <a:off x="2064"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861" name="Rectangle 10"/>
              <p:cNvSpPr>
                <a:spLocks noChangeArrowheads="1"/>
              </p:cNvSpPr>
              <p:nvPr/>
            </p:nvSpPr>
            <p:spPr bwMode="auto">
              <a:xfrm>
                <a:off x="2448"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5862" name="Rectangle 11"/>
              <p:cNvSpPr>
                <a:spLocks noChangeArrowheads="1"/>
              </p:cNvSpPr>
              <p:nvPr/>
            </p:nvSpPr>
            <p:spPr bwMode="auto">
              <a:xfrm>
                <a:off x="2832"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75863" name="Rectangle 12"/>
              <p:cNvSpPr>
                <a:spLocks noChangeArrowheads="1"/>
              </p:cNvSpPr>
              <p:nvPr/>
            </p:nvSpPr>
            <p:spPr bwMode="auto">
              <a:xfrm>
                <a:off x="3216"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864" name="Rectangle 13"/>
              <p:cNvSpPr>
                <a:spLocks noChangeArrowheads="1"/>
              </p:cNvSpPr>
              <p:nvPr/>
            </p:nvSpPr>
            <p:spPr bwMode="auto">
              <a:xfrm>
                <a:off x="3600"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5865" name="Rectangle 14"/>
              <p:cNvSpPr>
                <a:spLocks noChangeArrowheads="1"/>
              </p:cNvSpPr>
              <p:nvPr/>
            </p:nvSpPr>
            <p:spPr bwMode="auto">
              <a:xfrm>
                <a:off x="3984"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866" name="Rectangle 15"/>
              <p:cNvSpPr>
                <a:spLocks noChangeArrowheads="1"/>
              </p:cNvSpPr>
              <p:nvPr/>
            </p:nvSpPr>
            <p:spPr bwMode="auto">
              <a:xfrm>
                <a:off x="4368"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5867" name="Rectangle 16"/>
              <p:cNvSpPr>
                <a:spLocks noChangeArrowheads="1"/>
              </p:cNvSpPr>
              <p:nvPr/>
            </p:nvSpPr>
            <p:spPr bwMode="auto">
              <a:xfrm>
                <a:off x="4752" y="153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grpSp>
        <p:grpSp>
          <p:nvGrpSpPr>
            <p:cNvPr id="75845" name="Group 17"/>
            <p:cNvGrpSpPr>
              <a:grpSpLocks/>
            </p:cNvGrpSpPr>
            <p:nvPr/>
          </p:nvGrpSpPr>
          <p:grpSpPr bwMode="auto">
            <a:xfrm>
              <a:off x="1104" y="768"/>
              <a:ext cx="768" cy="1"/>
              <a:chOff x="720" y="1529"/>
              <a:chExt cx="768" cy="1"/>
            </a:xfrm>
          </p:grpSpPr>
          <p:cxnSp>
            <p:nvCxnSpPr>
              <p:cNvPr id="75854" name="AutoShape 18"/>
              <p:cNvCxnSpPr>
                <a:cxnSpLocks noChangeShapeType="1"/>
                <a:stCxn id="75856" idx="0"/>
                <a:endCxn id="75857" idx="0"/>
              </p:cNvCxnSpPr>
              <p:nvPr/>
            </p:nvCxnSpPr>
            <p:spPr bwMode="auto">
              <a:xfrm rot="5400000" flipV="1">
                <a:off x="911" y="133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55" name="AutoShape 19"/>
              <p:cNvCxnSpPr>
                <a:cxnSpLocks noChangeShapeType="1"/>
                <a:stCxn id="75857" idx="0"/>
                <a:endCxn id="75858" idx="0"/>
              </p:cNvCxnSpPr>
              <p:nvPr/>
            </p:nvCxnSpPr>
            <p:spPr bwMode="auto">
              <a:xfrm rot="5400000" flipV="1">
                <a:off x="1295" y="1338"/>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cxnSp>
          <p:nvCxnSpPr>
            <p:cNvPr id="75846" name="AutoShape 20"/>
            <p:cNvCxnSpPr>
              <a:cxnSpLocks noChangeShapeType="1"/>
              <a:stCxn id="75859" idx="0"/>
              <a:endCxn id="75860" idx="0"/>
            </p:cNvCxnSpPr>
            <p:nvPr/>
          </p:nvCxnSpPr>
          <p:spPr bwMode="auto">
            <a:xfrm rot="5400000" flipV="1">
              <a:off x="2447" y="577"/>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nvGrpSpPr>
            <p:cNvPr id="75847" name="Group 21"/>
            <p:cNvGrpSpPr>
              <a:grpSpLocks/>
            </p:cNvGrpSpPr>
            <p:nvPr/>
          </p:nvGrpSpPr>
          <p:grpSpPr bwMode="auto">
            <a:xfrm>
              <a:off x="3024" y="768"/>
              <a:ext cx="2304" cy="1"/>
              <a:chOff x="2640" y="1529"/>
              <a:chExt cx="2304" cy="1"/>
            </a:xfrm>
          </p:grpSpPr>
          <p:cxnSp>
            <p:nvCxnSpPr>
              <p:cNvPr id="75848" name="AutoShape 22"/>
              <p:cNvCxnSpPr>
                <a:cxnSpLocks noChangeShapeType="1"/>
                <a:stCxn id="75861" idx="0"/>
                <a:endCxn id="75862" idx="0"/>
              </p:cNvCxnSpPr>
              <p:nvPr/>
            </p:nvCxnSpPr>
            <p:spPr bwMode="auto">
              <a:xfrm rot="5400000" flipV="1">
                <a:off x="2831" y="133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49" name="AutoShape 23"/>
              <p:cNvCxnSpPr>
                <a:cxnSpLocks noChangeShapeType="1"/>
                <a:stCxn id="75862" idx="0"/>
                <a:endCxn id="75863" idx="0"/>
              </p:cNvCxnSpPr>
              <p:nvPr/>
            </p:nvCxnSpPr>
            <p:spPr bwMode="auto">
              <a:xfrm rot="5400000" flipV="1">
                <a:off x="3215" y="133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50" name="AutoShape 24"/>
              <p:cNvCxnSpPr>
                <a:cxnSpLocks noChangeShapeType="1"/>
                <a:stCxn id="75863" idx="0"/>
                <a:endCxn id="75864" idx="0"/>
              </p:cNvCxnSpPr>
              <p:nvPr/>
            </p:nvCxnSpPr>
            <p:spPr bwMode="auto">
              <a:xfrm rot="5400000" flipV="1">
                <a:off x="3599" y="133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51" name="AutoShape 25"/>
              <p:cNvCxnSpPr>
                <a:cxnSpLocks noChangeShapeType="1"/>
                <a:stCxn id="75864" idx="0"/>
                <a:endCxn id="75865" idx="0"/>
              </p:cNvCxnSpPr>
              <p:nvPr/>
            </p:nvCxnSpPr>
            <p:spPr bwMode="auto">
              <a:xfrm rot="5400000" flipV="1">
                <a:off x="3983" y="133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52" name="AutoShape 26"/>
              <p:cNvCxnSpPr>
                <a:cxnSpLocks noChangeShapeType="1"/>
                <a:stCxn id="75865" idx="0"/>
                <a:endCxn id="75866" idx="0"/>
              </p:cNvCxnSpPr>
              <p:nvPr/>
            </p:nvCxnSpPr>
            <p:spPr bwMode="auto">
              <a:xfrm rot="5400000" flipV="1">
                <a:off x="4367" y="133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53" name="AutoShape 27"/>
              <p:cNvCxnSpPr>
                <a:cxnSpLocks noChangeShapeType="1"/>
                <a:stCxn id="75866" idx="0"/>
                <a:endCxn id="75867" idx="0"/>
              </p:cNvCxnSpPr>
              <p:nvPr/>
            </p:nvCxnSpPr>
            <p:spPr bwMode="auto">
              <a:xfrm rot="5400000" flipV="1">
                <a:off x="4751" y="1338"/>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grpSp>
      <p:grpSp>
        <p:nvGrpSpPr>
          <p:cNvPr id="75780" name="Group 28"/>
          <p:cNvGrpSpPr>
            <a:grpSpLocks/>
          </p:cNvGrpSpPr>
          <p:nvPr/>
        </p:nvGrpSpPr>
        <p:grpSpPr bwMode="auto">
          <a:xfrm>
            <a:off x="2971800" y="2362200"/>
            <a:ext cx="7315200" cy="509588"/>
            <a:chOff x="864" y="1488"/>
            <a:chExt cx="4608" cy="321"/>
          </a:xfrm>
        </p:grpSpPr>
        <p:sp>
          <p:nvSpPr>
            <p:cNvPr id="75823" name="Rectangle 29"/>
            <p:cNvSpPr>
              <a:spLocks noChangeArrowheads="1"/>
            </p:cNvSpPr>
            <p:nvPr/>
          </p:nvSpPr>
          <p:spPr bwMode="auto">
            <a:xfrm>
              <a:off x="5088" y="1495"/>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grpSp>
          <p:nvGrpSpPr>
            <p:cNvPr id="75824" name="Group 30"/>
            <p:cNvGrpSpPr>
              <a:grpSpLocks/>
            </p:cNvGrpSpPr>
            <p:nvPr/>
          </p:nvGrpSpPr>
          <p:grpSpPr bwMode="auto">
            <a:xfrm>
              <a:off x="864" y="1488"/>
              <a:ext cx="4224" cy="321"/>
              <a:chOff x="528" y="2249"/>
              <a:chExt cx="4224" cy="321"/>
            </a:xfrm>
          </p:grpSpPr>
          <p:sp>
            <p:nvSpPr>
              <p:cNvPr id="75825" name="Rectangle 31"/>
              <p:cNvSpPr>
                <a:spLocks noChangeArrowheads="1"/>
              </p:cNvSpPr>
              <p:nvPr/>
            </p:nvSpPr>
            <p:spPr bwMode="auto">
              <a:xfrm>
                <a:off x="528"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endParaRPr lang="en-US" altLang="en-US" sz="2400">
                  <a:latin typeface="Arial" panose="020B0604020202020204" pitchFamily="34" charset="0"/>
                </a:endParaRPr>
              </a:p>
            </p:txBody>
          </p:sp>
          <p:sp>
            <p:nvSpPr>
              <p:cNvPr id="75826" name="Rectangle 32"/>
              <p:cNvSpPr>
                <a:spLocks noChangeArrowheads="1"/>
              </p:cNvSpPr>
              <p:nvPr/>
            </p:nvSpPr>
            <p:spPr bwMode="auto">
              <a:xfrm>
                <a:off x="912"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p>
            </p:txBody>
          </p:sp>
          <p:sp>
            <p:nvSpPr>
              <p:cNvPr id="75827" name="Rectangle 33"/>
              <p:cNvSpPr>
                <a:spLocks noChangeArrowheads="1"/>
              </p:cNvSpPr>
              <p:nvPr/>
            </p:nvSpPr>
            <p:spPr bwMode="auto">
              <a:xfrm>
                <a:off x="1296"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5828" name="Rectangle 34"/>
              <p:cNvSpPr>
                <a:spLocks noChangeArrowheads="1"/>
              </p:cNvSpPr>
              <p:nvPr/>
            </p:nvSpPr>
            <p:spPr bwMode="auto">
              <a:xfrm>
                <a:off x="1680"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829" name="Rectangle 35"/>
              <p:cNvSpPr>
                <a:spLocks noChangeArrowheads="1"/>
              </p:cNvSpPr>
              <p:nvPr/>
            </p:nvSpPr>
            <p:spPr bwMode="auto">
              <a:xfrm>
                <a:off x="2064"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5830" name="Rectangle 36"/>
              <p:cNvSpPr>
                <a:spLocks noChangeArrowheads="1"/>
              </p:cNvSpPr>
              <p:nvPr/>
            </p:nvSpPr>
            <p:spPr bwMode="auto">
              <a:xfrm>
                <a:off x="2448"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75831" name="Rectangle 37"/>
              <p:cNvSpPr>
                <a:spLocks noChangeArrowheads="1"/>
              </p:cNvSpPr>
              <p:nvPr/>
            </p:nvSpPr>
            <p:spPr bwMode="auto">
              <a:xfrm>
                <a:off x="2832"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832" name="Rectangle 38"/>
              <p:cNvSpPr>
                <a:spLocks noChangeArrowheads="1"/>
              </p:cNvSpPr>
              <p:nvPr/>
            </p:nvSpPr>
            <p:spPr bwMode="auto">
              <a:xfrm>
                <a:off x="3216"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5833" name="Rectangle 39"/>
              <p:cNvSpPr>
                <a:spLocks noChangeArrowheads="1"/>
              </p:cNvSpPr>
              <p:nvPr/>
            </p:nvSpPr>
            <p:spPr bwMode="auto">
              <a:xfrm>
                <a:off x="3600"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834" name="Rectangle 40"/>
              <p:cNvSpPr>
                <a:spLocks noChangeArrowheads="1"/>
              </p:cNvSpPr>
              <p:nvPr/>
            </p:nvSpPr>
            <p:spPr bwMode="auto">
              <a:xfrm>
                <a:off x="3984"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5835" name="Rectangle 41"/>
              <p:cNvSpPr>
                <a:spLocks noChangeArrowheads="1"/>
              </p:cNvSpPr>
              <p:nvPr/>
            </p:nvSpPr>
            <p:spPr bwMode="auto">
              <a:xfrm>
                <a:off x="4368" y="2256"/>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grpSp>
            <p:nvGrpSpPr>
              <p:cNvPr id="75836" name="Group 42"/>
              <p:cNvGrpSpPr>
                <a:grpSpLocks/>
              </p:cNvGrpSpPr>
              <p:nvPr/>
            </p:nvGrpSpPr>
            <p:grpSpPr bwMode="auto">
              <a:xfrm>
                <a:off x="720" y="2249"/>
                <a:ext cx="3840" cy="1"/>
                <a:chOff x="720" y="2249"/>
                <a:chExt cx="3840" cy="1"/>
              </a:xfrm>
            </p:grpSpPr>
            <p:cxnSp>
              <p:nvCxnSpPr>
                <p:cNvPr id="75837" name="AutoShape 43"/>
                <p:cNvCxnSpPr>
                  <a:cxnSpLocks noChangeShapeType="1"/>
                  <a:stCxn id="75825" idx="0"/>
                  <a:endCxn id="75826" idx="0"/>
                </p:cNvCxnSpPr>
                <p:nvPr/>
              </p:nvCxnSpPr>
              <p:spPr bwMode="auto">
                <a:xfrm rot="5400000" flipV="1">
                  <a:off x="911" y="2058"/>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5838" name="AutoShape 44"/>
                <p:cNvCxnSpPr>
                  <a:cxnSpLocks noChangeShapeType="1"/>
                  <a:stCxn id="75827" idx="0"/>
                  <a:endCxn id="75828" idx="0"/>
                </p:cNvCxnSpPr>
                <p:nvPr/>
              </p:nvCxnSpPr>
              <p:spPr bwMode="auto">
                <a:xfrm rot="5400000" flipV="1">
                  <a:off x="1679" y="2058"/>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5839" name="AutoShape 45"/>
                <p:cNvCxnSpPr>
                  <a:cxnSpLocks noChangeShapeType="1"/>
                  <a:stCxn id="75829" idx="0"/>
                  <a:endCxn id="75830" idx="0"/>
                </p:cNvCxnSpPr>
                <p:nvPr/>
              </p:nvCxnSpPr>
              <p:spPr bwMode="auto">
                <a:xfrm rot="5400000" flipV="1">
                  <a:off x="2447" y="205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40" name="AutoShape 46"/>
                <p:cNvCxnSpPr>
                  <a:cxnSpLocks noChangeShapeType="1"/>
                  <a:stCxn id="75830" idx="0"/>
                  <a:endCxn id="75831" idx="0"/>
                </p:cNvCxnSpPr>
                <p:nvPr/>
              </p:nvCxnSpPr>
              <p:spPr bwMode="auto">
                <a:xfrm rot="5400000" flipV="1">
                  <a:off x="2831" y="2058"/>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5841" name="AutoShape 47"/>
                <p:cNvCxnSpPr>
                  <a:cxnSpLocks noChangeShapeType="1"/>
                  <a:stCxn id="75832" idx="0"/>
                  <a:endCxn id="75833" idx="0"/>
                </p:cNvCxnSpPr>
                <p:nvPr/>
              </p:nvCxnSpPr>
              <p:spPr bwMode="auto">
                <a:xfrm rot="5400000" flipV="1">
                  <a:off x="3599" y="205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42" name="AutoShape 48"/>
                <p:cNvCxnSpPr>
                  <a:cxnSpLocks noChangeShapeType="1"/>
                  <a:stCxn id="75833" idx="0"/>
                  <a:endCxn id="75834" idx="0"/>
                </p:cNvCxnSpPr>
                <p:nvPr/>
              </p:nvCxnSpPr>
              <p:spPr bwMode="auto">
                <a:xfrm rot="5400000" flipV="1">
                  <a:off x="3983" y="2058"/>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43" name="AutoShape 49"/>
                <p:cNvCxnSpPr>
                  <a:cxnSpLocks noChangeShapeType="1"/>
                  <a:stCxn id="75834" idx="0"/>
                  <a:endCxn id="75835" idx="0"/>
                </p:cNvCxnSpPr>
                <p:nvPr/>
              </p:nvCxnSpPr>
              <p:spPr bwMode="auto">
                <a:xfrm rot="5400000" flipV="1">
                  <a:off x="4367" y="2058"/>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grpSp>
      </p:grpSp>
      <p:grpSp>
        <p:nvGrpSpPr>
          <p:cNvPr id="75781" name="Group 50"/>
          <p:cNvGrpSpPr>
            <a:grpSpLocks/>
          </p:cNvGrpSpPr>
          <p:nvPr/>
        </p:nvGrpSpPr>
        <p:grpSpPr bwMode="auto">
          <a:xfrm>
            <a:off x="9067800" y="3440114"/>
            <a:ext cx="1219200" cy="498475"/>
            <a:chOff x="4368" y="3072"/>
            <a:chExt cx="768" cy="314"/>
          </a:xfrm>
        </p:grpSpPr>
        <p:sp>
          <p:nvSpPr>
            <p:cNvPr id="75821" name="Rectangle 51"/>
            <p:cNvSpPr>
              <a:spLocks noChangeArrowheads="1"/>
            </p:cNvSpPr>
            <p:nvPr/>
          </p:nvSpPr>
          <p:spPr bwMode="auto">
            <a:xfrm>
              <a:off x="4752" y="3072"/>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5822" name="Rectangle 52"/>
            <p:cNvSpPr>
              <a:spLocks noChangeArrowheads="1"/>
            </p:cNvSpPr>
            <p:nvPr/>
          </p:nvSpPr>
          <p:spPr bwMode="auto">
            <a:xfrm>
              <a:off x="4368" y="3072"/>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grpSp>
      <p:grpSp>
        <p:nvGrpSpPr>
          <p:cNvPr id="75782" name="Group 53"/>
          <p:cNvGrpSpPr>
            <a:grpSpLocks/>
          </p:cNvGrpSpPr>
          <p:nvPr/>
        </p:nvGrpSpPr>
        <p:grpSpPr bwMode="auto">
          <a:xfrm>
            <a:off x="2971800" y="3429000"/>
            <a:ext cx="6096000" cy="509588"/>
            <a:chOff x="528" y="3065"/>
            <a:chExt cx="3840" cy="321"/>
          </a:xfrm>
        </p:grpSpPr>
        <p:sp>
          <p:nvSpPr>
            <p:cNvPr id="75805" name="Rectangle 54"/>
            <p:cNvSpPr>
              <a:spLocks noChangeArrowheads="1"/>
            </p:cNvSpPr>
            <p:nvPr/>
          </p:nvSpPr>
          <p:spPr bwMode="auto">
            <a:xfrm>
              <a:off x="528"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806" name="Rectangle 55"/>
            <p:cNvSpPr>
              <a:spLocks noChangeArrowheads="1"/>
            </p:cNvSpPr>
            <p:nvPr/>
          </p:nvSpPr>
          <p:spPr bwMode="auto">
            <a:xfrm>
              <a:off x="912"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75807" name="Rectangle 56"/>
            <p:cNvSpPr>
              <a:spLocks noChangeArrowheads="1"/>
            </p:cNvSpPr>
            <p:nvPr/>
          </p:nvSpPr>
          <p:spPr bwMode="auto">
            <a:xfrm>
              <a:off x="1296"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808" name="Rectangle 57"/>
            <p:cNvSpPr>
              <a:spLocks noChangeArrowheads="1"/>
            </p:cNvSpPr>
            <p:nvPr/>
          </p:nvSpPr>
          <p:spPr bwMode="auto">
            <a:xfrm>
              <a:off x="1680"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5809" name="Rectangle 58"/>
            <p:cNvSpPr>
              <a:spLocks noChangeArrowheads="1"/>
            </p:cNvSpPr>
            <p:nvPr/>
          </p:nvSpPr>
          <p:spPr bwMode="auto">
            <a:xfrm>
              <a:off x="2064"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75810" name="Rectangle 59"/>
            <p:cNvSpPr>
              <a:spLocks noChangeArrowheads="1"/>
            </p:cNvSpPr>
            <p:nvPr/>
          </p:nvSpPr>
          <p:spPr bwMode="auto">
            <a:xfrm>
              <a:off x="2448"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811" name="Rectangle 60"/>
            <p:cNvSpPr>
              <a:spLocks noChangeArrowheads="1"/>
            </p:cNvSpPr>
            <p:nvPr/>
          </p:nvSpPr>
          <p:spPr bwMode="auto">
            <a:xfrm>
              <a:off x="2832"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5812" name="Rectangle 61"/>
            <p:cNvSpPr>
              <a:spLocks noChangeArrowheads="1"/>
            </p:cNvSpPr>
            <p:nvPr/>
          </p:nvSpPr>
          <p:spPr bwMode="auto">
            <a:xfrm>
              <a:off x="3216"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813" name="Rectangle 62"/>
            <p:cNvSpPr>
              <a:spLocks noChangeArrowheads="1"/>
            </p:cNvSpPr>
            <p:nvPr/>
          </p:nvSpPr>
          <p:spPr bwMode="auto">
            <a:xfrm>
              <a:off x="3600"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5814" name="Rectangle 63"/>
            <p:cNvSpPr>
              <a:spLocks noChangeArrowheads="1"/>
            </p:cNvSpPr>
            <p:nvPr/>
          </p:nvSpPr>
          <p:spPr bwMode="auto">
            <a:xfrm>
              <a:off x="3984" y="3072"/>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grpSp>
          <p:nvGrpSpPr>
            <p:cNvPr id="75815" name="Group 64"/>
            <p:cNvGrpSpPr>
              <a:grpSpLocks/>
            </p:cNvGrpSpPr>
            <p:nvPr/>
          </p:nvGrpSpPr>
          <p:grpSpPr bwMode="auto">
            <a:xfrm>
              <a:off x="1872" y="3065"/>
              <a:ext cx="2304" cy="1"/>
              <a:chOff x="1872" y="3065"/>
              <a:chExt cx="2304" cy="1"/>
            </a:xfrm>
          </p:grpSpPr>
          <p:cxnSp>
            <p:nvCxnSpPr>
              <p:cNvPr id="75816" name="AutoShape 65"/>
              <p:cNvCxnSpPr>
                <a:cxnSpLocks noChangeShapeType="1"/>
                <a:stCxn id="75808" idx="0"/>
                <a:endCxn id="75809" idx="0"/>
              </p:cNvCxnSpPr>
              <p:nvPr/>
            </p:nvCxnSpPr>
            <p:spPr bwMode="auto">
              <a:xfrm rot="5400000" flipV="1">
                <a:off x="2063" y="2874"/>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17" name="AutoShape 66"/>
              <p:cNvCxnSpPr>
                <a:cxnSpLocks noChangeShapeType="1"/>
                <a:stCxn id="75809" idx="0"/>
                <a:endCxn id="75810" idx="0"/>
              </p:cNvCxnSpPr>
              <p:nvPr/>
            </p:nvCxnSpPr>
            <p:spPr bwMode="auto">
              <a:xfrm rot="5400000" flipV="1">
                <a:off x="2447" y="2874"/>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5818" name="AutoShape 67"/>
              <p:cNvCxnSpPr>
                <a:cxnSpLocks noChangeShapeType="1"/>
                <a:stCxn id="75811" idx="0"/>
                <a:endCxn id="75812" idx="0"/>
              </p:cNvCxnSpPr>
              <p:nvPr/>
            </p:nvCxnSpPr>
            <p:spPr bwMode="auto">
              <a:xfrm rot="5400000" flipV="1">
                <a:off x="3215" y="2874"/>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19" name="AutoShape 68"/>
              <p:cNvCxnSpPr>
                <a:cxnSpLocks noChangeShapeType="1"/>
                <a:stCxn id="75812" idx="0"/>
                <a:endCxn id="75813" idx="0"/>
              </p:cNvCxnSpPr>
              <p:nvPr/>
            </p:nvCxnSpPr>
            <p:spPr bwMode="auto">
              <a:xfrm rot="5400000" flipV="1">
                <a:off x="3599" y="2874"/>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20" name="AutoShape 69"/>
              <p:cNvCxnSpPr>
                <a:cxnSpLocks noChangeShapeType="1"/>
                <a:stCxn id="75813" idx="0"/>
                <a:endCxn id="75814" idx="0"/>
              </p:cNvCxnSpPr>
              <p:nvPr/>
            </p:nvCxnSpPr>
            <p:spPr bwMode="auto">
              <a:xfrm rot="5400000" flipV="1">
                <a:off x="3983" y="2874"/>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grpSp>
      <p:grpSp>
        <p:nvGrpSpPr>
          <p:cNvPr id="75783" name="Group 70"/>
          <p:cNvGrpSpPr>
            <a:grpSpLocks/>
          </p:cNvGrpSpPr>
          <p:nvPr/>
        </p:nvGrpSpPr>
        <p:grpSpPr bwMode="auto">
          <a:xfrm>
            <a:off x="2971800" y="4560889"/>
            <a:ext cx="7315200" cy="509587"/>
            <a:chOff x="912" y="2873"/>
            <a:chExt cx="4608" cy="321"/>
          </a:xfrm>
        </p:grpSpPr>
        <p:sp>
          <p:nvSpPr>
            <p:cNvPr id="75789" name="Rectangle 71"/>
            <p:cNvSpPr>
              <a:spLocks noChangeArrowheads="1"/>
            </p:cNvSpPr>
            <p:nvPr/>
          </p:nvSpPr>
          <p:spPr bwMode="auto">
            <a:xfrm>
              <a:off x="912"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790" name="Rectangle 72"/>
            <p:cNvSpPr>
              <a:spLocks noChangeArrowheads="1"/>
            </p:cNvSpPr>
            <p:nvPr/>
          </p:nvSpPr>
          <p:spPr bwMode="auto">
            <a:xfrm>
              <a:off x="1296"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75791" name="Rectangle 73"/>
            <p:cNvSpPr>
              <a:spLocks noChangeArrowheads="1"/>
            </p:cNvSpPr>
            <p:nvPr/>
          </p:nvSpPr>
          <p:spPr bwMode="auto">
            <a:xfrm>
              <a:off x="1680"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792" name="Rectangle 74"/>
            <p:cNvSpPr>
              <a:spLocks noChangeArrowheads="1"/>
            </p:cNvSpPr>
            <p:nvPr/>
          </p:nvSpPr>
          <p:spPr bwMode="auto">
            <a:xfrm>
              <a:off x="2832"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5793" name="Rectangle 75"/>
            <p:cNvSpPr>
              <a:spLocks noChangeArrowheads="1"/>
            </p:cNvSpPr>
            <p:nvPr/>
          </p:nvSpPr>
          <p:spPr bwMode="auto">
            <a:xfrm>
              <a:off x="2064"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75794" name="Rectangle 76"/>
            <p:cNvSpPr>
              <a:spLocks noChangeArrowheads="1"/>
            </p:cNvSpPr>
            <p:nvPr/>
          </p:nvSpPr>
          <p:spPr bwMode="auto">
            <a:xfrm>
              <a:off x="5136" y="288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5795" name="Rectangle 77"/>
            <p:cNvSpPr>
              <a:spLocks noChangeArrowheads="1"/>
            </p:cNvSpPr>
            <p:nvPr/>
          </p:nvSpPr>
          <p:spPr bwMode="auto">
            <a:xfrm>
              <a:off x="2448"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5796" name="Rectangle 78"/>
            <p:cNvSpPr>
              <a:spLocks noChangeArrowheads="1"/>
            </p:cNvSpPr>
            <p:nvPr/>
          </p:nvSpPr>
          <p:spPr bwMode="auto">
            <a:xfrm>
              <a:off x="4368" y="288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5797" name="Rectangle 79"/>
            <p:cNvSpPr>
              <a:spLocks noChangeArrowheads="1"/>
            </p:cNvSpPr>
            <p:nvPr/>
          </p:nvSpPr>
          <p:spPr bwMode="auto">
            <a:xfrm>
              <a:off x="4752" y="288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5798" name="Rectangle 80"/>
            <p:cNvSpPr>
              <a:spLocks noChangeArrowheads="1"/>
            </p:cNvSpPr>
            <p:nvPr/>
          </p:nvSpPr>
          <p:spPr bwMode="auto">
            <a:xfrm>
              <a:off x="3216"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5799" name="Rectangle 81"/>
            <p:cNvSpPr>
              <a:spLocks noChangeArrowheads="1"/>
            </p:cNvSpPr>
            <p:nvPr/>
          </p:nvSpPr>
          <p:spPr bwMode="auto">
            <a:xfrm>
              <a:off x="3600"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5800" name="Rectangle 82"/>
            <p:cNvSpPr>
              <a:spLocks noChangeArrowheads="1"/>
            </p:cNvSpPr>
            <p:nvPr/>
          </p:nvSpPr>
          <p:spPr bwMode="auto">
            <a:xfrm>
              <a:off x="3984" y="2880"/>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cxnSp>
          <p:nvCxnSpPr>
            <p:cNvPr id="75801" name="AutoShape 83"/>
            <p:cNvCxnSpPr>
              <a:cxnSpLocks noChangeShapeType="1"/>
              <a:stCxn id="75791" idx="0"/>
              <a:endCxn id="75793" idx="0"/>
            </p:cNvCxnSpPr>
            <p:nvPr/>
          </p:nvCxnSpPr>
          <p:spPr bwMode="auto">
            <a:xfrm rot="5400000" flipV="1">
              <a:off x="2063" y="2682"/>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5802" name="AutoShape 84"/>
            <p:cNvCxnSpPr>
              <a:cxnSpLocks noChangeShapeType="1"/>
              <a:stCxn id="75793" idx="0"/>
              <a:endCxn id="75795" idx="0"/>
            </p:cNvCxnSpPr>
            <p:nvPr/>
          </p:nvCxnSpPr>
          <p:spPr bwMode="auto">
            <a:xfrm rot="5400000" flipV="1">
              <a:off x="2447" y="2682"/>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5803" name="AutoShape 85"/>
            <p:cNvCxnSpPr>
              <a:cxnSpLocks noChangeShapeType="1"/>
              <a:stCxn id="75792" idx="0"/>
              <a:endCxn id="75798" idx="0"/>
            </p:cNvCxnSpPr>
            <p:nvPr/>
          </p:nvCxnSpPr>
          <p:spPr bwMode="auto">
            <a:xfrm rot="5400000" flipV="1">
              <a:off x="3215" y="2682"/>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5804" name="AutoShape 86"/>
            <p:cNvCxnSpPr>
              <a:cxnSpLocks noChangeShapeType="1"/>
              <a:stCxn id="75799" idx="0"/>
              <a:endCxn id="75800" idx="0"/>
            </p:cNvCxnSpPr>
            <p:nvPr/>
          </p:nvCxnSpPr>
          <p:spPr bwMode="auto">
            <a:xfrm rot="5400000" flipV="1">
              <a:off x="3983" y="2682"/>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sp>
        <p:nvSpPr>
          <p:cNvPr id="75784" name="Text Box 87"/>
          <p:cNvSpPr txBox="1">
            <a:spLocks noChangeArrowheads="1"/>
          </p:cNvSpPr>
          <p:nvPr/>
        </p:nvSpPr>
        <p:spPr bwMode="auto">
          <a:xfrm>
            <a:off x="2133601" y="1295401"/>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1</a:t>
            </a:r>
          </a:p>
        </p:txBody>
      </p:sp>
      <p:sp>
        <p:nvSpPr>
          <p:cNvPr id="75785" name="Text Box 88"/>
          <p:cNvSpPr txBox="1">
            <a:spLocks noChangeArrowheads="1"/>
          </p:cNvSpPr>
          <p:nvPr/>
        </p:nvSpPr>
        <p:spPr bwMode="auto">
          <a:xfrm>
            <a:off x="2133601" y="2362201"/>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2</a:t>
            </a:r>
          </a:p>
        </p:txBody>
      </p:sp>
      <p:sp>
        <p:nvSpPr>
          <p:cNvPr id="75786" name="Text Box 89"/>
          <p:cNvSpPr txBox="1">
            <a:spLocks noChangeArrowheads="1"/>
          </p:cNvSpPr>
          <p:nvPr/>
        </p:nvSpPr>
        <p:spPr bwMode="auto">
          <a:xfrm>
            <a:off x="2133601" y="3489326"/>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3</a:t>
            </a:r>
          </a:p>
        </p:txBody>
      </p:sp>
      <p:sp>
        <p:nvSpPr>
          <p:cNvPr id="75787" name="Text Box 90"/>
          <p:cNvSpPr txBox="1">
            <a:spLocks noChangeArrowheads="1"/>
          </p:cNvSpPr>
          <p:nvPr/>
        </p:nvSpPr>
        <p:spPr bwMode="auto">
          <a:xfrm>
            <a:off x="2133601" y="4556126"/>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4</a:t>
            </a:r>
          </a:p>
        </p:txBody>
      </p:sp>
      <p:sp>
        <p:nvSpPr>
          <p:cNvPr id="75788" name="Rectangle 91"/>
          <p:cNvSpPr>
            <a:spLocks noChangeArrowheads="1"/>
          </p:cNvSpPr>
          <p:nvPr/>
        </p:nvSpPr>
        <p:spPr bwMode="auto">
          <a:xfrm>
            <a:off x="7391400" y="228600"/>
            <a:ext cx="3035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2 </a:t>
            </a:r>
          </a:p>
        </p:txBody>
      </p:sp>
    </p:spTree>
    <p:extLst>
      <p:ext uri="{BB962C8B-B14F-4D97-AF65-F5344CB8AC3E}">
        <p14:creationId xmlns:p14="http://schemas.microsoft.com/office/powerpoint/2010/main" val="253421639"/>
      </p:ext>
    </p:extLst>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grpSp>
        <p:nvGrpSpPr>
          <p:cNvPr id="76802" name="Group 2"/>
          <p:cNvGrpSpPr>
            <a:grpSpLocks/>
          </p:cNvGrpSpPr>
          <p:nvPr/>
        </p:nvGrpSpPr>
        <p:grpSpPr bwMode="auto">
          <a:xfrm>
            <a:off x="2895600" y="2462214"/>
            <a:ext cx="7315200" cy="509587"/>
            <a:chOff x="528" y="2921"/>
            <a:chExt cx="4608" cy="321"/>
          </a:xfrm>
        </p:grpSpPr>
        <p:sp>
          <p:nvSpPr>
            <p:cNvPr id="76852" name="Rectangle 3"/>
            <p:cNvSpPr>
              <a:spLocks noChangeArrowheads="1"/>
            </p:cNvSpPr>
            <p:nvPr/>
          </p:nvSpPr>
          <p:spPr bwMode="auto">
            <a:xfrm>
              <a:off x="528"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53" name="Rectangle 4"/>
            <p:cNvSpPr>
              <a:spLocks noChangeArrowheads="1"/>
            </p:cNvSpPr>
            <p:nvPr/>
          </p:nvSpPr>
          <p:spPr bwMode="auto">
            <a:xfrm>
              <a:off x="912"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p>
          </p:txBody>
        </p:sp>
        <p:sp>
          <p:nvSpPr>
            <p:cNvPr id="76854" name="Rectangle 5"/>
            <p:cNvSpPr>
              <a:spLocks noChangeArrowheads="1"/>
            </p:cNvSpPr>
            <p:nvPr/>
          </p:nvSpPr>
          <p:spPr bwMode="auto">
            <a:xfrm>
              <a:off x="1296"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55" name="Rectangle 6"/>
            <p:cNvSpPr>
              <a:spLocks noChangeArrowheads="1"/>
            </p:cNvSpPr>
            <p:nvPr/>
          </p:nvSpPr>
          <p:spPr bwMode="auto">
            <a:xfrm>
              <a:off x="2448"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6856" name="Rectangle 7"/>
            <p:cNvSpPr>
              <a:spLocks noChangeArrowheads="1"/>
            </p:cNvSpPr>
            <p:nvPr/>
          </p:nvSpPr>
          <p:spPr bwMode="auto">
            <a:xfrm>
              <a:off x="1680"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endParaRPr lang="en-US" altLang="en-US" sz="2400">
                <a:latin typeface="Arial" panose="020B0604020202020204" pitchFamily="34" charset="0"/>
              </a:endParaRPr>
            </a:p>
          </p:txBody>
        </p:sp>
        <p:sp>
          <p:nvSpPr>
            <p:cNvPr id="76857" name="Rectangle 8"/>
            <p:cNvSpPr>
              <a:spLocks noChangeArrowheads="1"/>
            </p:cNvSpPr>
            <p:nvPr/>
          </p:nvSpPr>
          <p:spPr bwMode="auto">
            <a:xfrm>
              <a:off x="4752" y="2928"/>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6858" name="Rectangle 9"/>
            <p:cNvSpPr>
              <a:spLocks noChangeArrowheads="1"/>
            </p:cNvSpPr>
            <p:nvPr/>
          </p:nvSpPr>
          <p:spPr bwMode="auto">
            <a:xfrm>
              <a:off x="2064"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6859" name="Rectangle 10"/>
            <p:cNvSpPr>
              <a:spLocks noChangeArrowheads="1"/>
            </p:cNvSpPr>
            <p:nvPr/>
          </p:nvSpPr>
          <p:spPr bwMode="auto">
            <a:xfrm>
              <a:off x="3984" y="2928"/>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6860" name="Rectangle 11"/>
            <p:cNvSpPr>
              <a:spLocks noChangeArrowheads="1"/>
            </p:cNvSpPr>
            <p:nvPr/>
          </p:nvSpPr>
          <p:spPr bwMode="auto">
            <a:xfrm>
              <a:off x="4368" y="2928"/>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6861" name="Rectangle 12"/>
            <p:cNvSpPr>
              <a:spLocks noChangeArrowheads="1"/>
            </p:cNvSpPr>
            <p:nvPr/>
          </p:nvSpPr>
          <p:spPr bwMode="auto">
            <a:xfrm>
              <a:off x="3600" y="2928"/>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6862" name="Rectangle 13"/>
            <p:cNvSpPr>
              <a:spLocks noChangeArrowheads="1"/>
            </p:cNvSpPr>
            <p:nvPr/>
          </p:nvSpPr>
          <p:spPr bwMode="auto">
            <a:xfrm>
              <a:off x="3216" y="2928"/>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6863" name="Rectangle 14"/>
            <p:cNvSpPr>
              <a:spLocks noChangeArrowheads="1"/>
            </p:cNvSpPr>
            <p:nvPr/>
          </p:nvSpPr>
          <p:spPr bwMode="auto">
            <a:xfrm>
              <a:off x="2832" y="2928"/>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cxnSp>
          <p:nvCxnSpPr>
            <p:cNvPr id="76864" name="AutoShape 15"/>
            <p:cNvCxnSpPr>
              <a:cxnSpLocks noChangeShapeType="1"/>
              <a:stCxn id="76852" idx="0"/>
              <a:endCxn id="76853" idx="0"/>
            </p:cNvCxnSpPr>
            <p:nvPr/>
          </p:nvCxnSpPr>
          <p:spPr bwMode="auto">
            <a:xfrm rot="5400000" flipV="1">
              <a:off x="911" y="2730"/>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6865" name="AutoShape 16"/>
            <p:cNvCxnSpPr>
              <a:cxnSpLocks noChangeShapeType="1"/>
              <a:stCxn id="76853" idx="0"/>
              <a:endCxn id="76854" idx="0"/>
            </p:cNvCxnSpPr>
            <p:nvPr/>
          </p:nvCxnSpPr>
          <p:spPr bwMode="auto">
            <a:xfrm rot="5400000" flipV="1">
              <a:off x="1295" y="2730"/>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grpSp>
        <p:nvGrpSpPr>
          <p:cNvPr id="76803" name="Group 18"/>
          <p:cNvGrpSpPr>
            <a:grpSpLocks/>
          </p:cNvGrpSpPr>
          <p:nvPr/>
        </p:nvGrpSpPr>
        <p:grpSpPr bwMode="auto">
          <a:xfrm>
            <a:off x="2895600" y="3529014"/>
            <a:ext cx="7315200" cy="509587"/>
            <a:chOff x="864" y="2297"/>
            <a:chExt cx="4608" cy="321"/>
          </a:xfrm>
        </p:grpSpPr>
        <p:sp>
          <p:nvSpPr>
            <p:cNvPr id="76839" name="Rectangle 19"/>
            <p:cNvSpPr>
              <a:spLocks noChangeArrowheads="1"/>
            </p:cNvSpPr>
            <p:nvPr/>
          </p:nvSpPr>
          <p:spPr bwMode="auto">
            <a:xfrm>
              <a:off x="864" y="230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76840" name="Rectangle 20"/>
            <p:cNvSpPr>
              <a:spLocks noChangeArrowheads="1"/>
            </p:cNvSpPr>
            <p:nvPr/>
          </p:nvSpPr>
          <p:spPr bwMode="auto">
            <a:xfrm>
              <a:off x="1248" y="230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p>
          </p:txBody>
        </p:sp>
        <p:sp>
          <p:nvSpPr>
            <p:cNvPr id="76841" name="Rectangle 21"/>
            <p:cNvSpPr>
              <a:spLocks noChangeArrowheads="1"/>
            </p:cNvSpPr>
            <p:nvPr/>
          </p:nvSpPr>
          <p:spPr bwMode="auto">
            <a:xfrm>
              <a:off x="1632" y="230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42" name="Rectangle 22"/>
            <p:cNvSpPr>
              <a:spLocks noChangeArrowheads="1"/>
            </p:cNvSpPr>
            <p:nvPr/>
          </p:nvSpPr>
          <p:spPr bwMode="auto">
            <a:xfrm>
              <a:off x="2016" y="230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endParaRPr lang="en-US" altLang="en-US" sz="2400">
                <a:latin typeface="Arial" panose="020B0604020202020204" pitchFamily="34" charset="0"/>
              </a:endParaRPr>
            </a:p>
          </p:txBody>
        </p:sp>
        <p:sp>
          <p:nvSpPr>
            <p:cNvPr id="76843" name="Rectangle 23"/>
            <p:cNvSpPr>
              <a:spLocks noChangeArrowheads="1"/>
            </p:cNvSpPr>
            <p:nvPr/>
          </p:nvSpPr>
          <p:spPr bwMode="auto">
            <a:xfrm>
              <a:off x="5088" y="230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6844" name="Rectangle 24"/>
            <p:cNvSpPr>
              <a:spLocks noChangeArrowheads="1"/>
            </p:cNvSpPr>
            <p:nvPr/>
          </p:nvSpPr>
          <p:spPr bwMode="auto">
            <a:xfrm>
              <a:off x="2400" y="230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6845" name="Rectangle 25"/>
            <p:cNvSpPr>
              <a:spLocks noChangeArrowheads="1"/>
            </p:cNvSpPr>
            <p:nvPr/>
          </p:nvSpPr>
          <p:spPr bwMode="auto">
            <a:xfrm>
              <a:off x="4320" y="230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6846" name="Rectangle 26"/>
            <p:cNvSpPr>
              <a:spLocks noChangeArrowheads="1"/>
            </p:cNvSpPr>
            <p:nvPr/>
          </p:nvSpPr>
          <p:spPr bwMode="auto">
            <a:xfrm>
              <a:off x="4704" y="230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6847" name="Rectangle 27"/>
            <p:cNvSpPr>
              <a:spLocks noChangeArrowheads="1"/>
            </p:cNvSpPr>
            <p:nvPr/>
          </p:nvSpPr>
          <p:spPr bwMode="auto">
            <a:xfrm>
              <a:off x="3936" y="230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6848" name="Rectangle 28"/>
            <p:cNvSpPr>
              <a:spLocks noChangeArrowheads="1"/>
            </p:cNvSpPr>
            <p:nvPr/>
          </p:nvSpPr>
          <p:spPr bwMode="auto">
            <a:xfrm>
              <a:off x="3552" y="230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6849" name="Rectangle 29"/>
            <p:cNvSpPr>
              <a:spLocks noChangeArrowheads="1"/>
            </p:cNvSpPr>
            <p:nvPr/>
          </p:nvSpPr>
          <p:spPr bwMode="auto">
            <a:xfrm>
              <a:off x="3168" y="230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cxnSp>
          <p:nvCxnSpPr>
            <p:cNvPr id="76850" name="AutoShape 30"/>
            <p:cNvCxnSpPr>
              <a:cxnSpLocks noChangeShapeType="1"/>
              <a:stCxn id="76839" idx="0"/>
              <a:endCxn id="76840" idx="0"/>
            </p:cNvCxnSpPr>
            <p:nvPr/>
          </p:nvCxnSpPr>
          <p:spPr bwMode="auto">
            <a:xfrm rot="5400000" flipV="1">
              <a:off x="1247" y="2106"/>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sp>
          <p:nvSpPr>
            <p:cNvPr id="76851" name="Rectangle 31"/>
            <p:cNvSpPr>
              <a:spLocks noChangeArrowheads="1"/>
            </p:cNvSpPr>
            <p:nvPr/>
          </p:nvSpPr>
          <p:spPr bwMode="auto">
            <a:xfrm>
              <a:off x="2784" y="230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grpSp>
      <p:grpSp>
        <p:nvGrpSpPr>
          <p:cNvPr id="76804" name="Group 32"/>
          <p:cNvGrpSpPr>
            <a:grpSpLocks/>
          </p:cNvGrpSpPr>
          <p:nvPr/>
        </p:nvGrpSpPr>
        <p:grpSpPr bwMode="auto">
          <a:xfrm>
            <a:off x="2895600" y="4495801"/>
            <a:ext cx="7315200" cy="498475"/>
            <a:chOff x="864" y="3024"/>
            <a:chExt cx="4608" cy="314"/>
          </a:xfrm>
        </p:grpSpPr>
        <p:sp>
          <p:nvSpPr>
            <p:cNvPr id="76827" name="Rectangle 33"/>
            <p:cNvSpPr>
              <a:spLocks noChangeArrowheads="1"/>
            </p:cNvSpPr>
            <p:nvPr/>
          </p:nvSpPr>
          <p:spPr bwMode="auto">
            <a:xfrm>
              <a:off x="864" y="302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28" name="Rectangle 34"/>
            <p:cNvSpPr>
              <a:spLocks noChangeArrowheads="1"/>
            </p:cNvSpPr>
            <p:nvPr/>
          </p:nvSpPr>
          <p:spPr bwMode="auto">
            <a:xfrm>
              <a:off x="1248" y="302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p>
          </p:txBody>
        </p:sp>
        <p:sp>
          <p:nvSpPr>
            <p:cNvPr id="76829" name="Rectangle 35"/>
            <p:cNvSpPr>
              <a:spLocks noChangeArrowheads="1"/>
            </p:cNvSpPr>
            <p:nvPr/>
          </p:nvSpPr>
          <p:spPr bwMode="auto">
            <a:xfrm>
              <a:off x="1632" y="302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30" name="Rectangle 36"/>
            <p:cNvSpPr>
              <a:spLocks noChangeArrowheads="1"/>
            </p:cNvSpPr>
            <p:nvPr/>
          </p:nvSpPr>
          <p:spPr bwMode="auto">
            <a:xfrm>
              <a:off x="2016" y="302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endParaRPr lang="en-US" altLang="en-US" sz="2400">
                <a:latin typeface="Arial" panose="020B0604020202020204" pitchFamily="34" charset="0"/>
              </a:endParaRPr>
            </a:p>
          </p:txBody>
        </p:sp>
        <p:sp>
          <p:nvSpPr>
            <p:cNvPr id="76831" name="Rectangle 37"/>
            <p:cNvSpPr>
              <a:spLocks noChangeArrowheads="1"/>
            </p:cNvSpPr>
            <p:nvPr/>
          </p:nvSpPr>
          <p:spPr bwMode="auto">
            <a:xfrm>
              <a:off x="5088"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6832" name="Rectangle 38"/>
            <p:cNvSpPr>
              <a:spLocks noChangeArrowheads="1"/>
            </p:cNvSpPr>
            <p:nvPr/>
          </p:nvSpPr>
          <p:spPr bwMode="auto">
            <a:xfrm>
              <a:off x="2400" y="302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6833" name="Rectangle 39"/>
            <p:cNvSpPr>
              <a:spLocks noChangeArrowheads="1"/>
            </p:cNvSpPr>
            <p:nvPr/>
          </p:nvSpPr>
          <p:spPr bwMode="auto">
            <a:xfrm>
              <a:off x="4320"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6834" name="Rectangle 40"/>
            <p:cNvSpPr>
              <a:spLocks noChangeArrowheads="1"/>
            </p:cNvSpPr>
            <p:nvPr/>
          </p:nvSpPr>
          <p:spPr bwMode="auto">
            <a:xfrm>
              <a:off x="4704"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6835" name="Rectangle 41"/>
            <p:cNvSpPr>
              <a:spLocks noChangeArrowheads="1"/>
            </p:cNvSpPr>
            <p:nvPr/>
          </p:nvSpPr>
          <p:spPr bwMode="auto">
            <a:xfrm>
              <a:off x="3936"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sp>
          <p:nvSpPr>
            <p:cNvPr id="76836" name="Rectangle 42"/>
            <p:cNvSpPr>
              <a:spLocks noChangeArrowheads="1"/>
            </p:cNvSpPr>
            <p:nvPr/>
          </p:nvSpPr>
          <p:spPr bwMode="auto">
            <a:xfrm>
              <a:off x="3552"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sp>
          <p:nvSpPr>
            <p:cNvPr id="76837" name="Rectangle 43"/>
            <p:cNvSpPr>
              <a:spLocks noChangeArrowheads="1"/>
            </p:cNvSpPr>
            <p:nvPr/>
          </p:nvSpPr>
          <p:spPr bwMode="auto">
            <a:xfrm>
              <a:off x="3168"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sp>
          <p:nvSpPr>
            <p:cNvPr id="76838" name="Rectangle 44"/>
            <p:cNvSpPr>
              <a:spLocks noChangeArrowheads="1"/>
            </p:cNvSpPr>
            <p:nvPr/>
          </p:nvSpPr>
          <p:spPr bwMode="auto">
            <a:xfrm>
              <a:off x="2784" y="3024"/>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grpSp>
      <p:sp>
        <p:nvSpPr>
          <p:cNvPr id="76805" name="Text Box 45"/>
          <p:cNvSpPr txBox="1">
            <a:spLocks noChangeArrowheads="1"/>
          </p:cNvSpPr>
          <p:nvPr/>
        </p:nvSpPr>
        <p:spPr bwMode="auto">
          <a:xfrm>
            <a:off x="2016126" y="2293939"/>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6</a:t>
            </a:r>
          </a:p>
        </p:txBody>
      </p:sp>
      <p:sp>
        <p:nvSpPr>
          <p:cNvPr id="76806" name="Text Box 46"/>
          <p:cNvSpPr txBox="1">
            <a:spLocks noChangeArrowheads="1"/>
          </p:cNvSpPr>
          <p:nvPr/>
        </p:nvSpPr>
        <p:spPr bwMode="auto">
          <a:xfrm>
            <a:off x="2016126" y="3436939"/>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7</a:t>
            </a:r>
          </a:p>
        </p:txBody>
      </p:sp>
      <p:sp>
        <p:nvSpPr>
          <p:cNvPr id="76807" name="Text Box 47"/>
          <p:cNvSpPr txBox="1">
            <a:spLocks noChangeArrowheads="1"/>
          </p:cNvSpPr>
          <p:nvPr/>
        </p:nvSpPr>
        <p:spPr bwMode="auto">
          <a:xfrm>
            <a:off x="2016126" y="4495801"/>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8</a:t>
            </a:r>
          </a:p>
        </p:txBody>
      </p:sp>
      <p:grpSp>
        <p:nvGrpSpPr>
          <p:cNvPr id="76808" name="Group 49"/>
          <p:cNvGrpSpPr>
            <a:grpSpLocks/>
          </p:cNvGrpSpPr>
          <p:nvPr/>
        </p:nvGrpSpPr>
        <p:grpSpPr bwMode="auto">
          <a:xfrm>
            <a:off x="2895600" y="1395414"/>
            <a:ext cx="7315200" cy="509587"/>
            <a:chOff x="912" y="3567"/>
            <a:chExt cx="4608" cy="321"/>
          </a:xfrm>
        </p:grpSpPr>
        <p:sp>
          <p:nvSpPr>
            <p:cNvPr id="76811" name="Rectangle 50"/>
            <p:cNvSpPr>
              <a:spLocks noChangeArrowheads="1"/>
            </p:cNvSpPr>
            <p:nvPr/>
          </p:nvSpPr>
          <p:spPr bwMode="auto">
            <a:xfrm>
              <a:off x="912"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12" name="Rectangle 51"/>
            <p:cNvSpPr>
              <a:spLocks noChangeArrowheads="1"/>
            </p:cNvSpPr>
            <p:nvPr/>
          </p:nvSpPr>
          <p:spPr bwMode="auto">
            <a:xfrm>
              <a:off x="1296"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2</a:t>
              </a:r>
            </a:p>
          </p:txBody>
        </p:sp>
        <p:sp>
          <p:nvSpPr>
            <p:cNvPr id="76813" name="Rectangle 52"/>
            <p:cNvSpPr>
              <a:spLocks noChangeArrowheads="1"/>
            </p:cNvSpPr>
            <p:nvPr/>
          </p:nvSpPr>
          <p:spPr bwMode="auto">
            <a:xfrm>
              <a:off x="1680"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0</a:t>
              </a:r>
              <a:endParaRPr lang="en-US" altLang="en-US" sz="2400">
                <a:latin typeface="Arial" panose="020B0604020202020204" pitchFamily="34" charset="0"/>
              </a:endParaRPr>
            </a:p>
          </p:txBody>
        </p:sp>
        <p:sp>
          <p:nvSpPr>
            <p:cNvPr id="76814" name="Rectangle 53"/>
            <p:cNvSpPr>
              <a:spLocks noChangeArrowheads="1"/>
            </p:cNvSpPr>
            <p:nvPr/>
          </p:nvSpPr>
          <p:spPr bwMode="auto">
            <a:xfrm>
              <a:off x="2832"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6815" name="Rectangle 54"/>
            <p:cNvSpPr>
              <a:spLocks noChangeArrowheads="1"/>
            </p:cNvSpPr>
            <p:nvPr/>
          </p:nvSpPr>
          <p:spPr bwMode="auto">
            <a:xfrm>
              <a:off x="2064"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-1</a:t>
              </a:r>
              <a:endParaRPr lang="en-US" altLang="en-US" sz="2400">
                <a:latin typeface="Arial" panose="020B0604020202020204" pitchFamily="34" charset="0"/>
              </a:endParaRPr>
            </a:p>
          </p:txBody>
        </p:sp>
        <p:sp>
          <p:nvSpPr>
            <p:cNvPr id="76816" name="Rectangle 55"/>
            <p:cNvSpPr>
              <a:spLocks noChangeArrowheads="1"/>
            </p:cNvSpPr>
            <p:nvPr/>
          </p:nvSpPr>
          <p:spPr bwMode="auto">
            <a:xfrm>
              <a:off x="2448"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3</a:t>
              </a:r>
              <a:endParaRPr lang="en-US" altLang="en-US" sz="2400">
                <a:latin typeface="Arial" panose="020B0604020202020204" pitchFamily="34" charset="0"/>
              </a:endParaRPr>
            </a:p>
          </p:txBody>
        </p:sp>
        <p:sp>
          <p:nvSpPr>
            <p:cNvPr id="76817" name="Rectangle 56"/>
            <p:cNvSpPr>
              <a:spLocks noChangeArrowheads="1"/>
            </p:cNvSpPr>
            <p:nvPr/>
          </p:nvSpPr>
          <p:spPr bwMode="auto">
            <a:xfrm>
              <a:off x="3216"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40</a:t>
              </a:r>
              <a:endParaRPr lang="en-US" altLang="en-US" sz="2400">
                <a:latin typeface="Arial" panose="020B0604020202020204" pitchFamily="34" charset="0"/>
              </a:endParaRPr>
            </a:p>
          </p:txBody>
        </p:sp>
        <p:grpSp>
          <p:nvGrpSpPr>
            <p:cNvPr id="76818" name="Group 57"/>
            <p:cNvGrpSpPr>
              <a:grpSpLocks/>
            </p:cNvGrpSpPr>
            <p:nvPr/>
          </p:nvGrpSpPr>
          <p:grpSpPr bwMode="auto">
            <a:xfrm>
              <a:off x="3984" y="3574"/>
              <a:ext cx="1536" cy="314"/>
              <a:chOff x="3984" y="3600"/>
              <a:chExt cx="1536" cy="314"/>
            </a:xfrm>
          </p:grpSpPr>
          <p:sp>
            <p:nvSpPr>
              <p:cNvPr id="76823" name="Rectangle 58"/>
              <p:cNvSpPr>
                <a:spLocks noChangeArrowheads="1"/>
              </p:cNvSpPr>
              <p:nvPr/>
            </p:nvSpPr>
            <p:spPr bwMode="auto">
              <a:xfrm>
                <a:off x="5136" y="360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65</a:t>
                </a:r>
                <a:endParaRPr lang="en-US" altLang="en-US" sz="2400">
                  <a:latin typeface="Arial" panose="020B0604020202020204" pitchFamily="34" charset="0"/>
                </a:endParaRPr>
              </a:p>
            </p:txBody>
          </p:sp>
          <p:sp>
            <p:nvSpPr>
              <p:cNvPr id="76824" name="Rectangle 59"/>
              <p:cNvSpPr>
                <a:spLocks noChangeArrowheads="1"/>
              </p:cNvSpPr>
              <p:nvPr/>
            </p:nvSpPr>
            <p:spPr bwMode="auto">
              <a:xfrm>
                <a:off x="4368" y="360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43</a:t>
                </a:r>
                <a:endParaRPr lang="en-US" altLang="en-US" sz="2400">
                  <a:latin typeface="Arial" panose="020B0604020202020204" pitchFamily="34" charset="0"/>
                </a:endParaRPr>
              </a:p>
            </p:txBody>
          </p:sp>
          <p:sp>
            <p:nvSpPr>
              <p:cNvPr id="76825" name="Rectangle 60"/>
              <p:cNvSpPr>
                <a:spLocks noChangeArrowheads="1"/>
              </p:cNvSpPr>
              <p:nvPr/>
            </p:nvSpPr>
            <p:spPr bwMode="auto">
              <a:xfrm>
                <a:off x="4752" y="360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58</a:t>
                </a:r>
              </a:p>
            </p:txBody>
          </p:sp>
          <p:sp>
            <p:nvSpPr>
              <p:cNvPr id="76826" name="Rectangle 61"/>
              <p:cNvSpPr>
                <a:spLocks noChangeArrowheads="1"/>
              </p:cNvSpPr>
              <p:nvPr/>
            </p:nvSpPr>
            <p:spPr bwMode="auto">
              <a:xfrm>
                <a:off x="3984" y="3600"/>
                <a:ext cx="384" cy="314"/>
              </a:xfrm>
              <a:prstGeom prst="rect">
                <a:avLst/>
              </a:prstGeom>
              <a:solidFill>
                <a:srgbClr val="33CCFF"/>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42</a:t>
                </a:r>
                <a:endParaRPr lang="en-US" altLang="en-US" sz="2400">
                  <a:latin typeface="Arial" panose="020B0604020202020204" pitchFamily="34" charset="0"/>
                </a:endParaRPr>
              </a:p>
            </p:txBody>
          </p:sp>
        </p:grpSp>
        <p:sp>
          <p:nvSpPr>
            <p:cNvPr id="76819" name="Rectangle 62"/>
            <p:cNvSpPr>
              <a:spLocks noChangeArrowheads="1"/>
            </p:cNvSpPr>
            <p:nvPr/>
          </p:nvSpPr>
          <p:spPr bwMode="auto">
            <a:xfrm>
              <a:off x="3600" y="3574"/>
              <a:ext cx="384" cy="314"/>
            </a:xfrm>
            <a:prstGeom prst="rect">
              <a:avLst/>
            </a:prstGeom>
            <a:solidFill>
              <a:schemeClr val="accent1"/>
            </a:solidFill>
            <a:ln w="22225" cap="sq">
              <a:solidFill>
                <a:srgbClr val="000000"/>
              </a:solidFill>
              <a:miter lim="800000"/>
              <a:headEnd type="none" w="sm" len="sm"/>
              <a:tailEnd type="none" w="lg" len="lg"/>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Arial" panose="020B0604020202020204" pitchFamily="34" charset="0"/>
                </a:rPr>
                <a:t>4</a:t>
              </a:r>
              <a:endParaRPr lang="en-US" altLang="en-US" sz="2400">
                <a:latin typeface="Arial" panose="020B0604020202020204" pitchFamily="34" charset="0"/>
              </a:endParaRPr>
            </a:p>
          </p:txBody>
        </p:sp>
        <p:cxnSp>
          <p:nvCxnSpPr>
            <p:cNvPr id="76820" name="AutoShape 63"/>
            <p:cNvCxnSpPr>
              <a:cxnSpLocks noChangeShapeType="1"/>
              <a:stCxn id="76812" idx="0"/>
              <a:endCxn id="76813" idx="0"/>
            </p:cNvCxnSpPr>
            <p:nvPr/>
          </p:nvCxnSpPr>
          <p:spPr bwMode="auto">
            <a:xfrm rot="5400000" flipV="1">
              <a:off x="1679" y="3376"/>
              <a:ext cx="1" cy="384"/>
            </a:xfrm>
            <a:prstGeom prst="curvedConnector3">
              <a:avLst>
                <a:gd name="adj1" fmla="val -13700005"/>
              </a:avLst>
            </a:prstGeom>
            <a:noFill/>
            <a:ln w="22225" cap="sq">
              <a:solidFill>
                <a:srgbClr val="000000"/>
              </a:solidFill>
              <a:round/>
              <a:headEnd type="none" w="sm" len="sm"/>
              <a:tailEnd type="none" w="lg" len="lg"/>
            </a:ln>
            <a:extLst>
              <a:ext uri="{909E8E84-426E-40DD-AFC4-6F175D3DCCD1}">
                <a14:hiddenFill xmlns:a14="http://schemas.microsoft.com/office/drawing/2010/main">
                  <a:noFill/>
                </a14:hiddenFill>
              </a:ext>
            </a:extLst>
          </p:spPr>
        </p:cxnSp>
        <p:cxnSp>
          <p:nvCxnSpPr>
            <p:cNvPr id="76821" name="AutoShape 64"/>
            <p:cNvCxnSpPr>
              <a:cxnSpLocks noChangeShapeType="1"/>
              <a:stCxn id="76813" idx="0"/>
              <a:endCxn id="76815" idx="0"/>
            </p:cNvCxnSpPr>
            <p:nvPr/>
          </p:nvCxnSpPr>
          <p:spPr bwMode="auto">
            <a:xfrm rot="5400000" flipV="1">
              <a:off x="2063" y="3376"/>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cxnSp>
          <p:nvCxnSpPr>
            <p:cNvPr id="76822" name="AutoShape 65"/>
            <p:cNvCxnSpPr>
              <a:cxnSpLocks noChangeShapeType="1"/>
              <a:stCxn id="76817" idx="0"/>
              <a:endCxn id="76819" idx="0"/>
            </p:cNvCxnSpPr>
            <p:nvPr/>
          </p:nvCxnSpPr>
          <p:spPr bwMode="auto">
            <a:xfrm rot="5400000" flipV="1">
              <a:off x="3599" y="3376"/>
              <a:ext cx="1" cy="384"/>
            </a:xfrm>
            <a:prstGeom prst="curvedConnector3">
              <a:avLst>
                <a:gd name="adj1" fmla="val -13700005"/>
              </a:avLst>
            </a:prstGeom>
            <a:noFill/>
            <a:ln w="22225" cap="sq">
              <a:solidFill>
                <a:srgbClr val="000000"/>
              </a:solidFill>
              <a:round/>
              <a:headEnd type="none" w="sm" len="sm"/>
              <a:tailEnd type="triangle" w="lg" len="lg"/>
            </a:ln>
            <a:extLst>
              <a:ext uri="{909E8E84-426E-40DD-AFC4-6F175D3DCCD1}">
                <a14:hiddenFill xmlns:a14="http://schemas.microsoft.com/office/drawing/2010/main">
                  <a:noFill/>
                </a14:hiddenFill>
              </a:ext>
            </a:extLst>
          </p:spPr>
        </p:cxnSp>
      </p:grpSp>
      <p:sp>
        <p:nvSpPr>
          <p:cNvPr id="76809" name="Text Box 66"/>
          <p:cNvSpPr txBox="1">
            <a:spLocks noChangeArrowheads="1"/>
          </p:cNvSpPr>
          <p:nvPr/>
        </p:nvSpPr>
        <p:spPr bwMode="auto">
          <a:xfrm>
            <a:off x="2020889" y="1449389"/>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folHlink"/>
                </a:solidFill>
                <a:latin typeface="Verdana" panose="020B0604030504040204" pitchFamily="34" charset="0"/>
              </a:rPr>
              <a:t>5</a:t>
            </a:r>
          </a:p>
        </p:txBody>
      </p:sp>
      <p:sp>
        <p:nvSpPr>
          <p:cNvPr id="76810" name="Rectangle 65"/>
          <p:cNvSpPr>
            <a:spLocks noChangeArrowheads="1"/>
          </p:cNvSpPr>
          <p:nvPr/>
        </p:nvSpPr>
        <p:spPr bwMode="auto">
          <a:xfrm>
            <a:off x="7391400" y="228600"/>
            <a:ext cx="3035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chemeClr val="bg1"/>
                </a:solidFill>
                <a:latin typeface="Verdana" panose="020B0604030504040204" pitchFamily="34" charset="0"/>
              </a:rPr>
              <a:t>Bubble Sort: Example 2 </a:t>
            </a:r>
          </a:p>
        </p:txBody>
      </p:sp>
    </p:spTree>
    <p:extLst>
      <p:ext uri="{BB962C8B-B14F-4D97-AF65-F5344CB8AC3E}">
        <p14:creationId xmlns:p14="http://schemas.microsoft.com/office/powerpoint/2010/main" val="2579529617"/>
      </p:ext>
    </p:extLst>
  </p:cSld>
  <p:clrMapOvr>
    <a:masterClrMapping/>
  </p:clrMapOvr>
  <p:transition spd="slow"/>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smtClean="0"/>
              <a:t>Difference </a:t>
            </a:r>
          </a:p>
        </p:txBody>
      </p:sp>
      <p:pic>
        <p:nvPicPr>
          <p:cNvPr id="77827"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276600" y="1417638"/>
            <a:ext cx="4768850" cy="4602162"/>
          </a:xfrm>
        </p:spPr>
      </p:pic>
    </p:spTree>
    <p:extLst>
      <p:ext uri="{BB962C8B-B14F-4D97-AF65-F5344CB8AC3E}">
        <p14:creationId xmlns:p14="http://schemas.microsoft.com/office/powerpoint/2010/main" val="9676882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altLang="en-US" smtClean="0"/>
              <a:t>Bubble sort - Algorithm</a:t>
            </a:r>
          </a:p>
        </p:txBody>
      </p:sp>
      <p:sp>
        <p:nvSpPr>
          <p:cNvPr id="3" name="Content Placeholder 2">
            <a:extLst>
              <a:ext uri="{FF2B5EF4-FFF2-40B4-BE49-F238E27FC236}"/>
            </a:extLst>
          </p:cNvPr>
          <p:cNvSpPr>
            <a:spLocks noGrp="1"/>
          </p:cNvSpPr>
          <p:nvPr>
            <p:ph idx="1"/>
          </p:nvPr>
        </p:nvSpPr>
        <p:spPr/>
        <p:txBody>
          <a:bodyPr>
            <a:normAutofit fontScale="55000" lnSpcReduction="20000"/>
          </a:bodyPr>
          <a:lstStyle/>
          <a:p>
            <a:pPr marL="0" indent="0">
              <a:buNone/>
              <a:defRPr/>
            </a:pPr>
            <a:r>
              <a:rPr lang="nn-NO" b="1" dirty="0">
                <a:solidFill>
                  <a:srgbClr val="7F0055"/>
                </a:solidFill>
                <a:latin typeface="Consolas"/>
              </a:rPr>
              <a:t>for</a:t>
            </a:r>
            <a:r>
              <a:rPr lang="nn-NO" b="1" dirty="0">
                <a:solidFill>
                  <a:srgbClr val="000000"/>
                </a:solidFill>
                <a:latin typeface="Consolas"/>
              </a:rPr>
              <a:t> (</a:t>
            </a:r>
            <a:r>
              <a:rPr lang="nn-NO" b="1" dirty="0">
                <a:solidFill>
                  <a:srgbClr val="7F0055"/>
                </a:solidFill>
                <a:latin typeface="Consolas"/>
              </a:rPr>
              <a:t>int</a:t>
            </a:r>
            <a:r>
              <a:rPr lang="nn-NO" b="1" dirty="0">
                <a:solidFill>
                  <a:srgbClr val="000000"/>
                </a:solidFill>
                <a:latin typeface="Consolas"/>
              </a:rPr>
              <a:t> i = n- 1; i &gt;= 0; i--)</a:t>
            </a:r>
          </a:p>
          <a:p>
            <a:pPr marL="0" indent="0">
              <a:buNone/>
              <a:defRPr/>
            </a:pPr>
            <a:r>
              <a:rPr lang="en-US" dirty="0">
                <a:solidFill>
                  <a:srgbClr val="000000"/>
                </a:solidFill>
                <a:latin typeface="Consolas"/>
              </a:rPr>
              <a:t>{</a:t>
            </a:r>
          </a:p>
          <a:p>
            <a:pPr marL="0" indent="0">
              <a:buNone/>
              <a:defRPr/>
            </a:pPr>
            <a:r>
              <a:rPr lang="en-US" b="1" dirty="0">
                <a:solidFill>
                  <a:srgbClr val="7F0055"/>
                </a:solidFill>
                <a:latin typeface="Consolas"/>
              </a:rPr>
              <a:t>   for</a:t>
            </a:r>
            <a:r>
              <a:rPr lang="en-US" b="1" dirty="0">
                <a:solidFill>
                  <a:srgbClr val="000000"/>
                </a:solidFill>
                <a:latin typeface="Consolas"/>
              </a:rPr>
              <a:t> (</a:t>
            </a:r>
            <a:r>
              <a:rPr lang="en-US" b="1" dirty="0">
                <a:solidFill>
                  <a:srgbClr val="7F0055"/>
                </a:solidFill>
                <a:latin typeface="Consolas"/>
              </a:rPr>
              <a:t>int</a:t>
            </a:r>
            <a:r>
              <a:rPr lang="en-US" b="1" dirty="0">
                <a:solidFill>
                  <a:srgbClr val="000000"/>
                </a:solidFill>
                <a:latin typeface="Consolas"/>
              </a:rPr>
              <a:t> current = 0; current &lt; n - 1 ; current++)</a:t>
            </a:r>
          </a:p>
          <a:p>
            <a:pPr marL="0" indent="0">
              <a:buNone/>
              <a:defRPr/>
            </a:pPr>
            <a:r>
              <a:rPr lang="en-US" dirty="0">
                <a:solidFill>
                  <a:srgbClr val="000000"/>
                </a:solidFill>
                <a:latin typeface="Consolas"/>
              </a:rPr>
              <a:t>   {</a:t>
            </a:r>
          </a:p>
          <a:p>
            <a:pPr marL="0" indent="0">
              <a:buNone/>
              <a:defRPr/>
            </a:pPr>
            <a:r>
              <a:rPr lang="en-US" dirty="0">
                <a:solidFill>
                  <a:srgbClr val="000000"/>
                </a:solidFill>
                <a:latin typeface="Consolas"/>
              </a:rPr>
              <a:t>      next = current + 1;</a:t>
            </a:r>
          </a:p>
          <a:p>
            <a:pPr marL="0" indent="0">
              <a:buNone/>
              <a:defRPr/>
            </a:pPr>
            <a:r>
              <a:rPr lang="en-US" b="1" dirty="0">
                <a:solidFill>
                  <a:srgbClr val="7F0055"/>
                </a:solidFill>
                <a:latin typeface="Consolas"/>
              </a:rPr>
              <a:t>      if</a:t>
            </a:r>
            <a:r>
              <a:rPr lang="en-US" b="1" dirty="0">
                <a:solidFill>
                  <a:srgbClr val="000000"/>
                </a:solidFill>
                <a:latin typeface="Consolas"/>
              </a:rPr>
              <a:t> (data[current] &gt; data[next]) </a:t>
            </a:r>
          </a:p>
          <a:p>
            <a:pPr marL="0" indent="0">
              <a:buNone/>
              <a:defRPr/>
            </a:pPr>
            <a:r>
              <a:rPr lang="en-US" dirty="0">
                <a:solidFill>
                  <a:srgbClr val="000000"/>
                </a:solidFill>
                <a:latin typeface="Consolas"/>
              </a:rPr>
              <a:t>      {   </a:t>
            </a:r>
            <a:r>
              <a:rPr lang="en-US" dirty="0">
                <a:solidFill>
                  <a:srgbClr val="3F7F5F"/>
                </a:solidFill>
                <a:latin typeface="Consolas"/>
              </a:rPr>
              <a:t>// Swap  </a:t>
            </a:r>
          </a:p>
          <a:p>
            <a:pPr marL="0" indent="0">
              <a:buNone/>
              <a:defRPr/>
            </a:pPr>
            <a:r>
              <a:rPr lang="en-US" dirty="0">
                <a:solidFill>
                  <a:srgbClr val="000000"/>
                </a:solidFill>
                <a:latin typeface="Consolas"/>
              </a:rPr>
              <a:t>	  temp = data[current]; </a:t>
            </a:r>
          </a:p>
          <a:p>
            <a:pPr marL="0" indent="0">
              <a:buNone/>
              <a:defRPr/>
            </a:pPr>
            <a:r>
              <a:rPr lang="en-US" dirty="0">
                <a:solidFill>
                  <a:srgbClr val="000000"/>
                </a:solidFill>
                <a:latin typeface="Consolas"/>
              </a:rPr>
              <a:t>	  data[current] = data[next];</a:t>
            </a:r>
          </a:p>
          <a:p>
            <a:pPr marL="0" indent="0">
              <a:buNone/>
              <a:defRPr/>
            </a:pPr>
            <a:r>
              <a:rPr lang="en-US" dirty="0">
                <a:solidFill>
                  <a:srgbClr val="000000"/>
                </a:solidFill>
                <a:latin typeface="Consolas"/>
              </a:rPr>
              <a:t>	  data[next] = temp;</a:t>
            </a:r>
          </a:p>
          <a:p>
            <a:pPr marL="0" indent="0">
              <a:buNone/>
              <a:defRPr/>
            </a:pPr>
            <a:r>
              <a:rPr lang="en-US" dirty="0">
                <a:solidFill>
                  <a:srgbClr val="000000"/>
                </a:solidFill>
                <a:latin typeface="Consolas"/>
              </a:rPr>
              <a:t>      }</a:t>
            </a:r>
          </a:p>
          <a:p>
            <a:pPr marL="0" indent="0">
              <a:buNone/>
              <a:defRPr/>
            </a:pPr>
            <a:r>
              <a:rPr lang="en-US" dirty="0">
                <a:solidFill>
                  <a:srgbClr val="000000"/>
                </a:solidFill>
                <a:latin typeface="Consolas"/>
              </a:rPr>
              <a:t>   }</a:t>
            </a:r>
          </a:p>
          <a:p>
            <a:pPr marL="0" indent="0">
              <a:buNone/>
              <a:defRPr/>
            </a:pPr>
            <a:r>
              <a:rPr lang="en-US" dirty="0">
                <a:solidFill>
                  <a:srgbClr val="000000"/>
                </a:solidFill>
                <a:latin typeface="Consolas"/>
              </a:rPr>
              <a:t>}</a:t>
            </a:r>
            <a:endParaRPr lang="en-US" dirty="0"/>
          </a:p>
        </p:txBody>
      </p:sp>
    </p:spTree>
    <p:extLst>
      <p:ext uri="{BB962C8B-B14F-4D97-AF65-F5344CB8AC3E}">
        <p14:creationId xmlns:p14="http://schemas.microsoft.com/office/powerpoint/2010/main" val="196526494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extLst>
          </p:cNvPr>
          <p:cNvSpPr>
            <a:spLocks noGrp="1"/>
          </p:cNvSpPr>
          <p:nvPr>
            <p:ph type="ftr" sz="quarter" idx="11"/>
          </p:nvPr>
        </p:nvSpPr>
        <p:spPr/>
        <p:txBody>
          <a:bodyPr/>
          <a:lstStyle/>
          <a:p>
            <a:pPr>
              <a:defRPr/>
            </a:pPr>
            <a:r>
              <a:rPr lang="en-US"/>
              <a:t>CENG 213 Data Structures</a:t>
            </a:r>
          </a:p>
        </p:txBody>
      </p:sp>
      <p:sp>
        <p:nvSpPr>
          <p:cNvPr id="79875" name="Rectangle 2"/>
          <p:cNvSpPr>
            <a:spLocks noGrp="1"/>
          </p:cNvSpPr>
          <p:nvPr>
            <p:ph type="title"/>
          </p:nvPr>
        </p:nvSpPr>
        <p:spPr/>
        <p:txBody>
          <a:bodyPr/>
          <a:lstStyle/>
          <a:p>
            <a:pPr eaLnBrk="1" hangingPunct="1"/>
            <a:r>
              <a:rPr lang="en-US" altLang="en-US" smtClean="0"/>
              <a:t>Bubble Sort – Analysis </a:t>
            </a:r>
          </a:p>
        </p:txBody>
      </p:sp>
      <p:sp>
        <p:nvSpPr>
          <p:cNvPr id="79876" name="Rectangle 3"/>
          <p:cNvSpPr>
            <a:spLocks noGrp="1"/>
          </p:cNvSpPr>
          <p:nvPr>
            <p:ph type="body" idx="1"/>
          </p:nvPr>
        </p:nvSpPr>
        <p:spPr/>
        <p:txBody>
          <a:bodyPr>
            <a:normAutofit lnSpcReduction="10000"/>
          </a:bodyPr>
          <a:lstStyle/>
          <a:p>
            <a:pPr eaLnBrk="1" hangingPunct="1"/>
            <a:r>
              <a:rPr lang="en-US" altLang="en-US" b="1" i="1" smtClean="0"/>
              <a:t>Best-case: </a:t>
            </a:r>
            <a:r>
              <a:rPr lang="en-US" altLang="en-US" b="1" smtClean="0">
                <a:sym typeface="Wingdings" panose="05000000000000000000" pitchFamily="2" charset="2"/>
              </a:rPr>
              <a:t> </a:t>
            </a:r>
            <a:r>
              <a:rPr lang="el-GR" altLang="en-US" b="1" smtClean="0">
                <a:sym typeface="Wingdings" panose="05000000000000000000" pitchFamily="2" charset="2"/>
              </a:rPr>
              <a:t>Ω </a:t>
            </a:r>
            <a:r>
              <a:rPr lang="en-US" altLang="en-US" b="1" smtClean="0">
                <a:sym typeface="Wingdings" panose="05000000000000000000" pitchFamily="2" charset="2"/>
              </a:rPr>
              <a:t>(n)</a:t>
            </a:r>
            <a:endParaRPr lang="en-US" altLang="en-US" b="1" smtClean="0"/>
          </a:p>
          <a:p>
            <a:pPr lvl="1" eaLnBrk="1" hangingPunct="1"/>
            <a:r>
              <a:rPr lang="en-US" altLang="en-US"/>
              <a:t>Array is already sorted in ascending order.</a:t>
            </a:r>
          </a:p>
          <a:p>
            <a:pPr lvl="1" eaLnBrk="1" hangingPunct="1"/>
            <a:r>
              <a:rPr lang="en-US" altLang="en-US"/>
              <a:t>The number of moves: 0 </a:t>
            </a:r>
            <a:r>
              <a:rPr lang="en-US" altLang="en-US">
                <a:sym typeface="Wingdings" panose="05000000000000000000" pitchFamily="2" charset="2"/>
              </a:rPr>
              <a:t> </a:t>
            </a:r>
            <a:r>
              <a:rPr lang="en-US" altLang="en-US"/>
              <a:t>O(1)</a:t>
            </a:r>
          </a:p>
          <a:p>
            <a:pPr lvl="1" eaLnBrk="1" hangingPunct="1"/>
            <a:r>
              <a:rPr lang="en-US" altLang="en-US"/>
              <a:t>The number of key comparisons: (n-1) </a:t>
            </a:r>
            <a:r>
              <a:rPr lang="en-US" altLang="en-US">
                <a:sym typeface="Wingdings" panose="05000000000000000000" pitchFamily="2" charset="2"/>
              </a:rPr>
              <a:t> </a:t>
            </a:r>
            <a:r>
              <a:rPr lang="en-US" altLang="en-US"/>
              <a:t>O(n)</a:t>
            </a:r>
          </a:p>
          <a:p>
            <a:pPr eaLnBrk="1" hangingPunct="1"/>
            <a:r>
              <a:rPr lang="en-US" altLang="en-US" b="1" i="1" smtClean="0"/>
              <a:t>Worst-case: </a:t>
            </a:r>
            <a:r>
              <a:rPr lang="en-US" altLang="en-US" b="1" smtClean="0">
                <a:sym typeface="Wingdings" panose="05000000000000000000" pitchFamily="2" charset="2"/>
              </a:rPr>
              <a:t> O(n</a:t>
            </a:r>
            <a:r>
              <a:rPr lang="en-US" altLang="en-US" b="1" baseline="30000" smtClean="0">
                <a:sym typeface="Wingdings" panose="05000000000000000000" pitchFamily="2" charset="2"/>
              </a:rPr>
              <a:t>2</a:t>
            </a:r>
            <a:r>
              <a:rPr lang="en-US" altLang="en-US" b="1" smtClean="0">
                <a:sym typeface="Wingdings" panose="05000000000000000000" pitchFamily="2" charset="2"/>
              </a:rPr>
              <a:t>)</a:t>
            </a:r>
            <a:endParaRPr lang="en-US" altLang="en-US" b="1" i="1" smtClean="0"/>
          </a:p>
          <a:p>
            <a:pPr lvl="1" eaLnBrk="1" hangingPunct="1"/>
            <a:r>
              <a:rPr lang="en-US" altLang="en-US"/>
              <a:t>Array is in reverse order:</a:t>
            </a:r>
          </a:p>
          <a:p>
            <a:pPr lvl="1" eaLnBrk="1" hangingPunct="1"/>
            <a:r>
              <a:rPr lang="en-US" altLang="en-US"/>
              <a:t>Outer loop is executed n-1 times, </a:t>
            </a:r>
          </a:p>
          <a:p>
            <a:pPr lvl="1" eaLnBrk="1" hangingPunct="1"/>
            <a:r>
              <a:rPr lang="en-US" altLang="en-US"/>
              <a:t>The number of moves: 3*(1+2+...+n-1) = 3 * </a:t>
            </a:r>
            <a:r>
              <a:rPr lang="en-US" altLang="en-US">
                <a:sym typeface="Wingdings" panose="05000000000000000000" pitchFamily="2" charset="2"/>
              </a:rPr>
              <a:t>n*(n-1)/2  </a:t>
            </a:r>
            <a:r>
              <a:rPr lang="en-US" altLang="en-US"/>
              <a:t>O(n</a:t>
            </a:r>
            <a:r>
              <a:rPr lang="en-US" altLang="en-US" baseline="30000"/>
              <a:t>2</a:t>
            </a:r>
            <a:r>
              <a:rPr lang="en-US" altLang="en-US"/>
              <a:t>)</a:t>
            </a:r>
          </a:p>
          <a:p>
            <a:pPr lvl="1" eaLnBrk="1" hangingPunct="1"/>
            <a:r>
              <a:rPr lang="en-US" altLang="en-US"/>
              <a:t>The number of key comparisons: (1+2+...+n-1)= </a:t>
            </a:r>
            <a:r>
              <a:rPr lang="en-US" altLang="en-US">
                <a:sym typeface="Wingdings" panose="05000000000000000000" pitchFamily="2" charset="2"/>
              </a:rPr>
              <a:t>n*(n-1)/2  </a:t>
            </a:r>
            <a:r>
              <a:rPr lang="en-US" altLang="en-US"/>
              <a:t>O(n</a:t>
            </a:r>
            <a:r>
              <a:rPr lang="en-US" altLang="en-US" baseline="30000"/>
              <a:t>2</a:t>
            </a:r>
            <a:r>
              <a:rPr lang="en-US" altLang="en-US"/>
              <a:t>)</a:t>
            </a:r>
          </a:p>
          <a:p>
            <a:pPr eaLnBrk="1" hangingPunct="1"/>
            <a:r>
              <a:rPr lang="en-US" altLang="en-US" smtClean="0"/>
              <a:t>Average-case: </a:t>
            </a:r>
            <a:r>
              <a:rPr lang="en-US" altLang="en-US" b="1" smtClean="0">
                <a:sym typeface="Wingdings" panose="05000000000000000000" pitchFamily="2" charset="2"/>
              </a:rPr>
              <a:t> </a:t>
            </a:r>
            <a:r>
              <a:rPr lang="el-GR" altLang="en-US" b="1" smtClean="0">
                <a:sym typeface="Wingdings" panose="05000000000000000000" pitchFamily="2" charset="2"/>
              </a:rPr>
              <a:t>θ</a:t>
            </a:r>
            <a:r>
              <a:rPr lang="en-US" altLang="en-US" b="1" smtClean="0">
                <a:sym typeface="Wingdings" panose="05000000000000000000" pitchFamily="2" charset="2"/>
              </a:rPr>
              <a:t>(n</a:t>
            </a:r>
            <a:r>
              <a:rPr lang="en-US" altLang="en-US" b="1" baseline="30000" smtClean="0">
                <a:sym typeface="Wingdings" panose="05000000000000000000" pitchFamily="2" charset="2"/>
              </a:rPr>
              <a:t>2</a:t>
            </a:r>
            <a:r>
              <a:rPr lang="en-US" altLang="en-US" b="1" smtClean="0">
                <a:sym typeface="Wingdings" panose="05000000000000000000" pitchFamily="2" charset="2"/>
              </a:rPr>
              <a:t>)</a:t>
            </a:r>
            <a:endParaRPr lang="en-US" altLang="en-US" smtClean="0"/>
          </a:p>
          <a:p>
            <a:pPr lvl="1" eaLnBrk="1" hangingPunct="1"/>
            <a:r>
              <a:rPr lang="en-US" altLang="en-US"/>
              <a:t>We have to look at all possible initial data organizations.</a:t>
            </a:r>
          </a:p>
          <a:p>
            <a:pPr eaLnBrk="1" hangingPunct="1"/>
            <a:r>
              <a:rPr lang="en-US" altLang="en-US" b="1" smtClean="0"/>
              <a:t>So, Bubble Sort is </a:t>
            </a:r>
            <a:r>
              <a:rPr lang="en-US" altLang="en-US" b="1" smtClean="0">
                <a:sym typeface="Wingdings" panose="05000000000000000000" pitchFamily="2" charset="2"/>
              </a:rPr>
              <a:t>O(n</a:t>
            </a:r>
            <a:r>
              <a:rPr lang="en-US" altLang="en-US" b="1" baseline="30000" smtClean="0">
                <a:sym typeface="Wingdings" panose="05000000000000000000" pitchFamily="2" charset="2"/>
              </a:rPr>
              <a:t>2</a:t>
            </a:r>
            <a:r>
              <a:rPr lang="en-US" altLang="en-US" b="1" smtClean="0">
                <a:sym typeface="Wingdings" panose="05000000000000000000" pitchFamily="2" charset="2"/>
              </a:rPr>
              <a:t>)</a:t>
            </a:r>
            <a:endParaRPr lang="en-US" altLang="en-US" b="1" i="1" smtClean="0"/>
          </a:p>
          <a:p>
            <a:pPr eaLnBrk="1" hangingPunct="1"/>
            <a:endParaRPr lang="en-US" altLang="en-US" smtClean="0"/>
          </a:p>
        </p:txBody>
      </p:sp>
    </p:spTree>
    <p:extLst>
      <p:ext uri="{BB962C8B-B14F-4D97-AF65-F5344CB8AC3E}">
        <p14:creationId xmlns:p14="http://schemas.microsoft.com/office/powerpoint/2010/main" val="180795687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p:txBody>
          <a:bodyPr/>
          <a:lstStyle/>
          <a:p>
            <a:pPr eaLnBrk="1" hangingPunct="1"/>
            <a:r>
              <a:rPr lang="en-US" altLang="en-US" smtClean="0"/>
              <a:t>Mergesort</a:t>
            </a:r>
          </a:p>
        </p:txBody>
      </p:sp>
      <p:sp>
        <p:nvSpPr>
          <p:cNvPr id="74755" name="Rectangle 3">
            <a:extLst>
              <a:ext uri="{FF2B5EF4-FFF2-40B4-BE49-F238E27FC236}"/>
            </a:extLst>
          </p:cNvPr>
          <p:cNvSpPr>
            <a:spLocks noGrp="1" noChangeArrowheads="1"/>
          </p:cNvSpPr>
          <p:nvPr>
            <p:ph idx="1"/>
          </p:nvPr>
        </p:nvSpPr>
        <p:spPr>
          <a:xfrm>
            <a:off x="2057400" y="1752600"/>
            <a:ext cx="8001000" cy="2133600"/>
          </a:xfrm>
        </p:spPr>
        <p:txBody>
          <a:bodyPr>
            <a:normAutofit fontScale="92500" lnSpcReduction="10000"/>
          </a:bodyPr>
          <a:lstStyle/>
          <a:p>
            <a:pPr eaLnBrk="1" hangingPunct="1">
              <a:defRPr/>
            </a:pPr>
            <a:r>
              <a:rPr lang="en-US" altLang="en-US" dirty="0"/>
              <a:t>Mergesort algorithm is one of two important divide-and-conquer sorting algorithms (the other one is quicksort).</a:t>
            </a:r>
          </a:p>
          <a:p>
            <a:pPr eaLnBrk="1" hangingPunct="1">
              <a:defRPr/>
            </a:pPr>
            <a:r>
              <a:rPr lang="en-US" altLang="en-US" dirty="0"/>
              <a:t>It is a recursive algorithm.</a:t>
            </a:r>
          </a:p>
          <a:p>
            <a:pPr lvl="1" eaLnBrk="1" hangingPunct="1">
              <a:defRPr/>
            </a:pPr>
            <a:r>
              <a:rPr lang="en-US" altLang="en-US" dirty="0"/>
              <a:t>Divides the list into halves</a:t>
            </a:r>
          </a:p>
          <a:p>
            <a:pPr lvl="2" eaLnBrk="1" hangingPunct="1">
              <a:defRPr/>
            </a:pPr>
            <a:r>
              <a:rPr lang="en-US" altLang="en-US" dirty="0"/>
              <a:t>Left + (Right - 1) / 2 elements</a:t>
            </a:r>
          </a:p>
          <a:p>
            <a:pPr lvl="1" eaLnBrk="1" hangingPunct="1">
              <a:defRPr/>
            </a:pPr>
            <a:r>
              <a:rPr lang="en-US" altLang="en-US" dirty="0"/>
              <a:t>Sort each halve separately, and </a:t>
            </a:r>
          </a:p>
          <a:p>
            <a:pPr lvl="1" eaLnBrk="1" hangingPunct="1">
              <a:defRPr/>
            </a:pPr>
            <a:r>
              <a:rPr lang="en-US" altLang="en-US" dirty="0"/>
              <a:t>Then merge the sorted halves into one sorted array</a:t>
            </a:r>
          </a:p>
        </p:txBody>
      </p:sp>
    </p:spTree>
    <p:extLst>
      <p:ext uri="{BB962C8B-B14F-4D97-AF65-F5344CB8AC3E}">
        <p14:creationId xmlns:p14="http://schemas.microsoft.com/office/powerpoint/2010/main" val="231755029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altLang="en-US" smtClean="0"/>
              <a:t>Mergesort</a:t>
            </a:r>
          </a:p>
        </p:txBody>
      </p:sp>
      <p:sp>
        <p:nvSpPr>
          <p:cNvPr id="82947" name="Text Box 4"/>
          <p:cNvSpPr txBox="1">
            <a:spLocks noChangeArrowheads="1"/>
          </p:cNvSpPr>
          <p:nvPr/>
        </p:nvSpPr>
        <p:spPr bwMode="auto">
          <a:xfrm>
            <a:off x="9144000" y="36576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2060"/>
                </a:solidFill>
                <a:latin typeface="Arial" panose="020B0604020202020204" pitchFamily="34" charset="0"/>
                <a:ea typeface="新細明體" pitchFamily="18" charset="-120"/>
              </a:rPr>
              <a:t>sort</a:t>
            </a:r>
          </a:p>
        </p:txBody>
      </p:sp>
      <p:sp>
        <p:nvSpPr>
          <p:cNvPr id="82948" name="Rectangle 5"/>
          <p:cNvSpPr>
            <a:spLocks noChangeArrowheads="1"/>
          </p:cNvSpPr>
          <p:nvPr/>
        </p:nvSpPr>
        <p:spPr bwMode="auto">
          <a:xfrm>
            <a:off x="31242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A</a:t>
            </a:r>
          </a:p>
        </p:txBody>
      </p:sp>
      <p:sp>
        <p:nvSpPr>
          <p:cNvPr id="82949" name="Rectangle 6"/>
          <p:cNvSpPr>
            <a:spLocks noChangeArrowheads="1"/>
          </p:cNvSpPr>
          <p:nvPr/>
        </p:nvSpPr>
        <p:spPr bwMode="auto">
          <a:xfrm>
            <a:off x="36576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L</a:t>
            </a:r>
          </a:p>
        </p:txBody>
      </p:sp>
      <p:sp>
        <p:nvSpPr>
          <p:cNvPr id="82950" name="Rectangle 7"/>
          <p:cNvSpPr>
            <a:spLocks noChangeArrowheads="1"/>
          </p:cNvSpPr>
          <p:nvPr/>
        </p:nvSpPr>
        <p:spPr bwMode="auto">
          <a:xfrm>
            <a:off x="41910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G</a:t>
            </a:r>
          </a:p>
        </p:txBody>
      </p:sp>
      <p:sp>
        <p:nvSpPr>
          <p:cNvPr id="82951" name="Rectangle 8"/>
          <p:cNvSpPr>
            <a:spLocks noChangeArrowheads="1"/>
          </p:cNvSpPr>
          <p:nvPr/>
        </p:nvSpPr>
        <p:spPr bwMode="auto">
          <a:xfrm>
            <a:off x="47244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O</a:t>
            </a:r>
          </a:p>
        </p:txBody>
      </p:sp>
      <p:sp>
        <p:nvSpPr>
          <p:cNvPr id="82952" name="Rectangle 9"/>
          <p:cNvSpPr>
            <a:spLocks noChangeArrowheads="1"/>
          </p:cNvSpPr>
          <p:nvPr/>
        </p:nvSpPr>
        <p:spPr bwMode="auto">
          <a:xfrm>
            <a:off x="52578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R</a:t>
            </a:r>
          </a:p>
        </p:txBody>
      </p:sp>
      <p:sp>
        <p:nvSpPr>
          <p:cNvPr id="82953" name="Rectangle 10"/>
          <p:cNvSpPr>
            <a:spLocks noChangeArrowheads="1"/>
          </p:cNvSpPr>
          <p:nvPr/>
        </p:nvSpPr>
        <p:spPr bwMode="auto">
          <a:xfrm>
            <a:off x="57912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I</a:t>
            </a:r>
          </a:p>
        </p:txBody>
      </p:sp>
      <p:sp>
        <p:nvSpPr>
          <p:cNvPr id="82954" name="Rectangle 11"/>
          <p:cNvSpPr>
            <a:spLocks noChangeArrowheads="1"/>
          </p:cNvSpPr>
          <p:nvPr/>
        </p:nvSpPr>
        <p:spPr bwMode="auto">
          <a:xfrm>
            <a:off x="63246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T</a:t>
            </a:r>
          </a:p>
        </p:txBody>
      </p:sp>
      <p:sp>
        <p:nvSpPr>
          <p:cNvPr id="82955" name="Rectangle 12"/>
          <p:cNvSpPr>
            <a:spLocks noChangeArrowheads="1"/>
          </p:cNvSpPr>
          <p:nvPr/>
        </p:nvSpPr>
        <p:spPr bwMode="auto">
          <a:xfrm>
            <a:off x="68580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H</a:t>
            </a:r>
          </a:p>
        </p:txBody>
      </p:sp>
      <p:sp>
        <p:nvSpPr>
          <p:cNvPr id="82956" name="Rectangle 13"/>
          <p:cNvSpPr>
            <a:spLocks noChangeArrowheads="1"/>
          </p:cNvSpPr>
          <p:nvPr/>
        </p:nvSpPr>
        <p:spPr bwMode="auto">
          <a:xfrm>
            <a:off x="73914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M</a:t>
            </a:r>
          </a:p>
        </p:txBody>
      </p:sp>
      <p:sp>
        <p:nvSpPr>
          <p:cNvPr id="82957" name="Rectangle 14"/>
          <p:cNvSpPr>
            <a:spLocks noChangeArrowheads="1"/>
          </p:cNvSpPr>
          <p:nvPr/>
        </p:nvSpPr>
        <p:spPr bwMode="auto">
          <a:xfrm>
            <a:off x="7924800" y="2286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S</a:t>
            </a:r>
          </a:p>
        </p:txBody>
      </p:sp>
      <p:sp>
        <p:nvSpPr>
          <p:cNvPr id="82958" name="Rectangle 16"/>
          <p:cNvSpPr>
            <a:spLocks noChangeArrowheads="1"/>
          </p:cNvSpPr>
          <p:nvPr/>
        </p:nvSpPr>
        <p:spPr bwMode="auto">
          <a:xfrm>
            <a:off x="28194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A</a:t>
            </a:r>
          </a:p>
        </p:txBody>
      </p:sp>
      <p:sp>
        <p:nvSpPr>
          <p:cNvPr id="82959" name="Rectangle 17"/>
          <p:cNvSpPr>
            <a:spLocks noChangeArrowheads="1"/>
          </p:cNvSpPr>
          <p:nvPr/>
        </p:nvSpPr>
        <p:spPr bwMode="auto">
          <a:xfrm>
            <a:off x="33528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L</a:t>
            </a:r>
          </a:p>
        </p:txBody>
      </p:sp>
      <p:sp>
        <p:nvSpPr>
          <p:cNvPr id="82960" name="Rectangle 18"/>
          <p:cNvSpPr>
            <a:spLocks noChangeArrowheads="1"/>
          </p:cNvSpPr>
          <p:nvPr/>
        </p:nvSpPr>
        <p:spPr bwMode="auto">
          <a:xfrm>
            <a:off x="38862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G</a:t>
            </a:r>
          </a:p>
        </p:txBody>
      </p:sp>
      <p:sp>
        <p:nvSpPr>
          <p:cNvPr id="82961" name="Rectangle 19"/>
          <p:cNvSpPr>
            <a:spLocks noChangeArrowheads="1"/>
          </p:cNvSpPr>
          <p:nvPr/>
        </p:nvSpPr>
        <p:spPr bwMode="auto">
          <a:xfrm>
            <a:off x="44196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O</a:t>
            </a:r>
          </a:p>
        </p:txBody>
      </p:sp>
      <p:sp>
        <p:nvSpPr>
          <p:cNvPr id="82962" name="Rectangle 20"/>
          <p:cNvSpPr>
            <a:spLocks noChangeArrowheads="1"/>
          </p:cNvSpPr>
          <p:nvPr/>
        </p:nvSpPr>
        <p:spPr bwMode="auto">
          <a:xfrm>
            <a:off x="49530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R</a:t>
            </a:r>
          </a:p>
        </p:txBody>
      </p:sp>
      <p:sp>
        <p:nvSpPr>
          <p:cNvPr id="82963" name="Rectangle 21"/>
          <p:cNvSpPr>
            <a:spLocks noChangeArrowheads="1"/>
          </p:cNvSpPr>
          <p:nvPr/>
        </p:nvSpPr>
        <p:spPr bwMode="auto">
          <a:xfrm>
            <a:off x="60960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I</a:t>
            </a:r>
          </a:p>
        </p:txBody>
      </p:sp>
      <p:sp>
        <p:nvSpPr>
          <p:cNvPr id="82964" name="Rectangle 22"/>
          <p:cNvSpPr>
            <a:spLocks noChangeArrowheads="1"/>
          </p:cNvSpPr>
          <p:nvPr/>
        </p:nvSpPr>
        <p:spPr bwMode="auto">
          <a:xfrm>
            <a:off x="66294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T</a:t>
            </a:r>
          </a:p>
        </p:txBody>
      </p:sp>
      <p:sp>
        <p:nvSpPr>
          <p:cNvPr id="82965" name="Rectangle 23"/>
          <p:cNvSpPr>
            <a:spLocks noChangeArrowheads="1"/>
          </p:cNvSpPr>
          <p:nvPr/>
        </p:nvSpPr>
        <p:spPr bwMode="auto">
          <a:xfrm>
            <a:off x="71628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H</a:t>
            </a:r>
          </a:p>
        </p:txBody>
      </p:sp>
      <p:sp>
        <p:nvSpPr>
          <p:cNvPr id="82966" name="Rectangle 24"/>
          <p:cNvSpPr>
            <a:spLocks noChangeArrowheads="1"/>
          </p:cNvSpPr>
          <p:nvPr/>
        </p:nvSpPr>
        <p:spPr bwMode="auto">
          <a:xfrm>
            <a:off x="76962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M</a:t>
            </a:r>
          </a:p>
        </p:txBody>
      </p:sp>
      <p:sp>
        <p:nvSpPr>
          <p:cNvPr id="82967" name="Rectangle 25"/>
          <p:cNvSpPr>
            <a:spLocks noChangeArrowheads="1"/>
          </p:cNvSpPr>
          <p:nvPr/>
        </p:nvSpPr>
        <p:spPr bwMode="auto">
          <a:xfrm>
            <a:off x="8229600" y="2971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S</a:t>
            </a:r>
          </a:p>
        </p:txBody>
      </p:sp>
      <p:sp>
        <p:nvSpPr>
          <p:cNvPr id="82968" name="Rectangle 26"/>
          <p:cNvSpPr>
            <a:spLocks noChangeArrowheads="1"/>
          </p:cNvSpPr>
          <p:nvPr/>
        </p:nvSpPr>
        <p:spPr bwMode="auto">
          <a:xfrm>
            <a:off x="28194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A</a:t>
            </a:r>
          </a:p>
        </p:txBody>
      </p:sp>
      <p:sp>
        <p:nvSpPr>
          <p:cNvPr id="82969" name="Rectangle 27"/>
          <p:cNvSpPr>
            <a:spLocks noChangeArrowheads="1"/>
          </p:cNvSpPr>
          <p:nvPr/>
        </p:nvSpPr>
        <p:spPr bwMode="auto">
          <a:xfrm>
            <a:off x="33528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G</a:t>
            </a:r>
          </a:p>
        </p:txBody>
      </p:sp>
      <p:sp>
        <p:nvSpPr>
          <p:cNvPr id="82970" name="Rectangle 28"/>
          <p:cNvSpPr>
            <a:spLocks noChangeArrowheads="1"/>
          </p:cNvSpPr>
          <p:nvPr/>
        </p:nvSpPr>
        <p:spPr bwMode="auto">
          <a:xfrm>
            <a:off x="38862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L</a:t>
            </a:r>
          </a:p>
        </p:txBody>
      </p:sp>
      <p:sp>
        <p:nvSpPr>
          <p:cNvPr id="82971" name="Rectangle 29"/>
          <p:cNvSpPr>
            <a:spLocks noChangeArrowheads="1"/>
          </p:cNvSpPr>
          <p:nvPr/>
        </p:nvSpPr>
        <p:spPr bwMode="auto">
          <a:xfrm>
            <a:off x="44196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O</a:t>
            </a:r>
          </a:p>
        </p:txBody>
      </p:sp>
      <p:sp>
        <p:nvSpPr>
          <p:cNvPr id="82972" name="Rectangle 30"/>
          <p:cNvSpPr>
            <a:spLocks noChangeArrowheads="1"/>
          </p:cNvSpPr>
          <p:nvPr/>
        </p:nvSpPr>
        <p:spPr bwMode="auto">
          <a:xfrm>
            <a:off x="49530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R</a:t>
            </a:r>
          </a:p>
        </p:txBody>
      </p:sp>
      <p:sp>
        <p:nvSpPr>
          <p:cNvPr id="82973" name="Rectangle 31"/>
          <p:cNvSpPr>
            <a:spLocks noChangeArrowheads="1"/>
          </p:cNvSpPr>
          <p:nvPr/>
        </p:nvSpPr>
        <p:spPr bwMode="auto">
          <a:xfrm>
            <a:off x="60960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H</a:t>
            </a:r>
          </a:p>
        </p:txBody>
      </p:sp>
      <p:sp>
        <p:nvSpPr>
          <p:cNvPr id="82974" name="Rectangle 32"/>
          <p:cNvSpPr>
            <a:spLocks noChangeArrowheads="1"/>
          </p:cNvSpPr>
          <p:nvPr/>
        </p:nvSpPr>
        <p:spPr bwMode="auto">
          <a:xfrm>
            <a:off x="66294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I</a:t>
            </a:r>
          </a:p>
        </p:txBody>
      </p:sp>
      <p:sp>
        <p:nvSpPr>
          <p:cNvPr id="82975" name="Rectangle 33"/>
          <p:cNvSpPr>
            <a:spLocks noChangeArrowheads="1"/>
          </p:cNvSpPr>
          <p:nvPr/>
        </p:nvSpPr>
        <p:spPr bwMode="auto">
          <a:xfrm>
            <a:off x="71628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M</a:t>
            </a:r>
          </a:p>
        </p:txBody>
      </p:sp>
      <p:sp>
        <p:nvSpPr>
          <p:cNvPr id="82976" name="Rectangle 34"/>
          <p:cNvSpPr>
            <a:spLocks noChangeArrowheads="1"/>
          </p:cNvSpPr>
          <p:nvPr/>
        </p:nvSpPr>
        <p:spPr bwMode="auto">
          <a:xfrm>
            <a:off x="76962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S</a:t>
            </a:r>
          </a:p>
        </p:txBody>
      </p:sp>
      <p:sp>
        <p:nvSpPr>
          <p:cNvPr id="82977" name="Rectangle 35"/>
          <p:cNvSpPr>
            <a:spLocks noChangeArrowheads="1"/>
          </p:cNvSpPr>
          <p:nvPr/>
        </p:nvSpPr>
        <p:spPr bwMode="auto">
          <a:xfrm>
            <a:off x="8229600" y="3657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T</a:t>
            </a:r>
          </a:p>
        </p:txBody>
      </p:sp>
      <p:sp>
        <p:nvSpPr>
          <p:cNvPr id="82978" name="Text Box 4"/>
          <p:cNvSpPr txBox="1">
            <a:spLocks noChangeArrowheads="1"/>
          </p:cNvSpPr>
          <p:nvPr/>
        </p:nvSpPr>
        <p:spPr bwMode="auto">
          <a:xfrm>
            <a:off x="9144000" y="4481513"/>
            <a:ext cx="990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2060"/>
                </a:solidFill>
                <a:latin typeface="Arial" panose="020B0604020202020204" pitchFamily="34" charset="0"/>
                <a:ea typeface="新細明體" pitchFamily="18" charset="-120"/>
              </a:rPr>
              <a:t>merge</a:t>
            </a:r>
          </a:p>
        </p:txBody>
      </p:sp>
      <p:sp>
        <p:nvSpPr>
          <p:cNvPr id="82979" name="Rectangle 37"/>
          <p:cNvSpPr>
            <a:spLocks noChangeArrowheads="1"/>
          </p:cNvSpPr>
          <p:nvPr/>
        </p:nvSpPr>
        <p:spPr bwMode="auto">
          <a:xfrm>
            <a:off x="31242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A</a:t>
            </a:r>
          </a:p>
        </p:txBody>
      </p:sp>
      <p:sp>
        <p:nvSpPr>
          <p:cNvPr id="82980" name="Rectangle 38"/>
          <p:cNvSpPr>
            <a:spLocks noChangeArrowheads="1"/>
          </p:cNvSpPr>
          <p:nvPr/>
        </p:nvSpPr>
        <p:spPr bwMode="auto">
          <a:xfrm>
            <a:off x="36576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G</a:t>
            </a:r>
          </a:p>
        </p:txBody>
      </p:sp>
      <p:sp>
        <p:nvSpPr>
          <p:cNvPr id="82981" name="Rectangle 39"/>
          <p:cNvSpPr>
            <a:spLocks noChangeArrowheads="1"/>
          </p:cNvSpPr>
          <p:nvPr/>
        </p:nvSpPr>
        <p:spPr bwMode="auto">
          <a:xfrm>
            <a:off x="41910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H</a:t>
            </a:r>
          </a:p>
        </p:txBody>
      </p:sp>
      <p:sp>
        <p:nvSpPr>
          <p:cNvPr id="82982" name="Rectangle 40"/>
          <p:cNvSpPr>
            <a:spLocks noChangeArrowheads="1"/>
          </p:cNvSpPr>
          <p:nvPr/>
        </p:nvSpPr>
        <p:spPr bwMode="auto">
          <a:xfrm>
            <a:off x="47244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I</a:t>
            </a:r>
          </a:p>
        </p:txBody>
      </p:sp>
      <p:sp>
        <p:nvSpPr>
          <p:cNvPr id="82983" name="Rectangle 41"/>
          <p:cNvSpPr>
            <a:spLocks noChangeArrowheads="1"/>
          </p:cNvSpPr>
          <p:nvPr/>
        </p:nvSpPr>
        <p:spPr bwMode="auto">
          <a:xfrm>
            <a:off x="52578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L</a:t>
            </a:r>
          </a:p>
        </p:txBody>
      </p:sp>
      <p:sp>
        <p:nvSpPr>
          <p:cNvPr id="82984" name="Rectangle 42"/>
          <p:cNvSpPr>
            <a:spLocks noChangeArrowheads="1"/>
          </p:cNvSpPr>
          <p:nvPr/>
        </p:nvSpPr>
        <p:spPr bwMode="auto">
          <a:xfrm>
            <a:off x="57912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M</a:t>
            </a:r>
          </a:p>
        </p:txBody>
      </p:sp>
      <p:sp>
        <p:nvSpPr>
          <p:cNvPr id="82985" name="Rectangle 43"/>
          <p:cNvSpPr>
            <a:spLocks noChangeArrowheads="1"/>
          </p:cNvSpPr>
          <p:nvPr/>
        </p:nvSpPr>
        <p:spPr bwMode="auto">
          <a:xfrm>
            <a:off x="63246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O</a:t>
            </a:r>
          </a:p>
        </p:txBody>
      </p:sp>
      <p:sp>
        <p:nvSpPr>
          <p:cNvPr id="82986" name="Rectangle 44"/>
          <p:cNvSpPr>
            <a:spLocks noChangeArrowheads="1"/>
          </p:cNvSpPr>
          <p:nvPr/>
        </p:nvSpPr>
        <p:spPr bwMode="auto">
          <a:xfrm>
            <a:off x="68580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R</a:t>
            </a:r>
          </a:p>
        </p:txBody>
      </p:sp>
      <p:sp>
        <p:nvSpPr>
          <p:cNvPr id="82987" name="Rectangle 45"/>
          <p:cNvSpPr>
            <a:spLocks noChangeArrowheads="1"/>
          </p:cNvSpPr>
          <p:nvPr/>
        </p:nvSpPr>
        <p:spPr bwMode="auto">
          <a:xfrm>
            <a:off x="73914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S</a:t>
            </a:r>
          </a:p>
        </p:txBody>
      </p:sp>
      <p:sp>
        <p:nvSpPr>
          <p:cNvPr id="82988" name="Rectangle 46"/>
          <p:cNvSpPr>
            <a:spLocks noChangeArrowheads="1"/>
          </p:cNvSpPr>
          <p:nvPr/>
        </p:nvSpPr>
        <p:spPr bwMode="auto">
          <a:xfrm>
            <a:off x="7924800" y="44196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T</a:t>
            </a:r>
          </a:p>
        </p:txBody>
      </p:sp>
      <p:sp>
        <p:nvSpPr>
          <p:cNvPr id="82989" name="Text Box 15"/>
          <p:cNvSpPr txBox="1">
            <a:spLocks noChangeArrowheads="1"/>
          </p:cNvSpPr>
          <p:nvPr/>
        </p:nvSpPr>
        <p:spPr bwMode="auto">
          <a:xfrm>
            <a:off x="8897938" y="2971801"/>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2060"/>
                </a:solidFill>
                <a:latin typeface="Arial" panose="020B0604020202020204" pitchFamily="34" charset="0"/>
                <a:ea typeface="新細明體" pitchFamily="18" charset="-120"/>
              </a:rPr>
              <a:t>divide</a:t>
            </a:r>
          </a:p>
        </p:txBody>
      </p:sp>
    </p:spTree>
    <p:extLst>
      <p:ext uri="{BB962C8B-B14F-4D97-AF65-F5344CB8AC3E}">
        <p14:creationId xmlns:p14="http://schemas.microsoft.com/office/powerpoint/2010/main" val="339780964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5067301" y="152401"/>
            <a:ext cx="5459413" cy="582613"/>
          </a:xfrm>
        </p:spPr>
        <p:txBody>
          <a:bodyPr/>
          <a:lstStyle/>
          <a:p>
            <a:pPr eaLnBrk="1" hangingPunct="1"/>
            <a:r>
              <a:rPr lang="en-US" altLang="en-US" sz="3200">
                <a:solidFill>
                  <a:schemeClr val="bg1"/>
                </a:solidFill>
              </a:rPr>
              <a:t>Mergesort - Example</a:t>
            </a:r>
          </a:p>
        </p:txBody>
      </p:sp>
      <p:graphicFrame>
        <p:nvGraphicFramePr>
          <p:cNvPr id="67831" name="Group 247">
            <a:extLst>
              <a:ext uri="{FF2B5EF4-FFF2-40B4-BE49-F238E27FC236}"/>
            </a:extLst>
          </p:cNvPr>
          <p:cNvGraphicFramePr>
            <a:graphicFrameLocks noGrp="1"/>
          </p:cNvGraphicFramePr>
          <p:nvPr/>
        </p:nvGraphicFramePr>
        <p:xfrm>
          <a:off x="4619626" y="1143001"/>
          <a:ext cx="2466975" cy="701675"/>
        </p:xfrm>
        <a:graphic>
          <a:graphicData uri="http://schemas.openxmlformats.org/drawingml/2006/table">
            <a:tbl>
              <a:tblPr/>
              <a:tblGrid>
                <a:gridCol w="309563">
                  <a:extLst>
                    <a:ext uri="{9D8B030D-6E8A-4147-A177-3AD203B41FA5}"/>
                  </a:extLst>
                </a:gridCol>
                <a:gridCol w="307975">
                  <a:extLst>
                    <a:ext uri="{9D8B030D-6E8A-4147-A177-3AD203B41FA5}"/>
                  </a:extLst>
                </a:gridCol>
                <a:gridCol w="306387">
                  <a:extLst>
                    <a:ext uri="{9D8B030D-6E8A-4147-A177-3AD203B41FA5}"/>
                  </a:extLst>
                </a:gridCol>
                <a:gridCol w="309563">
                  <a:extLst>
                    <a:ext uri="{9D8B030D-6E8A-4147-A177-3AD203B41FA5}"/>
                  </a:extLst>
                </a:gridCol>
                <a:gridCol w="309562">
                  <a:extLst>
                    <a:ext uri="{9D8B030D-6E8A-4147-A177-3AD203B41FA5}"/>
                  </a:extLst>
                </a:gridCol>
                <a:gridCol w="307975">
                  <a:extLst>
                    <a:ext uri="{9D8B030D-6E8A-4147-A177-3AD203B41FA5}"/>
                  </a:extLst>
                </a:gridCol>
                <a:gridCol w="306388">
                  <a:extLst>
                    <a:ext uri="{9D8B030D-6E8A-4147-A177-3AD203B41FA5}"/>
                  </a:extLst>
                </a:gridCol>
                <a:gridCol w="309562">
                  <a:extLst>
                    <a:ext uri="{9D8B030D-6E8A-4147-A177-3AD203B41FA5}"/>
                  </a:extLst>
                </a:gridCol>
              </a:tblGrid>
              <a:tr h="701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marT="45761" marB="457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 </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marT="45761" marB="457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07" name="Group 23">
            <a:extLst>
              <a:ext uri="{FF2B5EF4-FFF2-40B4-BE49-F238E27FC236}"/>
            </a:extLst>
          </p:cNvPr>
          <p:cNvGraphicFramePr>
            <a:graphicFrameLocks noGrp="1"/>
          </p:cNvGraphicFramePr>
          <p:nvPr/>
        </p:nvGraphicFramePr>
        <p:xfrm>
          <a:off x="7854951" y="1981201"/>
          <a:ext cx="1230313" cy="701675"/>
        </p:xfrm>
        <a:graphic>
          <a:graphicData uri="http://schemas.openxmlformats.org/drawingml/2006/table">
            <a:tbl>
              <a:tblPr/>
              <a:tblGrid>
                <a:gridCol w="307975">
                  <a:extLst>
                    <a:ext uri="{9D8B030D-6E8A-4147-A177-3AD203B41FA5}"/>
                  </a:extLst>
                </a:gridCol>
                <a:gridCol w="307975">
                  <a:extLst>
                    <a:ext uri="{9D8B030D-6E8A-4147-A177-3AD203B41FA5}"/>
                  </a:extLst>
                </a:gridCol>
                <a:gridCol w="306388">
                  <a:extLst>
                    <a:ext uri="{9D8B030D-6E8A-4147-A177-3AD203B41FA5}"/>
                  </a:extLst>
                </a:gridCol>
                <a:gridCol w="307975">
                  <a:extLst>
                    <a:ext uri="{9D8B030D-6E8A-4147-A177-3AD203B41FA5}"/>
                  </a:extLst>
                </a:gridCol>
              </a:tblGrid>
              <a:tr h="701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 </a:t>
                      </a:r>
                    </a:p>
                  </a:txBody>
                  <a:tcPr marT="45761" marB="457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marT="45761" marB="457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19" name="Group 35">
            <a:extLst>
              <a:ext uri="{FF2B5EF4-FFF2-40B4-BE49-F238E27FC236}"/>
            </a:extLst>
          </p:cNvPr>
          <p:cNvGraphicFramePr>
            <a:graphicFrameLocks noGrp="1"/>
          </p:cNvGraphicFramePr>
          <p:nvPr/>
        </p:nvGraphicFramePr>
        <p:xfrm>
          <a:off x="2790826" y="1981201"/>
          <a:ext cx="1230313" cy="396875"/>
        </p:xfrm>
        <a:graphic>
          <a:graphicData uri="http://schemas.openxmlformats.org/drawingml/2006/table">
            <a:tbl>
              <a:tblPr/>
              <a:tblGrid>
                <a:gridCol w="307975">
                  <a:extLst>
                    <a:ext uri="{9D8B030D-6E8A-4147-A177-3AD203B41FA5}"/>
                  </a:extLst>
                </a:gridCol>
                <a:gridCol w="307975">
                  <a:extLst>
                    <a:ext uri="{9D8B030D-6E8A-4147-A177-3AD203B41FA5}"/>
                  </a:extLst>
                </a:gridCol>
                <a:gridCol w="306388">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6</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1</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31" name="Group 47">
            <a:extLst>
              <a:ext uri="{FF2B5EF4-FFF2-40B4-BE49-F238E27FC236}"/>
            </a:extLst>
          </p:cNvPr>
          <p:cNvGraphicFramePr>
            <a:graphicFrameLocks noGrp="1"/>
          </p:cNvGraphicFramePr>
          <p:nvPr/>
        </p:nvGraphicFramePr>
        <p:xfrm>
          <a:off x="2016125" y="2819401"/>
          <a:ext cx="615950" cy="396875"/>
        </p:xfrm>
        <a:graphic>
          <a:graphicData uri="http://schemas.openxmlformats.org/drawingml/2006/table">
            <a:tbl>
              <a:tblPr/>
              <a:tblGrid>
                <a:gridCol w="307975">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39" name="Group 55">
            <a:extLst>
              <a:ext uri="{FF2B5EF4-FFF2-40B4-BE49-F238E27FC236}"/>
            </a:extLst>
          </p:cNvPr>
          <p:cNvGraphicFramePr>
            <a:graphicFrameLocks noGrp="1"/>
          </p:cNvGraphicFramePr>
          <p:nvPr/>
        </p:nvGraphicFramePr>
        <p:xfrm>
          <a:off x="4125913" y="2819401"/>
          <a:ext cx="615950" cy="396875"/>
        </p:xfrm>
        <a:graphic>
          <a:graphicData uri="http://schemas.openxmlformats.org/drawingml/2006/table">
            <a:tbl>
              <a:tblPr/>
              <a:tblGrid>
                <a:gridCol w="307975">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47" name="Group 63">
            <a:extLst>
              <a:ext uri="{FF2B5EF4-FFF2-40B4-BE49-F238E27FC236}"/>
            </a:extLst>
          </p:cNvPr>
          <p:cNvGraphicFramePr>
            <a:graphicFrameLocks noGrp="1"/>
          </p:cNvGraphicFramePr>
          <p:nvPr/>
        </p:nvGraphicFramePr>
        <p:xfrm>
          <a:off x="9261475" y="2743201"/>
          <a:ext cx="615950" cy="396875"/>
        </p:xfrm>
        <a:graphic>
          <a:graphicData uri="http://schemas.openxmlformats.org/drawingml/2006/table">
            <a:tbl>
              <a:tblPr/>
              <a:tblGrid>
                <a:gridCol w="307975">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55" name="Group 71">
            <a:extLst>
              <a:ext uri="{FF2B5EF4-FFF2-40B4-BE49-F238E27FC236}"/>
            </a:extLst>
          </p:cNvPr>
          <p:cNvGraphicFramePr>
            <a:graphicFrameLocks noGrp="1"/>
          </p:cNvGraphicFramePr>
          <p:nvPr/>
        </p:nvGraphicFramePr>
        <p:xfrm>
          <a:off x="7151688" y="2819401"/>
          <a:ext cx="614362" cy="701675"/>
        </p:xfrm>
        <a:graphic>
          <a:graphicData uri="http://schemas.openxmlformats.org/drawingml/2006/table">
            <a:tbl>
              <a:tblPr/>
              <a:tblGrid>
                <a:gridCol w="307975">
                  <a:extLst>
                    <a:ext uri="{9D8B030D-6E8A-4147-A177-3AD203B41FA5}"/>
                  </a:extLst>
                </a:gridCol>
                <a:gridCol w="306387">
                  <a:extLst>
                    <a:ext uri="{9D8B030D-6E8A-4147-A177-3AD203B41FA5}"/>
                  </a:extLst>
                </a:gridCol>
              </a:tblGrid>
              <a:tr h="701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 </a:t>
                      </a:r>
                    </a:p>
                  </a:txBody>
                  <a:tcPr marT="45761" marB="457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marT="45761" marB="457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63" name="Group 79">
            <a:extLst>
              <a:ext uri="{FF2B5EF4-FFF2-40B4-BE49-F238E27FC236}"/>
            </a:extLst>
          </p:cNvPr>
          <p:cNvGraphicFramePr>
            <a:graphicFrameLocks noGrp="1"/>
          </p:cNvGraphicFramePr>
          <p:nvPr/>
        </p:nvGraphicFramePr>
        <p:xfrm>
          <a:off x="1665289" y="3657601"/>
          <a:ext cx="306387" cy="396875"/>
        </p:xfrm>
        <a:graphic>
          <a:graphicData uri="http://schemas.openxmlformats.org/drawingml/2006/table">
            <a:tbl>
              <a:tblPr/>
              <a:tblGrid>
                <a:gridCol w="306387">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69" name="Group 85">
            <a:extLst>
              <a:ext uri="{FF2B5EF4-FFF2-40B4-BE49-F238E27FC236}"/>
            </a:extLst>
          </p:cNvPr>
          <p:cNvGraphicFramePr>
            <a:graphicFrameLocks noGrp="1"/>
          </p:cNvGraphicFramePr>
          <p:nvPr/>
        </p:nvGraphicFramePr>
        <p:xfrm>
          <a:off x="2649539" y="3657601"/>
          <a:ext cx="307975" cy="396875"/>
        </p:xfrm>
        <a:graphic>
          <a:graphicData uri="http://schemas.openxmlformats.org/drawingml/2006/table">
            <a:tbl>
              <a:tblPr/>
              <a:tblGrid>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75" name="Group 91">
            <a:extLst>
              <a:ext uri="{FF2B5EF4-FFF2-40B4-BE49-F238E27FC236}"/>
            </a:extLst>
          </p:cNvPr>
          <p:cNvGraphicFramePr>
            <a:graphicFrameLocks noGrp="1"/>
          </p:cNvGraphicFramePr>
          <p:nvPr/>
        </p:nvGraphicFramePr>
        <p:xfrm>
          <a:off x="4759326" y="3657601"/>
          <a:ext cx="307975" cy="396875"/>
        </p:xfrm>
        <a:graphic>
          <a:graphicData uri="http://schemas.openxmlformats.org/drawingml/2006/table">
            <a:tbl>
              <a:tblPr/>
              <a:tblGrid>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81" name="Group 97">
            <a:extLst>
              <a:ext uri="{FF2B5EF4-FFF2-40B4-BE49-F238E27FC236}"/>
            </a:extLst>
          </p:cNvPr>
          <p:cNvGraphicFramePr>
            <a:graphicFrameLocks noGrp="1"/>
          </p:cNvGraphicFramePr>
          <p:nvPr/>
        </p:nvGraphicFramePr>
        <p:xfrm>
          <a:off x="3775076" y="3657601"/>
          <a:ext cx="307975" cy="396875"/>
        </p:xfrm>
        <a:graphic>
          <a:graphicData uri="http://schemas.openxmlformats.org/drawingml/2006/table">
            <a:tbl>
              <a:tblPr/>
              <a:tblGrid>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87" name="Group 103">
            <a:extLst>
              <a:ext uri="{FF2B5EF4-FFF2-40B4-BE49-F238E27FC236}"/>
            </a:extLst>
          </p:cNvPr>
          <p:cNvGraphicFramePr>
            <a:graphicFrameLocks noGrp="1"/>
          </p:cNvGraphicFramePr>
          <p:nvPr/>
        </p:nvGraphicFramePr>
        <p:xfrm>
          <a:off x="6799264" y="3657601"/>
          <a:ext cx="307975" cy="396875"/>
        </p:xfrm>
        <a:graphic>
          <a:graphicData uri="http://schemas.openxmlformats.org/drawingml/2006/table">
            <a:tbl>
              <a:tblPr/>
              <a:tblGrid>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93" name="Group 109">
            <a:extLst>
              <a:ext uri="{FF2B5EF4-FFF2-40B4-BE49-F238E27FC236}"/>
            </a:extLst>
          </p:cNvPr>
          <p:cNvGraphicFramePr>
            <a:graphicFrameLocks noGrp="1"/>
          </p:cNvGraphicFramePr>
          <p:nvPr/>
        </p:nvGraphicFramePr>
        <p:xfrm>
          <a:off x="7783514" y="3657601"/>
          <a:ext cx="307975" cy="396875"/>
        </p:xfrm>
        <a:graphic>
          <a:graphicData uri="http://schemas.openxmlformats.org/drawingml/2006/table">
            <a:tbl>
              <a:tblPr/>
              <a:tblGrid>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699" name="Group 115">
            <a:extLst>
              <a:ext uri="{FF2B5EF4-FFF2-40B4-BE49-F238E27FC236}"/>
            </a:extLst>
          </p:cNvPr>
          <p:cNvGraphicFramePr>
            <a:graphicFrameLocks noGrp="1"/>
          </p:cNvGraphicFramePr>
          <p:nvPr/>
        </p:nvGraphicFramePr>
        <p:xfrm>
          <a:off x="9894889" y="3657601"/>
          <a:ext cx="306387" cy="396875"/>
        </p:xfrm>
        <a:graphic>
          <a:graphicData uri="http://schemas.openxmlformats.org/drawingml/2006/table">
            <a:tbl>
              <a:tblPr/>
              <a:tblGrid>
                <a:gridCol w="306387">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05" name="Group 121">
            <a:extLst>
              <a:ext uri="{FF2B5EF4-FFF2-40B4-BE49-F238E27FC236}"/>
            </a:extLst>
          </p:cNvPr>
          <p:cNvGraphicFramePr>
            <a:graphicFrameLocks noGrp="1"/>
          </p:cNvGraphicFramePr>
          <p:nvPr/>
        </p:nvGraphicFramePr>
        <p:xfrm>
          <a:off x="8909051" y="3657601"/>
          <a:ext cx="307975" cy="396875"/>
        </p:xfrm>
        <a:graphic>
          <a:graphicData uri="http://schemas.openxmlformats.org/drawingml/2006/table">
            <a:tbl>
              <a:tblPr/>
              <a:tblGrid>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marT="45793" marB="457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11" name="Group 127">
            <a:extLst>
              <a:ext uri="{FF2B5EF4-FFF2-40B4-BE49-F238E27FC236}"/>
            </a:extLst>
          </p:cNvPr>
          <p:cNvGraphicFramePr>
            <a:graphicFrameLocks noGrp="1"/>
          </p:cNvGraphicFramePr>
          <p:nvPr/>
        </p:nvGraphicFramePr>
        <p:xfrm>
          <a:off x="2085975" y="4495801"/>
          <a:ext cx="615950" cy="396875"/>
        </p:xfrm>
        <a:graphic>
          <a:graphicData uri="http://schemas.openxmlformats.org/drawingml/2006/table">
            <a:tbl>
              <a:tblPr/>
              <a:tblGrid>
                <a:gridCol w="307975">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19" name="Group 135">
            <a:extLst>
              <a:ext uri="{FF2B5EF4-FFF2-40B4-BE49-F238E27FC236}"/>
            </a:extLst>
          </p:cNvPr>
          <p:cNvGraphicFramePr>
            <a:graphicFrameLocks noGrp="1"/>
          </p:cNvGraphicFramePr>
          <p:nvPr/>
        </p:nvGraphicFramePr>
        <p:xfrm>
          <a:off x="4197351" y="4495801"/>
          <a:ext cx="614363" cy="396875"/>
        </p:xfrm>
        <a:graphic>
          <a:graphicData uri="http://schemas.openxmlformats.org/drawingml/2006/table">
            <a:tbl>
              <a:tblPr/>
              <a:tblGrid>
                <a:gridCol w="307975">
                  <a:extLst>
                    <a:ext uri="{9D8B030D-6E8A-4147-A177-3AD203B41FA5}"/>
                  </a:extLst>
                </a:gridCol>
                <a:gridCol w="306388">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27" name="Group 143">
            <a:extLst>
              <a:ext uri="{FF2B5EF4-FFF2-40B4-BE49-F238E27FC236}"/>
            </a:extLst>
          </p:cNvPr>
          <p:cNvGraphicFramePr>
            <a:graphicFrameLocks noGrp="1"/>
          </p:cNvGraphicFramePr>
          <p:nvPr/>
        </p:nvGraphicFramePr>
        <p:xfrm>
          <a:off x="9331325" y="4419601"/>
          <a:ext cx="615950" cy="396875"/>
        </p:xfrm>
        <a:graphic>
          <a:graphicData uri="http://schemas.openxmlformats.org/drawingml/2006/table">
            <a:tbl>
              <a:tblPr/>
              <a:tblGrid>
                <a:gridCol w="307975">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35" name="Group 151">
            <a:extLst>
              <a:ext uri="{FF2B5EF4-FFF2-40B4-BE49-F238E27FC236}"/>
            </a:extLst>
          </p:cNvPr>
          <p:cNvGraphicFramePr>
            <a:graphicFrameLocks noGrp="1"/>
          </p:cNvGraphicFramePr>
          <p:nvPr/>
        </p:nvGraphicFramePr>
        <p:xfrm>
          <a:off x="7221538" y="4495801"/>
          <a:ext cx="615950" cy="701675"/>
        </p:xfrm>
        <a:graphic>
          <a:graphicData uri="http://schemas.openxmlformats.org/drawingml/2006/table">
            <a:tbl>
              <a:tblPr/>
              <a:tblGrid>
                <a:gridCol w="307975">
                  <a:extLst>
                    <a:ext uri="{9D8B030D-6E8A-4147-A177-3AD203B41FA5}"/>
                  </a:extLst>
                </a:gridCol>
                <a:gridCol w="307975">
                  <a:extLst>
                    <a:ext uri="{9D8B030D-6E8A-4147-A177-3AD203B41FA5}"/>
                  </a:extLst>
                </a:gridCol>
              </a:tblGrid>
              <a:tr h="701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 </a:t>
                      </a:r>
                    </a:p>
                  </a:txBody>
                  <a:tcPr marT="45761" marB="457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a:t>
                      </a:r>
                    </a:p>
                  </a:txBody>
                  <a:tcPr marT="45761" marB="457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43" name="Group 159">
            <a:extLst>
              <a:ext uri="{FF2B5EF4-FFF2-40B4-BE49-F238E27FC236}"/>
            </a:extLst>
          </p:cNvPr>
          <p:cNvGraphicFramePr>
            <a:graphicFrameLocks noGrp="1"/>
          </p:cNvGraphicFramePr>
          <p:nvPr/>
        </p:nvGraphicFramePr>
        <p:xfrm>
          <a:off x="7924801" y="5257801"/>
          <a:ext cx="1230313" cy="701675"/>
        </p:xfrm>
        <a:graphic>
          <a:graphicData uri="http://schemas.openxmlformats.org/drawingml/2006/table">
            <a:tbl>
              <a:tblPr/>
              <a:tblGrid>
                <a:gridCol w="307975">
                  <a:extLst>
                    <a:ext uri="{9D8B030D-6E8A-4147-A177-3AD203B41FA5}"/>
                  </a:extLst>
                </a:gridCol>
                <a:gridCol w="307975">
                  <a:extLst>
                    <a:ext uri="{9D8B030D-6E8A-4147-A177-3AD203B41FA5}"/>
                  </a:extLst>
                </a:gridCol>
                <a:gridCol w="306388">
                  <a:extLst>
                    <a:ext uri="{9D8B030D-6E8A-4147-A177-3AD203B41FA5}"/>
                  </a:extLst>
                </a:gridCol>
                <a:gridCol w="307975">
                  <a:extLst>
                    <a:ext uri="{9D8B030D-6E8A-4147-A177-3AD203B41FA5}"/>
                  </a:extLst>
                </a:gridCol>
              </a:tblGrid>
              <a:tr h="701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 </a:t>
                      </a:r>
                    </a:p>
                  </a:txBody>
                  <a:tcPr marT="45761" marB="457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a:t>
                      </a: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marT="45761" marB="457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55" name="Group 171">
            <a:extLst>
              <a:ext uri="{FF2B5EF4-FFF2-40B4-BE49-F238E27FC236}"/>
            </a:extLst>
          </p:cNvPr>
          <p:cNvGraphicFramePr>
            <a:graphicFrameLocks noGrp="1"/>
          </p:cNvGraphicFramePr>
          <p:nvPr/>
        </p:nvGraphicFramePr>
        <p:xfrm>
          <a:off x="2860676" y="5257801"/>
          <a:ext cx="1230313" cy="396875"/>
        </p:xfrm>
        <a:graphic>
          <a:graphicData uri="http://schemas.openxmlformats.org/drawingml/2006/table">
            <a:tbl>
              <a:tblPr/>
              <a:tblGrid>
                <a:gridCol w="307975">
                  <a:extLst>
                    <a:ext uri="{9D8B030D-6E8A-4147-A177-3AD203B41FA5}"/>
                  </a:extLst>
                </a:gridCol>
                <a:gridCol w="307975">
                  <a:extLst>
                    <a:ext uri="{9D8B030D-6E8A-4147-A177-3AD203B41FA5}"/>
                  </a:extLst>
                </a:gridCol>
                <a:gridCol w="306388">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7767" name="Group 183">
            <a:extLst>
              <a:ext uri="{FF2B5EF4-FFF2-40B4-BE49-F238E27FC236}"/>
            </a:extLst>
          </p:cNvPr>
          <p:cNvGraphicFramePr>
            <a:graphicFrameLocks noGrp="1"/>
          </p:cNvGraphicFramePr>
          <p:nvPr/>
        </p:nvGraphicFramePr>
        <p:xfrm>
          <a:off x="4619626" y="5851526"/>
          <a:ext cx="2460625" cy="396875"/>
        </p:xfrm>
        <a:graphic>
          <a:graphicData uri="http://schemas.openxmlformats.org/drawingml/2006/table">
            <a:tbl>
              <a:tblPr/>
              <a:tblGrid>
                <a:gridCol w="307975">
                  <a:extLst>
                    <a:ext uri="{9D8B030D-6E8A-4147-A177-3AD203B41FA5}"/>
                  </a:extLst>
                </a:gridCol>
                <a:gridCol w="307975">
                  <a:extLst>
                    <a:ext uri="{9D8B030D-6E8A-4147-A177-3AD203B41FA5}"/>
                  </a:extLst>
                </a:gridCol>
                <a:gridCol w="306388">
                  <a:extLst>
                    <a:ext uri="{9D8B030D-6E8A-4147-A177-3AD203B41FA5}"/>
                  </a:extLst>
                </a:gridCol>
                <a:gridCol w="307975">
                  <a:extLst>
                    <a:ext uri="{9D8B030D-6E8A-4147-A177-3AD203B41FA5}"/>
                  </a:extLst>
                </a:gridCol>
                <a:gridCol w="307975">
                  <a:extLst>
                    <a:ext uri="{9D8B030D-6E8A-4147-A177-3AD203B41FA5}"/>
                  </a:extLst>
                </a:gridCol>
                <a:gridCol w="307975">
                  <a:extLst>
                    <a:ext uri="{9D8B030D-6E8A-4147-A177-3AD203B41FA5}"/>
                  </a:extLst>
                </a:gridCol>
                <a:gridCol w="306387">
                  <a:extLst>
                    <a:ext uri="{9D8B030D-6E8A-4147-A177-3AD203B41FA5}"/>
                  </a:extLst>
                </a:gridCol>
                <a:gridCol w="307975">
                  <a:extLst>
                    <a:ext uri="{9D8B030D-6E8A-4147-A177-3AD203B41FA5}"/>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rPr>
                        <a:t>1</a:t>
                      </a:r>
                    </a:p>
                  </a:txBody>
                  <a:tcPr marT="25903" marB="259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rPr>
                        <a:t>2</a:t>
                      </a:r>
                    </a:p>
                  </a:txBody>
                  <a:tcPr marT="25903" marB="259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rPr>
                        <a:t>3</a:t>
                      </a:r>
                    </a:p>
                  </a:txBody>
                  <a:tcPr marT="25903" marB="259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rPr>
                        <a:t>4</a:t>
                      </a:r>
                    </a:p>
                  </a:txBody>
                  <a:tcPr marT="25903" marB="259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rPr>
                        <a:t>5 </a:t>
                      </a:r>
                    </a:p>
                  </a:txBody>
                  <a:tcPr marT="25903" marB="259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rPr>
                        <a:t>7</a:t>
                      </a:r>
                    </a:p>
                  </a:txBody>
                  <a:tcPr marT="25903" marB="259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imes New Roman" pitchFamily="18" charset="0"/>
                        </a:rPr>
                        <a:t>8</a:t>
                      </a:r>
                    </a:p>
                  </a:txBody>
                  <a:tcPr marT="25903" marB="259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imes New Roman" pitchFamily="18" charset="0"/>
                        </a:rPr>
                        <a:t>9</a:t>
                      </a:r>
                    </a:p>
                  </a:txBody>
                  <a:tcPr marT="25903" marB="259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84171" name="Line 203"/>
          <p:cNvSpPr>
            <a:spLocks noChangeShapeType="1"/>
          </p:cNvSpPr>
          <p:nvPr/>
        </p:nvSpPr>
        <p:spPr bwMode="auto">
          <a:xfrm flipH="1">
            <a:off x="3422651" y="1524000"/>
            <a:ext cx="2392363"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2" name="Line 204"/>
          <p:cNvSpPr>
            <a:spLocks noChangeShapeType="1"/>
          </p:cNvSpPr>
          <p:nvPr/>
        </p:nvSpPr>
        <p:spPr bwMode="auto">
          <a:xfrm>
            <a:off x="5815013" y="1524000"/>
            <a:ext cx="2671762"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3" name="Line 205"/>
          <p:cNvSpPr>
            <a:spLocks noChangeShapeType="1"/>
          </p:cNvSpPr>
          <p:nvPr/>
        </p:nvSpPr>
        <p:spPr bwMode="auto">
          <a:xfrm flipH="1">
            <a:off x="2368550" y="2362200"/>
            <a:ext cx="10541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4" name="Line 206"/>
          <p:cNvSpPr>
            <a:spLocks noChangeShapeType="1"/>
          </p:cNvSpPr>
          <p:nvPr/>
        </p:nvSpPr>
        <p:spPr bwMode="auto">
          <a:xfrm>
            <a:off x="3422650" y="2362200"/>
            <a:ext cx="985838"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5" name="Line 207"/>
          <p:cNvSpPr>
            <a:spLocks noChangeShapeType="1"/>
          </p:cNvSpPr>
          <p:nvPr/>
        </p:nvSpPr>
        <p:spPr bwMode="auto">
          <a:xfrm flipH="1">
            <a:off x="7432675" y="2362200"/>
            <a:ext cx="10541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6" name="Line 208"/>
          <p:cNvSpPr>
            <a:spLocks noChangeShapeType="1"/>
          </p:cNvSpPr>
          <p:nvPr/>
        </p:nvSpPr>
        <p:spPr bwMode="auto">
          <a:xfrm>
            <a:off x="8486775" y="2362200"/>
            <a:ext cx="1055688"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7" name="Line 209"/>
          <p:cNvSpPr>
            <a:spLocks noChangeShapeType="1"/>
          </p:cNvSpPr>
          <p:nvPr/>
        </p:nvSpPr>
        <p:spPr bwMode="auto">
          <a:xfrm flipH="1">
            <a:off x="1804989" y="3200400"/>
            <a:ext cx="4921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8" name="Line 210"/>
          <p:cNvSpPr>
            <a:spLocks noChangeShapeType="1"/>
          </p:cNvSpPr>
          <p:nvPr/>
        </p:nvSpPr>
        <p:spPr bwMode="auto">
          <a:xfrm>
            <a:off x="2297113" y="3200400"/>
            <a:ext cx="493712"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79" name="Line 211"/>
          <p:cNvSpPr>
            <a:spLocks noChangeShapeType="1"/>
          </p:cNvSpPr>
          <p:nvPr/>
        </p:nvSpPr>
        <p:spPr bwMode="auto">
          <a:xfrm flipH="1">
            <a:off x="3914776" y="3200400"/>
            <a:ext cx="493713"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0" name="Line 212"/>
          <p:cNvSpPr>
            <a:spLocks noChangeShapeType="1"/>
          </p:cNvSpPr>
          <p:nvPr/>
        </p:nvSpPr>
        <p:spPr bwMode="auto">
          <a:xfrm>
            <a:off x="4478339" y="3200400"/>
            <a:ext cx="42227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1" name="Line 213"/>
          <p:cNvSpPr>
            <a:spLocks noChangeShapeType="1"/>
          </p:cNvSpPr>
          <p:nvPr/>
        </p:nvSpPr>
        <p:spPr bwMode="auto">
          <a:xfrm flipH="1">
            <a:off x="6940551" y="3200400"/>
            <a:ext cx="4921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2" name="Line 214"/>
          <p:cNvSpPr>
            <a:spLocks noChangeShapeType="1"/>
          </p:cNvSpPr>
          <p:nvPr/>
        </p:nvSpPr>
        <p:spPr bwMode="auto">
          <a:xfrm>
            <a:off x="7432676" y="3200400"/>
            <a:ext cx="4921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3" name="Line 215"/>
          <p:cNvSpPr>
            <a:spLocks noChangeShapeType="1"/>
          </p:cNvSpPr>
          <p:nvPr/>
        </p:nvSpPr>
        <p:spPr bwMode="auto">
          <a:xfrm flipH="1">
            <a:off x="9050339" y="3124200"/>
            <a:ext cx="561975"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4" name="Line 216"/>
          <p:cNvSpPr>
            <a:spLocks noChangeShapeType="1"/>
          </p:cNvSpPr>
          <p:nvPr/>
        </p:nvSpPr>
        <p:spPr bwMode="auto">
          <a:xfrm>
            <a:off x="9612314" y="3124200"/>
            <a:ext cx="422275"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5" name="Line 217"/>
          <p:cNvSpPr>
            <a:spLocks noChangeShapeType="1"/>
          </p:cNvSpPr>
          <p:nvPr/>
        </p:nvSpPr>
        <p:spPr bwMode="auto">
          <a:xfrm>
            <a:off x="1804989" y="4038600"/>
            <a:ext cx="4921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6" name="Line 218"/>
          <p:cNvSpPr>
            <a:spLocks noChangeShapeType="1"/>
          </p:cNvSpPr>
          <p:nvPr/>
        </p:nvSpPr>
        <p:spPr bwMode="auto">
          <a:xfrm flipH="1">
            <a:off x="2438401" y="4038600"/>
            <a:ext cx="3524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7" name="Line 219"/>
          <p:cNvSpPr>
            <a:spLocks noChangeShapeType="1"/>
          </p:cNvSpPr>
          <p:nvPr/>
        </p:nvSpPr>
        <p:spPr bwMode="auto">
          <a:xfrm>
            <a:off x="3914776" y="4038600"/>
            <a:ext cx="493713"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8" name="Line 220"/>
          <p:cNvSpPr>
            <a:spLocks noChangeShapeType="1"/>
          </p:cNvSpPr>
          <p:nvPr/>
        </p:nvSpPr>
        <p:spPr bwMode="auto">
          <a:xfrm flipH="1">
            <a:off x="4548189" y="4038600"/>
            <a:ext cx="3524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89" name="Line 221"/>
          <p:cNvSpPr>
            <a:spLocks noChangeShapeType="1"/>
          </p:cNvSpPr>
          <p:nvPr/>
        </p:nvSpPr>
        <p:spPr bwMode="auto">
          <a:xfrm>
            <a:off x="6940551" y="4038600"/>
            <a:ext cx="4921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0" name="Line 222"/>
          <p:cNvSpPr>
            <a:spLocks noChangeShapeType="1"/>
          </p:cNvSpPr>
          <p:nvPr/>
        </p:nvSpPr>
        <p:spPr bwMode="auto">
          <a:xfrm flipH="1">
            <a:off x="7572376" y="4038600"/>
            <a:ext cx="352425"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1" name="Line 223"/>
          <p:cNvSpPr>
            <a:spLocks noChangeShapeType="1"/>
          </p:cNvSpPr>
          <p:nvPr/>
        </p:nvSpPr>
        <p:spPr bwMode="auto">
          <a:xfrm>
            <a:off x="9050339" y="4114800"/>
            <a:ext cx="561975"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2" name="Line 224"/>
          <p:cNvSpPr>
            <a:spLocks noChangeShapeType="1"/>
          </p:cNvSpPr>
          <p:nvPr/>
        </p:nvSpPr>
        <p:spPr bwMode="auto">
          <a:xfrm flipH="1">
            <a:off x="9683750" y="4038600"/>
            <a:ext cx="350838"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3" name="Line 225"/>
          <p:cNvSpPr>
            <a:spLocks noChangeShapeType="1"/>
          </p:cNvSpPr>
          <p:nvPr/>
        </p:nvSpPr>
        <p:spPr bwMode="auto">
          <a:xfrm>
            <a:off x="2368550" y="4876800"/>
            <a:ext cx="10541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4" name="Line 226"/>
          <p:cNvSpPr>
            <a:spLocks noChangeShapeType="1"/>
          </p:cNvSpPr>
          <p:nvPr/>
        </p:nvSpPr>
        <p:spPr bwMode="auto">
          <a:xfrm flipH="1">
            <a:off x="3494088" y="4876800"/>
            <a:ext cx="98425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5" name="Line 227"/>
          <p:cNvSpPr>
            <a:spLocks noChangeShapeType="1"/>
          </p:cNvSpPr>
          <p:nvPr/>
        </p:nvSpPr>
        <p:spPr bwMode="auto">
          <a:xfrm>
            <a:off x="7502525" y="4876800"/>
            <a:ext cx="98425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6" name="Line 228"/>
          <p:cNvSpPr>
            <a:spLocks noChangeShapeType="1"/>
          </p:cNvSpPr>
          <p:nvPr/>
        </p:nvSpPr>
        <p:spPr bwMode="auto">
          <a:xfrm flipH="1">
            <a:off x="8558214" y="4800600"/>
            <a:ext cx="1125537"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7" name="Line 229"/>
          <p:cNvSpPr>
            <a:spLocks noChangeShapeType="1"/>
          </p:cNvSpPr>
          <p:nvPr/>
        </p:nvSpPr>
        <p:spPr bwMode="auto">
          <a:xfrm>
            <a:off x="3494089" y="5638800"/>
            <a:ext cx="2249487"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8" name="Line 230"/>
          <p:cNvSpPr>
            <a:spLocks noChangeShapeType="1"/>
          </p:cNvSpPr>
          <p:nvPr/>
        </p:nvSpPr>
        <p:spPr bwMode="auto">
          <a:xfrm flipH="1">
            <a:off x="5884863" y="5638800"/>
            <a:ext cx="267335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199" name="Text Box 231"/>
          <p:cNvSpPr txBox="1">
            <a:spLocks noChangeArrowheads="1"/>
          </p:cNvSpPr>
          <p:nvPr/>
        </p:nvSpPr>
        <p:spPr bwMode="auto">
          <a:xfrm>
            <a:off x="5462588" y="1843088"/>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0" name="Text Box 232"/>
          <p:cNvSpPr txBox="1">
            <a:spLocks noChangeArrowheads="1"/>
          </p:cNvSpPr>
          <p:nvPr/>
        </p:nvSpPr>
        <p:spPr bwMode="auto">
          <a:xfrm>
            <a:off x="7080250" y="3519488"/>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1" name="Text Box 233"/>
          <p:cNvSpPr txBox="1">
            <a:spLocks noChangeArrowheads="1"/>
          </p:cNvSpPr>
          <p:nvPr/>
        </p:nvSpPr>
        <p:spPr bwMode="auto">
          <a:xfrm>
            <a:off x="4056063" y="3352801"/>
            <a:ext cx="844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2" name="Text Box 234"/>
          <p:cNvSpPr txBox="1">
            <a:spLocks noChangeArrowheads="1"/>
          </p:cNvSpPr>
          <p:nvPr/>
        </p:nvSpPr>
        <p:spPr bwMode="auto">
          <a:xfrm>
            <a:off x="1876426" y="3352801"/>
            <a:ext cx="842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3" name="Text Box 235"/>
          <p:cNvSpPr txBox="1">
            <a:spLocks noChangeArrowheads="1"/>
          </p:cNvSpPr>
          <p:nvPr/>
        </p:nvSpPr>
        <p:spPr bwMode="auto">
          <a:xfrm>
            <a:off x="8066088" y="2438401"/>
            <a:ext cx="842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4" name="Text Box 236"/>
          <p:cNvSpPr txBox="1">
            <a:spLocks noChangeArrowheads="1"/>
          </p:cNvSpPr>
          <p:nvPr/>
        </p:nvSpPr>
        <p:spPr bwMode="auto">
          <a:xfrm>
            <a:off x="3000375" y="2438401"/>
            <a:ext cx="844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5" name="Text Box 237"/>
          <p:cNvSpPr txBox="1">
            <a:spLocks noChangeArrowheads="1"/>
          </p:cNvSpPr>
          <p:nvPr/>
        </p:nvSpPr>
        <p:spPr bwMode="auto">
          <a:xfrm>
            <a:off x="9261475" y="3276601"/>
            <a:ext cx="844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Times New Roman" panose="02020603050405020304" pitchFamily="18" charset="0"/>
              </a:rPr>
              <a:t>divide</a:t>
            </a:r>
          </a:p>
        </p:txBody>
      </p:sp>
      <p:sp>
        <p:nvSpPr>
          <p:cNvPr id="84206" name="Text Box 238"/>
          <p:cNvSpPr txBox="1">
            <a:spLocks noChangeArrowheads="1"/>
          </p:cNvSpPr>
          <p:nvPr/>
        </p:nvSpPr>
        <p:spPr bwMode="auto">
          <a:xfrm>
            <a:off x="1946276" y="3962400"/>
            <a:ext cx="703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
        <p:nvSpPr>
          <p:cNvPr id="84207" name="Text Box 239"/>
          <p:cNvSpPr txBox="1">
            <a:spLocks noChangeArrowheads="1"/>
          </p:cNvSpPr>
          <p:nvPr/>
        </p:nvSpPr>
        <p:spPr bwMode="auto">
          <a:xfrm>
            <a:off x="4125913" y="3962400"/>
            <a:ext cx="703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
        <p:nvSpPr>
          <p:cNvPr id="84208" name="Text Box 240"/>
          <p:cNvSpPr txBox="1">
            <a:spLocks noChangeArrowheads="1"/>
          </p:cNvSpPr>
          <p:nvPr/>
        </p:nvSpPr>
        <p:spPr bwMode="auto">
          <a:xfrm>
            <a:off x="5392738" y="5410200"/>
            <a:ext cx="703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
        <p:nvSpPr>
          <p:cNvPr id="84209" name="Text Box 241"/>
          <p:cNvSpPr txBox="1">
            <a:spLocks noChangeArrowheads="1"/>
          </p:cNvSpPr>
          <p:nvPr/>
        </p:nvSpPr>
        <p:spPr bwMode="auto">
          <a:xfrm>
            <a:off x="7080251" y="3962400"/>
            <a:ext cx="703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
        <p:nvSpPr>
          <p:cNvPr id="84210" name="Text Box 242"/>
          <p:cNvSpPr txBox="1">
            <a:spLocks noChangeArrowheads="1"/>
          </p:cNvSpPr>
          <p:nvPr/>
        </p:nvSpPr>
        <p:spPr bwMode="auto">
          <a:xfrm>
            <a:off x="3141663" y="4724400"/>
            <a:ext cx="703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
        <p:nvSpPr>
          <p:cNvPr id="84211" name="Text Box 243"/>
          <p:cNvSpPr txBox="1">
            <a:spLocks noChangeArrowheads="1"/>
          </p:cNvSpPr>
          <p:nvPr/>
        </p:nvSpPr>
        <p:spPr bwMode="auto">
          <a:xfrm>
            <a:off x="8135938" y="4724400"/>
            <a:ext cx="703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
        <p:nvSpPr>
          <p:cNvPr id="84212" name="Text Box 244"/>
          <p:cNvSpPr txBox="1">
            <a:spLocks noChangeArrowheads="1"/>
          </p:cNvSpPr>
          <p:nvPr/>
        </p:nvSpPr>
        <p:spPr bwMode="auto">
          <a:xfrm>
            <a:off x="9261476" y="3962400"/>
            <a:ext cx="703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i="1">
                <a:latin typeface="Times New Roman" panose="02020603050405020304" pitchFamily="18" charset="0"/>
              </a:rPr>
              <a:t>merge</a:t>
            </a:r>
          </a:p>
        </p:txBody>
      </p:sp>
    </p:spTree>
    <p:extLst>
      <p:ext uri="{BB962C8B-B14F-4D97-AF65-F5344CB8AC3E}">
        <p14:creationId xmlns:p14="http://schemas.microsoft.com/office/powerpoint/2010/main" val="81281410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sp>
        <p:nvSpPr>
          <p:cNvPr id="84995" name="Text Box 3"/>
          <p:cNvSpPr txBox="1">
            <a:spLocks noChangeArrowheads="1"/>
          </p:cNvSpPr>
          <p:nvPr/>
        </p:nvSpPr>
        <p:spPr bwMode="auto">
          <a:xfrm>
            <a:off x="2133600" y="3886201"/>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84996" name="AutoShape 4"/>
          <p:cNvSpPr>
            <a:spLocks noChangeArrowheads="1"/>
          </p:cNvSpPr>
          <p:nvPr/>
        </p:nvSpPr>
        <p:spPr bwMode="auto">
          <a:xfrm>
            <a:off x="2895600" y="4267200"/>
            <a:ext cx="304800" cy="304800"/>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84997" name="Text Box 5"/>
          <p:cNvSpPr txBox="1">
            <a:spLocks noChangeArrowheads="1"/>
          </p:cNvSpPr>
          <p:nvPr/>
        </p:nvSpPr>
        <p:spPr bwMode="auto">
          <a:xfrm>
            <a:off x="5257800" y="3886201"/>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84998" name="AutoShape 6"/>
          <p:cNvSpPr>
            <a:spLocks noChangeArrowheads="1"/>
          </p:cNvSpPr>
          <p:nvPr/>
        </p:nvSpPr>
        <p:spPr bwMode="auto">
          <a:xfrm>
            <a:off x="6019800" y="4267200"/>
            <a:ext cx="304800" cy="304800"/>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nvGrpSpPr>
          <p:cNvPr id="84999" name="Group 7"/>
          <p:cNvGrpSpPr>
            <a:grpSpLocks/>
          </p:cNvGrpSpPr>
          <p:nvPr/>
        </p:nvGrpSpPr>
        <p:grpSpPr bwMode="auto">
          <a:xfrm>
            <a:off x="2743200" y="4724400"/>
            <a:ext cx="2667000" cy="381000"/>
            <a:chOff x="816" y="3264"/>
            <a:chExt cx="1680" cy="240"/>
          </a:xfrm>
        </p:grpSpPr>
        <p:sp>
          <p:nvSpPr>
            <p:cNvPr id="85030" name="Rectangle 8"/>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85031" name="Rectangle 9"/>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85032" name="Rectangle 10"/>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85033" name="Rectangle 11"/>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85034" name="Rectangle 12"/>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85000" name="Group 13"/>
          <p:cNvGrpSpPr>
            <a:grpSpLocks/>
          </p:cNvGrpSpPr>
          <p:nvPr/>
        </p:nvGrpSpPr>
        <p:grpSpPr bwMode="auto">
          <a:xfrm>
            <a:off x="5943600" y="4724400"/>
            <a:ext cx="2667000" cy="381000"/>
            <a:chOff x="2880" y="3264"/>
            <a:chExt cx="1680" cy="240"/>
          </a:xfrm>
        </p:grpSpPr>
        <p:sp>
          <p:nvSpPr>
            <p:cNvPr id="85025" name="Rectangle 14"/>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85026" name="Rectangle 15"/>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85027" name="Rectangle 16"/>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85028" name="Rectangle 17"/>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85029" name="Rectangle 18"/>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
        <p:nvSpPr>
          <p:cNvPr id="85001" name="Rectangle 19"/>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a typeface="新細明體" pitchFamily="18" charset="-120"/>
            </a:endParaRPr>
          </a:p>
        </p:txBody>
      </p:sp>
      <p:sp>
        <p:nvSpPr>
          <p:cNvPr id="85002" name="Rectangle 20"/>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3" name="Rectangle 21"/>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4" name="Rectangle 22"/>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5" name="Rectangle 23"/>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6" name="Rectangle 24"/>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7" name="Rectangle 25"/>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8" name="Rectangle 26"/>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09" name="Rectangle 27"/>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10" name="Rectangle 28"/>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5011" name="Rectangle 29"/>
          <p:cNvSpPr>
            <a:spLocks noGrp="1"/>
          </p:cNvSpPr>
          <p:nvPr>
            <p:ph type="title"/>
          </p:nvPr>
        </p:nvSpPr>
        <p:spPr/>
        <p:txBody>
          <a:bodyPr/>
          <a:lstStyle/>
          <a:p>
            <a:pPr eaLnBrk="1" hangingPunct="1"/>
            <a:r>
              <a:rPr lang="en-US" altLang="en-US" smtClean="0"/>
              <a:t>Merging</a:t>
            </a:r>
          </a:p>
        </p:txBody>
      </p:sp>
      <p:sp>
        <p:nvSpPr>
          <p:cNvPr id="85012" name="Rectangle 30"/>
          <p:cNvSpPr>
            <a:spLocks noGrp="1"/>
          </p:cNvSpPr>
          <p:nvPr>
            <p:ph idx="1"/>
          </p:nvPr>
        </p:nvSpPr>
        <p:spPr>
          <a:xfrm>
            <a:off x="1981200" y="1600200"/>
            <a:ext cx="8229600" cy="15240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mtClean="0"/>
          </a:p>
        </p:txBody>
      </p:sp>
      <p:sp>
        <p:nvSpPr>
          <p:cNvPr id="89119" name="Rectangle 31"/>
          <p:cNvSpPr>
            <a:spLocks noChangeArrowheads="1"/>
          </p:cNvSpPr>
          <p:nvPr/>
        </p:nvSpPr>
        <p:spPr bwMode="auto">
          <a:xfrm>
            <a:off x="28194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1</a:t>
            </a:r>
          </a:p>
        </p:txBody>
      </p:sp>
      <p:sp>
        <p:nvSpPr>
          <p:cNvPr id="85014" name="Rectangle 19"/>
          <p:cNvSpPr>
            <a:spLocks noChangeArrowheads="1"/>
          </p:cNvSpPr>
          <p:nvPr/>
        </p:nvSpPr>
        <p:spPr bwMode="auto">
          <a:xfrm>
            <a:off x="32004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a typeface="新細明體" pitchFamily="18" charset="-120"/>
            </a:endParaRPr>
          </a:p>
        </p:txBody>
      </p:sp>
      <p:sp>
        <p:nvSpPr>
          <p:cNvPr id="85015" name="Rectangle 20"/>
          <p:cNvSpPr>
            <a:spLocks noChangeArrowheads="1"/>
          </p:cNvSpPr>
          <p:nvPr/>
        </p:nvSpPr>
        <p:spPr bwMode="auto">
          <a:xfrm>
            <a:off x="37338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13</a:t>
            </a:r>
          </a:p>
        </p:txBody>
      </p:sp>
      <p:sp>
        <p:nvSpPr>
          <p:cNvPr id="85016" name="Rectangle 21"/>
          <p:cNvSpPr>
            <a:spLocks noChangeArrowheads="1"/>
          </p:cNvSpPr>
          <p:nvPr/>
        </p:nvSpPr>
        <p:spPr bwMode="auto">
          <a:xfrm>
            <a:off x="42672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9 </a:t>
            </a:r>
          </a:p>
        </p:txBody>
      </p:sp>
      <p:sp>
        <p:nvSpPr>
          <p:cNvPr id="85017" name="Rectangle 22"/>
          <p:cNvSpPr>
            <a:spLocks noChangeArrowheads="1"/>
          </p:cNvSpPr>
          <p:nvPr/>
        </p:nvSpPr>
        <p:spPr bwMode="auto">
          <a:xfrm>
            <a:off x="48006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85018" name="Rectangle 23"/>
          <p:cNvSpPr>
            <a:spLocks noChangeArrowheads="1"/>
          </p:cNvSpPr>
          <p:nvPr/>
        </p:nvSpPr>
        <p:spPr bwMode="auto">
          <a:xfrm>
            <a:off x="53340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85019" name="Rectangle 24"/>
          <p:cNvSpPr>
            <a:spLocks noChangeArrowheads="1"/>
          </p:cNvSpPr>
          <p:nvPr/>
        </p:nvSpPr>
        <p:spPr bwMode="auto">
          <a:xfrm>
            <a:off x="58674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 </a:t>
            </a:r>
          </a:p>
        </p:txBody>
      </p:sp>
      <p:sp>
        <p:nvSpPr>
          <p:cNvPr id="85020" name="Rectangle 25"/>
          <p:cNvSpPr>
            <a:spLocks noChangeArrowheads="1"/>
          </p:cNvSpPr>
          <p:nvPr/>
        </p:nvSpPr>
        <p:spPr bwMode="auto">
          <a:xfrm>
            <a:off x="64008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19 </a:t>
            </a:r>
          </a:p>
        </p:txBody>
      </p:sp>
      <p:sp>
        <p:nvSpPr>
          <p:cNvPr id="85021" name="Rectangle 26"/>
          <p:cNvSpPr>
            <a:spLocks noChangeArrowheads="1"/>
          </p:cNvSpPr>
          <p:nvPr/>
        </p:nvSpPr>
        <p:spPr bwMode="auto">
          <a:xfrm>
            <a:off x="69342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85022" name="Rectangle 27"/>
          <p:cNvSpPr>
            <a:spLocks noChangeArrowheads="1"/>
          </p:cNvSpPr>
          <p:nvPr/>
        </p:nvSpPr>
        <p:spPr bwMode="auto">
          <a:xfrm>
            <a:off x="74676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8 </a:t>
            </a:r>
          </a:p>
        </p:txBody>
      </p:sp>
      <p:sp>
        <p:nvSpPr>
          <p:cNvPr id="85023" name="Rectangle 28"/>
          <p:cNvSpPr>
            <a:spLocks noChangeArrowheads="1"/>
          </p:cNvSpPr>
          <p:nvPr/>
        </p:nvSpPr>
        <p:spPr bwMode="auto">
          <a:xfrm>
            <a:off x="8001000" y="3429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18</a:t>
            </a:r>
          </a:p>
        </p:txBody>
      </p:sp>
      <p:sp>
        <p:nvSpPr>
          <p:cNvPr id="42" name="Rectangle 31">
            <a:extLst>
              <a:ext uri="{FF2B5EF4-FFF2-40B4-BE49-F238E27FC236}"/>
            </a:extLst>
          </p:cNvPr>
          <p:cNvSpPr>
            <a:spLocks noChangeArrowheads="1"/>
          </p:cNvSpPr>
          <p:nvPr/>
        </p:nvSpPr>
        <p:spPr bwMode="auto">
          <a:xfrm>
            <a:off x="3200400" y="3429000"/>
            <a:ext cx="533400" cy="381000"/>
          </a:xfrm>
          <a:prstGeom prst="rect">
            <a:avLst/>
          </a:prstGeom>
          <a:solidFill>
            <a:schemeClr val="bg1">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defRPr/>
            </a:pPr>
            <a:r>
              <a:rPr lang="en-US" altLang="en-US" sz="2400" b="1" dirty="0">
                <a:latin typeface="Courier New" panose="02070309020205020404" pitchFamily="49" charset="0"/>
                <a:ea typeface="新細明體" pitchFamily="18" charset="-120"/>
              </a:rPr>
              <a:t>20</a:t>
            </a:r>
          </a:p>
        </p:txBody>
      </p:sp>
    </p:spTree>
    <p:extLst>
      <p:ext uri="{BB962C8B-B14F-4D97-AF65-F5344CB8AC3E}">
        <p14:creationId xmlns:p14="http://schemas.microsoft.com/office/powerpoint/2010/main" val="2065448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9119"/>
                                        </p:tgtEl>
                                        <p:attrNameLst>
                                          <p:attrName>style.visibility</p:attrName>
                                        </p:attrNameLst>
                                      </p:cBhvr>
                                      <p:to>
                                        <p:strVal val="visible"/>
                                      </p:to>
                                    </p:set>
                                    <p:animEffect transition="in" filter="dissolve">
                                      <p:cBhvr>
                                        <p:cTn id="7" dur="500"/>
                                        <p:tgtEl>
                                          <p:spTgt spid="89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19"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87043" name="Group 3"/>
          <p:cNvGrpSpPr>
            <a:grpSpLocks/>
          </p:cNvGrpSpPr>
          <p:nvPr/>
        </p:nvGrpSpPr>
        <p:grpSpPr bwMode="auto">
          <a:xfrm>
            <a:off x="2438400" y="3505200"/>
            <a:ext cx="1905000" cy="685800"/>
            <a:chOff x="288" y="2208"/>
            <a:chExt cx="1200" cy="432"/>
          </a:xfrm>
        </p:grpSpPr>
        <p:sp>
          <p:nvSpPr>
            <p:cNvPr id="87072"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87073"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87044" name="Group 6"/>
          <p:cNvGrpSpPr>
            <a:grpSpLocks/>
          </p:cNvGrpSpPr>
          <p:nvPr/>
        </p:nvGrpSpPr>
        <p:grpSpPr bwMode="auto">
          <a:xfrm>
            <a:off x="5105400" y="3505200"/>
            <a:ext cx="1905000" cy="685800"/>
            <a:chOff x="2256" y="2208"/>
            <a:chExt cx="1200" cy="432"/>
          </a:xfrm>
        </p:grpSpPr>
        <p:sp>
          <p:nvSpPr>
            <p:cNvPr id="87070"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87071"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87045" name="Group 9"/>
          <p:cNvGrpSpPr>
            <a:grpSpLocks/>
          </p:cNvGrpSpPr>
          <p:nvPr/>
        </p:nvGrpSpPr>
        <p:grpSpPr bwMode="auto">
          <a:xfrm>
            <a:off x="2590800" y="4343400"/>
            <a:ext cx="2667000" cy="381000"/>
            <a:chOff x="816" y="3264"/>
            <a:chExt cx="1680" cy="240"/>
          </a:xfrm>
        </p:grpSpPr>
        <p:sp>
          <p:nvSpPr>
            <p:cNvPr id="87065"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87066"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87067"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87068"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87069"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87046" name="Group 15"/>
          <p:cNvGrpSpPr>
            <a:grpSpLocks/>
          </p:cNvGrpSpPr>
          <p:nvPr/>
        </p:nvGrpSpPr>
        <p:grpSpPr bwMode="auto">
          <a:xfrm>
            <a:off x="5791200" y="4343400"/>
            <a:ext cx="2667000" cy="381000"/>
            <a:chOff x="2880" y="3264"/>
            <a:chExt cx="1680" cy="240"/>
          </a:xfrm>
        </p:grpSpPr>
        <p:sp>
          <p:nvSpPr>
            <p:cNvPr id="87060"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87061"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87062"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87063"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87064"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
        <p:nvSpPr>
          <p:cNvPr id="87047"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87048"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49"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0"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1"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2"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3"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4"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5"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6"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7057" name="Rectangle 31"/>
          <p:cNvSpPr>
            <a:spLocks noGrp="1"/>
          </p:cNvSpPr>
          <p:nvPr>
            <p:ph type="title"/>
          </p:nvPr>
        </p:nvSpPr>
        <p:spPr/>
        <p:txBody>
          <a:bodyPr/>
          <a:lstStyle/>
          <a:p>
            <a:pPr eaLnBrk="1" hangingPunct="1"/>
            <a:r>
              <a:rPr lang="en-US" altLang="en-US" smtClean="0"/>
              <a:t>Merging</a:t>
            </a:r>
          </a:p>
        </p:txBody>
      </p:sp>
      <p:sp>
        <p:nvSpPr>
          <p:cNvPr id="91169" name="Rectangle 33"/>
          <p:cNvSpPr>
            <a:spLocks noChangeArrowheads="1"/>
          </p:cNvSpPr>
          <p:nvPr/>
        </p:nvSpPr>
        <p:spPr bwMode="auto">
          <a:xfrm>
            <a:off x="33528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7</a:t>
            </a:r>
          </a:p>
        </p:txBody>
      </p:sp>
      <p:sp>
        <p:nvSpPr>
          <p:cNvPr id="87059" name="Rectangle 30"/>
          <p:cNvSpPr txBox="1">
            <a:spLocks/>
          </p:cNvSpPr>
          <p:nvPr/>
        </p:nvSpPr>
        <p:spPr bwMode="auto">
          <a:xfrm>
            <a:off x="1981200" y="1600200"/>
            <a:ext cx="82296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346075" indent="-23177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sz="2000"/>
              <a:t>Merge.</a:t>
            </a:r>
          </a:p>
          <a:p>
            <a:pPr lvl="1" eaLnBrk="1" hangingPunct="1"/>
            <a:r>
              <a:rPr lang="en-US" altLang="en-US" sz="1600"/>
              <a:t>Keep track of smallest element in each sorted half.</a:t>
            </a:r>
          </a:p>
          <a:p>
            <a:pPr lvl="1" eaLnBrk="1" hangingPunct="1"/>
            <a:r>
              <a:rPr lang="en-US" altLang="en-US" sz="1600"/>
              <a:t>Insert smallest of two elements into auxiliary array.</a:t>
            </a:r>
          </a:p>
          <a:p>
            <a:pPr lvl="1" eaLnBrk="1" hangingPunct="1"/>
            <a:r>
              <a:rPr lang="en-US" altLang="en-US" sz="1600"/>
              <a:t>Repeat until done.</a:t>
            </a:r>
          </a:p>
          <a:p>
            <a:pPr lvl="1" eaLnBrk="1" hangingPunct="1"/>
            <a:endParaRPr lang="en-US" altLang="en-US" sz="2000"/>
          </a:p>
        </p:txBody>
      </p:sp>
    </p:spTree>
    <p:extLst>
      <p:ext uri="{BB962C8B-B14F-4D97-AF65-F5344CB8AC3E}">
        <p14:creationId xmlns:p14="http://schemas.microsoft.com/office/powerpoint/2010/main" val="391429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169"/>
                                        </p:tgtEl>
                                        <p:attrNameLst>
                                          <p:attrName>style.visibility</p:attrName>
                                        </p:attrNameLst>
                                      </p:cBhvr>
                                      <p:to>
                                        <p:strVal val="visible"/>
                                      </p:to>
                                    </p:set>
                                    <p:animEffect transition="in" filter="dissolve">
                                      <p:cBhvr>
                                        <p:cTn id="7" dur="500"/>
                                        <p:tgtEl>
                                          <p:spTgt spid="91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69"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89091" name="Group 3"/>
          <p:cNvGrpSpPr>
            <a:grpSpLocks/>
          </p:cNvGrpSpPr>
          <p:nvPr/>
        </p:nvGrpSpPr>
        <p:grpSpPr bwMode="auto">
          <a:xfrm>
            <a:off x="2971800" y="3505200"/>
            <a:ext cx="1905000" cy="685800"/>
            <a:chOff x="288" y="2208"/>
            <a:chExt cx="1200" cy="432"/>
          </a:xfrm>
        </p:grpSpPr>
        <p:sp>
          <p:nvSpPr>
            <p:cNvPr id="89120"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89121"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89092" name="Group 6"/>
          <p:cNvGrpSpPr>
            <a:grpSpLocks/>
          </p:cNvGrpSpPr>
          <p:nvPr/>
        </p:nvGrpSpPr>
        <p:grpSpPr bwMode="auto">
          <a:xfrm>
            <a:off x="5105400" y="3505200"/>
            <a:ext cx="1905000" cy="685800"/>
            <a:chOff x="2256" y="2208"/>
            <a:chExt cx="1200" cy="432"/>
          </a:xfrm>
        </p:grpSpPr>
        <p:sp>
          <p:nvSpPr>
            <p:cNvPr id="89118"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89119"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89093"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89094"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89095"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096"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097"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098"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099"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100"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101"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102"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89103" name="Rectangle 31"/>
          <p:cNvSpPr>
            <a:spLocks noGrp="1"/>
          </p:cNvSpPr>
          <p:nvPr>
            <p:ph type="title"/>
          </p:nvPr>
        </p:nvSpPr>
        <p:spPr/>
        <p:txBody>
          <a:bodyPr/>
          <a:lstStyle/>
          <a:p>
            <a:pPr eaLnBrk="1" hangingPunct="1"/>
            <a:r>
              <a:rPr lang="en-US" altLang="en-US" smtClean="0"/>
              <a:t>Merging</a:t>
            </a:r>
          </a:p>
        </p:txBody>
      </p:sp>
      <p:sp>
        <p:nvSpPr>
          <p:cNvPr id="89104" name="Rectangle 32"/>
          <p:cNvSpPr>
            <a:spLocks noGrp="1"/>
          </p:cNvSpPr>
          <p:nvPr>
            <p:ph idx="1"/>
          </p:nvPr>
        </p:nvSpPr>
        <p:spPr>
          <a:xfrm>
            <a:off x="1981200" y="1600200"/>
            <a:ext cx="8229600" cy="16002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z="1600"/>
          </a:p>
        </p:txBody>
      </p:sp>
      <p:sp>
        <p:nvSpPr>
          <p:cNvPr id="93217" name="Rectangle 33"/>
          <p:cNvSpPr>
            <a:spLocks noChangeArrowheads="1"/>
          </p:cNvSpPr>
          <p:nvPr/>
        </p:nvSpPr>
        <p:spPr bwMode="auto">
          <a:xfrm>
            <a:off x="38862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8</a:t>
            </a:r>
          </a:p>
        </p:txBody>
      </p:sp>
      <p:grpSp>
        <p:nvGrpSpPr>
          <p:cNvPr id="89106" name="Group 9"/>
          <p:cNvGrpSpPr>
            <a:grpSpLocks/>
          </p:cNvGrpSpPr>
          <p:nvPr/>
        </p:nvGrpSpPr>
        <p:grpSpPr bwMode="auto">
          <a:xfrm>
            <a:off x="2590800" y="4343400"/>
            <a:ext cx="2667000" cy="381000"/>
            <a:chOff x="816" y="3264"/>
            <a:chExt cx="1680" cy="240"/>
          </a:xfrm>
        </p:grpSpPr>
        <p:sp>
          <p:nvSpPr>
            <p:cNvPr id="89113"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89114"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89115"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89116"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89117"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89107" name="Group 15"/>
          <p:cNvGrpSpPr>
            <a:grpSpLocks/>
          </p:cNvGrpSpPr>
          <p:nvPr/>
        </p:nvGrpSpPr>
        <p:grpSpPr bwMode="auto">
          <a:xfrm>
            <a:off x="5791200" y="4343400"/>
            <a:ext cx="2667000" cy="381000"/>
            <a:chOff x="2880" y="3264"/>
            <a:chExt cx="1680" cy="240"/>
          </a:xfrm>
        </p:grpSpPr>
        <p:sp>
          <p:nvSpPr>
            <p:cNvPr id="89108"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89109"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89110"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89111"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89112"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3670077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3217"/>
                                        </p:tgtEl>
                                        <p:attrNameLst>
                                          <p:attrName>style.visibility</p:attrName>
                                        </p:attrNameLst>
                                      </p:cBhvr>
                                      <p:to>
                                        <p:strVal val="visible"/>
                                      </p:to>
                                    </p:set>
                                    <p:animEffect transition="in" filter="dissolve">
                                      <p:cBhvr>
                                        <p:cTn id="7" dur="500"/>
                                        <p:tgtEl>
                                          <p:spTgt spid="93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7"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91139" name="Group 3"/>
          <p:cNvGrpSpPr>
            <a:grpSpLocks/>
          </p:cNvGrpSpPr>
          <p:nvPr/>
        </p:nvGrpSpPr>
        <p:grpSpPr bwMode="auto">
          <a:xfrm>
            <a:off x="2971800" y="3505200"/>
            <a:ext cx="1905000" cy="685800"/>
            <a:chOff x="288" y="2208"/>
            <a:chExt cx="1200" cy="432"/>
          </a:xfrm>
        </p:grpSpPr>
        <p:sp>
          <p:nvSpPr>
            <p:cNvPr id="91168"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1169"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91140" name="Group 6"/>
          <p:cNvGrpSpPr>
            <a:grpSpLocks/>
          </p:cNvGrpSpPr>
          <p:nvPr/>
        </p:nvGrpSpPr>
        <p:grpSpPr bwMode="auto">
          <a:xfrm>
            <a:off x="5638800" y="3505200"/>
            <a:ext cx="1905000" cy="685800"/>
            <a:chOff x="2256" y="2208"/>
            <a:chExt cx="1200" cy="432"/>
          </a:xfrm>
        </p:grpSpPr>
        <p:sp>
          <p:nvSpPr>
            <p:cNvPr id="91166"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1167"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91141"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1142"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1143"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1144"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45"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46"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47"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48"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49"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50"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1151" name="Rectangle 31"/>
          <p:cNvSpPr>
            <a:spLocks noGrp="1"/>
          </p:cNvSpPr>
          <p:nvPr>
            <p:ph type="title"/>
          </p:nvPr>
        </p:nvSpPr>
        <p:spPr/>
        <p:txBody>
          <a:bodyPr/>
          <a:lstStyle/>
          <a:p>
            <a:pPr eaLnBrk="1" hangingPunct="1"/>
            <a:r>
              <a:rPr lang="en-US" altLang="en-US" smtClean="0"/>
              <a:t>Merging</a:t>
            </a:r>
          </a:p>
        </p:txBody>
      </p:sp>
      <p:sp>
        <p:nvSpPr>
          <p:cNvPr id="91152" name="Rectangle 32"/>
          <p:cNvSpPr>
            <a:spLocks noGrp="1"/>
          </p:cNvSpPr>
          <p:nvPr>
            <p:ph idx="1"/>
          </p:nvPr>
        </p:nvSpPr>
        <p:spPr>
          <a:xfrm>
            <a:off x="1981200" y="1600200"/>
            <a:ext cx="8229600" cy="17526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z="1600"/>
          </a:p>
        </p:txBody>
      </p:sp>
      <p:sp>
        <p:nvSpPr>
          <p:cNvPr id="95265" name="Rectangle 33"/>
          <p:cNvSpPr>
            <a:spLocks noChangeArrowheads="1"/>
          </p:cNvSpPr>
          <p:nvPr/>
        </p:nvSpPr>
        <p:spPr bwMode="auto">
          <a:xfrm>
            <a:off x="44196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9</a:t>
            </a:r>
          </a:p>
        </p:txBody>
      </p:sp>
      <p:grpSp>
        <p:nvGrpSpPr>
          <p:cNvPr id="91154" name="Group 9"/>
          <p:cNvGrpSpPr>
            <a:grpSpLocks/>
          </p:cNvGrpSpPr>
          <p:nvPr/>
        </p:nvGrpSpPr>
        <p:grpSpPr bwMode="auto">
          <a:xfrm>
            <a:off x="2590800" y="4343400"/>
            <a:ext cx="2667000" cy="381000"/>
            <a:chOff x="816" y="3264"/>
            <a:chExt cx="1680" cy="240"/>
          </a:xfrm>
        </p:grpSpPr>
        <p:sp>
          <p:nvSpPr>
            <p:cNvPr id="91161"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1162"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1163"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1164"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91165"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91155" name="Group 15"/>
          <p:cNvGrpSpPr>
            <a:grpSpLocks/>
          </p:cNvGrpSpPr>
          <p:nvPr/>
        </p:nvGrpSpPr>
        <p:grpSpPr bwMode="auto">
          <a:xfrm>
            <a:off x="5791200" y="4343400"/>
            <a:ext cx="2667000" cy="381000"/>
            <a:chOff x="2880" y="3264"/>
            <a:chExt cx="1680" cy="240"/>
          </a:xfrm>
        </p:grpSpPr>
        <p:sp>
          <p:nvSpPr>
            <p:cNvPr id="91156"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1157"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1158"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1159"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91160"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10046070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265"/>
                                        </p:tgtEl>
                                        <p:attrNameLst>
                                          <p:attrName>style.visibility</p:attrName>
                                        </p:attrNameLst>
                                      </p:cBhvr>
                                      <p:to>
                                        <p:strVal val="visible"/>
                                      </p:to>
                                    </p:set>
                                    <p:animEffect transition="in" filter="dissolve">
                                      <p:cBhvr>
                                        <p:cTn id="7" dur="500"/>
                                        <p:tgtEl>
                                          <p:spTgt spid="95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5"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93187" name="Group 3"/>
          <p:cNvGrpSpPr>
            <a:grpSpLocks/>
          </p:cNvGrpSpPr>
          <p:nvPr/>
        </p:nvGrpSpPr>
        <p:grpSpPr bwMode="auto">
          <a:xfrm>
            <a:off x="2971800" y="3505200"/>
            <a:ext cx="1905000" cy="685800"/>
            <a:chOff x="288" y="2208"/>
            <a:chExt cx="1200" cy="432"/>
          </a:xfrm>
        </p:grpSpPr>
        <p:sp>
          <p:nvSpPr>
            <p:cNvPr id="93216"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3217"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93188" name="Group 6"/>
          <p:cNvGrpSpPr>
            <a:grpSpLocks/>
          </p:cNvGrpSpPr>
          <p:nvPr/>
        </p:nvGrpSpPr>
        <p:grpSpPr bwMode="auto">
          <a:xfrm>
            <a:off x="6172200" y="3505200"/>
            <a:ext cx="1905000" cy="685800"/>
            <a:chOff x="2256" y="2208"/>
            <a:chExt cx="1200" cy="432"/>
          </a:xfrm>
        </p:grpSpPr>
        <p:sp>
          <p:nvSpPr>
            <p:cNvPr id="93214"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3215"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93189"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3190"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3191"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3192"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3193"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3194"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3195"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3196"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3197"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3198"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3199" name="Rectangle 31"/>
          <p:cNvSpPr>
            <a:spLocks noGrp="1"/>
          </p:cNvSpPr>
          <p:nvPr>
            <p:ph type="title"/>
          </p:nvPr>
        </p:nvSpPr>
        <p:spPr/>
        <p:txBody>
          <a:bodyPr/>
          <a:lstStyle/>
          <a:p>
            <a:pPr eaLnBrk="1" hangingPunct="1"/>
            <a:r>
              <a:rPr lang="en-US" altLang="en-US" smtClean="0"/>
              <a:t>Merging</a:t>
            </a:r>
          </a:p>
        </p:txBody>
      </p:sp>
      <p:sp>
        <p:nvSpPr>
          <p:cNvPr id="93200" name="Rectangle 32"/>
          <p:cNvSpPr>
            <a:spLocks noGrp="1"/>
          </p:cNvSpPr>
          <p:nvPr>
            <p:ph idx="1"/>
          </p:nvPr>
        </p:nvSpPr>
        <p:spPr>
          <a:xfrm>
            <a:off x="1981200" y="1600200"/>
            <a:ext cx="8229600" cy="19050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z="1600"/>
          </a:p>
        </p:txBody>
      </p:sp>
      <p:sp>
        <p:nvSpPr>
          <p:cNvPr id="97313" name="Rectangle 33"/>
          <p:cNvSpPr>
            <a:spLocks noChangeArrowheads="1"/>
          </p:cNvSpPr>
          <p:nvPr/>
        </p:nvSpPr>
        <p:spPr bwMode="auto">
          <a:xfrm>
            <a:off x="49530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12</a:t>
            </a:r>
          </a:p>
        </p:txBody>
      </p:sp>
      <p:grpSp>
        <p:nvGrpSpPr>
          <p:cNvPr id="93202" name="Group 9"/>
          <p:cNvGrpSpPr>
            <a:grpSpLocks/>
          </p:cNvGrpSpPr>
          <p:nvPr/>
        </p:nvGrpSpPr>
        <p:grpSpPr bwMode="auto">
          <a:xfrm>
            <a:off x="2590800" y="4343400"/>
            <a:ext cx="2667000" cy="381000"/>
            <a:chOff x="816" y="3264"/>
            <a:chExt cx="1680" cy="240"/>
          </a:xfrm>
        </p:grpSpPr>
        <p:sp>
          <p:nvSpPr>
            <p:cNvPr id="93209"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3210"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3211"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3212"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93213"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93203" name="Group 15"/>
          <p:cNvGrpSpPr>
            <a:grpSpLocks/>
          </p:cNvGrpSpPr>
          <p:nvPr/>
        </p:nvGrpSpPr>
        <p:grpSpPr bwMode="auto">
          <a:xfrm>
            <a:off x="5791200" y="4343400"/>
            <a:ext cx="2667000" cy="381000"/>
            <a:chOff x="2880" y="3264"/>
            <a:chExt cx="1680" cy="240"/>
          </a:xfrm>
        </p:grpSpPr>
        <p:sp>
          <p:nvSpPr>
            <p:cNvPr id="93204"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3205"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3206"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3207"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93208"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933857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313"/>
                                        </p:tgtEl>
                                        <p:attrNameLst>
                                          <p:attrName>style.visibility</p:attrName>
                                        </p:attrNameLst>
                                      </p:cBhvr>
                                      <p:to>
                                        <p:strVal val="visible"/>
                                      </p:to>
                                    </p:set>
                                    <p:animEffect transition="in" filter="dissolve">
                                      <p:cBhvr>
                                        <p:cTn id="7" dur="500"/>
                                        <p:tgtEl>
                                          <p:spTgt spid="97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13"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95235" name="Group 3"/>
          <p:cNvGrpSpPr>
            <a:grpSpLocks/>
          </p:cNvGrpSpPr>
          <p:nvPr/>
        </p:nvGrpSpPr>
        <p:grpSpPr bwMode="auto">
          <a:xfrm>
            <a:off x="3505200" y="3505200"/>
            <a:ext cx="1905000" cy="685800"/>
            <a:chOff x="288" y="2208"/>
            <a:chExt cx="1200" cy="432"/>
          </a:xfrm>
        </p:grpSpPr>
        <p:sp>
          <p:nvSpPr>
            <p:cNvPr id="95264"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5265"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95236" name="Group 6"/>
          <p:cNvGrpSpPr>
            <a:grpSpLocks/>
          </p:cNvGrpSpPr>
          <p:nvPr/>
        </p:nvGrpSpPr>
        <p:grpSpPr bwMode="auto">
          <a:xfrm>
            <a:off x="6172200" y="3505200"/>
            <a:ext cx="1905000" cy="685800"/>
            <a:chOff x="2256" y="2208"/>
            <a:chExt cx="1200" cy="432"/>
          </a:xfrm>
        </p:grpSpPr>
        <p:sp>
          <p:nvSpPr>
            <p:cNvPr id="95262"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5263"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95237"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5238"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5239"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5240"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5241"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	</a:t>
            </a:r>
          </a:p>
        </p:txBody>
      </p:sp>
      <p:sp>
        <p:nvSpPr>
          <p:cNvPr id="95242"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5243"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5244"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5245"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5246"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5247" name="Rectangle 31"/>
          <p:cNvSpPr>
            <a:spLocks noGrp="1"/>
          </p:cNvSpPr>
          <p:nvPr>
            <p:ph type="title"/>
          </p:nvPr>
        </p:nvSpPr>
        <p:spPr/>
        <p:txBody>
          <a:bodyPr/>
          <a:lstStyle/>
          <a:p>
            <a:pPr eaLnBrk="1" hangingPunct="1"/>
            <a:r>
              <a:rPr lang="en-US" altLang="en-US" smtClean="0"/>
              <a:t>Merging</a:t>
            </a:r>
          </a:p>
        </p:txBody>
      </p:sp>
      <p:sp>
        <p:nvSpPr>
          <p:cNvPr id="95248" name="Rectangle 32"/>
          <p:cNvSpPr>
            <a:spLocks noGrp="1"/>
          </p:cNvSpPr>
          <p:nvPr>
            <p:ph idx="1"/>
          </p:nvPr>
        </p:nvSpPr>
        <p:spPr>
          <a:xfrm>
            <a:off x="1981200" y="1600200"/>
            <a:ext cx="8229600" cy="16764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mtClean="0"/>
          </a:p>
        </p:txBody>
      </p:sp>
      <p:sp>
        <p:nvSpPr>
          <p:cNvPr id="99361" name="Rectangle 33"/>
          <p:cNvSpPr>
            <a:spLocks noChangeArrowheads="1"/>
          </p:cNvSpPr>
          <p:nvPr/>
        </p:nvSpPr>
        <p:spPr bwMode="auto">
          <a:xfrm>
            <a:off x="54864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13</a:t>
            </a:r>
          </a:p>
        </p:txBody>
      </p:sp>
      <p:grpSp>
        <p:nvGrpSpPr>
          <p:cNvPr id="95250" name="Group 9"/>
          <p:cNvGrpSpPr>
            <a:grpSpLocks/>
          </p:cNvGrpSpPr>
          <p:nvPr/>
        </p:nvGrpSpPr>
        <p:grpSpPr bwMode="auto">
          <a:xfrm>
            <a:off x="2590800" y="4343400"/>
            <a:ext cx="2667000" cy="381000"/>
            <a:chOff x="816" y="3264"/>
            <a:chExt cx="1680" cy="240"/>
          </a:xfrm>
        </p:grpSpPr>
        <p:sp>
          <p:nvSpPr>
            <p:cNvPr id="95257"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5258"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5259"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5260"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95261"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95251" name="Group 15"/>
          <p:cNvGrpSpPr>
            <a:grpSpLocks/>
          </p:cNvGrpSpPr>
          <p:nvPr/>
        </p:nvGrpSpPr>
        <p:grpSpPr bwMode="auto">
          <a:xfrm>
            <a:off x="5791200" y="4343400"/>
            <a:ext cx="2667000" cy="381000"/>
            <a:chOff x="2880" y="3264"/>
            <a:chExt cx="1680" cy="240"/>
          </a:xfrm>
        </p:grpSpPr>
        <p:sp>
          <p:nvSpPr>
            <p:cNvPr id="95252"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5253"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5254"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5255"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95256"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1563317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9361"/>
                                        </p:tgtEl>
                                        <p:attrNameLst>
                                          <p:attrName>style.visibility</p:attrName>
                                        </p:attrNameLst>
                                      </p:cBhvr>
                                      <p:to>
                                        <p:strVal val="visible"/>
                                      </p:to>
                                    </p:set>
                                    <p:animEffect transition="in" filter="dissolve">
                                      <p:cBhvr>
                                        <p:cTn id="7" dur="500"/>
                                        <p:tgtEl>
                                          <p:spTgt spid="99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61"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97283" name="Group 3"/>
          <p:cNvGrpSpPr>
            <a:grpSpLocks/>
          </p:cNvGrpSpPr>
          <p:nvPr/>
        </p:nvGrpSpPr>
        <p:grpSpPr bwMode="auto">
          <a:xfrm>
            <a:off x="3505200" y="3505200"/>
            <a:ext cx="1905000" cy="685800"/>
            <a:chOff x="288" y="2208"/>
            <a:chExt cx="1200" cy="432"/>
          </a:xfrm>
        </p:grpSpPr>
        <p:sp>
          <p:nvSpPr>
            <p:cNvPr id="97312"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7313"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97284" name="Group 6"/>
          <p:cNvGrpSpPr>
            <a:grpSpLocks/>
          </p:cNvGrpSpPr>
          <p:nvPr/>
        </p:nvGrpSpPr>
        <p:grpSpPr bwMode="auto">
          <a:xfrm>
            <a:off x="6705600" y="3505200"/>
            <a:ext cx="1905000" cy="685800"/>
            <a:chOff x="2256" y="2208"/>
            <a:chExt cx="1200" cy="432"/>
          </a:xfrm>
        </p:grpSpPr>
        <p:sp>
          <p:nvSpPr>
            <p:cNvPr id="97310"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7311"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97285"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7286"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7287"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7288"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7289"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7290"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7291"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7292"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7293"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7294"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7295" name="Rectangle 31"/>
          <p:cNvSpPr>
            <a:spLocks noGrp="1"/>
          </p:cNvSpPr>
          <p:nvPr>
            <p:ph type="title"/>
          </p:nvPr>
        </p:nvSpPr>
        <p:spPr/>
        <p:txBody>
          <a:bodyPr/>
          <a:lstStyle/>
          <a:p>
            <a:pPr eaLnBrk="1" hangingPunct="1"/>
            <a:r>
              <a:rPr lang="en-US" altLang="en-US" smtClean="0"/>
              <a:t>Merging</a:t>
            </a:r>
          </a:p>
        </p:txBody>
      </p:sp>
      <p:sp>
        <p:nvSpPr>
          <p:cNvPr id="97296" name="Rectangle 32"/>
          <p:cNvSpPr>
            <a:spLocks noGrp="1"/>
          </p:cNvSpPr>
          <p:nvPr>
            <p:ph idx="1"/>
          </p:nvPr>
        </p:nvSpPr>
        <p:spPr>
          <a:xfrm>
            <a:off x="1981200" y="1600200"/>
            <a:ext cx="8229600" cy="19050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z="1600"/>
          </a:p>
        </p:txBody>
      </p:sp>
      <p:sp>
        <p:nvSpPr>
          <p:cNvPr id="101409" name="Rectangle 33"/>
          <p:cNvSpPr>
            <a:spLocks noChangeArrowheads="1"/>
          </p:cNvSpPr>
          <p:nvPr/>
        </p:nvSpPr>
        <p:spPr bwMode="auto">
          <a:xfrm>
            <a:off x="60198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15</a:t>
            </a:r>
          </a:p>
        </p:txBody>
      </p:sp>
      <p:grpSp>
        <p:nvGrpSpPr>
          <p:cNvPr id="97298" name="Group 9"/>
          <p:cNvGrpSpPr>
            <a:grpSpLocks/>
          </p:cNvGrpSpPr>
          <p:nvPr/>
        </p:nvGrpSpPr>
        <p:grpSpPr bwMode="auto">
          <a:xfrm>
            <a:off x="2590800" y="4343400"/>
            <a:ext cx="2667000" cy="381000"/>
            <a:chOff x="816" y="3264"/>
            <a:chExt cx="1680" cy="240"/>
          </a:xfrm>
        </p:grpSpPr>
        <p:sp>
          <p:nvSpPr>
            <p:cNvPr id="97305"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7306"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7307"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7308"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97309"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97299" name="Group 15"/>
          <p:cNvGrpSpPr>
            <a:grpSpLocks/>
          </p:cNvGrpSpPr>
          <p:nvPr/>
        </p:nvGrpSpPr>
        <p:grpSpPr bwMode="auto">
          <a:xfrm>
            <a:off x="5791200" y="4343400"/>
            <a:ext cx="2667000" cy="381000"/>
            <a:chOff x="2880" y="3264"/>
            <a:chExt cx="1680" cy="240"/>
          </a:xfrm>
        </p:grpSpPr>
        <p:sp>
          <p:nvSpPr>
            <p:cNvPr id="97300"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7301"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7302"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7303"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97304"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594603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409"/>
                                        </p:tgtEl>
                                        <p:attrNameLst>
                                          <p:attrName>style.visibility</p:attrName>
                                        </p:attrNameLst>
                                      </p:cBhvr>
                                      <p:to>
                                        <p:strVal val="visible"/>
                                      </p:to>
                                    </p:set>
                                    <p:animEffect transition="in" filter="dissolve">
                                      <p:cBhvr>
                                        <p:cTn id="7" dur="500"/>
                                        <p:tgtEl>
                                          <p:spTgt spid="101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09" grpId="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grpSp>
        <p:nvGrpSpPr>
          <p:cNvPr id="99331" name="Group 3"/>
          <p:cNvGrpSpPr>
            <a:grpSpLocks/>
          </p:cNvGrpSpPr>
          <p:nvPr/>
        </p:nvGrpSpPr>
        <p:grpSpPr bwMode="auto">
          <a:xfrm>
            <a:off x="4038600" y="3505200"/>
            <a:ext cx="1905000" cy="685800"/>
            <a:chOff x="288" y="2208"/>
            <a:chExt cx="1200" cy="432"/>
          </a:xfrm>
        </p:grpSpPr>
        <p:sp>
          <p:nvSpPr>
            <p:cNvPr id="99360" name="Text Box 4"/>
            <p:cNvSpPr txBox="1">
              <a:spLocks noChangeArrowheads="1"/>
            </p:cNvSpPr>
            <p:nvPr/>
          </p:nvSpPr>
          <p:spPr bwMode="auto">
            <a:xfrm>
              <a:off x="288"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3399"/>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9361" name="AutoShape 5"/>
            <p:cNvSpPr>
              <a:spLocks noChangeArrowheads="1"/>
            </p:cNvSpPr>
            <p:nvPr/>
          </p:nvSpPr>
          <p:spPr bwMode="auto">
            <a:xfrm>
              <a:off x="768" y="2448"/>
              <a:ext cx="192" cy="192"/>
            </a:xfrm>
            <a:prstGeom prst="downArrow">
              <a:avLst>
                <a:gd name="adj1" fmla="val 50000"/>
                <a:gd name="adj2" fmla="val 25000"/>
              </a:avLst>
            </a:prstGeom>
            <a:solidFill>
              <a:srgbClr val="003399"/>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grpSp>
        <p:nvGrpSpPr>
          <p:cNvPr id="99332" name="Group 6"/>
          <p:cNvGrpSpPr>
            <a:grpSpLocks/>
          </p:cNvGrpSpPr>
          <p:nvPr/>
        </p:nvGrpSpPr>
        <p:grpSpPr bwMode="auto">
          <a:xfrm>
            <a:off x="6705600" y="3505200"/>
            <a:ext cx="1905000" cy="685800"/>
            <a:chOff x="2256" y="2208"/>
            <a:chExt cx="1200" cy="432"/>
          </a:xfrm>
        </p:grpSpPr>
        <p:sp>
          <p:nvSpPr>
            <p:cNvPr id="99358" name="Text Box 7"/>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99359" name="AutoShape 8"/>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99333" name="Rectangle 21"/>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9334" name="Rectangle 22"/>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9335" name="Rectangle 23"/>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9336" name="Rectangle 24"/>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9337" name="Rectangle 25"/>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9338" name="Rectangle 26"/>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9339" name="Rectangle 27"/>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99340" name="Rectangle 28"/>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9341" name="Rectangle 29"/>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9342" name="Rectangle 30"/>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99343" name="Rectangle 31"/>
          <p:cNvSpPr>
            <a:spLocks noGrp="1"/>
          </p:cNvSpPr>
          <p:nvPr>
            <p:ph type="title"/>
          </p:nvPr>
        </p:nvSpPr>
        <p:spPr/>
        <p:txBody>
          <a:bodyPr/>
          <a:lstStyle/>
          <a:p>
            <a:pPr eaLnBrk="1" hangingPunct="1"/>
            <a:r>
              <a:rPr lang="en-US" altLang="en-US" smtClean="0"/>
              <a:t>Merging</a:t>
            </a:r>
          </a:p>
        </p:txBody>
      </p:sp>
      <p:sp>
        <p:nvSpPr>
          <p:cNvPr id="99344" name="Rectangle 32"/>
          <p:cNvSpPr>
            <a:spLocks noGrp="1"/>
          </p:cNvSpPr>
          <p:nvPr>
            <p:ph idx="1"/>
          </p:nvPr>
        </p:nvSpPr>
        <p:spPr>
          <a:xfrm>
            <a:off x="1981200" y="1600200"/>
            <a:ext cx="8229600" cy="16002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z="1600"/>
          </a:p>
        </p:txBody>
      </p:sp>
      <p:sp>
        <p:nvSpPr>
          <p:cNvPr id="103457" name="Rectangle 33"/>
          <p:cNvSpPr>
            <a:spLocks noChangeArrowheads="1"/>
          </p:cNvSpPr>
          <p:nvPr/>
        </p:nvSpPr>
        <p:spPr bwMode="auto">
          <a:xfrm>
            <a:off x="65532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18</a:t>
            </a:r>
          </a:p>
        </p:txBody>
      </p:sp>
      <p:grpSp>
        <p:nvGrpSpPr>
          <p:cNvPr id="99346" name="Group 9"/>
          <p:cNvGrpSpPr>
            <a:grpSpLocks/>
          </p:cNvGrpSpPr>
          <p:nvPr/>
        </p:nvGrpSpPr>
        <p:grpSpPr bwMode="auto">
          <a:xfrm>
            <a:off x="2590800" y="4343400"/>
            <a:ext cx="2667000" cy="381000"/>
            <a:chOff x="816" y="3264"/>
            <a:chExt cx="1680" cy="240"/>
          </a:xfrm>
        </p:grpSpPr>
        <p:sp>
          <p:nvSpPr>
            <p:cNvPr id="99353"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99354"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99355"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99356"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99357"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99347" name="Group 15"/>
          <p:cNvGrpSpPr>
            <a:grpSpLocks/>
          </p:cNvGrpSpPr>
          <p:nvPr/>
        </p:nvGrpSpPr>
        <p:grpSpPr bwMode="auto">
          <a:xfrm>
            <a:off x="5791200" y="4343400"/>
            <a:ext cx="2667000" cy="381000"/>
            <a:chOff x="2880" y="3264"/>
            <a:chExt cx="1680" cy="240"/>
          </a:xfrm>
        </p:grpSpPr>
        <p:sp>
          <p:nvSpPr>
            <p:cNvPr id="99348"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99349"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99350"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99351"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99352"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1752362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3457"/>
                                        </p:tgtEl>
                                        <p:attrNameLst>
                                          <p:attrName>style.visibility</p:attrName>
                                        </p:attrNameLst>
                                      </p:cBhvr>
                                      <p:to>
                                        <p:strVal val="visible"/>
                                      </p:to>
                                    </p:set>
                                    <p:animEffect transition="in" filter="dissolve">
                                      <p:cBhvr>
                                        <p:cTn id="7" dur="500"/>
                                        <p:tgtEl>
                                          <p:spTgt spid="103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57"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sp>
        <p:nvSpPr>
          <p:cNvPr id="101379" name="Text Box 3"/>
          <p:cNvSpPr txBox="1">
            <a:spLocks noChangeArrowheads="1"/>
          </p:cNvSpPr>
          <p:nvPr/>
        </p:nvSpPr>
        <p:spPr bwMode="auto">
          <a:xfrm>
            <a:off x="4495800" y="3124200"/>
            <a:ext cx="190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1"/>
                </a:solidFill>
                <a:latin typeface="Arial" panose="020B0604020202020204" pitchFamily="34" charset="0"/>
                <a:ea typeface="新細明體" pitchFamily="18" charset="-120"/>
              </a:rPr>
              <a:t>first half</a:t>
            </a:r>
            <a:br>
              <a:rPr lang="en-US" altLang="en-US" sz="1800" b="1">
                <a:solidFill>
                  <a:schemeClr val="accent1"/>
                </a:solidFill>
                <a:latin typeface="Arial" panose="020B0604020202020204" pitchFamily="34" charset="0"/>
                <a:ea typeface="新細明體" pitchFamily="18" charset="-120"/>
              </a:rPr>
            </a:br>
            <a:r>
              <a:rPr lang="en-US" altLang="en-US" sz="1800" b="1">
                <a:solidFill>
                  <a:schemeClr val="accent1"/>
                </a:solidFill>
                <a:latin typeface="Arial" panose="020B0604020202020204" pitchFamily="34" charset="0"/>
                <a:ea typeface="新細明體" pitchFamily="18" charset="-120"/>
              </a:rPr>
              <a:t>exhausted</a:t>
            </a:r>
            <a:endParaRPr lang="en-US" altLang="en-US" sz="1800">
              <a:solidFill>
                <a:schemeClr val="accent1"/>
              </a:solidFill>
              <a:latin typeface="Arial" panose="020B0604020202020204" pitchFamily="34" charset="0"/>
              <a:ea typeface="新細明體" pitchFamily="18" charset="-120"/>
            </a:endParaRPr>
          </a:p>
        </p:txBody>
      </p:sp>
      <p:sp>
        <p:nvSpPr>
          <p:cNvPr id="101380" name="AutoShape 4"/>
          <p:cNvSpPr>
            <a:spLocks noChangeArrowheads="1"/>
          </p:cNvSpPr>
          <p:nvPr/>
        </p:nvSpPr>
        <p:spPr bwMode="auto">
          <a:xfrm>
            <a:off x="5257800" y="3886200"/>
            <a:ext cx="304800" cy="304800"/>
          </a:xfrm>
          <a:prstGeom prst="downArrow">
            <a:avLst>
              <a:gd name="adj1" fmla="val 50000"/>
              <a:gd name="adj2" fmla="val 25000"/>
            </a:avLst>
          </a:prstGeom>
          <a:solidFill>
            <a:schemeClr val="accent1"/>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nvGrpSpPr>
          <p:cNvPr id="101381" name="Group 5"/>
          <p:cNvGrpSpPr>
            <a:grpSpLocks/>
          </p:cNvGrpSpPr>
          <p:nvPr/>
        </p:nvGrpSpPr>
        <p:grpSpPr bwMode="auto">
          <a:xfrm>
            <a:off x="6705600" y="3505200"/>
            <a:ext cx="1905000" cy="685800"/>
            <a:chOff x="2256" y="2208"/>
            <a:chExt cx="1200" cy="432"/>
          </a:xfrm>
        </p:grpSpPr>
        <p:sp>
          <p:nvSpPr>
            <p:cNvPr id="101407" name="Text Box 6"/>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101408" name="AutoShape 7"/>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101382" name="Rectangle 20"/>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101383" name="Rectangle 21"/>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101384" name="Rectangle 22"/>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101385" name="Rectangle 23"/>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101386" name="Rectangle 24"/>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101387" name="Rectangle 25"/>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101388" name="Rectangle 26"/>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101389" name="Rectangle 27"/>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sp>
        <p:nvSpPr>
          <p:cNvPr id="101390" name="Rectangle 28"/>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101391" name="Rectangle 29"/>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101392" name="Rectangle 30"/>
          <p:cNvSpPr>
            <a:spLocks noGrp="1"/>
          </p:cNvSpPr>
          <p:nvPr>
            <p:ph type="title"/>
          </p:nvPr>
        </p:nvSpPr>
        <p:spPr/>
        <p:txBody>
          <a:bodyPr/>
          <a:lstStyle/>
          <a:p>
            <a:pPr eaLnBrk="1" hangingPunct="1"/>
            <a:r>
              <a:rPr lang="en-US" altLang="en-US" smtClean="0"/>
              <a:t>Merging</a:t>
            </a:r>
          </a:p>
        </p:txBody>
      </p:sp>
      <p:sp>
        <p:nvSpPr>
          <p:cNvPr id="101393" name="Rectangle 31"/>
          <p:cNvSpPr>
            <a:spLocks noGrp="1"/>
          </p:cNvSpPr>
          <p:nvPr>
            <p:ph idx="1"/>
          </p:nvPr>
        </p:nvSpPr>
        <p:spPr>
          <a:xfrm>
            <a:off x="1981200" y="1600200"/>
            <a:ext cx="8229600" cy="2667000"/>
          </a:xfrm>
        </p:spPr>
        <p:txBody>
          <a:bodyPr/>
          <a:lstStyle/>
          <a:p>
            <a:pPr marL="0" indent="0"/>
            <a:r>
              <a:rPr lang="en-US" altLang="en-US" smtClean="0"/>
              <a:t>Merge.</a:t>
            </a:r>
          </a:p>
          <a:p>
            <a:pPr marL="346075" lvl="1" indent="-231775"/>
            <a:r>
              <a:rPr lang="en-US" altLang="en-US"/>
              <a:t>Keep track of smallest element in each sorted half.</a:t>
            </a:r>
          </a:p>
          <a:p>
            <a:pPr marL="346075" lvl="1" indent="-231775"/>
            <a:r>
              <a:rPr lang="en-US" altLang="en-US"/>
              <a:t>Insert smallest of two elements into auxiliary array.</a:t>
            </a:r>
          </a:p>
          <a:p>
            <a:pPr marL="346075" lvl="1" indent="-231775"/>
            <a:r>
              <a:rPr lang="en-US" altLang="en-US"/>
              <a:t>Repeat until done.</a:t>
            </a:r>
          </a:p>
          <a:p>
            <a:pPr marL="346075" lvl="1" indent="-231775"/>
            <a:endParaRPr lang="en-US" altLang="en-US"/>
          </a:p>
        </p:txBody>
      </p:sp>
      <p:sp>
        <p:nvSpPr>
          <p:cNvPr id="105504" name="Rectangle 32"/>
          <p:cNvSpPr>
            <a:spLocks noChangeArrowheads="1"/>
          </p:cNvSpPr>
          <p:nvPr/>
        </p:nvSpPr>
        <p:spPr bwMode="auto">
          <a:xfrm>
            <a:off x="70866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19</a:t>
            </a:r>
          </a:p>
        </p:txBody>
      </p:sp>
      <p:grpSp>
        <p:nvGrpSpPr>
          <p:cNvPr id="101395" name="Group 9"/>
          <p:cNvGrpSpPr>
            <a:grpSpLocks/>
          </p:cNvGrpSpPr>
          <p:nvPr/>
        </p:nvGrpSpPr>
        <p:grpSpPr bwMode="auto">
          <a:xfrm>
            <a:off x="2590800" y="4343400"/>
            <a:ext cx="2667000" cy="381000"/>
            <a:chOff x="816" y="3264"/>
            <a:chExt cx="1680" cy="240"/>
          </a:xfrm>
        </p:grpSpPr>
        <p:sp>
          <p:nvSpPr>
            <p:cNvPr id="101402"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101403"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101404"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101405"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101406"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101396" name="Group 15"/>
          <p:cNvGrpSpPr>
            <a:grpSpLocks/>
          </p:cNvGrpSpPr>
          <p:nvPr/>
        </p:nvGrpSpPr>
        <p:grpSpPr bwMode="auto">
          <a:xfrm>
            <a:off x="5791200" y="4343400"/>
            <a:ext cx="2667000" cy="381000"/>
            <a:chOff x="2880" y="3264"/>
            <a:chExt cx="1680" cy="240"/>
          </a:xfrm>
        </p:grpSpPr>
        <p:sp>
          <p:nvSpPr>
            <p:cNvPr id="101397"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101398"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101399"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101400"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101401"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Tree>
    <p:extLst>
      <p:ext uri="{BB962C8B-B14F-4D97-AF65-F5344CB8AC3E}">
        <p14:creationId xmlns:p14="http://schemas.microsoft.com/office/powerpoint/2010/main" val="2371002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504"/>
                                        </p:tgtEl>
                                        <p:attrNameLst>
                                          <p:attrName>style.visibility</p:attrName>
                                        </p:attrNameLst>
                                      </p:cBhvr>
                                      <p:to>
                                        <p:strVal val="visible"/>
                                      </p:to>
                                    </p:set>
                                    <p:animEffect transition="in" filter="dissolve">
                                      <p:cBhvr>
                                        <p:cTn id="7" dur="500"/>
                                        <p:tgtEl>
                                          <p:spTgt spid="105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04"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8763000" y="5334001"/>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latin typeface="Arial" panose="020B0604020202020204" pitchFamily="34" charset="0"/>
                <a:ea typeface="新細明體" pitchFamily="18" charset="-120"/>
              </a:rPr>
              <a:t>auxiliary array</a:t>
            </a:r>
          </a:p>
        </p:txBody>
      </p:sp>
      <p:sp>
        <p:nvSpPr>
          <p:cNvPr id="103427" name="Text Box 3"/>
          <p:cNvSpPr txBox="1">
            <a:spLocks noChangeArrowheads="1"/>
          </p:cNvSpPr>
          <p:nvPr/>
        </p:nvSpPr>
        <p:spPr bwMode="auto">
          <a:xfrm>
            <a:off x="4495800" y="3124200"/>
            <a:ext cx="190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1"/>
                </a:solidFill>
                <a:latin typeface="Arial" panose="020B0604020202020204" pitchFamily="34" charset="0"/>
                <a:ea typeface="新細明體" pitchFamily="18" charset="-120"/>
              </a:rPr>
              <a:t>first half</a:t>
            </a:r>
            <a:br>
              <a:rPr lang="en-US" altLang="en-US" sz="1800" b="1">
                <a:solidFill>
                  <a:schemeClr val="accent1"/>
                </a:solidFill>
                <a:latin typeface="Arial" panose="020B0604020202020204" pitchFamily="34" charset="0"/>
                <a:ea typeface="新細明體" pitchFamily="18" charset="-120"/>
              </a:rPr>
            </a:br>
            <a:r>
              <a:rPr lang="en-US" altLang="en-US" sz="1800" b="1">
                <a:solidFill>
                  <a:schemeClr val="accent1"/>
                </a:solidFill>
                <a:latin typeface="Arial" panose="020B0604020202020204" pitchFamily="34" charset="0"/>
                <a:ea typeface="新細明體" pitchFamily="18" charset="-120"/>
              </a:rPr>
              <a:t>exhausted</a:t>
            </a:r>
            <a:endParaRPr lang="en-US" altLang="en-US" sz="1800">
              <a:solidFill>
                <a:schemeClr val="accent1"/>
              </a:solidFill>
              <a:latin typeface="Arial" panose="020B0604020202020204" pitchFamily="34" charset="0"/>
              <a:ea typeface="新細明體" pitchFamily="18" charset="-120"/>
            </a:endParaRPr>
          </a:p>
        </p:txBody>
      </p:sp>
      <p:sp>
        <p:nvSpPr>
          <p:cNvPr id="103428" name="AutoShape 4"/>
          <p:cNvSpPr>
            <a:spLocks noChangeArrowheads="1"/>
          </p:cNvSpPr>
          <p:nvPr/>
        </p:nvSpPr>
        <p:spPr bwMode="auto">
          <a:xfrm>
            <a:off x="5257800" y="3886200"/>
            <a:ext cx="304800" cy="304800"/>
          </a:xfrm>
          <a:prstGeom prst="downArrow">
            <a:avLst>
              <a:gd name="adj1" fmla="val 50000"/>
              <a:gd name="adj2" fmla="val 25000"/>
            </a:avLst>
          </a:prstGeom>
          <a:solidFill>
            <a:schemeClr val="accent1"/>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nvGrpSpPr>
          <p:cNvPr id="103429" name="Group 5"/>
          <p:cNvGrpSpPr>
            <a:grpSpLocks/>
          </p:cNvGrpSpPr>
          <p:nvPr/>
        </p:nvGrpSpPr>
        <p:grpSpPr bwMode="auto">
          <a:xfrm>
            <a:off x="7239000" y="3505200"/>
            <a:ext cx="1905000" cy="685800"/>
            <a:chOff x="2256" y="2208"/>
            <a:chExt cx="1200" cy="432"/>
          </a:xfrm>
        </p:grpSpPr>
        <p:sp>
          <p:nvSpPr>
            <p:cNvPr id="103455" name="Text Box 6"/>
            <p:cNvSpPr txBox="1">
              <a:spLocks noChangeArrowheads="1"/>
            </p:cNvSpPr>
            <p:nvPr/>
          </p:nvSpPr>
          <p:spPr bwMode="auto">
            <a:xfrm>
              <a:off x="2256" y="220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rgbClr val="006600"/>
                  </a:solidFill>
                  <a:latin typeface="Arial" panose="020B0604020202020204" pitchFamily="34" charset="0"/>
                  <a:ea typeface="新細明體" pitchFamily="18" charset="-120"/>
                </a:rPr>
                <a:t>smallest</a:t>
              </a:r>
              <a:endParaRPr lang="en-US" altLang="en-US" sz="1800">
                <a:solidFill>
                  <a:schemeClr val="bg2"/>
                </a:solidFill>
                <a:latin typeface="Arial" panose="020B0604020202020204" pitchFamily="34" charset="0"/>
                <a:ea typeface="新細明體" pitchFamily="18" charset="-120"/>
              </a:endParaRPr>
            </a:p>
          </p:txBody>
        </p:sp>
        <p:sp>
          <p:nvSpPr>
            <p:cNvPr id="103456" name="AutoShape 7"/>
            <p:cNvSpPr>
              <a:spLocks noChangeArrowheads="1"/>
            </p:cNvSpPr>
            <p:nvPr/>
          </p:nvSpPr>
          <p:spPr bwMode="auto">
            <a:xfrm>
              <a:off x="2736" y="2448"/>
              <a:ext cx="192" cy="192"/>
            </a:xfrm>
            <a:prstGeom prst="downArrow">
              <a:avLst>
                <a:gd name="adj1" fmla="val 50000"/>
                <a:gd name="adj2" fmla="val 25000"/>
              </a:avLst>
            </a:prstGeom>
            <a:solidFill>
              <a:srgbClr val="006600"/>
            </a:solidFill>
            <a:ln w="9525">
              <a:solidFill>
                <a:schemeClr val="bg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grpSp>
      <p:sp>
        <p:nvSpPr>
          <p:cNvPr id="103430" name="Rectangle 30"/>
          <p:cNvSpPr>
            <a:spLocks noGrp="1"/>
          </p:cNvSpPr>
          <p:nvPr>
            <p:ph type="title"/>
          </p:nvPr>
        </p:nvSpPr>
        <p:spPr/>
        <p:txBody>
          <a:bodyPr/>
          <a:lstStyle/>
          <a:p>
            <a:pPr eaLnBrk="1" hangingPunct="1"/>
            <a:r>
              <a:rPr lang="en-US" altLang="en-US" smtClean="0"/>
              <a:t>Merging</a:t>
            </a:r>
          </a:p>
        </p:txBody>
      </p:sp>
      <p:sp>
        <p:nvSpPr>
          <p:cNvPr id="103431" name="Rectangle 31"/>
          <p:cNvSpPr>
            <a:spLocks noGrp="1"/>
          </p:cNvSpPr>
          <p:nvPr>
            <p:ph idx="1"/>
          </p:nvPr>
        </p:nvSpPr>
        <p:spPr>
          <a:xfrm>
            <a:off x="1981200" y="1600200"/>
            <a:ext cx="8229600" cy="1524000"/>
          </a:xfrm>
        </p:spPr>
        <p:txBody>
          <a:bodyPr/>
          <a:lstStyle/>
          <a:p>
            <a:pPr marL="0" indent="0"/>
            <a:r>
              <a:rPr lang="en-US" altLang="en-US" smtClean="0"/>
              <a:t>Merge.</a:t>
            </a:r>
          </a:p>
          <a:p>
            <a:pPr marL="346075" lvl="1" indent="-231775"/>
            <a:r>
              <a:rPr lang="en-US" altLang="en-US" sz="1600"/>
              <a:t>Keep track of smallest element in each sorted half.</a:t>
            </a:r>
          </a:p>
          <a:p>
            <a:pPr marL="346075" lvl="1" indent="-231775"/>
            <a:r>
              <a:rPr lang="en-US" altLang="en-US" sz="1600"/>
              <a:t>Insert smallest of two elements into auxiliary array.</a:t>
            </a:r>
          </a:p>
          <a:p>
            <a:pPr marL="346075" lvl="1" indent="-231775"/>
            <a:r>
              <a:rPr lang="en-US" altLang="en-US" sz="1600"/>
              <a:t>Repeat until done.</a:t>
            </a:r>
          </a:p>
          <a:p>
            <a:pPr marL="346075" lvl="1" indent="-231775"/>
            <a:endParaRPr lang="en-US" altLang="en-US" sz="1600"/>
          </a:p>
        </p:txBody>
      </p:sp>
      <p:grpSp>
        <p:nvGrpSpPr>
          <p:cNvPr id="103432" name="Group 9"/>
          <p:cNvGrpSpPr>
            <a:grpSpLocks/>
          </p:cNvGrpSpPr>
          <p:nvPr/>
        </p:nvGrpSpPr>
        <p:grpSpPr bwMode="auto">
          <a:xfrm>
            <a:off x="2590800" y="4343400"/>
            <a:ext cx="2667000" cy="381000"/>
            <a:chOff x="816" y="3264"/>
            <a:chExt cx="1680" cy="240"/>
          </a:xfrm>
        </p:grpSpPr>
        <p:sp>
          <p:nvSpPr>
            <p:cNvPr id="103450" name="Rectangle 10"/>
            <p:cNvSpPr>
              <a:spLocks noChangeArrowheads="1"/>
            </p:cNvSpPr>
            <p:nvPr/>
          </p:nvSpPr>
          <p:spPr bwMode="auto">
            <a:xfrm>
              <a:off x="8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103451" name="Rectangle 11"/>
            <p:cNvSpPr>
              <a:spLocks noChangeArrowheads="1"/>
            </p:cNvSpPr>
            <p:nvPr/>
          </p:nvSpPr>
          <p:spPr bwMode="auto">
            <a:xfrm>
              <a:off x="11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103452" name="Rectangle 12"/>
            <p:cNvSpPr>
              <a:spLocks noChangeArrowheads="1"/>
            </p:cNvSpPr>
            <p:nvPr/>
          </p:nvSpPr>
          <p:spPr bwMode="auto">
            <a:xfrm>
              <a:off x="14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103453" name="Rectangle 13"/>
            <p:cNvSpPr>
              <a:spLocks noChangeArrowheads="1"/>
            </p:cNvSpPr>
            <p:nvPr/>
          </p:nvSpPr>
          <p:spPr bwMode="auto">
            <a:xfrm>
              <a:off x="18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103454" name="Rectangle 14"/>
            <p:cNvSpPr>
              <a:spLocks noChangeArrowheads="1"/>
            </p:cNvSpPr>
            <p:nvPr/>
          </p:nvSpPr>
          <p:spPr bwMode="auto">
            <a:xfrm>
              <a:off x="216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grpSp>
      <p:grpSp>
        <p:nvGrpSpPr>
          <p:cNvPr id="103433" name="Group 15"/>
          <p:cNvGrpSpPr>
            <a:grpSpLocks/>
          </p:cNvGrpSpPr>
          <p:nvPr/>
        </p:nvGrpSpPr>
        <p:grpSpPr bwMode="auto">
          <a:xfrm>
            <a:off x="5791200" y="4343400"/>
            <a:ext cx="2667000" cy="381000"/>
            <a:chOff x="2880" y="3264"/>
            <a:chExt cx="1680" cy="240"/>
          </a:xfrm>
        </p:grpSpPr>
        <p:sp>
          <p:nvSpPr>
            <p:cNvPr id="103445" name="Rectangle 16"/>
            <p:cNvSpPr>
              <a:spLocks noChangeArrowheads="1"/>
            </p:cNvSpPr>
            <p:nvPr/>
          </p:nvSpPr>
          <p:spPr bwMode="auto">
            <a:xfrm>
              <a:off x="2880"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103446" name="Rectangle 17"/>
            <p:cNvSpPr>
              <a:spLocks noChangeArrowheads="1"/>
            </p:cNvSpPr>
            <p:nvPr/>
          </p:nvSpPr>
          <p:spPr bwMode="auto">
            <a:xfrm>
              <a:off x="3216"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103447" name="Rectangle 18"/>
            <p:cNvSpPr>
              <a:spLocks noChangeArrowheads="1"/>
            </p:cNvSpPr>
            <p:nvPr/>
          </p:nvSpPr>
          <p:spPr bwMode="auto">
            <a:xfrm>
              <a:off x="3552"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103448" name="Rectangle 19"/>
            <p:cNvSpPr>
              <a:spLocks noChangeArrowheads="1"/>
            </p:cNvSpPr>
            <p:nvPr/>
          </p:nvSpPr>
          <p:spPr bwMode="auto">
            <a:xfrm>
              <a:off x="3888"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103449" name="Rectangle 20"/>
            <p:cNvSpPr>
              <a:spLocks noChangeArrowheads="1"/>
            </p:cNvSpPr>
            <p:nvPr/>
          </p:nvSpPr>
          <p:spPr bwMode="auto">
            <a:xfrm>
              <a:off x="4224" y="3264"/>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20</a:t>
              </a:r>
            </a:p>
          </p:txBody>
        </p:sp>
      </p:grpSp>
      <p:sp>
        <p:nvSpPr>
          <p:cNvPr id="103434" name="Rectangle 20"/>
          <p:cNvSpPr>
            <a:spLocks noChangeArrowheads="1"/>
          </p:cNvSpPr>
          <p:nvPr/>
        </p:nvSpPr>
        <p:spPr bwMode="auto">
          <a:xfrm>
            <a:off x="2819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a:t>
            </a:r>
          </a:p>
        </p:txBody>
      </p:sp>
      <p:sp>
        <p:nvSpPr>
          <p:cNvPr id="103435" name="Rectangle 21"/>
          <p:cNvSpPr>
            <a:spLocks noChangeArrowheads="1"/>
          </p:cNvSpPr>
          <p:nvPr/>
        </p:nvSpPr>
        <p:spPr bwMode="auto">
          <a:xfrm>
            <a:off x="3352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7</a:t>
            </a:r>
          </a:p>
        </p:txBody>
      </p:sp>
      <p:sp>
        <p:nvSpPr>
          <p:cNvPr id="103436" name="Rectangle 22"/>
          <p:cNvSpPr>
            <a:spLocks noChangeArrowheads="1"/>
          </p:cNvSpPr>
          <p:nvPr/>
        </p:nvSpPr>
        <p:spPr bwMode="auto">
          <a:xfrm>
            <a:off x="3886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8</a:t>
            </a:r>
          </a:p>
        </p:txBody>
      </p:sp>
      <p:sp>
        <p:nvSpPr>
          <p:cNvPr id="103437" name="Rectangle 23"/>
          <p:cNvSpPr>
            <a:spLocks noChangeArrowheads="1"/>
          </p:cNvSpPr>
          <p:nvPr/>
        </p:nvSpPr>
        <p:spPr bwMode="auto">
          <a:xfrm>
            <a:off x="4419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9</a:t>
            </a:r>
          </a:p>
        </p:txBody>
      </p:sp>
      <p:sp>
        <p:nvSpPr>
          <p:cNvPr id="103438" name="Rectangle 24"/>
          <p:cNvSpPr>
            <a:spLocks noChangeArrowheads="1"/>
          </p:cNvSpPr>
          <p:nvPr/>
        </p:nvSpPr>
        <p:spPr bwMode="auto">
          <a:xfrm>
            <a:off x="4953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12</a:t>
            </a:r>
          </a:p>
        </p:txBody>
      </p:sp>
      <p:sp>
        <p:nvSpPr>
          <p:cNvPr id="103439" name="Rectangle 25"/>
          <p:cNvSpPr>
            <a:spLocks noChangeArrowheads="1"/>
          </p:cNvSpPr>
          <p:nvPr/>
        </p:nvSpPr>
        <p:spPr bwMode="auto">
          <a:xfrm>
            <a:off x="54864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13</a:t>
            </a:r>
          </a:p>
        </p:txBody>
      </p:sp>
      <p:sp>
        <p:nvSpPr>
          <p:cNvPr id="103440" name="Rectangle 26"/>
          <p:cNvSpPr>
            <a:spLocks noChangeArrowheads="1"/>
          </p:cNvSpPr>
          <p:nvPr/>
        </p:nvSpPr>
        <p:spPr bwMode="auto">
          <a:xfrm>
            <a:off x="60198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15</a:t>
            </a:r>
          </a:p>
        </p:txBody>
      </p:sp>
      <p:sp>
        <p:nvSpPr>
          <p:cNvPr id="103441" name="Rectangle 27"/>
          <p:cNvSpPr>
            <a:spLocks noChangeArrowheads="1"/>
          </p:cNvSpPr>
          <p:nvPr/>
        </p:nvSpPr>
        <p:spPr bwMode="auto">
          <a:xfrm>
            <a:off x="65532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18</a:t>
            </a:r>
          </a:p>
        </p:txBody>
      </p:sp>
      <p:sp>
        <p:nvSpPr>
          <p:cNvPr id="103442" name="Rectangle 28"/>
          <p:cNvSpPr>
            <a:spLocks noChangeArrowheads="1"/>
          </p:cNvSpPr>
          <p:nvPr/>
        </p:nvSpPr>
        <p:spPr bwMode="auto">
          <a:xfrm>
            <a:off x="70866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19</a:t>
            </a:r>
          </a:p>
        </p:txBody>
      </p:sp>
      <p:sp>
        <p:nvSpPr>
          <p:cNvPr id="103443" name="Rectangle 29"/>
          <p:cNvSpPr>
            <a:spLocks noChangeArrowheads="1"/>
          </p:cNvSpPr>
          <p:nvPr/>
        </p:nvSpPr>
        <p:spPr bwMode="auto">
          <a:xfrm>
            <a:off x="7620000" y="53340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ea typeface="新細明體" pitchFamily="18" charset="-120"/>
              </a:rPr>
              <a:t> </a:t>
            </a:r>
          </a:p>
        </p:txBody>
      </p:sp>
      <p:sp>
        <p:nvSpPr>
          <p:cNvPr id="55" name="Rectangle 32"/>
          <p:cNvSpPr>
            <a:spLocks noChangeArrowheads="1"/>
          </p:cNvSpPr>
          <p:nvPr/>
        </p:nvSpPr>
        <p:spPr bwMode="auto">
          <a:xfrm>
            <a:off x="7620000" y="53340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ea typeface="新細明體" pitchFamily="18" charset="-120"/>
              </a:rPr>
              <a:t>20</a:t>
            </a:r>
          </a:p>
        </p:txBody>
      </p:sp>
    </p:spTree>
    <p:extLst>
      <p:ext uri="{BB962C8B-B14F-4D97-AF65-F5344CB8AC3E}">
        <p14:creationId xmlns:p14="http://schemas.microsoft.com/office/powerpoint/2010/main" val="3341900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dissolv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r>
              <a:rPr lang="en-US" altLang="en-US" smtClean="0"/>
              <a:t>Mergesort – Analysis</a:t>
            </a:r>
            <a:endParaRPr lang="en-US" altLang="en-PK" smtClean="0"/>
          </a:p>
        </p:txBody>
      </p:sp>
      <p:sp>
        <p:nvSpPr>
          <p:cNvPr id="105475" name="Content Placeholder 2"/>
          <p:cNvSpPr>
            <a:spLocks noGrp="1"/>
          </p:cNvSpPr>
          <p:nvPr>
            <p:ph idx="1"/>
          </p:nvPr>
        </p:nvSpPr>
        <p:spPr/>
        <p:txBody>
          <a:bodyPr>
            <a:normAutofit lnSpcReduction="10000"/>
          </a:bodyPr>
          <a:lstStyle/>
          <a:p>
            <a:r>
              <a:rPr lang="en-US" altLang="en-PK" smtClean="0"/>
              <a:t>Mergesort is a classic example of the techniques used to analyze recursive routines: we have to write a recurrence relation for the running time</a:t>
            </a:r>
          </a:p>
          <a:p>
            <a:endParaRPr lang="en-US" altLang="en-PK" smtClean="0"/>
          </a:p>
          <a:p>
            <a:endParaRPr lang="en-US" altLang="en-PK" smtClean="0"/>
          </a:p>
          <a:p>
            <a:r>
              <a:rPr lang="en-US" altLang="en-PK" smtClean="0"/>
              <a:t>This is a standard recurrence relation, which can be solved several ways. One way is to substitute the recurrence relation, we obtain</a:t>
            </a:r>
          </a:p>
          <a:p>
            <a:endParaRPr lang="en-US" altLang="en-PK" smtClean="0"/>
          </a:p>
          <a:p>
            <a:endParaRPr lang="en-US" altLang="en-PK" smtClean="0"/>
          </a:p>
          <a:p>
            <a:endParaRPr lang="en-US" altLang="en-PK" smtClean="0"/>
          </a:p>
          <a:p>
            <a:r>
              <a:rPr lang="en-US" altLang="en-PK" smtClean="0"/>
              <a:t>Mergesort’s running time is </a:t>
            </a:r>
            <a:r>
              <a:rPr lang="en-US" altLang="en-PK" b="1" i="1" smtClean="0"/>
              <a:t>O(N logN),</a:t>
            </a:r>
            <a:r>
              <a:rPr lang="en-US" altLang="en-PK" smtClean="0"/>
              <a:t> it has the significant problem that merging two sorted lists uses linear extra memory. </a:t>
            </a:r>
          </a:p>
        </p:txBody>
      </p:sp>
      <p:pic>
        <p:nvPicPr>
          <p:cNvPr id="10547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2438400"/>
            <a:ext cx="3741738" cy="457200"/>
          </a:xfrm>
          <a:prstGeom prst="rect">
            <a:avLst/>
          </a:prstGeom>
          <a:noFill/>
          <a:ln w="9525">
            <a:solidFill>
              <a:srgbClr val="06436B"/>
            </a:solidFill>
            <a:miter lim="800000"/>
            <a:headEnd/>
            <a:tailEnd/>
          </a:ln>
          <a:extLst>
            <a:ext uri="{909E8E84-426E-40DD-AFC4-6F175D3DCCD1}">
              <a14:hiddenFill xmlns:a14="http://schemas.microsoft.com/office/drawing/2010/main">
                <a:solidFill>
                  <a:srgbClr val="FFFFFF"/>
                </a:solidFill>
              </a14:hiddenFill>
            </a:ext>
          </a:extLst>
        </p:spPr>
      </p:pic>
      <p:pic>
        <p:nvPicPr>
          <p:cNvPr id="10547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4263" y="3810001"/>
            <a:ext cx="4572000" cy="479425"/>
          </a:xfrm>
          <a:prstGeom prst="rect">
            <a:avLst/>
          </a:prstGeom>
          <a:noFill/>
          <a:ln w="9525">
            <a:solidFill>
              <a:srgbClr val="06436B"/>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47013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extLst>
          </p:cNvPr>
          <p:cNvSpPr>
            <a:spLocks noGrp="1"/>
          </p:cNvSpPr>
          <p:nvPr>
            <p:ph type="ftr" sz="quarter" idx="11"/>
          </p:nvPr>
        </p:nvSpPr>
        <p:spPr/>
        <p:txBody>
          <a:bodyPr/>
          <a:lstStyle/>
          <a:p>
            <a:pPr>
              <a:defRPr/>
            </a:pPr>
            <a:r>
              <a:rPr lang="en-US"/>
              <a:t>CENG 213 Data Structures</a:t>
            </a:r>
          </a:p>
        </p:txBody>
      </p:sp>
      <p:sp>
        <p:nvSpPr>
          <p:cNvPr id="106499" name="Rectangle 2"/>
          <p:cNvSpPr>
            <a:spLocks noGrp="1"/>
          </p:cNvSpPr>
          <p:nvPr>
            <p:ph type="title"/>
          </p:nvPr>
        </p:nvSpPr>
        <p:spPr/>
        <p:txBody>
          <a:bodyPr/>
          <a:lstStyle/>
          <a:p>
            <a:pPr eaLnBrk="1" hangingPunct="1"/>
            <a:r>
              <a:rPr lang="en-US" altLang="en-US" smtClean="0"/>
              <a:t>Mergesort – Analysis</a:t>
            </a:r>
          </a:p>
        </p:txBody>
      </p:sp>
      <p:sp>
        <p:nvSpPr>
          <p:cNvPr id="106500" name="Rectangle 3"/>
          <p:cNvSpPr>
            <a:spLocks noGrp="1"/>
          </p:cNvSpPr>
          <p:nvPr>
            <p:ph type="body" idx="1"/>
          </p:nvPr>
        </p:nvSpPr>
        <p:spPr>
          <a:xfrm>
            <a:off x="1828800" y="1676400"/>
            <a:ext cx="8534400" cy="4419600"/>
          </a:xfrm>
        </p:spPr>
        <p:txBody>
          <a:bodyPr/>
          <a:lstStyle/>
          <a:p>
            <a:pPr eaLnBrk="1" hangingPunct="1"/>
            <a:r>
              <a:rPr lang="en-US" altLang="en-US" sz="2200"/>
              <a:t>Mergesort is extremely efficient algorithm with respect to time.</a:t>
            </a:r>
          </a:p>
          <a:p>
            <a:pPr lvl="1" eaLnBrk="1" hangingPunct="1"/>
            <a:r>
              <a:rPr lang="en-US" altLang="en-US" sz="2200"/>
              <a:t>Both worst case and average cases are </a:t>
            </a:r>
            <a:r>
              <a:rPr lang="en-US" altLang="en-US" sz="2200" b="1">
                <a:sym typeface="Wingdings" panose="05000000000000000000" pitchFamily="2" charset="2"/>
              </a:rPr>
              <a:t>O (</a:t>
            </a:r>
            <a:r>
              <a:rPr lang="en-US" altLang="en-US" sz="2200" b="1"/>
              <a:t>n * log</a:t>
            </a:r>
            <a:r>
              <a:rPr lang="en-US" altLang="en-US" sz="2200" b="1" baseline="-25000"/>
              <a:t>2</a:t>
            </a:r>
            <a:r>
              <a:rPr lang="en-US" altLang="en-US" sz="2200" b="1"/>
              <a:t>n )</a:t>
            </a:r>
          </a:p>
          <a:p>
            <a:pPr eaLnBrk="1" hangingPunct="1"/>
            <a:endParaRPr lang="en-US" altLang="en-US" sz="2200" b="1"/>
          </a:p>
          <a:p>
            <a:pPr eaLnBrk="1" hangingPunct="1"/>
            <a:r>
              <a:rPr lang="en-US" altLang="en-US" sz="2200"/>
              <a:t>But, merge sort requires an extra array whose size equals to the size of the original array.</a:t>
            </a:r>
          </a:p>
          <a:p>
            <a:pPr eaLnBrk="1" hangingPunct="1"/>
            <a:endParaRPr lang="en-US" altLang="en-US" sz="2200"/>
          </a:p>
          <a:p>
            <a:r>
              <a:rPr lang="en-US" altLang="en-PK" sz="2200"/>
              <a:t>In this scenario, it might be reasonable to have an algorithm use a few more comparisons, if we can also use significantly fewer data movements.  </a:t>
            </a:r>
          </a:p>
          <a:p>
            <a:endParaRPr lang="en-US" altLang="en-PK" sz="2200"/>
          </a:p>
          <a:p>
            <a:r>
              <a:rPr lang="en-US" altLang="en-PK" sz="2200"/>
              <a:t>Quicksort achieves this tradeoff</a:t>
            </a:r>
          </a:p>
          <a:p>
            <a:pPr lvl="1" eaLnBrk="1" hangingPunct="1"/>
            <a:endParaRPr lang="en-US" altLang="en-US" sz="2200"/>
          </a:p>
        </p:txBody>
      </p:sp>
    </p:spTree>
    <p:extLst>
      <p:ext uri="{BB962C8B-B14F-4D97-AF65-F5344CB8AC3E}">
        <p14:creationId xmlns:p14="http://schemas.microsoft.com/office/powerpoint/2010/main" val="337800337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r>
              <a:rPr lang="en-US" altLang="en-US" smtClean="0"/>
              <a:t>Quick Sort</a:t>
            </a:r>
          </a:p>
        </p:txBody>
      </p:sp>
      <p:sp>
        <p:nvSpPr>
          <p:cNvPr id="107523" name="Content Placeholder 2"/>
          <p:cNvSpPr>
            <a:spLocks noGrp="1"/>
          </p:cNvSpPr>
          <p:nvPr>
            <p:ph idx="1"/>
          </p:nvPr>
        </p:nvSpPr>
        <p:spPr/>
        <p:txBody>
          <a:bodyPr/>
          <a:lstStyle/>
          <a:p>
            <a:r>
              <a:rPr lang="en-US" altLang="en-US" smtClean="0"/>
              <a:t>Partition the array so that </a:t>
            </a:r>
          </a:p>
          <a:p>
            <a:pPr lvl="1"/>
            <a:r>
              <a:rPr lang="en-US" altLang="en-US" smtClean="0"/>
              <a:t>Some partitioning element P is its final position</a:t>
            </a:r>
          </a:p>
          <a:p>
            <a:pPr lvl="1"/>
            <a:r>
              <a:rPr lang="en-US" altLang="en-US" smtClean="0"/>
              <a:t>Arrange elements such that </a:t>
            </a:r>
          </a:p>
          <a:p>
            <a:pPr lvl="2"/>
            <a:r>
              <a:rPr lang="en-US" altLang="en-US" smtClean="0"/>
              <a:t>No larger elements to the left of P</a:t>
            </a:r>
          </a:p>
          <a:p>
            <a:pPr lvl="2"/>
            <a:r>
              <a:rPr lang="en-US" altLang="en-US" smtClean="0"/>
              <a:t>No smaller elements to the right of P</a:t>
            </a:r>
          </a:p>
          <a:p>
            <a:pPr lvl="1"/>
            <a:r>
              <a:rPr lang="en-US" altLang="en-US" smtClean="0"/>
              <a:t>Sort each half</a:t>
            </a:r>
          </a:p>
        </p:txBody>
      </p:sp>
      <p:sp>
        <p:nvSpPr>
          <p:cNvPr id="4" name="Rectangle 16">
            <a:extLst>
              <a:ext uri="{FF2B5EF4-FFF2-40B4-BE49-F238E27FC236}"/>
            </a:extLst>
          </p:cNvPr>
          <p:cNvSpPr>
            <a:spLocks noChangeArrowheads="1"/>
          </p:cNvSpPr>
          <p:nvPr/>
        </p:nvSpPr>
        <p:spPr bwMode="auto">
          <a:xfrm>
            <a:off x="21336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C</a:t>
            </a:r>
            <a:endParaRPr lang="en-US" altLang="en-US" sz="2400" b="1">
              <a:latin typeface="Courier New" pitchFamily="49" charset="0"/>
            </a:endParaRPr>
          </a:p>
        </p:txBody>
      </p:sp>
      <p:sp>
        <p:nvSpPr>
          <p:cNvPr id="5" name="Rectangle 17">
            <a:extLst>
              <a:ext uri="{FF2B5EF4-FFF2-40B4-BE49-F238E27FC236}"/>
            </a:extLst>
          </p:cNvPr>
          <p:cNvSpPr>
            <a:spLocks noChangeArrowheads="1"/>
          </p:cNvSpPr>
          <p:nvPr/>
        </p:nvSpPr>
        <p:spPr bwMode="auto">
          <a:xfrm>
            <a:off x="26670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I</a:t>
            </a:r>
          </a:p>
        </p:txBody>
      </p:sp>
      <p:sp>
        <p:nvSpPr>
          <p:cNvPr id="6" name="Rectangle 18">
            <a:extLst>
              <a:ext uri="{FF2B5EF4-FFF2-40B4-BE49-F238E27FC236}"/>
            </a:extLst>
          </p:cNvPr>
          <p:cNvSpPr>
            <a:spLocks noChangeArrowheads="1"/>
          </p:cNvSpPr>
          <p:nvPr/>
        </p:nvSpPr>
        <p:spPr bwMode="auto">
          <a:xfrm>
            <a:off x="32004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dirty="0">
                <a:solidFill>
                  <a:schemeClr val="bg1"/>
                </a:solidFill>
                <a:latin typeface="Courier New" pitchFamily="49" charset="0"/>
              </a:rPr>
              <a:t>I</a:t>
            </a:r>
          </a:p>
        </p:txBody>
      </p:sp>
      <p:sp>
        <p:nvSpPr>
          <p:cNvPr id="7" name="Rectangle 19">
            <a:extLst>
              <a:ext uri="{FF2B5EF4-FFF2-40B4-BE49-F238E27FC236}"/>
            </a:extLst>
          </p:cNvPr>
          <p:cNvSpPr>
            <a:spLocks noChangeArrowheads="1"/>
          </p:cNvSpPr>
          <p:nvPr/>
        </p:nvSpPr>
        <p:spPr bwMode="auto">
          <a:xfrm>
            <a:off x="37338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C</a:t>
            </a:r>
          </a:p>
        </p:txBody>
      </p:sp>
      <p:sp>
        <p:nvSpPr>
          <p:cNvPr id="8" name="Rectangle 20">
            <a:extLst>
              <a:ext uri="{FF2B5EF4-FFF2-40B4-BE49-F238E27FC236}"/>
            </a:extLst>
          </p:cNvPr>
          <p:cNvSpPr>
            <a:spLocks noChangeArrowheads="1"/>
          </p:cNvSpPr>
          <p:nvPr/>
        </p:nvSpPr>
        <p:spPr bwMode="auto">
          <a:xfrm>
            <a:off x="42672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K</a:t>
            </a:r>
          </a:p>
        </p:txBody>
      </p:sp>
      <p:sp>
        <p:nvSpPr>
          <p:cNvPr id="9" name="Rectangle 21">
            <a:extLst>
              <a:ext uri="{FF2B5EF4-FFF2-40B4-BE49-F238E27FC236}"/>
            </a:extLst>
          </p:cNvPr>
          <p:cNvSpPr>
            <a:spLocks noChangeArrowheads="1"/>
          </p:cNvSpPr>
          <p:nvPr/>
        </p:nvSpPr>
        <p:spPr bwMode="auto">
          <a:xfrm>
            <a:off x="4800600" y="4343400"/>
            <a:ext cx="533400" cy="381000"/>
          </a:xfrm>
          <a:prstGeom prst="rect">
            <a:avLst/>
          </a:prstGeom>
          <a:solidFill>
            <a:schemeClr val="bg2">
              <a:lumMod val="50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L</a:t>
            </a:r>
          </a:p>
        </p:txBody>
      </p:sp>
      <p:sp>
        <p:nvSpPr>
          <p:cNvPr id="10" name="Rectangle 22">
            <a:extLst>
              <a:ext uri="{FF2B5EF4-FFF2-40B4-BE49-F238E27FC236}"/>
            </a:extLst>
          </p:cNvPr>
          <p:cNvSpPr>
            <a:spLocks noChangeArrowheads="1"/>
          </p:cNvSpPr>
          <p:nvPr/>
        </p:nvSpPr>
        <p:spPr bwMode="auto">
          <a:xfrm>
            <a:off x="53340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O</a:t>
            </a:r>
          </a:p>
        </p:txBody>
      </p:sp>
      <p:sp>
        <p:nvSpPr>
          <p:cNvPr id="11" name="Rectangle 23">
            <a:extLst>
              <a:ext uri="{FF2B5EF4-FFF2-40B4-BE49-F238E27FC236}"/>
            </a:extLst>
          </p:cNvPr>
          <p:cNvSpPr>
            <a:spLocks noChangeArrowheads="1"/>
          </p:cNvSpPr>
          <p:nvPr/>
        </p:nvSpPr>
        <p:spPr bwMode="auto">
          <a:xfrm>
            <a:off x="58674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R</a:t>
            </a:r>
          </a:p>
        </p:txBody>
      </p:sp>
      <p:sp>
        <p:nvSpPr>
          <p:cNvPr id="12" name="Rectangle 24">
            <a:extLst>
              <a:ext uri="{FF2B5EF4-FFF2-40B4-BE49-F238E27FC236}"/>
            </a:extLst>
          </p:cNvPr>
          <p:cNvSpPr>
            <a:spLocks noChangeArrowheads="1"/>
          </p:cNvSpPr>
          <p:nvPr/>
        </p:nvSpPr>
        <p:spPr bwMode="auto">
          <a:xfrm>
            <a:off x="64008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T</a:t>
            </a:r>
          </a:p>
        </p:txBody>
      </p:sp>
      <p:sp>
        <p:nvSpPr>
          <p:cNvPr id="13" name="Rectangle 25">
            <a:extLst>
              <a:ext uri="{FF2B5EF4-FFF2-40B4-BE49-F238E27FC236}"/>
            </a:extLst>
          </p:cNvPr>
          <p:cNvSpPr>
            <a:spLocks noChangeArrowheads="1"/>
          </p:cNvSpPr>
          <p:nvPr/>
        </p:nvSpPr>
        <p:spPr bwMode="auto">
          <a:xfrm>
            <a:off x="69342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U</a:t>
            </a:r>
          </a:p>
        </p:txBody>
      </p:sp>
      <p:sp>
        <p:nvSpPr>
          <p:cNvPr id="14" name="Rectangle 26">
            <a:extLst>
              <a:ext uri="{FF2B5EF4-FFF2-40B4-BE49-F238E27FC236}"/>
            </a:extLst>
          </p:cNvPr>
          <p:cNvSpPr>
            <a:spLocks noChangeArrowheads="1"/>
          </p:cNvSpPr>
          <p:nvPr/>
        </p:nvSpPr>
        <p:spPr bwMode="auto">
          <a:xfrm>
            <a:off x="74676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S</a:t>
            </a:r>
          </a:p>
        </p:txBody>
      </p:sp>
      <p:sp>
        <p:nvSpPr>
          <p:cNvPr id="15" name="Rectangle 27">
            <a:extLst>
              <a:ext uri="{FF2B5EF4-FFF2-40B4-BE49-F238E27FC236}"/>
            </a:extLst>
          </p:cNvPr>
          <p:cNvSpPr>
            <a:spLocks noChangeArrowheads="1"/>
          </p:cNvSpPr>
          <p:nvPr/>
        </p:nvSpPr>
        <p:spPr bwMode="auto">
          <a:xfrm>
            <a:off x="80010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Q</a:t>
            </a:r>
            <a:endParaRPr lang="en-US" altLang="en-US" sz="2400" b="1">
              <a:latin typeface="Courier New" pitchFamily="49" charset="0"/>
            </a:endParaRPr>
          </a:p>
        </p:txBody>
      </p:sp>
      <p:sp>
        <p:nvSpPr>
          <p:cNvPr id="16" name="Rectangle 28">
            <a:extLst>
              <a:ext uri="{FF2B5EF4-FFF2-40B4-BE49-F238E27FC236}"/>
            </a:extLst>
          </p:cNvPr>
          <p:cNvSpPr>
            <a:spLocks noChangeArrowheads="1"/>
          </p:cNvSpPr>
          <p:nvPr/>
        </p:nvSpPr>
        <p:spPr bwMode="auto">
          <a:xfrm>
            <a:off x="85344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O</a:t>
            </a:r>
          </a:p>
        </p:txBody>
      </p:sp>
      <p:sp>
        <p:nvSpPr>
          <p:cNvPr id="17" name="Rectangle 29">
            <a:extLst>
              <a:ext uri="{FF2B5EF4-FFF2-40B4-BE49-F238E27FC236}"/>
            </a:extLst>
          </p:cNvPr>
          <p:cNvSpPr>
            <a:spLocks noChangeArrowheads="1"/>
          </p:cNvSpPr>
          <p:nvPr/>
        </p:nvSpPr>
        <p:spPr bwMode="auto">
          <a:xfrm>
            <a:off x="90678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O</a:t>
            </a:r>
          </a:p>
        </p:txBody>
      </p:sp>
      <p:sp>
        <p:nvSpPr>
          <p:cNvPr id="18" name="Rectangle 30">
            <a:extLst>
              <a:ext uri="{FF2B5EF4-FFF2-40B4-BE49-F238E27FC236}"/>
            </a:extLst>
          </p:cNvPr>
          <p:cNvSpPr>
            <a:spLocks noChangeArrowheads="1"/>
          </p:cNvSpPr>
          <p:nvPr/>
        </p:nvSpPr>
        <p:spPr bwMode="auto">
          <a:xfrm>
            <a:off x="9601200" y="4343400"/>
            <a:ext cx="533400" cy="381000"/>
          </a:xfrm>
          <a:prstGeom prst="rect">
            <a:avLst/>
          </a:prstGeom>
          <a:solidFill>
            <a:schemeClr val="tx2">
              <a:lumMod val="75000"/>
            </a:schemeClr>
          </a:solidFill>
          <a:ln w="9525">
            <a:solidFill>
              <a:schemeClr val="tx1"/>
            </a:solidFill>
            <a:miter lim="800000"/>
            <a:headEnd/>
            <a:tailEnd/>
          </a:ln>
          <a:effectLst/>
        </p:spPr>
        <p:txBody>
          <a:bodyPr wrap="none" lIns="92075" tIns="46038" rIns="92075" bIns="46038"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defRPr/>
            </a:pPr>
            <a:r>
              <a:rPr lang="en-US" altLang="en-US" sz="2400" b="1">
                <a:solidFill>
                  <a:schemeClr val="bg1"/>
                </a:solidFill>
                <a:latin typeface="Courier New" pitchFamily="49" charset="0"/>
              </a:rPr>
              <a:t>S</a:t>
            </a:r>
          </a:p>
        </p:txBody>
      </p:sp>
      <p:sp>
        <p:nvSpPr>
          <p:cNvPr id="107539" name="TextBox 18"/>
          <p:cNvSpPr txBox="1">
            <a:spLocks noChangeArrowheads="1"/>
          </p:cNvSpPr>
          <p:nvPr/>
        </p:nvSpPr>
        <p:spPr bwMode="auto">
          <a:xfrm>
            <a:off x="4910138" y="4845050"/>
            <a:ext cx="323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Verdana" panose="020B0604030504040204" pitchFamily="34" charset="0"/>
              </a:rPr>
              <a:t>P</a:t>
            </a:r>
          </a:p>
        </p:txBody>
      </p:sp>
    </p:spTree>
    <p:extLst>
      <p:ext uri="{BB962C8B-B14F-4D97-AF65-F5344CB8AC3E}">
        <p14:creationId xmlns:p14="http://schemas.microsoft.com/office/powerpoint/2010/main" val="45457066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p:cNvSpPr>
          <p:nvPr>
            <p:ph type="title"/>
          </p:nvPr>
        </p:nvSpPr>
        <p:spPr/>
        <p:txBody>
          <a:bodyPr/>
          <a:lstStyle/>
          <a:p>
            <a:pPr eaLnBrk="1" hangingPunct="1"/>
            <a:r>
              <a:rPr lang="en-US" altLang="en-US" smtClean="0"/>
              <a:t>Partitioning in Quicksort</a:t>
            </a:r>
          </a:p>
        </p:txBody>
      </p:sp>
      <p:grpSp>
        <p:nvGrpSpPr>
          <p:cNvPr id="108547" name="Group 4"/>
          <p:cNvGrpSpPr>
            <a:grpSpLocks/>
          </p:cNvGrpSpPr>
          <p:nvPr/>
        </p:nvGrpSpPr>
        <p:grpSpPr bwMode="auto">
          <a:xfrm>
            <a:off x="1981200" y="4114800"/>
            <a:ext cx="8001000" cy="381000"/>
            <a:chOff x="288" y="2592"/>
            <a:chExt cx="5040" cy="240"/>
          </a:xfrm>
        </p:grpSpPr>
        <p:sp>
          <p:nvSpPr>
            <p:cNvPr id="108560" name="Rectangle 5"/>
            <p:cNvSpPr>
              <a:spLocks noChangeArrowheads="1"/>
            </p:cNvSpPr>
            <p:nvPr/>
          </p:nvSpPr>
          <p:spPr bwMode="auto">
            <a:xfrm>
              <a:off x="288"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Q</a:t>
              </a:r>
            </a:p>
          </p:txBody>
        </p:sp>
        <p:sp>
          <p:nvSpPr>
            <p:cNvPr id="108561" name="Rectangle 6"/>
            <p:cNvSpPr>
              <a:spLocks noChangeArrowheads="1"/>
            </p:cNvSpPr>
            <p:nvPr/>
          </p:nvSpPr>
          <p:spPr bwMode="auto">
            <a:xfrm>
              <a:off x="624"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08562" name="Rectangle 7"/>
            <p:cNvSpPr>
              <a:spLocks noChangeArrowheads="1"/>
            </p:cNvSpPr>
            <p:nvPr/>
          </p:nvSpPr>
          <p:spPr bwMode="auto">
            <a:xfrm>
              <a:off x="960"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08563" name="Rectangle 8"/>
            <p:cNvSpPr>
              <a:spLocks noChangeArrowheads="1"/>
            </p:cNvSpPr>
            <p:nvPr/>
          </p:nvSpPr>
          <p:spPr bwMode="auto">
            <a:xfrm>
              <a:off x="1296"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08564" name="Rectangle 9"/>
            <p:cNvSpPr>
              <a:spLocks noChangeArrowheads="1"/>
            </p:cNvSpPr>
            <p:nvPr/>
          </p:nvSpPr>
          <p:spPr bwMode="auto">
            <a:xfrm>
              <a:off x="1632"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08565" name="Rectangle 10"/>
            <p:cNvSpPr>
              <a:spLocks noChangeArrowheads="1"/>
            </p:cNvSpPr>
            <p:nvPr/>
          </p:nvSpPr>
          <p:spPr bwMode="auto">
            <a:xfrm>
              <a:off x="1968"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08566" name="Rectangle 11"/>
            <p:cNvSpPr>
              <a:spLocks noChangeArrowheads="1"/>
            </p:cNvSpPr>
            <p:nvPr/>
          </p:nvSpPr>
          <p:spPr bwMode="auto">
            <a:xfrm>
              <a:off x="2304"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08567" name="Rectangle 12"/>
            <p:cNvSpPr>
              <a:spLocks noChangeArrowheads="1"/>
            </p:cNvSpPr>
            <p:nvPr/>
          </p:nvSpPr>
          <p:spPr bwMode="auto">
            <a:xfrm>
              <a:off x="2640"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08568" name="Rectangle 13"/>
            <p:cNvSpPr>
              <a:spLocks noChangeArrowheads="1"/>
            </p:cNvSpPr>
            <p:nvPr/>
          </p:nvSpPr>
          <p:spPr bwMode="auto">
            <a:xfrm>
              <a:off x="2976"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08569" name="Rectangle 14"/>
            <p:cNvSpPr>
              <a:spLocks noChangeArrowheads="1"/>
            </p:cNvSpPr>
            <p:nvPr/>
          </p:nvSpPr>
          <p:spPr bwMode="auto">
            <a:xfrm>
              <a:off x="3312"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08570" name="Rectangle 15"/>
            <p:cNvSpPr>
              <a:spLocks noChangeArrowheads="1"/>
            </p:cNvSpPr>
            <p:nvPr/>
          </p:nvSpPr>
          <p:spPr bwMode="auto">
            <a:xfrm>
              <a:off x="3648"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08571" name="Rectangle 16"/>
            <p:cNvSpPr>
              <a:spLocks noChangeArrowheads="1"/>
            </p:cNvSpPr>
            <p:nvPr/>
          </p:nvSpPr>
          <p:spPr bwMode="auto">
            <a:xfrm>
              <a:off x="3984"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08572" name="Rectangle 17"/>
            <p:cNvSpPr>
              <a:spLocks noChangeArrowheads="1"/>
            </p:cNvSpPr>
            <p:nvPr/>
          </p:nvSpPr>
          <p:spPr bwMode="auto">
            <a:xfrm>
              <a:off x="4320"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08573" name="Rectangle 18"/>
            <p:cNvSpPr>
              <a:spLocks noChangeArrowheads="1"/>
            </p:cNvSpPr>
            <p:nvPr/>
          </p:nvSpPr>
          <p:spPr bwMode="auto">
            <a:xfrm>
              <a:off x="4656" y="2592"/>
              <a:ext cx="336" cy="24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08574" name="Rectangle 19"/>
            <p:cNvSpPr>
              <a:spLocks noChangeArrowheads="1"/>
            </p:cNvSpPr>
            <p:nvPr/>
          </p:nvSpPr>
          <p:spPr bwMode="auto">
            <a:xfrm>
              <a:off x="4992" y="2592"/>
              <a:ext cx="336" cy="24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grpSp>
        <p:nvGrpSpPr>
          <p:cNvPr id="108548" name="Group 20"/>
          <p:cNvGrpSpPr>
            <a:grpSpLocks/>
          </p:cNvGrpSpPr>
          <p:nvPr/>
        </p:nvGrpSpPr>
        <p:grpSpPr bwMode="auto">
          <a:xfrm>
            <a:off x="2133600" y="5257800"/>
            <a:ext cx="7620000" cy="762000"/>
            <a:chOff x="432" y="3648"/>
            <a:chExt cx="4800" cy="480"/>
          </a:xfrm>
        </p:grpSpPr>
        <p:sp>
          <p:nvSpPr>
            <p:cNvPr id="108550"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08551"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08552"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08553"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08554"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08555"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08556"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08557"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08558"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08559"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
        <p:nvSpPr>
          <p:cNvPr id="108549" name="Rectangle 3"/>
          <p:cNvSpPr txBox="1">
            <a:spLocks noChangeArrowheads="1"/>
          </p:cNvSpPr>
          <p:nvPr/>
        </p:nvSpPr>
        <p:spPr bwMode="auto">
          <a:xfrm>
            <a:off x="2095500" y="1733550"/>
            <a:ext cx="800100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08585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r>
              <a:rPr lang="en-US" altLang="en-US" sz="2000"/>
              <a:t>How do we partition the array efficiently?</a:t>
            </a:r>
          </a:p>
          <a:p>
            <a:pPr lvl="2" eaLnBrk="1" hangingPunct="1"/>
            <a:r>
              <a:rPr lang="en-US" altLang="en-US" sz="1600"/>
              <a:t>choose partition element to be rightmost element</a:t>
            </a:r>
          </a:p>
          <a:p>
            <a:pPr lvl="2" eaLnBrk="1" hangingPunct="1"/>
            <a:r>
              <a:rPr lang="en-US" altLang="en-US" sz="1600"/>
              <a:t>scan from left for larger element</a:t>
            </a:r>
          </a:p>
          <a:p>
            <a:pPr lvl="2" eaLnBrk="1" hangingPunct="1"/>
            <a:r>
              <a:rPr lang="en-US" altLang="en-US" sz="1600"/>
              <a:t>scan from right for smaller element</a:t>
            </a:r>
          </a:p>
          <a:p>
            <a:pPr lvl="2" eaLnBrk="1" hangingPunct="1"/>
            <a:r>
              <a:rPr lang="en-US" altLang="en-US" sz="1600"/>
              <a:t>exchange</a:t>
            </a:r>
          </a:p>
          <a:p>
            <a:pPr lvl="2" eaLnBrk="1" hangingPunct="1"/>
            <a:r>
              <a:rPr lang="en-US" altLang="en-US" sz="1600"/>
              <a:t>repeat until pointers cross</a:t>
            </a:r>
            <a:endParaRPr lang="en-US" altLang="en-US" sz="2000"/>
          </a:p>
        </p:txBody>
      </p:sp>
    </p:spTree>
    <p:extLst>
      <p:ext uri="{BB962C8B-B14F-4D97-AF65-F5344CB8AC3E}">
        <p14:creationId xmlns:p14="http://schemas.microsoft.com/office/powerpoint/2010/main" val="366218946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p:txBody>
          <a:bodyPr/>
          <a:lstStyle/>
          <a:p>
            <a:pPr eaLnBrk="1" hangingPunct="1"/>
            <a:r>
              <a:rPr lang="en-US" altLang="en-US" smtClean="0"/>
              <a:t>Partitioning in Quicksort</a:t>
            </a:r>
          </a:p>
        </p:txBody>
      </p:sp>
      <p:grpSp>
        <p:nvGrpSpPr>
          <p:cNvPr id="2" name="Group 4"/>
          <p:cNvGrpSpPr>
            <a:grpSpLocks/>
          </p:cNvGrpSpPr>
          <p:nvPr/>
        </p:nvGrpSpPr>
        <p:grpSpPr bwMode="auto">
          <a:xfrm>
            <a:off x="1676400" y="3352800"/>
            <a:ext cx="1295400" cy="685800"/>
            <a:chOff x="432" y="2112"/>
            <a:chExt cx="816" cy="432"/>
          </a:xfrm>
        </p:grpSpPr>
        <p:sp>
          <p:nvSpPr>
            <p:cNvPr id="110623" name="AutoShape 5"/>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10624" name="Text Box 6"/>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10596" name="Rectangle 7"/>
          <p:cNvSpPr>
            <a:spLocks noChangeArrowheads="1"/>
          </p:cNvSpPr>
          <p:nvPr/>
        </p:nvSpPr>
        <p:spPr bwMode="auto">
          <a:xfrm>
            <a:off x="1981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10597" name="Rectangle 8"/>
          <p:cNvSpPr>
            <a:spLocks noChangeArrowheads="1"/>
          </p:cNvSpPr>
          <p:nvPr/>
        </p:nvSpPr>
        <p:spPr bwMode="auto">
          <a:xfrm>
            <a:off x="2514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10598" name="Rectangle 9"/>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0599" name="Rectangle 10"/>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0600" name="Rectangle 11"/>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10601" name="Rectangle 12"/>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0602" name="Rectangle 13"/>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0603" name="Rectangle 14"/>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10604" name="Rectangle 15"/>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10605" name="Rectangle 16"/>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0606" name="Rectangle 17"/>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0607" name="Rectangle 18"/>
          <p:cNvSpPr>
            <a:spLocks noChangeArrowheads="1"/>
          </p:cNvSpPr>
          <p:nvPr/>
        </p:nvSpPr>
        <p:spPr bwMode="auto">
          <a:xfrm>
            <a:off x="7848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0608" name="Rectangle 19"/>
          <p:cNvSpPr>
            <a:spLocks noChangeArrowheads="1"/>
          </p:cNvSpPr>
          <p:nvPr/>
        </p:nvSpPr>
        <p:spPr bwMode="auto">
          <a:xfrm>
            <a:off x="8382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0609" name="Rectangle 20"/>
          <p:cNvSpPr>
            <a:spLocks noChangeArrowheads="1"/>
          </p:cNvSpPr>
          <p:nvPr/>
        </p:nvSpPr>
        <p:spPr bwMode="auto">
          <a:xfrm>
            <a:off x="8915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0610" name="Rectangle 21"/>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10611" name="Group 20"/>
          <p:cNvGrpSpPr>
            <a:grpSpLocks/>
          </p:cNvGrpSpPr>
          <p:nvPr/>
        </p:nvGrpSpPr>
        <p:grpSpPr bwMode="auto">
          <a:xfrm>
            <a:off x="2133600" y="5257800"/>
            <a:ext cx="7620000" cy="762000"/>
            <a:chOff x="432" y="3648"/>
            <a:chExt cx="4800" cy="480"/>
          </a:xfrm>
        </p:grpSpPr>
        <p:sp>
          <p:nvSpPr>
            <p:cNvPr id="110613"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0614"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10615"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0616"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10617"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0618"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10619"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0620"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10621"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0622"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
        <p:nvSpPr>
          <p:cNvPr id="110612" name="Rectangle 3"/>
          <p:cNvSpPr txBox="1">
            <a:spLocks noChangeArrowheads="1"/>
          </p:cNvSpPr>
          <p:nvPr/>
        </p:nvSpPr>
        <p:spPr bwMode="auto">
          <a:xfrm>
            <a:off x="2095500" y="1733550"/>
            <a:ext cx="800100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08585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r>
              <a:rPr lang="en-US" altLang="en-US" sz="2000"/>
              <a:t>How do we partition the array efficiently?</a:t>
            </a:r>
          </a:p>
          <a:p>
            <a:pPr lvl="2" eaLnBrk="1" hangingPunct="1"/>
            <a:r>
              <a:rPr lang="en-US" altLang="en-US" sz="1600"/>
              <a:t>choose partition element to be rightmost element</a:t>
            </a:r>
          </a:p>
          <a:p>
            <a:pPr lvl="2" eaLnBrk="1" hangingPunct="1"/>
            <a:r>
              <a:rPr lang="en-US" altLang="en-US" sz="1600"/>
              <a:t>scan from left for larger element</a:t>
            </a:r>
          </a:p>
          <a:p>
            <a:pPr lvl="2" eaLnBrk="1" hangingPunct="1"/>
            <a:r>
              <a:rPr lang="en-US" altLang="en-US" sz="1600"/>
              <a:t>scan from right for smaller element</a:t>
            </a:r>
          </a:p>
          <a:p>
            <a:pPr lvl="2" eaLnBrk="1" hangingPunct="1"/>
            <a:r>
              <a:rPr lang="en-US" altLang="en-US" sz="1600"/>
              <a:t>exchange</a:t>
            </a:r>
          </a:p>
          <a:p>
            <a:pPr lvl="2" eaLnBrk="1" hangingPunct="1"/>
            <a:r>
              <a:rPr lang="en-US" altLang="en-US" sz="1600"/>
              <a:t>repeat until pointers cross</a:t>
            </a:r>
            <a:endParaRPr lang="en-US" altLang="en-US" sz="2000"/>
          </a:p>
        </p:txBody>
      </p:sp>
    </p:spTree>
    <p:extLst>
      <p:ext uri="{BB962C8B-B14F-4D97-AF65-F5344CB8AC3E}">
        <p14:creationId xmlns:p14="http://schemas.microsoft.com/office/powerpoint/2010/main" val="242774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a:lstStyle/>
          <a:p>
            <a:pPr eaLnBrk="1" hangingPunct="1"/>
            <a:r>
              <a:rPr lang="en-US" altLang="en-US" smtClean="0"/>
              <a:t>Partitioning in Quicksort</a:t>
            </a:r>
          </a:p>
        </p:txBody>
      </p:sp>
      <p:sp>
        <p:nvSpPr>
          <p:cNvPr id="112643"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endParaRPr lang="en-US" altLang="en-US" smtClean="0"/>
          </a:p>
        </p:txBody>
      </p:sp>
      <p:grpSp>
        <p:nvGrpSpPr>
          <p:cNvPr id="112644" name="Group 15"/>
          <p:cNvGrpSpPr>
            <a:grpSpLocks/>
          </p:cNvGrpSpPr>
          <p:nvPr/>
        </p:nvGrpSpPr>
        <p:grpSpPr bwMode="auto">
          <a:xfrm>
            <a:off x="1676400" y="3352800"/>
            <a:ext cx="1295400" cy="685800"/>
            <a:chOff x="432" y="2112"/>
            <a:chExt cx="816" cy="432"/>
          </a:xfrm>
        </p:grpSpPr>
        <p:sp>
          <p:nvSpPr>
            <p:cNvPr id="112671"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12672"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12645" name="Rectangle 18"/>
          <p:cNvSpPr>
            <a:spLocks noChangeArrowheads="1"/>
          </p:cNvSpPr>
          <p:nvPr/>
        </p:nvSpPr>
        <p:spPr bwMode="auto">
          <a:xfrm>
            <a:off x="1981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12646" name="Rectangle 19"/>
          <p:cNvSpPr>
            <a:spLocks noChangeArrowheads="1"/>
          </p:cNvSpPr>
          <p:nvPr/>
        </p:nvSpPr>
        <p:spPr bwMode="auto">
          <a:xfrm>
            <a:off x="2514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12647"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2648"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2649"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12650"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2651"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2652"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12653"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12654" name="Rectangle 27"/>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2655" name="Rectangle 28"/>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2656" name="Rectangle 29"/>
          <p:cNvSpPr>
            <a:spLocks noChangeArrowheads="1"/>
          </p:cNvSpPr>
          <p:nvPr/>
        </p:nvSpPr>
        <p:spPr bwMode="auto">
          <a:xfrm>
            <a:off x="7848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2657" name="Rectangle 30"/>
          <p:cNvSpPr>
            <a:spLocks noChangeArrowheads="1"/>
          </p:cNvSpPr>
          <p:nvPr/>
        </p:nvSpPr>
        <p:spPr bwMode="auto">
          <a:xfrm>
            <a:off x="8382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2658" name="Rectangle 31"/>
          <p:cNvSpPr>
            <a:spLocks noChangeArrowheads="1"/>
          </p:cNvSpPr>
          <p:nvPr/>
        </p:nvSpPr>
        <p:spPr bwMode="auto">
          <a:xfrm>
            <a:off x="89154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2659"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12660" name="Group 20"/>
          <p:cNvGrpSpPr>
            <a:grpSpLocks/>
          </p:cNvGrpSpPr>
          <p:nvPr/>
        </p:nvGrpSpPr>
        <p:grpSpPr bwMode="auto">
          <a:xfrm>
            <a:off x="2133600" y="5257800"/>
            <a:ext cx="7620000" cy="762000"/>
            <a:chOff x="432" y="3648"/>
            <a:chExt cx="4800" cy="480"/>
          </a:xfrm>
        </p:grpSpPr>
        <p:sp>
          <p:nvSpPr>
            <p:cNvPr id="112661"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2662"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12663"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2664"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12665"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2666"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12667"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2668"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12669"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2670"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94713070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p:txBody>
          <a:bodyPr/>
          <a:lstStyle/>
          <a:p>
            <a:pPr eaLnBrk="1" hangingPunct="1"/>
            <a:r>
              <a:rPr lang="en-US" altLang="en-US" smtClean="0"/>
              <a:t>Partitioning in Quicksort</a:t>
            </a:r>
          </a:p>
        </p:txBody>
      </p:sp>
      <p:sp>
        <p:nvSpPr>
          <p:cNvPr id="114691"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endParaRPr lang="en-US" altLang="en-US" smtClean="0"/>
          </a:p>
        </p:txBody>
      </p:sp>
      <p:grpSp>
        <p:nvGrpSpPr>
          <p:cNvPr id="114692" name="Group 15"/>
          <p:cNvGrpSpPr>
            <a:grpSpLocks/>
          </p:cNvGrpSpPr>
          <p:nvPr/>
        </p:nvGrpSpPr>
        <p:grpSpPr bwMode="auto">
          <a:xfrm>
            <a:off x="1676400" y="3352800"/>
            <a:ext cx="1295400" cy="685800"/>
            <a:chOff x="432" y="2112"/>
            <a:chExt cx="816" cy="432"/>
          </a:xfrm>
        </p:grpSpPr>
        <p:sp>
          <p:nvSpPr>
            <p:cNvPr id="114719"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14720"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14693" name="Rectangle 18"/>
          <p:cNvSpPr>
            <a:spLocks noChangeArrowheads="1"/>
          </p:cNvSpPr>
          <p:nvPr/>
        </p:nvSpPr>
        <p:spPr bwMode="auto">
          <a:xfrm>
            <a:off x="1981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14694" name="Rectangle 19"/>
          <p:cNvSpPr>
            <a:spLocks noChangeArrowheads="1"/>
          </p:cNvSpPr>
          <p:nvPr/>
        </p:nvSpPr>
        <p:spPr bwMode="auto">
          <a:xfrm>
            <a:off x="2514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14695"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4696"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4697"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14698"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4699"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4700"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14701"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14702" name="Rectangle 27"/>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4703" name="Rectangle 28"/>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4704" name="Rectangle 29"/>
          <p:cNvSpPr>
            <a:spLocks noChangeArrowheads="1"/>
          </p:cNvSpPr>
          <p:nvPr/>
        </p:nvSpPr>
        <p:spPr bwMode="auto">
          <a:xfrm>
            <a:off x="7848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4705" name="Rectangle 30"/>
          <p:cNvSpPr>
            <a:spLocks noChangeArrowheads="1"/>
          </p:cNvSpPr>
          <p:nvPr/>
        </p:nvSpPr>
        <p:spPr bwMode="auto">
          <a:xfrm>
            <a:off x="83820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4706"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4707"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14708" name="Group 20"/>
          <p:cNvGrpSpPr>
            <a:grpSpLocks/>
          </p:cNvGrpSpPr>
          <p:nvPr/>
        </p:nvGrpSpPr>
        <p:grpSpPr bwMode="auto">
          <a:xfrm>
            <a:off x="2133600" y="5257800"/>
            <a:ext cx="7620000" cy="762000"/>
            <a:chOff x="432" y="3648"/>
            <a:chExt cx="4800" cy="480"/>
          </a:xfrm>
        </p:grpSpPr>
        <p:sp>
          <p:nvSpPr>
            <p:cNvPr id="114709"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0"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14711"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2"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14713"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4"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14715"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6"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14717"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8"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302727792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p:txBody>
          <a:bodyPr/>
          <a:lstStyle/>
          <a:p>
            <a:pPr eaLnBrk="1" hangingPunct="1"/>
            <a:r>
              <a:rPr lang="en-US" altLang="en-US" smtClean="0"/>
              <a:t>Partitioning in Quicksort</a:t>
            </a:r>
          </a:p>
        </p:txBody>
      </p:sp>
      <p:sp>
        <p:nvSpPr>
          <p:cNvPr id="114691"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endParaRPr lang="en-US" altLang="en-US" smtClean="0"/>
          </a:p>
        </p:txBody>
      </p:sp>
      <p:grpSp>
        <p:nvGrpSpPr>
          <p:cNvPr id="114692" name="Group 15"/>
          <p:cNvGrpSpPr>
            <a:grpSpLocks/>
          </p:cNvGrpSpPr>
          <p:nvPr/>
        </p:nvGrpSpPr>
        <p:grpSpPr bwMode="auto">
          <a:xfrm>
            <a:off x="1676400" y="3352800"/>
            <a:ext cx="1295400" cy="685800"/>
            <a:chOff x="432" y="2112"/>
            <a:chExt cx="816" cy="432"/>
          </a:xfrm>
        </p:grpSpPr>
        <p:sp>
          <p:nvSpPr>
            <p:cNvPr id="114719"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14720"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14693" name="Rectangle 18"/>
          <p:cNvSpPr>
            <a:spLocks noChangeArrowheads="1"/>
          </p:cNvSpPr>
          <p:nvPr/>
        </p:nvSpPr>
        <p:spPr bwMode="auto">
          <a:xfrm>
            <a:off x="1981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14694" name="Rectangle 19"/>
          <p:cNvSpPr>
            <a:spLocks noChangeArrowheads="1"/>
          </p:cNvSpPr>
          <p:nvPr/>
        </p:nvSpPr>
        <p:spPr bwMode="auto">
          <a:xfrm>
            <a:off x="2514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14695"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4696"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4697"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14698"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4699"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4700"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14701"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14702" name="Rectangle 27"/>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4703" name="Rectangle 28"/>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4704" name="Rectangle 29"/>
          <p:cNvSpPr>
            <a:spLocks noChangeArrowheads="1"/>
          </p:cNvSpPr>
          <p:nvPr/>
        </p:nvSpPr>
        <p:spPr bwMode="auto">
          <a:xfrm>
            <a:off x="7848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4705" name="Rectangle 30"/>
          <p:cNvSpPr>
            <a:spLocks noChangeArrowheads="1"/>
          </p:cNvSpPr>
          <p:nvPr/>
        </p:nvSpPr>
        <p:spPr bwMode="auto">
          <a:xfrm>
            <a:off x="83820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4706"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4707"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14708" name="Group 20"/>
          <p:cNvGrpSpPr>
            <a:grpSpLocks/>
          </p:cNvGrpSpPr>
          <p:nvPr/>
        </p:nvGrpSpPr>
        <p:grpSpPr bwMode="auto">
          <a:xfrm>
            <a:off x="2133600" y="5257800"/>
            <a:ext cx="7620000" cy="762000"/>
            <a:chOff x="432" y="3648"/>
            <a:chExt cx="4800" cy="480"/>
          </a:xfrm>
        </p:grpSpPr>
        <p:sp>
          <p:nvSpPr>
            <p:cNvPr id="114709"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0"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14711"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2"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14713"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4"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14715"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6"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14717"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4718"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53197599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p:txBody>
          <a:bodyPr/>
          <a:lstStyle/>
          <a:p>
            <a:pPr eaLnBrk="1" hangingPunct="1"/>
            <a:r>
              <a:rPr lang="en-US" altLang="en-US" smtClean="0"/>
              <a:t>Partitioning in Quicksort</a:t>
            </a:r>
          </a:p>
        </p:txBody>
      </p:sp>
      <p:sp>
        <p:nvSpPr>
          <p:cNvPr id="116739"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 </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endParaRPr lang="en-US" altLang="en-US" smtClean="0"/>
          </a:p>
        </p:txBody>
      </p:sp>
      <p:grpSp>
        <p:nvGrpSpPr>
          <p:cNvPr id="116740" name="Group 15"/>
          <p:cNvGrpSpPr>
            <a:grpSpLocks/>
          </p:cNvGrpSpPr>
          <p:nvPr/>
        </p:nvGrpSpPr>
        <p:grpSpPr bwMode="auto">
          <a:xfrm>
            <a:off x="1676400" y="3352800"/>
            <a:ext cx="1295400" cy="685800"/>
            <a:chOff x="432" y="2112"/>
            <a:chExt cx="816" cy="432"/>
          </a:xfrm>
        </p:grpSpPr>
        <p:sp>
          <p:nvSpPr>
            <p:cNvPr id="116770"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16771"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16741" name="Rectangle 18"/>
          <p:cNvSpPr>
            <a:spLocks noChangeArrowheads="1"/>
          </p:cNvSpPr>
          <p:nvPr/>
        </p:nvSpPr>
        <p:spPr bwMode="auto">
          <a:xfrm>
            <a:off x="1981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16742" name="Rectangle 19"/>
          <p:cNvSpPr>
            <a:spLocks noChangeArrowheads="1"/>
          </p:cNvSpPr>
          <p:nvPr/>
        </p:nvSpPr>
        <p:spPr bwMode="auto">
          <a:xfrm>
            <a:off x="2514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16743"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6744"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6745"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16746"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6747"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6748"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16749"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16750" name="Rectangle 27"/>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6751" name="Rectangle 28"/>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6752" name="Rectangle 29"/>
          <p:cNvSpPr>
            <a:spLocks noChangeArrowheads="1"/>
          </p:cNvSpPr>
          <p:nvPr/>
        </p:nvSpPr>
        <p:spPr bwMode="auto">
          <a:xfrm>
            <a:off x="78486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16753"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6754"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6755"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16756" name="Group 33"/>
          <p:cNvGrpSpPr>
            <a:grpSpLocks/>
          </p:cNvGrpSpPr>
          <p:nvPr/>
        </p:nvGrpSpPr>
        <p:grpSpPr bwMode="auto">
          <a:xfrm>
            <a:off x="7543800" y="3352800"/>
            <a:ext cx="1295400" cy="685800"/>
            <a:chOff x="3792" y="2112"/>
            <a:chExt cx="816" cy="432"/>
          </a:xfrm>
        </p:grpSpPr>
        <p:sp>
          <p:nvSpPr>
            <p:cNvPr id="116768" name="AutoShape 34"/>
            <p:cNvSpPr>
              <a:spLocks noChangeArrowheads="1"/>
            </p:cNvSpPr>
            <p:nvPr/>
          </p:nvSpPr>
          <p:spPr bwMode="auto">
            <a:xfrm>
              <a:off x="4080" y="2352"/>
              <a:ext cx="144" cy="192"/>
            </a:xfrm>
            <a:prstGeom prst="downArrow">
              <a:avLst>
                <a:gd name="adj1" fmla="val 50000"/>
                <a:gd name="adj2" fmla="val 33333"/>
              </a:avLst>
            </a:prstGeom>
            <a:solidFill>
              <a:srgbClr val="003399"/>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16769" name="Text Box 35"/>
            <p:cNvSpPr txBox="1">
              <a:spLocks noChangeArrowheads="1"/>
            </p:cNvSpPr>
            <p:nvPr/>
          </p:nvSpPr>
          <p:spPr bwMode="auto">
            <a:xfrm>
              <a:off x="379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grpSp>
        <p:nvGrpSpPr>
          <p:cNvPr id="116757" name="Group 20"/>
          <p:cNvGrpSpPr>
            <a:grpSpLocks/>
          </p:cNvGrpSpPr>
          <p:nvPr/>
        </p:nvGrpSpPr>
        <p:grpSpPr bwMode="auto">
          <a:xfrm>
            <a:off x="2133600" y="5257800"/>
            <a:ext cx="7620000" cy="762000"/>
            <a:chOff x="432" y="3648"/>
            <a:chExt cx="4800" cy="480"/>
          </a:xfrm>
        </p:grpSpPr>
        <p:sp>
          <p:nvSpPr>
            <p:cNvPr id="116758"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6759"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16760"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6761"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16762"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6763"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16764"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6765"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16766"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6767"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218178377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p:txBody>
          <a:bodyPr/>
          <a:lstStyle/>
          <a:p>
            <a:pPr eaLnBrk="1" hangingPunct="1"/>
            <a:r>
              <a:rPr lang="en-US" altLang="en-US" smtClean="0"/>
              <a:t>Partitioning in Quicksort</a:t>
            </a:r>
          </a:p>
        </p:txBody>
      </p:sp>
      <p:sp>
        <p:nvSpPr>
          <p:cNvPr id="118787"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endParaRPr lang="en-US" altLang="en-US" smtClean="0"/>
          </a:p>
        </p:txBody>
      </p:sp>
      <p:sp>
        <p:nvSpPr>
          <p:cNvPr id="118788" name="Rectangle 15"/>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18789" name="Rectangle 16"/>
          <p:cNvSpPr>
            <a:spLocks noChangeArrowheads="1"/>
          </p:cNvSpPr>
          <p:nvPr/>
        </p:nvSpPr>
        <p:spPr bwMode="auto">
          <a:xfrm>
            <a:off x="2514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U</a:t>
            </a:r>
          </a:p>
        </p:txBody>
      </p:sp>
      <p:sp>
        <p:nvSpPr>
          <p:cNvPr id="118790" name="Rectangle 17"/>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8791" name="Rectangle 18"/>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18792" name="Rectangle 19"/>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18793" name="Rectangle 20"/>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8794" name="Rectangle 21"/>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18795" name="Rectangle 22"/>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18796" name="Rectangle 23"/>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18797" name="Rectangle 24"/>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18798" name="Rectangle 25"/>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18799" name="Rectangle 26"/>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18800" name="Rectangle 27"/>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8801" name="Rectangle 28"/>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18802" name="Rectangle 29"/>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18803" name="Group 20"/>
          <p:cNvGrpSpPr>
            <a:grpSpLocks/>
          </p:cNvGrpSpPr>
          <p:nvPr/>
        </p:nvGrpSpPr>
        <p:grpSpPr bwMode="auto">
          <a:xfrm>
            <a:off x="2133600" y="5257800"/>
            <a:ext cx="7620000" cy="762000"/>
            <a:chOff x="432" y="3648"/>
            <a:chExt cx="4800" cy="480"/>
          </a:xfrm>
        </p:grpSpPr>
        <p:sp>
          <p:nvSpPr>
            <p:cNvPr id="118804"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8805"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18806"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8807"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18808"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8809"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18810"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8811"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18812"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18813"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205109411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p:cNvSpPr>
          <p:nvPr>
            <p:ph type="title"/>
          </p:nvPr>
        </p:nvSpPr>
        <p:spPr/>
        <p:txBody>
          <a:bodyPr/>
          <a:lstStyle/>
          <a:p>
            <a:pPr eaLnBrk="1" hangingPunct="1"/>
            <a:r>
              <a:rPr lang="en-US" altLang="en-US" smtClean="0"/>
              <a:t>Partitioning in Quicksort</a:t>
            </a:r>
          </a:p>
        </p:txBody>
      </p:sp>
      <p:sp>
        <p:nvSpPr>
          <p:cNvPr id="120835"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p>
        </p:txBody>
      </p:sp>
      <p:grpSp>
        <p:nvGrpSpPr>
          <p:cNvPr id="2" name="Group 4"/>
          <p:cNvGrpSpPr>
            <a:grpSpLocks/>
          </p:cNvGrpSpPr>
          <p:nvPr/>
        </p:nvGrpSpPr>
        <p:grpSpPr bwMode="auto">
          <a:xfrm>
            <a:off x="2209800" y="3352800"/>
            <a:ext cx="1295400" cy="685800"/>
            <a:chOff x="432" y="2112"/>
            <a:chExt cx="816" cy="432"/>
          </a:xfrm>
        </p:grpSpPr>
        <p:sp>
          <p:nvSpPr>
            <p:cNvPr id="120863" name="AutoShape 5"/>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20864" name="Text Box 6"/>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20837"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20838" name="Rectangle 19"/>
          <p:cNvSpPr>
            <a:spLocks noChangeArrowheads="1"/>
          </p:cNvSpPr>
          <p:nvPr/>
        </p:nvSpPr>
        <p:spPr bwMode="auto">
          <a:xfrm>
            <a:off x="25146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20839"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20840"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20841"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20842"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20843"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20844"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20845"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20846" name="Rectangle 27"/>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20847" name="Rectangle 28"/>
          <p:cNvSpPr>
            <a:spLocks noChangeArrowheads="1"/>
          </p:cNvSpPr>
          <p:nvPr/>
        </p:nvSpPr>
        <p:spPr bwMode="auto">
          <a:xfrm>
            <a:off x="7315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20848"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20849"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0850"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0851"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20852" name="Group 20"/>
          <p:cNvGrpSpPr>
            <a:grpSpLocks/>
          </p:cNvGrpSpPr>
          <p:nvPr/>
        </p:nvGrpSpPr>
        <p:grpSpPr bwMode="auto">
          <a:xfrm>
            <a:off x="2133600" y="5257800"/>
            <a:ext cx="7620000" cy="762000"/>
            <a:chOff x="432" y="3648"/>
            <a:chExt cx="4800" cy="480"/>
          </a:xfrm>
        </p:grpSpPr>
        <p:sp>
          <p:nvSpPr>
            <p:cNvPr id="120853"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0854"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20855"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0856"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20857"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0858"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20859"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0860"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20861"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0862"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3933346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p:cNvSpPr>
          <p:nvPr>
            <p:ph type="title"/>
          </p:nvPr>
        </p:nvSpPr>
        <p:spPr/>
        <p:txBody>
          <a:bodyPr/>
          <a:lstStyle/>
          <a:p>
            <a:pPr eaLnBrk="1" hangingPunct="1"/>
            <a:r>
              <a:rPr lang="en-US" altLang="en-US" smtClean="0"/>
              <a:t>Partitioning in Quicksort</a:t>
            </a:r>
          </a:p>
        </p:txBody>
      </p:sp>
      <p:sp>
        <p:nvSpPr>
          <p:cNvPr id="122883"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p>
        </p:txBody>
      </p:sp>
      <p:grpSp>
        <p:nvGrpSpPr>
          <p:cNvPr id="122884" name="Group 15"/>
          <p:cNvGrpSpPr>
            <a:grpSpLocks/>
          </p:cNvGrpSpPr>
          <p:nvPr/>
        </p:nvGrpSpPr>
        <p:grpSpPr bwMode="auto">
          <a:xfrm>
            <a:off x="2209800" y="3352800"/>
            <a:ext cx="1295400" cy="685800"/>
            <a:chOff x="432" y="2112"/>
            <a:chExt cx="816" cy="432"/>
          </a:xfrm>
        </p:grpSpPr>
        <p:sp>
          <p:nvSpPr>
            <p:cNvPr id="122911"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22912"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22885"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22886" name="Rectangle 19"/>
          <p:cNvSpPr>
            <a:spLocks noChangeArrowheads="1"/>
          </p:cNvSpPr>
          <p:nvPr/>
        </p:nvSpPr>
        <p:spPr bwMode="auto">
          <a:xfrm>
            <a:off x="25146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22887"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22888"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22889"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22890"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22891"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22892"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22893"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22894" name="Rectangle 27"/>
          <p:cNvSpPr>
            <a:spLocks noChangeArrowheads="1"/>
          </p:cNvSpPr>
          <p:nvPr/>
        </p:nvSpPr>
        <p:spPr bwMode="auto">
          <a:xfrm>
            <a:off x="6781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22895" name="Rectangle 28"/>
          <p:cNvSpPr>
            <a:spLocks noChangeArrowheads="1"/>
          </p:cNvSpPr>
          <p:nvPr/>
        </p:nvSpPr>
        <p:spPr bwMode="auto">
          <a:xfrm>
            <a:off x="73152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22896"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22897"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2898"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2899"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22900" name="Group 20"/>
          <p:cNvGrpSpPr>
            <a:grpSpLocks/>
          </p:cNvGrpSpPr>
          <p:nvPr/>
        </p:nvGrpSpPr>
        <p:grpSpPr bwMode="auto">
          <a:xfrm>
            <a:off x="2133600" y="5257800"/>
            <a:ext cx="7620000" cy="762000"/>
            <a:chOff x="432" y="3648"/>
            <a:chExt cx="4800" cy="480"/>
          </a:xfrm>
        </p:grpSpPr>
        <p:sp>
          <p:nvSpPr>
            <p:cNvPr id="122901"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2902"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22903"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2904"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22905"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2906"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22907"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2908"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22909"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2910"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357921711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p:cNvSpPr>
          <p:nvPr>
            <p:ph type="title"/>
          </p:nvPr>
        </p:nvSpPr>
        <p:spPr/>
        <p:txBody>
          <a:bodyPr/>
          <a:lstStyle/>
          <a:p>
            <a:pPr eaLnBrk="1" hangingPunct="1"/>
            <a:r>
              <a:rPr lang="en-US" altLang="en-US" smtClean="0"/>
              <a:t>Partitioning in Quicksort</a:t>
            </a:r>
          </a:p>
        </p:txBody>
      </p:sp>
      <p:sp>
        <p:nvSpPr>
          <p:cNvPr id="124931"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endParaRPr lang="en-US" altLang="en-US" smtClean="0"/>
          </a:p>
        </p:txBody>
      </p:sp>
      <p:grpSp>
        <p:nvGrpSpPr>
          <p:cNvPr id="124932" name="Group 15"/>
          <p:cNvGrpSpPr>
            <a:grpSpLocks/>
          </p:cNvGrpSpPr>
          <p:nvPr/>
        </p:nvGrpSpPr>
        <p:grpSpPr bwMode="auto">
          <a:xfrm>
            <a:off x="2209800" y="3352800"/>
            <a:ext cx="1295400" cy="685800"/>
            <a:chOff x="432" y="2112"/>
            <a:chExt cx="816" cy="432"/>
          </a:xfrm>
        </p:grpSpPr>
        <p:sp>
          <p:nvSpPr>
            <p:cNvPr id="124962"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24963"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24933"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24934" name="Rectangle 19"/>
          <p:cNvSpPr>
            <a:spLocks noChangeArrowheads="1"/>
          </p:cNvSpPr>
          <p:nvPr/>
        </p:nvSpPr>
        <p:spPr bwMode="auto">
          <a:xfrm>
            <a:off x="25146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24935" name="Rectangle 20"/>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24936" name="Rectangle 21"/>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24937" name="Rectangle 22"/>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24938" name="Rectangle 23"/>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24939"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24940"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24941"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24942" name="Rectangle 27"/>
          <p:cNvSpPr>
            <a:spLocks noChangeArrowheads="1"/>
          </p:cNvSpPr>
          <p:nvPr/>
        </p:nvSpPr>
        <p:spPr bwMode="auto">
          <a:xfrm>
            <a:off x="67818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24943" name="Rectangle 28"/>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24944"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24945"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4946"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4947"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24948" name="Group 33"/>
          <p:cNvGrpSpPr>
            <a:grpSpLocks/>
          </p:cNvGrpSpPr>
          <p:nvPr/>
        </p:nvGrpSpPr>
        <p:grpSpPr bwMode="auto">
          <a:xfrm>
            <a:off x="6477000" y="3352800"/>
            <a:ext cx="1295400" cy="685800"/>
            <a:chOff x="3792" y="2112"/>
            <a:chExt cx="816" cy="432"/>
          </a:xfrm>
        </p:grpSpPr>
        <p:sp>
          <p:nvSpPr>
            <p:cNvPr id="124960" name="AutoShape 34"/>
            <p:cNvSpPr>
              <a:spLocks noChangeArrowheads="1"/>
            </p:cNvSpPr>
            <p:nvPr/>
          </p:nvSpPr>
          <p:spPr bwMode="auto">
            <a:xfrm>
              <a:off x="4080" y="2352"/>
              <a:ext cx="144" cy="192"/>
            </a:xfrm>
            <a:prstGeom prst="downArrow">
              <a:avLst>
                <a:gd name="adj1" fmla="val 50000"/>
                <a:gd name="adj2" fmla="val 33333"/>
              </a:avLst>
            </a:prstGeom>
            <a:solidFill>
              <a:srgbClr val="003399"/>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24961" name="Text Box 35"/>
            <p:cNvSpPr txBox="1">
              <a:spLocks noChangeArrowheads="1"/>
            </p:cNvSpPr>
            <p:nvPr/>
          </p:nvSpPr>
          <p:spPr bwMode="auto">
            <a:xfrm>
              <a:off x="379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grpSp>
        <p:nvGrpSpPr>
          <p:cNvPr id="124949" name="Group 20"/>
          <p:cNvGrpSpPr>
            <a:grpSpLocks/>
          </p:cNvGrpSpPr>
          <p:nvPr/>
        </p:nvGrpSpPr>
        <p:grpSpPr bwMode="auto">
          <a:xfrm>
            <a:off x="2133600" y="5257800"/>
            <a:ext cx="7620000" cy="762000"/>
            <a:chOff x="432" y="3648"/>
            <a:chExt cx="4800" cy="480"/>
          </a:xfrm>
        </p:grpSpPr>
        <p:sp>
          <p:nvSpPr>
            <p:cNvPr id="124950"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4951"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24952"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4953"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24954"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4955"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24956"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4957"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24958"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4959"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136349729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p:cNvSpPr>
          <p:nvPr>
            <p:ph type="title"/>
          </p:nvPr>
        </p:nvSpPr>
        <p:spPr/>
        <p:txBody>
          <a:bodyPr/>
          <a:lstStyle/>
          <a:p>
            <a:pPr eaLnBrk="1" hangingPunct="1"/>
            <a:r>
              <a:rPr lang="en-US" altLang="en-US" smtClean="0"/>
              <a:t>Partitioning in Quicksort</a:t>
            </a:r>
          </a:p>
        </p:txBody>
      </p:sp>
      <p:sp>
        <p:nvSpPr>
          <p:cNvPr id="126979"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p>
        </p:txBody>
      </p:sp>
      <p:sp>
        <p:nvSpPr>
          <p:cNvPr id="126980" name="Rectangle 15"/>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26981" name="Rectangle 16"/>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26982" name="Rectangle 17"/>
          <p:cNvSpPr>
            <a:spLocks noChangeArrowheads="1"/>
          </p:cNvSpPr>
          <p:nvPr/>
        </p:nvSpPr>
        <p:spPr bwMode="auto">
          <a:xfrm>
            <a:off x="3048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I</a:t>
            </a:r>
          </a:p>
        </p:txBody>
      </p:sp>
      <p:sp>
        <p:nvSpPr>
          <p:cNvPr id="126983" name="Rectangle 18"/>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26984" name="Rectangle 19"/>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26985" name="Rectangle 20"/>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26986" name="Rectangle 21"/>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26987" name="Rectangle 22"/>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26988" name="Rectangle 23"/>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26989" name="Rectangle 24"/>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26990" name="Rectangle 25"/>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26991" name="Rectangle 26"/>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26992" name="Rectangle 27"/>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6993" name="Rectangle 28"/>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6994" name="Rectangle 29"/>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26995" name="Group 20"/>
          <p:cNvGrpSpPr>
            <a:grpSpLocks/>
          </p:cNvGrpSpPr>
          <p:nvPr/>
        </p:nvGrpSpPr>
        <p:grpSpPr bwMode="auto">
          <a:xfrm>
            <a:off x="2133600" y="5257800"/>
            <a:ext cx="7620000" cy="762000"/>
            <a:chOff x="432" y="3648"/>
            <a:chExt cx="4800" cy="480"/>
          </a:xfrm>
        </p:grpSpPr>
        <p:sp>
          <p:nvSpPr>
            <p:cNvPr id="126996"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6997"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26998"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6999"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27000"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7001"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27002"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7003"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27004"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7005"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193440032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p:cNvSpPr>
          <p:nvPr>
            <p:ph type="title"/>
          </p:nvPr>
        </p:nvSpPr>
        <p:spPr/>
        <p:txBody>
          <a:bodyPr/>
          <a:lstStyle/>
          <a:p>
            <a:pPr eaLnBrk="1" hangingPunct="1"/>
            <a:r>
              <a:rPr lang="en-US" altLang="en-US" smtClean="0"/>
              <a:t>Partitioning in Quicksort</a:t>
            </a:r>
          </a:p>
        </p:txBody>
      </p:sp>
      <p:sp>
        <p:nvSpPr>
          <p:cNvPr id="129027"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p>
        </p:txBody>
      </p:sp>
      <p:sp>
        <p:nvSpPr>
          <p:cNvPr id="129028" name="Rectangle 15"/>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29029" name="Rectangle 16"/>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29030" name="Rectangle 17"/>
          <p:cNvSpPr>
            <a:spLocks noChangeArrowheads="1"/>
          </p:cNvSpPr>
          <p:nvPr/>
        </p:nvSpPr>
        <p:spPr bwMode="auto">
          <a:xfrm>
            <a:off x="30480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29031" name="Rectangle 18"/>
          <p:cNvSpPr>
            <a:spLocks noChangeArrowheads="1"/>
          </p:cNvSpPr>
          <p:nvPr/>
        </p:nvSpPr>
        <p:spPr bwMode="auto">
          <a:xfrm>
            <a:off x="3581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C</a:t>
            </a:r>
          </a:p>
        </p:txBody>
      </p:sp>
      <p:sp>
        <p:nvSpPr>
          <p:cNvPr id="129032" name="Rectangle 19"/>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29033" name="Rectangle 20"/>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29034" name="Rectangle 21"/>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29035" name="Rectangle 22"/>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29036" name="Rectangle 23"/>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29037" name="Rectangle 24"/>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29038" name="Rectangle 25"/>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29039" name="Rectangle 26"/>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29040" name="Rectangle 27"/>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9041" name="Rectangle 28"/>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29042" name="Rectangle 29"/>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29043" name="Group 20"/>
          <p:cNvGrpSpPr>
            <a:grpSpLocks/>
          </p:cNvGrpSpPr>
          <p:nvPr/>
        </p:nvGrpSpPr>
        <p:grpSpPr bwMode="auto">
          <a:xfrm>
            <a:off x="2133600" y="5257800"/>
            <a:ext cx="7620000" cy="762000"/>
            <a:chOff x="432" y="3648"/>
            <a:chExt cx="4800" cy="480"/>
          </a:xfrm>
        </p:grpSpPr>
        <p:sp>
          <p:nvSpPr>
            <p:cNvPr id="129044"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9045"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29046"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9047"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29048"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9049"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29050"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9051"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29052"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29053"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287078768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p:cNvSpPr>
          <p:nvPr>
            <p:ph type="title"/>
          </p:nvPr>
        </p:nvSpPr>
        <p:spPr/>
        <p:txBody>
          <a:bodyPr/>
          <a:lstStyle/>
          <a:p>
            <a:pPr eaLnBrk="1" hangingPunct="1"/>
            <a:r>
              <a:rPr lang="en-US" altLang="en-US" smtClean="0"/>
              <a:t>Partitioning in Quicksort</a:t>
            </a:r>
          </a:p>
        </p:txBody>
      </p:sp>
      <p:sp>
        <p:nvSpPr>
          <p:cNvPr id="131075"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a:t>
            </a:r>
          </a:p>
          <a:p>
            <a:pPr marL="1085850" lvl="2"/>
            <a:r>
              <a:rPr lang="en-US" altLang="en-US" sz="1600"/>
              <a:t>repeat until pointers cross</a:t>
            </a:r>
          </a:p>
        </p:txBody>
      </p:sp>
      <p:sp>
        <p:nvSpPr>
          <p:cNvPr id="131076" name="Rectangle 15"/>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31077" name="Rectangle 16"/>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1078" name="Rectangle 17"/>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1079" name="Rectangle 18"/>
          <p:cNvSpPr>
            <a:spLocks noChangeArrowheads="1"/>
          </p:cNvSpPr>
          <p:nvPr/>
        </p:nvSpPr>
        <p:spPr bwMode="auto">
          <a:xfrm>
            <a:off x="35814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31080" name="Rectangle 19"/>
          <p:cNvSpPr>
            <a:spLocks noChangeArrowheads="1"/>
          </p:cNvSpPr>
          <p:nvPr/>
        </p:nvSpPr>
        <p:spPr bwMode="auto">
          <a:xfrm>
            <a:off x="41148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K</a:t>
            </a:r>
          </a:p>
        </p:txBody>
      </p:sp>
      <p:sp>
        <p:nvSpPr>
          <p:cNvPr id="131081" name="Rectangle 20"/>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31082" name="Rectangle 21"/>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31083" name="Rectangle 22"/>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31084" name="Rectangle 23"/>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31085" name="Rectangle 24"/>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31086" name="Rectangle 25"/>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1087" name="Rectangle 26"/>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31088" name="Rectangle 27"/>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1089" name="Rectangle 28"/>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1090" name="Rectangle 29"/>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31091" name="Group 20"/>
          <p:cNvGrpSpPr>
            <a:grpSpLocks/>
          </p:cNvGrpSpPr>
          <p:nvPr/>
        </p:nvGrpSpPr>
        <p:grpSpPr bwMode="auto">
          <a:xfrm>
            <a:off x="2133600" y="5257800"/>
            <a:ext cx="7620000" cy="762000"/>
            <a:chOff x="432" y="3648"/>
            <a:chExt cx="4800" cy="480"/>
          </a:xfrm>
        </p:grpSpPr>
        <p:sp>
          <p:nvSpPr>
            <p:cNvPr id="131092"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1093"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31094"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1095"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31096"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1097"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31098"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1099"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31100"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1101"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377254422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p:cNvSpPr>
          <p:nvPr>
            <p:ph type="title"/>
          </p:nvPr>
        </p:nvSpPr>
        <p:spPr/>
        <p:txBody>
          <a:bodyPr/>
          <a:lstStyle/>
          <a:p>
            <a:pPr eaLnBrk="1" hangingPunct="1"/>
            <a:r>
              <a:rPr lang="en-US" altLang="en-US" smtClean="0"/>
              <a:t>Partitioning in Quicksort</a:t>
            </a:r>
          </a:p>
        </p:txBody>
      </p:sp>
      <p:sp>
        <p:nvSpPr>
          <p:cNvPr id="133123" name="Rectangle 3"/>
          <p:cNvSpPr>
            <a:spLocks noGrp="1"/>
          </p:cNvSpPr>
          <p:nvPr>
            <p:ph idx="1"/>
          </p:nvPr>
        </p:nvSpPr>
        <p:spPr>
          <a:xfrm>
            <a:off x="2090738" y="1752600"/>
            <a:ext cx="8001000" cy="175260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 and repeat until pointers cross</a:t>
            </a:r>
          </a:p>
        </p:txBody>
      </p:sp>
      <p:sp>
        <p:nvSpPr>
          <p:cNvPr id="133124" name="Rectangle 15"/>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33125" name="Rectangle 16"/>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3126" name="Rectangle 17"/>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3127" name="Rectangle 18"/>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33128" name="Rectangle 19"/>
          <p:cNvSpPr>
            <a:spLocks noChangeArrowheads="1"/>
          </p:cNvSpPr>
          <p:nvPr/>
        </p:nvSpPr>
        <p:spPr bwMode="auto">
          <a:xfrm>
            <a:off x="41148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33129" name="Rectangle 20"/>
          <p:cNvSpPr>
            <a:spLocks noChangeArrowheads="1"/>
          </p:cNvSpPr>
          <p:nvPr/>
        </p:nvSpPr>
        <p:spPr bwMode="auto">
          <a:xfrm>
            <a:off x="46482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p>
        </p:txBody>
      </p:sp>
      <p:sp>
        <p:nvSpPr>
          <p:cNvPr id="133130" name="Rectangle 21"/>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33131" name="Rectangle 22"/>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33132" name="Rectangle 23"/>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33133" name="Rectangle 24"/>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33134" name="Rectangle 25"/>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3135" name="Rectangle 26"/>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33136" name="Rectangle 27"/>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3137" name="Rectangle 28"/>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3138" name="Rectangle 29"/>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33139" name="Group 20"/>
          <p:cNvGrpSpPr>
            <a:grpSpLocks/>
          </p:cNvGrpSpPr>
          <p:nvPr/>
        </p:nvGrpSpPr>
        <p:grpSpPr bwMode="auto">
          <a:xfrm>
            <a:off x="2133600" y="5257800"/>
            <a:ext cx="7620000" cy="762000"/>
            <a:chOff x="432" y="3648"/>
            <a:chExt cx="4800" cy="480"/>
          </a:xfrm>
        </p:grpSpPr>
        <p:sp>
          <p:nvSpPr>
            <p:cNvPr id="133140"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3141"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33142"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3143"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33144"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3145"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33146"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3147"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33148"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3149"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2901302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p:cNvSpPr>
          <p:nvPr>
            <p:ph type="title"/>
          </p:nvPr>
        </p:nvSpPr>
        <p:spPr/>
        <p:txBody>
          <a:bodyPr/>
          <a:lstStyle/>
          <a:p>
            <a:pPr eaLnBrk="1" hangingPunct="1"/>
            <a:r>
              <a:rPr lang="en-US" altLang="en-US" smtClean="0"/>
              <a:t>Partitioning in Quicksort</a:t>
            </a:r>
          </a:p>
        </p:txBody>
      </p:sp>
      <p:sp>
        <p:nvSpPr>
          <p:cNvPr id="135171"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 and repeat until pointers cross</a:t>
            </a:r>
          </a:p>
        </p:txBody>
      </p:sp>
      <p:grpSp>
        <p:nvGrpSpPr>
          <p:cNvPr id="2" name="Group 4"/>
          <p:cNvGrpSpPr>
            <a:grpSpLocks/>
          </p:cNvGrpSpPr>
          <p:nvPr/>
        </p:nvGrpSpPr>
        <p:grpSpPr bwMode="auto">
          <a:xfrm>
            <a:off x="4343400" y="3352800"/>
            <a:ext cx="1295400" cy="685800"/>
            <a:chOff x="432" y="2112"/>
            <a:chExt cx="816" cy="432"/>
          </a:xfrm>
        </p:grpSpPr>
        <p:sp>
          <p:nvSpPr>
            <p:cNvPr id="135199" name="AutoShape 5"/>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35200" name="Text Box 6"/>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35173"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35174" name="Rectangle 19"/>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5175" name="Rectangle 20"/>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5176" name="Rectangle 21"/>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35177" name="Rectangle 22"/>
          <p:cNvSpPr>
            <a:spLocks noChangeArrowheads="1"/>
          </p:cNvSpPr>
          <p:nvPr/>
        </p:nvSpPr>
        <p:spPr bwMode="auto">
          <a:xfrm>
            <a:off x="4114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35178" name="Rectangle 23"/>
          <p:cNvSpPr>
            <a:spLocks noChangeArrowheads="1"/>
          </p:cNvSpPr>
          <p:nvPr/>
        </p:nvSpPr>
        <p:spPr bwMode="auto">
          <a:xfrm>
            <a:off x="4648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5179"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35180"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35181" name="Rectangle 26"/>
          <p:cNvSpPr>
            <a:spLocks noChangeArrowheads="1"/>
          </p:cNvSpPr>
          <p:nvPr/>
        </p:nvSpPr>
        <p:spPr bwMode="auto">
          <a:xfrm>
            <a:off x="62484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T</a:t>
            </a:r>
          </a:p>
        </p:txBody>
      </p:sp>
      <p:sp>
        <p:nvSpPr>
          <p:cNvPr id="135182" name="Rectangle 27"/>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35183" name="Rectangle 28"/>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5184"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35185"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5186"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5187"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35188" name="Group 20"/>
          <p:cNvGrpSpPr>
            <a:grpSpLocks/>
          </p:cNvGrpSpPr>
          <p:nvPr/>
        </p:nvGrpSpPr>
        <p:grpSpPr bwMode="auto">
          <a:xfrm>
            <a:off x="2133600" y="5257800"/>
            <a:ext cx="7620000" cy="762000"/>
            <a:chOff x="432" y="3648"/>
            <a:chExt cx="4800" cy="480"/>
          </a:xfrm>
        </p:grpSpPr>
        <p:sp>
          <p:nvSpPr>
            <p:cNvPr id="135189"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5190"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35191"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5192"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35193"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5194"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35195"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5196"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35197"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5198"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283734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p:cNvSpPr>
          <p:nvPr>
            <p:ph type="title"/>
          </p:nvPr>
        </p:nvSpPr>
        <p:spPr/>
        <p:txBody>
          <a:bodyPr/>
          <a:lstStyle/>
          <a:p>
            <a:pPr eaLnBrk="1" hangingPunct="1"/>
            <a:r>
              <a:rPr lang="en-US" altLang="en-US" smtClean="0"/>
              <a:t>Partitioning in Quicksort</a:t>
            </a:r>
          </a:p>
        </p:txBody>
      </p:sp>
      <p:sp>
        <p:nvSpPr>
          <p:cNvPr id="137219"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 and repeat until pointers cross</a:t>
            </a:r>
          </a:p>
        </p:txBody>
      </p:sp>
      <p:grpSp>
        <p:nvGrpSpPr>
          <p:cNvPr id="137220" name="Group 15"/>
          <p:cNvGrpSpPr>
            <a:grpSpLocks/>
          </p:cNvGrpSpPr>
          <p:nvPr/>
        </p:nvGrpSpPr>
        <p:grpSpPr bwMode="auto">
          <a:xfrm>
            <a:off x="4343400" y="3352800"/>
            <a:ext cx="1295400" cy="685800"/>
            <a:chOff x="432" y="2112"/>
            <a:chExt cx="816" cy="432"/>
          </a:xfrm>
        </p:grpSpPr>
        <p:sp>
          <p:nvSpPr>
            <p:cNvPr id="137247"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37248"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37221"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37222" name="Rectangle 19"/>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7223" name="Rectangle 20"/>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7224" name="Rectangle 21"/>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37225" name="Rectangle 22"/>
          <p:cNvSpPr>
            <a:spLocks noChangeArrowheads="1"/>
          </p:cNvSpPr>
          <p:nvPr/>
        </p:nvSpPr>
        <p:spPr bwMode="auto">
          <a:xfrm>
            <a:off x="4114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37226" name="Rectangle 23"/>
          <p:cNvSpPr>
            <a:spLocks noChangeArrowheads="1"/>
          </p:cNvSpPr>
          <p:nvPr/>
        </p:nvSpPr>
        <p:spPr bwMode="auto">
          <a:xfrm>
            <a:off x="4648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7227"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37228" name="Rectangle 25"/>
          <p:cNvSpPr>
            <a:spLocks noChangeArrowheads="1"/>
          </p:cNvSpPr>
          <p:nvPr/>
        </p:nvSpPr>
        <p:spPr bwMode="auto">
          <a:xfrm>
            <a:off x="57150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R</a:t>
            </a:r>
          </a:p>
        </p:txBody>
      </p:sp>
      <p:sp>
        <p:nvSpPr>
          <p:cNvPr id="137229" name="Rectangle 26"/>
          <p:cNvSpPr>
            <a:spLocks noChangeArrowheads="1"/>
          </p:cNvSpPr>
          <p:nvPr/>
        </p:nvSpPr>
        <p:spPr bwMode="auto">
          <a:xfrm>
            <a:off x="62484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T</a:t>
            </a:r>
          </a:p>
        </p:txBody>
      </p:sp>
      <p:sp>
        <p:nvSpPr>
          <p:cNvPr id="137230" name="Rectangle 27"/>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37231" name="Rectangle 28"/>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7232"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37233"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7234"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7235"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37236" name="Group 20"/>
          <p:cNvGrpSpPr>
            <a:grpSpLocks/>
          </p:cNvGrpSpPr>
          <p:nvPr/>
        </p:nvGrpSpPr>
        <p:grpSpPr bwMode="auto">
          <a:xfrm>
            <a:off x="2133600" y="5257800"/>
            <a:ext cx="7620000" cy="762000"/>
            <a:chOff x="432" y="3648"/>
            <a:chExt cx="4800" cy="480"/>
          </a:xfrm>
        </p:grpSpPr>
        <p:sp>
          <p:nvSpPr>
            <p:cNvPr id="137237"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7238"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37239"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7240"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37241"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7242"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37243"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7244"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37245"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7246"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414780209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p:cNvSpPr>
          <p:nvPr>
            <p:ph type="title"/>
          </p:nvPr>
        </p:nvSpPr>
        <p:spPr/>
        <p:txBody>
          <a:bodyPr/>
          <a:lstStyle/>
          <a:p>
            <a:pPr eaLnBrk="1" hangingPunct="1"/>
            <a:r>
              <a:rPr lang="en-US" altLang="en-US" smtClean="0"/>
              <a:t>Partitioning in Quicksort</a:t>
            </a:r>
          </a:p>
        </p:txBody>
      </p:sp>
      <p:sp>
        <p:nvSpPr>
          <p:cNvPr id="139267" name="Rectangle 3"/>
          <p:cNvSpPr>
            <a:spLocks noGrp="1"/>
          </p:cNvSpPr>
          <p:nvPr>
            <p:ph idx="1"/>
          </p:nvPr>
        </p:nvSpPr>
        <p:spPr>
          <a:xfrm>
            <a:off x="2090738" y="1752600"/>
            <a:ext cx="8001000" cy="160020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 and repeat until pointers cross</a:t>
            </a:r>
          </a:p>
        </p:txBody>
      </p:sp>
      <p:grpSp>
        <p:nvGrpSpPr>
          <p:cNvPr id="139268" name="Group 15"/>
          <p:cNvGrpSpPr>
            <a:grpSpLocks/>
          </p:cNvGrpSpPr>
          <p:nvPr/>
        </p:nvGrpSpPr>
        <p:grpSpPr bwMode="auto">
          <a:xfrm>
            <a:off x="4343400" y="3352800"/>
            <a:ext cx="1295400" cy="685800"/>
            <a:chOff x="432" y="2112"/>
            <a:chExt cx="816" cy="432"/>
          </a:xfrm>
        </p:grpSpPr>
        <p:sp>
          <p:nvSpPr>
            <p:cNvPr id="139295"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39296"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39269"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39270" name="Rectangle 19"/>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9271" name="Rectangle 20"/>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39272" name="Rectangle 21"/>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39273" name="Rectangle 22"/>
          <p:cNvSpPr>
            <a:spLocks noChangeArrowheads="1"/>
          </p:cNvSpPr>
          <p:nvPr/>
        </p:nvSpPr>
        <p:spPr bwMode="auto">
          <a:xfrm>
            <a:off x="4114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39274" name="Rectangle 23"/>
          <p:cNvSpPr>
            <a:spLocks noChangeArrowheads="1"/>
          </p:cNvSpPr>
          <p:nvPr/>
        </p:nvSpPr>
        <p:spPr bwMode="auto">
          <a:xfrm>
            <a:off x="4648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9275" name="Rectangle 24"/>
          <p:cNvSpPr>
            <a:spLocks noChangeArrowheads="1"/>
          </p:cNvSpPr>
          <p:nvPr/>
        </p:nvSpPr>
        <p:spPr bwMode="auto">
          <a:xfrm>
            <a:off x="5181600" y="4114800"/>
            <a:ext cx="533400" cy="381000"/>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O</a:t>
            </a:r>
          </a:p>
        </p:txBody>
      </p:sp>
      <p:sp>
        <p:nvSpPr>
          <p:cNvPr id="139276" name="Rectangle 25"/>
          <p:cNvSpPr>
            <a:spLocks noChangeArrowheads="1"/>
          </p:cNvSpPr>
          <p:nvPr/>
        </p:nvSpPr>
        <p:spPr bwMode="auto">
          <a:xfrm>
            <a:off x="57150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R</a:t>
            </a:r>
          </a:p>
        </p:txBody>
      </p:sp>
      <p:sp>
        <p:nvSpPr>
          <p:cNvPr id="139277" name="Rectangle 26"/>
          <p:cNvSpPr>
            <a:spLocks noChangeArrowheads="1"/>
          </p:cNvSpPr>
          <p:nvPr/>
        </p:nvSpPr>
        <p:spPr bwMode="auto">
          <a:xfrm>
            <a:off x="6248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T</a:t>
            </a:r>
          </a:p>
        </p:txBody>
      </p:sp>
      <p:sp>
        <p:nvSpPr>
          <p:cNvPr id="139278" name="Rectangle 27"/>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39279" name="Rectangle 28"/>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39280"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39281"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9282"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39283"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39284" name="Group 20"/>
          <p:cNvGrpSpPr>
            <a:grpSpLocks/>
          </p:cNvGrpSpPr>
          <p:nvPr/>
        </p:nvGrpSpPr>
        <p:grpSpPr bwMode="auto">
          <a:xfrm>
            <a:off x="2133600" y="5257800"/>
            <a:ext cx="7620000" cy="762000"/>
            <a:chOff x="432" y="3648"/>
            <a:chExt cx="4800" cy="480"/>
          </a:xfrm>
        </p:grpSpPr>
        <p:sp>
          <p:nvSpPr>
            <p:cNvPr id="139285"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9286"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39287"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9288"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39289"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9290"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39291"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9292"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39293"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39294"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26779233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p:cNvSpPr>
          <p:nvPr>
            <p:ph type="title"/>
          </p:nvPr>
        </p:nvSpPr>
        <p:spPr/>
        <p:txBody>
          <a:bodyPr/>
          <a:lstStyle/>
          <a:p>
            <a:pPr eaLnBrk="1" hangingPunct="1"/>
            <a:r>
              <a:rPr lang="en-US" altLang="en-US" smtClean="0"/>
              <a:t>Partitioning in Quicksort</a:t>
            </a:r>
          </a:p>
        </p:txBody>
      </p:sp>
      <p:sp>
        <p:nvSpPr>
          <p:cNvPr id="141315" name="Rectangle 3"/>
          <p:cNvSpPr>
            <a:spLocks noGrp="1"/>
          </p:cNvSpPr>
          <p:nvPr>
            <p:ph idx="1"/>
          </p:nvPr>
        </p:nvSpPr>
        <p:spPr>
          <a:xfrm>
            <a:off x="2090738" y="1752600"/>
            <a:ext cx="8001000" cy="160020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 and repeat until pointers cross</a:t>
            </a:r>
          </a:p>
          <a:p>
            <a:pPr marL="1085850" lvl="2"/>
            <a:endParaRPr lang="en-US" altLang="en-US" sz="1600"/>
          </a:p>
        </p:txBody>
      </p:sp>
      <p:grpSp>
        <p:nvGrpSpPr>
          <p:cNvPr id="141316" name="Group 15"/>
          <p:cNvGrpSpPr>
            <a:grpSpLocks/>
          </p:cNvGrpSpPr>
          <p:nvPr/>
        </p:nvGrpSpPr>
        <p:grpSpPr bwMode="auto">
          <a:xfrm>
            <a:off x="4343400" y="3352800"/>
            <a:ext cx="1295400" cy="685800"/>
            <a:chOff x="432" y="2112"/>
            <a:chExt cx="816" cy="432"/>
          </a:xfrm>
        </p:grpSpPr>
        <p:sp>
          <p:nvSpPr>
            <p:cNvPr id="141343" name="AutoShape 16"/>
            <p:cNvSpPr>
              <a:spLocks noChangeArrowheads="1"/>
            </p:cNvSpPr>
            <p:nvPr/>
          </p:nvSpPr>
          <p:spPr bwMode="auto">
            <a:xfrm>
              <a:off x="720" y="2352"/>
              <a:ext cx="144" cy="192"/>
            </a:xfrm>
            <a:prstGeom prst="downArrow">
              <a:avLst>
                <a:gd name="adj1" fmla="val 50000"/>
                <a:gd name="adj2" fmla="val 33333"/>
              </a:avLst>
            </a:prstGeom>
            <a:solidFill>
              <a:schemeClr val="folHlink"/>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41344" name="Text Box 17"/>
            <p:cNvSpPr txBox="1">
              <a:spLocks noChangeArrowheads="1"/>
            </p:cNvSpPr>
            <p:nvPr/>
          </p:nvSpPr>
          <p:spPr bwMode="auto">
            <a:xfrm>
              <a:off x="432" y="2112"/>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swap me</a:t>
              </a:r>
            </a:p>
          </p:txBody>
        </p:sp>
      </p:grpSp>
      <p:sp>
        <p:nvSpPr>
          <p:cNvPr id="141317"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41318" name="Rectangle 19"/>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41319" name="Rectangle 20"/>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41320" name="Rectangle 21"/>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41321" name="Rectangle 22"/>
          <p:cNvSpPr>
            <a:spLocks noChangeArrowheads="1"/>
          </p:cNvSpPr>
          <p:nvPr/>
        </p:nvSpPr>
        <p:spPr bwMode="auto">
          <a:xfrm>
            <a:off x="4114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41322" name="Rectangle 23"/>
          <p:cNvSpPr>
            <a:spLocks noChangeArrowheads="1"/>
          </p:cNvSpPr>
          <p:nvPr/>
        </p:nvSpPr>
        <p:spPr bwMode="auto">
          <a:xfrm>
            <a:off x="4648200" y="4114800"/>
            <a:ext cx="5334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41323" name="Rectangle 24"/>
          <p:cNvSpPr>
            <a:spLocks noChangeArrowheads="1"/>
          </p:cNvSpPr>
          <p:nvPr/>
        </p:nvSpPr>
        <p:spPr bwMode="auto">
          <a:xfrm>
            <a:off x="5181600" y="4114800"/>
            <a:ext cx="533400" cy="381000"/>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1324" name="Rectangle 25"/>
          <p:cNvSpPr>
            <a:spLocks noChangeArrowheads="1"/>
          </p:cNvSpPr>
          <p:nvPr/>
        </p:nvSpPr>
        <p:spPr bwMode="auto">
          <a:xfrm>
            <a:off x="5715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R</a:t>
            </a:r>
          </a:p>
        </p:txBody>
      </p:sp>
      <p:sp>
        <p:nvSpPr>
          <p:cNvPr id="141325" name="Rectangle 26"/>
          <p:cNvSpPr>
            <a:spLocks noChangeArrowheads="1"/>
          </p:cNvSpPr>
          <p:nvPr/>
        </p:nvSpPr>
        <p:spPr bwMode="auto">
          <a:xfrm>
            <a:off x="6248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T</a:t>
            </a:r>
          </a:p>
        </p:txBody>
      </p:sp>
      <p:sp>
        <p:nvSpPr>
          <p:cNvPr id="141326" name="Rectangle 27"/>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41327" name="Rectangle 28"/>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41328"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41329"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1330"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1331"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41332" name="Group 20"/>
          <p:cNvGrpSpPr>
            <a:grpSpLocks/>
          </p:cNvGrpSpPr>
          <p:nvPr/>
        </p:nvGrpSpPr>
        <p:grpSpPr bwMode="auto">
          <a:xfrm>
            <a:off x="2133600" y="5257800"/>
            <a:ext cx="7620000" cy="762000"/>
            <a:chOff x="432" y="3648"/>
            <a:chExt cx="4800" cy="480"/>
          </a:xfrm>
        </p:grpSpPr>
        <p:sp>
          <p:nvSpPr>
            <p:cNvPr id="141333"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1334"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41335"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1336"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41337"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1338"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41339"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1340"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41341"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1342"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107949297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p:cNvSpPr>
          <p:nvPr>
            <p:ph type="title"/>
          </p:nvPr>
        </p:nvSpPr>
        <p:spPr/>
        <p:txBody>
          <a:bodyPr/>
          <a:lstStyle/>
          <a:p>
            <a:pPr eaLnBrk="1" hangingPunct="1"/>
            <a:r>
              <a:rPr lang="en-US" altLang="en-US" smtClean="0"/>
              <a:t>Partitioning in Quicksort</a:t>
            </a:r>
          </a:p>
        </p:txBody>
      </p:sp>
      <p:sp>
        <p:nvSpPr>
          <p:cNvPr id="143363" name="Rectangle 3"/>
          <p:cNvSpPr>
            <a:spLocks noGrp="1"/>
          </p:cNvSpPr>
          <p:nvPr>
            <p:ph idx="1"/>
          </p:nvPr>
        </p:nvSpPr>
        <p:spPr>
          <a:xfrm>
            <a:off x="2090738" y="1752600"/>
            <a:ext cx="8001000" cy="192405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 </a:t>
            </a:r>
          </a:p>
          <a:p>
            <a:pPr marL="1085850" lvl="2"/>
            <a:r>
              <a:rPr lang="en-US" altLang="en-US" sz="1600"/>
              <a:t>scan from right for smaller element</a:t>
            </a:r>
          </a:p>
          <a:p>
            <a:pPr marL="1085850" lvl="2"/>
            <a:r>
              <a:rPr lang="en-US" altLang="en-US" sz="1600"/>
              <a:t>Exchange and repeat until pointers cross</a:t>
            </a:r>
          </a:p>
        </p:txBody>
      </p:sp>
      <p:sp>
        <p:nvSpPr>
          <p:cNvPr id="143364" name="Text Box 4"/>
          <p:cNvSpPr txBox="1">
            <a:spLocks noChangeArrowheads="1"/>
          </p:cNvSpPr>
          <p:nvPr/>
        </p:nvSpPr>
        <p:spPr bwMode="auto">
          <a:xfrm>
            <a:off x="3886200" y="3276601"/>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b="1">
                <a:solidFill>
                  <a:schemeClr val="accent2"/>
                </a:solidFill>
                <a:latin typeface="Arial" panose="020B0604020202020204" pitchFamily="34" charset="0"/>
              </a:rPr>
              <a:t>pointers cross</a:t>
            </a:r>
          </a:p>
        </p:txBody>
      </p:sp>
      <p:sp>
        <p:nvSpPr>
          <p:cNvPr id="143365" name="AutoShape 5"/>
          <p:cNvSpPr>
            <a:spLocks noChangeArrowheads="1"/>
          </p:cNvSpPr>
          <p:nvPr/>
        </p:nvSpPr>
        <p:spPr bwMode="auto">
          <a:xfrm>
            <a:off x="4648200" y="3657600"/>
            <a:ext cx="533400" cy="381000"/>
          </a:xfrm>
          <a:prstGeom prst="irregularSeal2">
            <a:avLst/>
          </a:prstGeom>
          <a:solidFill>
            <a:srgbClr val="FFFF00"/>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Verdana" panose="020B0604030504040204" pitchFamily="34" charset="0"/>
            </a:endParaRPr>
          </a:p>
        </p:txBody>
      </p:sp>
      <p:sp>
        <p:nvSpPr>
          <p:cNvPr id="173062" name="Text Box 6"/>
          <p:cNvSpPr txBox="1">
            <a:spLocks noChangeArrowheads="1"/>
          </p:cNvSpPr>
          <p:nvPr/>
        </p:nvSpPr>
        <p:spPr bwMode="auto">
          <a:xfrm>
            <a:off x="7315200" y="3048000"/>
            <a:ext cx="16764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b="1">
                <a:solidFill>
                  <a:srgbClr val="990033"/>
                </a:solidFill>
                <a:latin typeface="Arial" panose="020B0604020202020204" pitchFamily="34" charset="0"/>
              </a:rPr>
              <a:t>swap with partitioning element</a:t>
            </a:r>
            <a:endParaRPr lang="en-US" altLang="en-US" sz="1800" b="1">
              <a:solidFill>
                <a:schemeClr val="bg2"/>
              </a:solidFill>
              <a:latin typeface="Arial" panose="020B0604020202020204" pitchFamily="34" charset="0"/>
            </a:endParaRPr>
          </a:p>
        </p:txBody>
      </p:sp>
      <p:sp>
        <p:nvSpPr>
          <p:cNvPr id="143367" name="Rectangle 18"/>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43368" name="Rectangle 19"/>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43369" name="Rectangle 20"/>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43370" name="Rectangle 21"/>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43371" name="Rectangle 22"/>
          <p:cNvSpPr>
            <a:spLocks noChangeArrowheads="1"/>
          </p:cNvSpPr>
          <p:nvPr/>
        </p:nvSpPr>
        <p:spPr bwMode="auto">
          <a:xfrm>
            <a:off x="4114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43372" name="Rectangle 23"/>
          <p:cNvSpPr>
            <a:spLocks noChangeArrowheads="1"/>
          </p:cNvSpPr>
          <p:nvPr/>
        </p:nvSpPr>
        <p:spPr bwMode="auto">
          <a:xfrm>
            <a:off x="4648200" y="4114800"/>
            <a:ext cx="533400" cy="381000"/>
          </a:xfrm>
          <a:prstGeom prst="rect">
            <a:avLst/>
          </a:prstGeom>
          <a:solidFill>
            <a:srgbClr val="FFFF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latin typeface="Courier New" panose="02070309020205020404" pitchFamily="49" charset="0"/>
              </a:rPr>
              <a:t>S</a:t>
            </a:r>
            <a:endParaRPr lang="en-US" altLang="en-US" sz="2400" b="1">
              <a:solidFill>
                <a:schemeClr val="bg1"/>
              </a:solidFill>
              <a:latin typeface="Courier New" panose="02070309020205020404" pitchFamily="49" charset="0"/>
            </a:endParaRPr>
          </a:p>
        </p:txBody>
      </p:sp>
      <p:sp>
        <p:nvSpPr>
          <p:cNvPr id="143373" name="Rectangle 24"/>
          <p:cNvSpPr>
            <a:spLocks noChangeArrowheads="1"/>
          </p:cNvSpPr>
          <p:nvPr/>
        </p:nvSpPr>
        <p:spPr bwMode="auto">
          <a:xfrm>
            <a:off x="5181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3374" name="Rectangle 25"/>
          <p:cNvSpPr>
            <a:spLocks noChangeArrowheads="1"/>
          </p:cNvSpPr>
          <p:nvPr/>
        </p:nvSpPr>
        <p:spPr bwMode="auto">
          <a:xfrm>
            <a:off x="5715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R</a:t>
            </a:r>
          </a:p>
        </p:txBody>
      </p:sp>
      <p:sp>
        <p:nvSpPr>
          <p:cNvPr id="143375" name="Rectangle 26"/>
          <p:cNvSpPr>
            <a:spLocks noChangeArrowheads="1"/>
          </p:cNvSpPr>
          <p:nvPr/>
        </p:nvSpPr>
        <p:spPr bwMode="auto">
          <a:xfrm>
            <a:off x="6248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T</a:t>
            </a:r>
          </a:p>
        </p:txBody>
      </p:sp>
      <p:sp>
        <p:nvSpPr>
          <p:cNvPr id="143376" name="Rectangle 27"/>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43377" name="Rectangle 28"/>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43378" name="Rectangle 29"/>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43379" name="Rectangle 30"/>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3380" name="Rectangle 31"/>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3381" name="Rectangle 32"/>
          <p:cNvSpPr>
            <a:spLocks noChangeArrowheads="1"/>
          </p:cNvSpPr>
          <p:nvPr/>
        </p:nvSpPr>
        <p:spPr bwMode="auto">
          <a:xfrm>
            <a:off x="94488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grpSp>
        <p:nvGrpSpPr>
          <p:cNvPr id="143382" name="Group 20"/>
          <p:cNvGrpSpPr>
            <a:grpSpLocks/>
          </p:cNvGrpSpPr>
          <p:nvPr/>
        </p:nvGrpSpPr>
        <p:grpSpPr bwMode="auto">
          <a:xfrm>
            <a:off x="2133600" y="5257800"/>
            <a:ext cx="7620000" cy="762000"/>
            <a:chOff x="432" y="3648"/>
            <a:chExt cx="4800" cy="480"/>
          </a:xfrm>
        </p:grpSpPr>
        <p:sp>
          <p:nvSpPr>
            <p:cNvPr id="143383"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3384"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43385"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3386"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43387"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3388"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43389"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3390"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43391"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3392"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4100614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3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2"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p:cNvSpPr>
          <p:nvPr>
            <p:ph type="title"/>
          </p:nvPr>
        </p:nvSpPr>
        <p:spPr/>
        <p:txBody>
          <a:bodyPr/>
          <a:lstStyle/>
          <a:p>
            <a:pPr eaLnBrk="1" hangingPunct="1"/>
            <a:r>
              <a:rPr lang="en-US" altLang="en-US" smtClean="0"/>
              <a:t>Partitioning in Quicksort</a:t>
            </a:r>
          </a:p>
        </p:txBody>
      </p:sp>
      <p:sp>
        <p:nvSpPr>
          <p:cNvPr id="145411" name="Rectangle 3"/>
          <p:cNvSpPr>
            <a:spLocks noGrp="1"/>
          </p:cNvSpPr>
          <p:nvPr>
            <p:ph idx="1"/>
          </p:nvPr>
        </p:nvSpPr>
        <p:spPr>
          <a:xfrm>
            <a:off x="2090738" y="1752600"/>
            <a:ext cx="8001000" cy="1600200"/>
          </a:xfrm>
        </p:spPr>
        <p:txBody>
          <a:bodyPr/>
          <a:lstStyle/>
          <a:p>
            <a:pPr lvl="1" eaLnBrk="1" hangingPunct="1"/>
            <a:r>
              <a:rPr lang="en-US" altLang="en-US" smtClean="0"/>
              <a:t>How do we partition the array efficiently?</a:t>
            </a:r>
          </a:p>
          <a:p>
            <a:pPr marL="1085850" lvl="2"/>
            <a:r>
              <a:rPr lang="en-US" altLang="en-US" sz="1600"/>
              <a:t>choose partition element to be rightmost element</a:t>
            </a:r>
          </a:p>
          <a:p>
            <a:pPr marL="1085850" lvl="2"/>
            <a:r>
              <a:rPr lang="en-US" altLang="en-US" sz="1600"/>
              <a:t>scan from left for larger element</a:t>
            </a:r>
          </a:p>
          <a:p>
            <a:pPr marL="1085850" lvl="2"/>
            <a:r>
              <a:rPr lang="en-US" altLang="en-US" sz="1600"/>
              <a:t>scan from right for smaller element</a:t>
            </a:r>
          </a:p>
          <a:p>
            <a:pPr marL="1085850" lvl="2"/>
            <a:r>
              <a:rPr lang="en-US" altLang="en-US" sz="1600"/>
              <a:t>Exchange and repeat until pointers cross</a:t>
            </a:r>
          </a:p>
          <a:p>
            <a:pPr marL="1085850" lvl="2"/>
            <a:endParaRPr lang="en-US" altLang="en-US" sz="1600"/>
          </a:p>
        </p:txBody>
      </p:sp>
      <p:sp>
        <p:nvSpPr>
          <p:cNvPr id="145412" name="Text Box 15"/>
          <p:cNvSpPr txBox="1">
            <a:spLocks noChangeArrowheads="1"/>
          </p:cNvSpPr>
          <p:nvPr/>
        </p:nvSpPr>
        <p:spPr bwMode="auto">
          <a:xfrm>
            <a:off x="7315200" y="3200400"/>
            <a:ext cx="167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b="1">
                <a:solidFill>
                  <a:srgbClr val="990033"/>
                </a:solidFill>
                <a:latin typeface="Arial" panose="020B0604020202020204" pitchFamily="34" charset="0"/>
              </a:rPr>
              <a:t>partition is complete</a:t>
            </a:r>
            <a:endParaRPr lang="en-US" altLang="en-US" sz="1800" b="1">
              <a:solidFill>
                <a:schemeClr val="bg2"/>
              </a:solidFill>
              <a:latin typeface="Arial" panose="020B0604020202020204" pitchFamily="34" charset="0"/>
            </a:endParaRPr>
          </a:p>
        </p:txBody>
      </p:sp>
      <p:sp>
        <p:nvSpPr>
          <p:cNvPr id="145413" name="Rectangle 16"/>
          <p:cNvSpPr>
            <a:spLocks noChangeArrowheads="1"/>
          </p:cNvSpPr>
          <p:nvPr/>
        </p:nvSpPr>
        <p:spPr bwMode="auto">
          <a:xfrm>
            <a:off x="1981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endParaRPr lang="en-US" altLang="en-US" sz="2400" b="1">
              <a:latin typeface="Courier New" panose="02070309020205020404" pitchFamily="49" charset="0"/>
            </a:endParaRPr>
          </a:p>
        </p:txBody>
      </p:sp>
      <p:sp>
        <p:nvSpPr>
          <p:cNvPr id="145414" name="Rectangle 17"/>
          <p:cNvSpPr>
            <a:spLocks noChangeArrowheads="1"/>
          </p:cNvSpPr>
          <p:nvPr/>
        </p:nvSpPr>
        <p:spPr bwMode="auto">
          <a:xfrm>
            <a:off x="2514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45415" name="Rectangle 18"/>
          <p:cNvSpPr>
            <a:spLocks noChangeArrowheads="1"/>
          </p:cNvSpPr>
          <p:nvPr/>
        </p:nvSpPr>
        <p:spPr bwMode="auto">
          <a:xfrm>
            <a:off x="3048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I</a:t>
            </a:r>
          </a:p>
        </p:txBody>
      </p:sp>
      <p:sp>
        <p:nvSpPr>
          <p:cNvPr id="145416" name="Rectangle 19"/>
          <p:cNvSpPr>
            <a:spLocks noChangeArrowheads="1"/>
          </p:cNvSpPr>
          <p:nvPr/>
        </p:nvSpPr>
        <p:spPr bwMode="auto">
          <a:xfrm>
            <a:off x="3581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C</a:t>
            </a:r>
          </a:p>
        </p:txBody>
      </p:sp>
      <p:sp>
        <p:nvSpPr>
          <p:cNvPr id="145417" name="Rectangle 20"/>
          <p:cNvSpPr>
            <a:spLocks noChangeArrowheads="1"/>
          </p:cNvSpPr>
          <p:nvPr/>
        </p:nvSpPr>
        <p:spPr bwMode="auto">
          <a:xfrm>
            <a:off x="4114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K</a:t>
            </a:r>
          </a:p>
        </p:txBody>
      </p:sp>
      <p:sp>
        <p:nvSpPr>
          <p:cNvPr id="145418" name="Rectangle 21"/>
          <p:cNvSpPr>
            <a:spLocks noChangeArrowheads="1"/>
          </p:cNvSpPr>
          <p:nvPr/>
        </p:nvSpPr>
        <p:spPr bwMode="auto">
          <a:xfrm>
            <a:off x="4648200" y="4114800"/>
            <a:ext cx="533400" cy="381000"/>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L</a:t>
            </a:r>
          </a:p>
        </p:txBody>
      </p:sp>
      <p:sp>
        <p:nvSpPr>
          <p:cNvPr id="145419" name="Rectangle 22"/>
          <p:cNvSpPr>
            <a:spLocks noChangeArrowheads="1"/>
          </p:cNvSpPr>
          <p:nvPr/>
        </p:nvSpPr>
        <p:spPr bwMode="auto">
          <a:xfrm>
            <a:off x="5181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5420" name="Rectangle 23"/>
          <p:cNvSpPr>
            <a:spLocks noChangeArrowheads="1"/>
          </p:cNvSpPr>
          <p:nvPr/>
        </p:nvSpPr>
        <p:spPr bwMode="auto">
          <a:xfrm>
            <a:off x="5715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R</a:t>
            </a:r>
          </a:p>
        </p:txBody>
      </p:sp>
      <p:sp>
        <p:nvSpPr>
          <p:cNvPr id="145421" name="Rectangle 24"/>
          <p:cNvSpPr>
            <a:spLocks noChangeArrowheads="1"/>
          </p:cNvSpPr>
          <p:nvPr/>
        </p:nvSpPr>
        <p:spPr bwMode="auto">
          <a:xfrm>
            <a:off x="6248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T</a:t>
            </a:r>
          </a:p>
        </p:txBody>
      </p:sp>
      <p:sp>
        <p:nvSpPr>
          <p:cNvPr id="145422" name="Rectangle 25"/>
          <p:cNvSpPr>
            <a:spLocks noChangeArrowheads="1"/>
          </p:cNvSpPr>
          <p:nvPr/>
        </p:nvSpPr>
        <p:spPr bwMode="auto">
          <a:xfrm>
            <a:off x="6781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U</a:t>
            </a:r>
          </a:p>
        </p:txBody>
      </p:sp>
      <p:sp>
        <p:nvSpPr>
          <p:cNvPr id="145423" name="Rectangle 26"/>
          <p:cNvSpPr>
            <a:spLocks noChangeArrowheads="1"/>
          </p:cNvSpPr>
          <p:nvPr/>
        </p:nvSpPr>
        <p:spPr bwMode="auto">
          <a:xfrm>
            <a:off x="73152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sp>
        <p:nvSpPr>
          <p:cNvPr id="145424" name="Rectangle 27"/>
          <p:cNvSpPr>
            <a:spLocks noChangeArrowheads="1"/>
          </p:cNvSpPr>
          <p:nvPr/>
        </p:nvSpPr>
        <p:spPr bwMode="auto">
          <a:xfrm>
            <a:off x="78486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Q</a:t>
            </a:r>
            <a:endParaRPr lang="en-US" altLang="en-US" sz="2400" b="1">
              <a:latin typeface="Courier New" panose="02070309020205020404" pitchFamily="49" charset="0"/>
            </a:endParaRPr>
          </a:p>
        </p:txBody>
      </p:sp>
      <p:sp>
        <p:nvSpPr>
          <p:cNvPr id="145425" name="Rectangle 28"/>
          <p:cNvSpPr>
            <a:spLocks noChangeArrowheads="1"/>
          </p:cNvSpPr>
          <p:nvPr/>
        </p:nvSpPr>
        <p:spPr bwMode="auto">
          <a:xfrm>
            <a:off x="83820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5426" name="Rectangle 29"/>
          <p:cNvSpPr>
            <a:spLocks noChangeArrowheads="1"/>
          </p:cNvSpPr>
          <p:nvPr/>
        </p:nvSpPr>
        <p:spPr bwMode="auto">
          <a:xfrm>
            <a:off x="89154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O</a:t>
            </a:r>
          </a:p>
        </p:txBody>
      </p:sp>
      <p:sp>
        <p:nvSpPr>
          <p:cNvPr id="145427" name="Rectangle 30"/>
          <p:cNvSpPr>
            <a:spLocks noChangeArrowheads="1"/>
          </p:cNvSpPr>
          <p:nvPr/>
        </p:nvSpPr>
        <p:spPr bwMode="auto">
          <a:xfrm>
            <a:off x="9448800" y="4114800"/>
            <a:ext cx="533400" cy="381000"/>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solidFill>
                  <a:schemeClr val="bg1"/>
                </a:solidFill>
                <a:latin typeface="Courier New" panose="02070309020205020404" pitchFamily="49" charset="0"/>
              </a:rPr>
              <a:t>S</a:t>
            </a:r>
          </a:p>
        </p:txBody>
      </p:sp>
      <p:grpSp>
        <p:nvGrpSpPr>
          <p:cNvPr id="145428" name="Group 20"/>
          <p:cNvGrpSpPr>
            <a:grpSpLocks/>
          </p:cNvGrpSpPr>
          <p:nvPr/>
        </p:nvGrpSpPr>
        <p:grpSpPr bwMode="auto">
          <a:xfrm>
            <a:off x="2133600" y="5257800"/>
            <a:ext cx="7620000" cy="762000"/>
            <a:chOff x="432" y="3648"/>
            <a:chExt cx="4800" cy="480"/>
          </a:xfrm>
        </p:grpSpPr>
        <p:sp>
          <p:nvSpPr>
            <p:cNvPr id="145429" name="Rectangle 21"/>
            <p:cNvSpPr>
              <a:spLocks noChangeArrowheads="1"/>
            </p:cNvSpPr>
            <p:nvPr/>
          </p:nvSpPr>
          <p:spPr bwMode="auto">
            <a:xfrm>
              <a:off x="2400" y="3936"/>
              <a:ext cx="240" cy="192"/>
            </a:xfrm>
            <a:prstGeom prst="rect">
              <a:avLst/>
            </a:prstGeom>
            <a:solidFill>
              <a:srgbClr val="00660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5430" name="Rectangle 22"/>
            <p:cNvSpPr>
              <a:spLocks noChangeArrowheads="1"/>
            </p:cNvSpPr>
            <p:nvPr/>
          </p:nvSpPr>
          <p:spPr bwMode="auto">
            <a:xfrm>
              <a:off x="2736" y="3936"/>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partitioned</a:t>
              </a:r>
            </a:p>
          </p:txBody>
        </p:sp>
        <p:sp>
          <p:nvSpPr>
            <p:cNvPr id="145431" name="Rectangle 23"/>
            <p:cNvSpPr>
              <a:spLocks noChangeArrowheads="1"/>
            </p:cNvSpPr>
            <p:nvPr/>
          </p:nvSpPr>
          <p:spPr bwMode="auto">
            <a:xfrm>
              <a:off x="432" y="3648"/>
              <a:ext cx="240" cy="192"/>
            </a:xfrm>
            <a:prstGeom prst="rect">
              <a:avLst/>
            </a:prstGeom>
            <a:solidFill>
              <a:schemeClr val="accent1"/>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5432" name="Rectangle 24"/>
            <p:cNvSpPr>
              <a:spLocks noChangeArrowheads="1"/>
            </p:cNvSpPr>
            <p:nvPr/>
          </p:nvSpPr>
          <p:spPr bwMode="auto">
            <a:xfrm>
              <a:off x="768"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Arial" panose="020B0604020202020204" pitchFamily="34" charset="0"/>
                </a:rPr>
                <a:t>partition element</a:t>
              </a:r>
            </a:p>
          </p:txBody>
        </p:sp>
        <p:sp>
          <p:nvSpPr>
            <p:cNvPr id="145433" name="Rectangle 25"/>
            <p:cNvSpPr>
              <a:spLocks noChangeArrowheads="1"/>
            </p:cNvSpPr>
            <p:nvPr/>
          </p:nvSpPr>
          <p:spPr bwMode="auto">
            <a:xfrm>
              <a:off x="4272" y="3648"/>
              <a:ext cx="240" cy="192"/>
            </a:xfrm>
            <a:prstGeom prst="rect">
              <a:avLst/>
            </a:prstGeom>
            <a:solidFill>
              <a:srgbClr val="80008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5434" name="Rectangle 26"/>
            <p:cNvSpPr>
              <a:spLocks noChangeArrowheads="1"/>
            </p:cNvSpPr>
            <p:nvPr/>
          </p:nvSpPr>
          <p:spPr bwMode="auto">
            <a:xfrm>
              <a:off x="4608" y="364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left</a:t>
              </a:r>
            </a:p>
          </p:txBody>
        </p:sp>
        <p:sp>
          <p:nvSpPr>
            <p:cNvPr id="145435" name="Rectangle 27"/>
            <p:cNvSpPr>
              <a:spLocks noChangeArrowheads="1"/>
            </p:cNvSpPr>
            <p:nvPr/>
          </p:nvSpPr>
          <p:spPr bwMode="auto">
            <a:xfrm>
              <a:off x="4272" y="3936"/>
              <a:ext cx="240" cy="192"/>
            </a:xfrm>
            <a:prstGeom prst="rect">
              <a:avLst/>
            </a:prstGeom>
            <a:solidFill>
              <a:srgbClr val="003399"/>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5436" name="Rectangle 28"/>
            <p:cNvSpPr>
              <a:spLocks noChangeArrowheads="1"/>
            </p:cNvSpPr>
            <p:nvPr/>
          </p:nvSpPr>
          <p:spPr bwMode="auto">
            <a:xfrm>
              <a:off x="4608" y="393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right</a:t>
              </a:r>
            </a:p>
          </p:txBody>
        </p:sp>
        <p:sp>
          <p:nvSpPr>
            <p:cNvPr id="145437" name="Rectangle 29"/>
            <p:cNvSpPr>
              <a:spLocks noChangeArrowheads="1"/>
            </p:cNvSpPr>
            <p:nvPr/>
          </p:nvSpPr>
          <p:spPr bwMode="auto">
            <a:xfrm>
              <a:off x="2400" y="3648"/>
              <a:ext cx="240" cy="192"/>
            </a:xfrm>
            <a:prstGeom prst="rect">
              <a:avLst/>
            </a:prstGeom>
            <a:solidFill>
              <a:srgbClr val="C0C0C0"/>
            </a:solidFill>
            <a:ln w="9525">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b="1">
                <a:latin typeface="Courier New" panose="02070309020205020404" pitchFamily="49" charset="0"/>
              </a:endParaRPr>
            </a:p>
          </p:txBody>
        </p:sp>
        <p:sp>
          <p:nvSpPr>
            <p:cNvPr id="145438" name="Rectangle 30"/>
            <p:cNvSpPr>
              <a:spLocks noChangeArrowheads="1"/>
            </p:cNvSpPr>
            <p:nvPr/>
          </p:nvSpPr>
          <p:spPr bwMode="auto">
            <a:xfrm>
              <a:off x="2736" y="3648"/>
              <a:ext cx="1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latin typeface="Arial" panose="020B0604020202020204" pitchFamily="34" charset="0"/>
                </a:rPr>
                <a:t>unpartitioned</a:t>
              </a:r>
            </a:p>
          </p:txBody>
        </p:sp>
      </p:grpSp>
    </p:spTree>
    <p:extLst>
      <p:ext uri="{BB962C8B-B14F-4D97-AF65-F5344CB8AC3E}">
        <p14:creationId xmlns:p14="http://schemas.microsoft.com/office/powerpoint/2010/main" val="344186838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458" name="Title 1"/>
          <p:cNvSpPr>
            <a:spLocks noGrp="1"/>
          </p:cNvSpPr>
          <p:nvPr>
            <p:ph type="title"/>
          </p:nvPr>
        </p:nvSpPr>
        <p:spPr/>
        <p:txBody>
          <a:bodyPr/>
          <a:lstStyle/>
          <a:p>
            <a:r>
              <a:rPr lang="en-US" altLang="en-PK" smtClean="0"/>
              <a:t>Other Algorithms</a:t>
            </a:r>
          </a:p>
        </p:txBody>
      </p:sp>
      <p:sp>
        <p:nvSpPr>
          <p:cNvPr id="147459" name="Content Placeholder 2"/>
          <p:cNvSpPr>
            <a:spLocks noGrp="1"/>
          </p:cNvSpPr>
          <p:nvPr>
            <p:ph idx="1"/>
          </p:nvPr>
        </p:nvSpPr>
        <p:spPr/>
        <p:txBody>
          <a:bodyPr/>
          <a:lstStyle/>
          <a:p>
            <a:r>
              <a:rPr lang="en-US" altLang="en-PK" sz="2400"/>
              <a:t>Heap Sort</a:t>
            </a:r>
          </a:p>
          <a:p>
            <a:r>
              <a:rPr lang="en-US" altLang="en-PK" sz="2400"/>
              <a:t>Shell Sort</a:t>
            </a:r>
          </a:p>
          <a:p>
            <a:r>
              <a:rPr lang="en-US" altLang="en-PK" sz="2400"/>
              <a:t>Radix Sort</a:t>
            </a:r>
          </a:p>
          <a:p>
            <a:r>
              <a:rPr lang="en-US" altLang="en-PK" sz="2400"/>
              <a:t>Bucket Sort</a:t>
            </a:r>
          </a:p>
          <a:p>
            <a:pPr lvl="1"/>
            <a:endParaRPr lang="en-US" altLang="en-PK" smtClean="0"/>
          </a:p>
        </p:txBody>
      </p:sp>
    </p:spTree>
    <p:extLst>
      <p:ext uri="{BB962C8B-B14F-4D97-AF65-F5344CB8AC3E}">
        <p14:creationId xmlns:p14="http://schemas.microsoft.com/office/powerpoint/2010/main" val="995155084"/>
      </p:ext>
    </p:extLst>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p:txBody>
          <a:bodyPr/>
          <a:lstStyle/>
          <a:p>
            <a:r>
              <a:rPr lang="en-US" altLang="en-PK" smtClean="0"/>
              <a:t>Review Questions</a:t>
            </a:r>
            <a:endParaRPr lang="en-PK" altLang="en-PK" smtClean="0"/>
          </a:p>
        </p:txBody>
      </p:sp>
      <p:sp>
        <p:nvSpPr>
          <p:cNvPr id="148483" name="Content Placeholder 2"/>
          <p:cNvSpPr>
            <a:spLocks noGrp="1"/>
          </p:cNvSpPr>
          <p:nvPr>
            <p:ph idx="1"/>
          </p:nvPr>
        </p:nvSpPr>
        <p:spPr/>
        <p:txBody>
          <a:bodyPr/>
          <a:lstStyle/>
          <a:p>
            <a:pPr marL="0" indent="0">
              <a:buNone/>
            </a:pPr>
            <a:r>
              <a:rPr lang="en-US" altLang="en-PK" b="1" smtClean="0"/>
              <a:t>Question 1:</a:t>
            </a:r>
          </a:p>
          <a:p>
            <a:pPr marL="0" indent="0">
              <a:buNone/>
            </a:pPr>
            <a:r>
              <a:rPr lang="en-US" altLang="en-PK" smtClean="0"/>
              <a:t>How merge sort follows divide-conquer technique?</a:t>
            </a:r>
          </a:p>
          <a:p>
            <a:pPr marL="0" indent="0">
              <a:buNone/>
            </a:pPr>
            <a:endParaRPr lang="en-US" altLang="en-PK" smtClean="0"/>
          </a:p>
          <a:p>
            <a:pPr marL="0" indent="0">
              <a:buNone/>
            </a:pPr>
            <a:r>
              <a:rPr lang="en-US" altLang="en-PK" b="1" smtClean="0"/>
              <a:t>Question 2:</a:t>
            </a:r>
          </a:p>
          <a:p>
            <a:pPr marL="0" indent="0">
              <a:buNone/>
            </a:pPr>
            <a:r>
              <a:rPr lang="en-US" altLang="en-PK" smtClean="0"/>
              <a:t>What is the basic rule of sorting in insertion sort algorithm?</a:t>
            </a:r>
          </a:p>
        </p:txBody>
      </p:sp>
      <p:sp>
        <p:nvSpPr>
          <p:cNvPr id="148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C595D9-7E1D-45C8-8073-CFAF37BA34EA}" type="slidenum">
              <a:rPr lang="en-US" altLang="en-PK" sz="1200">
                <a:solidFill>
                  <a:srgbClr val="898989"/>
                </a:solidFill>
                <a:latin typeface="Verdana" panose="020B0604030504040204" pitchFamily="34" charset="0"/>
              </a:rPr>
              <a:pPr>
                <a:spcBef>
                  <a:spcPct val="0"/>
                </a:spcBef>
                <a:buFontTx/>
                <a:buNone/>
              </a:pPr>
              <a:t>112</a:t>
            </a:fld>
            <a:endParaRPr lang="en-US" altLang="en-PK" sz="1200">
              <a:solidFill>
                <a:srgbClr val="898989"/>
              </a:solidFill>
              <a:latin typeface="Verdana" panose="020B0604030504040204" pitchFamily="34" charset="0"/>
            </a:endParaRPr>
          </a:p>
        </p:txBody>
      </p:sp>
    </p:spTree>
    <p:extLst>
      <p:ext uri="{BB962C8B-B14F-4D97-AF65-F5344CB8AC3E}">
        <p14:creationId xmlns:p14="http://schemas.microsoft.com/office/powerpoint/2010/main" val="1279407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469</TotalTime>
  <Words>6253</Words>
  <Application>Microsoft Office PowerPoint</Application>
  <PresentationFormat>Widescreen</PresentationFormat>
  <Paragraphs>2223</Paragraphs>
  <Slides>112</Slides>
  <Notes>36</Notes>
  <HiddenSlides>3</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112</vt:i4>
      </vt:variant>
    </vt:vector>
  </HeadingPairs>
  <TitlesOfParts>
    <vt:vector size="126" baseType="lpstr">
      <vt:lpstr>Arial</vt:lpstr>
      <vt:lpstr>Calibri</vt:lpstr>
      <vt:lpstr>Calibri Light</vt:lpstr>
      <vt:lpstr>Cambria Math</vt:lpstr>
      <vt:lpstr>Consolas</vt:lpstr>
      <vt:lpstr>Courier New</vt:lpstr>
      <vt:lpstr>新細明體</vt:lpstr>
      <vt:lpstr>Symbol</vt:lpstr>
      <vt:lpstr>Times New Roman</vt:lpstr>
      <vt:lpstr>var(--font-din)</vt:lpstr>
      <vt:lpstr>Verdana</vt:lpstr>
      <vt:lpstr>Wingdings</vt:lpstr>
      <vt:lpstr>Wingdings 3</vt:lpstr>
      <vt:lpstr>Retrospect</vt:lpstr>
      <vt:lpstr>Sorting</vt:lpstr>
      <vt:lpstr>Why we use Sorting?</vt:lpstr>
      <vt:lpstr>Why we use Sorting?</vt:lpstr>
      <vt:lpstr>Key reasons why sorting is important:</vt:lpstr>
      <vt:lpstr>PowerPoint Presentation</vt:lpstr>
      <vt:lpstr>PowerPoint Presentation</vt:lpstr>
      <vt:lpstr>PowerPoint Presentation</vt:lpstr>
      <vt:lpstr>PowerPoint Presentation</vt:lpstr>
      <vt:lpstr>PowerPoint Presentation</vt:lpstr>
      <vt:lpstr>Complexity of Sorting Algorithm</vt:lpstr>
      <vt:lpstr>Types of Sorting Algorithm</vt:lpstr>
      <vt:lpstr>PowerPoint Presentation</vt:lpstr>
      <vt:lpstr>Examples of Sorting</vt:lpstr>
      <vt:lpstr>Selection Sort: Idea</vt:lpstr>
      <vt:lpstr>How Selection Sort works?</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Another Working example</vt:lpstr>
      <vt:lpstr>PowerPoint Presentation</vt:lpstr>
      <vt:lpstr>Selection Sort</vt:lpstr>
      <vt:lpstr>PowerPoint Presentation</vt:lpstr>
      <vt:lpstr>Selection Sort : Application</vt:lpstr>
      <vt:lpstr>Insertion Sort: Idea</vt:lpstr>
      <vt:lpstr>Insertion Sort: Example </vt:lpstr>
      <vt:lpstr>Insertion Sort: Example </vt:lpstr>
      <vt:lpstr>Insertion Sort: Example</vt:lpstr>
      <vt:lpstr>Insertion Sort: Example </vt:lpstr>
      <vt:lpstr>PowerPoint Presentation</vt:lpstr>
      <vt:lpstr>PowerPoint Presentation</vt:lpstr>
      <vt:lpstr>Insertion Sort: Pseudo Code</vt:lpstr>
      <vt:lpstr>PowerPoint Presentation</vt:lpstr>
      <vt:lpstr>Analysis of Insertion Sort</vt:lpstr>
      <vt:lpstr>Insertion Sort – Analysis </vt:lpstr>
      <vt:lpstr>Bubble Sort: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vt:lpstr>
      <vt:lpstr>Bubble sort - Algorithm</vt:lpstr>
      <vt:lpstr>Bubble Sort – Analysis </vt:lpstr>
      <vt:lpstr>Mergesort</vt:lpstr>
      <vt:lpstr>Mergesort</vt:lpstr>
      <vt:lpstr>Mergesort - Example</vt:lpstr>
      <vt:lpstr>Merging</vt:lpstr>
      <vt:lpstr>Merging</vt:lpstr>
      <vt:lpstr>Merging</vt:lpstr>
      <vt:lpstr>Merging</vt:lpstr>
      <vt:lpstr>Merging</vt:lpstr>
      <vt:lpstr>Merging</vt:lpstr>
      <vt:lpstr>Merging</vt:lpstr>
      <vt:lpstr>Merging</vt:lpstr>
      <vt:lpstr>Merging</vt:lpstr>
      <vt:lpstr>Merging</vt:lpstr>
      <vt:lpstr>Mergesort – Analysis</vt:lpstr>
      <vt:lpstr>Mergesort – Analysis</vt:lpstr>
      <vt:lpstr>Quick 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Partitioning in Quicksort</vt:lpstr>
      <vt:lpstr>Other Algorithms</vt:lpstr>
      <vt:lpstr>Review 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hafeez babar</dc:creator>
  <cp:lastModifiedBy>Anees</cp:lastModifiedBy>
  <cp:revision>135</cp:revision>
  <dcterms:created xsi:type="dcterms:W3CDTF">2020-12-18T03:27:10Z</dcterms:created>
  <dcterms:modified xsi:type="dcterms:W3CDTF">2025-10-15T02:34:09Z</dcterms:modified>
</cp:coreProperties>
</file>