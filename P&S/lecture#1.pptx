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8"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3" d="100"/>
          <a:sy n="63" d="100"/>
        </p:scale>
        <p:origin x="726"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837769" y="1617092"/>
            <a:ext cx="7468463" cy="574039"/>
          </a:xfrm>
          <a:prstGeom prst="rect">
            <a:avLst/>
          </a:prstGeom>
        </p:spPr>
        <p:txBody>
          <a:bodyPr wrap="square" lIns="0" tIns="0" rIns="0" bIns="0">
            <a:spAutoFit/>
          </a:bodyPr>
          <a:lstStyle>
            <a:lvl1pPr>
              <a:defRPr sz="3600" b="1" i="0">
                <a:solidFill>
                  <a:srgbClr val="003366"/>
                </a:solidFill>
                <a:latin typeface="Arial"/>
                <a:cs typeface="Arial"/>
              </a:defRPr>
            </a:lvl1pPr>
          </a:lstStyle>
          <a:p>
            <a:endParaRPr/>
          </a:p>
        </p:txBody>
      </p:sp>
      <p:sp>
        <p:nvSpPr>
          <p:cNvPr id="3" name="Holder 3"/>
          <p:cNvSpPr>
            <a:spLocks noGrp="1"/>
          </p:cNvSpPr>
          <p:nvPr>
            <p:ph type="subTitle" idx="4"/>
          </p:nvPr>
        </p:nvSpPr>
        <p:spPr>
          <a:xfrm>
            <a:off x="1371600" y="3840480"/>
            <a:ext cx="6400800" cy="553998"/>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5/14/2024</a:t>
            </a:fld>
            <a:endParaRPr lang="en-US"/>
          </a:p>
        </p:txBody>
      </p:sp>
      <p:sp>
        <p:nvSpPr>
          <p:cNvPr id="6" name="Holder 6"/>
          <p:cNvSpPr>
            <a:spLocks noGrp="1"/>
          </p:cNvSpPr>
          <p:nvPr>
            <p:ph type="sldNum" sz="quarter" idx="7"/>
          </p:nvPr>
        </p:nvSpPr>
        <p:spPr/>
        <p:txBody>
          <a:bodyPr lIns="0" tIns="0" rIns="0" bIns="0"/>
          <a:lstStyle>
            <a:lvl1pPr>
              <a:defRPr sz="1600" b="1" i="0">
                <a:solidFill>
                  <a:schemeClr val="bg1"/>
                </a:solidFill>
                <a:latin typeface="Arial"/>
                <a:cs typeface="Arial"/>
              </a:defRPr>
            </a:lvl1pPr>
          </a:lstStyle>
          <a:p>
            <a:pPr marL="38100">
              <a:lnSpc>
                <a:spcPts val="1864"/>
              </a:lnSpc>
            </a:pPr>
            <a:fld id="{81D60167-4931-47E6-BA6A-407CBD079E47}" type="slidenum">
              <a:rPr lang="en-US" spc="-5" smtClean="0"/>
              <a:pPr marL="38100">
                <a:lnSpc>
                  <a:spcPts val="1864"/>
                </a:lnSpc>
              </a:pPr>
              <a:t>‹#›</a:t>
            </a:fld>
            <a:endParaRPr lang="en-US"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006666"/>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3600" b="0" i="0">
                <a:solidFill>
                  <a:srgbClr val="003366"/>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5/14/2024</a:t>
            </a:fld>
            <a:endParaRPr lang="en-US"/>
          </a:p>
        </p:txBody>
      </p:sp>
      <p:sp>
        <p:nvSpPr>
          <p:cNvPr id="6" name="Holder 6"/>
          <p:cNvSpPr>
            <a:spLocks noGrp="1"/>
          </p:cNvSpPr>
          <p:nvPr>
            <p:ph type="sldNum" sz="quarter" idx="7"/>
          </p:nvPr>
        </p:nvSpPr>
        <p:spPr/>
        <p:txBody>
          <a:bodyPr lIns="0" tIns="0" rIns="0" bIns="0"/>
          <a:lstStyle>
            <a:lvl1pPr>
              <a:defRPr sz="1600" b="1" i="0">
                <a:solidFill>
                  <a:schemeClr val="bg1"/>
                </a:solidFill>
                <a:latin typeface="Arial"/>
                <a:cs typeface="Arial"/>
              </a:defRPr>
            </a:lvl1pPr>
          </a:lstStyle>
          <a:p>
            <a:pPr marL="38100">
              <a:lnSpc>
                <a:spcPts val="1864"/>
              </a:lnSpc>
            </a:pPr>
            <a:fld id="{81D60167-4931-47E6-BA6A-407CBD079E47}" type="slidenum">
              <a:rPr lang="en-US" spc="-5" smtClean="0"/>
              <a:pPr marL="38100">
                <a:lnSpc>
                  <a:spcPts val="1864"/>
                </a:lnSpc>
              </a:pPr>
              <a:t>‹#›</a:t>
            </a:fld>
            <a:endParaRPr lang="en-US" spc="-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006666"/>
                </a:solidFill>
                <a:latin typeface="Arial"/>
                <a:cs typeface="Arial"/>
              </a:defRPr>
            </a:lvl1pPr>
          </a:lstStyle>
          <a:p>
            <a:endParaRPr/>
          </a:p>
        </p:txBody>
      </p:sp>
      <p:sp>
        <p:nvSpPr>
          <p:cNvPr id="3" name="Holder 3"/>
          <p:cNvSpPr>
            <a:spLocks noGrp="1"/>
          </p:cNvSpPr>
          <p:nvPr>
            <p:ph sz="half" idx="2"/>
          </p:nvPr>
        </p:nvSpPr>
        <p:spPr>
          <a:xfrm>
            <a:off x="457200" y="1577340"/>
            <a:ext cx="3977640" cy="55399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55399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5/14/2024</a:t>
            </a:fld>
            <a:endParaRPr lang="en-US"/>
          </a:p>
        </p:txBody>
      </p:sp>
      <p:sp>
        <p:nvSpPr>
          <p:cNvPr id="7" name="Holder 7"/>
          <p:cNvSpPr>
            <a:spLocks noGrp="1"/>
          </p:cNvSpPr>
          <p:nvPr>
            <p:ph type="sldNum" sz="quarter" idx="7"/>
          </p:nvPr>
        </p:nvSpPr>
        <p:spPr/>
        <p:txBody>
          <a:bodyPr lIns="0" tIns="0" rIns="0" bIns="0"/>
          <a:lstStyle>
            <a:lvl1pPr>
              <a:defRPr sz="1600" b="1" i="0">
                <a:solidFill>
                  <a:schemeClr val="bg1"/>
                </a:solidFill>
                <a:latin typeface="Arial"/>
                <a:cs typeface="Arial"/>
              </a:defRPr>
            </a:lvl1pPr>
          </a:lstStyle>
          <a:p>
            <a:pPr marL="38100">
              <a:lnSpc>
                <a:spcPts val="1864"/>
              </a:lnSpc>
            </a:pPr>
            <a:fld id="{81D60167-4931-47E6-BA6A-407CBD079E47}" type="slidenum">
              <a:rPr lang="en-US" spc="-5" smtClean="0"/>
              <a:pPr marL="38100">
                <a:lnSpc>
                  <a:spcPts val="1864"/>
                </a:lnSpc>
              </a:pPr>
              <a:t>‹#›</a:t>
            </a:fld>
            <a:endParaRPr lang="en-US"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006666"/>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5/14/2024</a:t>
            </a:fld>
            <a:endParaRPr lang="en-US"/>
          </a:p>
        </p:txBody>
      </p:sp>
      <p:sp>
        <p:nvSpPr>
          <p:cNvPr id="5" name="Holder 5"/>
          <p:cNvSpPr>
            <a:spLocks noGrp="1"/>
          </p:cNvSpPr>
          <p:nvPr>
            <p:ph type="sldNum" sz="quarter" idx="7"/>
          </p:nvPr>
        </p:nvSpPr>
        <p:spPr/>
        <p:txBody>
          <a:bodyPr lIns="0" tIns="0" rIns="0" bIns="0"/>
          <a:lstStyle>
            <a:lvl1pPr>
              <a:defRPr sz="1600" b="1" i="0">
                <a:solidFill>
                  <a:schemeClr val="bg1"/>
                </a:solidFill>
                <a:latin typeface="Arial"/>
                <a:cs typeface="Arial"/>
              </a:defRPr>
            </a:lvl1pPr>
          </a:lstStyle>
          <a:p>
            <a:pPr marL="38100">
              <a:lnSpc>
                <a:spcPts val="1864"/>
              </a:lnSpc>
            </a:pPr>
            <a:fld id="{81D60167-4931-47E6-BA6A-407CBD079E47}" type="slidenum">
              <a:rPr lang="en-US" spc="-5" smtClean="0"/>
              <a:pPr marL="38100">
                <a:lnSpc>
                  <a:spcPts val="1864"/>
                </a:lnSpc>
              </a:pPr>
              <a:t>‹#›</a:t>
            </a:fld>
            <a:endParaRPr lang="en-US" spc="-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5/14/2024</a:t>
            </a:fld>
            <a:endParaRPr lang="en-US"/>
          </a:p>
        </p:txBody>
      </p:sp>
      <p:sp>
        <p:nvSpPr>
          <p:cNvPr id="4" name="Holder 4"/>
          <p:cNvSpPr>
            <a:spLocks noGrp="1"/>
          </p:cNvSpPr>
          <p:nvPr>
            <p:ph type="sldNum" sz="quarter" idx="7"/>
          </p:nvPr>
        </p:nvSpPr>
        <p:spPr/>
        <p:txBody>
          <a:bodyPr lIns="0" tIns="0" rIns="0" bIns="0"/>
          <a:lstStyle>
            <a:lvl1pPr>
              <a:defRPr sz="1600" b="1" i="0">
                <a:solidFill>
                  <a:schemeClr val="bg1"/>
                </a:solidFill>
                <a:latin typeface="Arial"/>
                <a:cs typeface="Arial"/>
              </a:defRPr>
            </a:lvl1pPr>
          </a:lstStyle>
          <a:p>
            <a:pPr marL="38100">
              <a:lnSpc>
                <a:spcPts val="1864"/>
              </a:lnSpc>
            </a:pPr>
            <a:fld id="{81D60167-4931-47E6-BA6A-407CBD079E47}" type="slidenum">
              <a:rPr lang="en-US" spc="-5" smtClean="0"/>
              <a:pPr marL="38100">
                <a:lnSpc>
                  <a:spcPts val="1864"/>
                </a:lnSpc>
              </a:pPr>
              <a:t>‹#›</a:t>
            </a:fld>
            <a:endParaRPr lang="en-US" spc="-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3886200" cy="6858000"/>
          </a:xfrm>
          <a:custGeom>
            <a:avLst/>
            <a:gdLst/>
            <a:ahLst/>
            <a:cxnLst/>
            <a:rect l="l" t="t" r="r" b="b"/>
            <a:pathLst>
              <a:path w="3886200" h="6858000">
                <a:moveTo>
                  <a:pt x="3886200" y="0"/>
                </a:moveTo>
                <a:lnTo>
                  <a:pt x="457200" y="0"/>
                </a:lnTo>
                <a:lnTo>
                  <a:pt x="0" y="0"/>
                </a:lnTo>
                <a:lnTo>
                  <a:pt x="0" y="685800"/>
                </a:lnTo>
                <a:lnTo>
                  <a:pt x="0" y="6858000"/>
                </a:lnTo>
                <a:lnTo>
                  <a:pt x="457200" y="6858000"/>
                </a:lnTo>
                <a:lnTo>
                  <a:pt x="457200" y="564654"/>
                </a:lnTo>
                <a:lnTo>
                  <a:pt x="463283" y="557022"/>
                </a:lnTo>
                <a:lnTo>
                  <a:pt x="501510" y="524471"/>
                </a:lnTo>
                <a:lnTo>
                  <a:pt x="553237" y="495427"/>
                </a:lnTo>
                <a:lnTo>
                  <a:pt x="622109" y="472732"/>
                </a:lnTo>
                <a:lnTo>
                  <a:pt x="659180" y="463613"/>
                </a:lnTo>
                <a:lnTo>
                  <a:pt x="796124" y="447929"/>
                </a:lnTo>
                <a:lnTo>
                  <a:pt x="854608" y="449707"/>
                </a:lnTo>
                <a:lnTo>
                  <a:pt x="3886200" y="447929"/>
                </a:lnTo>
                <a:lnTo>
                  <a:pt x="3886200" y="0"/>
                </a:lnTo>
                <a:close/>
              </a:path>
            </a:pathLst>
          </a:custGeom>
          <a:solidFill>
            <a:srgbClr val="99CC99"/>
          </a:solidFill>
        </p:spPr>
        <p:txBody>
          <a:bodyPr wrap="square" lIns="0" tIns="0" rIns="0" bIns="0" rtlCol="0"/>
          <a:lstStyle/>
          <a:p>
            <a:endParaRPr sz="1800"/>
          </a:p>
        </p:txBody>
      </p:sp>
      <p:sp>
        <p:nvSpPr>
          <p:cNvPr id="17" name="bg object 17"/>
          <p:cNvSpPr/>
          <p:nvPr/>
        </p:nvSpPr>
        <p:spPr>
          <a:xfrm>
            <a:off x="228600" y="1371599"/>
            <a:ext cx="7391400" cy="318770"/>
          </a:xfrm>
          <a:custGeom>
            <a:avLst/>
            <a:gdLst/>
            <a:ahLst/>
            <a:cxnLst/>
            <a:rect l="l" t="t" r="r" b="b"/>
            <a:pathLst>
              <a:path w="7391400" h="318769">
                <a:moveTo>
                  <a:pt x="7391400" y="0"/>
                </a:moveTo>
                <a:lnTo>
                  <a:pt x="393192" y="0"/>
                </a:lnTo>
                <a:lnTo>
                  <a:pt x="381000" y="0"/>
                </a:lnTo>
                <a:lnTo>
                  <a:pt x="196596" y="0"/>
                </a:lnTo>
                <a:lnTo>
                  <a:pt x="144322" y="5689"/>
                </a:lnTo>
                <a:lnTo>
                  <a:pt x="97370" y="21742"/>
                </a:lnTo>
                <a:lnTo>
                  <a:pt x="57581" y="46634"/>
                </a:lnTo>
                <a:lnTo>
                  <a:pt x="26835" y="78854"/>
                </a:lnTo>
                <a:lnTo>
                  <a:pt x="7010" y="116903"/>
                </a:lnTo>
                <a:lnTo>
                  <a:pt x="0" y="159258"/>
                </a:lnTo>
                <a:lnTo>
                  <a:pt x="7010" y="201625"/>
                </a:lnTo>
                <a:lnTo>
                  <a:pt x="26835" y="239674"/>
                </a:lnTo>
                <a:lnTo>
                  <a:pt x="57581" y="271894"/>
                </a:lnTo>
                <a:lnTo>
                  <a:pt x="97370" y="296786"/>
                </a:lnTo>
                <a:lnTo>
                  <a:pt x="144322" y="312839"/>
                </a:lnTo>
                <a:lnTo>
                  <a:pt x="196596" y="318516"/>
                </a:lnTo>
                <a:lnTo>
                  <a:pt x="393192" y="318516"/>
                </a:lnTo>
                <a:lnTo>
                  <a:pt x="393192" y="316992"/>
                </a:lnTo>
                <a:lnTo>
                  <a:pt x="7391400" y="316992"/>
                </a:lnTo>
                <a:lnTo>
                  <a:pt x="7391400" y="0"/>
                </a:lnTo>
                <a:close/>
              </a:path>
            </a:pathLst>
          </a:custGeom>
          <a:solidFill>
            <a:srgbClr val="003366"/>
          </a:solidFill>
        </p:spPr>
        <p:txBody>
          <a:bodyPr wrap="square" lIns="0" tIns="0" rIns="0" bIns="0" rtlCol="0"/>
          <a:lstStyle/>
          <a:p>
            <a:endParaRPr sz="1800"/>
          </a:p>
        </p:txBody>
      </p:sp>
      <p:sp>
        <p:nvSpPr>
          <p:cNvPr id="2" name="Holder 2"/>
          <p:cNvSpPr>
            <a:spLocks noGrp="1"/>
          </p:cNvSpPr>
          <p:nvPr>
            <p:ph type="title"/>
          </p:nvPr>
        </p:nvSpPr>
        <p:spPr>
          <a:xfrm>
            <a:off x="668859" y="316181"/>
            <a:ext cx="7806283" cy="430887"/>
          </a:xfrm>
          <a:prstGeom prst="rect">
            <a:avLst/>
          </a:prstGeom>
        </p:spPr>
        <p:txBody>
          <a:bodyPr wrap="square" lIns="0" tIns="0" rIns="0" bIns="0">
            <a:spAutoFit/>
          </a:bodyPr>
          <a:lstStyle>
            <a:lvl1pPr>
              <a:defRPr sz="2800" b="1" i="0">
                <a:solidFill>
                  <a:srgbClr val="006666"/>
                </a:solidFill>
                <a:latin typeface="Arial"/>
                <a:cs typeface="Arial"/>
              </a:defRPr>
            </a:lvl1pPr>
          </a:lstStyle>
          <a:p>
            <a:endParaRPr/>
          </a:p>
        </p:txBody>
      </p:sp>
      <p:sp>
        <p:nvSpPr>
          <p:cNvPr id="3" name="Holder 3"/>
          <p:cNvSpPr>
            <a:spLocks noGrp="1"/>
          </p:cNvSpPr>
          <p:nvPr>
            <p:ph type="body" idx="1"/>
          </p:nvPr>
        </p:nvSpPr>
        <p:spPr>
          <a:xfrm>
            <a:off x="893165" y="1921206"/>
            <a:ext cx="6655434" cy="553998"/>
          </a:xfrm>
          <a:prstGeom prst="rect">
            <a:avLst/>
          </a:prstGeom>
        </p:spPr>
        <p:txBody>
          <a:bodyPr wrap="square" lIns="0" tIns="0" rIns="0" bIns="0">
            <a:spAutoFit/>
          </a:bodyPr>
          <a:lstStyle>
            <a:lvl1pPr>
              <a:defRPr sz="3600" b="0" i="0">
                <a:solidFill>
                  <a:srgbClr val="003366"/>
                </a:solidFill>
                <a:latin typeface="Arial"/>
                <a:cs typeface="Arial"/>
              </a:defRPr>
            </a:lvl1pPr>
          </a:lstStyle>
          <a:p>
            <a:endParaRPr/>
          </a:p>
        </p:txBody>
      </p:sp>
      <p:sp>
        <p:nvSpPr>
          <p:cNvPr id="4" name="Holder 4"/>
          <p:cNvSpPr>
            <a:spLocks noGrp="1"/>
          </p:cNvSpPr>
          <p:nvPr>
            <p:ph type="ftr" sz="quarter" idx="5"/>
          </p:nvPr>
        </p:nvSpPr>
        <p:spPr>
          <a:xfrm>
            <a:off x="3108960" y="6377941"/>
            <a:ext cx="292608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1"/>
            <a:ext cx="210312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5/14/2024</a:t>
            </a:fld>
            <a:endParaRPr lang="en-US"/>
          </a:p>
        </p:txBody>
      </p:sp>
      <p:sp>
        <p:nvSpPr>
          <p:cNvPr id="6" name="Holder 6"/>
          <p:cNvSpPr>
            <a:spLocks noGrp="1"/>
          </p:cNvSpPr>
          <p:nvPr>
            <p:ph type="sldNum" sz="quarter" idx="7"/>
          </p:nvPr>
        </p:nvSpPr>
        <p:spPr>
          <a:xfrm>
            <a:off x="73761" y="6571618"/>
            <a:ext cx="302260" cy="252729"/>
          </a:xfrm>
          <a:prstGeom prst="rect">
            <a:avLst/>
          </a:prstGeom>
        </p:spPr>
        <p:txBody>
          <a:bodyPr wrap="square" lIns="0" tIns="0" rIns="0" bIns="0">
            <a:spAutoFit/>
          </a:bodyPr>
          <a:lstStyle>
            <a:lvl1pPr>
              <a:defRPr sz="1600" b="1" i="0">
                <a:solidFill>
                  <a:schemeClr val="bg1"/>
                </a:solidFill>
                <a:latin typeface="Arial"/>
                <a:cs typeface="Arial"/>
              </a:defRPr>
            </a:lvl1pPr>
          </a:lstStyle>
          <a:p>
            <a:pPr marL="38100">
              <a:lnSpc>
                <a:spcPts val="1864"/>
              </a:lnSpc>
            </a:pPr>
            <a:fld id="{81D60167-4931-47E6-BA6A-407CBD079E47}" type="slidenum">
              <a:rPr lang="en-US" spc="-5" smtClean="0"/>
              <a:pPr marL="38100">
                <a:lnSpc>
                  <a:spcPts val="1864"/>
                </a:lnSpc>
              </a:pPr>
              <a:t>‹#›</a:t>
            </a:fld>
            <a:endParaRPr lang="en-US" spc="-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98662"/>
            <a:ext cx="1738313" cy="173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Rectangle 5"/>
          <p:cNvSpPr>
            <a:spLocks noChangeArrowheads="1"/>
          </p:cNvSpPr>
          <p:nvPr/>
        </p:nvSpPr>
        <p:spPr bwMode="auto">
          <a:xfrm>
            <a:off x="2130212" y="553549"/>
            <a:ext cx="5210175" cy="157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pPr algn="ctr">
              <a:lnSpc>
                <a:spcPct val="107000"/>
              </a:lnSpc>
              <a:defRPr/>
            </a:pPr>
            <a:r>
              <a:rPr lang="en-US" altLang="en-US" sz="3600" dirty="0">
                <a:solidFill>
                  <a:srgbClr val="FF0000"/>
                </a:solidFill>
                <a:latin typeface="Monotype Corsiva" panose="03010101010201010101" pitchFamily="66" charset="0"/>
                <a:ea typeface="Calibri" panose="020F0502020204030204" pitchFamily="34" charset="0"/>
                <a:cs typeface="Times New Roman" panose="02020603050405020304" pitchFamily="18" charset="0"/>
              </a:rPr>
              <a:t>Thar Institute OF Engineering Science and Technology</a:t>
            </a:r>
            <a:endParaRPr lang="en-US" altLang="en-US" sz="18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defRPr/>
            </a:pPr>
            <a:r>
              <a:rPr lang="en-US" altLang="en-US" sz="18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NED University of Engineering and Technology</a:t>
            </a:r>
            <a:endParaRPr lang="en-US" altLang="en-US" sz="18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7172"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75086" y="398662"/>
            <a:ext cx="1738313" cy="173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Rectangle 7"/>
          <p:cNvSpPr>
            <a:spLocks noChangeArrowheads="1"/>
          </p:cNvSpPr>
          <p:nvPr/>
        </p:nvSpPr>
        <p:spPr bwMode="auto">
          <a:xfrm>
            <a:off x="368135" y="2514600"/>
            <a:ext cx="85582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pPr algn="ctr"/>
            <a:r>
              <a:rPr lang="en-US" altLang="en-US" sz="3600" i="1" u="sng" dirty="0">
                <a:latin typeface="Times New Roman" panose="02020603050405020304" pitchFamily="18" charset="0"/>
                <a:cs typeface="Times New Roman" panose="02020603050405020304" pitchFamily="18" charset="0"/>
              </a:rPr>
              <a:t>MT-331 PROBABILITY &amp; STATISTICS </a:t>
            </a:r>
          </a:p>
        </p:txBody>
      </p:sp>
      <p:sp>
        <p:nvSpPr>
          <p:cNvPr id="7174" name="Rectangle 8"/>
          <p:cNvSpPr>
            <a:spLocks noChangeArrowheads="1"/>
          </p:cNvSpPr>
          <p:nvPr/>
        </p:nvSpPr>
        <p:spPr bwMode="auto">
          <a:xfrm>
            <a:off x="1698625" y="4267200"/>
            <a:ext cx="5789613" cy="187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pPr algn="ctr">
              <a:lnSpc>
                <a:spcPct val="107000"/>
              </a:lnSpc>
            </a:pPr>
            <a:r>
              <a:rPr lang="en-US" altLang="en-US" sz="3600" i="1" dirty="0">
                <a:solidFill>
                  <a:schemeClr val="accent1"/>
                </a:solidFill>
                <a:latin typeface="Times New Roman" panose="02020603050405020304" pitchFamily="18" charset="0"/>
                <a:ea typeface="Calibri" panose="020F0502020204030204" pitchFamily="34" charset="0"/>
                <a:cs typeface="Times New Roman" panose="02020603050405020304" pitchFamily="18" charset="0"/>
              </a:rPr>
              <a:t>Mr. Pirbhu Lal</a:t>
            </a:r>
          </a:p>
          <a:p>
            <a:pPr algn="ctr">
              <a:lnSpc>
                <a:spcPct val="107000"/>
              </a:lnSpc>
            </a:pPr>
            <a:r>
              <a:rPr lang="en-US" altLang="en-US" sz="3600" i="1" dirty="0">
                <a:solidFill>
                  <a:schemeClr val="accent1"/>
                </a:solidFill>
                <a:latin typeface="Times New Roman" panose="02020603050405020304" pitchFamily="18" charset="0"/>
                <a:ea typeface="Calibri" panose="020F0502020204030204" pitchFamily="34" charset="0"/>
                <a:cs typeface="Times New Roman" panose="02020603050405020304" pitchFamily="18" charset="0"/>
              </a:rPr>
              <a:t>Lecturer (Visiting Faculty)</a:t>
            </a:r>
          </a:p>
          <a:p>
            <a:pPr algn="ctr">
              <a:lnSpc>
                <a:spcPct val="107000"/>
              </a:lnSpc>
            </a:pPr>
            <a:r>
              <a:rPr lang="en-US" altLang="en-US" sz="3600" i="1" dirty="0">
                <a:solidFill>
                  <a:schemeClr val="accent1"/>
                </a:solidFill>
                <a:latin typeface="Times New Roman" panose="02020603050405020304" pitchFamily="18" charset="0"/>
                <a:ea typeface="Calibri" panose="020F0502020204030204" pitchFamily="34" charset="0"/>
                <a:cs typeface="Times New Roman" panose="02020603050405020304" pitchFamily="18" charset="0"/>
              </a:rPr>
              <a:t>MS- Applied Mathematics </a:t>
            </a:r>
          </a:p>
        </p:txBody>
      </p:sp>
      <p:cxnSp>
        <p:nvCxnSpPr>
          <p:cNvPr id="12" name="Straight Connector 11"/>
          <p:cNvCxnSpPr/>
          <p:nvPr/>
        </p:nvCxnSpPr>
        <p:spPr>
          <a:xfrm>
            <a:off x="347663" y="3049588"/>
            <a:ext cx="8626475" cy="9525"/>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5772866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8509000" cy="6858000"/>
            <a:chOff x="0" y="0"/>
            <a:chExt cx="8509000" cy="6858000"/>
          </a:xfrm>
        </p:grpSpPr>
        <p:sp>
          <p:nvSpPr>
            <p:cNvPr id="3" name="object 3"/>
            <p:cNvSpPr/>
            <p:nvPr/>
          </p:nvSpPr>
          <p:spPr>
            <a:xfrm>
              <a:off x="0" y="0"/>
              <a:ext cx="4572000" cy="6858000"/>
            </a:xfrm>
            <a:custGeom>
              <a:avLst/>
              <a:gdLst/>
              <a:ahLst/>
              <a:cxnLst/>
              <a:rect l="l" t="t" r="r" b="b"/>
              <a:pathLst>
                <a:path w="4572000" h="6858000">
                  <a:moveTo>
                    <a:pt x="4572000" y="0"/>
                  </a:moveTo>
                  <a:lnTo>
                    <a:pt x="0" y="0"/>
                  </a:lnTo>
                  <a:lnTo>
                    <a:pt x="0" y="6858000"/>
                  </a:lnTo>
                  <a:lnTo>
                    <a:pt x="4572000" y="6858000"/>
                  </a:lnTo>
                  <a:lnTo>
                    <a:pt x="4572000" y="0"/>
                  </a:lnTo>
                  <a:close/>
                </a:path>
              </a:pathLst>
            </a:custGeom>
            <a:solidFill>
              <a:srgbClr val="99CC99"/>
            </a:solidFill>
          </p:spPr>
          <p:txBody>
            <a:bodyPr wrap="square" lIns="0" tIns="0" rIns="0" bIns="0" rtlCol="0"/>
            <a:lstStyle/>
            <a:p>
              <a:endParaRPr/>
            </a:p>
          </p:txBody>
        </p:sp>
        <p:sp>
          <p:nvSpPr>
            <p:cNvPr id="4" name="object 4"/>
            <p:cNvSpPr/>
            <p:nvPr/>
          </p:nvSpPr>
          <p:spPr>
            <a:xfrm>
              <a:off x="685800" y="990600"/>
              <a:ext cx="5181600" cy="1905000"/>
            </a:xfrm>
            <a:custGeom>
              <a:avLst/>
              <a:gdLst/>
              <a:ahLst/>
              <a:cxnLst/>
              <a:rect l="l" t="t" r="r" b="b"/>
              <a:pathLst>
                <a:path w="5181600" h="1905000">
                  <a:moveTo>
                    <a:pt x="4229100" y="0"/>
                  </a:moveTo>
                  <a:lnTo>
                    <a:pt x="952500" y="0"/>
                  </a:lnTo>
                  <a:lnTo>
                    <a:pt x="904961" y="1165"/>
                  </a:lnTo>
                  <a:lnTo>
                    <a:pt x="858025" y="4626"/>
                  </a:lnTo>
                  <a:lnTo>
                    <a:pt x="811747" y="10327"/>
                  </a:lnTo>
                  <a:lnTo>
                    <a:pt x="766182" y="18215"/>
                  </a:lnTo>
                  <a:lnTo>
                    <a:pt x="721383" y="28233"/>
                  </a:lnTo>
                  <a:lnTo>
                    <a:pt x="677407" y="40329"/>
                  </a:lnTo>
                  <a:lnTo>
                    <a:pt x="634306" y="54446"/>
                  </a:lnTo>
                  <a:lnTo>
                    <a:pt x="592136" y="70532"/>
                  </a:lnTo>
                  <a:lnTo>
                    <a:pt x="550951" y="88530"/>
                  </a:lnTo>
                  <a:lnTo>
                    <a:pt x="510807" y="108387"/>
                  </a:lnTo>
                  <a:lnTo>
                    <a:pt x="471757" y="130048"/>
                  </a:lnTo>
                  <a:lnTo>
                    <a:pt x="433855" y="153457"/>
                  </a:lnTo>
                  <a:lnTo>
                    <a:pt x="397158" y="178562"/>
                  </a:lnTo>
                  <a:lnTo>
                    <a:pt x="361718" y="205307"/>
                  </a:lnTo>
                  <a:lnTo>
                    <a:pt x="327591" y="233638"/>
                  </a:lnTo>
                  <a:lnTo>
                    <a:pt x="294832" y="263499"/>
                  </a:lnTo>
                  <a:lnTo>
                    <a:pt x="263494" y="294837"/>
                  </a:lnTo>
                  <a:lnTo>
                    <a:pt x="233633" y="327597"/>
                  </a:lnTo>
                  <a:lnTo>
                    <a:pt x="205303" y="361723"/>
                  </a:lnTo>
                  <a:lnTo>
                    <a:pt x="178559" y="397163"/>
                  </a:lnTo>
                  <a:lnTo>
                    <a:pt x="153454" y="433861"/>
                  </a:lnTo>
                  <a:lnTo>
                    <a:pt x="130045" y="471762"/>
                  </a:lnTo>
                  <a:lnTo>
                    <a:pt x="108384" y="510812"/>
                  </a:lnTo>
                  <a:lnTo>
                    <a:pt x="88528" y="550957"/>
                  </a:lnTo>
                  <a:lnTo>
                    <a:pt x="70530" y="592141"/>
                  </a:lnTo>
                  <a:lnTo>
                    <a:pt x="54445" y="634311"/>
                  </a:lnTo>
                  <a:lnTo>
                    <a:pt x="40328" y="677411"/>
                  </a:lnTo>
                  <a:lnTo>
                    <a:pt x="28233" y="721387"/>
                  </a:lnTo>
                  <a:lnTo>
                    <a:pt x="18214" y="766185"/>
                  </a:lnTo>
                  <a:lnTo>
                    <a:pt x="10327" y="811750"/>
                  </a:lnTo>
                  <a:lnTo>
                    <a:pt x="4626" y="858027"/>
                  </a:lnTo>
                  <a:lnTo>
                    <a:pt x="1165" y="904962"/>
                  </a:lnTo>
                  <a:lnTo>
                    <a:pt x="0" y="952500"/>
                  </a:lnTo>
                  <a:lnTo>
                    <a:pt x="1165" y="1000037"/>
                  </a:lnTo>
                  <a:lnTo>
                    <a:pt x="4626" y="1046972"/>
                  </a:lnTo>
                  <a:lnTo>
                    <a:pt x="10327" y="1093249"/>
                  </a:lnTo>
                  <a:lnTo>
                    <a:pt x="18214" y="1138814"/>
                  </a:lnTo>
                  <a:lnTo>
                    <a:pt x="28233" y="1183612"/>
                  </a:lnTo>
                  <a:lnTo>
                    <a:pt x="40328" y="1227588"/>
                  </a:lnTo>
                  <a:lnTo>
                    <a:pt x="54445" y="1270688"/>
                  </a:lnTo>
                  <a:lnTo>
                    <a:pt x="70530" y="1312858"/>
                  </a:lnTo>
                  <a:lnTo>
                    <a:pt x="88528" y="1354042"/>
                  </a:lnTo>
                  <a:lnTo>
                    <a:pt x="108384" y="1394187"/>
                  </a:lnTo>
                  <a:lnTo>
                    <a:pt x="130045" y="1433237"/>
                  </a:lnTo>
                  <a:lnTo>
                    <a:pt x="153454" y="1471138"/>
                  </a:lnTo>
                  <a:lnTo>
                    <a:pt x="178559" y="1507836"/>
                  </a:lnTo>
                  <a:lnTo>
                    <a:pt x="205303" y="1543276"/>
                  </a:lnTo>
                  <a:lnTo>
                    <a:pt x="233633" y="1577402"/>
                  </a:lnTo>
                  <a:lnTo>
                    <a:pt x="263494" y="1610162"/>
                  </a:lnTo>
                  <a:lnTo>
                    <a:pt x="294832" y="1641500"/>
                  </a:lnTo>
                  <a:lnTo>
                    <a:pt x="327591" y="1671361"/>
                  </a:lnTo>
                  <a:lnTo>
                    <a:pt x="361718" y="1699692"/>
                  </a:lnTo>
                  <a:lnTo>
                    <a:pt x="397158" y="1726437"/>
                  </a:lnTo>
                  <a:lnTo>
                    <a:pt x="433855" y="1751542"/>
                  </a:lnTo>
                  <a:lnTo>
                    <a:pt x="471757" y="1774952"/>
                  </a:lnTo>
                  <a:lnTo>
                    <a:pt x="510807" y="1796612"/>
                  </a:lnTo>
                  <a:lnTo>
                    <a:pt x="550951" y="1816469"/>
                  </a:lnTo>
                  <a:lnTo>
                    <a:pt x="592136" y="1834467"/>
                  </a:lnTo>
                  <a:lnTo>
                    <a:pt x="634306" y="1850553"/>
                  </a:lnTo>
                  <a:lnTo>
                    <a:pt x="677407" y="1864670"/>
                  </a:lnTo>
                  <a:lnTo>
                    <a:pt x="721383" y="1876766"/>
                  </a:lnTo>
                  <a:lnTo>
                    <a:pt x="766182" y="1886784"/>
                  </a:lnTo>
                  <a:lnTo>
                    <a:pt x="811747" y="1894672"/>
                  </a:lnTo>
                  <a:lnTo>
                    <a:pt x="858025" y="1900373"/>
                  </a:lnTo>
                  <a:lnTo>
                    <a:pt x="904961" y="1903834"/>
                  </a:lnTo>
                  <a:lnTo>
                    <a:pt x="952500" y="1905000"/>
                  </a:lnTo>
                  <a:lnTo>
                    <a:pt x="4229100" y="1905000"/>
                  </a:lnTo>
                  <a:lnTo>
                    <a:pt x="4276637" y="1903834"/>
                  </a:lnTo>
                  <a:lnTo>
                    <a:pt x="4323572" y="1900373"/>
                  </a:lnTo>
                  <a:lnTo>
                    <a:pt x="4369849" y="1894672"/>
                  </a:lnTo>
                  <a:lnTo>
                    <a:pt x="4415414" y="1886784"/>
                  </a:lnTo>
                  <a:lnTo>
                    <a:pt x="4460212" y="1876766"/>
                  </a:lnTo>
                  <a:lnTo>
                    <a:pt x="4504188" y="1864670"/>
                  </a:lnTo>
                  <a:lnTo>
                    <a:pt x="4547288" y="1850553"/>
                  </a:lnTo>
                  <a:lnTo>
                    <a:pt x="4589458" y="1834467"/>
                  </a:lnTo>
                  <a:lnTo>
                    <a:pt x="4630642" y="1816469"/>
                  </a:lnTo>
                  <a:lnTo>
                    <a:pt x="4670787" y="1796612"/>
                  </a:lnTo>
                  <a:lnTo>
                    <a:pt x="4709837" y="1774952"/>
                  </a:lnTo>
                  <a:lnTo>
                    <a:pt x="4747738" y="1751542"/>
                  </a:lnTo>
                  <a:lnTo>
                    <a:pt x="4784436" y="1726437"/>
                  </a:lnTo>
                  <a:lnTo>
                    <a:pt x="4819876" y="1699692"/>
                  </a:lnTo>
                  <a:lnTo>
                    <a:pt x="4854002" y="1671361"/>
                  </a:lnTo>
                  <a:lnTo>
                    <a:pt x="4886762" y="1641500"/>
                  </a:lnTo>
                  <a:lnTo>
                    <a:pt x="4918100" y="1610162"/>
                  </a:lnTo>
                  <a:lnTo>
                    <a:pt x="4947961" y="1577402"/>
                  </a:lnTo>
                  <a:lnTo>
                    <a:pt x="4976292" y="1543276"/>
                  </a:lnTo>
                  <a:lnTo>
                    <a:pt x="5003037" y="1507836"/>
                  </a:lnTo>
                  <a:lnTo>
                    <a:pt x="5028142" y="1471138"/>
                  </a:lnTo>
                  <a:lnTo>
                    <a:pt x="5051551" y="1433237"/>
                  </a:lnTo>
                  <a:lnTo>
                    <a:pt x="5073212" y="1394187"/>
                  </a:lnTo>
                  <a:lnTo>
                    <a:pt x="5093069" y="1354042"/>
                  </a:lnTo>
                  <a:lnTo>
                    <a:pt x="5111067" y="1312858"/>
                  </a:lnTo>
                  <a:lnTo>
                    <a:pt x="5127153" y="1270688"/>
                  </a:lnTo>
                  <a:lnTo>
                    <a:pt x="5141270" y="1227588"/>
                  </a:lnTo>
                  <a:lnTo>
                    <a:pt x="5153366" y="1183612"/>
                  </a:lnTo>
                  <a:lnTo>
                    <a:pt x="5163384" y="1138814"/>
                  </a:lnTo>
                  <a:lnTo>
                    <a:pt x="5171272" y="1093249"/>
                  </a:lnTo>
                  <a:lnTo>
                    <a:pt x="5176973" y="1046972"/>
                  </a:lnTo>
                  <a:lnTo>
                    <a:pt x="5180434" y="1000037"/>
                  </a:lnTo>
                  <a:lnTo>
                    <a:pt x="5181600" y="952500"/>
                  </a:lnTo>
                  <a:lnTo>
                    <a:pt x="5180434" y="904962"/>
                  </a:lnTo>
                  <a:lnTo>
                    <a:pt x="5176973" y="858027"/>
                  </a:lnTo>
                  <a:lnTo>
                    <a:pt x="5171272" y="811750"/>
                  </a:lnTo>
                  <a:lnTo>
                    <a:pt x="5163384" y="766185"/>
                  </a:lnTo>
                  <a:lnTo>
                    <a:pt x="5153366" y="721387"/>
                  </a:lnTo>
                  <a:lnTo>
                    <a:pt x="5141270" y="677411"/>
                  </a:lnTo>
                  <a:lnTo>
                    <a:pt x="5127153" y="634311"/>
                  </a:lnTo>
                  <a:lnTo>
                    <a:pt x="5111067" y="592141"/>
                  </a:lnTo>
                  <a:lnTo>
                    <a:pt x="5093069" y="550957"/>
                  </a:lnTo>
                  <a:lnTo>
                    <a:pt x="5073212" y="510812"/>
                  </a:lnTo>
                  <a:lnTo>
                    <a:pt x="5051552" y="471762"/>
                  </a:lnTo>
                  <a:lnTo>
                    <a:pt x="5028142" y="433861"/>
                  </a:lnTo>
                  <a:lnTo>
                    <a:pt x="5003037" y="397163"/>
                  </a:lnTo>
                  <a:lnTo>
                    <a:pt x="4976292" y="361723"/>
                  </a:lnTo>
                  <a:lnTo>
                    <a:pt x="4947961" y="327597"/>
                  </a:lnTo>
                  <a:lnTo>
                    <a:pt x="4918100" y="294837"/>
                  </a:lnTo>
                  <a:lnTo>
                    <a:pt x="4886762" y="263499"/>
                  </a:lnTo>
                  <a:lnTo>
                    <a:pt x="4854002" y="233638"/>
                  </a:lnTo>
                  <a:lnTo>
                    <a:pt x="4819876" y="205307"/>
                  </a:lnTo>
                  <a:lnTo>
                    <a:pt x="4784436" y="178562"/>
                  </a:lnTo>
                  <a:lnTo>
                    <a:pt x="4747738" y="153457"/>
                  </a:lnTo>
                  <a:lnTo>
                    <a:pt x="4709837" y="130048"/>
                  </a:lnTo>
                  <a:lnTo>
                    <a:pt x="4670787" y="108387"/>
                  </a:lnTo>
                  <a:lnTo>
                    <a:pt x="4630642" y="88530"/>
                  </a:lnTo>
                  <a:lnTo>
                    <a:pt x="4589458" y="70532"/>
                  </a:lnTo>
                  <a:lnTo>
                    <a:pt x="4547288" y="54446"/>
                  </a:lnTo>
                  <a:lnTo>
                    <a:pt x="4504188" y="40329"/>
                  </a:lnTo>
                  <a:lnTo>
                    <a:pt x="4460212" y="28233"/>
                  </a:lnTo>
                  <a:lnTo>
                    <a:pt x="4415414" y="18215"/>
                  </a:lnTo>
                  <a:lnTo>
                    <a:pt x="4369849" y="10327"/>
                  </a:lnTo>
                  <a:lnTo>
                    <a:pt x="4323572" y="4626"/>
                  </a:lnTo>
                  <a:lnTo>
                    <a:pt x="4276637" y="1165"/>
                  </a:lnTo>
                  <a:lnTo>
                    <a:pt x="4229100" y="0"/>
                  </a:lnTo>
                  <a:close/>
                </a:path>
              </a:pathLst>
            </a:custGeom>
            <a:solidFill>
              <a:srgbClr val="FFFFFF"/>
            </a:solidFill>
          </p:spPr>
          <p:txBody>
            <a:bodyPr wrap="square" lIns="0" tIns="0" rIns="0" bIns="0" rtlCol="0"/>
            <a:lstStyle/>
            <a:p>
              <a:endParaRPr/>
            </a:p>
          </p:txBody>
        </p:sp>
        <p:sp>
          <p:nvSpPr>
            <p:cNvPr id="5" name="object 5"/>
            <p:cNvSpPr/>
            <p:nvPr/>
          </p:nvSpPr>
          <p:spPr>
            <a:xfrm>
              <a:off x="3631692" y="4888991"/>
              <a:ext cx="4876800" cy="320040"/>
            </a:xfrm>
            <a:custGeom>
              <a:avLst/>
              <a:gdLst/>
              <a:ahLst/>
              <a:cxnLst/>
              <a:rect l="l" t="t" r="r" b="b"/>
              <a:pathLst>
                <a:path w="4876800" h="320039">
                  <a:moveTo>
                    <a:pt x="4876800" y="160020"/>
                  </a:moveTo>
                  <a:lnTo>
                    <a:pt x="4870183" y="109435"/>
                  </a:lnTo>
                  <a:lnTo>
                    <a:pt x="4851793" y="65519"/>
                  </a:lnTo>
                  <a:lnTo>
                    <a:pt x="4823739" y="30873"/>
                  </a:lnTo>
                  <a:lnTo>
                    <a:pt x="4788179" y="8166"/>
                  </a:lnTo>
                  <a:lnTo>
                    <a:pt x="4747260" y="0"/>
                  </a:lnTo>
                  <a:lnTo>
                    <a:pt x="4626864" y="0"/>
                  </a:lnTo>
                  <a:lnTo>
                    <a:pt x="4617720" y="0"/>
                  </a:lnTo>
                  <a:lnTo>
                    <a:pt x="0" y="0"/>
                  </a:lnTo>
                  <a:lnTo>
                    <a:pt x="0" y="318516"/>
                  </a:lnTo>
                  <a:lnTo>
                    <a:pt x="4617720" y="318516"/>
                  </a:lnTo>
                  <a:lnTo>
                    <a:pt x="4617720" y="320040"/>
                  </a:lnTo>
                  <a:lnTo>
                    <a:pt x="4747260" y="320040"/>
                  </a:lnTo>
                  <a:lnTo>
                    <a:pt x="4788179" y="311886"/>
                  </a:lnTo>
                  <a:lnTo>
                    <a:pt x="4823739" y="289179"/>
                  </a:lnTo>
                  <a:lnTo>
                    <a:pt x="4851793" y="254533"/>
                  </a:lnTo>
                  <a:lnTo>
                    <a:pt x="4870183" y="210616"/>
                  </a:lnTo>
                  <a:lnTo>
                    <a:pt x="4876800" y="160020"/>
                  </a:lnTo>
                  <a:close/>
                </a:path>
              </a:pathLst>
            </a:custGeom>
            <a:solidFill>
              <a:srgbClr val="003366"/>
            </a:solidFill>
          </p:spPr>
          <p:txBody>
            <a:bodyPr wrap="square" lIns="0" tIns="0" rIns="0" bIns="0" rtlCol="0"/>
            <a:lstStyle/>
            <a:p>
              <a:endParaRPr/>
            </a:p>
          </p:txBody>
        </p:sp>
      </p:grpSp>
      <p:sp>
        <p:nvSpPr>
          <p:cNvPr id="6" name="object 6"/>
          <p:cNvSpPr txBox="1"/>
          <p:nvPr/>
        </p:nvSpPr>
        <p:spPr>
          <a:xfrm>
            <a:off x="6404609" y="6613042"/>
            <a:ext cx="2614930" cy="197490"/>
          </a:xfrm>
          <a:prstGeom prst="rect">
            <a:avLst/>
          </a:prstGeom>
        </p:spPr>
        <p:txBody>
          <a:bodyPr vert="horz" wrap="square" lIns="0" tIns="12700" rIns="0" bIns="0" rtlCol="0">
            <a:spAutoFit/>
          </a:bodyPr>
          <a:lstStyle/>
          <a:p>
            <a:pPr marL="12700">
              <a:spcBef>
                <a:spcPts val="100"/>
              </a:spcBef>
            </a:pPr>
            <a:r>
              <a:rPr sz="1200" i="1" dirty="0">
                <a:solidFill>
                  <a:srgbClr val="003366"/>
                </a:solidFill>
                <a:latin typeface="Times New Roman"/>
                <a:cs typeface="Times New Roman"/>
              </a:rPr>
              <a:t>©The </a:t>
            </a:r>
            <a:r>
              <a:rPr sz="1200" i="1" spc="-5" dirty="0">
                <a:solidFill>
                  <a:srgbClr val="003366"/>
                </a:solidFill>
                <a:latin typeface="Times New Roman"/>
                <a:cs typeface="Times New Roman"/>
              </a:rPr>
              <a:t>McGraw-Hill Companies, Inc.</a:t>
            </a:r>
            <a:r>
              <a:rPr sz="1200" i="1" spc="5" dirty="0">
                <a:solidFill>
                  <a:srgbClr val="003366"/>
                </a:solidFill>
                <a:latin typeface="Times New Roman"/>
                <a:cs typeface="Times New Roman"/>
              </a:rPr>
              <a:t> </a:t>
            </a:r>
            <a:r>
              <a:rPr sz="1200" i="1" dirty="0">
                <a:solidFill>
                  <a:srgbClr val="003366"/>
                </a:solidFill>
                <a:latin typeface="Times New Roman"/>
                <a:cs typeface="Times New Roman"/>
              </a:rPr>
              <a:t>2008</a:t>
            </a:r>
            <a:endParaRPr sz="1200">
              <a:latin typeface="Times New Roman"/>
              <a:cs typeface="Times New Roman"/>
            </a:endParaRPr>
          </a:p>
        </p:txBody>
      </p:sp>
      <p:sp>
        <p:nvSpPr>
          <p:cNvPr id="7" name="object 7"/>
          <p:cNvSpPr txBox="1"/>
          <p:nvPr/>
        </p:nvSpPr>
        <p:spPr>
          <a:xfrm>
            <a:off x="231140" y="6613042"/>
            <a:ext cx="1228090" cy="197490"/>
          </a:xfrm>
          <a:prstGeom prst="rect">
            <a:avLst/>
          </a:prstGeom>
        </p:spPr>
        <p:txBody>
          <a:bodyPr vert="horz" wrap="square" lIns="0" tIns="12700" rIns="0" bIns="0" rtlCol="0">
            <a:spAutoFit/>
          </a:bodyPr>
          <a:lstStyle/>
          <a:p>
            <a:pPr marL="12700">
              <a:spcBef>
                <a:spcPts val="100"/>
              </a:spcBef>
            </a:pPr>
            <a:r>
              <a:rPr sz="1200" i="1" spc="-5" dirty="0">
                <a:solidFill>
                  <a:srgbClr val="003366"/>
                </a:solidFill>
                <a:latin typeface="Times New Roman"/>
                <a:cs typeface="Times New Roman"/>
              </a:rPr>
              <a:t>McGraw-Hill/Irwin</a:t>
            </a:r>
            <a:endParaRPr sz="1200">
              <a:latin typeface="Times New Roman"/>
              <a:cs typeface="Times New Roman"/>
            </a:endParaRPr>
          </a:p>
        </p:txBody>
      </p:sp>
      <p:sp>
        <p:nvSpPr>
          <p:cNvPr id="8" name="object 8"/>
          <p:cNvSpPr txBox="1">
            <a:spLocks noGrp="1"/>
          </p:cNvSpPr>
          <p:nvPr>
            <p:ph type="ctrTitle"/>
          </p:nvPr>
        </p:nvSpPr>
        <p:spPr>
          <a:prstGeom prst="rect">
            <a:avLst/>
          </a:prstGeom>
        </p:spPr>
        <p:txBody>
          <a:bodyPr vert="horz" wrap="square" lIns="0" tIns="12700" rIns="0" bIns="0" rtlCol="0">
            <a:spAutoFit/>
          </a:bodyPr>
          <a:lstStyle/>
          <a:p>
            <a:pPr marL="218440">
              <a:spcBef>
                <a:spcPts val="100"/>
              </a:spcBef>
            </a:pPr>
            <a:r>
              <a:rPr dirty="0"/>
              <a:t>Discrete </a:t>
            </a:r>
            <a:r>
              <a:rPr spc="-5" dirty="0"/>
              <a:t>Probability</a:t>
            </a:r>
            <a:r>
              <a:rPr spc="-20" dirty="0"/>
              <a:t> </a:t>
            </a:r>
            <a:r>
              <a:rPr spc="-5" dirty="0"/>
              <a:t>Distributions</a:t>
            </a:r>
          </a:p>
        </p:txBody>
      </p:sp>
      <p:sp>
        <p:nvSpPr>
          <p:cNvPr id="9" name="object 9"/>
          <p:cNvSpPr txBox="1"/>
          <p:nvPr/>
        </p:nvSpPr>
        <p:spPr>
          <a:xfrm>
            <a:off x="4829302" y="3315080"/>
            <a:ext cx="3539490" cy="452120"/>
          </a:xfrm>
          <a:prstGeom prst="rect">
            <a:avLst/>
          </a:prstGeom>
        </p:spPr>
        <p:txBody>
          <a:bodyPr vert="horz" wrap="square" lIns="0" tIns="12065" rIns="0" bIns="0" rtlCol="0">
            <a:spAutoFit/>
          </a:bodyPr>
          <a:lstStyle/>
          <a:p>
            <a:pPr marL="12700">
              <a:spcBef>
                <a:spcPts val="95"/>
              </a:spcBef>
            </a:pPr>
            <a:r>
              <a:rPr sz="2800" b="1" spc="-10" dirty="0">
                <a:solidFill>
                  <a:srgbClr val="006666"/>
                </a:solidFill>
                <a:latin typeface="Arial"/>
                <a:cs typeface="Arial"/>
              </a:rPr>
              <a:t>RANDOM</a:t>
            </a:r>
            <a:r>
              <a:rPr sz="2800" b="1" spc="-25" dirty="0">
                <a:solidFill>
                  <a:srgbClr val="006666"/>
                </a:solidFill>
                <a:latin typeface="Arial"/>
                <a:cs typeface="Arial"/>
              </a:rPr>
              <a:t> </a:t>
            </a:r>
            <a:r>
              <a:rPr sz="2800" b="1" spc="-5" dirty="0">
                <a:solidFill>
                  <a:srgbClr val="006666"/>
                </a:solidFill>
                <a:latin typeface="Arial"/>
                <a:cs typeface="Arial"/>
              </a:rPr>
              <a:t>VARIABLE</a:t>
            </a:r>
            <a:endParaRPr sz="2800" dirty="0">
              <a:latin typeface="Arial"/>
              <a:cs typeface="Arial"/>
            </a:endParaRPr>
          </a:p>
        </p:txBody>
      </p:sp>
      <p:sp>
        <p:nvSpPr>
          <p:cNvPr id="11" name="object 11"/>
          <p:cNvSpPr/>
          <p:nvPr/>
        </p:nvSpPr>
        <p:spPr>
          <a:xfrm>
            <a:off x="324611" y="3296411"/>
            <a:ext cx="3009900" cy="30480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5549" y="6552386"/>
            <a:ext cx="138430" cy="258404"/>
          </a:xfrm>
          <a:prstGeom prst="rect">
            <a:avLst/>
          </a:prstGeom>
        </p:spPr>
        <p:txBody>
          <a:bodyPr vert="horz" wrap="square" lIns="0" tIns="12065" rIns="0" bIns="0" rtlCol="0">
            <a:spAutoFit/>
          </a:bodyPr>
          <a:lstStyle/>
          <a:p>
            <a:pPr marL="12700">
              <a:spcBef>
                <a:spcPts val="95"/>
              </a:spcBef>
            </a:pPr>
            <a:r>
              <a:rPr sz="1600" b="1" spc="-5" dirty="0">
                <a:solidFill>
                  <a:srgbClr val="FFFFFF"/>
                </a:solidFill>
                <a:latin typeface="Arial"/>
                <a:cs typeface="Arial"/>
              </a:rPr>
              <a:t>4</a:t>
            </a:r>
            <a:endParaRPr sz="1600">
              <a:latin typeface="Arial"/>
              <a:cs typeface="Arial"/>
            </a:endParaRPr>
          </a:p>
        </p:txBody>
      </p:sp>
      <p:sp>
        <p:nvSpPr>
          <p:cNvPr id="3" name="object 3"/>
          <p:cNvSpPr txBox="1"/>
          <p:nvPr/>
        </p:nvSpPr>
        <p:spPr>
          <a:xfrm>
            <a:off x="917246" y="1857883"/>
            <a:ext cx="7324725" cy="4903394"/>
          </a:xfrm>
          <a:prstGeom prst="rect">
            <a:avLst/>
          </a:prstGeom>
        </p:spPr>
        <p:txBody>
          <a:bodyPr vert="horz" wrap="square" lIns="0" tIns="12700" rIns="0" bIns="0" rtlCol="0">
            <a:spAutoFit/>
          </a:bodyPr>
          <a:lstStyle/>
          <a:p>
            <a:pPr marL="545465" indent="-533400">
              <a:lnSpc>
                <a:spcPts val="2590"/>
              </a:lnSpc>
              <a:spcBef>
                <a:spcPts val="100"/>
              </a:spcBef>
              <a:buSzPct val="75000"/>
              <a:buAutoNum type="arabicPeriod"/>
              <a:tabLst>
                <a:tab pos="545465" algn="l"/>
                <a:tab pos="546100" algn="l"/>
              </a:tabLst>
            </a:pPr>
            <a:r>
              <a:rPr sz="2400" spc="-5" dirty="0">
                <a:solidFill>
                  <a:srgbClr val="003366"/>
                </a:solidFill>
                <a:latin typeface="Arial"/>
                <a:cs typeface="Arial"/>
              </a:rPr>
              <a:t>Define </a:t>
            </a:r>
            <a:r>
              <a:rPr sz="2400" dirty="0">
                <a:solidFill>
                  <a:srgbClr val="003366"/>
                </a:solidFill>
                <a:latin typeface="Arial"/>
                <a:cs typeface="Arial"/>
              </a:rPr>
              <a:t>the terms </a:t>
            </a:r>
            <a:r>
              <a:rPr sz="2400" i="1" spc="-5" dirty="0">
                <a:solidFill>
                  <a:srgbClr val="33CCCC"/>
                </a:solidFill>
                <a:latin typeface="Arial"/>
                <a:cs typeface="Arial"/>
              </a:rPr>
              <a:t>probability distribution</a:t>
            </a:r>
            <a:r>
              <a:rPr sz="2400" i="1" spc="80" dirty="0">
                <a:solidFill>
                  <a:srgbClr val="33CCCC"/>
                </a:solidFill>
                <a:latin typeface="Arial"/>
                <a:cs typeface="Arial"/>
              </a:rPr>
              <a:t> </a:t>
            </a:r>
            <a:r>
              <a:rPr sz="2400" spc="-10" dirty="0">
                <a:solidFill>
                  <a:srgbClr val="003366"/>
                </a:solidFill>
                <a:latin typeface="Arial"/>
                <a:cs typeface="Arial"/>
              </a:rPr>
              <a:t>and</a:t>
            </a:r>
            <a:endParaRPr sz="2400">
              <a:latin typeface="Arial"/>
              <a:cs typeface="Arial"/>
            </a:endParaRPr>
          </a:p>
          <a:p>
            <a:pPr marL="545465">
              <a:lnSpc>
                <a:spcPts val="2590"/>
              </a:lnSpc>
            </a:pPr>
            <a:r>
              <a:rPr sz="2400" i="1" spc="-5" dirty="0">
                <a:solidFill>
                  <a:srgbClr val="33CCCC"/>
                </a:solidFill>
                <a:latin typeface="Arial"/>
                <a:cs typeface="Arial"/>
              </a:rPr>
              <a:t>random variable</a:t>
            </a:r>
            <a:r>
              <a:rPr sz="2400" spc="-5" dirty="0">
                <a:solidFill>
                  <a:srgbClr val="003366"/>
                </a:solidFill>
                <a:latin typeface="Arial"/>
                <a:cs typeface="Arial"/>
              </a:rPr>
              <a:t>.</a:t>
            </a:r>
            <a:endParaRPr sz="2400">
              <a:latin typeface="Arial"/>
              <a:cs typeface="Arial"/>
            </a:endParaRPr>
          </a:p>
          <a:p>
            <a:pPr marL="545465" indent="-533400">
              <a:lnSpc>
                <a:spcPts val="2595"/>
              </a:lnSpc>
              <a:buSzPct val="75000"/>
              <a:buAutoNum type="arabicPeriod" startAt="2"/>
              <a:tabLst>
                <a:tab pos="545465" algn="l"/>
                <a:tab pos="546100" algn="l"/>
              </a:tabLst>
            </a:pPr>
            <a:r>
              <a:rPr sz="2400" spc="-5" dirty="0">
                <a:solidFill>
                  <a:srgbClr val="003366"/>
                </a:solidFill>
                <a:latin typeface="Arial"/>
                <a:cs typeface="Arial"/>
              </a:rPr>
              <a:t>Distinguish between </a:t>
            </a:r>
            <a:r>
              <a:rPr sz="2400" i="1" spc="-5" dirty="0">
                <a:solidFill>
                  <a:srgbClr val="33CCCC"/>
                </a:solidFill>
                <a:latin typeface="Arial"/>
                <a:cs typeface="Arial"/>
              </a:rPr>
              <a:t>discrete </a:t>
            </a:r>
            <a:r>
              <a:rPr sz="2400" spc="-5" dirty="0">
                <a:solidFill>
                  <a:srgbClr val="003366"/>
                </a:solidFill>
                <a:latin typeface="Arial"/>
                <a:cs typeface="Arial"/>
              </a:rPr>
              <a:t>and</a:t>
            </a:r>
            <a:r>
              <a:rPr sz="2400" spc="90" dirty="0">
                <a:solidFill>
                  <a:srgbClr val="003366"/>
                </a:solidFill>
                <a:latin typeface="Arial"/>
                <a:cs typeface="Arial"/>
              </a:rPr>
              <a:t> </a:t>
            </a:r>
            <a:r>
              <a:rPr sz="2400" i="1" spc="-5" dirty="0">
                <a:solidFill>
                  <a:srgbClr val="33CCCC"/>
                </a:solidFill>
                <a:latin typeface="Arial"/>
                <a:cs typeface="Arial"/>
              </a:rPr>
              <a:t>continuous</a:t>
            </a:r>
            <a:endParaRPr sz="2400">
              <a:latin typeface="Arial"/>
              <a:cs typeface="Arial"/>
            </a:endParaRPr>
          </a:p>
          <a:p>
            <a:pPr marL="545465">
              <a:lnSpc>
                <a:spcPts val="2595"/>
              </a:lnSpc>
            </a:pPr>
            <a:r>
              <a:rPr sz="2400" i="1" spc="-5" dirty="0">
                <a:solidFill>
                  <a:srgbClr val="33CCCC"/>
                </a:solidFill>
                <a:latin typeface="Arial"/>
                <a:cs typeface="Arial"/>
              </a:rPr>
              <a:t>probability</a:t>
            </a:r>
            <a:r>
              <a:rPr sz="2400" i="1" spc="35" dirty="0">
                <a:solidFill>
                  <a:srgbClr val="33CCCC"/>
                </a:solidFill>
                <a:latin typeface="Arial"/>
                <a:cs typeface="Arial"/>
              </a:rPr>
              <a:t> </a:t>
            </a:r>
            <a:r>
              <a:rPr sz="2400" i="1" spc="-5" dirty="0">
                <a:solidFill>
                  <a:srgbClr val="33CCCC"/>
                </a:solidFill>
                <a:latin typeface="Arial"/>
                <a:cs typeface="Arial"/>
              </a:rPr>
              <a:t>distributions</a:t>
            </a:r>
            <a:r>
              <a:rPr sz="2400" spc="-5" dirty="0">
                <a:solidFill>
                  <a:srgbClr val="003366"/>
                </a:solidFill>
                <a:latin typeface="Arial"/>
                <a:cs typeface="Arial"/>
              </a:rPr>
              <a:t>.</a:t>
            </a:r>
            <a:endParaRPr sz="2400">
              <a:latin typeface="Arial"/>
              <a:cs typeface="Arial"/>
            </a:endParaRPr>
          </a:p>
          <a:p>
            <a:pPr marL="545465" marR="685800" indent="-533400">
              <a:lnSpc>
                <a:spcPts val="2300"/>
              </a:lnSpc>
              <a:spcBef>
                <a:spcPts val="560"/>
              </a:spcBef>
              <a:buSzPct val="75000"/>
              <a:buAutoNum type="arabicPeriod" startAt="3"/>
              <a:tabLst>
                <a:tab pos="545465" algn="l"/>
                <a:tab pos="546100" algn="l"/>
              </a:tabLst>
            </a:pPr>
            <a:r>
              <a:rPr sz="2400" spc="-5" dirty="0">
                <a:solidFill>
                  <a:srgbClr val="003366"/>
                </a:solidFill>
                <a:latin typeface="Arial"/>
                <a:cs typeface="Arial"/>
              </a:rPr>
              <a:t>Calculate the mean, variance, and standard  deviation </a:t>
            </a:r>
            <a:r>
              <a:rPr sz="2400" dirty="0">
                <a:solidFill>
                  <a:srgbClr val="003366"/>
                </a:solidFill>
                <a:latin typeface="Arial"/>
                <a:cs typeface="Arial"/>
              </a:rPr>
              <a:t>of </a:t>
            </a:r>
            <a:r>
              <a:rPr sz="2400" spc="-5" dirty="0">
                <a:solidFill>
                  <a:srgbClr val="003366"/>
                </a:solidFill>
                <a:latin typeface="Arial"/>
                <a:cs typeface="Arial"/>
              </a:rPr>
              <a:t>a discrete probability</a:t>
            </a:r>
            <a:r>
              <a:rPr sz="2400" spc="114" dirty="0">
                <a:solidFill>
                  <a:srgbClr val="003366"/>
                </a:solidFill>
                <a:latin typeface="Arial"/>
                <a:cs typeface="Arial"/>
              </a:rPr>
              <a:t> </a:t>
            </a:r>
            <a:r>
              <a:rPr sz="2400" spc="-5" dirty="0">
                <a:solidFill>
                  <a:srgbClr val="003366"/>
                </a:solidFill>
                <a:latin typeface="Arial"/>
                <a:cs typeface="Arial"/>
              </a:rPr>
              <a:t>distribution.</a:t>
            </a:r>
            <a:endParaRPr sz="2400">
              <a:latin typeface="Arial"/>
              <a:cs typeface="Arial"/>
            </a:endParaRPr>
          </a:p>
          <a:p>
            <a:pPr marL="545465" marR="755650" indent="-533400">
              <a:lnSpc>
                <a:spcPct val="80100"/>
              </a:lnSpc>
              <a:spcBef>
                <a:spcPts val="595"/>
              </a:spcBef>
              <a:buSzPct val="75000"/>
              <a:buAutoNum type="arabicPeriod" startAt="3"/>
              <a:tabLst>
                <a:tab pos="545465" algn="l"/>
                <a:tab pos="546100" algn="l"/>
                <a:tab pos="4460240" algn="l"/>
              </a:tabLst>
            </a:pPr>
            <a:r>
              <a:rPr sz="2400" spc="-5" dirty="0">
                <a:solidFill>
                  <a:srgbClr val="003366"/>
                </a:solidFill>
                <a:latin typeface="Arial"/>
                <a:cs typeface="Arial"/>
              </a:rPr>
              <a:t>Describe</a:t>
            </a:r>
            <a:r>
              <a:rPr sz="2400" spc="25" dirty="0">
                <a:solidFill>
                  <a:srgbClr val="003366"/>
                </a:solidFill>
                <a:latin typeface="Arial"/>
                <a:cs typeface="Arial"/>
              </a:rPr>
              <a:t> </a:t>
            </a:r>
            <a:r>
              <a:rPr sz="2400" dirty="0">
                <a:solidFill>
                  <a:srgbClr val="003366"/>
                </a:solidFill>
                <a:latin typeface="Arial"/>
                <a:cs typeface="Arial"/>
              </a:rPr>
              <a:t>the</a:t>
            </a:r>
            <a:r>
              <a:rPr sz="2400" spc="-5" dirty="0">
                <a:solidFill>
                  <a:srgbClr val="003366"/>
                </a:solidFill>
                <a:latin typeface="Arial"/>
                <a:cs typeface="Arial"/>
              </a:rPr>
              <a:t> </a:t>
            </a:r>
            <a:r>
              <a:rPr sz="2400" dirty="0">
                <a:solidFill>
                  <a:srgbClr val="003366"/>
                </a:solidFill>
                <a:latin typeface="Arial"/>
                <a:cs typeface="Arial"/>
              </a:rPr>
              <a:t>characteristics	of </a:t>
            </a:r>
            <a:r>
              <a:rPr sz="2400" spc="-5" dirty="0">
                <a:solidFill>
                  <a:srgbClr val="003366"/>
                </a:solidFill>
                <a:latin typeface="Arial"/>
                <a:cs typeface="Arial"/>
              </a:rPr>
              <a:t>and</a:t>
            </a:r>
            <a:r>
              <a:rPr sz="2400" spc="-65" dirty="0">
                <a:solidFill>
                  <a:srgbClr val="003366"/>
                </a:solidFill>
                <a:latin typeface="Arial"/>
                <a:cs typeface="Arial"/>
              </a:rPr>
              <a:t> </a:t>
            </a:r>
            <a:r>
              <a:rPr sz="2400" spc="-5" dirty="0">
                <a:solidFill>
                  <a:srgbClr val="003366"/>
                </a:solidFill>
                <a:latin typeface="Arial"/>
                <a:cs typeface="Arial"/>
              </a:rPr>
              <a:t>compute  probabilities using </a:t>
            </a:r>
            <a:r>
              <a:rPr sz="2400" dirty="0">
                <a:solidFill>
                  <a:srgbClr val="003366"/>
                </a:solidFill>
                <a:latin typeface="Arial"/>
                <a:cs typeface="Arial"/>
              </a:rPr>
              <a:t>the </a:t>
            </a:r>
            <a:r>
              <a:rPr sz="2400" i="1" spc="-5" dirty="0">
                <a:solidFill>
                  <a:srgbClr val="33CCCC"/>
                </a:solidFill>
                <a:latin typeface="Arial"/>
                <a:cs typeface="Arial"/>
              </a:rPr>
              <a:t>binomial probability  distribution</a:t>
            </a:r>
            <a:r>
              <a:rPr sz="2400" spc="-5" dirty="0">
                <a:solidFill>
                  <a:srgbClr val="003366"/>
                </a:solidFill>
                <a:latin typeface="Arial"/>
                <a:cs typeface="Arial"/>
              </a:rPr>
              <a:t>.</a:t>
            </a:r>
            <a:endParaRPr sz="2400">
              <a:latin typeface="Arial"/>
              <a:cs typeface="Arial"/>
            </a:endParaRPr>
          </a:p>
          <a:p>
            <a:pPr marL="545465" marR="839469" indent="-533400">
              <a:lnSpc>
                <a:spcPct val="80000"/>
              </a:lnSpc>
              <a:spcBef>
                <a:spcPts val="575"/>
              </a:spcBef>
              <a:buSzPct val="75000"/>
              <a:buAutoNum type="arabicPeriod" startAt="3"/>
              <a:tabLst>
                <a:tab pos="545465" algn="l"/>
                <a:tab pos="546100" algn="l"/>
              </a:tabLst>
            </a:pPr>
            <a:r>
              <a:rPr sz="2400" spc="-5" dirty="0">
                <a:solidFill>
                  <a:srgbClr val="003366"/>
                </a:solidFill>
                <a:latin typeface="Arial"/>
                <a:cs typeface="Arial"/>
              </a:rPr>
              <a:t>Describe </a:t>
            </a:r>
            <a:r>
              <a:rPr sz="2400" dirty="0">
                <a:solidFill>
                  <a:srgbClr val="003366"/>
                </a:solidFill>
                <a:latin typeface="Arial"/>
                <a:cs typeface="Arial"/>
              </a:rPr>
              <a:t>the </a:t>
            </a:r>
            <a:r>
              <a:rPr sz="2400" spc="-5" dirty="0">
                <a:solidFill>
                  <a:srgbClr val="003366"/>
                </a:solidFill>
                <a:latin typeface="Arial"/>
                <a:cs typeface="Arial"/>
              </a:rPr>
              <a:t>characteristics </a:t>
            </a:r>
            <a:r>
              <a:rPr sz="2400" dirty="0">
                <a:solidFill>
                  <a:srgbClr val="003366"/>
                </a:solidFill>
                <a:latin typeface="Arial"/>
                <a:cs typeface="Arial"/>
              </a:rPr>
              <a:t>of </a:t>
            </a:r>
            <a:r>
              <a:rPr sz="2400" spc="-5" dirty="0">
                <a:solidFill>
                  <a:srgbClr val="003366"/>
                </a:solidFill>
                <a:latin typeface="Arial"/>
                <a:cs typeface="Arial"/>
              </a:rPr>
              <a:t>and compute  probabilities using </a:t>
            </a:r>
            <a:r>
              <a:rPr sz="2400" dirty="0">
                <a:solidFill>
                  <a:srgbClr val="003366"/>
                </a:solidFill>
                <a:latin typeface="Arial"/>
                <a:cs typeface="Arial"/>
              </a:rPr>
              <a:t>the </a:t>
            </a:r>
            <a:r>
              <a:rPr sz="2400" i="1" spc="-5" dirty="0">
                <a:solidFill>
                  <a:srgbClr val="33CCCC"/>
                </a:solidFill>
                <a:latin typeface="Arial"/>
                <a:cs typeface="Arial"/>
              </a:rPr>
              <a:t>Poisson probability  distribution</a:t>
            </a:r>
            <a:endParaRPr sz="2400">
              <a:latin typeface="Arial"/>
              <a:cs typeface="Arial"/>
            </a:endParaRPr>
          </a:p>
          <a:p>
            <a:pPr marL="545465" marR="5080" indent="-533400">
              <a:lnSpc>
                <a:spcPct val="80000"/>
              </a:lnSpc>
              <a:spcBef>
                <a:spcPts val="580"/>
              </a:spcBef>
              <a:buSzPct val="75000"/>
              <a:buAutoNum type="arabicPeriod" startAt="3"/>
              <a:tabLst>
                <a:tab pos="545465" algn="l"/>
                <a:tab pos="546100" algn="l"/>
              </a:tabLst>
            </a:pPr>
            <a:r>
              <a:rPr sz="2400" spc="-5" dirty="0">
                <a:solidFill>
                  <a:srgbClr val="003366"/>
                </a:solidFill>
                <a:latin typeface="Arial"/>
                <a:cs typeface="Arial"/>
              </a:rPr>
              <a:t>Describe </a:t>
            </a:r>
            <a:r>
              <a:rPr sz="2400" dirty="0">
                <a:solidFill>
                  <a:srgbClr val="003366"/>
                </a:solidFill>
                <a:latin typeface="Arial"/>
                <a:cs typeface="Arial"/>
              </a:rPr>
              <a:t>the </a:t>
            </a:r>
            <a:r>
              <a:rPr sz="2400" spc="-5" dirty="0">
                <a:solidFill>
                  <a:srgbClr val="003366"/>
                </a:solidFill>
                <a:latin typeface="Arial"/>
                <a:cs typeface="Arial"/>
              </a:rPr>
              <a:t>characteristics </a:t>
            </a:r>
            <a:r>
              <a:rPr sz="2400" dirty="0">
                <a:solidFill>
                  <a:srgbClr val="003366"/>
                </a:solidFill>
                <a:latin typeface="Arial"/>
                <a:cs typeface="Arial"/>
              </a:rPr>
              <a:t>of </a:t>
            </a:r>
            <a:r>
              <a:rPr sz="2400" spc="-5" dirty="0">
                <a:solidFill>
                  <a:srgbClr val="003366"/>
                </a:solidFill>
                <a:latin typeface="Arial"/>
                <a:cs typeface="Arial"/>
              </a:rPr>
              <a:t>and compute  probabilities using </a:t>
            </a:r>
            <a:r>
              <a:rPr sz="2400" dirty="0">
                <a:solidFill>
                  <a:srgbClr val="003366"/>
                </a:solidFill>
                <a:latin typeface="Arial"/>
                <a:cs typeface="Arial"/>
              </a:rPr>
              <a:t>the </a:t>
            </a:r>
            <a:r>
              <a:rPr sz="2400" i="1" spc="-5" dirty="0">
                <a:solidFill>
                  <a:srgbClr val="33CCCC"/>
                </a:solidFill>
                <a:latin typeface="Arial"/>
                <a:cs typeface="Arial"/>
              </a:rPr>
              <a:t>–ve binomial and geometric  probability</a:t>
            </a:r>
            <a:r>
              <a:rPr sz="2400" i="1" spc="35" dirty="0">
                <a:solidFill>
                  <a:srgbClr val="33CCCC"/>
                </a:solidFill>
                <a:latin typeface="Arial"/>
                <a:cs typeface="Arial"/>
              </a:rPr>
              <a:t> </a:t>
            </a:r>
            <a:r>
              <a:rPr sz="2400" i="1" spc="-5" dirty="0">
                <a:solidFill>
                  <a:srgbClr val="33CCCC"/>
                </a:solidFill>
                <a:latin typeface="Arial"/>
                <a:cs typeface="Arial"/>
              </a:rPr>
              <a:t>distribution.</a:t>
            </a:r>
            <a:endParaRPr sz="2400">
              <a:latin typeface="Arial"/>
              <a:cs typeface="Arial"/>
            </a:endParaRPr>
          </a:p>
        </p:txBody>
      </p:sp>
      <p:sp>
        <p:nvSpPr>
          <p:cNvPr id="4" name="object 4"/>
          <p:cNvSpPr txBox="1">
            <a:spLocks noGrp="1"/>
          </p:cNvSpPr>
          <p:nvPr>
            <p:ph type="title"/>
          </p:nvPr>
        </p:nvSpPr>
        <p:spPr>
          <a:xfrm>
            <a:off x="556058" y="675513"/>
            <a:ext cx="1651635" cy="574040"/>
          </a:xfrm>
          <a:prstGeom prst="rect">
            <a:avLst/>
          </a:prstGeom>
        </p:spPr>
        <p:txBody>
          <a:bodyPr vert="horz" wrap="square" lIns="0" tIns="12700" rIns="0" bIns="0" rtlCol="0">
            <a:spAutoFit/>
          </a:bodyPr>
          <a:lstStyle/>
          <a:p>
            <a:pPr marL="12700">
              <a:spcBef>
                <a:spcPts val="100"/>
              </a:spcBef>
            </a:pPr>
            <a:r>
              <a:rPr sz="3600" dirty="0"/>
              <a:t>GOALS</a:t>
            </a:r>
            <a:endParaRPr sz="360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0358" y="694690"/>
            <a:ext cx="7491095" cy="574040"/>
          </a:xfrm>
          <a:prstGeom prst="rect">
            <a:avLst/>
          </a:prstGeom>
        </p:spPr>
        <p:txBody>
          <a:bodyPr vert="horz" wrap="square" lIns="0" tIns="12700" rIns="0" bIns="0" rtlCol="0">
            <a:spAutoFit/>
          </a:bodyPr>
          <a:lstStyle/>
          <a:p>
            <a:pPr marL="12700">
              <a:spcBef>
                <a:spcPts val="100"/>
              </a:spcBef>
            </a:pPr>
            <a:r>
              <a:rPr sz="3600" dirty="0"/>
              <a:t>What is </a:t>
            </a:r>
            <a:r>
              <a:rPr sz="3600" spc="-5" dirty="0"/>
              <a:t>a Probability Distribution?</a:t>
            </a:r>
            <a:endParaRPr sz="3600"/>
          </a:p>
        </p:txBody>
      </p:sp>
      <p:sp>
        <p:nvSpPr>
          <p:cNvPr id="3" name="object 3"/>
          <p:cNvSpPr txBox="1"/>
          <p:nvPr/>
        </p:nvSpPr>
        <p:spPr>
          <a:xfrm>
            <a:off x="1012344" y="3061462"/>
            <a:ext cx="2552065" cy="3380104"/>
          </a:xfrm>
          <a:prstGeom prst="rect">
            <a:avLst/>
          </a:prstGeom>
        </p:spPr>
        <p:txBody>
          <a:bodyPr vert="horz" wrap="square" lIns="0" tIns="13335" rIns="0" bIns="0" rtlCol="0">
            <a:spAutoFit/>
          </a:bodyPr>
          <a:lstStyle/>
          <a:p>
            <a:pPr marL="12700">
              <a:spcBef>
                <a:spcPts val="105"/>
              </a:spcBef>
            </a:pPr>
            <a:r>
              <a:rPr sz="2000" dirty="0">
                <a:solidFill>
                  <a:srgbClr val="003366"/>
                </a:solidFill>
                <a:latin typeface="Arial"/>
                <a:cs typeface="Arial"/>
              </a:rPr>
              <a:t>Experiment:</a:t>
            </a:r>
            <a:endParaRPr sz="2000">
              <a:latin typeface="Arial"/>
              <a:cs typeface="Arial"/>
            </a:endParaRPr>
          </a:p>
          <a:p>
            <a:pPr marL="12700" marR="5080"/>
            <a:r>
              <a:rPr sz="2000" spc="-55" dirty="0">
                <a:solidFill>
                  <a:srgbClr val="003366"/>
                </a:solidFill>
                <a:latin typeface="Arial"/>
                <a:cs typeface="Arial"/>
              </a:rPr>
              <a:t>Toss </a:t>
            </a:r>
            <a:r>
              <a:rPr sz="2000" dirty="0">
                <a:solidFill>
                  <a:srgbClr val="003366"/>
                </a:solidFill>
                <a:latin typeface="Arial"/>
                <a:cs typeface="Arial"/>
              </a:rPr>
              <a:t>a coin three  times. Observe the  number of heads. The  possible results are:  zero heads, one</a:t>
            </a:r>
            <a:r>
              <a:rPr sz="2000" spc="-125" dirty="0">
                <a:solidFill>
                  <a:srgbClr val="003366"/>
                </a:solidFill>
                <a:latin typeface="Arial"/>
                <a:cs typeface="Arial"/>
              </a:rPr>
              <a:t> </a:t>
            </a:r>
            <a:r>
              <a:rPr sz="2000" dirty="0">
                <a:solidFill>
                  <a:srgbClr val="003366"/>
                </a:solidFill>
                <a:latin typeface="Arial"/>
                <a:cs typeface="Arial"/>
              </a:rPr>
              <a:t>head,  two heads, and three  heads.</a:t>
            </a:r>
            <a:endParaRPr sz="2000">
              <a:latin typeface="Arial"/>
              <a:cs typeface="Arial"/>
            </a:endParaRPr>
          </a:p>
          <a:p>
            <a:pPr marL="12700" marR="33020">
              <a:spcBef>
                <a:spcPts val="5"/>
              </a:spcBef>
            </a:pPr>
            <a:r>
              <a:rPr sz="2000" dirty="0">
                <a:solidFill>
                  <a:srgbClr val="003366"/>
                </a:solidFill>
                <a:latin typeface="Arial"/>
                <a:cs typeface="Arial"/>
              </a:rPr>
              <a:t>What is the</a:t>
            </a:r>
            <a:r>
              <a:rPr sz="2000" spc="-125" dirty="0">
                <a:solidFill>
                  <a:srgbClr val="003366"/>
                </a:solidFill>
                <a:latin typeface="Arial"/>
                <a:cs typeface="Arial"/>
              </a:rPr>
              <a:t> </a:t>
            </a:r>
            <a:r>
              <a:rPr sz="2000" dirty="0">
                <a:solidFill>
                  <a:srgbClr val="003366"/>
                </a:solidFill>
                <a:latin typeface="Arial"/>
                <a:cs typeface="Arial"/>
              </a:rPr>
              <a:t>probability  distribution for the  number of</a:t>
            </a:r>
            <a:r>
              <a:rPr sz="2000" spc="-65" dirty="0">
                <a:solidFill>
                  <a:srgbClr val="003366"/>
                </a:solidFill>
                <a:latin typeface="Arial"/>
                <a:cs typeface="Arial"/>
              </a:rPr>
              <a:t> </a:t>
            </a:r>
            <a:r>
              <a:rPr sz="2000" dirty="0">
                <a:solidFill>
                  <a:srgbClr val="003366"/>
                </a:solidFill>
                <a:latin typeface="Arial"/>
                <a:cs typeface="Arial"/>
              </a:rPr>
              <a:t>heads?</a:t>
            </a:r>
            <a:endParaRPr sz="2000">
              <a:latin typeface="Arial"/>
              <a:cs typeface="Arial"/>
            </a:endParaRPr>
          </a:p>
        </p:txBody>
      </p:sp>
      <p:sp>
        <p:nvSpPr>
          <p:cNvPr id="4" name="object 4"/>
          <p:cNvSpPr/>
          <p:nvPr/>
        </p:nvSpPr>
        <p:spPr>
          <a:xfrm>
            <a:off x="838200" y="2001011"/>
            <a:ext cx="7694676" cy="733044"/>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3822191" y="3177539"/>
            <a:ext cx="5076444" cy="2816352"/>
          </a:xfrm>
          <a:prstGeom prst="rect">
            <a:avLst/>
          </a:prstGeom>
          <a:blipFill>
            <a:blip r:embed="rId3" cstate="print"/>
            <a:stretch>
              <a:fillRect/>
            </a:stretch>
          </a:blipFill>
        </p:spPr>
        <p:txBody>
          <a:bodyPr wrap="square" lIns="0" tIns="0" rIns="0" bIns="0" rtlCol="0"/>
          <a:lstStyle/>
          <a:p>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864"/>
              </a:lnSpc>
            </a:pPr>
            <a:fld id="{81D60167-4931-47E6-BA6A-407CBD079E47}" type="slidenum">
              <a:rPr spc="-5" dirty="0"/>
              <a:pPr marL="38100">
                <a:lnSpc>
                  <a:spcPts val="1864"/>
                </a:lnSpc>
              </a:pPr>
              <a:t>4</a:t>
            </a:fld>
            <a:endParaRPr spc="-5"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1814" y="316180"/>
            <a:ext cx="10408377" cy="966290"/>
          </a:xfrm>
          <a:prstGeom prst="rect">
            <a:avLst/>
          </a:prstGeom>
        </p:spPr>
        <p:txBody>
          <a:bodyPr vert="horz" wrap="square" lIns="0" tIns="67945" rIns="0" bIns="0" rtlCol="0">
            <a:spAutoFit/>
          </a:bodyPr>
          <a:lstStyle/>
          <a:p>
            <a:pPr marL="13970" marR="5080">
              <a:lnSpc>
                <a:spcPts val="3460"/>
              </a:lnSpc>
              <a:spcBef>
                <a:spcPts val="535"/>
              </a:spcBef>
            </a:pPr>
            <a:r>
              <a:rPr sz="3200" dirty="0"/>
              <a:t>Probability Distribution of Number of  Heads Observed in 3 </a:t>
            </a:r>
            <a:r>
              <a:rPr sz="3200" spc="-5" dirty="0"/>
              <a:t>Tosses </a:t>
            </a:r>
            <a:r>
              <a:rPr sz="3200" dirty="0"/>
              <a:t>of a</a:t>
            </a:r>
            <a:r>
              <a:rPr sz="3200" spc="-180" dirty="0"/>
              <a:t> </a:t>
            </a:r>
            <a:r>
              <a:rPr sz="3200" dirty="0"/>
              <a:t>Coin</a:t>
            </a:r>
            <a:endParaRPr sz="3200"/>
          </a:p>
        </p:txBody>
      </p:sp>
      <p:sp>
        <p:nvSpPr>
          <p:cNvPr id="3" name="object 3"/>
          <p:cNvSpPr/>
          <p:nvPr/>
        </p:nvSpPr>
        <p:spPr>
          <a:xfrm>
            <a:off x="1086611" y="2095500"/>
            <a:ext cx="7676388" cy="4200144"/>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64"/>
              </a:lnSpc>
            </a:pPr>
            <a:fld id="{81D60167-4931-47E6-BA6A-407CBD079E47}" type="slidenum">
              <a:rPr spc="-5" dirty="0"/>
              <a:pPr marL="38100">
                <a:lnSpc>
                  <a:spcPts val="1864"/>
                </a:lnSpc>
              </a:pPr>
              <a:t>5</a:t>
            </a:fld>
            <a:endParaRPr spc="-5"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70358" y="316179"/>
            <a:ext cx="6005195" cy="966290"/>
          </a:xfrm>
          <a:prstGeom prst="rect">
            <a:avLst/>
          </a:prstGeom>
        </p:spPr>
        <p:txBody>
          <a:bodyPr vert="horz" wrap="square" lIns="0" tIns="67945" rIns="0" bIns="0" rtlCol="0">
            <a:spAutoFit/>
          </a:bodyPr>
          <a:lstStyle/>
          <a:p>
            <a:pPr marL="12700" marR="5080">
              <a:lnSpc>
                <a:spcPts val="3460"/>
              </a:lnSpc>
              <a:spcBef>
                <a:spcPts val="535"/>
              </a:spcBef>
            </a:pPr>
            <a:r>
              <a:rPr sz="3200" b="1" spc="-5" dirty="0">
                <a:solidFill>
                  <a:srgbClr val="006666"/>
                </a:solidFill>
                <a:latin typeface="Arial"/>
                <a:cs typeface="Arial"/>
              </a:rPr>
              <a:t>Characteristics </a:t>
            </a:r>
            <a:r>
              <a:rPr sz="3200" b="1" dirty="0">
                <a:solidFill>
                  <a:srgbClr val="006666"/>
                </a:solidFill>
                <a:latin typeface="Arial"/>
                <a:cs typeface="Arial"/>
              </a:rPr>
              <a:t>of a</a:t>
            </a:r>
            <a:r>
              <a:rPr sz="3200" b="1" spc="-85" dirty="0">
                <a:solidFill>
                  <a:srgbClr val="006666"/>
                </a:solidFill>
                <a:latin typeface="Arial"/>
                <a:cs typeface="Arial"/>
              </a:rPr>
              <a:t> </a:t>
            </a:r>
            <a:r>
              <a:rPr sz="3200" b="1" dirty="0">
                <a:solidFill>
                  <a:srgbClr val="006666"/>
                </a:solidFill>
                <a:latin typeface="Arial"/>
                <a:cs typeface="Arial"/>
              </a:rPr>
              <a:t>Probability  Distribution</a:t>
            </a:r>
            <a:endParaRPr sz="32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864"/>
              </a:lnSpc>
            </a:pPr>
            <a:fld id="{81D60167-4931-47E6-BA6A-407CBD079E47}" type="slidenum">
              <a:rPr spc="-5" dirty="0"/>
              <a:pPr marL="38100">
                <a:lnSpc>
                  <a:spcPts val="1864"/>
                </a:lnSpc>
              </a:pPr>
              <a:t>6</a:t>
            </a:fld>
            <a:endParaRPr spc="-5" dirty="0"/>
          </a:p>
        </p:txBody>
      </p:sp>
      <p:sp>
        <p:nvSpPr>
          <p:cNvPr id="3" name="object 3"/>
          <p:cNvSpPr txBox="1">
            <a:spLocks noGrp="1"/>
          </p:cNvSpPr>
          <p:nvPr>
            <p:ph type="body" idx="1"/>
          </p:nvPr>
        </p:nvSpPr>
        <p:spPr>
          <a:xfrm>
            <a:off x="639878" y="1895338"/>
            <a:ext cx="8123122" cy="1674817"/>
          </a:xfrm>
          <a:prstGeom prst="rect">
            <a:avLst/>
          </a:prstGeom>
        </p:spPr>
        <p:txBody>
          <a:bodyPr vert="horz" wrap="square" lIns="0" tIns="12700" rIns="0" bIns="0" rtlCol="0">
            <a:spAutoFit/>
          </a:bodyPr>
          <a:lstStyle/>
          <a:p>
            <a:pPr marL="927100" marR="5080" indent="-915035">
              <a:spcBef>
                <a:spcPts val="100"/>
              </a:spcBef>
            </a:pPr>
            <a:r>
              <a:rPr dirty="0"/>
              <a:t>1. The probability of a particular  </a:t>
            </a:r>
            <a:r>
              <a:rPr spc="-5" dirty="0"/>
              <a:t>outcome is between 0 and 1  </a:t>
            </a:r>
            <a:r>
              <a:rPr dirty="0"/>
              <a:t>inclusive.</a:t>
            </a:r>
          </a:p>
        </p:txBody>
      </p:sp>
      <p:sp>
        <p:nvSpPr>
          <p:cNvPr id="4" name="object 4"/>
          <p:cNvSpPr txBox="1"/>
          <p:nvPr/>
        </p:nvSpPr>
        <p:spPr>
          <a:xfrm>
            <a:off x="893165" y="3568067"/>
            <a:ext cx="7519670" cy="2769235"/>
          </a:xfrm>
          <a:prstGeom prst="rect">
            <a:avLst/>
          </a:prstGeom>
        </p:spPr>
        <p:txBody>
          <a:bodyPr vert="horz" wrap="square" lIns="0" tIns="12700" rIns="0" bIns="0" rtlCol="0">
            <a:spAutoFit/>
          </a:bodyPr>
          <a:lstStyle/>
          <a:p>
            <a:pPr marL="513080" marR="1482090" indent="-513080">
              <a:spcBef>
                <a:spcPts val="100"/>
              </a:spcBef>
              <a:buAutoNum type="arabicPeriod" startAt="2"/>
              <a:tabLst>
                <a:tab pos="513080" algn="l"/>
              </a:tabLst>
            </a:pPr>
            <a:r>
              <a:rPr sz="3600" spc="-5" dirty="0">
                <a:solidFill>
                  <a:srgbClr val="003366"/>
                </a:solidFill>
                <a:latin typeface="Arial"/>
                <a:cs typeface="Arial"/>
              </a:rPr>
              <a:t>The </a:t>
            </a:r>
            <a:r>
              <a:rPr sz="3600" dirty="0">
                <a:solidFill>
                  <a:srgbClr val="003366"/>
                </a:solidFill>
                <a:latin typeface="Arial"/>
                <a:cs typeface="Arial"/>
              </a:rPr>
              <a:t>outcomes </a:t>
            </a:r>
            <a:r>
              <a:rPr sz="3600" spc="-5" dirty="0">
                <a:solidFill>
                  <a:srgbClr val="003366"/>
                </a:solidFill>
                <a:latin typeface="Arial"/>
                <a:cs typeface="Arial"/>
              </a:rPr>
              <a:t>are</a:t>
            </a:r>
            <a:r>
              <a:rPr sz="3600" spc="-60" dirty="0">
                <a:solidFill>
                  <a:srgbClr val="003366"/>
                </a:solidFill>
                <a:latin typeface="Arial"/>
                <a:cs typeface="Arial"/>
              </a:rPr>
              <a:t> </a:t>
            </a:r>
            <a:r>
              <a:rPr sz="3600" dirty="0">
                <a:solidFill>
                  <a:srgbClr val="003366"/>
                </a:solidFill>
                <a:latin typeface="Arial"/>
                <a:cs typeface="Arial"/>
              </a:rPr>
              <a:t>mutually  exclusive</a:t>
            </a:r>
            <a:r>
              <a:rPr sz="3600" spc="-25" dirty="0">
                <a:solidFill>
                  <a:srgbClr val="003366"/>
                </a:solidFill>
                <a:latin typeface="Arial"/>
                <a:cs typeface="Arial"/>
              </a:rPr>
              <a:t> </a:t>
            </a:r>
            <a:r>
              <a:rPr sz="3600" dirty="0">
                <a:solidFill>
                  <a:srgbClr val="003366"/>
                </a:solidFill>
                <a:latin typeface="Arial"/>
                <a:cs typeface="Arial"/>
              </a:rPr>
              <a:t>events.</a:t>
            </a:r>
            <a:endParaRPr sz="3600" dirty="0">
              <a:latin typeface="Arial"/>
              <a:cs typeface="Arial"/>
            </a:endParaRPr>
          </a:p>
          <a:p>
            <a:pPr marL="512445" indent="-500380">
              <a:buAutoNum type="arabicPeriod" startAt="2"/>
              <a:tabLst>
                <a:tab pos="513080" algn="l"/>
              </a:tabLst>
            </a:pPr>
            <a:r>
              <a:rPr sz="3600" spc="-5" dirty="0">
                <a:solidFill>
                  <a:srgbClr val="003366"/>
                </a:solidFill>
                <a:latin typeface="Arial"/>
                <a:cs typeface="Arial"/>
              </a:rPr>
              <a:t>The </a:t>
            </a:r>
            <a:r>
              <a:rPr sz="3600" dirty="0">
                <a:solidFill>
                  <a:srgbClr val="003366"/>
                </a:solidFill>
                <a:latin typeface="Arial"/>
                <a:cs typeface="Arial"/>
              </a:rPr>
              <a:t>list </a:t>
            </a:r>
            <a:r>
              <a:rPr sz="3600" spc="-5" dirty="0">
                <a:solidFill>
                  <a:srgbClr val="003366"/>
                </a:solidFill>
                <a:latin typeface="Arial"/>
                <a:cs typeface="Arial"/>
              </a:rPr>
              <a:t>is </a:t>
            </a:r>
            <a:r>
              <a:rPr sz="3600" dirty="0">
                <a:solidFill>
                  <a:srgbClr val="003366"/>
                </a:solidFill>
                <a:latin typeface="Arial"/>
                <a:cs typeface="Arial"/>
              </a:rPr>
              <a:t>exhaustive. The</a:t>
            </a:r>
            <a:r>
              <a:rPr sz="3600" spc="-100" dirty="0">
                <a:solidFill>
                  <a:srgbClr val="003366"/>
                </a:solidFill>
                <a:latin typeface="Arial"/>
                <a:cs typeface="Arial"/>
              </a:rPr>
              <a:t> </a:t>
            </a:r>
            <a:r>
              <a:rPr sz="3600" dirty="0">
                <a:solidFill>
                  <a:srgbClr val="003366"/>
                </a:solidFill>
                <a:latin typeface="Arial"/>
                <a:cs typeface="Arial"/>
              </a:rPr>
              <a:t>sum</a:t>
            </a:r>
            <a:endParaRPr sz="3600" dirty="0">
              <a:latin typeface="Arial"/>
              <a:cs typeface="Arial"/>
            </a:endParaRPr>
          </a:p>
          <a:p>
            <a:pPr marL="927100" marR="5080"/>
            <a:r>
              <a:rPr sz="3600" dirty="0">
                <a:solidFill>
                  <a:srgbClr val="003366"/>
                </a:solidFill>
                <a:latin typeface="Arial"/>
                <a:cs typeface="Arial"/>
              </a:rPr>
              <a:t>of </a:t>
            </a:r>
            <a:r>
              <a:rPr sz="3600" spc="-10" dirty="0">
                <a:solidFill>
                  <a:srgbClr val="003366"/>
                </a:solidFill>
                <a:latin typeface="Arial"/>
                <a:cs typeface="Arial"/>
              </a:rPr>
              <a:t>the </a:t>
            </a:r>
            <a:r>
              <a:rPr sz="3600" dirty="0">
                <a:solidFill>
                  <a:srgbClr val="003366"/>
                </a:solidFill>
                <a:latin typeface="Arial"/>
                <a:cs typeface="Arial"/>
              </a:rPr>
              <a:t>probabilities of </a:t>
            </a:r>
            <a:r>
              <a:rPr sz="3600" spc="-10" dirty="0">
                <a:solidFill>
                  <a:srgbClr val="003366"/>
                </a:solidFill>
                <a:latin typeface="Arial"/>
                <a:cs typeface="Arial"/>
              </a:rPr>
              <a:t>the</a:t>
            </a:r>
            <a:r>
              <a:rPr sz="3600" spc="-70" dirty="0">
                <a:solidFill>
                  <a:srgbClr val="003366"/>
                </a:solidFill>
                <a:latin typeface="Arial"/>
                <a:cs typeface="Arial"/>
              </a:rPr>
              <a:t> </a:t>
            </a:r>
            <a:r>
              <a:rPr sz="3600" dirty="0">
                <a:solidFill>
                  <a:srgbClr val="003366"/>
                </a:solidFill>
                <a:latin typeface="Arial"/>
                <a:cs typeface="Arial"/>
              </a:rPr>
              <a:t>various  events is equal to</a:t>
            </a:r>
            <a:r>
              <a:rPr sz="3600" spc="-50" dirty="0">
                <a:solidFill>
                  <a:srgbClr val="003366"/>
                </a:solidFill>
                <a:latin typeface="Arial"/>
                <a:cs typeface="Arial"/>
              </a:rPr>
              <a:t> </a:t>
            </a:r>
            <a:r>
              <a:rPr sz="3600" dirty="0">
                <a:solidFill>
                  <a:srgbClr val="003366"/>
                </a:solidFill>
                <a:latin typeface="Arial"/>
                <a:cs typeface="Arial"/>
              </a:rPr>
              <a:t>1.</a:t>
            </a:r>
            <a:endParaRPr sz="3600" dirty="0">
              <a:latin typeface="Arial"/>
              <a:cs typeface="Aria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7620000" cy="6858000"/>
            <a:chOff x="0" y="0"/>
            <a:chExt cx="7620000" cy="6858000"/>
          </a:xfrm>
        </p:grpSpPr>
        <p:sp>
          <p:nvSpPr>
            <p:cNvPr id="3" name="object 3"/>
            <p:cNvSpPr/>
            <p:nvPr/>
          </p:nvSpPr>
          <p:spPr>
            <a:xfrm>
              <a:off x="0" y="0"/>
              <a:ext cx="3886200" cy="6858000"/>
            </a:xfrm>
            <a:custGeom>
              <a:avLst/>
              <a:gdLst/>
              <a:ahLst/>
              <a:cxnLst/>
              <a:rect l="l" t="t" r="r" b="b"/>
              <a:pathLst>
                <a:path w="3886200" h="6858000">
                  <a:moveTo>
                    <a:pt x="3886200" y="0"/>
                  </a:moveTo>
                  <a:lnTo>
                    <a:pt x="457200" y="0"/>
                  </a:lnTo>
                  <a:lnTo>
                    <a:pt x="0" y="0"/>
                  </a:lnTo>
                  <a:lnTo>
                    <a:pt x="0" y="685800"/>
                  </a:lnTo>
                  <a:lnTo>
                    <a:pt x="0" y="6858000"/>
                  </a:lnTo>
                  <a:lnTo>
                    <a:pt x="457200" y="6858000"/>
                  </a:lnTo>
                  <a:lnTo>
                    <a:pt x="457200" y="564654"/>
                  </a:lnTo>
                  <a:lnTo>
                    <a:pt x="463283" y="557022"/>
                  </a:lnTo>
                  <a:lnTo>
                    <a:pt x="501510" y="524471"/>
                  </a:lnTo>
                  <a:lnTo>
                    <a:pt x="553237" y="495427"/>
                  </a:lnTo>
                  <a:lnTo>
                    <a:pt x="622109" y="472732"/>
                  </a:lnTo>
                  <a:lnTo>
                    <a:pt x="659180" y="463613"/>
                  </a:lnTo>
                  <a:lnTo>
                    <a:pt x="796124" y="447929"/>
                  </a:lnTo>
                  <a:lnTo>
                    <a:pt x="854608" y="449707"/>
                  </a:lnTo>
                  <a:lnTo>
                    <a:pt x="3886200" y="447929"/>
                  </a:lnTo>
                  <a:lnTo>
                    <a:pt x="3886200" y="0"/>
                  </a:lnTo>
                  <a:close/>
                </a:path>
              </a:pathLst>
            </a:custGeom>
            <a:solidFill>
              <a:srgbClr val="99CC99"/>
            </a:solidFill>
          </p:spPr>
          <p:txBody>
            <a:bodyPr wrap="square" lIns="0" tIns="0" rIns="0" bIns="0" rtlCol="0"/>
            <a:lstStyle/>
            <a:p>
              <a:endParaRPr/>
            </a:p>
          </p:txBody>
        </p:sp>
        <p:sp>
          <p:nvSpPr>
            <p:cNvPr id="4" name="object 4"/>
            <p:cNvSpPr/>
            <p:nvPr/>
          </p:nvSpPr>
          <p:spPr>
            <a:xfrm>
              <a:off x="228600" y="1371599"/>
              <a:ext cx="7391400" cy="318770"/>
            </a:xfrm>
            <a:custGeom>
              <a:avLst/>
              <a:gdLst/>
              <a:ahLst/>
              <a:cxnLst/>
              <a:rect l="l" t="t" r="r" b="b"/>
              <a:pathLst>
                <a:path w="7391400" h="318769">
                  <a:moveTo>
                    <a:pt x="7391400" y="0"/>
                  </a:moveTo>
                  <a:lnTo>
                    <a:pt x="393192" y="0"/>
                  </a:lnTo>
                  <a:lnTo>
                    <a:pt x="381000" y="0"/>
                  </a:lnTo>
                  <a:lnTo>
                    <a:pt x="196596" y="0"/>
                  </a:lnTo>
                  <a:lnTo>
                    <a:pt x="144322" y="5689"/>
                  </a:lnTo>
                  <a:lnTo>
                    <a:pt x="97370" y="21742"/>
                  </a:lnTo>
                  <a:lnTo>
                    <a:pt x="57581" y="46634"/>
                  </a:lnTo>
                  <a:lnTo>
                    <a:pt x="26835" y="78854"/>
                  </a:lnTo>
                  <a:lnTo>
                    <a:pt x="7010" y="116903"/>
                  </a:lnTo>
                  <a:lnTo>
                    <a:pt x="0" y="159258"/>
                  </a:lnTo>
                  <a:lnTo>
                    <a:pt x="7010" y="201625"/>
                  </a:lnTo>
                  <a:lnTo>
                    <a:pt x="26835" y="239674"/>
                  </a:lnTo>
                  <a:lnTo>
                    <a:pt x="57581" y="271894"/>
                  </a:lnTo>
                  <a:lnTo>
                    <a:pt x="97370" y="296786"/>
                  </a:lnTo>
                  <a:lnTo>
                    <a:pt x="144322" y="312839"/>
                  </a:lnTo>
                  <a:lnTo>
                    <a:pt x="196596" y="318516"/>
                  </a:lnTo>
                  <a:lnTo>
                    <a:pt x="393192" y="318516"/>
                  </a:lnTo>
                  <a:lnTo>
                    <a:pt x="393192" y="316992"/>
                  </a:lnTo>
                  <a:lnTo>
                    <a:pt x="7391400" y="316992"/>
                  </a:lnTo>
                  <a:lnTo>
                    <a:pt x="7391400" y="0"/>
                  </a:lnTo>
                  <a:close/>
                </a:path>
              </a:pathLst>
            </a:custGeom>
            <a:solidFill>
              <a:srgbClr val="003366"/>
            </a:solidFill>
          </p:spPr>
          <p:txBody>
            <a:bodyPr wrap="square" lIns="0" tIns="0" rIns="0" bIns="0" rtlCol="0"/>
            <a:lstStyle/>
            <a:p>
              <a:endParaRPr/>
            </a:p>
          </p:txBody>
        </p:sp>
      </p:grpSp>
      <p:sp>
        <p:nvSpPr>
          <p:cNvPr id="5" name="object 5"/>
          <p:cNvSpPr txBox="1"/>
          <p:nvPr/>
        </p:nvSpPr>
        <p:spPr>
          <a:xfrm>
            <a:off x="612751" y="588009"/>
            <a:ext cx="4016375" cy="574040"/>
          </a:xfrm>
          <a:prstGeom prst="rect">
            <a:avLst/>
          </a:prstGeom>
        </p:spPr>
        <p:txBody>
          <a:bodyPr vert="horz" wrap="square" lIns="0" tIns="12700" rIns="0" bIns="0" rtlCol="0">
            <a:spAutoFit/>
          </a:bodyPr>
          <a:lstStyle/>
          <a:p>
            <a:pPr marL="12700">
              <a:spcBef>
                <a:spcPts val="100"/>
              </a:spcBef>
            </a:pPr>
            <a:r>
              <a:rPr sz="3600" b="1" dirty="0">
                <a:solidFill>
                  <a:srgbClr val="006666"/>
                </a:solidFill>
                <a:latin typeface="Arial"/>
                <a:cs typeface="Arial"/>
              </a:rPr>
              <a:t>Random</a:t>
            </a:r>
            <a:r>
              <a:rPr sz="3600" b="1" spc="-85" dirty="0">
                <a:solidFill>
                  <a:srgbClr val="006666"/>
                </a:solidFill>
                <a:latin typeface="Arial"/>
                <a:cs typeface="Arial"/>
              </a:rPr>
              <a:t> </a:t>
            </a:r>
            <a:r>
              <a:rPr sz="3600" b="1" dirty="0">
                <a:solidFill>
                  <a:srgbClr val="006666"/>
                </a:solidFill>
                <a:latin typeface="Arial"/>
                <a:cs typeface="Arial"/>
              </a:rPr>
              <a:t>Variables</a:t>
            </a:r>
            <a:endParaRPr sz="3600">
              <a:latin typeface="Arial"/>
              <a:cs typeface="Arial"/>
            </a:endParaRPr>
          </a:p>
        </p:txBody>
      </p:sp>
      <p:sp>
        <p:nvSpPr>
          <p:cNvPr id="6" name="object 6"/>
          <p:cNvSpPr txBox="1"/>
          <p:nvPr/>
        </p:nvSpPr>
        <p:spPr>
          <a:xfrm>
            <a:off x="917856" y="1929764"/>
            <a:ext cx="6439535" cy="1305560"/>
          </a:xfrm>
          <a:prstGeom prst="rect">
            <a:avLst/>
          </a:prstGeom>
        </p:spPr>
        <p:txBody>
          <a:bodyPr vert="horz" wrap="square" lIns="0" tIns="12065" rIns="0" bIns="0" rtlCol="0">
            <a:spAutoFit/>
          </a:bodyPr>
          <a:lstStyle/>
          <a:p>
            <a:pPr marL="354965" marR="5080" indent="-342900">
              <a:spcBef>
                <a:spcPts val="95"/>
              </a:spcBef>
              <a:tabLst>
                <a:tab pos="2905125" algn="l"/>
              </a:tabLst>
            </a:pPr>
            <a:r>
              <a:rPr sz="2800" spc="-5" dirty="0">
                <a:solidFill>
                  <a:srgbClr val="33CCCC"/>
                </a:solidFill>
                <a:latin typeface="Arial"/>
                <a:cs typeface="Arial"/>
              </a:rPr>
              <a:t>Random</a:t>
            </a:r>
            <a:r>
              <a:rPr sz="2800" spc="30" dirty="0">
                <a:solidFill>
                  <a:srgbClr val="33CCCC"/>
                </a:solidFill>
                <a:latin typeface="Arial"/>
                <a:cs typeface="Arial"/>
              </a:rPr>
              <a:t> </a:t>
            </a:r>
            <a:r>
              <a:rPr sz="2800" dirty="0">
                <a:solidFill>
                  <a:srgbClr val="33CCCC"/>
                </a:solidFill>
                <a:latin typeface="Arial"/>
                <a:cs typeface="Arial"/>
              </a:rPr>
              <a:t>variable	</a:t>
            </a:r>
            <a:r>
              <a:rPr sz="2800" spc="-5" dirty="0">
                <a:solidFill>
                  <a:srgbClr val="003366"/>
                </a:solidFill>
                <a:latin typeface="Arial"/>
                <a:cs typeface="Arial"/>
              </a:rPr>
              <a:t>:A real valued</a:t>
            </a:r>
            <a:r>
              <a:rPr sz="2800" spc="-35" dirty="0">
                <a:solidFill>
                  <a:srgbClr val="003366"/>
                </a:solidFill>
                <a:latin typeface="Arial"/>
                <a:cs typeface="Arial"/>
              </a:rPr>
              <a:t> </a:t>
            </a:r>
            <a:r>
              <a:rPr sz="2800" dirty="0">
                <a:solidFill>
                  <a:srgbClr val="003366"/>
                </a:solidFill>
                <a:latin typeface="Arial"/>
                <a:cs typeface="Arial"/>
              </a:rPr>
              <a:t>function  </a:t>
            </a:r>
            <a:r>
              <a:rPr sz="2800" spc="-5" dirty="0">
                <a:solidFill>
                  <a:srgbClr val="003366"/>
                </a:solidFill>
                <a:latin typeface="Arial"/>
                <a:cs typeface="Arial"/>
              </a:rPr>
              <a:t>define on sample is called </a:t>
            </a:r>
            <a:r>
              <a:rPr sz="2800" dirty="0">
                <a:solidFill>
                  <a:srgbClr val="003366"/>
                </a:solidFill>
                <a:latin typeface="Arial"/>
                <a:cs typeface="Arial"/>
              </a:rPr>
              <a:t>random  variable.</a:t>
            </a:r>
            <a:r>
              <a:rPr sz="2400" dirty="0">
                <a:solidFill>
                  <a:srgbClr val="003366"/>
                </a:solidFill>
                <a:latin typeface="Arial"/>
                <a:cs typeface="Arial"/>
              </a:rPr>
              <a:t>.</a:t>
            </a:r>
            <a:endParaRPr sz="2400">
              <a:latin typeface="Arial"/>
              <a:cs typeface="Arial"/>
            </a:endParaRPr>
          </a:p>
        </p:txBody>
      </p:sp>
      <p:sp>
        <p:nvSpPr>
          <p:cNvPr id="7" name="object 7"/>
          <p:cNvSpPr/>
          <p:nvPr/>
        </p:nvSpPr>
        <p:spPr>
          <a:xfrm>
            <a:off x="2486786" y="3791711"/>
            <a:ext cx="4962524" cy="2324100"/>
          </a:xfrm>
          <a:prstGeom prst="rect">
            <a:avLst/>
          </a:prstGeom>
          <a:blipFill>
            <a:blip r:embed="rId2" cstate="print"/>
            <a:stretch>
              <a:fillRect/>
            </a:stretch>
          </a:blipFill>
        </p:spPr>
        <p:txBody>
          <a:bodyPr wrap="square" lIns="0" tIns="0" rIns="0" bIns="0" rtlCol="0"/>
          <a:lstStyle/>
          <a:p>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864"/>
              </a:lnSpc>
            </a:pPr>
            <a:fld id="{81D60167-4931-47E6-BA6A-407CBD079E47}" type="slidenum">
              <a:rPr spc="-5" dirty="0"/>
              <a:pPr marL="38100">
                <a:lnSpc>
                  <a:spcPts val="1864"/>
                </a:lnSpc>
              </a:pPr>
              <a:t>7</a:t>
            </a:fld>
            <a:endParaRPr spc="-5"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0358" y="694690"/>
            <a:ext cx="6021705" cy="574040"/>
          </a:xfrm>
          <a:prstGeom prst="rect">
            <a:avLst/>
          </a:prstGeom>
        </p:spPr>
        <p:txBody>
          <a:bodyPr vert="horz" wrap="square" lIns="0" tIns="12700" rIns="0" bIns="0" rtlCol="0">
            <a:spAutoFit/>
          </a:bodyPr>
          <a:lstStyle/>
          <a:p>
            <a:pPr marL="12700">
              <a:spcBef>
                <a:spcPts val="100"/>
              </a:spcBef>
            </a:pPr>
            <a:r>
              <a:rPr sz="3600" spc="-5" dirty="0"/>
              <a:t>Types </a:t>
            </a:r>
            <a:r>
              <a:rPr sz="3600" dirty="0"/>
              <a:t>of Random</a:t>
            </a:r>
            <a:r>
              <a:rPr sz="3600" spc="-70" dirty="0"/>
              <a:t> </a:t>
            </a:r>
            <a:r>
              <a:rPr sz="3600" dirty="0"/>
              <a:t>Variables</a:t>
            </a:r>
            <a:endParaRPr sz="36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64"/>
              </a:lnSpc>
            </a:pPr>
            <a:fld id="{81D60167-4931-47E6-BA6A-407CBD079E47}" type="slidenum">
              <a:rPr spc="-5" dirty="0"/>
              <a:pPr marL="38100">
                <a:lnSpc>
                  <a:spcPts val="1864"/>
                </a:lnSpc>
              </a:pPr>
              <a:t>8</a:t>
            </a:fld>
            <a:endParaRPr spc="-5" dirty="0"/>
          </a:p>
        </p:txBody>
      </p:sp>
      <p:sp>
        <p:nvSpPr>
          <p:cNvPr id="3" name="object 3"/>
          <p:cNvSpPr txBox="1"/>
          <p:nvPr/>
        </p:nvSpPr>
        <p:spPr>
          <a:xfrm>
            <a:off x="917246" y="1929513"/>
            <a:ext cx="7329805" cy="3651641"/>
          </a:xfrm>
          <a:prstGeom prst="rect">
            <a:avLst/>
          </a:prstGeom>
        </p:spPr>
        <p:txBody>
          <a:bodyPr vert="horz" wrap="square" lIns="0" tIns="12065" rIns="0" bIns="0" rtlCol="0">
            <a:spAutoFit/>
          </a:bodyPr>
          <a:lstStyle/>
          <a:p>
            <a:pPr marL="354965" marR="5080" indent="-342900" algn="just">
              <a:spcBef>
                <a:spcPts val="95"/>
              </a:spcBef>
              <a:buClr>
                <a:srgbClr val="003366"/>
              </a:buClr>
              <a:buSzPct val="75000"/>
              <a:buFont typeface="Wingdings"/>
              <a:buChar char=""/>
              <a:tabLst>
                <a:tab pos="355600" algn="l"/>
              </a:tabLst>
            </a:pPr>
            <a:r>
              <a:rPr sz="2800" spc="-5" dirty="0">
                <a:solidFill>
                  <a:srgbClr val="33CCCC"/>
                </a:solidFill>
                <a:latin typeface="Arial"/>
                <a:cs typeface="Arial"/>
              </a:rPr>
              <a:t>Discrete Random Variable </a:t>
            </a:r>
            <a:r>
              <a:rPr sz="2800" spc="-5" dirty="0">
                <a:solidFill>
                  <a:srgbClr val="003366"/>
                </a:solidFill>
                <a:latin typeface="Arial"/>
                <a:cs typeface="Arial"/>
              </a:rPr>
              <a:t>can assume only  </a:t>
            </a:r>
            <a:r>
              <a:rPr sz="2800" dirty="0">
                <a:solidFill>
                  <a:srgbClr val="003366"/>
                </a:solidFill>
                <a:latin typeface="Arial"/>
                <a:cs typeface="Arial"/>
              </a:rPr>
              <a:t>certain clearly </a:t>
            </a:r>
            <a:r>
              <a:rPr sz="2800" spc="-5" dirty="0">
                <a:solidFill>
                  <a:srgbClr val="003366"/>
                </a:solidFill>
                <a:latin typeface="Arial"/>
                <a:cs typeface="Arial"/>
              </a:rPr>
              <a:t>separated </a:t>
            </a:r>
            <a:r>
              <a:rPr sz="2800" dirty="0">
                <a:solidFill>
                  <a:srgbClr val="003366"/>
                </a:solidFill>
                <a:latin typeface="Arial"/>
                <a:cs typeface="Arial"/>
              </a:rPr>
              <a:t>values. </a:t>
            </a:r>
            <a:r>
              <a:rPr sz="2800" spc="-5" dirty="0">
                <a:solidFill>
                  <a:srgbClr val="003366"/>
                </a:solidFill>
                <a:latin typeface="Arial"/>
                <a:cs typeface="Arial"/>
              </a:rPr>
              <a:t>It is </a:t>
            </a:r>
            <a:r>
              <a:rPr sz="2800" dirty="0">
                <a:solidFill>
                  <a:srgbClr val="003366"/>
                </a:solidFill>
                <a:latin typeface="Arial"/>
                <a:cs typeface="Arial"/>
              </a:rPr>
              <a:t>usually  </a:t>
            </a:r>
            <a:r>
              <a:rPr sz="2800" spc="-5" dirty="0">
                <a:solidFill>
                  <a:srgbClr val="003366"/>
                </a:solidFill>
                <a:latin typeface="Arial"/>
                <a:cs typeface="Arial"/>
              </a:rPr>
              <a:t>the </a:t>
            </a:r>
            <a:r>
              <a:rPr sz="2800" dirty="0">
                <a:solidFill>
                  <a:srgbClr val="003366"/>
                </a:solidFill>
                <a:latin typeface="Arial"/>
                <a:cs typeface="Arial"/>
              </a:rPr>
              <a:t>result </a:t>
            </a:r>
            <a:r>
              <a:rPr sz="2800" spc="-5" dirty="0">
                <a:solidFill>
                  <a:srgbClr val="003366"/>
                </a:solidFill>
                <a:latin typeface="Arial"/>
                <a:cs typeface="Arial"/>
              </a:rPr>
              <a:t>of </a:t>
            </a:r>
            <a:r>
              <a:rPr sz="2800" u="heavy" spc="-5" dirty="0">
                <a:solidFill>
                  <a:srgbClr val="003366"/>
                </a:solidFill>
                <a:uFill>
                  <a:solidFill>
                    <a:srgbClr val="003366"/>
                  </a:solidFill>
                </a:uFill>
                <a:latin typeface="Arial"/>
                <a:cs typeface="Arial"/>
              </a:rPr>
              <a:t>counting</a:t>
            </a:r>
            <a:r>
              <a:rPr sz="2800" spc="30" dirty="0">
                <a:solidFill>
                  <a:srgbClr val="003366"/>
                </a:solidFill>
                <a:latin typeface="Arial"/>
                <a:cs typeface="Arial"/>
              </a:rPr>
              <a:t> </a:t>
            </a:r>
            <a:r>
              <a:rPr sz="2800" spc="-5" dirty="0">
                <a:solidFill>
                  <a:srgbClr val="003366"/>
                </a:solidFill>
                <a:latin typeface="Arial"/>
                <a:cs typeface="Arial"/>
              </a:rPr>
              <a:t>something</a:t>
            </a:r>
            <a:endParaRPr sz="2800">
              <a:latin typeface="Arial"/>
              <a:cs typeface="Arial"/>
            </a:endParaRPr>
          </a:p>
          <a:p>
            <a:pPr>
              <a:spcBef>
                <a:spcPts val="45"/>
              </a:spcBef>
              <a:buClr>
                <a:srgbClr val="003366"/>
              </a:buClr>
              <a:buFont typeface="Wingdings"/>
              <a:buChar char=""/>
            </a:pPr>
            <a:endParaRPr sz="4050">
              <a:latin typeface="Arial"/>
              <a:cs typeface="Arial"/>
            </a:endParaRPr>
          </a:p>
          <a:p>
            <a:pPr marL="354965" marR="5080" indent="-342900">
              <a:spcBef>
                <a:spcPts val="5"/>
              </a:spcBef>
              <a:buClr>
                <a:srgbClr val="003366"/>
              </a:buClr>
              <a:buSzPct val="75000"/>
              <a:buFont typeface="Wingdings"/>
              <a:buChar char=""/>
              <a:tabLst>
                <a:tab pos="354965" algn="l"/>
                <a:tab pos="355600" algn="l"/>
              </a:tabLst>
            </a:pPr>
            <a:r>
              <a:rPr sz="2800" spc="-5" dirty="0">
                <a:solidFill>
                  <a:srgbClr val="33CCCC"/>
                </a:solidFill>
                <a:latin typeface="Arial"/>
                <a:cs typeface="Arial"/>
              </a:rPr>
              <a:t>Continuous Random Variable </a:t>
            </a:r>
            <a:r>
              <a:rPr sz="2800" dirty="0">
                <a:solidFill>
                  <a:srgbClr val="003366"/>
                </a:solidFill>
                <a:latin typeface="Arial"/>
                <a:cs typeface="Arial"/>
              </a:rPr>
              <a:t>can </a:t>
            </a:r>
            <a:r>
              <a:rPr sz="2800" spc="-5" dirty="0">
                <a:solidFill>
                  <a:srgbClr val="003366"/>
                </a:solidFill>
                <a:latin typeface="Arial"/>
                <a:cs typeface="Arial"/>
              </a:rPr>
              <a:t>assume  an infinite number of values within a given  range. It is </a:t>
            </a:r>
            <a:r>
              <a:rPr sz="2800" dirty="0">
                <a:solidFill>
                  <a:srgbClr val="003366"/>
                </a:solidFill>
                <a:latin typeface="Arial"/>
                <a:cs typeface="Arial"/>
              </a:rPr>
              <a:t>usually </a:t>
            </a:r>
            <a:r>
              <a:rPr sz="2800" spc="-5" dirty="0">
                <a:solidFill>
                  <a:srgbClr val="003366"/>
                </a:solidFill>
                <a:latin typeface="Arial"/>
                <a:cs typeface="Arial"/>
              </a:rPr>
              <a:t>the </a:t>
            </a:r>
            <a:r>
              <a:rPr sz="2800" dirty="0">
                <a:solidFill>
                  <a:srgbClr val="003366"/>
                </a:solidFill>
                <a:latin typeface="Arial"/>
                <a:cs typeface="Arial"/>
              </a:rPr>
              <a:t>result </a:t>
            </a:r>
            <a:r>
              <a:rPr sz="2800" spc="-5" dirty="0">
                <a:solidFill>
                  <a:srgbClr val="003366"/>
                </a:solidFill>
                <a:latin typeface="Arial"/>
                <a:cs typeface="Arial"/>
              </a:rPr>
              <a:t>of some type of </a:t>
            </a:r>
            <a:r>
              <a:rPr sz="2800" u="heavy" spc="-5" dirty="0">
                <a:solidFill>
                  <a:srgbClr val="003366"/>
                </a:solidFill>
                <a:uFill>
                  <a:solidFill>
                    <a:srgbClr val="003366"/>
                  </a:solidFill>
                </a:uFill>
                <a:latin typeface="Arial"/>
                <a:cs typeface="Arial"/>
              </a:rPr>
              <a:t> measurement</a:t>
            </a:r>
            <a:endParaRPr sz="2800">
              <a:latin typeface="Arial"/>
              <a:cs typeface="Aria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70356" y="755650"/>
            <a:ext cx="7677150" cy="4483920"/>
          </a:xfrm>
          <a:prstGeom prst="rect">
            <a:avLst/>
          </a:prstGeom>
        </p:spPr>
        <p:txBody>
          <a:bodyPr vert="horz" wrap="square" lIns="0" tIns="13335" rIns="0" bIns="0" rtlCol="0">
            <a:spAutoFit/>
          </a:bodyPr>
          <a:lstStyle/>
          <a:p>
            <a:pPr marL="12700">
              <a:spcBef>
                <a:spcPts val="105"/>
              </a:spcBef>
            </a:pPr>
            <a:r>
              <a:rPr sz="3200" b="1" dirty="0">
                <a:solidFill>
                  <a:srgbClr val="006666"/>
                </a:solidFill>
                <a:latin typeface="Arial"/>
                <a:cs typeface="Arial"/>
              </a:rPr>
              <a:t>Discrete Random </a:t>
            </a:r>
            <a:r>
              <a:rPr sz="3200" b="1" spc="-5" dirty="0">
                <a:solidFill>
                  <a:srgbClr val="006666"/>
                </a:solidFill>
                <a:latin typeface="Arial"/>
                <a:cs typeface="Arial"/>
              </a:rPr>
              <a:t>Variables </a:t>
            </a:r>
            <a:r>
              <a:rPr sz="3200" b="1" dirty="0">
                <a:solidFill>
                  <a:srgbClr val="006666"/>
                </a:solidFill>
                <a:latin typeface="Arial"/>
                <a:cs typeface="Arial"/>
              </a:rPr>
              <a:t>-</a:t>
            </a:r>
            <a:r>
              <a:rPr sz="3200" b="1" spc="-95" dirty="0">
                <a:solidFill>
                  <a:srgbClr val="006666"/>
                </a:solidFill>
                <a:latin typeface="Arial"/>
                <a:cs typeface="Arial"/>
              </a:rPr>
              <a:t> </a:t>
            </a:r>
            <a:r>
              <a:rPr sz="3200" b="1" spc="-5" dirty="0">
                <a:solidFill>
                  <a:srgbClr val="006666"/>
                </a:solidFill>
                <a:latin typeface="Arial"/>
                <a:cs typeface="Arial"/>
              </a:rPr>
              <a:t>Examples</a:t>
            </a:r>
            <a:endParaRPr sz="3200">
              <a:latin typeface="Arial"/>
              <a:cs typeface="Arial"/>
            </a:endParaRPr>
          </a:p>
          <a:p>
            <a:pPr>
              <a:spcBef>
                <a:spcPts val="30"/>
              </a:spcBef>
            </a:pPr>
            <a:endParaRPr sz="4650">
              <a:latin typeface="Arial"/>
              <a:cs typeface="Arial"/>
            </a:endParaRPr>
          </a:p>
          <a:p>
            <a:pPr marL="601980" indent="-343535">
              <a:buSzPct val="75000"/>
              <a:buFont typeface="Wingdings"/>
              <a:buChar char=""/>
              <a:tabLst>
                <a:tab pos="602615" algn="l"/>
              </a:tabLst>
            </a:pPr>
            <a:r>
              <a:rPr sz="3200" dirty="0">
                <a:solidFill>
                  <a:srgbClr val="003366"/>
                </a:solidFill>
                <a:latin typeface="Arial"/>
                <a:cs typeface="Arial"/>
              </a:rPr>
              <a:t>The </a:t>
            </a:r>
            <a:r>
              <a:rPr sz="3200" spc="-5" dirty="0">
                <a:solidFill>
                  <a:srgbClr val="003366"/>
                </a:solidFill>
                <a:latin typeface="Arial"/>
                <a:cs typeface="Arial"/>
              </a:rPr>
              <a:t>number </a:t>
            </a:r>
            <a:r>
              <a:rPr sz="3200" dirty="0">
                <a:solidFill>
                  <a:srgbClr val="003366"/>
                </a:solidFill>
                <a:latin typeface="Arial"/>
                <a:cs typeface="Arial"/>
              </a:rPr>
              <a:t>of </a:t>
            </a:r>
            <a:r>
              <a:rPr sz="3200" spc="-5" dirty="0">
                <a:solidFill>
                  <a:srgbClr val="003366"/>
                </a:solidFill>
                <a:latin typeface="Arial"/>
                <a:cs typeface="Arial"/>
              </a:rPr>
              <a:t>students </a:t>
            </a:r>
            <a:r>
              <a:rPr sz="3200" dirty="0">
                <a:solidFill>
                  <a:srgbClr val="003366"/>
                </a:solidFill>
                <a:latin typeface="Arial"/>
                <a:cs typeface="Arial"/>
              </a:rPr>
              <a:t>in a</a:t>
            </a:r>
            <a:r>
              <a:rPr sz="3200" spc="-105" dirty="0">
                <a:solidFill>
                  <a:srgbClr val="003366"/>
                </a:solidFill>
                <a:latin typeface="Arial"/>
                <a:cs typeface="Arial"/>
              </a:rPr>
              <a:t> </a:t>
            </a:r>
            <a:r>
              <a:rPr sz="3200" dirty="0">
                <a:solidFill>
                  <a:srgbClr val="003366"/>
                </a:solidFill>
                <a:latin typeface="Arial"/>
                <a:cs typeface="Arial"/>
              </a:rPr>
              <a:t>class.</a:t>
            </a:r>
            <a:endParaRPr sz="3200">
              <a:latin typeface="Arial"/>
              <a:cs typeface="Arial"/>
            </a:endParaRPr>
          </a:p>
          <a:p>
            <a:pPr marL="601980" indent="-343535">
              <a:spcBef>
                <a:spcPts val="765"/>
              </a:spcBef>
              <a:buSzPct val="75000"/>
              <a:buFont typeface="Wingdings"/>
              <a:buChar char=""/>
              <a:tabLst>
                <a:tab pos="602615" algn="l"/>
              </a:tabLst>
            </a:pPr>
            <a:r>
              <a:rPr sz="3200" dirty="0">
                <a:solidFill>
                  <a:srgbClr val="003366"/>
                </a:solidFill>
                <a:latin typeface="Arial"/>
                <a:cs typeface="Arial"/>
              </a:rPr>
              <a:t>The </a:t>
            </a:r>
            <a:r>
              <a:rPr sz="3200" spc="-5" dirty="0">
                <a:solidFill>
                  <a:srgbClr val="003366"/>
                </a:solidFill>
                <a:latin typeface="Arial"/>
                <a:cs typeface="Arial"/>
              </a:rPr>
              <a:t>number </a:t>
            </a:r>
            <a:r>
              <a:rPr sz="3200" dirty="0">
                <a:solidFill>
                  <a:srgbClr val="003366"/>
                </a:solidFill>
                <a:latin typeface="Arial"/>
                <a:cs typeface="Arial"/>
              </a:rPr>
              <a:t>of </a:t>
            </a:r>
            <a:r>
              <a:rPr sz="3200" spc="-5" dirty="0">
                <a:solidFill>
                  <a:srgbClr val="003366"/>
                </a:solidFill>
                <a:latin typeface="Arial"/>
                <a:cs typeface="Arial"/>
              </a:rPr>
              <a:t>children </a:t>
            </a:r>
            <a:r>
              <a:rPr sz="3200" dirty="0">
                <a:solidFill>
                  <a:srgbClr val="003366"/>
                </a:solidFill>
                <a:latin typeface="Arial"/>
                <a:cs typeface="Arial"/>
              </a:rPr>
              <a:t>in a</a:t>
            </a:r>
            <a:r>
              <a:rPr sz="3200" spc="-95" dirty="0">
                <a:solidFill>
                  <a:srgbClr val="003366"/>
                </a:solidFill>
                <a:latin typeface="Arial"/>
                <a:cs typeface="Arial"/>
              </a:rPr>
              <a:t> </a:t>
            </a:r>
            <a:r>
              <a:rPr sz="3200" spc="-5" dirty="0">
                <a:solidFill>
                  <a:srgbClr val="003366"/>
                </a:solidFill>
                <a:latin typeface="Arial"/>
                <a:cs typeface="Arial"/>
              </a:rPr>
              <a:t>family.</a:t>
            </a:r>
            <a:endParaRPr sz="3200">
              <a:latin typeface="Arial"/>
              <a:cs typeface="Arial"/>
            </a:endParaRPr>
          </a:p>
          <a:p>
            <a:pPr marL="601980" marR="5080" indent="-342900">
              <a:spcBef>
                <a:spcPts val="770"/>
              </a:spcBef>
              <a:buSzPct val="75000"/>
              <a:buFont typeface="Wingdings"/>
              <a:buChar char=""/>
              <a:tabLst>
                <a:tab pos="602615" algn="l"/>
              </a:tabLst>
            </a:pPr>
            <a:r>
              <a:rPr sz="3200" dirty="0">
                <a:solidFill>
                  <a:srgbClr val="003366"/>
                </a:solidFill>
                <a:latin typeface="Arial"/>
                <a:cs typeface="Arial"/>
              </a:rPr>
              <a:t>The </a:t>
            </a:r>
            <a:r>
              <a:rPr sz="3200" spc="-5" dirty="0">
                <a:solidFill>
                  <a:srgbClr val="003366"/>
                </a:solidFill>
                <a:latin typeface="Arial"/>
                <a:cs typeface="Arial"/>
              </a:rPr>
              <a:t>number </a:t>
            </a:r>
            <a:r>
              <a:rPr sz="3200" dirty="0">
                <a:solidFill>
                  <a:srgbClr val="003366"/>
                </a:solidFill>
                <a:latin typeface="Arial"/>
                <a:cs typeface="Arial"/>
              </a:rPr>
              <a:t>of cars </a:t>
            </a:r>
            <a:r>
              <a:rPr sz="3200" spc="-5" dirty="0">
                <a:solidFill>
                  <a:srgbClr val="003366"/>
                </a:solidFill>
                <a:latin typeface="Arial"/>
                <a:cs typeface="Arial"/>
              </a:rPr>
              <a:t>entering </a:t>
            </a:r>
            <a:r>
              <a:rPr sz="3200" dirty="0">
                <a:solidFill>
                  <a:srgbClr val="003366"/>
                </a:solidFill>
                <a:latin typeface="Arial"/>
                <a:cs typeface="Arial"/>
              </a:rPr>
              <a:t>a</a:t>
            </a:r>
            <a:r>
              <a:rPr sz="3200" spc="-105" dirty="0">
                <a:solidFill>
                  <a:srgbClr val="003366"/>
                </a:solidFill>
                <a:latin typeface="Arial"/>
                <a:cs typeface="Arial"/>
              </a:rPr>
              <a:t> </a:t>
            </a:r>
            <a:r>
              <a:rPr sz="3200" dirty="0">
                <a:solidFill>
                  <a:srgbClr val="003366"/>
                </a:solidFill>
                <a:latin typeface="Arial"/>
                <a:cs typeface="Arial"/>
              </a:rPr>
              <a:t>carwash  in a</a:t>
            </a:r>
            <a:r>
              <a:rPr sz="3200" spc="-25" dirty="0">
                <a:solidFill>
                  <a:srgbClr val="003366"/>
                </a:solidFill>
                <a:latin typeface="Arial"/>
                <a:cs typeface="Arial"/>
              </a:rPr>
              <a:t> </a:t>
            </a:r>
            <a:r>
              <a:rPr sz="3200" spc="-5" dirty="0">
                <a:solidFill>
                  <a:srgbClr val="003366"/>
                </a:solidFill>
                <a:latin typeface="Arial"/>
                <a:cs typeface="Arial"/>
              </a:rPr>
              <a:t>hour.</a:t>
            </a:r>
            <a:endParaRPr sz="3200">
              <a:latin typeface="Arial"/>
              <a:cs typeface="Arial"/>
            </a:endParaRPr>
          </a:p>
          <a:p>
            <a:pPr marL="601980" marR="207645" indent="-342900">
              <a:spcBef>
                <a:spcPts val="775"/>
              </a:spcBef>
              <a:buSzPct val="75000"/>
              <a:buFont typeface="Wingdings"/>
              <a:buChar char=""/>
              <a:tabLst>
                <a:tab pos="602615" algn="l"/>
              </a:tabLst>
            </a:pPr>
            <a:r>
              <a:rPr sz="3200" spc="-5" dirty="0">
                <a:solidFill>
                  <a:srgbClr val="003366"/>
                </a:solidFill>
                <a:latin typeface="Arial"/>
                <a:cs typeface="Arial"/>
              </a:rPr>
              <a:t>Number </a:t>
            </a:r>
            <a:r>
              <a:rPr sz="3200" dirty="0">
                <a:solidFill>
                  <a:srgbClr val="003366"/>
                </a:solidFill>
                <a:latin typeface="Arial"/>
                <a:cs typeface="Arial"/>
              </a:rPr>
              <a:t>of </a:t>
            </a:r>
            <a:r>
              <a:rPr sz="3200" spc="-5" dirty="0">
                <a:solidFill>
                  <a:srgbClr val="003366"/>
                </a:solidFill>
                <a:latin typeface="Arial"/>
                <a:cs typeface="Arial"/>
              </a:rPr>
              <a:t>home mortgages</a:t>
            </a:r>
            <a:r>
              <a:rPr sz="3200" spc="-45" dirty="0">
                <a:solidFill>
                  <a:srgbClr val="003366"/>
                </a:solidFill>
                <a:latin typeface="Arial"/>
                <a:cs typeface="Arial"/>
              </a:rPr>
              <a:t> </a:t>
            </a:r>
            <a:r>
              <a:rPr sz="3200" spc="-5" dirty="0">
                <a:solidFill>
                  <a:srgbClr val="003366"/>
                </a:solidFill>
                <a:latin typeface="Arial"/>
                <a:cs typeface="Arial"/>
              </a:rPr>
              <a:t>approved  </a:t>
            </a:r>
            <a:r>
              <a:rPr sz="3200" dirty="0">
                <a:solidFill>
                  <a:srgbClr val="003366"/>
                </a:solidFill>
                <a:latin typeface="Arial"/>
                <a:cs typeface="Arial"/>
              </a:rPr>
              <a:t>by Coastal </a:t>
            </a:r>
            <a:r>
              <a:rPr sz="3200" spc="-5" dirty="0">
                <a:solidFill>
                  <a:srgbClr val="003366"/>
                </a:solidFill>
                <a:latin typeface="Arial"/>
                <a:cs typeface="Arial"/>
              </a:rPr>
              <a:t>Federal Bank </a:t>
            </a:r>
            <a:r>
              <a:rPr sz="3200" dirty="0">
                <a:solidFill>
                  <a:srgbClr val="003366"/>
                </a:solidFill>
                <a:latin typeface="Arial"/>
                <a:cs typeface="Arial"/>
              </a:rPr>
              <a:t>last</a:t>
            </a:r>
            <a:r>
              <a:rPr sz="3200" spc="-85" dirty="0">
                <a:solidFill>
                  <a:srgbClr val="003366"/>
                </a:solidFill>
                <a:latin typeface="Arial"/>
                <a:cs typeface="Arial"/>
              </a:rPr>
              <a:t> </a:t>
            </a:r>
            <a:r>
              <a:rPr sz="3200" dirty="0">
                <a:solidFill>
                  <a:srgbClr val="003366"/>
                </a:solidFill>
                <a:latin typeface="Arial"/>
                <a:cs typeface="Arial"/>
              </a:rPr>
              <a:t>week.</a:t>
            </a:r>
            <a:endParaRPr sz="3200">
              <a:latin typeface="Arial"/>
              <a:cs typeface="Arial"/>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864"/>
              </a:lnSpc>
            </a:pPr>
            <a:fld id="{81D60167-4931-47E6-BA6A-407CBD079E47}" type="slidenum">
              <a:rPr spc="-5" dirty="0"/>
              <a:pPr marL="38100">
                <a:lnSpc>
                  <a:spcPts val="1864"/>
                </a:lnSpc>
              </a:pPr>
              <a:t>9</a:t>
            </a:fld>
            <a:endParaRPr spc="-5"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1814" y="316182"/>
            <a:ext cx="10408377" cy="517449"/>
          </a:xfrm>
          <a:prstGeom prst="rect">
            <a:avLst/>
          </a:prstGeom>
        </p:spPr>
        <p:txBody>
          <a:bodyPr vert="horz" wrap="square" lIns="0" tIns="67945" rIns="0" bIns="0" rtlCol="0">
            <a:spAutoFit/>
          </a:bodyPr>
          <a:lstStyle/>
          <a:p>
            <a:pPr marL="13970" marR="5080">
              <a:lnSpc>
                <a:spcPts val="3460"/>
              </a:lnSpc>
              <a:spcBef>
                <a:spcPts val="535"/>
              </a:spcBef>
            </a:pPr>
            <a:r>
              <a:rPr sz="3200" spc="-5" dirty="0"/>
              <a:t>Continuous </a:t>
            </a:r>
            <a:r>
              <a:rPr sz="3200" dirty="0"/>
              <a:t>Random </a:t>
            </a:r>
            <a:r>
              <a:rPr sz="3200" spc="-5" dirty="0"/>
              <a:t>Variables</a:t>
            </a:r>
            <a:r>
              <a:rPr sz="3200" spc="-80" dirty="0"/>
              <a:t> </a:t>
            </a:r>
            <a:r>
              <a:rPr sz="3200" dirty="0"/>
              <a:t>-  </a:t>
            </a:r>
            <a:r>
              <a:rPr sz="3200" spc="-5" dirty="0"/>
              <a:t>Examples</a:t>
            </a:r>
            <a:endParaRPr sz="32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64"/>
              </a:lnSpc>
            </a:pPr>
            <a:fld id="{81D60167-4931-47E6-BA6A-407CBD079E47}" type="slidenum">
              <a:rPr spc="-5" dirty="0"/>
              <a:pPr marL="38100">
                <a:lnSpc>
                  <a:spcPts val="1864"/>
                </a:lnSpc>
              </a:pPr>
              <a:t>10</a:t>
            </a:fld>
            <a:endParaRPr spc="-5" dirty="0"/>
          </a:p>
        </p:txBody>
      </p:sp>
      <p:sp>
        <p:nvSpPr>
          <p:cNvPr id="3" name="object 3"/>
          <p:cNvSpPr txBox="1"/>
          <p:nvPr/>
        </p:nvSpPr>
        <p:spPr>
          <a:xfrm>
            <a:off x="821842" y="2072386"/>
            <a:ext cx="7372350" cy="3695700"/>
          </a:xfrm>
          <a:prstGeom prst="rect">
            <a:avLst/>
          </a:prstGeom>
        </p:spPr>
        <p:txBody>
          <a:bodyPr vert="horz" wrap="square" lIns="0" tIns="12065" rIns="0" bIns="0" rtlCol="0">
            <a:spAutoFit/>
          </a:bodyPr>
          <a:lstStyle/>
          <a:p>
            <a:pPr marL="355600" marR="462915" indent="-342900">
              <a:spcBef>
                <a:spcPts val="95"/>
              </a:spcBef>
              <a:buSzPct val="75000"/>
              <a:buFont typeface="Wingdings"/>
              <a:buChar char=""/>
              <a:tabLst>
                <a:tab pos="354965" algn="l"/>
                <a:tab pos="355600" algn="l"/>
              </a:tabLst>
            </a:pPr>
            <a:r>
              <a:rPr sz="2800" spc="-5" dirty="0">
                <a:solidFill>
                  <a:srgbClr val="003366"/>
                </a:solidFill>
                <a:latin typeface="Arial"/>
                <a:cs typeface="Arial"/>
              </a:rPr>
              <a:t>The length of each </a:t>
            </a:r>
            <a:r>
              <a:rPr sz="2800" dirty="0">
                <a:solidFill>
                  <a:srgbClr val="003366"/>
                </a:solidFill>
                <a:latin typeface="Arial"/>
                <a:cs typeface="Arial"/>
              </a:rPr>
              <a:t>song on </a:t>
            </a:r>
            <a:r>
              <a:rPr sz="2800" spc="-5" dirty="0">
                <a:solidFill>
                  <a:srgbClr val="003366"/>
                </a:solidFill>
                <a:latin typeface="Arial"/>
                <a:cs typeface="Arial"/>
              </a:rPr>
              <a:t>the </a:t>
            </a:r>
            <a:r>
              <a:rPr sz="2800" dirty="0">
                <a:solidFill>
                  <a:srgbClr val="003366"/>
                </a:solidFill>
                <a:latin typeface="Arial"/>
                <a:cs typeface="Arial"/>
              </a:rPr>
              <a:t>latest </a:t>
            </a:r>
            <a:r>
              <a:rPr sz="2800" spc="-5" dirty="0">
                <a:solidFill>
                  <a:srgbClr val="003366"/>
                </a:solidFill>
                <a:latin typeface="Arial"/>
                <a:cs typeface="Arial"/>
              </a:rPr>
              <a:t>Tim  McGraw</a:t>
            </a:r>
            <a:r>
              <a:rPr sz="2800" dirty="0">
                <a:solidFill>
                  <a:srgbClr val="003366"/>
                </a:solidFill>
                <a:latin typeface="Arial"/>
                <a:cs typeface="Arial"/>
              </a:rPr>
              <a:t> </a:t>
            </a:r>
            <a:r>
              <a:rPr sz="2800" spc="-5" dirty="0">
                <a:solidFill>
                  <a:srgbClr val="003366"/>
                </a:solidFill>
                <a:latin typeface="Arial"/>
                <a:cs typeface="Arial"/>
              </a:rPr>
              <a:t>album.</a:t>
            </a:r>
            <a:endParaRPr sz="2800">
              <a:latin typeface="Arial"/>
              <a:cs typeface="Arial"/>
            </a:endParaRPr>
          </a:p>
          <a:p>
            <a:pPr marL="355600" indent="-342900">
              <a:spcBef>
                <a:spcPts val="675"/>
              </a:spcBef>
              <a:buSzPct val="75000"/>
              <a:buFont typeface="Wingdings"/>
              <a:buChar char=""/>
              <a:tabLst>
                <a:tab pos="354965" algn="l"/>
                <a:tab pos="355600" algn="l"/>
              </a:tabLst>
            </a:pPr>
            <a:r>
              <a:rPr sz="2800" spc="-5" dirty="0">
                <a:solidFill>
                  <a:srgbClr val="003366"/>
                </a:solidFill>
                <a:latin typeface="Arial"/>
                <a:cs typeface="Arial"/>
              </a:rPr>
              <a:t>The weight of each </a:t>
            </a:r>
            <a:r>
              <a:rPr sz="2800" dirty="0">
                <a:solidFill>
                  <a:srgbClr val="003366"/>
                </a:solidFill>
                <a:latin typeface="Arial"/>
                <a:cs typeface="Arial"/>
              </a:rPr>
              <a:t>student </a:t>
            </a:r>
            <a:r>
              <a:rPr sz="2800" spc="-5" dirty="0">
                <a:solidFill>
                  <a:srgbClr val="003366"/>
                </a:solidFill>
                <a:latin typeface="Arial"/>
                <a:cs typeface="Arial"/>
              </a:rPr>
              <a:t>in </a:t>
            </a:r>
            <a:r>
              <a:rPr sz="2800" dirty="0">
                <a:solidFill>
                  <a:srgbClr val="003366"/>
                </a:solidFill>
                <a:latin typeface="Arial"/>
                <a:cs typeface="Arial"/>
              </a:rPr>
              <a:t>this</a:t>
            </a:r>
            <a:r>
              <a:rPr sz="2800" spc="35" dirty="0">
                <a:solidFill>
                  <a:srgbClr val="003366"/>
                </a:solidFill>
                <a:latin typeface="Arial"/>
                <a:cs typeface="Arial"/>
              </a:rPr>
              <a:t> </a:t>
            </a:r>
            <a:r>
              <a:rPr sz="2800" spc="-5" dirty="0">
                <a:solidFill>
                  <a:srgbClr val="003366"/>
                </a:solidFill>
                <a:latin typeface="Arial"/>
                <a:cs typeface="Arial"/>
              </a:rPr>
              <a:t>class.</a:t>
            </a:r>
            <a:endParaRPr sz="2800">
              <a:latin typeface="Arial"/>
              <a:cs typeface="Arial"/>
            </a:endParaRPr>
          </a:p>
          <a:p>
            <a:pPr marL="355600" marR="81915" indent="-342900">
              <a:spcBef>
                <a:spcPts val="670"/>
              </a:spcBef>
              <a:buSzPct val="75000"/>
              <a:buFont typeface="Wingdings"/>
              <a:buChar char=""/>
              <a:tabLst>
                <a:tab pos="354965" algn="l"/>
                <a:tab pos="355600" algn="l"/>
              </a:tabLst>
            </a:pPr>
            <a:r>
              <a:rPr sz="2800" spc="-5" dirty="0">
                <a:solidFill>
                  <a:srgbClr val="003366"/>
                </a:solidFill>
                <a:latin typeface="Arial"/>
                <a:cs typeface="Arial"/>
              </a:rPr>
              <a:t>The temperature </a:t>
            </a:r>
            <a:r>
              <a:rPr sz="2800" dirty="0">
                <a:solidFill>
                  <a:srgbClr val="003366"/>
                </a:solidFill>
                <a:latin typeface="Arial"/>
                <a:cs typeface="Arial"/>
              </a:rPr>
              <a:t>outside as </a:t>
            </a:r>
            <a:r>
              <a:rPr sz="2800" spc="-5" dirty="0">
                <a:solidFill>
                  <a:srgbClr val="003366"/>
                </a:solidFill>
                <a:latin typeface="Arial"/>
                <a:cs typeface="Arial"/>
              </a:rPr>
              <a:t>you </a:t>
            </a:r>
            <a:r>
              <a:rPr sz="2800" dirty="0">
                <a:solidFill>
                  <a:srgbClr val="003366"/>
                </a:solidFill>
                <a:latin typeface="Arial"/>
                <a:cs typeface="Arial"/>
              </a:rPr>
              <a:t>are reading  this</a:t>
            </a:r>
            <a:r>
              <a:rPr sz="2800" spc="-5" dirty="0">
                <a:solidFill>
                  <a:srgbClr val="003366"/>
                </a:solidFill>
                <a:latin typeface="Arial"/>
                <a:cs typeface="Arial"/>
              </a:rPr>
              <a:t> </a:t>
            </a:r>
            <a:r>
              <a:rPr sz="2800" dirty="0">
                <a:solidFill>
                  <a:srgbClr val="003366"/>
                </a:solidFill>
                <a:latin typeface="Arial"/>
                <a:cs typeface="Arial"/>
              </a:rPr>
              <a:t>book.</a:t>
            </a:r>
            <a:endParaRPr sz="2800">
              <a:latin typeface="Arial"/>
              <a:cs typeface="Arial"/>
            </a:endParaRPr>
          </a:p>
          <a:p>
            <a:pPr marL="355600" marR="5080" indent="-342900">
              <a:spcBef>
                <a:spcPts val="675"/>
              </a:spcBef>
              <a:buSzPct val="75000"/>
              <a:buFont typeface="Wingdings"/>
              <a:buChar char=""/>
              <a:tabLst>
                <a:tab pos="354965" algn="l"/>
                <a:tab pos="355600" algn="l"/>
              </a:tabLst>
            </a:pPr>
            <a:r>
              <a:rPr sz="2800" spc="-5" dirty="0">
                <a:solidFill>
                  <a:srgbClr val="003366"/>
                </a:solidFill>
                <a:latin typeface="Arial"/>
                <a:cs typeface="Arial"/>
              </a:rPr>
              <a:t>The amount of money earned by </a:t>
            </a:r>
            <a:r>
              <a:rPr sz="2800" dirty="0">
                <a:solidFill>
                  <a:srgbClr val="003366"/>
                </a:solidFill>
                <a:latin typeface="Arial"/>
                <a:cs typeface="Arial"/>
              </a:rPr>
              <a:t>each </a:t>
            </a:r>
            <a:r>
              <a:rPr sz="2800" spc="-5" dirty="0">
                <a:solidFill>
                  <a:srgbClr val="003366"/>
                </a:solidFill>
                <a:latin typeface="Arial"/>
                <a:cs typeface="Arial"/>
              </a:rPr>
              <a:t>of the  more </a:t>
            </a:r>
            <a:r>
              <a:rPr sz="2800" dirty="0">
                <a:solidFill>
                  <a:srgbClr val="003366"/>
                </a:solidFill>
                <a:latin typeface="Arial"/>
                <a:cs typeface="Arial"/>
              </a:rPr>
              <a:t>than 750 players </a:t>
            </a:r>
            <a:r>
              <a:rPr sz="2800" spc="-5" dirty="0">
                <a:solidFill>
                  <a:srgbClr val="003366"/>
                </a:solidFill>
                <a:latin typeface="Arial"/>
                <a:cs typeface="Arial"/>
              </a:rPr>
              <a:t>currently on Major  League Baseball </a:t>
            </a:r>
            <a:r>
              <a:rPr sz="2800" dirty="0">
                <a:solidFill>
                  <a:srgbClr val="003366"/>
                </a:solidFill>
                <a:latin typeface="Arial"/>
                <a:cs typeface="Arial"/>
              </a:rPr>
              <a:t>team</a:t>
            </a:r>
            <a:r>
              <a:rPr sz="2800" spc="30" dirty="0">
                <a:solidFill>
                  <a:srgbClr val="003366"/>
                </a:solidFill>
                <a:latin typeface="Arial"/>
                <a:cs typeface="Arial"/>
              </a:rPr>
              <a:t> </a:t>
            </a:r>
            <a:r>
              <a:rPr sz="2800" dirty="0">
                <a:solidFill>
                  <a:srgbClr val="003366"/>
                </a:solidFill>
                <a:latin typeface="Arial"/>
                <a:cs typeface="Arial"/>
              </a:rPr>
              <a:t>rosters.</a:t>
            </a:r>
            <a:endParaRPr sz="2800">
              <a:latin typeface="Arial"/>
              <a:cs typeface="Aria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0358" y="694690"/>
            <a:ext cx="5815965" cy="574040"/>
          </a:xfrm>
          <a:prstGeom prst="rect">
            <a:avLst/>
          </a:prstGeom>
        </p:spPr>
        <p:txBody>
          <a:bodyPr vert="horz" wrap="square" lIns="0" tIns="12700" rIns="0" bIns="0" rtlCol="0">
            <a:spAutoFit/>
          </a:bodyPr>
          <a:lstStyle/>
          <a:p>
            <a:pPr marL="12700">
              <a:spcBef>
                <a:spcPts val="100"/>
              </a:spcBef>
            </a:pPr>
            <a:r>
              <a:rPr sz="3600" dirty="0"/>
              <a:t>Prob. </a:t>
            </a:r>
            <a:r>
              <a:rPr sz="3600" spc="-5" dirty="0"/>
              <a:t>Mass function</a:t>
            </a:r>
            <a:r>
              <a:rPr sz="3600" spc="-50" dirty="0"/>
              <a:t> </a:t>
            </a:r>
            <a:r>
              <a:rPr sz="3600" dirty="0"/>
              <a:t>(pmf):</a:t>
            </a:r>
            <a:endParaRPr sz="3600"/>
          </a:p>
        </p:txBody>
      </p:sp>
      <p:sp>
        <p:nvSpPr>
          <p:cNvPr id="3" name="object 3"/>
          <p:cNvSpPr txBox="1"/>
          <p:nvPr/>
        </p:nvSpPr>
        <p:spPr>
          <a:xfrm>
            <a:off x="917244" y="1929511"/>
            <a:ext cx="2382520" cy="452120"/>
          </a:xfrm>
          <a:prstGeom prst="rect">
            <a:avLst/>
          </a:prstGeom>
        </p:spPr>
        <p:txBody>
          <a:bodyPr vert="horz" wrap="square" lIns="0" tIns="12065" rIns="0" bIns="0" rtlCol="0">
            <a:spAutoFit/>
          </a:bodyPr>
          <a:lstStyle/>
          <a:p>
            <a:pPr marL="354965" indent="-342900">
              <a:spcBef>
                <a:spcPts val="95"/>
              </a:spcBef>
              <a:buSzPct val="75000"/>
              <a:buFont typeface="Wingdings"/>
              <a:buChar char=""/>
              <a:tabLst>
                <a:tab pos="354965" algn="l"/>
                <a:tab pos="355600" algn="l"/>
              </a:tabLst>
            </a:pPr>
            <a:r>
              <a:rPr sz="2800" dirty="0">
                <a:solidFill>
                  <a:srgbClr val="003366"/>
                </a:solidFill>
                <a:latin typeface="Arial"/>
                <a:cs typeface="Arial"/>
              </a:rPr>
              <a:t>f(x) </a:t>
            </a:r>
            <a:r>
              <a:rPr sz="2800" spc="-5" dirty="0">
                <a:solidFill>
                  <a:srgbClr val="003366"/>
                </a:solidFill>
                <a:latin typeface="Arial"/>
                <a:cs typeface="Arial"/>
              </a:rPr>
              <a:t>=</a:t>
            </a:r>
            <a:r>
              <a:rPr sz="2800" spc="-80" dirty="0">
                <a:solidFill>
                  <a:srgbClr val="003366"/>
                </a:solidFill>
                <a:latin typeface="Arial"/>
                <a:cs typeface="Arial"/>
              </a:rPr>
              <a:t> </a:t>
            </a:r>
            <a:r>
              <a:rPr sz="2800" spc="-5" dirty="0">
                <a:solidFill>
                  <a:srgbClr val="003366"/>
                </a:solidFill>
                <a:latin typeface="Arial"/>
                <a:cs typeface="Arial"/>
              </a:rPr>
              <a:t>P(X=x)</a:t>
            </a:r>
            <a:endParaRPr sz="2800">
              <a:latin typeface="Arial"/>
              <a:cs typeface="Arial"/>
            </a:endParaRPr>
          </a:p>
        </p:txBody>
      </p:sp>
      <p:sp>
        <p:nvSpPr>
          <p:cNvPr id="4" name="object 4"/>
          <p:cNvSpPr/>
          <p:nvPr/>
        </p:nvSpPr>
        <p:spPr>
          <a:xfrm>
            <a:off x="838202" y="2637612"/>
            <a:ext cx="6967543" cy="2883496"/>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864"/>
              </a:lnSpc>
            </a:pPr>
            <a:fld id="{81D60167-4931-47E6-BA6A-407CBD079E47}" type="slidenum">
              <a:rPr spc="-5" dirty="0"/>
              <a:pPr marL="38100">
                <a:lnSpc>
                  <a:spcPts val="1864"/>
                </a:lnSpc>
              </a:pPr>
              <a:t>11</a:t>
            </a:fld>
            <a:endParaRPr spc="-5"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6115" y="381000"/>
            <a:ext cx="8991599" cy="966290"/>
          </a:xfrm>
          <a:prstGeom prst="rect">
            <a:avLst/>
          </a:prstGeom>
        </p:spPr>
        <p:txBody>
          <a:bodyPr vert="horz" wrap="square" lIns="0" tIns="67945" rIns="0" bIns="0" rtlCol="0">
            <a:spAutoFit/>
          </a:bodyPr>
          <a:lstStyle/>
          <a:p>
            <a:pPr marL="13970" marR="5080">
              <a:lnSpc>
                <a:spcPts val="3460"/>
              </a:lnSpc>
              <a:spcBef>
                <a:spcPts val="535"/>
              </a:spcBef>
            </a:pPr>
            <a:r>
              <a:rPr sz="3200" dirty="0"/>
              <a:t>The Mean of a </a:t>
            </a:r>
            <a:r>
              <a:rPr sz="3200" spc="-5" dirty="0"/>
              <a:t>discrete</a:t>
            </a:r>
            <a:r>
              <a:rPr sz="3200" spc="-150" dirty="0"/>
              <a:t> </a:t>
            </a:r>
            <a:r>
              <a:rPr sz="3200" dirty="0"/>
              <a:t>Probability  Distribution</a:t>
            </a:r>
          </a:p>
        </p:txBody>
      </p:sp>
      <p:sp>
        <p:nvSpPr>
          <p:cNvPr id="3" name="object 3"/>
          <p:cNvSpPr txBox="1"/>
          <p:nvPr/>
        </p:nvSpPr>
        <p:spPr>
          <a:xfrm>
            <a:off x="736193" y="3304794"/>
            <a:ext cx="8008620" cy="2952750"/>
          </a:xfrm>
          <a:prstGeom prst="rect">
            <a:avLst/>
          </a:prstGeom>
        </p:spPr>
        <p:txBody>
          <a:bodyPr vert="horz" wrap="square" lIns="0" tIns="13335" rIns="0" bIns="0" rtlCol="0">
            <a:spAutoFit/>
          </a:bodyPr>
          <a:lstStyle/>
          <a:p>
            <a:pPr marL="12700">
              <a:spcBef>
                <a:spcPts val="105"/>
              </a:spcBef>
            </a:pPr>
            <a:r>
              <a:rPr sz="3200" b="1" spc="-5" dirty="0">
                <a:solidFill>
                  <a:srgbClr val="003366"/>
                </a:solidFill>
                <a:latin typeface="Arial"/>
                <a:cs typeface="Arial"/>
              </a:rPr>
              <a:t>Mean</a:t>
            </a:r>
            <a:endParaRPr sz="3200" dirty="0">
              <a:latin typeface="Arial"/>
              <a:cs typeface="Arial"/>
            </a:endParaRPr>
          </a:p>
          <a:p>
            <a:pPr marL="12700" marR="5080">
              <a:buSzPct val="96875"/>
              <a:buChar char="•"/>
              <a:tabLst>
                <a:tab pos="156210" algn="l"/>
              </a:tabLst>
            </a:pPr>
            <a:r>
              <a:rPr sz="3200" dirty="0">
                <a:solidFill>
                  <a:srgbClr val="003366"/>
                </a:solidFill>
                <a:latin typeface="Arial"/>
                <a:cs typeface="Arial"/>
              </a:rPr>
              <a:t>The </a:t>
            </a:r>
            <a:r>
              <a:rPr sz="3200" spc="-5" dirty="0">
                <a:solidFill>
                  <a:srgbClr val="003366"/>
                </a:solidFill>
                <a:latin typeface="Arial"/>
                <a:cs typeface="Arial"/>
              </a:rPr>
              <a:t>mean </a:t>
            </a:r>
            <a:r>
              <a:rPr sz="3200" dirty="0">
                <a:solidFill>
                  <a:srgbClr val="003366"/>
                </a:solidFill>
                <a:latin typeface="Arial"/>
                <a:cs typeface="Arial"/>
              </a:rPr>
              <a:t>is a typical </a:t>
            </a:r>
            <a:r>
              <a:rPr sz="3200" spc="-5" dirty="0">
                <a:solidFill>
                  <a:srgbClr val="003366"/>
                </a:solidFill>
                <a:latin typeface="Arial"/>
                <a:cs typeface="Arial"/>
              </a:rPr>
              <a:t>value </a:t>
            </a:r>
            <a:r>
              <a:rPr sz="3200" dirty="0">
                <a:solidFill>
                  <a:srgbClr val="003366"/>
                </a:solidFill>
                <a:latin typeface="Arial"/>
                <a:cs typeface="Arial"/>
              </a:rPr>
              <a:t>used to  represent the central location of a</a:t>
            </a:r>
            <a:r>
              <a:rPr sz="3200" spc="-180" dirty="0">
                <a:solidFill>
                  <a:srgbClr val="003366"/>
                </a:solidFill>
                <a:latin typeface="Arial"/>
                <a:cs typeface="Arial"/>
              </a:rPr>
              <a:t> </a:t>
            </a:r>
            <a:r>
              <a:rPr sz="3200" spc="-5" dirty="0">
                <a:solidFill>
                  <a:srgbClr val="003366"/>
                </a:solidFill>
                <a:latin typeface="Arial"/>
                <a:cs typeface="Arial"/>
              </a:rPr>
              <a:t>probability  distribution.</a:t>
            </a:r>
            <a:endParaRPr sz="3200" dirty="0">
              <a:latin typeface="Arial"/>
              <a:cs typeface="Arial"/>
            </a:endParaRPr>
          </a:p>
          <a:p>
            <a:pPr marL="12700" marR="784860">
              <a:buSzPct val="96875"/>
              <a:buChar char="•"/>
              <a:tabLst>
                <a:tab pos="156210" algn="l"/>
              </a:tabLst>
            </a:pPr>
            <a:r>
              <a:rPr sz="3200" dirty="0">
                <a:solidFill>
                  <a:srgbClr val="003366"/>
                </a:solidFill>
                <a:latin typeface="Arial"/>
                <a:cs typeface="Arial"/>
              </a:rPr>
              <a:t>The </a:t>
            </a:r>
            <a:r>
              <a:rPr sz="3200" spc="-5" dirty="0">
                <a:solidFill>
                  <a:srgbClr val="003366"/>
                </a:solidFill>
                <a:latin typeface="Arial"/>
                <a:cs typeface="Arial"/>
              </a:rPr>
              <a:t>mean of </a:t>
            </a:r>
            <a:r>
              <a:rPr sz="3200" dirty="0">
                <a:solidFill>
                  <a:srgbClr val="003366"/>
                </a:solidFill>
                <a:latin typeface="Arial"/>
                <a:cs typeface="Arial"/>
              </a:rPr>
              <a:t>a </a:t>
            </a:r>
            <a:r>
              <a:rPr sz="3200" spc="-5" dirty="0">
                <a:solidFill>
                  <a:srgbClr val="003366"/>
                </a:solidFill>
                <a:latin typeface="Arial"/>
                <a:cs typeface="Arial"/>
              </a:rPr>
              <a:t>probability distribution</a:t>
            </a:r>
            <a:r>
              <a:rPr sz="3200" spc="-65" dirty="0">
                <a:solidFill>
                  <a:srgbClr val="003366"/>
                </a:solidFill>
                <a:latin typeface="Arial"/>
                <a:cs typeface="Arial"/>
              </a:rPr>
              <a:t> </a:t>
            </a:r>
            <a:r>
              <a:rPr sz="3200" dirty="0">
                <a:solidFill>
                  <a:srgbClr val="003366"/>
                </a:solidFill>
                <a:latin typeface="Arial"/>
                <a:cs typeface="Arial"/>
              </a:rPr>
              <a:t>is  also </a:t>
            </a:r>
            <a:r>
              <a:rPr sz="3200" spc="-5" dirty="0">
                <a:solidFill>
                  <a:srgbClr val="003366"/>
                </a:solidFill>
                <a:latin typeface="Arial"/>
                <a:cs typeface="Arial"/>
              </a:rPr>
              <a:t>referred </a:t>
            </a:r>
            <a:r>
              <a:rPr sz="3200" dirty="0">
                <a:solidFill>
                  <a:srgbClr val="003366"/>
                </a:solidFill>
                <a:latin typeface="Arial"/>
                <a:cs typeface="Arial"/>
              </a:rPr>
              <a:t>to as its </a:t>
            </a:r>
            <a:r>
              <a:rPr sz="3200" b="1" spc="-5" dirty="0">
                <a:solidFill>
                  <a:srgbClr val="003366"/>
                </a:solidFill>
                <a:latin typeface="Arial"/>
                <a:cs typeface="Arial"/>
              </a:rPr>
              <a:t>expected</a:t>
            </a:r>
            <a:r>
              <a:rPr sz="3200" b="1" spc="-120" dirty="0">
                <a:solidFill>
                  <a:srgbClr val="003366"/>
                </a:solidFill>
                <a:latin typeface="Arial"/>
                <a:cs typeface="Arial"/>
              </a:rPr>
              <a:t> </a:t>
            </a:r>
            <a:r>
              <a:rPr sz="3200" b="1" spc="-5" dirty="0">
                <a:solidFill>
                  <a:srgbClr val="003366"/>
                </a:solidFill>
                <a:latin typeface="Arial"/>
                <a:cs typeface="Arial"/>
              </a:rPr>
              <a:t>value.</a:t>
            </a:r>
            <a:endParaRPr sz="3200" dirty="0">
              <a:latin typeface="Arial"/>
              <a:cs typeface="Arial"/>
            </a:endParaRPr>
          </a:p>
        </p:txBody>
      </p:sp>
      <p:sp>
        <p:nvSpPr>
          <p:cNvPr id="4" name="object 4"/>
          <p:cNvSpPr/>
          <p:nvPr/>
        </p:nvSpPr>
        <p:spPr>
          <a:xfrm>
            <a:off x="705612" y="2286000"/>
            <a:ext cx="8133588" cy="618744"/>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864"/>
              </a:lnSpc>
            </a:pPr>
            <a:fld id="{81D60167-4931-47E6-BA6A-407CBD079E47}" type="slidenum">
              <a:rPr spc="-5" dirty="0"/>
              <a:pPr marL="38100">
                <a:lnSpc>
                  <a:spcPts val="1864"/>
                </a:lnSpc>
              </a:pPr>
              <a:t>12</a:t>
            </a:fld>
            <a:endParaRPr spc="-5"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7489" y="457200"/>
            <a:ext cx="8219313" cy="966290"/>
          </a:xfrm>
          <a:prstGeom prst="rect">
            <a:avLst/>
          </a:prstGeom>
        </p:spPr>
        <p:txBody>
          <a:bodyPr vert="horz" wrap="square" lIns="0" tIns="67945" rIns="0" bIns="0" rtlCol="0">
            <a:spAutoFit/>
          </a:bodyPr>
          <a:lstStyle/>
          <a:p>
            <a:pPr marL="13970" marR="5080">
              <a:lnSpc>
                <a:spcPts val="3460"/>
              </a:lnSpc>
              <a:spcBef>
                <a:spcPts val="535"/>
              </a:spcBef>
            </a:pPr>
            <a:r>
              <a:rPr sz="2400" dirty="0"/>
              <a:t>The </a:t>
            </a:r>
            <a:r>
              <a:rPr sz="2400" spc="-5" dirty="0"/>
              <a:t>Variance, </a:t>
            </a:r>
            <a:r>
              <a:rPr sz="2400" dirty="0"/>
              <a:t>and Standard Deviation</a:t>
            </a:r>
            <a:r>
              <a:rPr sz="2400" spc="-175" dirty="0"/>
              <a:t> </a:t>
            </a:r>
            <a:r>
              <a:rPr sz="2400" dirty="0"/>
              <a:t>of  a </a:t>
            </a:r>
            <a:r>
              <a:rPr sz="2400" spc="-5" dirty="0"/>
              <a:t>Discrete </a:t>
            </a:r>
            <a:r>
              <a:rPr sz="2400" dirty="0"/>
              <a:t>Probability</a:t>
            </a:r>
            <a:r>
              <a:rPr sz="2400" spc="-75" dirty="0"/>
              <a:t> </a:t>
            </a:r>
            <a:r>
              <a:rPr sz="2400" dirty="0"/>
              <a:t>Distribution</a:t>
            </a:r>
          </a:p>
        </p:txBody>
      </p:sp>
      <p:grpSp>
        <p:nvGrpSpPr>
          <p:cNvPr id="3" name="object 3"/>
          <p:cNvGrpSpPr/>
          <p:nvPr/>
        </p:nvGrpSpPr>
        <p:grpSpPr>
          <a:xfrm>
            <a:off x="477014" y="1924813"/>
            <a:ext cx="8209915" cy="3980815"/>
            <a:chOff x="477012" y="1924811"/>
            <a:chExt cx="8209915" cy="3980815"/>
          </a:xfrm>
        </p:grpSpPr>
        <p:sp>
          <p:nvSpPr>
            <p:cNvPr id="4" name="object 4"/>
            <p:cNvSpPr/>
            <p:nvPr/>
          </p:nvSpPr>
          <p:spPr>
            <a:xfrm>
              <a:off x="477012" y="1924811"/>
              <a:ext cx="8209788" cy="3980688"/>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1787651" y="3607307"/>
              <a:ext cx="5896356" cy="637032"/>
            </a:xfrm>
            <a:prstGeom prst="rect">
              <a:avLst/>
            </a:prstGeom>
            <a:blipFill>
              <a:blip r:embed="rId3" cstate="print"/>
              <a:stretch>
                <a:fillRect/>
              </a:stretch>
            </a:blipFill>
          </p:spPr>
          <p:txBody>
            <a:bodyPr wrap="square" lIns="0" tIns="0" rIns="0" bIns="0" rtlCol="0"/>
            <a:lstStyle/>
            <a:p>
              <a:endParaRPr/>
            </a:p>
          </p:txBody>
        </p:sp>
      </p:gr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864"/>
              </a:lnSpc>
            </a:pPr>
            <a:fld id="{81D60167-4931-47E6-BA6A-407CBD079E47}" type="slidenum">
              <a:rPr spc="-5" dirty="0"/>
              <a:pPr marL="38100">
                <a:lnSpc>
                  <a:spcPts val="1864"/>
                </a:lnSpc>
              </a:pPr>
              <a:t>13</a:t>
            </a:fld>
            <a:endParaRPr spc="-5"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0358" y="552399"/>
            <a:ext cx="6440805" cy="721360"/>
          </a:xfrm>
          <a:prstGeom prst="rect">
            <a:avLst/>
          </a:prstGeom>
        </p:spPr>
        <p:txBody>
          <a:bodyPr vert="horz" wrap="square" lIns="0" tIns="12700" rIns="0" bIns="0" rtlCol="0">
            <a:spAutoFit/>
          </a:bodyPr>
          <a:lstStyle/>
          <a:p>
            <a:pPr marL="12700">
              <a:lnSpc>
                <a:spcPts val="2735"/>
              </a:lnSpc>
              <a:spcBef>
                <a:spcPts val="100"/>
              </a:spcBef>
            </a:pPr>
            <a:r>
              <a:rPr sz="2400" spc="-5" dirty="0"/>
              <a:t>Mean, Variance, </a:t>
            </a:r>
            <a:r>
              <a:rPr sz="2400" dirty="0"/>
              <a:t>and </a:t>
            </a:r>
            <a:r>
              <a:rPr sz="2400" spc="-5" dirty="0"/>
              <a:t>Standard </a:t>
            </a:r>
            <a:r>
              <a:rPr sz="2400" dirty="0"/>
              <a:t>Deviation of</a:t>
            </a:r>
            <a:r>
              <a:rPr sz="2400" spc="-25" dirty="0"/>
              <a:t> </a:t>
            </a:r>
            <a:r>
              <a:rPr sz="2400" dirty="0"/>
              <a:t>a</a:t>
            </a:r>
            <a:endParaRPr sz="2400"/>
          </a:p>
          <a:p>
            <a:pPr marL="12700">
              <a:lnSpc>
                <a:spcPts val="2735"/>
              </a:lnSpc>
            </a:pPr>
            <a:r>
              <a:rPr sz="2400" spc="-5" dirty="0"/>
              <a:t>Discrete Probability Distribution </a:t>
            </a:r>
            <a:r>
              <a:rPr sz="2400" dirty="0"/>
              <a:t>-</a:t>
            </a:r>
            <a:r>
              <a:rPr sz="2400" spc="10" dirty="0"/>
              <a:t> </a:t>
            </a:r>
            <a:r>
              <a:rPr sz="2400" spc="-5" dirty="0"/>
              <a:t>Example</a:t>
            </a:r>
            <a:endParaRPr sz="2400"/>
          </a:p>
        </p:txBody>
      </p:sp>
      <p:sp>
        <p:nvSpPr>
          <p:cNvPr id="3" name="object 3"/>
          <p:cNvSpPr txBox="1"/>
          <p:nvPr/>
        </p:nvSpPr>
        <p:spPr>
          <a:xfrm>
            <a:off x="4060952" y="1947798"/>
            <a:ext cx="4398010" cy="1146810"/>
          </a:xfrm>
          <a:prstGeom prst="rect">
            <a:avLst/>
          </a:prstGeom>
        </p:spPr>
        <p:txBody>
          <a:bodyPr vert="horz" wrap="square" lIns="0" tIns="39370" rIns="0" bIns="0" rtlCol="0">
            <a:spAutoFit/>
          </a:bodyPr>
          <a:lstStyle/>
          <a:p>
            <a:pPr marL="355600" marR="5080" indent="-342900">
              <a:lnSpc>
                <a:spcPts val="1730"/>
              </a:lnSpc>
              <a:spcBef>
                <a:spcPts val="310"/>
              </a:spcBef>
            </a:pPr>
            <a:r>
              <a:rPr sz="1600" spc="-5" dirty="0">
                <a:solidFill>
                  <a:srgbClr val="003366"/>
                </a:solidFill>
                <a:latin typeface="Arial"/>
                <a:cs typeface="Arial"/>
              </a:rPr>
              <a:t>John Ragsdale sells new cars for Pelican Ford.  John usually sells the largest number of cars  on Saturday. He has developed the following  probability distribution for the number of cars  he expects to sell on a particular</a:t>
            </a:r>
            <a:r>
              <a:rPr sz="1600" spc="35" dirty="0">
                <a:solidFill>
                  <a:srgbClr val="003366"/>
                </a:solidFill>
                <a:latin typeface="Arial"/>
                <a:cs typeface="Arial"/>
              </a:rPr>
              <a:t> </a:t>
            </a:r>
            <a:r>
              <a:rPr sz="1600" spc="-5" dirty="0">
                <a:solidFill>
                  <a:srgbClr val="003366"/>
                </a:solidFill>
                <a:latin typeface="Arial"/>
                <a:cs typeface="Arial"/>
              </a:rPr>
              <a:t>Saturday.</a:t>
            </a:r>
            <a:endParaRPr sz="1600">
              <a:latin typeface="Arial"/>
              <a:cs typeface="Arial"/>
            </a:endParaRPr>
          </a:p>
        </p:txBody>
      </p:sp>
      <p:sp>
        <p:nvSpPr>
          <p:cNvPr id="4" name="object 4"/>
          <p:cNvSpPr/>
          <p:nvPr/>
        </p:nvSpPr>
        <p:spPr>
          <a:xfrm>
            <a:off x="762002" y="2077211"/>
            <a:ext cx="3000755" cy="4457700"/>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4744211" y="3525011"/>
            <a:ext cx="3142488" cy="2857500"/>
          </a:xfrm>
          <a:prstGeom prst="rect">
            <a:avLst/>
          </a:prstGeom>
          <a:blipFill>
            <a:blip r:embed="rId3" cstate="print"/>
            <a:stretch>
              <a:fillRect/>
            </a:stretch>
          </a:blipFill>
        </p:spPr>
        <p:txBody>
          <a:bodyPr wrap="square" lIns="0" tIns="0" rIns="0" bIns="0" rtlCol="0"/>
          <a:lstStyle/>
          <a:p>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864"/>
              </a:lnSpc>
            </a:pPr>
            <a:fld id="{81D60167-4931-47E6-BA6A-407CBD079E47}" type="slidenum">
              <a:rPr spc="-5" dirty="0"/>
              <a:pPr marL="38100">
                <a:lnSpc>
                  <a:spcPts val="1864"/>
                </a:lnSpc>
              </a:pPr>
              <a:t>14</a:t>
            </a:fld>
            <a:endParaRPr spc="-5"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1814" y="316182"/>
            <a:ext cx="10408377" cy="950387"/>
          </a:xfrm>
          <a:prstGeom prst="rect">
            <a:avLst/>
          </a:prstGeom>
        </p:spPr>
        <p:txBody>
          <a:bodyPr vert="horz" wrap="square" lIns="0" tIns="179196" rIns="0" bIns="0" rtlCol="0">
            <a:spAutoFit/>
          </a:bodyPr>
          <a:lstStyle/>
          <a:p>
            <a:pPr marL="13970" marR="5080">
              <a:lnSpc>
                <a:spcPts val="3030"/>
              </a:lnSpc>
              <a:spcBef>
                <a:spcPts val="475"/>
              </a:spcBef>
            </a:pPr>
            <a:r>
              <a:rPr spc="-5" dirty="0"/>
              <a:t>Mean of a </a:t>
            </a:r>
            <a:r>
              <a:rPr dirty="0"/>
              <a:t>Discrete </a:t>
            </a:r>
            <a:r>
              <a:rPr spc="-5" dirty="0"/>
              <a:t>Probability Distribution -  </a:t>
            </a:r>
            <a:br>
              <a:rPr lang="en-US" spc="-5" dirty="0"/>
            </a:br>
            <a:r>
              <a:rPr spc="-5" dirty="0"/>
              <a:t>Example</a:t>
            </a:r>
          </a:p>
        </p:txBody>
      </p:sp>
      <p:sp>
        <p:nvSpPr>
          <p:cNvPr id="3" name="object 3"/>
          <p:cNvSpPr/>
          <p:nvPr/>
        </p:nvSpPr>
        <p:spPr>
          <a:xfrm>
            <a:off x="1943102" y="2362202"/>
            <a:ext cx="5277611" cy="3915155"/>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64"/>
              </a:lnSpc>
            </a:pPr>
            <a:fld id="{81D60167-4931-47E6-BA6A-407CBD079E47}" type="slidenum">
              <a:rPr spc="-5" dirty="0"/>
              <a:pPr marL="38100">
                <a:lnSpc>
                  <a:spcPts val="1864"/>
                </a:lnSpc>
              </a:pPr>
              <a:t>15</a:t>
            </a:fld>
            <a:endParaRPr spc="-5"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70358" y="552399"/>
            <a:ext cx="6696709" cy="721360"/>
          </a:xfrm>
          <a:prstGeom prst="rect">
            <a:avLst/>
          </a:prstGeom>
        </p:spPr>
        <p:txBody>
          <a:bodyPr vert="horz" wrap="square" lIns="0" tIns="12700" rIns="0" bIns="0" rtlCol="0">
            <a:spAutoFit/>
          </a:bodyPr>
          <a:lstStyle/>
          <a:p>
            <a:pPr marL="12700">
              <a:lnSpc>
                <a:spcPts val="2735"/>
              </a:lnSpc>
              <a:spcBef>
                <a:spcPts val="100"/>
              </a:spcBef>
            </a:pPr>
            <a:r>
              <a:rPr sz="2400" b="1" spc="-5" dirty="0">
                <a:solidFill>
                  <a:srgbClr val="006666"/>
                </a:solidFill>
                <a:latin typeface="Arial"/>
                <a:cs typeface="Arial"/>
              </a:rPr>
              <a:t>Variance and Standard </a:t>
            </a:r>
            <a:r>
              <a:rPr sz="2400" b="1" dirty="0">
                <a:solidFill>
                  <a:srgbClr val="006666"/>
                </a:solidFill>
                <a:latin typeface="Arial"/>
                <a:cs typeface="Arial"/>
              </a:rPr>
              <a:t>Deviation of a</a:t>
            </a:r>
            <a:r>
              <a:rPr sz="2400" b="1" spc="5" dirty="0">
                <a:solidFill>
                  <a:srgbClr val="006666"/>
                </a:solidFill>
                <a:latin typeface="Arial"/>
                <a:cs typeface="Arial"/>
              </a:rPr>
              <a:t> </a:t>
            </a:r>
            <a:r>
              <a:rPr sz="2400" b="1" spc="-5" dirty="0">
                <a:solidFill>
                  <a:srgbClr val="006666"/>
                </a:solidFill>
                <a:latin typeface="Arial"/>
                <a:cs typeface="Arial"/>
              </a:rPr>
              <a:t>Discrete</a:t>
            </a:r>
            <a:endParaRPr sz="2400">
              <a:latin typeface="Arial"/>
              <a:cs typeface="Arial"/>
            </a:endParaRPr>
          </a:p>
          <a:p>
            <a:pPr marL="12700">
              <a:lnSpc>
                <a:spcPts val="2735"/>
              </a:lnSpc>
            </a:pPr>
            <a:r>
              <a:rPr sz="2400" b="1" spc="-5" dirty="0">
                <a:solidFill>
                  <a:srgbClr val="006666"/>
                </a:solidFill>
                <a:latin typeface="Arial"/>
                <a:cs typeface="Arial"/>
              </a:rPr>
              <a:t>Probability </a:t>
            </a:r>
            <a:r>
              <a:rPr sz="2400" b="1" dirty="0">
                <a:solidFill>
                  <a:srgbClr val="006666"/>
                </a:solidFill>
                <a:latin typeface="Arial"/>
                <a:cs typeface="Arial"/>
              </a:rPr>
              <a:t>Distribution -</a:t>
            </a:r>
            <a:r>
              <a:rPr sz="2400" b="1" spc="-60" dirty="0">
                <a:solidFill>
                  <a:srgbClr val="006666"/>
                </a:solidFill>
                <a:latin typeface="Arial"/>
                <a:cs typeface="Arial"/>
              </a:rPr>
              <a:t> </a:t>
            </a:r>
            <a:r>
              <a:rPr sz="2400" b="1" spc="-5" dirty="0">
                <a:solidFill>
                  <a:srgbClr val="006666"/>
                </a:solidFill>
                <a:latin typeface="Arial"/>
                <a:cs typeface="Arial"/>
              </a:rPr>
              <a:t>Example</a:t>
            </a:r>
            <a:endParaRPr sz="2400">
              <a:latin typeface="Arial"/>
              <a:cs typeface="Arial"/>
            </a:endParaRPr>
          </a:p>
        </p:txBody>
      </p:sp>
      <p:sp>
        <p:nvSpPr>
          <p:cNvPr id="3" name="object 3"/>
          <p:cNvSpPr/>
          <p:nvPr/>
        </p:nvSpPr>
        <p:spPr>
          <a:xfrm>
            <a:off x="896111" y="2485646"/>
            <a:ext cx="7685532" cy="2734055"/>
          </a:xfrm>
          <a:prstGeom prst="rect">
            <a:avLst/>
          </a:prstGeom>
          <a:blipFill>
            <a:blip r:embed="rId2" cstate="print"/>
            <a:stretch>
              <a:fillRect/>
            </a:stretch>
          </a:blipFill>
        </p:spPr>
        <p:txBody>
          <a:bodyPr wrap="square" lIns="0" tIns="0" rIns="0" bIns="0" rtlCol="0"/>
          <a:lstStyle/>
          <a:p>
            <a:endParaRPr/>
          </a:p>
        </p:txBody>
      </p:sp>
      <p:grpSp>
        <p:nvGrpSpPr>
          <p:cNvPr id="4" name="object 4"/>
          <p:cNvGrpSpPr/>
          <p:nvPr/>
        </p:nvGrpSpPr>
        <p:grpSpPr>
          <a:xfrm>
            <a:off x="893063" y="5588508"/>
            <a:ext cx="3435350" cy="523240"/>
            <a:chOff x="893063" y="5588508"/>
            <a:chExt cx="3435350" cy="523240"/>
          </a:xfrm>
        </p:grpSpPr>
        <p:sp>
          <p:nvSpPr>
            <p:cNvPr id="5" name="object 5"/>
            <p:cNvSpPr/>
            <p:nvPr/>
          </p:nvSpPr>
          <p:spPr>
            <a:xfrm>
              <a:off x="893063" y="5588508"/>
              <a:ext cx="3435350" cy="523240"/>
            </a:xfrm>
            <a:custGeom>
              <a:avLst/>
              <a:gdLst/>
              <a:ahLst/>
              <a:cxnLst/>
              <a:rect l="l" t="t" r="r" b="b"/>
              <a:pathLst>
                <a:path w="3435350" h="523239">
                  <a:moveTo>
                    <a:pt x="3435096" y="0"/>
                  </a:moveTo>
                  <a:lnTo>
                    <a:pt x="0" y="0"/>
                  </a:lnTo>
                  <a:lnTo>
                    <a:pt x="0" y="522731"/>
                  </a:lnTo>
                  <a:lnTo>
                    <a:pt x="3435096" y="522731"/>
                  </a:lnTo>
                  <a:lnTo>
                    <a:pt x="3435096" y="0"/>
                  </a:lnTo>
                  <a:close/>
                </a:path>
              </a:pathLst>
            </a:custGeom>
            <a:solidFill>
              <a:srgbClr val="FFFFCC"/>
            </a:solidFill>
          </p:spPr>
          <p:txBody>
            <a:bodyPr wrap="square" lIns="0" tIns="0" rIns="0" bIns="0" rtlCol="0"/>
            <a:lstStyle/>
            <a:p>
              <a:endParaRPr/>
            </a:p>
          </p:txBody>
        </p:sp>
        <p:sp>
          <p:nvSpPr>
            <p:cNvPr id="6" name="object 6"/>
            <p:cNvSpPr/>
            <p:nvPr/>
          </p:nvSpPr>
          <p:spPr>
            <a:xfrm>
              <a:off x="1482121" y="5892596"/>
              <a:ext cx="40005" cy="22860"/>
            </a:xfrm>
            <a:custGeom>
              <a:avLst/>
              <a:gdLst/>
              <a:ahLst/>
              <a:cxnLst/>
              <a:rect l="l" t="t" r="r" b="b"/>
              <a:pathLst>
                <a:path w="40005" h="22860">
                  <a:moveTo>
                    <a:pt x="0" y="22617"/>
                  </a:moveTo>
                  <a:lnTo>
                    <a:pt x="39956" y="0"/>
                  </a:lnTo>
                </a:path>
              </a:pathLst>
            </a:custGeom>
            <a:ln w="12684">
              <a:solidFill>
                <a:srgbClr val="000000"/>
              </a:solidFill>
            </a:ln>
          </p:spPr>
          <p:txBody>
            <a:bodyPr wrap="square" lIns="0" tIns="0" rIns="0" bIns="0" rtlCol="0"/>
            <a:lstStyle/>
            <a:p>
              <a:endParaRPr/>
            </a:p>
          </p:txBody>
        </p:sp>
        <p:sp>
          <p:nvSpPr>
            <p:cNvPr id="7" name="object 7"/>
            <p:cNvSpPr/>
            <p:nvPr/>
          </p:nvSpPr>
          <p:spPr>
            <a:xfrm>
              <a:off x="1522078" y="5898879"/>
              <a:ext cx="59055" cy="121920"/>
            </a:xfrm>
            <a:custGeom>
              <a:avLst/>
              <a:gdLst/>
              <a:ahLst/>
              <a:cxnLst/>
              <a:rect l="l" t="t" r="r" b="b"/>
              <a:pathLst>
                <a:path w="59055" h="121920">
                  <a:moveTo>
                    <a:pt x="0" y="0"/>
                  </a:moveTo>
                  <a:lnTo>
                    <a:pt x="58667" y="121886"/>
                  </a:lnTo>
                </a:path>
              </a:pathLst>
            </a:custGeom>
            <a:ln w="26320">
              <a:solidFill>
                <a:srgbClr val="000000"/>
              </a:solidFill>
            </a:ln>
          </p:spPr>
          <p:txBody>
            <a:bodyPr wrap="square" lIns="0" tIns="0" rIns="0" bIns="0" rtlCol="0"/>
            <a:lstStyle/>
            <a:p>
              <a:endParaRPr/>
            </a:p>
          </p:txBody>
        </p:sp>
        <p:sp>
          <p:nvSpPr>
            <p:cNvPr id="8" name="object 8"/>
            <p:cNvSpPr/>
            <p:nvPr/>
          </p:nvSpPr>
          <p:spPr>
            <a:xfrm>
              <a:off x="1587175" y="5667045"/>
              <a:ext cx="843915" cy="354330"/>
            </a:xfrm>
            <a:custGeom>
              <a:avLst/>
              <a:gdLst/>
              <a:ahLst/>
              <a:cxnLst/>
              <a:rect l="l" t="t" r="r" b="b"/>
              <a:pathLst>
                <a:path w="843914" h="354329">
                  <a:moveTo>
                    <a:pt x="0" y="353720"/>
                  </a:moveTo>
                  <a:lnTo>
                    <a:pt x="76699" y="0"/>
                  </a:lnTo>
                </a:path>
                <a:path w="843914" h="354329">
                  <a:moveTo>
                    <a:pt x="76699" y="0"/>
                  </a:moveTo>
                  <a:lnTo>
                    <a:pt x="462758" y="0"/>
                  </a:lnTo>
                </a:path>
                <a:path w="843914" h="354329">
                  <a:moveTo>
                    <a:pt x="803685" y="264503"/>
                  </a:moveTo>
                  <a:lnTo>
                    <a:pt x="843642" y="241885"/>
                  </a:lnTo>
                </a:path>
              </a:pathLst>
            </a:custGeom>
            <a:ln w="12754">
              <a:solidFill>
                <a:srgbClr val="000000"/>
              </a:solidFill>
            </a:ln>
          </p:spPr>
          <p:txBody>
            <a:bodyPr wrap="square" lIns="0" tIns="0" rIns="0" bIns="0" rtlCol="0"/>
            <a:lstStyle/>
            <a:p>
              <a:endParaRPr/>
            </a:p>
          </p:txBody>
        </p:sp>
        <p:sp>
          <p:nvSpPr>
            <p:cNvPr id="9" name="object 9"/>
            <p:cNvSpPr/>
            <p:nvPr/>
          </p:nvSpPr>
          <p:spPr>
            <a:xfrm>
              <a:off x="2430817" y="5915214"/>
              <a:ext cx="58419" cy="106045"/>
            </a:xfrm>
            <a:custGeom>
              <a:avLst/>
              <a:gdLst/>
              <a:ahLst/>
              <a:cxnLst/>
              <a:rect l="l" t="t" r="r" b="b"/>
              <a:pathLst>
                <a:path w="58419" h="106045">
                  <a:moveTo>
                    <a:pt x="0" y="0"/>
                  </a:moveTo>
                  <a:lnTo>
                    <a:pt x="58014" y="105552"/>
                  </a:lnTo>
                </a:path>
              </a:pathLst>
            </a:custGeom>
            <a:ln w="26296">
              <a:solidFill>
                <a:srgbClr val="000000"/>
              </a:solidFill>
            </a:ln>
          </p:spPr>
          <p:txBody>
            <a:bodyPr wrap="square" lIns="0" tIns="0" rIns="0" bIns="0" rtlCol="0"/>
            <a:lstStyle/>
            <a:p>
              <a:endParaRPr/>
            </a:p>
          </p:txBody>
        </p:sp>
        <p:sp>
          <p:nvSpPr>
            <p:cNvPr id="10" name="object 10"/>
            <p:cNvSpPr/>
            <p:nvPr/>
          </p:nvSpPr>
          <p:spPr>
            <a:xfrm>
              <a:off x="2495261" y="5706622"/>
              <a:ext cx="781050" cy="314325"/>
            </a:xfrm>
            <a:custGeom>
              <a:avLst/>
              <a:gdLst/>
              <a:ahLst/>
              <a:cxnLst/>
              <a:rect l="l" t="t" r="r" b="b"/>
              <a:pathLst>
                <a:path w="781050" h="314325">
                  <a:moveTo>
                    <a:pt x="0" y="314143"/>
                  </a:moveTo>
                  <a:lnTo>
                    <a:pt x="76699" y="0"/>
                  </a:lnTo>
                </a:path>
                <a:path w="781050" h="314325">
                  <a:moveTo>
                    <a:pt x="76699" y="0"/>
                  </a:moveTo>
                  <a:lnTo>
                    <a:pt x="780479" y="0"/>
                  </a:lnTo>
                </a:path>
              </a:pathLst>
            </a:custGeom>
            <a:ln w="12754">
              <a:solidFill>
                <a:srgbClr val="000000"/>
              </a:solidFill>
            </a:ln>
          </p:spPr>
          <p:txBody>
            <a:bodyPr wrap="square" lIns="0" tIns="0" rIns="0" bIns="0" rtlCol="0"/>
            <a:lstStyle/>
            <a:p>
              <a:endParaRPr/>
            </a:p>
          </p:txBody>
        </p:sp>
      </p:grpSp>
      <p:sp>
        <p:nvSpPr>
          <p:cNvPr id="11" name="object 11"/>
          <p:cNvSpPr txBox="1"/>
          <p:nvPr/>
        </p:nvSpPr>
        <p:spPr>
          <a:xfrm>
            <a:off x="2133715" y="5678173"/>
            <a:ext cx="2139950" cy="399415"/>
          </a:xfrm>
          <a:prstGeom prst="rect">
            <a:avLst/>
          </a:prstGeom>
        </p:spPr>
        <p:txBody>
          <a:bodyPr vert="horz" wrap="square" lIns="0" tIns="13335" rIns="0" bIns="0" rtlCol="0">
            <a:spAutoFit/>
          </a:bodyPr>
          <a:lstStyle/>
          <a:p>
            <a:pPr>
              <a:spcBef>
                <a:spcPts val="105"/>
              </a:spcBef>
              <a:tabLst>
                <a:tab pos="423545" algn="l"/>
              </a:tabLst>
            </a:pPr>
            <a:r>
              <a:rPr sz="2450" spc="30" dirty="0">
                <a:latin typeface="Symbol"/>
                <a:cs typeface="Symbol"/>
              </a:rPr>
              <a:t></a:t>
            </a:r>
            <a:r>
              <a:rPr sz="2450" spc="30" dirty="0">
                <a:latin typeface="Times New Roman"/>
                <a:cs typeface="Times New Roman"/>
              </a:rPr>
              <a:t>	</a:t>
            </a:r>
            <a:r>
              <a:rPr sz="2450" spc="-10" dirty="0">
                <a:latin typeface="Times New Roman"/>
                <a:cs typeface="Times New Roman"/>
              </a:rPr>
              <a:t>1.290 </a:t>
            </a:r>
            <a:r>
              <a:rPr sz="2450" spc="30" dirty="0">
                <a:latin typeface="Symbol"/>
                <a:cs typeface="Symbol"/>
              </a:rPr>
              <a:t></a:t>
            </a:r>
            <a:r>
              <a:rPr sz="2450" spc="-170" dirty="0">
                <a:latin typeface="Times New Roman"/>
                <a:cs typeface="Times New Roman"/>
              </a:rPr>
              <a:t> </a:t>
            </a:r>
            <a:r>
              <a:rPr sz="2450" spc="-25" dirty="0">
                <a:latin typeface="Times New Roman"/>
                <a:cs typeface="Times New Roman"/>
              </a:rPr>
              <a:t>1.135</a:t>
            </a:r>
            <a:endParaRPr sz="2450">
              <a:latin typeface="Times New Roman"/>
              <a:cs typeface="Times New Roman"/>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864"/>
              </a:lnSpc>
            </a:pPr>
            <a:fld id="{81D60167-4931-47E6-BA6A-407CBD079E47}" type="slidenum">
              <a:rPr spc="-5" dirty="0"/>
              <a:pPr marL="38100">
                <a:lnSpc>
                  <a:spcPts val="1864"/>
                </a:lnSpc>
              </a:pPr>
              <a:t>16</a:t>
            </a:fld>
            <a:endParaRPr spc="-5" dirty="0"/>
          </a:p>
        </p:txBody>
      </p:sp>
      <p:sp>
        <p:nvSpPr>
          <p:cNvPr id="12" name="object 12"/>
          <p:cNvSpPr txBox="1"/>
          <p:nvPr/>
        </p:nvSpPr>
        <p:spPr>
          <a:xfrm>
            <a:off x="1633328" y="5521753"/>
            <a:ext cx="410209" cy="421005"/>
          </a:xfrm>
          <a:prstGeom prst="rect">
            <a:avLst/>
          </a:prstGeom>
        </p:spPr>
        <p:txBody>
          <a:bodyPr vert="horz" wrap="square" lIns="0" tIns="11430" rIns="0" bIns="0" rtlCol="0">
            <a:spAutoFit/>
          </a:bodyPr>
          <a:lstStyle/>
          <a:p>
            <a:pPr marL="25400">
              <a:spcBef>
                <a:spcPts val="90"/>
              </a:spcBef>
            </a:pPr>
            <a:r>
              <a:rPr sz="3900" i="1" spc="120" baseline="-23504" dirty="0">
                <a:latin typeface="Symbol"/>
                <a:cs typeface="Symbol"/>
              </a:rPr>
              <a:t></a:t>
            </a:r>
            <a:r>
              <a:rPr sz="3900" i="1" spc="-345" baseline="-23504" dirty="0">
                <a:latin typeface="Times New Roman"/>
                <a:cs typeface="Times New Roman"/>
              </a:rPr>
              <a:t> </a:t>
            </a:r>
            <a:r>
              <a:rPr sz="1400" spc="30" dirty="0">
                <a:latin typeface="Times New Roman"/>
                <a:cs typeface="Times New Roman"/>
              </a:rPr>
              <a:t>2</a:t>
            </a:r>
            <a:endParaRPr sz="1400">
              <a:latin typeface="Times New Roman"/>
              <a:cs typeface="Times New Roman"/>
            </a:endParaRPr>
          </a:p>
        </p:txBody>
      </p:sp>
      <p:sp>
        <p:nvSpPr>
          <p:cNvPr id="13" name="object 13"/>
          <p:cNvSpPr txBox="1"/>
          <p:nvPr/>
        </p:nvSpPr>
        <p:spPr>
          <a:xfrm>
            <a:off x="916267" y="5660604"/>
            <a:ext cx="497205" cy="421005"/>
          </a:xfrm>
          <a:prstGeom prst="rect">
            <a:avLst/>
          </a:prstGeom>
        </p:spPr>
        <p:txBody>
          <a:bodyPr vert="horz" wrap="square" lIns="0" tIns="11430" rIns="0" bIns="0" rtlCol="0">
            <a:spAutoFit/>
          </a:bodyPr>
          <a:lstStyle/>
          <a:p>
            <a:pPr>
              <a:spcBef>
                <a:spcPts val="90"/>
              </a:spcBef>
            </a:pPr>
            <a:r>
              <a:rPr sz="2600" i="1" spc="80" dirty="0">
                <a:latin typeface="Symbol"/>
                <a:cs typeface="Symbol"/>
              </a:rPr>
              <a:t></a:t>
            </a:r>
            <a:r>
              <a:rPr sz="2600" i="1" spc="185" dirty="0">
                <a:latin typeface="Times New Roman"/>
                <a:cs typeface="Times New Roman"/>
              </a:rPr>
              <a:t> </a:t>
            </a:r>
            <a:r>
              <a:rPr sz="2450" spc="30" dirty="0">
                <a:latin typeface="Symbol"/>
                <a:cs typeface="Symbol"/>
              </a:rPr>
              <a:t></a:t>
            </a:r>
            <a:endParaRPr sz="2450">
              <a:latin typeface="Symbol"/>
              <a:cs typeface="Symbo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0356" y="694690"/>
            <a:ext cx="2185670" cy="574040"/>
          </a:xfrm>
          <a:prstGeom prst="rect">
            <a:avLst/>
          </a:prstGeom>
        </p:spPr>
        <p:txBody>
          <a:bodyPr vert="horz" wrap="square" lIns="0" tIns="12700" rIns="0" bIns="0" rtlCol="0">
            <a:spAutoFit/>
          </a:bodyPr>
          <a:lstStyle/>
          <a:p>
            <a:pPr marL="12700">
              <a:spcBef>
                <a:spcPts val="100"/>
              </a:spcBef>
            </a:pPr>
            <a:r>
              <a:rPr sz="3600" spc="-5" dirty="0"/>
              <a:t>Example</a:t>
            </a:r>
            <a:r>
              <a:rPr sz="3600" spc="-60" dirty="0"/>
              <a:t> </a:t>
            </a:r>
            <a:r>
              <a:rPr sz="3600" spc="-5" dirty="0"/>
              <a:t>:</a:t>
            </a:r>
            <a:endParaRPr sz="3600"/>
          </a:p>
        </p:txBody>
      </p:sp>
      <p:sp>
        <p:nvSpPr>
          <p:cNvPr id="3" name="object 3"/>
          <p:cNvSpPr/>
          <p:nvPr/>
        </p:nvSpPr>
        <p:spPr>
          <a:xfrm>
            <a:off x="609600" y="1778684"/>
            <a:ext cx="7924800" cy="1878916"/>
          </a:xfrm>
          <a:prstGeom prst="rect">
            <a:avLst/>
          </a:prstGeom>
          <a:blipFill>
            <a:blip r:embed="rId2" cstate="print"/>
            <a:stretch>
              <a:fillRect b="-155090"/>
            </a:stretch>
          </a:blipFill>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64"/>
              </a:lnSpc>
            </a:pPr>
            <a:fld id="{81D60167-4931-47E6-BA6A-407CBD079E47}" type="slidenum">
              <a:rPr spc="-5" dirty="0"/>
              <a:pPr marL="38100">
                <a:lnSpc>
                  <a:spcPts val="1864"/>
                </a:lnSpc>
              </a:pPr>
              <a:t>17</a:t>
            </a:fld>
            <a:endParaRPr spc="-5" dirty="0"/>
          </a:p>
        </p:txBody>
      </p:sp>
      <p:sp>
        <p:nvSpPr>
          <p:cNvPr id="5" name="object 3">
            <a:extLst>
              <a:ext uri="{FF2B5EF4-FFF2-40B4-BE49-F238E27FC236}">
                <a16:creationId xmlns:a16="http://schemas.microsoft.com/office/drawing/2014/main" id="{FE61264F-8BDF-215A-54A2-1F8DB578C29A}"/>
              </a:ext>
            </a:extLst>
          </p:cNvPr>
          <p:cNvSpPr/>
          <p:nvPr/>
        </p:nvSpPr>
        <p:spPr>
          <a:xfrm>
            <a:off x="843179" y="3581400"/>
            <a:ext cx="7924800" cy="2990218"/>
          </a:xfrm>
          <a:prstGeom prst="rect">
            <a:avLst/>
          </a:prstGeom>
          <a:blipFill>
            <a:blip r:embed="rId2" cstate="print"/>
            <a:stretch>
              <a:fillRect t="-60287"/>
            </a:stretch>
          </a:blipFill>
        </p:spPr>
        <p:txBody>
          <a:bodyPr wrap="square" lIns="0" tIns="0" rIns="0" bIns="0" rtlCol="0"/>
          <a:lstStyle/>
          <a:p>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33400" y="457200"/>
            <a:ext cx="7924800" cy="914400"/>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051562" y="3048629"/>
            <a:ext cx="6968701" cy="3339516"/>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1153669" y="1975439"/>
            <a:ext cx="5865115" cy="921014"/>
          </a:xfrm>
          <a:prstGeom prst="rect">
            <a:avLst/>
          </a:prstGeom>
          <a:blipFill>
            <a:blip r:embed="rId4" cstate="print"/>
            <a:stretch>
              <a:fillRect/>
            </a:stretch>
          </a:blipFill>
        </p:spPr>
        <p:txBody>
          <a:bodyPr wrap="square" lIns="0" tIns="0" rIns="0" bIns="0" rtlCol="0"/>
          <a:lstStyle/>
          <a:p>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864"/>
              </a:lnSpc>
            </a:pPr>
            <a:fld id="{81D60167-4931-47E6-BA6A-407CBD079E47}" type="slidenum">
              <a:rPr spc="-5" dirty="0"/>
              <a:pPr marL="38100">
                <a:lnSpc>
                  <a:spcPts val="1864"/>
                </a:lnSpc>
              </a:pPr>
              <a:t>18</a:t>
            </a:fld>
            <a:endParaRPr spc="-5"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01444" y="3362325"/>
            <a:ext cx="3458845" cy="574040"/>
          </a:xfrm>
          <a:prstGeom prst="rect">
            <a:avLst/>
          </a:prstGeom>
        </p:spPr>
        <p:txBody>
          <a:bodyPr vert="horz" wrap="square" lIns="0" tIns="12700" rIns="0" bIns="0" rtlCol="0">
            <a:spAutoFit/>
          </a:bodyPr>
          <a:lstStyle/>
          <a:p>
            <a:pPr marL="12700">
              <a:spcBef>
                <a:spcPts val="100"/>
              </a:spcBef>
            </a:pPr>
            <a:r>
              <a:rPr sz="3600" dirty="0"/>
              <a:t>End of lecture</a:t>
            </a:r>
            <a:r>
              <a:rPr sz="3600" spc="-75" dirty="0"/>
              <a:t> </a:t>
            </a:r>
            <a:r>
              <a:rPr sz="3600" spc="-5" dirty="0"/>
              <a:t>1</a:t>
            </a:r>
            <a:endParaRPr sz="3600"/>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864"/>
              </a:lnSpc>
            </a:pPr>
            <a:fld id="{81D60167-4931-47E6-BA6A-407CBD079E47}" type="slidenum">
              <a:rPr spc="-5" dirty="0"/>
              <a:pPr marL="38100">
                <a:lnSpc>
                  <a:spcPts val="1864"/>
                </a:lnSpc>
              </a:pPr>
              <a:t>19</a:t>
            </a:fld>
            <a:endParaRPr spc="-5"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99</TotalTime>
  <Words>572</Words>
  <Application>Microsoft Office PowerPoint</Application>
  <PresentationFormat>On-screen Show (4:3)</PresentationFormat>
  <Paragraphs>81</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Monotype Corsiva</vt:lpstr>
      <vt:lpstr>Symbol</vt:lpstr>
      <vt:lpstr>Times New Roman</vt:lpstr>
      <vt:lpstr>Wingdings</vt:lpstr>
      <vt:lpstr>Office Theme</vt:lpstr>
      <vt:lpstr>PowerPoint Presentation</vt:lpstr>
      <vt:lpstr>Discrete Probability Distributions</vt:lpstr>
      <vt:lpstr>GOALS</vt:lpstr>
      <vt:lpstr>What is a Probability Distribution?</vt:lpstr>
      <vt:lpstr>Probability Distribution of Number of  Heads Observed in 3 Tosses of a Coin</vt:lpstr>
      <vt:lpstr>PowerPoint Presentation</vt:lpstr>
      <vt:lpstr>PowerPoint Presentation</vt:lpstr>
      <vt:lpstr>Types of Random Variables</vt:lpstr>
      <vt:lpstr>PowerPoint Presentation</vt:lpstr>
      <vt:lpstr>Continuous Random Variables -  Examples</vt:lpstr>
      <vt:lpstr>Prob. Mass function (pmf):</vt:lpstr>
      <vt:lpstr>The Mean of a discrete Probability  Distribution</vt:lpstr>
      <vt:lpstr>The Variance, and Standard Deviation of  a Discrete Probability Distribution</vt:lpstr>
      <vt:lpstr>Mean, Variance, and Standard Deviation of a Discrete Probability Distribution - Example</vt:lpstr>
      <vt:lpstr>Mean of a Discrete Probability Distribution -   Example</vt:lpstr>
      <vt:lpstr>PowerPoint Presentation</vt:lpstr>
      <vt:lpstr>Example :</vt:lpstr>
      <vt:lpstr>PowerPoint Presentation</vt:lpstr>
      <vt:lpstr>End of lecture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dc:title>
  <dc:subject>Probability Distributions</dc:subject>
  <dc:creator>Rene Leo E. Ordonez</dc:creator>
  <cp:lastModifiedBy>CIVIL TIEST CLASS</cp:lastModifiedBy>
  <cp:revision>9</cp:revision>
  <dcterms:created xsi:type="dcterms:W3CDTF">2021-12-26T15:26:39Z</dcterms:created>
  <dcterms:modified xsi:type="dcterms:W3CDTF">2024-05-14T12:50:44Z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2020-11-23T00:00:00Z</vt:filetime>
  </property>
  <property fmtid="{D5CDD505-2E9C-101B-9397-08002B2CF9AE}" pid="3" name="Creator">
    <vt:lpwstr>Microsoft® PowerPoint® 2013</vt:lpwstr>
  </property>
  <property fmtid="{D5CDD505-2E9C-101B-9397-08002B2CF9AE}" pid="4" name="LastSaved">
    <vt:filetime>2021-12-26T00:00:00Z</vt:filetime>
  </property>
</Properties>
</file>